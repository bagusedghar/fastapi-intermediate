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82"/>
  </p:notesMasterIdLst>
  <p:sldIdLst>
    <p:sldId id="256" r:id="rId2"/>
    <p:sldId id="257" r:id="rId3"/>
    <p:sldId id="277" r:id="rId4"/>
    <p:sldId id="278" r:id="rId5"/>
    <p:sldId id="279" r:id="rId6"/>
    <p:sldId id="280"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293" r:id="rId20"/>
    <p:sldId id="294" r:id="rId21"/>
    <p:sldId id="295" r:id="rId22"/>
    <p:sldId id="296" r:id="rId23"/>
    <p:sldId id="297" r:id="rId24"/>
    <p:sldId id="298" r:id="rId25"/>
    <p:sldId id="299" r:id="rId26"/>
    <p:sldId id="300" r:id="rId27"/>
    <p:sldId id="301" r:id="rId28"/>
    <p:sldId id="302" r:id="rId29"/>
    <p:sldId id="303" r:id="rId30"/>
    <p:sldId id="304" r:id="rId31"/>
    <p:sldId id="305" r:id="rId32"/>
    <p:sldId id="306" r:id="rId33"/>
    <p:sldId id="307" r:id="rId34"/>
    <p:sldId id="308" r:id="rId35"/>
    <p:sldId id="309" r:id="rId36"/>
    <p:sldId id="310" r:id="rId37"/>
    <p:sldId id="311" r:id="rId38"/>
    <p:sldId id="312" r:id="rId39"/>
    <p:sldId id="313" r:id="rId40"/>
    <p:sldId id="314" r:id="rId41"/>
    <p:sldId id="315" r:id="rId42"/>
    <p:sldId id="316" r:id="rId43"/>
    <p:sldId id="317" r:id="rId44"/>
    <p:sldId id="318" r:id="rId45"/>
    <p:sldId id="319" r:id="rId46"/>
    <p:sldId id="320" r:id="rId47"/>
    <p:sldId id="321" r:id="rId48"/>
    <p:sldId id="322" r:id="rId49"/>
    <p:sldId id="323" r:id="rId50"/>
    <p:sldId id="324" r:id="rId51"/>
    <p:sldId id="325" r:id="rId52"/>
    <p:sldId id="326" r:id="rId53"/>
    <p:sldId id="327" r:id="rId54"/>
    <p:sldId id="328" r:id="rId55"/>
    <p:sldId id="329" r:id="rId56"/>
    <p:sldId id="330" r:id="rId57"/>
    <p:sldId id="331" r:id="rId58"/>
    <p:sldId id="332" r:id="rId59"/>
    <p:sldId id="333" r:id="rId60"/>
    <p:sldId id="334" r:id="rId61"/>
    <p:sldId id="335" r:id="rId62"/>
    <p:sldId id="336" r:id="rId63"/>
    <p:sldId id="337" r:id="rId64"/>
    <p:sldId id="338" r:id="rId65"/>
    <p:sldId id="339" r:id="rId66"/>
    <p:sldId id="340" r:id="rId67"/>
    <p:sldId id="341" r:id="rId68"/>
    <p:sldId id="342" r:id="rId69"/>
    <p:sldId id="343" r:id="rId70"/>
    <p:sldId id="344" r:id="rId71"/>
    <p:sldId id="345" r:id="rId72"/>
    <p:sldId id="346" r:id="rId73"/>
    <p:sldId id="347" r:id="rId74"/>
    <p:sldId id="348" r:id="rId75"/>
    <p:sldId id="349" r:id="rId76"/>
    <p:sldId id="350" r:id="rId77"/>
    <p:sldId id="351" r:id="rId78"/>
    <p:sldId id="352" r:id="rId79"/>
    <p:sldId id="353" r:id="rId80"/>
    <p:sldId id="276" r:id="rId81"/>
  </p:sldIdLst>
  <p:sldSz cx="9144000" cy="5143500" type="screen16x9"/>
  <p:notesSz cx="6858000" cy="9144000"/>
  <p:embeddedFontLst>
    <p:embeddedFont>
      <p:font typeface="Inconsolata" pitchFamily="1" charset="0"/>
      <p:regular r:id="rId83"/>
      <p:bold r:id="rId84"/>
    </p:embeddedFont>
    <p:embeddedFont>
      <p:font typeface="Inter" panose="02000503000000020004" pitchFamily="2" charset="0"/>
      <p:regular r:id="rId85"/>
      <p:bold r:id="rId86"/>
      <p:italic r:id="rId87"/>
      <p:boldItalic r:id="rId88"/>
    </p:embeddedFont>
    <p:embeddedFont>
      <p:font typeface="Work Sans ExtraBold" pitchFamily="2" charset="0"/>
      <p:bold r:id="rId89"/>
    </p:embeddedFont>
    <p:embeddedFont>
      <p:font typeface="Work Sans Medium" pitchFamily="2" charset="0"/>
      <p:regular r:id="rId9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1" roundtripDataSignature="AMtx7misuxx245f/qKiEmR3PX6YRe0tIP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2.fntdata"/><Relationship Id="rId89" Type="http://schemas.openxmlformats.org/officeDocument/2006/relationships/font" Target="fonts/font7.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font" Target="fonts/font8.fntdata"/><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font" Target="fonts/font3.fntdata"/><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1.fntdata"/><Relationship Id="rId88" Type="http://schemas.openxmlformats.org/officeDocument/2006/relationships/font" Target="fonts/font6.fntdata"/><Relationship Id="rId91"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4.fntdata"/><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5.fntdata"/><Relationship Id="rId61" Type="http://schemas.openxmlformats.org/officeDocument/2006/relationships/slide" Target="slides/slide60.xml"/><Relationship Id="rId82"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2442ffe4c8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 name="Google Shape;89;g2442ffe4c8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Peserta mengerjakan hands-on bersama mentor.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907dbd872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1" name="Google Shape;251;g2907dbd872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pic>
        <p:nvPicPr>
          <p:cNvPr id="10" name="Google Shape;10;p19"/>
          <p:cNvPicPr preferRelativeResize="0"/>
          <p:nvPr/>
        </p:nvPicPr>
        <p:blipFill rotWithShape="1">
          <a:blip r:embed="rId2">
            <a:alphaModFix/>
          </a:blip>
          <a:srcRect/>
          <a:stretch/>
        </p:blipFill>
        <p:spPr>
          <a:xfrm>
            <a:off x="-7200" y="-15150"/>
            <a:ext cx="9190446" cy="5169626"/>
          </a:xfrm>
          <a:prstGeom prst="rect">
            <a:avLst/>
          </a:prstGeom>
          <a:noFill/>
          <a:ln>
            <a:noFill/>
          </a:ln>
        </p:spPr>
      </p:pic>
      <p:sp>
        <p:nvSpPr>
          <p:cNvPr id="11" name="Google Shape;11;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2" name="Google Shape;12;p19"/>
          <p:cNvPicPr preferRelativeResize="0"/>
          <p:nvPr/>
        </p:nvPicPr>
        <p:blipFill rotWithShape="1">
          <a:blip r:embed="rId3">
            <a:alphaModFix/>
          </a:blip>
          <a:srcRect/>
          <a:stretch/>
        </p:blipFill>
        <p:spPr>
          <a:xfrm>
            <a:off x="7768176" y="286450"/>
            <a:ext cx="1080001" cy="24735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pic>
        <p:nvPicPr>
          <p:cNvPr id="14" name="Google Shape;14;p23"/>
          <p:cNvPicPr preferRelativeResize="0"/>
          <p:nvPr/>
        </p:nvPicPr>
        <p:blipFill rotWithShape="1">
          <a:blip r:embed="rId2">
            <a:alphaModFix/>
          </a:blip>
          <a:srcRect/>
          <a:stretch/>
        </p:blipFill>
        <p:spPr>
          <a:xfrm>
            <a:off x="0" y="-1"/>
            <a:ext cx="9144003" cy="5143504"/>
          </a:xfrm>
          <a:prstGeom prst="rect">
            <a:avLst/>
          </a:prstGeom>
          <a:noFill/>
          <a:ln>
            <a:noFill/>
          </a:ln>
        </p:spPr>
      </p:pic>
      <p:sp>
        <p:nvSpPr>
          <p:cNvPr id="15" name="Google Shape;15;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6" name="Google Shape;16;p23"/>
          <p:cNvPicPr preferRelativeResize="0"/>
          <p:nvPr/>
        </p:nvPicPr>
        <p:blipFill rotWithShape="1">
          <a:blip r:embed="rId3">
            <a:alphaModFix/>
          </a:blip>
          <a:srcRect/>
          <a:stretch/>
        </p:blipFill>
        <p:spPr>
          <a:xfrm>
            <a:off x="7768176" y="286450"/>
            <a:ext cx="1080001" cy="24735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1">
  <p:cSld name="SECTION_HEADER_3">
    <p:spTree>
      <p:nvGrpSpPr>
        <p:cNvPr id="1" name="Shape 17"/>
        <p:cNvGrpSpPr/>
        <p:nvPr/>
      </p:nvGrpSpPr>
      <p:grpSpPr>
        <a:xfrm>
          <a:off x="0" y="0"/>
          <a:ext cx="0" cy="0"/>
          <a:chOff x="0" y="0"/>
          <a:chExt cx="0" cy="0"/>
        </a:xfrm>
      </p:grpSpPr>
      <p:pic>
        <p:nvPicPr>
          <p:cNvPr id="18" name="Google Shape;18;p62"/>
          <p:cNvPicPr preferRelativeResize="0"/>
          <p:nvPr/>
        </p:nvPicPr>
        <p:blipFill rotWithShape="1">
          <a:blip r:embed="rId2">
            <a:alphaModFix/>
          </a:blip>
          <a:srcRect/>
          <a:stretch/>
        </p:blipFill>
        <p:spPr>
          <a:xfrm>
            <a:off x="0" y="-1"/>
            <a:ext cx="9206026" cy="5178401"/>
          </a:xfrm>
          <a:prstGeom prst="rect">
            <a:avLst/>
          </a:prstGeom>
          <a:noFill/>
          <a:ln>
            <a:noFill/>
          </a:ln>
        </p:spPr>
      </p:pic>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20" name="Google Shape;20;p62"/>
          <p:cNvPicPr preferRelativeResize="0"/>
          <p:nvPr/>
        </p:nvPicPr>
        <p:blipFill rotWithShape="1">
          <a:blip r:embed="rId3">
            <a:alphaModFix/>
          </a:blip>
          <a:srcRect/>
          <a:stretch/>
        </p:blipFill>
        <p:spPr>
          <a:xfrm>
            <a:off x="7768176" y="286450"/>
            <a:ext cx="1080001" cy="24735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2 1 1">
  <p:cSld name="TITLE_2_1_1">
    <p:spTree>
      <p:nvGrpSpPr>
        <p:cNvPr id="1" name="Shape 21"/>
        <p:cNvGrpSpPr/>
        <p:nvPr/>
      </p:nvGrpSpPr>
      <p:grpSpPr>
        <a:xfrm>
          <a:off x="0" y="0"/>
          <a:ext cx="0" cy="0"/>
          <a:chOff x="0" y="0"/>
          <a:chExt cx="0" cy="0"/>
        </a:xfrm>
      </p:grpSpPr>
      <p:sp>
        <p:nvSpPr>
          <p:cNvPr id="22" name="Google Shape;22;p4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23" name="Google Shape;23;p49"/>
          <p:cNvPicPr preferRelativeResize="0"/>
          <p:nvPr/>
        </p:nvPicPr>
        <p:blipFill rotWithShape="1">
          <a:blip r:embed="rId2">
            <a:alphaModFix/>
          </a:blip>
          <a:srcRect l="-11869" r="-10498"/>
          <a:stretch/>
        </p:blipFill>
        <p:spPr>
          <a:xfrm>
            <a:off x="7614450" y="286450"/>
            <a:ext cx="1372051" cy="247350"/>
          </a:xfrm>
          <a:prstGeom prst="rect">
            <a:avLst/>
          </a:prstGeom>
          <a:noFill/>
          <a:ln>
            <a:noFill/>
          </a:ln>
        </p:spPr>
      </p:pic>
      <p:pic>
        <p:nvPicPr>
          <p:cNvPr id="24" name="Google Shape;24;p49"/>
          <p:cNvPicPr preferRelativeResize="0"/>
          <p:nvPr/>
        </p:nvPicPr>
        <p:blipFill rotWithShape="1">
          <a:blip r:embed="rId3">
            <a:alphaModFix/>
          </a:blip>
          <a:srcRect/>
          <a:stretch/>
        </p:blipFill>
        <p:spPr>
          <a:xfrm>
            <a:off x="0" y="0"/>
            <a:ext cx="9143992" cy="514350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3">
  <p:cSld name="SECTION_HEADER_4">
    <p:spTree>
      <p:nvGrpSpPr>
        <p:cNvPr id="1" name="Shape 25"/>
        <p:cNvGrpSpPr/>
        <p:nvPr/>
      </p:nvGrpSpPr>
      <p:grpSpPr>
        <a:xfrm>
          <a:off x="0" y="0"/>
          <a:ext cx="0" cy="0"/>
          <a:chOff x="0" y="0"/>
          <a:chExt cx="0" cy="0"/>
        </a:xfrm>
      </p:grpSpPr>
      <p:pic>
        <p:nvPicPr>
          <p:cNvPr id="26" name="Google Shape;26;p20"/>
          <p:cNvPicPr preferRelativeResize="0"/>
          <p:nvPr/>
        </p:nvPicPr>
        <p:blipFill rotWithShape="1">
          <a:blip r:embed="rId2">
            <a:alphaModFix/>
          </a:blip>
          <a:srcRect/>
          <a:stretch/>
        </p:blipFill>
        <p:spPr>
          <a:xfrm>
            <a:off x="0" y="-1"/>
            <a:ext cx="9143992" cy="5143501"/>
          </a:xfrm>
          <a:prstGeom prst="rect">
            <a:avLst/>
          </a:prstGeom>
          <a:noFill/>
          <a:ln>
            <a:noFill/>
          </a:ln>
        </p:spPr>
      </p:pic>
      <p:sp>
        <p:nvSpPr>
          <p:cNvPr id="27" name="Google Shape;27;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28" name="Google Shape;28;p20"/>
          <p:cNvPicPr preferRelativeResize="0"/>
          <p:nvPr/>
        </p:nvPicPr>
        <p:blipFill rotWithShape="1">
          <a:blip r:embed="rId3">
            <a:alphaModFix/>
          </a:blip>
          <a:srcRect/>
          <a:stretch/>
        </p:blipFill>
        <p:spPr>
          <a:xfrm>
            <a:off x="7768176" y="286450"/>
            <a:ext cx="1080001" cy="24735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2 1">
  <p:cSld name="TITLE_2_1">
    <p:spTree>
      <p:nvGrpSpPr>
        <p:cNvPr id="1" name="Shape 29"/>
        <p:cNvGrpSpPr/>
        <p:nvPr/>
      </p:nvGrpSpPr>
      <p:grpSpPr>
        <a:xfrm>
          <a:off x="0" y="0"/>
          <a:ext cx="0" cy="0"/>
          <a:chOff x="0" y="0"/>
          <a:chExt cx="0" cy="0"/>
        </a:xfrm>
      </p:grpSpPr>
      <p:sp>
        <p:nvSpPr>
          <p:cNvPr id="30" name="Google Shape;3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31" name="Google Shape;31;p21"/>
          <p:cNvPicPr preferRelativeResize="0"/>
          <p:nvPr/>
        </p:nvPicPr>
        <p:blipFill rotWithShape="1">
          <a:blip r:embed="rId2">
            <a:alphaModFix/>
          </a:blip>
          <a:srcRect/>
          <a:stretch/>
        </p:blipFill>
        <p:spPr>
          <a:xfrm>
            <a:off x="-7200" y="-7175"/>
            <a:ext cx="9204623" cy="5177601"/>
          </a:xfrm>
          <a:prstGeom prst="rect">
            <a:avLst/>
          </a:prstGeom>
          <a:noFill/>
          <a:ln>
            <a:noFill/>
          </a:ln>
        </p:spPr>
      </p:pic>
      <p:pic>
        <p:nvPicPr>
          <p:cNvPr id="32" name="Google Shape;32;p21"/>
          <p:cNvPicPr preferRelativeResize="0"/>
          <p:nvPr/>
        </p:nvPicPr>
        <p:blipFill rotWithShape="1">
          <a:blip r:embed="rId3">
            <a:alphaModFix/>
          </a:blip>
          <a:srcRect l="-11869" r="-10498"/>
          <a:stretch/>
        </p:blipFill>
        <p:spPr>
          <a:xfrm>
            <a:off x="7614450" y="286450"/>
            <a:ext cx="1372051" cy="2473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2">
  <p:cSld name="TITLE_2">
    <p:spTree>
      <p:nvGrpSpPr>
        <p:cNvPr id="1" name="Shape 33"/>
        <p:cNvGrpSpPr/>
        <p:nvPr/>
      </p:nvGrpSpPr>
      <p:grpSpPr>
        <a:xfrm>
          <a:off x="0" y="0"/>
          <a:ext cx="0" cy="0"/>
          <a:chOff x="0" y="0"/>
          <a:chExt cx="0" cy="0"/>
        </a:xfrm>
      </p:grpSpPr>
      <p:pic>
        <p:nvPicPr>
          <p:cNvPr id="34" name="Google Shape;34;p22"/>
          <p:cNvPicPr preferRelativeResize="0"/>
          <p:nvPr/>
        </p:nvPicPr>
        <p:blipFill rotWithShape="1">
          <a:blip r:embed="rId2">
            <a:alphaModFix/>
          </a:blip>
          <a:srcRect/>
          <a:stretch/>
        </p:blipFill>
        <p:spPr>
          <a:xfrm>
            <a:off x="-14350" y="-6375"/>
            <a:ext cx="9160668" cy="5152876"/>
          </a:xfrm>
          <a:prstGeom prst="rect">
            <a:avLst/>
          </a:prstGeom>
          <a:noFill/>
          <a:ln>
            <a:noFill/>
          </a:ln>
        </p:spPr>
      </p:pic>
      <p:sp>
        <p:nvSpPr>
          <p:cNvPr id="35" name="Google Shape;35;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36" name="Google Shape;36;p22"/>
          <p:cNvPicPr preferRelativeResize="0"/>
          <p:nvPr/>
        </p:nvPicPr>
        <p:blipFill rotWithShape="1">
          <a:blip r:embed="rId3">
            <a:alphaModFix/>
          </a:blip>
          <a:srcRect l="-11869" r="-10498"/>
          <a:stretch/>
        </p:blipFill>
        <p:spPr>
          <a:xfrm>
            <a:off x="7614450" y="286450"/>
            <a:ext cx="1372051" cy="24735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7"/>
        <p:cNvGrpSpPr/>
        <p:nvPr/>
      </p:nvGrpSpPr>
      <p:grpSpPr>
        <a:xfrm>
          <a:off x="0" y="0"/>
          <a:ext cx="0" cy="0"/>
          <a:chOff x="0" y="0"/>
          <a:chExt cx="0" cy="0"/>
        </a:xfrm>
      </p:grpSpPr>
      <p:sp>
        <p:nvSpPr>
          <p:cNvPr id="38" name="Google Shape;38;p5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9" name="Google Shape;39;p5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5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1"/>
        <p:cNvGrpSpPr/>
        <p:nvPr/>
      </p:nvGrpSpPr>
      <p:grpSpPr>
        <a:xfrm>
          <a:off x="0" y="0"/>
          <a:ext cx="0" cy="0"/>
          <a:chOff x="0" y="0"/>
          <a:chExt cx="0" cy="0"/>
        </a:xfrm>
      </p:grpSpPr>
      <p:sp>
        <p:nvSpPr>
          <p:cNvPr id="42" name="Google Shape;42;p5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3" name="Google Shape;43;p51"/>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4" name="Google Shape;44;p51"/>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5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6"/>
        <p:cNvGrpSpPr/>
        <p:nvPr/>
      </p:nvGrpSpPr>
      <p:grpSpPr>
        <a:xfrm>
          <a:off x="0" y="0"/>
          <a:ext cx="0" cy="0"/>
          <a:chOff x="0" y="0"/>
          <a:chExt cx="0" cy="0"/>
        </a:xfrm>
      </p:grpSpPr>
      <p:sp>
        <p:nvSpPr>
          <p:cNvPr id="47" name="Google Shape;47;p5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8" name="Google Shape;48;p5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9"/>
        <p:cNvGrpSpPr/>
        <p:nvPr/>
      </p:nvGrpSpPr>
      <p:grpSpPr>
        <a:xfrm>
          <a:off x="0" y="0"/>
          <a:ext cx="0" cy="0"/>
          <a:chOff x="0" y="0"/>
          <a:chExt cx="0" cy="0"/>
        </a:xfrm>
      </p:grpSpPr>
      <p:sp>
        <p:nvSpPr>
          <p:cNvPr id="50" name="Google Shape;50;p53"/>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51" name="Google Shape;51;p53"/>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52" name="Google Shape;52;p5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3"/>
        <p:cNvGrpSpPr/>
        <p:nvPr/>
      </p:nvGrpSpPr>
      <p:grpSpPr>
        <a:xfrm>
          <a:off x="0" y="0"/>
          <a:ext cx="0" cy="0"/>
          <a:chOff x="0" y="0"/>
          <a:chExt cx="0" cy="0"/>
        </a:xfrm>
      </p:grpSpPr>
      <p:sp>
        <p:nvSpPr>
          <p:cNvPr id="54" name="Google Shape;54;p54"/>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55" name="Google Shape;55;p5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6"/>
        <p:cNvGrpSpPr/>
        <p:nvPr/>
      </p:nvGrpSpPr>
      <p:grpSpPr>
        <a:xfrm>
          <a:off x="0" y="0"/>
          <a:ext cx="0" cy="0"/>
          <a:chOff x="0" y="0"/>
          <a:chExt cx="0" cy="0"/>
        </a:xfrm>
      </p:grpSpPr>
      <p:sp>
        <p:nvSpPr>
          <p:cNvPr id="57" name="Google Shape;57;p55"/>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55"/>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9" name="Google Shape;59;p55"/>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0" name="Google Shape;60;p55"/>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1" name="Google Shape;61;p5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2"/>
        <p:cNvGrpSpPr/>
        <p:nvPr/>
      </p:nvGrpSpPr>
      <p:grpSpPr>
        <a:xfrm>
          <a:off x="0" y="0"/>
          <a:ext cx="0" cy="0"/>
          <a:chOff x="0" y="0"/>
          <a:chExt cx="0" cy="0"/>
        </a:xfrm>
      </p:grpSpPr>
      <p:sp>
        <p:nvSpPr>
          <p:cNvPr id="63" name="Google Shape;63;p56"/>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64" name="Google Shape;64;p5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5"/>
        <p:cNvGrpSpPr/>
        <p:nvPr/>
      </p:nvGrpSpPr>
      <p:grpSpPr>
        <a:xfrm>
          <a:off x="0" y="0"/>
          <a:ext cx="0" cy="0"/>
          <a:chOff x="0" y="0"/>
          <a:chExt cx="0" cy="0"/>
        </a:xfrm>
      </p:grpSpPr>
      <p:sp>
        <p:nvSpPr>
          <p:cNvPr id="66" name="Google Shape;66;p57"/>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7" name="Google Shape;67;p57"/>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8" name="Google Shape;68;p5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9"/>
        <p:cNvGrpSpPr/>
        <p:nvPr/>
      </p:nvGrpSpPr>
      <p:grpSpPr>
        <a:xfrm>
          <a:off x="0" y="0"/>
          <a:ext cx="0" cy="0"/>
          <a:chOff x="0" y="0"/>
          <a:chExt cx="0" cy="0"/>
        </a:xfrm>
      </p:grpSpPr>
      <p:sp>
        <p:nvSpPr>
          <p:cNvPr id="70" name="Google Shape;70;p5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1">
  <p:cSld name="TITLE_1">
    <p:spTree>
      <p:nvGrpSpPr>
        <p:cNvPr id="1" name="Shape 71"/>
        <p:cNvGrpSpPr/>
        <p:nvPr/>
      </p:nvGrpSpPr>
      <p:grpSpPr>
        <a:xfrm>
          <a:off x="0" y="0"/>
          <a:ext cx="0" cy="0"/>
          <a:chOff x="0" y="0"/>
          <a:chExt cx="0" cy="0"/>
        </a:xfrm>
      </p:grpSpPr>
      <p:sp>
        <p:nvSpPr>
          <p:cNvPr id="72" name="Google Shape;72;p5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73" name="Google Shape;73;p59"/>
          <p:cNvCxnSpPr/>
          <p:nvPr/>
        </p:nvCxnSpPr>
        <p:spPr>
          <a:xfrm>
            <a:off x="2740288" y="3545850"/>
            <a:ext cx="3824400" cy="0"/>
          </a:xfrm>
          <a:prstGeom prst="straightConnector1">
            <a:avLst/>
          </a:prstGeom>
          <a:noFill/>
          <a:ln w="9525" cap="flat" cmpd="sng">
            <a:solidFill>
              <a:srgbClr val="FFFFFF"/>
            </a:solidFill>
            <a:prstDash val="solid"/>
            <a:round/>
            <a:headEnd type="none" w="sm" len="sm"/>
            <a:tailEnd type="none" w="sm" len="sm"/>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slide 1 1">
  <p:cSld name="TITLE_1_1">
    <p:spTree>
      <p:nvGrpSpPr>
        <p:cNvPr id="1" name="Shape 74"/>
        <p:cNvGrpSpPr/>
        <p:nvPr/>
      </p:nvGrpSpPr>
      <p:grpSpPr>
        <a:xfrm>
          <a:off x="0" y="0"/>
          <a:ext cx="0" cy="0"/>
          <a:chOff x="0" y="0"/>
          <a:chExt cx="0" cy="0"/>
        </a:xfrm>
      </p:grpSpPr>
      <p:sp>
        <p:nvSpPr>
          <p:cNvPr id="75" name="Google Shape;75;p6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76" name="Google Shape;76;p60"/>
          <p:cNvCxnSpPr/>
          <p:nvPr/>
        </p:nvCxnSpPr>
        <p:spPr>
          <a:xfrm>
            <a:off x="2740288" y="3545850"/>
            <a:ext cx="3824400" cy="0"/>
          </a:xfrm>
          <a:prstGeom prst="straightConnector1">
            <a:avLst/>
          </a:prstGeom>
          <a:noFill/>
          <a:ln w="9525" cap="flat" cmpd="sng">
            <a:solidFill>
              <a:srgbClr val="FFFFFF"/>
            </a:solidFill>
            <a:prstDash val="solid"/>
            <a:round/>
            <a:headEnd type="none" w="sm" len="sm"/>
            <a:tailEnd type="none" w="sm" len="sm"/>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2">
  <p:cSld name="SECTION_HEADER_2">
    <p:spTree>
      <p:nvGrpSpPr>
        <p:cNvPr id="1" name="Shape 77"/>
        <p:cNvGrpSpPr/>
        <p:nvPr/>
      </p:nvGrpSpPr>
      <p:grpSpPr>
        <a:xfrm>
          <a:off x="0" y="0"/>
          <a:ext cx="0" cy="0"/>
          <a:chOff x="0" y="0"/>
          <a:chExt cx="0" cy="0"/>
        </a:xfrm>
      </p:grpSpPr>
      <p:sp>
        <p:nvSpPr>
          <p:cNvPr id="78" name="Google Shape;78;p61"/>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pic>
        <p:nvPicPr>
          <p:cNvPr id="79" name="Google Shape;79;p61"/>
          <p:cNvPicPr preferRelativeResize="0"/>
          <p:nvPr/>
        </p:nvPicPr>
        <p:blipFill rotWithShape="1">
          <a:blip r:embed="rId2">
            <a:alphaModFix/>
          </a:blip>
          <a:srcRect t="31469" b="34000"/>
          <a:stretch/>
        </p:blipFill>
        <p:spPr>
          <a:xfrm>
            <a:off x="134750" y="4589275"/>
            <a:ext cx="1410576" cy="34434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8" Type="http://schemas.openxmlformats.org/officeDocument/2006/relationships/hyperlink" Target="https://github.com/bagusedghar/fastapi-intermediate/tree/main/sesi-11-docker-kubernetes-cicd" TargetMode="External"/><Relationship Id="rId3" Type="http://schemas.openxmlformats.org/officeDocument/2006/relationships/image" Target="../media/image31.png"/><Relationship Id="rId7" Type="http://schemas.openxmlformats.org/officeDocument/2006/relationships/hyperlink" Target="https://colab.research.google.com/github/FTDS-learning-materials/phase-2/blob/master/w2/P2W2D1PM%20-%20Data%20Ethics%20&amp;%20Data%20Validation.ipynb"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a:t>
            </a:fld>
            <a:endParaRPr/>
          </a:p>
        </p:txBody>
      </p:sp>
      <p:sp>
        <p:nvSpPr>
          <p:cNvPr id="85" name="Google Shape;85;p5"/>
          <p:cNvSpPr txBox="1"/>
          <p:nvPr/>
        </p:nvSpPr>
        <p:spPr>
          <a:xfrm>
            <a:off x="763050" y="2010750"/>
            <a:ext cx="8258100" cy="11034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rgbClr val="000000"/>
              </a:buClr>
              <a:buSzPts val="3500"/>
              <a:buFont typeface="Arial"/>
              <a:buNone/>
            </a:pPr>
            <a:r>
              <a:rPr lang="en" sz="3500">
                <a:solidFill>
                  <a:srgbClr val="F06634"/>
                </a:solidFill>
                <a:latin typeface="Work Sans ExtraBold"/>
                <a:ea typeface="Work Sans ExtraBold"/>
                <a:cs typeface="Work Sans ExtraBold"/>
                <a:sym typeface="Work Sans ExtraBold"/>
              </a:rPr>
              <a:t>Docker, Kubernetes Basics &amp; CI/CD Pipeline</a:t>
            </a:r>
            <a:endParaRPr sz="3500" b="0" i="0" u="none" strike="noStrike" cap="none">
              <a:solidFill>
                <a:srgbClr val="F06634"/>
              </a:solidFill>
              <a:latin typeface="Work Sans ExtraBold"/>
              <a:ea typeface="Work Sans ExtraBold"/>
              <a:cs typeface="Work Sans ExtraBold"/>
              <a:sym typeface="Work Sans ExtraBold"/>
            </a:endParaRPr>
          </a:p>
        </p:txBody>
      </p:sp>
      <p:sp>
        <p:nvSpPr>
          <p:cNvPr id="86" name="Google Shape;86;p5"/>
          <p:cNvSpPr txBox="1"/>
          <p:nvPr/>
        </p:nvSpPr>
        <p:spPr>
          <a:xfrm>
            <a:off x="763050" y="3157225"/>
            <a:ext cx="7315200" cy="5313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rgbClr val="000000"/>
              </a:buClr>
              <a:buSzPts val="1500"/>
              <a:buFont typeface="Arial"/>
              <a:buNone/>
            </a:pPr>
            <a:r>
              <a:rPr lang="en" sz="1500" b="0" i="0" u="none" strike="noStrike" cap="none">
                <a:solidFill>
                  <a:schemeClr val="dk2"/>
                </a:solidFill>
                <a:latin typeface="Work Sans Medium"/>
                <a:ea typeface="Work Sans Medium"/>
                <a:cs typeface="Work Sans Medium"/>
                <a:sym typeface="Work Sans Medium"/>
              </a:rPr>
              <a:t>Intermediate Backend Developer with FastAPI  -  Sesi 11</a:t>
            </a:r>
            <a:endParaRPr sz="1500" b="0" i="0" u="none" strike="noStrike" cap="none">
              <a:solidFill>
                <a:schemeClr val="dk2"/>
              </a:solidFill>
              <a:latin typeface="Work Sans Medium"/>
              <a:ea typeface="Work Sans Medium"/>
              <a:cs typeface="Work Sans Medium"/>
              <a:sym typeface="Work Sans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g2442ffe4c8e_0_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
              <a:t>2</a:t>
            </a:fld>
            <a:endParaRPr/>
          </a:p>
        </p:txBody>
      </p:sp>
      <p:sp>
        <p:nvSpPr>
          <p:cNvPr id="92" name="Google Shape;92;g2442ffe4c8e_0_0"/>
          <p:cNvSpPr txBox="1"/>
          <p:nvPr/>
        </p:nvSpPr>
        <p:spPr>
          <a:xfrm>
            <a:off x="310675" y="249275"/>
            <a:ext cx="4456800" cy="48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300"/>
              <a:buFont typeface="Arial"/>
              <a:buNone/>
            </a:pPr>
            <a:r>
              <a:rPr lang="en" sz="2300" b="0" i="0" u="none" strike="noStrike" cap="none">
                <a:solidFill>
                  <a:srgbClr val="1D3D70"/>
                </a:solidFill>
                <a:latin typeface="Work Sans ExtraBold"/>
                <a:ea typeface="Work Sans ExtraBold"/>
                <a:cs typeface="Work Sans ExtraBold"/>
                <a:sym typeface="Work Sans ExtraBold"/>
              </a:rPr>
              <a:t>Contents</a:t>
            </a:r>
            <a:endParaRPr sz="2300" b="0" i="0" u="none" strike="noStrike" cap="none">
              <a:solidFill>
                <a:srgbClr val="1D3D70"/>
              </a:solidFill>
              <a:latin typeface="Work Sans ExtraBold"/>
              <a:ea typeface="Work Sans ExtraBold"/>
              <a:cs typeface="Work Sans ExtraBold"/>
              <a:sym typeface="Work Sans ExtraBold"/>
            </a:endParaRPr>
          </a:p>
        </p:txBody>
      </p:sp>
      <p:sp>
        <p:nvSpPr>
          <p:cNvPr id="93" name="Text 1"/>
          <p:cNvSpPr txBox="1"/>
          <p:nvPr/>
        </p:nvSpPr>
        <p:spPr>
          <a:xfrm>
            <a:off x="548640" y="1143000"/>
            <a:ext cx="5669280" cy="292608"/>
          </a:xfrm>
          <a:prstGeom prst="rect">
            <a:avLst/>
          </a:prstGeom>
          <a:noFill/>
        </p:spPr>
        <p:txBody>
          <a:bodyPr wrap="square" lIns="45720" rIns="45720" anchor="ctr">
            <a:spAutoFit/>
          </a:bodyPr>
          <a:lstStyle/>
          <a:p>
            <a:pPr algn="r">
              <a:lnSpc>
                <a:spcPct val="115000"/>
              </a:lnSpc>
              <a:spcAft>
                <a:spcPts val="400"/>
              </a:spcAft>
            </a:pPr>
            <a:r>
              <a:rPr sz="1000" b="0" i="0">
                <a:solidFill>
                  <a:srgbClr val="434343"/>
                </a:solidFill>
                <a:latin typeface="Inter"/>
              </a:rPr>
              <a:t>Docker</a:t>
            </a:r>
          </a:p>
        </p:txBody>
      </p:sp>
      <p:cxnSp>
        <p:nvCxnSpPr>
          <p:cNvPr id="94" name="Arrow 2"/>
          <p:cNvCxnSpPr/>
          <p:nvPr/>
        </p:nvCxnSpPr>
        <p:spPr>
          <a:xfrm>
            <a:off x="6318504" y="1325880"/>
            <a:ext cx="1947671" cy="0"/>
          </a:xfrm>
          <a:prstGeom prst="line">
            <a:avLst/>
          </a:prstGeom>
          <a:ln w="12700">
            <a:solidFill>
              <a:srgbClr val="1C4587"/>
            </a:solidFill>
          </a:ln>
        </p:spPr>
        <p:style>
          <a:lnRef idx="2">
            <a:schemeClr val="accent1"/>
          </a:lnRef>
          <a:fillRef idx="0">
            <a:schemeClr val="accent1"/>
          </a:fillRef>
          <a:effectRef idx="1">
            <a:schemeClr val="accent1"/>
          </a:effectRef>
          <a:fontRef idx="minor">
            <a:schemeClr val="tx1"/>
          </a:fontRef>
        </p:style>
      </p:cxnSp>
      <p:sp>
        <p:nvSpPr>
          <p:cNvPr id="95" name="Text 3"/>
          <p:cNvSpPr txBox="1"/>
          <p:nvPr/>
        </p:nvSpPr>
        <p:spPr>
          <a:xfrm>
            <a:off x="8266175" y="1143000"/>
            <a:ext cx="548640" cy="292608"/>
          </a:xfrm>
          <a:prstGeom prst="rect">
            <a:avLst/>
          </a:prstGeom>
          <a:noFill/>
        </p:spPr>
        <p:txBody>
          <a:bodyPr wrap="square" lIns="45720" rIns="45720" anchor="ctr">
            <a:spAutoFit/>
          </a:bodyPr>
          <a:lstStyle/>
          <a:p>
            <a:pPr algn="l">
              <a:lnSpc>
                <a:spcPct val="115000"/>
              </a:lnSpc>
              <a:spcAft>
                <a:spcPts val="400"/>
              </a:spcAft>
            </a:pPr>
            <a:r>
              <a:rPr sz="1000" b="1" i="1">
                <a:solidFill>
                  <a:srgbClr val="E0764F"/>
                </a:solidFill>
                <a:latin typeface="Inter"/>
              </a:rPr>
              <a:t>09</a:t>
            </a:r>
          </a:p>
        </p:txBody>
      </p:sp>
      <p:sp>
        <p:nvSpPr>
          <p:cNvPr id="96" name="Text 4"/>
          <p:cNvSpPr txBox="1"/>
          <p:nvPr/>
        </p:nvSpPr>
        <p:spPr>
          <a:xfrm>
            <a:off x="548640" y="1527048"/>
            <a:ext cx="5669280" cy="292608"/>
          </a:xfrm>
          <a:prstGeom prst="rect">
            <a:avLst/>
          </a:prstGeom>
          <a:noFill/>
        </p:spPr>
        <p:txBody>
          <a:bodyPr wrap="square" lIns="45720" rIns="45720" anchor="ctr">
            <a:spAutoFit/>
          </a:bodyPr>
          <a:lstStyle/>
          <a:p>
            <a:pPr algn="r">
              <a:lnSpc>
                <a:spcPct val="115000"/>
              </a:lnSpc>
              <a:spcAft>
                <a:spcPts val="400"/>
              </a:spcAft>
            </a:pPr>
            <a:r>
              <a:rPr sz="1000" b="0" i="0">
                <a:solidFill>
                  <a:srgbClr val="434343"/>
                </a:solidFill>
                <a:latin typeface="Inter"/>
              </a:rPr>
              <a:t>Kubernetes Basics</a:t>
            </a:r>
          </a:p>
        </p:txBody>
      </p:sp>
      <p:cxnSp>
        <p:nvCxnSpPr>
          <p:cNvPr id="97" name="Arrow 5"/>
          <p:cNvCxnSpPr/>
          <p:nvPr/>
        </p:nvCxnSpPr>
        <p:spPr>
          <a:xfrm>
            <a:off x="6318504" y="1709928"/>
            <a:ext cx="1947671" cy="0"/>
          </a:xfrm>
          <a:prstGeom prst="line">
            <a:avLst/>
          </a:prstGeom>
          <a:ln w="12700">
            <a:solidFill>
              <a:srgbClr val="1C4587"/>
            </a:solidFill>
          </a:ln>
        </p:spPr>
        <p:style>
          <a:lnRef idx="2">
            <a:schemeClr val="accent1"/>
          </a:lnRef>
          <a:fillRef idx="0">
            <a:schemeClr val="accent1"/>
          </a:fillRef>
          <a:effectRef idx="1">
            <a:schemeClr val="accent1"/>
          </a:effectRef>
          <a:fontRef idx="minor">
            <a:schemeClr val="tx1"/>
          </a:fontRef>
        </p:style>
      </p:cxnSp>
      <p:sp>
        <p:nvSpPr>
          <p:cNvPr id="98" name="Text 6"/>
          <p:cNvSpPr txBox="1"/>
          <p:nvPr/>
        </p:nvSpPr>
        <p:spPr>
          <a:xfrm>
            <a:off x="8266175" y="1527048"/>
            <a:ext cx="548640" cy="292608"/>
          </a:xfrm>
          <a:prstGeom prst="rect">
            <a:avLst/>
          </a:prstGeom>
          <a:noFill/>
        </p:spPr>
        <p:txBody>
          <a:bodyPr wrap="square" lIns="45720" rIns="45720" anchor="ctr">
            <a:spAutoFit/>
          </a:bodyPr>
          <a:lstStyle/>
          <a:p>
            <a:pPr algn="l">
              <a:lnSpc>
                <a:spcPct val="115000"/>
              </a:lnSpc>
              <a:spcAft>
                <a:spcPts val="400"/>
              </a:spcAft>
            </a:pPr>
            <a:r>
              <a:rPr sz="1000" b="1" i="1">
                <a:solidFill>
                  <a:srgbClr val="E0764F"/>
                </a:solidFill>
                <a:latin typeface="Inter"/>
              </a:rPr>
              <a:t>29</a:t>
            </a:r>
          </a:p>
        </p:txBody>
      </p:sp>
      <p:sp>
        <p:nvSpPr>
          <p:cNvPr id="99" name="Text 7"/>
          <p:cNvSpPr txBox="1"/>
          <p:nvPr/>
        </p:nvSpPr>
        <p:spPr>
          <a:xfrm>
            <a:off x="548640" y="1911095"/>
            <a:ext cx="5669280" cy="292608"/>
          </a:xfrm>
          <a:prstGeom prst="rect">
            <a:avLst/>
          </a:prstGeom>
          <a:noFill/>
        </p:spPr>
        <p:txBody>
          <a:bodyPr wrap="square" lIns="45720" rIns="45720" anchor="ctr">
            <a:spAutoFit/>
          </a:bodyPr>
          <a:lstStyle/>
          <a:p>
            <a:pPr algn="r">
              <a:lnSpc>
                <a:spcPct val="115000"/>
              </a:lnSpc>
              <a:spcAft>
                <a:spcPts val="400"/>
              </a:spcAft>
            </a:pPr>
            <a:r>
              <a:rPr sz="1000" b="0" i="0">
                <a:solidFill>
                  <a:srgbClr val="434343"/>
                </a:solidFill>
                <a:latin typeface="Inter"/>
              </a:rPr>
              <a:t>CI/CD Pipeline</a:t>
            </a:r>
          </a:p>
        </p:txBody>
      </p:sp>
      <p:cxnSp>
        <p:nvCxnSpPr>
          <p:cNvPr id="100" name="Arrow 8"/>
          <p:cNvCxnSpPr/>
          <p:nvPr/>
        </p:nvCxnSpPr>
        <p:spPr>
          <a:xfrm>
            <a:off x="6318504" y="2093976"/>
            <a:ext cx="1947671" cy="0"/>
          </a:xfrm>
          <a:prstGeom prst="line">
            <a:avLst/>
          </a:prstGeom>
          <a:ln w="12700">
            <a:solidFill>
              <a:srgbClr val="1C4587"/>
            </a:solidFill>
          </a:ln>
        </p:spPr>
        <p:style>
          <a:lnRef idx="2">
            <a:schemeClr val="accent1"/>
          </a:lnRef>
          <a:fillRef idx="0">
            <a:schemeClr val="accent1"/>
          </a:fillRef>
          <a:effectRef idx="1">
            <a:schemeClr val="accent1"/>
          </a:effectRef>
          <a:fontRef idx="minor">
            <a:schemeClr val="tx1"/>
          </a:fontRef>
        </p:style>
      </p:cxnSp>
      <p:sp>
        <p:nvSpPr>
          <p:cNvPr id="101" name="Text 9"/>
          <p:cNvSpPr txBox="1"/>
          <p:nvPr/>
        </p:nvSpPr>
        <p:spPr>
          <a:xfrm>
            <a:off x="8266175" y="1911095"/>
            <a:ext cx="548640" cy="292608"/>
          </a:xfrm>
          <a:prstGeom prst="rect">
            <a:avLst/>
          </a:prstGeom>
          <a:noFill/>
        </p:spPr>
        <p:txBody>
          <a:bodyPr wrap="square" lIns="45720" rIns="45720" anchor="ctr">
            <a:spAutoFit/>
          </a:bodyPr>
          <a:lstStyle/>
          <a:p>
            <a:pPr algn="l">
              <a:lnSpc>
                <a:spcPct val="115000"/>
              </a:lnSpc>
              <a:spcAft>
                <a:spcPts val="400"/>
              </a:spcAft>
            </a:pPr>
            <a:r>
              <a:rPr sz="1000" b="1" i="1">
                <a:solidFill>
                  <a:srgbClr val="E0764F"/>
                </a:solidFill>
                <a:latin typeface="Inter"/>
              </a:rPr>
              <a:t>53</a:t>
            </a:r>
          </a:p>
        </p:txBody>
      </p:sp>
      <p:sp>
        <p:nvSpPr>
          <p:cNvPr id="102" name="Text 10"/>
          <p:cNvSpPr txBox="1"/>
          <p:nvPr/>
        </p:nvSpPr>
        <p:spPr>
          <a:xfrm>
            <a:off x="548640" y="2295144"/>
            <a:ext cx="5669280" cy="292608"/>
          </a:xfrm>
          <a:prstGeom prst="rect">
            <a:avLst/>
          </a:prstGeom>
          <a:noFill/>
        </p:spPr>
        <p:txBody>
          <a:bodyPr wrap="square" lIns="45720" rIns="45720" anchor="ctr">
            <a:spAutoFit/>
          </a:bodyPr>
          <a:lstStyle/>
          <a:p>
            <a:pPr algn="r">
              <a:lnSpc>
                <a:spcPct val="115000"/>
              </a:lnSpc>
              <a:spcAft>
                <a:spcPts val="400"/>
              </a:spcAft>
            </a:pPr>
            <a:r>
              <a:rPr sz="1000" b="0" i="0">
                <a:solidFill>
                  <a:srgbClr val="434343"/>
                </a:solidFill>
                <a:latin typeface="Inter"/>
              </a:rPr>
              <a:t>Hands-on: Dockerize Order API dan Pipeline CI</a:t>
            </a:r>
          </a:p>
        </p:txBody>
      </p:sp>
      <p:cxnSp>
        <p:nvCxnSpPr>
          <p:cNvPr id="103" name="Arrow 11"/>
          <p:cNvCxnSpPr/>
          <p:nvPr/>
        </p:nvCxnSpPr>
        <p:spPr>
          <a:xfrm>
            <a:off x="6318504" y="2478024"/>
            <a:ext cx="1947671" cy="0"/>
          </a:xfrm>
          <a:prstGeom prst="line">
            <a:avLst/>
          </a:prstGeom>
          <a:ln w="12700">
            <a:solidFill>
              <a:srgbClr val="1C4587"/>
            </a:solidFill>
          </a:ln>
        </p:spPr>
        <p:style>
          <a:lnRef idx="2">
            <a:schemeClr val="accent1"/>
          </a:lnRef>
          <a:fillRef idx="0">
            <a:schemeClr val="accent1"/>
          </a:fillRef>
          <a:effectRef idx="1">
            <a:schemeClr val="accent1"/>
          </a:effectRef>
          <a:fontRef idx="minor">
            <a:schemeClr val="tx1"/>
          </a:fontRef>
        </p:style>
      </p:cxnSp>
      <p:sp>
        <p:nvSpPr>
          <p:cNvPr id="104" name="Text 12"/>
          <p:cNvSpPr txBox="1"/>
          <p:nvPr/>
        </p:nvSpPr>
        <p:spPr>
          <a:xfrm>
            <a:off x="8266175" y="2295144"/>
            <a:ext cx="548640" cy="292608"/>
          </a:xfrm>
          <a:prstGeom prst="rect">
            <a:avLst/>
          </a:prstGeom>
          <a:noFill/>
        </p:spPr>
        <p:txBody>
          <a:bodyPr wrap="square" lIns="45720" rIns="45720" anchor="ctr">
            <a:spAutoFit/>
          </a:bodyPr>
          <a:lstStyle/>
          <a:p>
            <a:pPr algn="l">
              <a:lnSpc>
                <a:spcPct val="115000"/>
              </a:lnSpc>
              <a:spcAft>
                <a:spcPts val="400"/>
              </a:spcAft>
            </a:pPr>
            <a:r>
              <a:rPr sz="1000" b="1" i="1">
                <a:solidFill>
                  <a:srgbClr val="E0764F"/>
                </a:solidFill>
                <a:latin typeface="Inter"/>
              </a:rPr>
              <a:t>63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Sesi 11</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Learning Outcome</a:t>
            </a:r>
          </a:p>
        </p:txBody>
      </p:sp>
      <p:sp>
        <p:nvSpPr>
          <p:cNvPr id="22" name="Box 3"/>
          <p:cNvSpPr/>
          <p:nvPr/>
        </p:nvSpPr>
        <p:spPr>
          <a:xfrm>
            <a:off x="621792" y="1600200"/>
            <a:ext cx="2523744" cy="2011680"/>
          </a:xfrm>
          <a:prstGeom prst="roundRect">
            <a:avLst>
              <a:gd name="adj" fmla="val 5454"/>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Box 4"/>
          <p:cNvSpPr/>
          <p:nvPr/>
        </p:nvSpPr>
        <p:spPr>
          <a:xfrm>
            <a:off x="758952" y="1737360"/>
            <a:ext cx="329184" cy="32918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1100" b="1" i="0">
                <a:solidFill>
                  <a:srgbClr val="FFFFFF"/>
                </a:solidFill>
                <a:latin typeface="Inter"/>
              </a:rPr>
              <a:t>1</a:t>
            </a:r>
          </a:p>
        </p:txBody>
      </p:sp>
      <p:sp>
        <p:nvSpPr>
          <p:cNvPr id="24" name="Text 5"/>
          <p:cNvSpPr txBox="1"/>
          <p:nvPr/>
        </p:nvSpPr>
        <p:spPr>
          <a:xfrm>
            <a:off x="1170432" y="1709928"/>
            <a:ext cx="1883663" cy="384048"/>
          </a:xfrm>
          <a:prstGeom prst="rect">
            <a:avLst/>
          </a:prstGeom>
          <a:noFill/>
        </p:spPr>
        <p:txBody>
          <a:bodyPr wrap="square" lIns="45720" rIns="45720" anchor="ctr">
            <a:spAutoFit/>
          </a:bodyPr>
          <a:lstStyle/>
          <a:p>
            <a:pPr algn="l">
              <a:lnSpc>
                <a:spcPct val="115000"/>
              </a:lnSpc>
              <a:spcAft>
                <a:spcPts val="400"/>
              </a:spcAft>
            </a:pPr>
            <a:r>
              <a:rPr sz="1200" b="1" i="0">
                <a:solidFill>
                  <a:srgbClr val="1C4587"/>
                </a:solidFill>
                <a:latin typeface="Inter"/>
              </a:rPr>
              <a:t>Docker &amp; Compose</a:t>
            </a:r>
          </a:p>
        </p:txBody>
      </p:sp>
      <p:sp>
        <p:nvSpPr>
          <p:cNvPr id="25" name="Text 6"/>
          <p:cNvSpPr txBox="1"/>
          <p:nvPr/>
        </p:nvSpPr>
        <p:spPr>
          <a:xfrm>
            <a:off x="758952" y="2148840"/>
            <a:ext cx="2249424" cy="1371600"/>
          </a:xfrm>
          <a:prstGeom prst="rect">
            <a:avLst/>
          </a:prstGeom>
          <a:noFill/>
        </p:spPr>
        <p:txBody>
          <a:bodyPr wrap="square" lIns="45720" rIns="45720" anchor="t">
            <a:spAutoFit/>
          </a:bodyPr>
          <a:lstStyle/>
          <a:p>
            <a:pPr algn="l">
              <a:lnSpc>
                <a:spcPct val="115000"/>
              </a:lnSpc>
              <a:spcAft>
                <a:spcPts val="400"/>
              </a:spcAft>
            </a:pPr>
            <a:r>
              <a:rPr sz="1050" b="0" i="0">
                <a:solidFill>
                  <a:srgbClr val="434343"/>
                </a:solidFill>
                <a:latin typeface="Inter"/>
              </a:rPr>
              <a:t>Membuat Docker image dan menjalankan stack FastAPI beserta dependensinya secara lokal menggunakan Compose.</a:t>
            </a:r>
          </a:p>
        </p:txBody>
      </p:sp>
      <p:sp>
        <p:nvSpPr>
          <p:cNvPr id="26" name="Box 7"/>
          <p:cNvSpPr/>
          <p:nvPr/>
        </p:nvSpPr>
        <p:spPr>
          <a:xfrm>
            <a:off x="3291840" y="1600200"/>
            <a:ext cx="2523744" cy="2011680"/>
          </a:xfrm>
          <a:prstGeom prst="roundRect">
            <a:avLst>
              <a:gd name="adj" fmla="val 5454"/>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7" name="Box 8"/>
          <p:cNvSpPr/>
          <p:nvPr/>
        </p:nvSpPr>
        <p:spPr>
          <a:xfrm>
            <a:off x="3429000" y="1737360"/>
            <a:ext cx="329184" cy="32918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1100" b="1" i="0">
                <a:solidFill>
                  <a:srgbClr val="FFFFFF"/>
                </a:solidFill>
                <a:latin typeface="Inter"/>
              </a:rPr>
              <a:t>2</a:t>
            </a:r>
          </a:p>
        </p:txBody>
      </p:sp>
      <p:sp>
        <p:nvSpPr>
          <p:cNvPr id="28" name="Text 9"/>
          <p:cNvSpPr txBox="1"/>
          <p:nvPr/>
        </p:nvSpPr>
        <p:spPr>
          <a:xfrm>
            <a:off x="3840480" y="1709928"/>
            <a:ext cx="1883663" cy="384048"/>
          </a:xfrm>
          <a:prstGeom prst="rect">
            <a:avLst/>
          </a:prstGeom>
          <a:noFill/>
        </p:spPr>
        <p:txBody>
          <a:bodyPr wrap="square" lIns="45720" rIns="45720" anchor="ctr">
            <a:spAutoFit/>
          </a:bodyPr>
          <a:lstStyle/>
          <a:p>
            <a:pPr algn="l">
              <a:lnSpc>
                <a:spcPct val="115000"/>
              </a:lnSpc>
              <a:spcAft>
                <a:spcPts val="400"/>
              </a:spcAft>
            </a:pPr>
            <a:r>
              <a:rPr sz="1200" b="1" i="0">
                <a:solidFill>
                  <a:srgbClr val="1C4587"/>
                </a:solidFill>
                <a:latin typeface="Inter"/>
              </a:rPr>
              <a:t>Kubernetes</a:t>
            </a:r>
          </a:p>
        </p:txBody>
      </p:sp>
      <p:sp>
        <p:nvSpPr>
          <p:cNvPr id="29" name="Text 10"/>
          <p:cNvSpPr txBox="1"/>
          <p:nvPr/>
        </p:nvSpPr>
        <p:spPr>
          <a:xfrm>
            <a:off x="3429000" y="2148840"/>
            <a:ext cx="2249424" cy="1371600"/>
          </a:xfrm>
          <a:prstGeom prst="rect">
            <a:avLst/>
          </a:prstGeom>
          <a:noFill/>
        </p:spPr>
        <p:txBody>
          <a:bodyPr wrap="square" lIns="45720" rIns="45720" anchor="t">
            <a:spAutoFit/>
          </a:bodyPr>
          <a:lstStyle/>
          <a:p>
            <a:pPr algn="l">
              <a:lnSpc>
                <a:spcPct val="115000"/>
              </a:lnSpc>
              <a:spcAft>
                <a:spcPts val="400"/>
              </a:spcAft>
            </a:pPr>
            <a:r>
              <a:rPr sz="1050" b="0" i="0">
                <a:solidFill>
                  <a:srgbClr val="434343"/>
                </a:solidFill>
                <a:latin typeface="Inter"/>
              </a:rPr>
              <a:t>Memahami resource Kubernetes dasar dan menyiapkan manifest Deployment/Service dengan readiness/liveness probes.</a:t>
            </a:r>
          </a:p>
        </p:txBody>
      </p:sp>
      <p:sp>
        <p:nvSpPr>
          <p:cNvPr id="30" name="Box 11"/>
          <p:cNvSpPr/>
          <p:nvPr/>
        </p:nvSpPr>
        <p:spPr>
          <a:xfrm>
            <a:off x="5961888" y="1600200"/>
            <a:ext cx="2523744" cy="2011680"/>
          </a:xfrm>
          <a:prstGeom prst="roundRect">
            <a:avLst>
              <a:gd name="adj" fmla="val 545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Box 12"/>
          <p:cNvSpPr/>
          <p:nvPr/>
        </p:nvSpPr>
        <p:spPr>
          <a:xfrm>
            <a:off x="6099048" y="1737360"/>
            <a:ext cx="329184" cy="32918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1100" b="1" i="0">
                <a:solidFill>
                  <a:srgbClr val="FFFFFF"/>
                </a:solidFill>
                <a:latin typeface="Inter"/>
              </a:rPr>
              <a:t>3</a:t>
            </a:r>
          </a:p>
        </p:txBody>
      </p:sp>
      <p:sp>
        <p:nvSpPr>
          <p:cNvPr id="32" name="Text 13"/>
          <p:cNvSpPr txBox="1"/>
          <p:nvPr/>
        </p:nvSpPr>
        <p:spPr>
          <a:xfrm>
            <a:off x="6510527" y="1709928"/>
            <a:ext cx="1883664" cy="384048"/>
          </a:xfrm>
          <a:prstGeom prst="rect">
            <a:avLst/>
          </a:prstGeom>
          <a:noFill/>
        </p:spPr>
        <p:txBody>
          <a:bodyPr wrap="square" lIns="45720" rIns="45720" anchor="ctr">
            <a:spAutoFit/>
          </a:bodyPr>
          <a:lstStyle/>
          <a:p>
            <a:pPr algn="l">
              <a:lnSpc>
                <a:spcPct val="115000"/>
              </a:lnSpc>
              <a:spcAft>
                <a:spcPts val="400"/>
              </a:spcAft>
            </a:pPr>
            <a:r>
              <a:rPr sz="1200" b="1" i="0">
                <a:solidFill>
                  <a:srgbClr val="1C4587"/>
                </a:solidFill>
                <a:latin typeface="Inter"/>
              </a:rPr>
              <a:t>CI/CD</a:t>
            </a:r>
          </a:p>
        </p:txBody>
      </p:sp>
      <p:sp>
        <p:nvSpPr>
          <p:cNvPr id="33" name="Text 14"/>
          <p:cNvSpPr txBox="1"/>
          <p:nvPr/>
        </p:nvSpPr>
        <p:spPr>
          <a:xfrm>
            <a:off x="6099048" y="2148840"/>
            <a:ext cx="2249424" cy="1371600"/>
          </a:xfrm>
          <a:prstGeom prst="rect">
            <a:avLst/>
          </a:prstGeom>
          <a:noFill/>
        </p:spPr>
        <p:txBody>
          <a:bodyPr wrap="square" lIns="45720" rIns="45720" anchor="t">
            <a:spAutoFit/>
          </a:bodyPr>
          <a:lstStyle/>
          <a:p>
            <a:pPr algn="l">
              <a:lnSpc>
                <a:spcPct val="115000"/>
              </a:lnSpc>
              <a:spcAft>
                <a:spcPts val="400"/>
              </a:spcAft>
            </a:pPr>
            <a:r>
              <a:rPr sz="1050" b="0" i="0">
                <a:solidFill>
                  <a:srgbClr val="434343"/>
                </a:solidFill>
                <a:latin typeface="Inter"/>
              </a:rPr>
              <a:t>Merancang pipeline CI/CD sederhana untuk automated test, build, dan deployment.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Tema Training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Order Management API</a:t>
            </a:r>
          </a:p>
        </p:txBody>
      </p:sp>
      <p:sp>
        <p:nvSpPr>
          <p:cNvPr id="22" name="Text 3"/>
          <p:cNvSpPr txBox="1"/>
          <p:nvPr/>
        </p:nvSpPr>
        <p:spPr>
          <a:xfrm>
            <a:off x="621792" y="1481328"/>
            <a:ext cx="4297680" cy="324612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Pada training ini, kita akan memakai satu tema yang sama dari awal sampai akhir, yaitu </a:t>
            </a:r>
            <a:r>
              <a:rPr sz="1000" b="1" i="0">
                <a:solidFill>
                  <a:srgbClr val="434343"/>
                </a:solidFill>
                <a:latin typeface="Inter"/>
              </a:rPr>
              <a:t>Order Management API</a:t>
            </a:r>
            <a:r>
              <a:rPr sz="1000" b="0" i="0">
                <a:solidFill>
                  <a:srgbClr val="434343"/>
                </a:solidFill>
                <a:latin typeface="Inter"/>
              </a:rPr>
              <a:t>: API sederhana untuk menerima order, menghitung diskon, menyimpan data order, dan mengirim notifikasi ke customer.</a:t>
            </a:r>
          </a:p>
          <a:p>
            <a:pPr algn="l">
              <a:lnSpc>
                <a:spcPct val="115000"/>
              </a:lnSpc>
              <a:spcAft>
                <a:spcPts val="0"/>
              </a:spcAft>
            </a:pPr>
            <a:endParaRPr sz="1000" b="0" i="0">
              <a:solidFill>
                <a:srgbClr val="434343"/>
              </a:solidFill>
              <a:latin typeface="Inter"/>
            </a:endParaRPr>
          </a:p>
          <a:p>
            <a:pPr algn="l">
              <a:lnSpc>
                <a:spcPct val="115000"/>
              </a:lnSpc>
              <a:spcAft>
                <a:spcPts val="400"/>
              </a:spcAft>
            </a:pPr>
            <a:r>
              <a:rPr sz="1000" b="0" i="0">
                <a:solidFill>
                  <a:srgbClr val="434343"/>
                </a:solidFill>
                <a:latin typeface="Inter"/>
              </a:rPr>
              <a:t>Aplikasi ini kita kembangkan sedikit demi sedikit di setiap sesi. Di Sesi 1 kita mulai dari kode yang masih ditulis di satu file, lalu merapikannya. Hasil akhir setiap sesi menjadi titik awal sesi berikutnya, sampai di Sesi 12 menjadi Order API yang siap production.</a:t>
            </a:r>
          </a:p>
          <a:p>
            <a:pPr algn="l">
              <a:lnSpc>
                <a:spcPct val="115000"/>
              </a:lnSpc>
              <a:spcAft>
                <a:spcPts val="0"/>
              </a:spcAft>
            </a:pPr>
            <a:endParaRPr sz="1000" b="0" i="0">
              <a:solidFill>
                <a:srgbClr val="434343"/>
              </a:solidFill>
              <a:latin typeface="Inter"/>
            </a:endParaRPr>
          </a:p>
          <a:p>
            <a:pPr algn="l">
              <a:lnSpc>
                <a:spcPct val="115000"/>
              </a:lnSpc>
              <a:spcAft>
                <a:spcPts val="400"/>
              </a:spcAft>
            </a:pPr>
            <a:r>
              <a:rPr sz="1000" b="0" i="0">
                <a:solidFill>
                  <a:srgbClr val="434343"/>
                </a:solidFill>
                <a:latin typeface="Inter"/>
              </a:rPr>
              <a:t>Di Sesi 11 (Docker &amp; CI/CD): docker image, Compose, dan pipeline otomatis.</a:t>
            </a:r>
          </a:p>
        </p:txBody>
      </p:sp>
      <p:sp>
        <p:nvSpPr>
          <p:cNvPr id="23" name="Box 4"/>
          <p:cNvSpPr/>
          <p:nvPr/>
        </p:nvSpPr>
        <p:spPr>
          <a:xfrm>
            <a:off x="5120640" y="1600200"/>
            <a:ext cx="1828800" cy="402336"/>
          </a:xfrm>
          <a:prstGeom prst="roundRect">
            <a:avLst>
              <a:gd name="adj" fmla="val 27272"/>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50" b="1" i="0">
                <a:solidFill>
                  <a:srgbClr val="FFFFFF"/>
                </a:solidFill>
                <a:latin typeface="Inter"/>
              </a:rPr>
              <a:t>Terima order</a:t>
            </a:r>
          </a:p>
        </p:txBody>
      </p:sp>
      <p:sp>
        <p:nvSpPr>
          <p:cNvPr id="24" name="Box 5"/>
          <p:cNvSpPr/>
          <p:nvPr/>
        </p:nvSpPr>
        <p:spPr>
          <a:xfrm>
            <a:off x="5120640" y="2167128"/>
            <a:ext cx="1828800" cy="402336"/>
          </a:xfrm>
          <a:prstGeom prst="roundRect">
            <a:avLst>
              <a:gd name="adj" fmla="val 27272"/>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50" b="1" i="0">
                <a:solidFill>
                  <a:srgbClr val="1C4587"/>
                </a:solidFill>
                <a:latin typeface="Inter"/>
              </a:rPr>
              <a:t>Hitung diskon</a:t>
            </a:r>
          </a:p>
        </p:txBody>
      </p:sp>
      <p:cxnSp>
        <p:nvCxnSpPr>
          <p:cNvPr id="25" name="Arrow 6"/>
          <p:cNvCxnSpPr/>
          <p:nvPr/>
        </p:nvCxnSpPr>
        <p:spPr>
          <a:xfrm>
            <a:off x="6035040" y="2002536"/>
            <a:ext cx="0" cy="164592"/>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Box 7"/>
          <p:cNvSpPr/>
          <p:nvPr/>
        </p:nvSpPr>
        <p:spPr>
          <a:xfrm>
            <a:off x="5120640" y="2734056"/>
            <a:ext cx="1828800" cy="402336"/>
          </a:xfrm>
          <a:prstGeom prst="roundRect">
            <a:avLst>
              <a:gd name="adj" fmla="val 27272"/>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50" b="1" i="0">
                <a:solidFill>
                  <a:srgbClr val="1C4587"/>
                </a:solidFill>
                <a:latin typeface="Inter"/>
              </a:rPr>
              <a:t>Simpan ke database</a:t>
            </a:r>
          </a:p>
        </p:txBody>
      </p:sp>
      <p:cxnSp>
        <p:nvCxnSpPr>
          <p:cNvPr id="27" name="Arrow 8"/>
          <p:cNvCxnSpPr/>
          <p:nvPr/>
        </p:nvCxnSpPr>
        <p:spPr>
          <a:xfrm>
            <a:off x="6035040" y="2569464"/>
            <a:ext cx="0" cy="164592"/>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Box 9"/>
          <p:cNvSpPr/>
          <p:nvPr/>
        </p:nvSpPr>
        <p:spPr>
          <a:xfrm>
            <a:off x="5120640" y="3300984"/>
            <a:ext cx="1828800" cy="402336"/>
          </a:xfrm>
          <a:prstGeom prst="roundRect">
            <a:avLst>
              <a:gd name="adj" fmla="val 27272"/>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50" b="1" i="0">
                <a:solidFill>
                  <a:srgbClr val="1C4587"/>
                </a:solidFill>
                <a:latin typeface="Inter"/>
              </a:rPr>
              <a:t>Kirim notifikasi</a:t>
            </a:r>
          </a:p>
        </p:txBody>
      </p:sp>
      <p:cxnSp>
        <p:nvCxnSpPr>
          <p:cNvPr id="29" name="Arrow 10"/>
          <p:cNvCxnSpPr/>
          <p:nvPr/>
        </p:nvCxnSpPr>
        <p:spPr>
          <a:xfrm>
            <a:off x="6035040" y="3136391"/>
            <a:ext cx="0" cy="164593"/>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 11"/>
          <p:cNvSpPr txBox="1"/>
          <p:nvPr/>
        </p:nvSpPr>
        <p:spPr>
          <a:xfrm>
            <a:off x="7086600" y="1600200"/>
            <a:ext cx="1417320" cy="2103120"/>
          </a:xfrm>
          <a:prstGeom prst="rect">
            <a:avLst/>
          </a:prstGeom>
          <a:noFill/>
        </p:spPr>
        <p:txBody>
          <a:bodyPr wrap="square" lIns="45720" rIns="45720" anchor="t">
            <a:spAutoFit/>
          </a:bodyPr>
          <a:lstStyle/>
          <a:p>
            <a:pPr algn="l">
              <a:lnSpc>
                <a:spcPct val="115000"/>
              </a:lnSpc>
              <a:spcAft>
                <a:spcPts val="400"/>
              </a:spcAft>
            </a:pPr>
            <a:r>
              <a:rPr sz="900" b="1" i="0">
                <a:solidFill>
                  <a:srgbClr val="7A7A7A"/>
                </a:solidFill>
                <a:latin typeface="Inter"/>
              </a:rPr>
              <a:t>Aturan diskon</a:t>
            </a:r>
          </a:p>
          <a:p>
            <a:pPr algn="l">
              <a:lnSpc>
                <a:spcPct val="115000"/>
              </a:lnSpc>
              <a:spcAft>
                <a:spcPts val="400"/>
              </a:spcAft>
            </a:pPr>
            <a:r>
              <a:rPr sz="900" b="0" i="0">
                <a:solidFill>
                  <a:srgbClr val="7A7A7A"/>
                </a:solidFill>
                <a:latin typeface="Inter"/>
              </a:rPr>
              <a:t>regular: 0%</a:t>
            </a:r>
          </a:p>
          <a:p>
            <a:pPr algn="l">
              <a:lnSpc>
                <a:spcPct val="115000"/>
              </a:lnSpc>
              <a:spcAft>
                <a:spcPts val="400"/>
              </a:spcAft>
            </a:pPr>
            <a:r>
              <a:rPr sz="900" b="0" i="0">
                <a:solidFill>
                  <a:srgbClr val="7A7A7A"/>
                </a:solidFill>
                <a:latin typeface="Inter"/>
              </a:rPr>
              <a:t>member: 5%</a:t>
            </a:r>
          </a:p>
          <a:p>
            <a:pPr algn="l">
              <a:lnSpc>
                <a:spcPct val="115000"/>
              </a:lnSpc>
              <a:spcAft>
                <a:spcPts val="400"/>
              </a:spcAft>
            </a:pPr>
            <a:r>
              <a:rPr sz="900" b="0" i="0">
                <a:solidFill>
                  <a:srgbClr val="7A7A7A"/>
                </a:solidFill>
                <a:latin typeface="Inter"/>
              </a:rPr>
              <a:t>vip: 10%</a:t>
            </a:r>
          </a:p>
          <a:p>
            <a:pPr algn="l">
              <a:lnSpc>
                <a:spcPct val="115000"/>
              </a:lnSpc>
              <a:spcAft>
                <a:spcPts val="0"/>
              </a:spcAft>
            </a:pPr>
            <a:endParaRPr sz="900" b="0" i="0">
              <a:solidFill>
                <a:srgbClr val="7A7A7A"/>
              </a:solidFill>
              <a:latin typeface="Inter"/>
            </a:endParaRPr>
          </a:p>
          <a:p>
            <a:pPr algn="l">
              <a:lnSpc>
                <a:spcPct val="115000"/>
              </a:lnSpc>
              <a:spcAft>
                <a:spcPts val="400"/>
              </a:spcAft>
            </a:pPr>
            <a:r>
              <a:rPr sz="900" b="1" i="0">
                <a:solidFill>
                  <a:srgbClr val="7A7A7A"/>
                </a:solidFill>
                <a:latin typeface="Inter"/>
              </a:rPr>
              <a:t>Notifikasi</a:t>
            </a:r>
          </a:p>
          <a:p>
            <a:pPr algn="l">
              <a:lnSpc>
                <a:spcPct val="115000"/>
              </a:lnSpc>
              <a:spcAft>
                <a:spcPts val="400"/>
              </a:spcAft>
            </a:pPr>
            <a:r>
              <a:rPr sz="900" b="0" i="0">
                <a:solidFill>
                  <a:srgbClr val="7A7A7A"/>
                </a:solidFill>
                <a:latin typeface="Inter"/>
              </a:rPr>
              <a:t>email atau SMS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Tema Training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Tahapan Pengembangan Order API</a:t>
            </a:r>
          </a:p>
        </p:txBody>
      </p:sp>
      <p:graphicFrame>
        <p:nvGraphicFramePr>
          <p:cNvPr id="22" name="Table 3"/>
          <p:cNvGraphicFramePr>
            <a:graphicFrameLocks noGrp="1"/>
          </p:cNvGraphicFramePr>
          <p:nvPr/>
        </p:nvGraphicFramePr>
        <p:xfrm>
          <a:off x="621792" y="1463040"/>
          <a:ext cx="7863840" cy="3031236"/>
        </p:xfrm>
        <a:graphic>
          <a:graphicData uri="http://schemas.openxmlformats.org/drawingml/2006/table">
            <a:tbl>
              <a:tblPr firstRow="1" bandRow="1"/>
              <a:tblGrid>
                <a:gridCol w="96012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233172">
                <a:tc>
                  <a:txBody>
                    <a:bodyPr/>
                    <a:lstStyle/>
                    <a:p>
                      <a:pPr algn="l">
                        <a:lnSpc>
                          <a:spcPct val="100000"/>
                        </a:lnSpc>
                        <a:spcAft>
                          <a:spcPts val="0"/>
                        </a:spcAft>
                      </a:pPr>
                      <a:r>
                        <a:rPr sz="800" b="1" i="0">
                          <a:solidFill>
                            <a:srgbClr val="FFFFFF"/>
                          </a:solidFill>
                          <a:latin typeface="Inter"/>
                        </a:rPr>
                        <a:t>Sesi</a:t>
                      </a:r>
                    </a:p>
                  </a:txBody>
                  <a:tcPr marL="73152" marR="73152" marT="36576" marB="36576" anchor="ctr">
                    <a:solidFill>
                      <a:srgbClr val="1C4587"/>
                    </a:solidFill>
                  </a:tcPr>
                </a:tc>
                <a:tc>
                  <a:txBody>
                    <a:bodyPr/>
                    <a:lstStyle/>
                    <a:p>
                      <a:pPr algn="l">
                        <a:lnSpc>
                          <a:spcPct val="100000"/>
                        </a:lnSpc>
                        <a:spcAft>
                          <a:spcPts val="0"/>
                        </a:spcAft>
                      </a:pPr>
                      <a:r>
                        <a:rPr sz="800" b="1" i="0">
                          <a:solidFill>
                            <a:srgbClr val="FFFFFF"/>
                          </a:solidFill>
                          <a:latin typeface="Inter"/>
                        </a:rPr>
                        <a:t>Topik</a:t>
                      </a:r>
                    </a:p>
                  </a:txBody>
                  <a:tcPr marL="73152" marR="73152" marT="36576" marB="36576" anchor="ctr">
                    <a:solidFill>
                      <a:srgbClr val="1C4587"/>
                    </a:solidFill>
                  </a:tcPr>
                </a:tc>
                <a:tc>
                  <a:txBody>
                    <a:bodyPr/>
                    <a:lstStyle/>
                    <a:p>
                      <a:pPr algn="l">
                        <a:lnSpc>
                          <a:spcPct val="100000"/>
                        </a:lnSpc>
                        <a:spcAft>
                          <a:spcPts val="0"/>
                        </a:spcAft>
                      </a:pPr>
                      <a:r>
                        <a:rPr sz="800" b="1" i="0">
                          <a:solidFill>
                            <a:srgbClr val="FFFFFF"/>
                          </a:solidFill>
                          <a:latin typeface="Inter"/>
                        </a:rPr>
                        <a:t>Yang ditambahkan ke Order API</a:t>
                      </a:r>
                    </a:p>
                  </a:txBody>
                  <a:tcPr marL="73152" marR="73152" marT="36576" marB="36576" anchor="ctr">
                    <a:solidFill>
                      <a:srgbClr val="1C4587"/>
                    </a:solidFill>
                  </a:tcPr>
                </a:tc>
                <a:extLst>
                  <a:ext uri="{0D108BD9-81ED-4DB2-BD59-A6C34878D82A}">
                    <a16:rowId xmlns:a16="http://schemas.microsoft.com/office/drawing/2014/main" val="10000"/>
                  </a:ext>
                </a:extLst>
              </a:tr>
              <a:tr h="233172">
                <a:tc>
                  <a:txBody>
                    <a:bodyPr/>
                    <a:lstStyle/>
                    <a:p>
                      <a:pPr algn="l">
                        <a:lnSpc>
                          <a:spcPct val="100000"/>
                        </a:lnSpc>
                        <a:spcAft>
                          <a:spcPts val="0"/>
                        </a:spcAft>
                      </a:pPr>
                      <a:r>
                        <a:rPr sz="800" b="1" i="0">
                          <a:solidFill>
                            <a:srgbClr val="1C4587"/>
                          </a:solidFill>
                          <a:latin typeface="Inter"/>
                        </a:rPr>
                        <a:t>1</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Design Patterns</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Kode didalam satu file diperbaiki: Factory, Singleton, Strategy, Repository, Service Layer</a:t>
                      </a:r>
                    </a:p>
                  </a:txBody>
                  <a:tcPr marL="73152" marR="73152" marT="36576" marB="36576" anchor="ctr">
                    <a:solidFill>
                      <a:srgbClr val="FFFFFF"/>
                    </a:solidFill>
                  </a:tcPr>
                </a:tc>
                <a:extLst>
                  <a:ext uri="{0D108BD9-81ED-4DB2-BD59-A6C34878D82A}">
                    <a16:rowId xmlns:a16="http://schemas.microsoft.com/office/drawing/2014/main" val="10001"/>
                  </a:ext>
                </a:extLst>
              </a:tr>
              <a:tr h="233172">
                <a:tc>
                  <a:txBody>
                    <a:bodyPr/>
                    <a:lstStyle/>
                    <a:p>
                      <a:pPr algn="l">
                        <a:lnSpc>
                          <a:spcPct val="100000"/>
                        </a:lnSpc>
                        <a:spcAft>
                          <a:spcPts val="0"/>
                        </a:spcAft>
                      </a:pPr>
                      <a:r>
                        <a:rPr sz="800" b="1" i="0">
                          <a:solidFill>
                            <a:srgbClr val="1C4587"/>
                          </a:solidFill>
                          <a:latin typeface="Inter"/>
                        </a:rPr>
                        <a:t>2</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SOLID &amp; Clean Architecture</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Dipisah per layer: domain, application, infrastructure, api</a:t>
                      </a:r>
                    </a:p>
                  </a:txBody>
                  <a:tcPr marL="73152" marR="73152" marT="36576" marB="36576" anchor="ctr">
                    <a:solidFill>
                      <a:srgbClr val="F3F4F6"/>
                    </a:solidFill>
                  </a:tcPr>
                </a:tc>
                <a:extLst>
                  <a:ext uri="{0D108BD9-81ED-4DB2-BD59-A6C34878D82A}">
                    <a16:rowId xmlns:a16="http://schemas.microsoft.com/office/drawing/2014/main" val="10002"/>
                  </a:ext>
                </a:extLst>
              </a:tr>
              <a:tr h="233172">
                <a:tc>
                  <a:txBody>
                    <a:bodyPr/>
                    <a:lstStyle/>
                    <a:p>
                      <a:pPr algn="l">
                        <a:lnSpc>
                          <a:spcPct val="100000"/>
                        </a:lnSpc>
                        <a:spcAft>
                          <a:spcPts val="0"/>
                        </a:spcAft>
                      </a:pPr>
                      <a:r>
                        <a:rPr sz="800" b="1" i="0">
                          <a:solidFill>
                            <a:srgbClr val="1C4587"/>
                          </a:solidFill>
                          <a:latin typeface="Inter"/>
                        </a:rPr>
                        <a:t>3</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Domain-Driven Design</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Order jadi aggregate, Money value object, aturan bayar &amp; batal</a:t>
                      </a:r>
                    </a:p>
                  </a:txBody>
                  <a:tcPr marL="73152" marR="73152" marT="36576" marB="36576" anchor="ctr">
                    <a:solidFill>
                      <a:srgbClr val="FFFFFF"/>
                    </a:solidFill>
                  </a:tcPr>
                </a:tc>
                <a:extLst>
                  <a:ext uri="{0D108BD9-81ED-4DB2-BD59-A6C34878D82A}">
                    <a16:rowId xmlns:a16="http://schemas.microsoft.com/office/drawing/2014/main" val="10003"/>
                  </a:ext>
                </a:extLst>
              </a:tr>
              <a:tr h="233172">
                <a:tc>
                  <a:txBody>
                    <a:bodyPr/>
                    <a:lstStyle/>
                    <a:p>
                      <a:pPr algn="l">
                        <a:lnSpc>
                          <a:spcPct val="100000"/>
                        </a:lnSpc>
                        <a:spcAft>
                          <a:spcPts val="0"/>
                        </a:spcAft>
                      </a:pPr>
                      <a:r>
                        <a:rPr sz="800" b="1" i="0">
                          <a:solidFill>
                            <a:srgbClr val="1C4587"/>
                          </a:solidFill>
                          <a:latin typeface="Inter"/>
                        </a:rPr>
                        <a:t>4</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Modular FastAPI &amp; ORM</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Router per modul, SQLAlchemy, Unit of Work, format error</a:t>
                      </a:r>
                    </a:p>
                  </a:txBody>
                  <a:tcPr marL="73152" marR="73152" marT="36576" marB="36576" anchor="ctr">
                    <a:solidFill>
                      <a:srgbClr val="F3F4F6"/>
                    </a:solidFill>
                  </a:tcPr>
                </a:tc>
                <a:extLst>
                  <a:ext uri="{0D108BD9-81ED-4DB2-BD59-A6C34878D82A}">
                    <a16:rowId xmlns:a16="http://schemas.microsoft.com/office/drawing/2014/main" val="10004"/>
                  </a:ext>
                </a:extLst>
              </a:tr>
              <a:tr h="233172">
                <a:tc>
                  <a:txBody>
                    <a:bodyPr/>
                    <a:lstStyle/>
                    <a:p>
                      <a:pPr algn="l">
                        <a:lnSpc>
                          <a:spcPct val="100000"/>
                        </a:lnSpc>
                        <a:spcAft>
                          <a:spcPts val="0"/>
                        </a:spcAft>
                      </a:pPr>
                      <a:r>
                        <a:rPr sz="800" b="1" i="0">
                          <a:solidFill>
                            <a:srgbClr val="1C4587"/>
                          </a:solidFill>
                          <a:latin typeface="Inter"/>
                        </a:rPr>
                        <a:t>5</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Celery &amp; Redis</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Notifikasi dan report dikerjakan di background job</a:t>
                      </a:r>
                    </a:p>
                  </a:txBody>
                  <a:tcPr marL="73152" marR="73152" marT="36576" marB="36576" anchor="ctr">
                    <a:solidFill>
                      <a:srgbClr val="FFFFFF"/>
                    </a:solidFill>
                  </a:tcPr>
                </a:tc>
                <a:extLst>
                  <a:ext uri="{0D108BD9-81ED-4DB2-BD59-A6C34878D82A}">
                    <a16:rowId xmlns:a16="http://schemas.microsoft.com/office/drawing/2014/main" val="10005"/>
                  </a:ext>
                </a:extLst>
              </a:tr>
              <a:tr h="233172">
                <a:tc>
                  <a:txBody>
                    <a:bodyPr/>
                    <a:lstStyle/>
                    <a:p>
                      <a:pPr algn="l">
                        <a:lnSpc>
                          <a:spcPct val="100000"/>
                        </a:lnSpc>
                        <a:spcAft>
                          <a:spcPts val="0"/>
                        </a:spcAft>
                      </a:pPr>
                      <a:r>
                        <a:rPr sz="800" b="1" i="0">
                          <a:solidFill>
                            <a:srgbClr val="1C4587"/>
                          </a:solidFill>
                          <a:latin typeface="Inter"/>
                        </a:rPr>
                        <a:t>6</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Caching &amp; Rate Limiting</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Data produk di-cache di Redis, request dibatasi</a:t>
                      </a:r>
                    </a:p>
                  </a:txBody>
                  <a:tcPr marL="73152" marR="73152" marT="36576" marB="36576" anchor="ctr">
                    <a:solidFill>
                      <a:srgbClr val="F3F4F6"/>
                    </a:solidFill>
                  </a:tcPr>
                </a:tc>
                <a:extLst>
                  <a:ext uri="{0D108BD9-81ED-4DB2-BD59-A6C34878D82A}">
                    <a16:rowId xmlns:a16="http://schemas.microsoft.com/office/drawing/2014/main" val="10006"/>
                  </a:ext>
                </a:extLst>
              </a:tr>
              <a:tr h="233172">
                <a:tc>
                  <a:txBody>
                    <a:bodyPr/>
                    <a:lstStyle/>
                    <a:p>
                      <a:pPr algn="l">
                        <a:lnSpc>
                          <a:spcPct val="100000"/>
                        </a:lnSpc>
                        <a:spcAft>
                          <a:spcPts val="0"/>
                        </a:spcAft>
                      </a:pPr>
                      <a:r>
                        <a:rPr sz="800" b="1" i="0">
                          <a:solidFill>
                            <a:srgbClr val="1C4587"/>
                          </a:solidFill>
                          <a:latin typeface="Inter"/>
                        </a:rPr>
                        <a:t>7</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Database Optimization</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PostgreSQL, index, tanpa N+1, pagination</a:t>
                      </a:r>
                    </a:p>
                  </a:txBody>
                  <a:tcPr marL="73152" marR="73152" marT="36576" marB="36576" anchor="ctr">
                    <a:solidFill>
                      <a:srgbClr val="FFFFFF"/>
                    </a:solidFill>
                  </a:tcPr>
                </a:tc>
                <a:extLst>
                  <a:ext uri="{0D108BD9-81ED-4DB2-BD59-A6C34878D82A}">
                    <a16:rowId xmlns:a16="http://schemas.microsoft.com/office/drawing/2014/main" val="10007"/>
                  </a:ext>
                </a:extLst>
              </a:tr>
              <a:tr h="233172">
                <a:tc>
                  <a:txBody>
                    <a:bodyPr/>
                    <a:lstStyle/>
                    <a:p>
                      <a:pPr algn="l">
                        <a:lnSpc>
                          <a:spcPct val="100000"/>
                        </a:lnSpc>
                        <a:spcAft>
                          <a:spcPts val="0"/>
                        </a:spcAft>
                      </a:pPr>
                      <a:r>
                        <a:rPr sz="800" b="1" i="0">
                          <a:solidFill>
                            <a:srgbClr val="1C4587"/>
                          </a:solidFill>
                          <a:latin typeface="Inter"/>
                        </a:rPr>
                        <a:t>8</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RabbitMQ &amp; Kafka</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Event order, consumer notifikasi yang retry-safe</a:t>
                      </a:r>
                    </a:p>
                  </a:txBody>
                  <a:tcPr marL="73152" marR="73152" marT="36576" marB="36576" anchor="ctr">
                    <a:solidFill>
                      <a:srgbClr val="F3F4F6"/>
                    </a:solidFill>
                  </a:tcPr>
                </a:tc>
                <a:extLst>
                  <a:ext uri="{0D108BD9-81ED-4DB2-BD59-A6C34878D82A}">
                    <a16:rowId xmlns:a16="http://schemas.microsoft.com/office/drawing/2014/main" val="10008"/>
                  </a:ext>
                </a:extLst>
              </a:tr>
              <a:tr h="233172">
                <a:tc>
                  <a:txBody>
                    <a:bodyPr/>
                    <a:lstStyle/>
                    <a:p>
                      <a:pPr algn="l">
                        <a:lnSpc>
                          <a:spcPct val="100000"/>
                        </a:lnSpc>
                        <a:spcAft>
                          <a:spcPts val="0"/>
                        </a:spcAft>
                      </a:pPr>
                      <a:r>
                        <a:rPr sz="800" b="1" i="0">
                          <a:solidFill>
                            <a:srgbClr val="1C4587"/>
                          </a:solidFill>
                          <a:latin typeface="Inter"/>
                        </a:rPr>
                        <a:t>9</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Observability</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Log terstruktur, metrics, dan tracing</a:t>
                      </a:r>
                    </a:p>
                  </a:txBody>
                  <a:tcPr marL="73152" marR="73152" marT="36576" marB="36576" anchor="ctr">
                    <a:solidFill>
                      <a:srgbClr val="FFFFFF"/>
                    </a:solidFill>
                  </a:tcPr>
                </a:tc>
                <a:extLst>
                  <a:ext uri="{0D108BD9-81ED-4DB2-BD59-A6C34878D82A}">
                    <a16:rowId xmlns:a16="http://schemas.microsoft.com/office/drawing/2014/main" val="10009"/>
                  </a:ext>
                </a:extLst>
              </a:tr>
              <a:tr h="233172">
                <a:tc>
                  <a:txBody>
                    <a:bodyPr/>
                    <a:lstStyle/>
                    <a:p>
                      <a:pPr algn="l">
                        <a:lnSpc>
                          <a:spcPct val="100000"/>
                        </a:lnSpc>
                        <a:spcAft>
                          <a:spcPts val="0"/>
                        </a:spcAft>
                      </a:pPr>
                      <a:r>
                        <a:rPr sz="800" b="1" i="0">
                          <a:solidFill>
                            <a:srgbClr val="1C4587"/>
                          </a:solidFill>
                          <a:latin typeface="Inter"/>
                        </a:rPr>
                        <a:t>10</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API Security</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Login OAuth2/JWT, hak akses per role</a:t>
                      </a:r>
                    </a:p>
                  </a:txBody>
                  <a:tcPr marL="73152" marR="73152" marT="36576" marB="36576" anchor="ctr">
                    <a:solidFill>
                      <a:srgbClr val="F3F4F6"/>
                    </a:solidFill>
                  </a:tcPr>
                </a:tc>
                <a:extLst>
                  <a:ext uri="{0D108BD9-81ED-4DB2-BD59-A6C34878D82A}">
                    <a16:rowId xmlns:a16="http://schemas.microsoft.com/office/drawing/2014/main" val="10010"/>
                  </a:ext>
                </a:extLst>
              </a:tr>
              <a:tr h="233172">
                <a:tc>
                  <a:txBody>
                    <a:bodyPr/>
                    <a:lstStyle/>
                    <a:p>
                      <a:pPr algn="l">
                        <a:lnSpc>
                          <a:spcPct val="100000"/>
                        </a:lnSpc>
                        <a:spcAft>
                          <a:spcPts val="0"/>
                        </a:spcAft>
                      </a:pPr>
                      <a:r>
                        <a:rPr sz="800" b="1" i="0">
                          <a:solidFill>
                            <a:srgbClr val="1C4587"/>
                          </a:solidFill>
                          <a:latin typeface="Inter"/>
                        </a:rPr>
                        <a:t>11  (sesi ini)</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Docker &amp; CI/CD</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Docker image, Compose, dan pipeline otomatis</a:t>
                      </a:r>
                    </a:p>
                  </a:txBody>
                  <a:tcPr marL="73152" marR="73152" marT="36576" marB="36576" anchor="ctr">
                    <a:solidFill>
                      <a:srgbClr val="FFFFFF"/>
                    </a:solidFill>
                  </a:tcPr>
                </a:tc>
                <a:extLst>
                  <a:ext uri="{0D108BD9-81ED-4DB2-BD59-A6C34878D82A}">
                    <a16:rowId xmlns:a16="http://schemas.microsoft.com/office/drawing/2014/main" val="10011"/>
                  </a:ext>
                </a:extLst>
              </a:tr>
              <a:tr h="233172">
                <a:tc>
                  <a:txBody>
                    <a:bodyPr/>
                    <a:lstStyle/>
                    <a:p>
                      <a:pPr algn="l">
                        <a:lnSpc>
                          <a:spcPct val="100000"/>
                        </a:lnSpc>
                        <a:spcAft>
                          <a:spcPts val="0"/>
                        </a:spcAft>
                      </a:pPr>
                      <a:r>
                        <a:rPr sz="800" b="1" i="0">
                          <a:solidFill>
                            <a:srgbClr val="1C4587"/>
                          </a:solidFill>
                          <a:latin typeface="Inter"/>
                        </a:rPr>
                        <a:t>12</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Final Project</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Order API yang siap production</a:t>
                      </a:r>
                    </a:p>
                  </a:txBody>
                  <a:tcPr marL="73152" marR="73152" marT="36576" marB="36576" anchor="ctr">
                    <a:solidFill>
                      <a:srgbClr val="F3F4F6"/>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Pengantar</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Tool dan Pattern di Sesi Ini</a:t>
            </a:r>
          </a:p>
        </p:txBody>
      </p:sp>
      <p:graphicFrame>
        <p:nvGraphicFramePr>
          <p:cNvPr id="22" name="Table 3"/>
          <p:cNvGraphicFramePr>
            <a:graphicFrameLocks noGrp="1"/>
          </p:cNvGraphicFramePr>
          <p:nvPr/>
        </p:nvGraphicFramePr>
        <p:xfrm>
          <a:off x="621792" y="1481328"/>
          <a:ext cx="7863840" cy="2633472"/>
        </p:xfrm>
        <a:graphic>
          <a:graphicData uri="http://schemas.openxmlformats.org/drawingml/2006/table">
            <a:tbl>
              <a:tblPr firstRow="1" bandRow="1"/>
              <a:tblGrid>
                <a:gridCol w="22860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329184">
                <a:tc>
                  <a:txBody>
                    <a:bodyPr/>
                    <a:lstStyle/>
                    <a:p>
                      <a:pPr algn="l">
                        <a:lnSpc>
                          <a:spcPct val="100000"/>
                        </a:lnSpc>
                        <a:spcAft>
                          <a:spcPts val="0"/>
                        </a:spcAft>
                      </a:pPr>
                      <a:r>
                        <a:rPr sz="950" b="1" i="0">
                          <a:solidFill>
                            <a:srgbClr val="FFFFFF"/>
                          </a:solidFill>
                          <a:latin typeface="Inter"/>
                        </a:rPr>
                        <a:t>Topik</a:t>
                      </a:r>
                    </a:p>
                  </a:txBody>
                  <a:tcPr marL="73152" marR="73152" marT="36576" marB="36576" anchor="ctr">
                    <a:solidFill>
                      <a:srgbClr val="1C4587"/>
                    </a:solidFill>
                  </a:tcPr>
                </a:tc>
                <a:tc>
                  <a:txBody>
                    <a:bodyPr/>
                    <a:lstStyle/>
                    <a:p>
                      <a:pPr algn="l">
                        <a:lnSpc>
                          <a:spcPct val="100000"/>
                        </a:lnSpc>
                        <a:spcAft>
                          <a:spcPts val="0"/>
                        </a:spcAft>
                      </a:pPr>
                      <a:r>
                        <a:rPr sz="950" b="1" i="0">
                          <a:solidFill>
                            <a:srgbClr val="FFFFFF"/>
                          </a:solidFill>
                          <a:latin typeface="Inter"/>
                        </a:rPr>
                        <a:t>Jenisnya</a:t>
                      </a:r>
                    </a:p>
                  </a:txBody>
                  <a:tcPr marL="73152" marR="73152" marT="36576" marB="36576" anchor="ctr">
                    <a:solidFill>
                      <a:srgbClr val="1C4587"/>
                    </a:solidFill>
                  </a:tcPr>
                </a:tc>
                <a:tc>
                  <a:txBody>
                    <a:bodyPr/>
                    <a:lstStyle/>
                    <a:p>
                      <a:pPr algn="l">
                        <a:lnSpc>
                          <a:spcPct val="100000"/>
                        </a:lnSpc>
                        <a:spcAft>
                          <a:spcPts val="0"/>
                        </a:spcAft>
                      </a:pPr>
                      <a:r>
                        <a:rPr sz="950" b="1" i="0">
                          <a:solidFill>
                            <a:srgbClr val="FFFFFF"/>
                          </a:solidFill>
                          <a:latin typeface="Inter"/>
                        </a:rPr>
                        <a:t>Disediakan oleh</a:t>
                      </a:r>
                    </a:p>
                  </a:txBody>
                  <a:tcPr marL="73152" marR="73152" marT="36576" marB="36576" anchor="ctr">
                    <a:solidFill>
                      <a:srgbClr val="1C4587"/>
                    </a:solidFill>
                  </a:tcPr>
                </a:tc>
                <a:extLst>
                  <a:ext uri="{0D108BD9-81ED-4DB2-BD59-A6C34878D82A}">
                    <a16:rowId xmlns:a16="http://schemas.microsoft.com/office/drawing/2014/main" val="10000"/>
                  </a:ext>
                </a:extLst>
              </a:tr>
              <a:tr h="329184">
                <a:tc>
                  <a:txBody>
                    <a:bodyPr/>
                    <a:lstStyle/>
                    <a:p>
                      <a:pPr algn="l">
                        <a:lnSpc>
                          <a:spcPct val="100000"/>
                        </a:lnSpc>
                        <a:spcAft>
                          <a:spcPts val="0"/>
                        </a:spcAft>
                      </a:pPr>
                      <a:r>
                        <a:rPr sz="950" b="1" i="0">
                          <a:solidFill>
                            <a:srgbClr val="1C4587"/>
                          </a:solidFill>
                          <a:latin typeface="Inter"/>
                        </a:rPr>
                        <a:t>Dockerfile, layer cache</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Fitur tool</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Docker (BuildKit)</a:t>
                      </a:r>
                    </a:p>
                  </a:txBody>
                  <a:tcPr marL="73152" marR="73152" marT="36576" marB="36576" anchor="ctr">
                    <a:solidFill>
                      <a:srgbClr val="FFFFFF"/>
                    </a:solidFill>
                  </a:tcPr>
                </a:tc>
                <a:extLst>
                  <a:ext uri="{0D108BD9-81ED-4DB2-BD59-A6C34878D82A}">
                    <a16:rowId xmlns:a16="http://schemas.microsoft.com/office/drawing/2014/main" val="10001"/>
                  </a:ext>
                </a:extLst>
              </a:tr>
              <a:tr h="329184">
                <a:tc>
                  <a:txBody>
                    <a:bodyPr/>
                    <a:lstStyle/>
                    <a:p>
                      <a:pPr algn="l">
                        <a:lnSpc>
                          <a:spcPct val="100000"/>
                        </a:lnSpc>
                        <a:spcAft>
                          <a:spcPts val="0"/>
                        </a:spcAft>
                      </a:pPr>
                      <a:r>
                        <a:rPr sz="950" b="1" i="0">
                          <a:solidFill>
                            <a:srgbClr val="1C4587"/>
                          </a:solidFill>
                          <a:latin typeface="Inter"/>
                        </a:rPr>
                        <a:t>Multi-stage build</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Fitur tool</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Docker: FROM ... AS builder, COPY --from</a:t>
                      </a:r>
                    </a:p>
                  </a:txBody>
                  <a:tcPr marL="73152" marR="73152" marT="36576" marB="36576" anchor="ctr">
                    <a:solidFill>
                      <a:srgbClr val="F3F4F6"/>
                    </a:solidFill>
                  </a:tcPr>
                </a:tc>
                <a:extLst>
                  <a:ext uri="{0D108BD9-81ED-4DB2-BD59-A6C34878D82A}">
                    <a16:rowId xmlns:a16="http://schemas.microsoft.com/office/drawing/2014/main" val="10002"/>
                  </a:ext>
                </a:extLst>
              </a:tr>
              <a:tr h="329184">
                <a:tc>
                  <a:txBody>
                    <a:bodyPr/>
                    <a:lstStyle/>
                    <a:p>
                      <a:pPr algn="l">
                        <a:lnSpc>
                          <a:spcPct val="100000"/>
                        </a:lnSpc>
                        <a:spcAft>
                          <a:spcPts val="0"/>
                        </a:spcAft>
                      </a:pPr>
                      <a:r>
                        <a:rPr sz="950" b="1" i="0">
                          <a:solidFill>
                            <a:srgbClr val="1C4587"/>
                          </a:solidFill>
                          <a:latin typeface="Inter"/>
                        </a:rPr>
                        <a:t>Compose</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Fitur tool</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Docker Compose: services, depends_on, healthcheck</a:t>
                      </a:r>
                    </a:p>
                  </a:txBody>
                  <a:tcPr marL="73152" marR="73152" marT="36576" marB="36576" anchor="ctr">
                    <a:solidFill>
                      <a:srgbClr val="FFFFFF"/>
                    </a:solidFill>
                  </a:tcPr>
                </a:tc>
                <a:extLst>
                  <a:ext uri="{0D108BD9-81ED-4DB2-BD59-A6C34878D82A}">
                    <a16:rowId xmlns:a16="http://schemas.microsoft.com/office/drawing/2014/main" val="10003"/>
                  </a:ext>
                </a:extLst>
              </a:tr>
              <a:tr h="329184">
                <a:tc>
                  <a:txBody>
                    <a:bodyPr/>
                    <a:lstStyle/>
                    <a:p>
                      <a:pPr algn="l">
                        <a:lnSpc>
                          <a:spcPct val="100000"/>
                        </a:lnSpc>
                        <a:spcAft>
                          <a:spcPts val="0"/>
                        </a:spcAft>
                      </a:pPr>
                      <a:r>
                        <a:rPr sz="950" b="1" i="0">
                          <a:solidFill>
                            <a:srgbClr val="1C4587"/>
                          </a:solidFill>
                          <a:latin typeface="Inter"/>
                        </a:rPr>
                        <a:t>Pod, Deployment, Service</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Resource Kubernetes</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Kubernetes (kind, minikube, k3s, atau cloud)</a:t>
                      </a:r>
                    </a:p>
                  </a:txBody>
                  <a:tcPr marL="73152" marR="73152" marT="36576" marB="36576" anchor="ctr">
                    <a:solidFill>
                      <a:srgbClr val="F3F4F6"/>
                    </a:solidFill>
                  </a:tcPr>
                </a:tc>
                <a:extLst>
                  <a:ext uri="{0D108BD9-81ED-4DB2-BD59-A6C34878D82A}">
                    <a16:rowId xmlns:a16="http://schemas.microsoft.com/office/drawing/2014/main" val="10004"/>
                  </a:ext>
                </a:extLst>
              </a:tr>
              <a:tr h="329184">
                <a:tc>
                  <a:txBody>
                    <a:bodyPr/>
                    <a:lstStyle/>
                    <a:p>
                      <a:pPr algn="l">
                        <a:lnSpc>
                          <a:spcPct val="100000"/>
                        </a:lnSpc>
                        <a:spcAft>
                          <a:spcPts val="0"/>
                        </a:spcAft>
                      </a:pPr>
                      <a:r>
                        <a:rPr sz="950" b="1" i="0">
                          <a:solidFill>
                            <a:srgbClr val="1C4587"/>
                          </a:solidFill>
                          <a:latin typeface="Inter"/>
                        </a:rPr>
                        <a:t>ConfigMap, Secret, Probe</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Resource Kubernetes</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Kubernetes, memakai endpoint health Sesi 9</a:t>
                      </a:r>
                    </a:p>
                  </a:txBody>
                  <a:tcPr marL="73152" marR="73152" marT="36576" marB="36576" anchor="ctr">
                    <a:solidFill>
                      <a:srgbClr val="FFFFFF"/>
                    </a:solidFill>
                  </a:tcPr>
                </a:tc>
                <a:extLst>
                  <a:ext uri="{0D108BD9-81ED-4DB2-BD59-A6C34878D82A}">
                    <a16:rowId xmlns:a16="http://schemas.microsoft.com/office/drawing/2014/main" val="10005"/>
                  </a:ext>
                </a:extLst>
              </a:tr>
              <a:tr h="329184">
                <a:tc>
                  <a:txBody>
                    <a:bodyPr/>
                    <a:lstStyle/>
                    <a:p>
                      <a:pPr algn="l">
                        <a:lnSpc>
                          <a:spcPct val="100000"/>
                        </a:lnSpc>
                        <a:spcAft>
                          <a:spcPts val="0"/>
                        </a:spcAft>
                      </a:pPr>
                      <a:r>
                        <a:rPr sz="950" b="1" i="0">
                          <a:solidFill>
                            <a:srgbClr val="1C4587"/>
                          </a:solidFill>
                          <a:latin typeface="Inter"/>
                        </a:rPr>
                        <a:t>Pipeline CI/CD</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Praktik pengembangan</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GitHub Actions, ditulis sebagai file YAML</a:t>
                      </a:r>
                    </a:p>
                  </a:txBody>
                  <a:tcPr marL="73152" marR="73152" marT="36576" marB="36576" anchor="ctr">
                    <a:solidFill>
                      <a:srgbClr val="F3F4F6"/>
                    </a:solidFill>
                  </a:tcPr>
                </a:tc>
                <a:extLst>
                  <a:ext uri="{0D108BD9-81ED-4DB2-BD59-A6C34878D82A}">
                    <a16:rowId xmlns:a16="http://schemas.microsoft.com/office/drawing/2014/main" val="10006"/>
                  </a:ext>
                </a:extLst>
              </a:tr>
              <a:tr h="329184">
                <a:tc>
                  <a:txBody>
                    <a:bodyPr/>
                    <a:lstStyle/>
                    <a:p>
                      <a:pPr algn="l">
                        <a:lnSpc>
                          <a:spcPct val="100000"/>
                        </a:lnSpc>
                        <a:spcAft>
                          <a:spcPts val="0"/>
                        </a:spcAft>
                      </a:pPr>
                      <a:r>
                        <a:rPr sz="950" b="1" i="0">
                          <a:solidFill>
                            <a:srgbClr val="1C4587"/>
                          </a:solidFill>
                          <a:latin typeface="Inter"/>
                        </a:rPr>
                        <a:t>Lint, scan image</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Tool</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ruff (lint Python), Trivy (scan celah keamanan image)</a:t>
                      </a: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
        <p:nvSpPr>
          <p:cNvPr id="23" name="Text 4"/>
          <p:cNvSpPr txBox="1"/>
          <p:nvPr/>
        </p:nvSpPr>
        <p:spPr>
          <a:xfrm>
            <a:off x="621792" y="4526280"/>
            <a:ext cx="7863840" cy="274320"/>
          </a:xfrm>
          <a:prstGeom prst="rect">
            <a:avLst/>
          </a:prstGeom>
          <a:noFill/>
        </p:spPr>
        <p:txBody>
          <a:bodyPr wrap="square" lIns="45720" rIns="45720" anchor="t">
            <a:spAutoFit/>
          </a:bodyPr>
          <a:lstStyle/>
          <a:p>
            <a:pPr algn="l">
              <a:lnSpc>
                <a:spcPct val="115000"/>
              </a:lnSpc>
              <a:spcAft>
                <a:spcPts val="400"/>
              </a:spcAft>
            </a:pPr>
            <a:r>
              <a:rPr sz="950" b="0" i="0">
                <a:solidFill>
                  <a:srgbClr val="1C4587"/>
                </a:solidFill>
                <a:latin typeface="Inter"/>
              </a:rPr>
              <a:t>Bagian 1 membahas Docker, bagian 2 Kubernetes, bagian 3 pipeline CI/CD.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Pengantar</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Menyiapkan Docker dan Kubernetes Lokal</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terminal</a:t>
            </a:r>
          </a:p>
        </p:txBody>
      </p:sp>
      <p:sp>
        <p:nvSpPr>
          <p:cNvPr id="27" name="CodeBg 10"/>
          <p:cNvSpPr/>
          <p:nvPr/>
        </p:nvSpPr>
        <p:spPr>
          <a:xfrm>
            <a:off x="621792" y="1719072"/>
            <a:ext cx="4297680" cy="1499616"/>
          </a:xfrm>
          <a:prstGeom prst="roundRect">
            <a:avLst>
              <a:gd name="adj" fmla="val 1219"/>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1499616"/>
          </a:xfrm>
          <a:prstGeom prst="rect">
            <a:avLst/>
          </a:prstGeom>
          <a:noFill/>
        </p:spPr>
        <p:txBody>
          <a:bodyPr wrap="none" lIns="146304" tIns="91440" rIns="146304" bIns="54864">
            <a:spAutoFit/>
          </a:bodyPr>
          <a:lstStyle/>
          <a:p>
            <a:pPr>
              <a:lnSpc>
                <a:spcPct val="107843"/>
              </a:lnSpc>
              <a:spcAft>
                <a:spcPts val="0"/>
              </a:spcAft>
            </a:pPr>
            <a:r>
              <a:rPr sz="850" i="1">
                <a:solidFill>
                  <a:srgbClr val="8B98A8"/>
                </a:solidFill>
                <a:latin typeface="Inconsolata"/>
              </a:rPr>
              <a:t># cek Docker</a:t>
            </a:r>
          </a:p>
          <a:p>
            <a:pPr>
              <a:lnSpc>
                <a:spcPct val="107843"/>
              </a:lnSpc>
              <a:spcAft>
                <a:spcPts val="0"/>
              </a:spcAft>
            </a:pPr>
            <a:r>
              <a:rPr sz="850" i="0">
                <a:solidFill>
                  <a:srgbClr val="82B1FF"/>
                </a:solidFill>
                <a:latin typeface="Inconsolata"/>
              </a:rPr>
              <a:t>$ docker version</a:t>
            </a:r>
          </a:p>
          <a:p>
            <a:pPr>
              <a:lnSpc>
                <a:spcPct val="107843"/>
              </a:lnSpc>
              <a:spcAft>
                <a:spcPts val="0"/>
              </a:spcAft>
            </a:pPr>
            <a:endParaRPr sz="850" i="0">
              <a:solidFill>
                <a:srgbClr val="82B1FF"/>
              </a:solidFill>
              <a:latin typeface="Inconsolata"/>
            </a:endParaRPr>
          </a:p>
          <a:p>
            <a:pPr>
              <a:lnSpc>
                <a:spcPct val="107843"/>
              </a:lnSpc>
              <a:spcAft>
                <a:spcPts val="0"/>
              </a:spcAft>
            </a:pPr>
            <a:r>
              <a:rPr sz="850" i="1">
                <a:solidFill>
                  <a:srgbClr val="8B98A8"/>
                </a:solidFill>
                <a:latin typeface="Inconsolata"/>
              </a:rPr>
              <a:t># cluster Kubernetes lokal (pilih salah satu)</a:t>
            </a:r>
          </a:p>
          <a:p>
            <a:pPr>
              <a:lnSpc>
                <a:spcPct val="107843"/>
              </a:lnSpc>
              <a:spcAft>
                <a:spcPts val="0"/>
              </a:spcAft>
            </a:pPr>
            <a:r>
              <a:rPr sz="850" i="0">
                <a:solidFill>
                  <a:srgbClr val="82B1FF"/>
                </a:solidFill>
                <a:latin typeface="Inconsolata"/>
              </a:rPr>
              <a:t>$ kind create cluster --name latihan</a:t>
            </a:r>
          </a:p>
          <a:p>
            <a:pPr>
              <a:lnSpc>
                <a:spcPct val="107843"/>
              </a:lnSpc>
              <a:spcAft>
                <a:spcPts val="0"/>
              </a:spcAft>
            </a:pPr>
            <a:r>
              <a:rPr sz="850" i="0">
                <a:solidFill>
                  <a:srgbClr val="82B1FF"/>
                </a:solidFill>
                <a:latin typeface="Inconsolata"/>
              </a:rPr>
              <a:t>$ minikube start</a:t>
            </a:r>
          </a:p>
          <a:p>
            <a:pPr>
              <a:lnSpc>
                <a:spcPct val="107843"/>
              </a:lnSpc>
              <a:spcAft>
                <a:spcPts val="0"/>
              </a:spcAft>
            </a:pPr>
            <a:r>
              <a:rPr sz="850" i="0">
                <a:solidFill>
                  <a:srgbClr val="82B1FF"/>
                </a:solidFill>
                <a:latin typeface="Inconsolata"/>
              </a:rPr>
              <a:t>$ kubectl get nodes</a:t>
            </a:r>
          </a:p>
        </p:txBody>
      </p:sp>
      <p:graphicFrame>
        <p:nvGraphicFramePr>
          <p:cNvPr id="29" name="Table 12"/>
          <p:cNvGraphicFramePr>
            <a:graphicFrameLocks noGrp="1"/>
          </p:cNvGraphicFramePr>
          <p:nvPr/>
        </p:nvGraphicFramePr>
        <p:xfrm>
          <a:off x="5074920" y="1481328"/>
          <a:ext cx="3410712" cy="1920240"/>
        </p:xfrm>
        <a:graphic>
          <a:graphicData uri="http://schemas.openxmlformats.org/drawingml/2006/table">
            <a:tbl>
              <a:tblPr firstRow="1" bandRow="1"/>
              <a:tblGrid>
                <a:gridCol w="1673352">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tblGrid>
              <a:tr h="384048">
                <a:tc>
                  <a:txBody>
                    <a:bodyPr/>
                    <a:lstStyle/>
                    <a:p>
                      <a:pPr algn="l">
                        <a:lnSpc>
                          <a:spcPct val="100000"/>
                        </a:lnSpc>
                        <a:spcAft>
                          <a:spcPts val="0"/>
                        </a:spcAft>
                      </a:pPr>
                      <a:r>
                        <a:rPr sz="900" b="1" i="0">
                          <a:solidFill>
                            <a:srgbClr val="FFFFFF"/>
                          </a:solidFill>
                          <a:latin typeface="Inter"/>
                        </a:rPr>
                        <a:t>Tool</a:t>
                      </a:r>
                    </a:p>
                  </a:txBody>
                  <a:tcPr marL="73152" marR="73152" marT="36576" marB="36576" anchor="ctr">
                    <a:solidFill>
                      <a:srgbClr val="1C4587"/>
                    </a:solidFill>
                  </a:tcPr>
                </a:tc>
                <a:tc>
                  <a:txBody>
                    <a:bodyPr/>
                    <a:lstStyle/>
                    <a:p>
                      <a:pPr algn="l">
                        <a:lnSpc>
                          <a:spcPct val="100000"/>
                        </a:lnSpc>
                        <a:spcAft>
                          <a:spcPts val="0"/>
                        </a:spcAft>
                      </a:pPr>
                      <a:r>
                        <a:rPr sz="900" b="1" i="0">
                          <a:solidFill>
                            <a:srgbClr val="FFFFFF"/>
                          </a:solidFill>
                          <a:latin typeface="Inter"/>
                        </a:rPr>
                        <a:t>Dipakai di</a:t>
                      </a:r>
                    </a:p>
                  </a:txBody>
                  <a:tcPr marL="73152" marR="73152" marT="36576" marB="36576" anchor="ctr">
                    <a:solidFill>
                      <a:srgbClr val="1C4587"/>
                    </a:solidFill>
                  </a:tcPr>
                </a:tc>
                <a:extLst>
                  <a:ext uri="{0D108BD9-81ED-4DB2-BD59-A6C34878D82A}">
                    <a16:rowId xmlns:a16="http://schemas.microsoft.com/office/drawing/2014/main" val="10000"/>
                  </a:ext>
                </a:extLst>
              </a:tr>
              <a:tr h="384048">
                <a:tc>
                  <a:txBody>
                    <a:bodyPr/>
                    <a:lstStyle/>
                    <a:p>
                      <a:pPr algn="l">
                        <a:lnSpc>
                          <a:spcPct val="100000"/>
                        </a:lnSpc>
                        <a:spcAft>
                          <a:spcPts val="0"/>
                        </a:spcAft>
                      </a:pPr>
                      <a:r>
                        <a:rPr sz="900" b="1" i="0">
                          <a:solidFill>
                            <a:srgbClr val="1C4587"/>
                          </a:solidFill>
                          <a:latin typeface="Inter"/>
                        </a:rPr>
                        <a:t>Docker / Docker Desktop</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Contoh 01-03, hands-on</a:t>
                      </a:r>
                    </a:p>
                  </a:txBody>
                  <a:tcPr marL="73152" marR="73152" marT="36576" marB="36576" anchor="ctr">
                    <a:solidFill>
                      <a:srgbClr val="FFFFFF"/>
                    </a:solidFill>
                  </a:tcPr>
                </a:tc>
                <a:extLst>
                  <a:ext uri="{0D108BD9-81ED-4DB2-BD59-A6C34878D82A}">
                    <a16:rowId xmlns:a16="http://schemas.microsoft.com/office/drawing/2014/main" val="10001"/>
                  </a:ext>
                </a:extLst>
              </a:tr>
              <a:tr h="384048">
                <a:tc>
                  <a:txBody>
                    <a:bodyPr/>
                    <a:lstStyle/>
                    <a:p>
                      <a:pPr algn="l">
                        <a:lnSpc>
                          <a:spcPct val="100000"/>
                        </a:lnSpc>
                        <a:spcAft>
                          <a:spcPts val="0"/>
                        </a:spcAft>
                      </a:pPr>
                      <a:r>
                        <a:rPr sz="900" b="1" i="0">
                          <a:solidFill>
                            <a:srgbClr val="1C4587"/>
                          </a:solidFill>
                          <a:latin typeface="Inter"/>
                        </a:rPr>
                        <a:t>kind / minikube</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Contoh 04-06, hands-on</a:t>
                      </a:r>
                    </a:p>
                  </a:txBody>
                  <a:tcPr marL="73152" marR="73152" marT="36576" marB="36576" anchor="ctr">
                    <a:solidFill>
                      <a:srgbClr val="F3F4F6"/>
                    </a:solidFill>
                  </a:tcPr>
                </a:tc>
                <a:extLst>
                  <a:ext uri="{0D108BD9-81ED-4DB2-BD59-A6C34878D82A}">
                    <a16:rowId xmlns:a16="http://schemas.microsoft.com/office/drawing/2014/main" val="10002"/>
                  </a:ext>
                </a:extLst>
              </a:tr>
              <a:tr h="384048">
                <a:tc>
                  <a:txBody>
                    <a:bodyPr/>
                    <a:lstStyle/>
                    <a:p>
                      <a:pPr algn="l">
                        <a:lnSpc>
                          <a:spcPct val="100000"/>
                        </a:lnSpc>
                        <a:spcAft>
                          <a:spcPts val="0"/>
                        </a:spcAft>
                      </a:pPr>
                      <a:r>
                        <a:rPr sz="900" b="1" i="0">
                          <a:solidFill>
                            <a:srgbClr val="1C4587"/>
                          </a:solidFill>
                          <a:latin typeface="Inter"/>
                        </a:rPr>
                        <a:t>kubectl</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Contoh 04-06, hands-on</a:t>
                      </a:r>
                    </a:p>
                  </a:txBody>
                  <a:tcPr marL="73152" marR="73152" marT="36576" marB="36576" anchor="ctr">
                    <a:solidFill>
                      <a:srgbClr val="FFFFFF"/>
                    </a:solidFill>
                  </a:tcPr>
                </a:tc>
                <a:extLst>
                  <a:ext uri="{0D108BD9-81ED-4DB2-BD59-A6C34878D82A}">
                    <a16:rowId xmlns:a16="http://schemas.microsoft.com/office/drawing/2014/main" val="10003"/>
                  </a:ext>
                </a:extLst>
              </a:tr>
              <a:tr h="384048">
                <a:tc>
                  <a:txBody>
                    <a:bodyPr/>
                    <a:lstStyle/>
                    <a:p>
                      <a:pPr algn="l">
                        <a:lnSpc>
                          <a:spcPct val="100000"/>
                        </a:lnSpc>
                        <a:spcAft>
                          <a:spcPts val="0"/>
                        </a:spcAft>
                      </a:pPr>
                      <a:r>
                        <a:rPr sz="900" b="1" i="0">
                          <a:solidFill>
                            <a:srgbClr val="1C4587"/>
                          </a:solidFill>
                          <a:latin typeface="Inter"/>
                        </a:rPr>
                        <a:t>Akun GitHub</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Contoh 07, hands-on</a:t>
                      </a:r>
                    </a:p>
                  </a:txBody>
                  <a:tcPr marL="73152" marR="73152" marT="36576" marB="36576" anchor="ctr">
                    <a:solidFill>
                      <a:srgbClr val="F3F4F6"/>
                    </a:solidFill>
                  </a:tcPr>
                </a:tc>
                <a:extLst>
                  <a:ext uri="{0D108BD9-81ED-4DB2-BD59-A6C34878D82A}">
                    <a16:rowId xmlns:a16="http://schemas.microsoft.com/office/drawing/2014/main" val="10004"/>
                  </a:ext>
                </a:extLst>
              </a:tr>
            </a:tbl>
          </a:graphicData>
        </a:graphic>
      </p:graphicFrame>
      <p:sp>
        <p:nvSpPr>
          <p:cNvPr id="30" name="Text 13"/>
          <p:cNvSpPr txBox="1"/>
          <p:nvPr/>
        </p:nvSpPr>
        <p:spPr>
          <a:xfrm>
            <a:off x="621792" y="3383280"/>
            <a:ext cx="4297680" cy="128016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Image lokal ke cluster</a:t>
            </a:r>
          </a:p>
          <a:p>
            <a:pPr algn="l">
              <a:lnSpc>
                <a:spcPct val="115000"/>
              </a:lnSpc>
              <a:spcAft>
                <a:spcPts val="400"/>
              </a:spcAft>
            </a:pPr>
            <a:r>
              <a:rPr sz="950" b="0" i="0">
                <a:solidFill>
                  <a:srgbClr val="434343"/>
                </a:solidFill>
                <a:latin typeface="Inter"/>
              </a:rPr>
              <a:t>Image yang di-build di laptop dimasukkan ke cluster dengan </a:t>
            </a:r>
            <a:r>
              <a:rPr sz="950" b="0" i="0">
                <a:solidFill>
                  <a:srgbClr val="B5482A"/>
                </a:solidFill>
                <a:latin typeface="Inconsolata"/>
              </a:rPr>
              <a:t>kind load docker-image &lt;image&gt;</a:t>
            </a:r>
            <a:r>
              <a:rPr sz="950" b="0" i="0">
                <a:solidFill>
                  <a:srgbClr val="434343"/>
                </a:solidFill>
                <a:latin typeface="Inter"/>
              </a:rPr>
              <a:t> atau </a:t>
            </a:r>
            <a:r>
              <a:rPr sz="950" b="0" i="0">
                <a:solidFill>
                  <a:srgbClr val="B5482A"/>
                </a:solidFill>
                <a:latin typeface="Inconsolata"/>
              </a:rPr>
              <a:t>minikube image load &lt;image&gt;</a:t>
            </a:r>
            <a:r>
              <a:rPr sz="950" b="0" i="0">
                <a:solidFill>
                  <a:srgbClr val="434343"/>
                </a:solidFill>
                <a:latin typeface="Inter"/>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oogle Shape;3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8</a:t>
            </a:fld>
            <a:endParaRPr/>
          </a:p>
        </p:txBody>
      </p:sp>
      <p:sp>
        <p:nvSpPr>
          <p:cNvPr id="31" name="Text 1"/>
          <p:cNvSpPr txBox="1"/>
          <p:nvPr/>
        </p:nvSpPr>
        <p:spPr>
          <a:xfrm>
            <a:off x="822960" y="1600200"/>
            <a:ext cx="7315200" cy="365760"/>
          </a:xfrm>
          <a:prstGeom prst="rect">
            <a:avLst/>
          </a:prstGeom>
          <a:noFill/>
        </p:spPr>
        <p:txBody>
          <a:bodyPr wrap="square" lIns="45720" rIns="45720" anchor="t">
            <a:spAutoFit/>
          </a:bodyPr>
          <a:lstStyle/>
          <a:p>
            <a:pPr algn="l">
              <a:lnSpc>
                <a:spcPct val="115000"/>
              </a:lnSpc>
              <a:spcAft>
                <a:spcPts val="400"/>
              </a:spcAft>
            </a:pPr>
            <a:r>
              <a:rPr sz="1400" b="0" i="0">
                <a:solidFill>
                  <a:srgbClr val="CFE0FA"/>
                </a:solidFill>
                <a:latin typeface="Inter"/>
              </a:rPr>
              <a:t>Bagian 01</a:t>
            </a:r>
          </a:p>
        </p:txBody>
      </p:sp>
      <p:sp>
        <p:nvSpPr>
          <p:cNvPr id="32" name="Text 2"/>
          <p:cNvSpPr txBox="1"/>
          <p:nvPr/>
        </p:nvSpPr>
        <p:spPr>
          <a:xfrm>
            <a:off x="822960" y="1920240"/>
            <a:ext cx="7315200" cy="822960"/>
          </a:xfrm>
          <a:prstGeom prst="rect">
            <a:avLst/>
          </a:prstGeom>
          <a:noFill/>
        </p:spPr>
        <p:txBody>
          <a:bodyPr wrap="square" lIns="45720" rIns="45720" anchor="t">
            <a:spAutoFit/>
          </a:bodyPr>
          <a:lstStyle/>
          <a:p>
            <a:pPr algn="l">
              <a:lnSpc>
                <a:spcPct val="115000"/>
              </a:lnSpc>
              <a:spcAft>
                <a:spcPts val="400"/>
              </a:spcAft>
            </a:pPr>
            <a:r>
              <a:rPr sz="3000" b="0" i="0">
                <a:solidFill>
                  <a:srgbClr val="FFFFFF"/>
                </a:solidFill>
                <a:latin typeface="Work Sans ExtraBold"/>
              </a:rPr>
              <a:t>Docker</a:t>
            </a:r>
          </a:p>
        </p:txBody>
      </p:sp>
      <p:sp>
        <p:nvSpPr>
          <p:cNvPr id="33" name="Text 3"/>
          <p:cNvSpPr txBox="1"/>
          <p:nvPr/>
        </p:nvSpPr>
        <p:spPr>
          <a:xfrm>
            <a:off x="822960" y="2743200"/>
            <a:ext cx="6583680" cy="731520"/>
          </a:xfrm>
          <a:prstGeom prst="rect">
            <a:avLst/>
          </a:prstGeom>
          <a:noFill/>
        </p:spPr>
        <p:txBody>
          <a:bodyPr wrap="square" lIns="45720" rIns="45720" anchor="t">
            <a:spAutoFit/>
          </a:bodyPr>
          <a:lstStyle/>
          <a:p>
            <a:pPr algn="l">
              <a:lnSpc>
                <a:spcPct val="115000"/>
              </a:lnSpc>
              <a:spcAft>
                <a:spcPts val="400"/>
              </a:spcAft>
            </a:pPr>
            <a:r>
              <a:rPr sz="1200" b="0" i="0">
                <a:solidFill>
                  <a:srgbClr val="E3ECFA"/>
                </a:solidFill>
                <a:latin typeface="Inter"/>
              </a:rPr>
              <a:t>Dockerfile, multi-stage build, dan Docker Compose.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Dockerfile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Docker Image dan Dockerfile?</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Docker image adalah</a:t>
            </a:r>
          </a:p>
          <a:p>
            <a:pPr algn="l">
              <a:lnSpc>
                <a:spcPct val="115000"/>
              </a:lnSpc>
              <a:spcAft>
                <a:spcPts val="400"/>
              </a:spcAft>
            </a:pPr>
            <a:r>
              <a:rPr sz="900" b="0" i="0">
                <a:solidFill>
                  <a:srgbClr val="434343"/>
                </a:solidFill>
                <a:latin typeface="Inter"/>
              </a:rPr>
              <a:t>Paket berisi aplikasi beserta semua yang dibutuhkan untuk menjalankannya: Python, library, dan kode. Image disusun dari </a:t>
            </a:r>
            <a:r>
              <a:rPr sz="900" b="1" i="0">
                <a:solidFill>
                  <a:srgbClr val="434343"/>
                </a:solidFill>
                <a:latin typeface="Inter"/>
              </a:rPr>
              <a:t>layer</a:t>
            </a:r>
            <a:r>
              <a:rPr sz="900" b="0" i="0">
                <a:solidFill>
                  <a:srgbClr val="434343"/>
                </a:solidFill>
                <a:latin typeface="Inter"/>
              </a:rPr>
              <a:t> berdasarkan instruksi di </a:t>
            </a:r>
            <a:r>
              <a:rPr sz="900" b="1" i="0">
                <a:solidFill>
                  <a:srgbClr val="434343"/>
                </a:solidFill>
                <a:latin typeface="Inter"/>
              </a:rPr>
              <a:t>Dockerfile</a:t>
            </a:r>
            <a:r>
              <a:rPr sz="900" b="0" i="0">
                <a:solidFill>
                  <a:srgbClr val="434343"/>
                </a:solidFill>
                <a:latin typeface="Inter"/>
              </a:rPr>
              <a:t>. Sehingga aplikasi berjalan sama persis di laptop, CI, dan server.</a:t>
            </a:r>
          </a:p>
          <a:p>
            <a:pPr algn="l">
              <a:lnSpc>
                <a:spcPct val="115000"/>
              </a:lnSpc>
              <a:spcAft>
                <a:spcPts val="400"/>
              </a:spcAft>
            </a:pPr>
            <a:r>
              <a:rPr sz="100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Menghilangkan masalah "di laptop saya jalan"</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Mempercepat build dengan layer cache</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Membatasi isi image hanya yang dibutuhkan</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semua sekaligus: 01-dockerfile/before.Dockerfile</a:t>
            </a:r>
          </a:p>
        </p:txBody>
      </p:sp>
      <p:sp>
        <p:nvSpPr>
          <p:cNvPr id="28" name="CodeBg 11"/>
          <p:cNvSpPr/>
          <p:nvPr/>
        </p:nvSpPr>
        <p:spPr>
          <a:xfrm>
            <a:off x="4297680" y="1719072"/>
            <a:ext cx="4187951" cy="868680"/>
          </a:xfrm>
          <a:prstGeom prst="roundRect">
            <a:avLst>
              <a:gd name="adj" fmla="val 2105"/>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868680"/>
          </a:xfrm>
          <a:prstGeom prst="rect">
            <a:avLst/>
          </a:prstGeom>
          <a:noFill/>
        </p:spPr>
        <p:txBody>
          <a:bodyPr wrap="none" lIns="146304" tIns="91440" rIns="146304" bIns="54864">
            <a:spAutoFit/>
          </a:bodyPr>
          <a:lstStyle/>
          <a:p>
            <a:pPr>
              <a:lnSpc>
                <a:spcPct val="107843"/>
              </a:lnSpc>
              <a:spcAft>
                <a:spcPts val="0"/>
              </a:spcAft>
            </a:pPr>
            <a:r>
              <a:rPr sz="850" i="0">
                <a:solidFill>
                  <a:srgbClr val="FF8E6E"/>
                </a:solidFill>
                <a:latin typeface="Inconsolata"/>
              </a:rPr>
              <a:t>WORKDIR</a:t>
            </a:r>
            <a:r>
              <a:rPr sz="850" i="0">
                <a:solidFill>
                  <a:srgbClr val="E6EDF3"/>
                </a:solidFill>
                <a:latin typeface="Inconsolata"/>
              </a:rPr>
              <a:t> /app</a:t>
            </a:r>
          </a:p>
          <a:p>
            <a:pPr>
              <a:lnSpc>
                <a:spcPct val="107843"/>
              </a:lnSpc>
              <a:spcAft>
                <a:spcPts val="0"/>
              </a:spcAft>
            </a:pPr>
            <a:r>
              <a:rPr sz="850" i="0">
                <a:solidFill>
                  <a:srgbClr val="FF8E6E"/>
                </a:solidFill>
                <a:latin typeface="Inconsolata"/>
              </a:rPr>
              <a:t>COPY</a:t>
            </a:r>
            <a:r>
              <a:rPr sz="850" i="0">
                <a:solidFill>
                  <a:srgbClr val="E6EDF3"/>
                </a:solidFill>
                <a:latin typeface="Inconsolata"/>
              </a:rPr>
              <a:t> . .</a:t>
            </a:r>
          </a:p>
          <a:p>
            <a:pPr>
              <a:lnSpc>
                <a:spcPct val="107843"/>
              </a:lnSpc>
              <a:spcAft>
                <a:spcPts val="0"/>
              </a:spcAft>
            </a:pPr>
            <a:r>
              <a:rPr sz="850" i="0">
                <a:solidFill>
                  <a:srgbClr val="FF8E6E"/>
                </a:solidFill>
                <a:latin typeface="Inconsolata"/>
              </a:rPr>
              <a:t>RUN</a:t>
            </a:r>
            <a:r>
              <a:rPr sz="850" i="0">
                <a:solidFill>
                  <a:srgbClr val="E6EDF3"/>
                </a:solidFill>
                <a:latin typeface="Inconsolata"/>
              </a:rPr>
              <a:t> pip install -r requirements.txt</a:t>
            </a:r>
          </a:p>
        </p:txBody>
      </p:sp>
      <p:sp>
        <p:nvSpPr>
          <p:cNvPr id="30" name="Box 13"/>
          <p:cNvSpPr/>
          <p:nvPr/>
        </p:nvSpPr>
        <p:spPr>
          <a:xfrm>
            <a:off x="4379976" y="1968373"/>
            <a:ext cx="4023359" cy="131318"/>
          </a:xfrm>
          <a:prstGeom prst="roundRect">
            <a:avLst>
              <a:gd name="adj" fmla="val 34816"/>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Tab 15"/>
          <p:cNvSpPr/>
          <p:nvPr/>
        </p:nvSpPr>
        <p:spPr>
          <a:xfrm>
            <a:off x="4297680" y="2679192"/>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4407408" y="2756916"/>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4544568" y="2756916"/>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681728" y="2756916"/>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4846320" y="2688336"/>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urutan layer: 01-dockerfile/after.Dockerfile</a:t>
            </a:r>
          </a:p>
        </p:txBody>
      </p:sp>
      <p:sp>
        <p:nvSpPr>
          <p:cNvPr id="36" name="CodeBg 21"/>
          <p:cNvSpPr/>
          <p:nvPr/>
        </p:nvSpPr>
        <p:spPr>
          <a:xfrm>
            <a:off x="4297680" y="2916936"/>
            <a:ext cx="4187951" cy="1783079"/>
          </a:xfrm>
          <a:prstGeom prst="roundRect">
            <a:avLst>
              <a:gd name="adj" fmla="val 1025"/>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4297680" y="2916936"/>
            <a:ext cx="4187951" cy="1783079"/>
          </a:xfrm>
          <a:prstGeom prst="rect">
            <a:avLst/>
          </a:prstGeom>
          <a:noFill/>
        </p:spPr>
        <p:txBody>
          <a:bodyPr wrap="none" lIns="146304" tIns="91440" rIns="146304" bIns="54864">
            <a:spAutoFit/>
          </a:bodyPr>
          <a:lstStyle/>
          <a:p>
            <a:pPr>
              <a:lnSpc>
                <a:spcPct val="107843"/>
              </a:lnSpc>
              <a:spcAft>
                <a:spcPts val="0"/>
              </a:spcAft>
            </a:pPr>
            <a:r>
              <a:rPr sz="850" i="0">
                <a:solidFill>
                  <a:srgbClr val="FF8E6E"/>
                </a:solidFill>
                <a:latin typeface="Inconsolata"/>
              </a:rPr>
              <a:t>COPY</a:t>
            </a:r>
            <a:r>
              <a:rPr sz="850" i="0">
                <a:solidFill>
                  <a:srgbClr val="E6EDF3"/>
                </a:solidFill>
                <a:latin typeface="Inconsolata"/>
              </a:rPr>
              <a:t> requirements.txt .</a:t>
            </a:r>
          </a:p>
          <a:p>
            <a:pPr>
              <a:lnSpc>
                <a:spcPct val="107843"/>
              </a:lnSpc>
              <a:spcAft>
                <a:spcPts val="0"/>
              </a:spcAft>
            </a:pPr>
            <a:r>
              <a:rPr sz="850" i="0">
                <a:solidFill>
                  <a:srgbClr val="FF8E6E"/>
                </a:solidFill>
                <a:latin typeface="Inconsolata"/>
              </a:rPr>
              <a:t>RUN</a:t>
            </a:r>
            <a:r>
              <a:rPr sz="850" i="0">
                <a:solidFill>
                  <a:srgbClr val="E6EDF3"/>
                </a:solidFill>
                <a:latin typeface="Inconsolata"/>
              </a:rPr>
              <a:t> pip install --no-cache-dir -r requirements.txt</a:t>
            </a:r>
          </a:p>
          <a:p>
            <a:pPr>
              <a:lnSpc>
                <a:spcPct val="107843"/>
              </a:lnSpc>
              <a:spcAft>
                <a:spcPts val="0"/>
              </a:spcAft>
            </a:pPr>
            <a:r>
              <a:rPr sz="850" i="0">
                <a:solidFill>
                  <a:srgbClr val="E6EDF3"/>
                </a:solidFill>
                <a:latin typeface="Inconsolata"/>
              </a:rPr>
              <a:t> </a:t>
            </a:r>
          </a:p>
          <a:p>
            <a:pPr>
              <a:lnSpc>
                <a:spcPct val="107843"/>
              </a:lnSpc>
              <a:spcAft>
                <a:spcPts val="0"/>
              </a:spcAft>
            </a:pPr>
            <a:r>
              <a:rPr sz="850" i="0">
                <a:solidFill>
                  <a:srgbClr val="FF8E6E"/>
                </a:solidFill>
                <a:latin typeface="Inconsolata"/>
              </a:rPr>
              <a:t>COPY</a:t>
            </a:r>
            <a:r>
              <a:rPr sz="850" i="0">
                <a:solidFill>
                  <a:srgbClr val="E6EDF3"/>
                </a:solidFill>
                <a:latin typeface="Inconsolata"/>
              </a:rPr>
              <a:t> app ./app</a:t>
            </a:r>
          </a:p>
          <a:p>
            <a:pPr>
              <a:lnSpc>
                <a:spcPct val="107843"/>
              </a:lnSpc>
              <a:spcAft>
                <a:spcPts val="0"/>
              </a:spcAft>
            </a:pPr>
            <a:r>
              <a:rPr sz="850" i="0">
                <a:solidFill>
                  <a:srgbClr val="FF8E6E"/>
                </a:solidFill>
                <a:latin typeface="Inconsolata"/>
              </a:rPr>
              <a:t>RUN</a:t>
            </a:r>
            <a:r>
              <a:rPr sz="850" i="0">
                <a:solidFill>
                  <a:srgbClr val="E6EDF3"/>
                </a:solidFill>
                <a:latin typeface="Inconsolata"/>
              </a:rPr>
              <a:t> useradd --create-home appuser</a:t>
            </a:r>
          </a:p>
          <a:p>
            <a:pPr>
              <a:lnSpc>
                <a:spcPct val="107843"/>
              </a:lnSpc>
              <a:spcAft>
                <a:spcPts val="0"/>
              </a:spcAft>
            </a:pPr>
            <a:r>
              <a:rPr sz="850" i="0">
                <a:solidFill>
                  <a:srgbClr val="FF8E6E"/>
                </a:solidFill>
                <a:latin typeface="Inconsolata"/>
              </a:rPr>
              <a:t>USER</a:t>
            </a:r>
            <a:r>
              <a:rPr sz="850" i="0">
                <a:solidFill>
                  <a:srgbClr val="E6EDF3"/>
                </a:solidFill>
                <a:latin typeface="Inconsolata"/>
              </a:rPr>
              <a:t> appuser</a:t>
            </a:r>
          </a:p>
        </p:txBody>
      </p:sp>
      <p:sp>
        <p:nvSpPr>
          <p:cNvPr id="38" name="Box 23"/>
          <p:cNvSpPr/>
          <p:nvPr/>
        </p:nvSpPr>
        <p:spPr>
          <a:xfrm>
            <a:off x="4379976" y="3026537"/>
            <a:ext cx="4023359" cy="271018"/>
          </a:xfrm>
          <a:prstGeom prst="roundRect">
            <a:avLst>
              <a:gd name="adj" fmla="val 16869"/>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379976" y="3725037"/>
            <a:ext cx="4023359" cy="131318"/>
          </a:xfrm>
          <a:prstGeom prst="roundRect">
            <a:avLst>
              <a:gd name="adj" fmla="val 3481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Dockerfile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Dockerfile perlu dirapikan?</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Dengan COPY . . di awal</a:t>
            </a:r>
          </a:p>
          <a:p>
            <a:pPr algn="l">
              <a:lnSpc>
                <a:spcPct val="115000"/>
              </a:lnSpc>
              <a:spcAft>
                <a:spcPts val="400"/>
              </a:spcAft>
            </a:pPr>
            <a:r>
              <a:rPr sz="950" b="0" i="0">
                <a:solidFill>
                  <a:srgbClr val="434343"/>
                </a:solidFill>
                <a:latin typeface="Inter"/>
              </a:rPr>
              <a:t>Setiap perubahan kode membuat </a:t>
            </a:r>
            <a:r>
              <a:rPr sz="950" b="0" i="0">
                <a:solidFill>
                  <a:srgbClr val="B5482A"/>
                </a:solidFill>
                <a:latin typeface="Inconsolata"/>
              </a:rPr>
              <a:t>pip install</a:t>
            </a:r>
            <a:r>
              <a:rPr sz="950" b="0" i="0">
                <a:solidFill>
                  <a:srgbClr val="434343"/>
                </a:solidFill>
                <a:latin typeface="Inter"/>
              </a:rPr>
              <a:t> diulang dari nol. Semua file ikut masuk, termasuk </a:t>
            </a:r>
            <a:r>
              <a:rPr sz="950" b="0" i="0">
                <a:solidFill>
                  <a:srgbClr val="B5482A"/>
                </a:solidFill>
                <a:latin typeface="Inconsolata"/>
              </a:rPr>
              <a:t>.env.local</a:t>
            </a:r>
            <a:r>
              <a:rPr sz="950" b="0" i="0">
                <a:solidFill>
                  <a:srgbClr val="434343"/>
                </a:solidFill>
                <a:latin typeface="Inter"/>
              </a:rPr>
              <a:t>.</a:t>
            </a:r>
          </a:p>
          <a:p>
            <a:pPr algn="l">
              <a:lnSpc>
                <a:spcPct val="115000"/>
              </a:lnSpc>
              <a:spcAft>
                <a:spcPts val="400"/>
              </a:spcAft>
            </a:pPr>
            <a:r>
              <a:rPr sz="1050" b="1" i="0">
                <a:solidFill>
                  <a:srgbClr val="1C4587"/>
                </a:solidFill>
                <a:latin typeface="Inter"/>
              </a:rPr>
              <a:t>Jika image makin sering di-build</a:t>
            </a:r>
          </a:p>
          <a:p>
            <a:pPr algn="l">
              <a:lnSpc>
                <a:spcPct val="115000"/>
              </a:lnSpc>
              <a:spcAft>
                <a:spcPts val="400"/>
              </a:spcAft>
            </a:pPr>
            <a:r>
              <a:rPr sz="950" b="0" i="0">
                <a:solidFill>
                  <a:srgbClr val="434343"/>
                </a:solidFill>
                <a:latin typeface="Inter"/>
              </a:rPr>
              <a:t>Setiap build di CI menunggu install ulang, dan secret di laptop developer ikut terbawa ke registry.</a:t>
            </a:r>
          </a:p>
          <a:p>
            <a:pPr algn="l">
              <a:lnSpc>
                <a:spcPct val="115000"/>
              </a:lnSpc>
              <a:spcAft>
                <a:spcPts val="400"/>
              </a:spcAft>
            </a:pPr>
            <a:r>
              <a:rPr sz="950" b="0" i="0">
                <a:solidFill>
                  <a:srgbClr val="434343"/>
                </a:solidFill>
                <a:latin typeface="Inter"/>
              </a:rPr>
              <a:t>Hal ini membuat build lambat dan secret bisa dibaca siapa pun yang bisa menarik image.</a:t>
            </a:r>
          </a:p>
          <a:p>
            <a:pPr algn="l">
              <a:lnSpc>
                <a:spcPct val="115000"/>
              </a:lnSpc>
              <a:spcAft>
                <a:spcPts val="400"/>
              </a:spcAft>
            </a:pPr>
            <a:r>
              <a:rPr sz="1050" b="1" i="0">
                <a:solidFill>
                  <a:srgbClr val="1C4587"/>
                </a:solidFill>
                <a:latin typeface="Inter"/>
              </a:rPr>
              <a:t>Yang dipakai dari Docker: layer cache dan .dockerignore</a:t>
            </a:r>
          </a:p>
          <a:p>
            <a:pPr algn="l">
              <a:lnSpc>
                <a:spcPct val="115000"/>
              </a:lnSpc>
              <a:spcAft>
                <a:spcPts val="400"/>
              </a:spcAft>
            </a:pPr>
            <a:r>
              <a:rPr sz="950" b="0" i="0">
                <a:solidFill>
                  <a:srgbClr val="434343"/>
                </a:solidFill>
                <a:latin typeface="Inter"/>
              </a:rPr>
              <a:t>Layer dipakai ulang selama instruksi dan file yang di-copy tidak berubah.</a:t>
            </a:r>
          </a:p>
        </p:txBody>
      </p:sp>
      <p:graphicFrame>
        <p:nvGraphicFramePr>
          <p:cNvPr id="23" name="Table 4"/>
          <p:cNvGraphicFramePr>
            <a:graphicFrameLocks noGrp="1"/>
          </p:cNvGraphicFramePr>
          <p:nvPr/>
        </p:nvGraphicFramePr>
        <p:xfrm>
          <a:off x="4800600" y="1481328"/>
          <a:ext cx="3685032" cy="2057400"/>
        </p:xfrm>
        <a:graphic>
          <a:graphicData uri="http://schemas.openxmlformats.org/drawingml/2006/table">
            <a:tbl>
              <a:tblPr firstRow="1" bandRow="1"/>
              <a:tblGrid>
                <a:gridCol w="1947672">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tblGrid>
              <a:tr h="411480">
                <a:tc>
                  <a:txBody>
                    <a:bodyPr/>
                    <a:lstStyle/>
                    <a:p>
                      <a:pPr algn="l">
                        <a:lnSpc>
                          <a:spcPct val="100000"/>
                        </a:lnSpc>
                        <a:spcAft>
                          <a:spcPts val="0"/>
                        </a:spcAft>
                      </a:pPr>
                      <a:r>
                        <a:rPr sz="850" b="1" i="0">
                          <a:solidFill>
                            <a:srgbClr val="FFFFFF"/>
                          </a:solidFill>
                          <a:latin typeface="Inter"/>
                        </a:rPr>
                        <a:t>Ditulis</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Artinya</a:t>
                      </a:r>
                    </a:p>
                  </a:txBody>
                  <a:tcPr marL="73152" marR="73152" marT="36576" marB="36576" anchor="ctr">
                    <a:solidFill>
                      <a:srgbClr val="1C4587"/>
                    </a:solidFill>
                  </a:tcPr>
                </a:tc>
                <a:extLst>
                  <a:ext uri="{0D108BD9-81ED-4DB2-BD59-A6C34878D82A}">
                    <a16:rowId xmlns:a16="http://schemas.microsoft.com/office/drawing/2014/main" val="10000"/>
                  </a:ext>
                </a:extLst>
              </a:tr>
              <a:tr h="411480">
                <a:tc>
                  <a:txBody>
                    <a:bodyPr/>
                    <a:lstStyle/>
                    <a:p>
                      <a:pPr algn="l">
                        <a:lnSpc>
                          <a:spcPct val="100000"/>
                        </a:lnSpc>
                        <a:spcAft>
                          <a:spcPts val="0"/>
                        </a:spcAft>
                      </a:pPr>
                      <a:r>
                        <a:rPr sz="850" b="1" i="0">
                          <a:solidFill>
                            <a:srgbClr val="1C4587"/>
                          </a:solidFill>
                          <a:latin typeface="Inter"/>
                        </a:rPr>
                        <a:t>COPY requirements.txt lebih dulu</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Install ulang hanya jika requirements berubah</a:t>
                      </a:r>
                    </a:p>
                  </a:txBody>
                  <a:tcPr marL="73152" marR="73152" marT="36576" marB="36576" anchor="ctr">
                    <a:solidFill>
                      <a:srgbClr val="FFFFFF"/>
                    </a:solidFill>
                  </a:tcPr>
                </a:tc>
                <a:extLst>
                  <a:ext uri="{0D108BD9-81ED-4DB2-BD59-A6C34878D82A}">
                    <a16:rowId xmlns:a16="http://schemas.microsoft.com/office/drawing/2014/main" val="10001"/>
                  </a:ext>
                </a:extLst>
              </a:tr>
              <a:tr h="411480">
                <a:tc>
                  <a:txBody>
                    <a:bodyPr/>
                    <a:lstStyle/>
                    <a:p>
                      <a:pPr algn="l">
                        <a:lnSpc>
                          <a:spcPct val="100000"/>
                        </a:lnSpc>
                        <a:spcAft>
                          <a:spcPts val="0"/>
                        </a:spcAft>
                      </a:pPr>
                      <a:r>
                        <a:rPr sz="850" b="1" i="0">
                          <a:solidFill>
                            <a:srgbClr val="1C4587"/>
                          </a:solidFill>
                          <a:latin typeface="Inter"/>
                        </a:rPr>
                        <a:t>.dockerignore</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File yang tidak dikirim ke build</a:t>
                      </a:r>
                    </a:p>
                  </a:txBody>
                  <a:tcPr marL="73152" marR="73152" marT="36576" marB="36576" anchor="ctr">
                    <a:solidFill>
                      <a:srgbClr val="F3F4F6"/>
                    </a:solidFill>
                  </a:tcPr>
                </a:tc>
                <a:extLst>
                  <a:ext uri="{0D108BD9-81ED-4DB2-BD59-A6C34878D82A}">
                    <a16:rowId xmlns:a16="http://schemas.microsoft.com/office/drawing/2014/main" val="10002"/>
                  </a:ext>
                </a:extLst>
              </a:tr>
              <a:tr h="411480">
                <a:tc>
                  <a:txBody>
                    <a:bodyPr/>
                    <a:lstStyle/>
                    <a:p>
                      <a:pPr algn="l">
                        <a:lnSpc>
                          <a:spcPct val="100000"/>
                        </a:lnSpc>
                        <a:spcAft>
                          <a:spcPts val="0"/>
                        </a:spcAft>
                      </a:pPr>
                      <a:r>
                        <a:rPr sz="850" b="1" i="0">
                          <a:solidFill>
                            <a:srgbClr val="1C4587"/>
                          </a:solidFill>
                          <a:latin typeface="Inter"/>
                        </a:rPr>
                        <a:t>USER appuser</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Proses bukan root</a:t>
                      </a:r>
                    </a:p>
                  </a:txBody>
                  <a:tcPr marL="73152" marR="73152" marT="36576" marB="36576" anchor="ctr">
                    <a:solidFill>
                      <a:srgbClr val="FFFFFF"/>
                    </a:solidFill>
                  </a:tcPr>
                </a:tc>
                <a:extLst>
                  <a:ext uri="{0D108BD9-81ED-4DB2-BD59-A6C34878D82A}">
                    <a16:rowId xmlns:a16="http://schemas.microsoft.com/office/drawing/2014/main" val="10003"/>
                  </a:ext>
                </a:extLst>
              </a:tr>
              <a:tr h="411480">
                <a:tc>
                  <a:txBody>
                    <a:bodyPr/>
                    <a:lstStyle/>
                    <a:p>
                      <a:pPr algn="l">
                        <a:lnSpc>
                          <a:spcPct val="100000"/>
                        </a:lnSpc>
                        <a:spcAft>
                          <a:spcPts val="0"/>
                        </a:spcAft>
                      </a:pPr>
                      <a:r>
                        <a:rPr sz="850" b="1" i="0">
                          <a:solidFill>
                            <a:srgbClr val="1C4587"/>
                          </a:solidFill>
                          <a:latin typeface="Inter"/>
                        </a:rPr>
                        <a:t>tanpa --reload</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Mode production</a:t>
                      </a:r>
                    </a:p>
                  </a:txBody>
                  <a:tcPr marL="73152" marR="73152" marT="36576" marB="36576" anchor="ctr">
                    <a:solidFill>
                      <a:srgbClr val="F3F4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Dockerfile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semua file di-copy sebelum install</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72237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01-dockerfile/before.Dockerfile</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7863840" cy="2980944"/>
          </a:xfrm>
          <a:prstGeom prst="rect">
            <a:avLst/>
          </a:prstGeom>
          <a:noFill/>
        </p:spPr>
        <p:txBody>
          <a:bodyPr wrap="none" lIns="146304" tIns="91440" rIns="146304" bIns="54864">
            <a:spAutoFit/>
          </a:bodyPr>
          <a:lstStyle/>
          <a:p>
            <a:pPr>
              <a:lnSpc>
                <a:spcPct val="111111"/>
              </a:lnSpc>
              <a:spcAft>
                <a:spcPts val="0"/>
              </a:spcAft>
            </a:pPr>
            <a:r>
              <a:rPr sz="900" i="0">
                <a:solidFill>
                  <a:srgbClr val="5C6773"/>
                </a:solidFill>
                <a:latin typeface="Inconsolata"/>
              </a:rPr>
              <a:t> 1  </a:t>
            </a:r>
            <a:r>
              <a:rPr sz="900" i="1">
                <a:solidFill>
                  <a:srgbClr val="8B98A8"/>
                </a:solidFill>
                <a:latin typeface="Inconsolata"/>
              </a:rPr>
              <a:t># Dockerfile - BEFORE</a:t>
            </a:r>
          </a:p>
          <a:p>
            <a:pPr>
              <a:lnSpc>
                <a:spcPct val="111111"/>
              </a:lnSpc>
              <a:spcAft>
                <a:spcPts val="0"/>
              </a:spcAft>
            </a:pPr>
            <a:r>
              <a:rPr sz="900" i="0">
                <a:solidFill>
                  <a:srgbClr val="5C6773"/>
                </a:solidFill>
                <a:latin typeface="Inconsolata"/>
              </a:rPr>
              <a:t> 2  </a:t>
            </a:r>
            <a:r>
              <a:rPr sz="900" i="1">
                <a:solidFill>
                  <a:srgbClr val="8B98A8"/>
                </a:solidFill>
                <a:latin typeface="Inconsolata"/>
              </a:rPr>
              <a:t># Masalahnya:</a:t>
            </a:r>
          </a:p>
          <a:p>
            <a:pPr>
              <a:lnSpc>
                <a:spcPct val="111111"/>
              </a:lnSpc>
              <a:spcAft>
                <a:spcPts val="0"/>
              </a:spcAft>
            </a:pPr>
            <a:r>
              <a:rPr sz="900" i="0">
                <a:solidFill>
                  <a:srgbClr val="5C6773"/>
                </a:solidFill>
                <a:latin typeface="Inconsolata"/>
              </a:rPr>
              <a:t> 3  </a:t>
            </a:r>
            <a:r>
              <a:rPr sz="900" i="1">
                <a:solidFill>
                  <a:srgbClr val="8B98A8"/>
                </a:solidFill>
                <a:latin typeface="Inconsolata"/>
              </a:rPr>
              <a:t># - COPY . . di awal: kode berubah sedikit, pip install diulang dari nol</a:t>
            </a:r>
          </a:p>
          <a:p>
            <a:pPr>
              <a:lnSpc>
                <a:spcPct val="111111"/>
              </a:lnSpc>
              <a:spcAft>
                <a:spcPts val="0"/>
              </a:spcAft>
            </a:pPr>
            <a:r>
              <a:rPr sz="900" i="0">
                <a:solidFill>
                  <a:srgbClr val="5C6773"/>
                </a:solidFill>
                <a:latin typeface="Inconsolata"/>
              </a:rPr>
              <a:t> 4  </a:t>
            </a:r>
            <a:r>
              <a:rPr sz="900" i="1">
                <a:solidFill>
                  <a:srgbClr val="8B98A8"/>
                </a:solidFill>
                <a:latin typeface="Inconsolata"/>
              </a:rPr>
              <a:t># - Semua file ikut masuk image, termasuk .env.local berisi secret</a:t>
            </a:r>
          </a:p>
          <a:p>
            <a:pPr>
              <a:lnSpc>
                <a:spcPct val="111111"/>
              </a:lnSpc>
              <a:spcAft>
                <a:spcPts val="0"/>
              </a:spcAft>
            </a:pPr>
            <a:r>
              <a:rPr sz="900" i="0">
                <a:solidFill>
                  <a:srgbClr val="5C6773"/>
                </a:solidFill>
                <a:latin typeface="Inconsolata"/>
              </a:rPr>
              <a:t> 5  </a:t>
            </a:r>
            <a:r>
              <a:rPr sz="900" i="1">
                <a:solidFill>
                  <a:srgbClr val="8B98A8"/>
                </a:solidFill>
                <a:latin typeface="Inconsolata"/>
              </a:rPr>
              <a:t># - Berjalan sebagai root, dan --reload (mode development)</a:t>
            </a:r>
          </a:p>
          <a:p>
            <a:pPr>
              <a:lnSpc>
                <a:spcPct val="111111"/>
              </a:lnSpc>
              <a:spcAft>
                <a:spcPts val="0"/>
              </a:spcAft>
            </a:pPr>
            <a:r>
              <a:rPr sz="900" i="0">
                <a:solidFill>
                  <a:srgbClr val="5C6773"/>
                </a:solidFill>
                <a:latin typeface="Inconsolata"/>
              </a:rPr>
              <a:t> 6  </a:t>
            </a:r>
            <a:r>
              <a:rPr sz="900" i="0">
                <a:solidFill>
                  <a:srgbClr val="FF8E6E"/>
                </a:solidFill>
                <a:latin typeface="Inconsolata"/>
              </a:rPr>
              <a:t>FROM</a:t>
            </a:r>
            <a:r>
              <a:rPr sz="900" i="0">
                <a:solidFill>
                  <a:srgbClr val="E6EDF3"/>
                </a:solidFill>
                <a:latin typeface="Inconsolata"/>
              </a:rPr>
              <a:t> python:3.12-slim</a:t>
            </a:r>
          </a:p>
          <a:p>
            <a:pPr>
              <a:lnSpc>
                <a:spcPct val="111111"/>
              </a:lnSpc>
              <a:spcAft>
                <a:spcPts val="0"/>
              </a:spcAft>
            </a:pPr>
            <a:r>
              <a:rPr sz="900" i="0">
                <a:solidFill>
                  <a:srgbClr val="5C6773"/>
                </a:solidFill>
                <a:latin typeface="Inconsolata"/>
              </a:rPr>
              <a:t> 7  </a:t>
            </a:r>
            <a:r>
              <a:rPr sz="900" i="0">
                <a:solidFill>
                  <a:srgbClr val="E6EDF3"/>
                </a:solidFill>
                <a:latin typeface="Inconsolata"/>
              </a:rPr>
              <a:t> </a:t>
            </a:r>
          </a:p>
          <a:p>
            <a:pPr>
              <a:lnSpc>
                <a:spcPct val="111111"/>
              </a:lnSpc>
              <a:spcAft>
                <a:spcPts val="0"/>
              </a:spcAft>
            </a:pPr>
            <a:r>
              <a:rPr sz="900" i="0">
                <a:solidFill>
                  <a:srgbClr val="5C6773"/>
                </a:solidFill>
                <a:latin typeface="Inconsolata"/>
              </a:rPr>
              <a:t> 8  </a:t>
            </a:r>
            <a:r>
              <a:rPr sz="900" i="0">
                <a:solidFill>
                  <a:srgbClr val="FF8E6E"/>
                </a:solidFill>
                <a:latin typeface="Inconsolata"/>
              </a:rPr>
              <a:t>WORKDIR</a:t>
            </a:r>
            <a:r>
              <a:rPr sz="900" i="0">
                <a:solidFill>
                  <a:srgbClr val="E6EDF3"/>
                </a:solidFill>
                <a:latin typeface="Inconsolata"/>
              </a:rPr>
              <a:t> /app</a:t>
            </a:r>
          </a:p>
          <a:p>
            <a:pPr>
              <a:lnSpc>
                <a:spcPct val="111111"/>
              </a:lnSpc>
              <a:spcAft>
                <a:spcPts val="0"/>
              </a:spcAft>
            </a:pPr>
            <a:r>
              <a:rPr sz="900" i="0">
                <a:solidFill>
                  <a:srgbClr val="5C6773"/>
                </a:solidFill>
                <a:latin typeface="Inconsolata"/>
              </a:rPr>
              <a:t> 9  </a:t>
            </a:r>
            <a:r>
              <a:rPr sz="900" i="0">
                <a:solidFill>
                  <a:srgbClr val="FF8E6E"/>
                </a:solidFill>
                <a:latin typeface="Inconsolata"/>
              </a:rPr>
              <a:t>COPY</a:t>
            </a:r>
            <a:r>
              <a:rPr sz="900" i="0">
                <a:solidFill>
                  <a:srgbClr val="E6EDF3"/>
                </a:solidFill>
                <a:latin typeface="Inconsolata"/>
              </a:rPr>
              <a:t> . .</a:t>
            </a:r>
          </a:p>
          <a:p>
            <a:pPr>
              <a:lnSpc>
                <a:spcPct val="111111"/>
              </a:lnSpc>
              <a:spcAft>
                <a:spcPts val="0"/>
              </a:spcAft>
            </a:pPr>
            <a:r>
              <a:rPr sz="900" i="0">
                <a:solidFill>
                  <a:srgbClr val="5C6773"/>
                </a:solidFill>
                <a:latin typeface="Inconsolata"/>
              </a:rPr>
              <a:t>10  </a:t>
            </a:r>
            <a:r>
              <a:rPr sz="900" i="0">
                <a:solidFill>
                  <a:srgbClr val="FF8E6E"/>
                </a:solidFill>
                <a:latin typeface="Inconsolata"/>
              </a:rPr>
              <a:t>RUN</a:t>
            </a:r>
            <a:r>
              <a:rPr sz="900" i="0">
                <a:solidFill>
                  <a:srgbClr val="E6EDF3"/>
                </a:solidFill>
                <a:latin typeface="Inconsolata"/>
              </a:rPr>
              <a:t> pip install -r requirements.txt</a:t>
            </a:r>
          </a:p>
          <a:p>
            <a:pPr>
              <a:lnSpc>
                <a:spcPct val="111111"/>
              </a:lnSpc>
              <a:spcAft>
                <a:spcPts val="0"/>
              </a:spcAft>
            </a:pPr>
            <a:r>
              <a:rPr sz="900" i="0">
                <a:solidFill>
                  <a:srgbClr val="5C6773"/>
                </a:solidFill>
                <a:latin typeface="Inconsolata"/>
              </a:rPr>
              <a:t>11  </a:t>
            </a:r>
            <a:r>
              <a:rPr sz="900" i="0">
                <a:solidFill>
                  <a:srgbClr val="E6EDF3"/>
                </a:solidFill>
                <a:latin typeface="Inconsolata"/>
              </a:rPr>
              <a:t> </a:t>
            </a:r>
          </a:p>
          <a:p>
            <a:pPr>
              <a:lnSpc>
                <a:spcPct val="111111"/>
              </a:lnSpc>
              <a:spcAft>
                <a:spcPts val="0"/>
              </a:spcAft>
            </a:pPr>
            <a:r>
              <a:rPr sz="900" i="0">
                <a:solidFill>
                  <a:srgbClr val="5C6773"/>
                </a:solidFill>
                <a:latin typeface="Inconsolata"/>
              </a:rPr>
              <a:t>12  </a:t>
            </a:r>
            <a:r>
              <a:rPr sz="900" i="0">
                <a:solidFill>
                  <a:srgbClr val="FF8E6E"/>
                </a:solidFill>
                <a:latin typeface="Inconsolata"/>
              </a:rPr>
              <a:t>CMD</a:t>
            </a:r>
            <a:r>
              <a:rPr sz="900" i="0">
                <a:solidFill>
                  <a:srgbClr val="E6EDF3"/>
                </a:solidFill>
                <a:latin typeface="Inconsolata"/>
              </a:rPr>
              <a:t> ["uvicorn", "app.main:app", "--host", "0.0.0.0", "--reload"]</a:t>
            </a:r>
          </a:p>
        </p:txBody>
      </p:sp>
      <p:sp>
        <p:nvSpPr>
          <p:cNvPr id="29" name="Box 12"/>
          <p:cNvSpPr/>
          <p:nvPr/>
        </p:nvSpPr>
        <p:spPr>
          <a:xfrm>
            <a:off x="704088" y="3049524"/>
            <a:ext cx="7699248" cy="143255"/>
          </a:xfrm>
          <a:prstGeom prst="roundRect">
            <a:avLst>
              <a:gd name="adj" fmla="val 31914"/>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8284463" y="300228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3201924"/>
            <a:ext cx="7699248" cy="143255"/>
          </a:xfrm>
          <a:prstGeom prst="roundRect">
            <a:avLst>
              <a:gd name="adj" fmla="val 31914"/>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8284463" y="315468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3506724"/>
            <a:ext cx="7699248" cy="143255"/>
          </a:xfrm>
          <a:prstGeom prst="roundRect">
            <a:avLst>
              <a:gd name="adj" fmla="val 31914"/>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8284463" y="345948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Dockerfile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01-dockerfile/before.Dockerfile</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sesi-11-docker-kubernetes-cicd/01-dockerfile</a:t>
            </a:r>
          </a:p>
          <a:p>
            <a:pPr>
              <a:lnSpc>
                <a:spcPct val="111111"/>
              </a:lnSpc>
              <a:spcAft>
                <a:spcPts val="0"/>
              </a:spcAft>
            </a:pPr>
            <a:r>
              <a:rPr sz="900" i="0">
                <a:solidFill>
                  <a:srgbClr val="82B1FF"/>
                </a:solidFill>
                <a:latin typeface="Inconsolata"/>
              </a:rPr>
              <a:t>$ docker build -f before.Dockerfile -t demo-dockerfile:before .</a:t>
            </a:r>
          </a:p>
        </p:txBody>
      </p:sp>
      <p:pic>
        <p:nvPicPr>
          <p:cNvPr id="29" name="Image 12" descr="s11-01-dockerfile-before.png"/>
          <p:cNvPicPr>
            <a:picLocks noChangeAspect="1"/>
          </p:cNvPicPr>
          <p:nvPr/>
        </p:nvPicPr>
        <p:blipFill>
          <a:blip r:embed="rId2"/>
          <a:stretch>
            <a:fillRect/>
          </a:stretch>
        </p:blipFill>
        <p:spPr>
          <a:xfrm>
            <a:off x="621792" y="2322576"/>
            <a:ext cx="4297680" cy="1582804"/>
          </a:xfrm>
          <a:prstGeom prst="rect">
            <a:avLst/>
          </a:prstGeom>
        </p:spPr>
      </p:pic>
      <p:sp>
        <p:nvSpPr>
          <p:cNvPr id="30" name="Box 13"/>
          <p:cNvSpPr/>
          <p:nvPr/>
        </p:nvSpPr>
        <p:spPr>
          <a:xfrm>
            <a:off x="5074920" y="1481328"/>
            <a:ext cx="3410712" cy="3218688"/>
          </a:xfrm>
          <a:prstGeom prst="roundRect">
            <a:avLst>
              <a:gd name="adj" fmla="val 3409"/>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C0392B"/>
                </a:solidFill>
                <a:latin typeface="Inter"/>
              </a:rPr>
              <a:t>Masalahnya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Semua file di-copy dulu, termasuk </a:t>
            </a:r>
            <a:r>
              <a:rPr sz="950" b="0" i="0">
                <a:solidFill>
                  <a:srgbClr val="B5482A"/>
                </a:solidFill>
                <a:latin typeface="Inconsolata"/>
              </a:rPr>
              <a:t>.env.local</a:t>
            </a:r>
            <a:r>
              <a:rPr sz="950" b="0" i="0">
                <a:solidFill>
                  <a:srgbClr val="434343"/>
                </a:solidFill>
                <a:latin typeface="Inter"/>
              </a:rPr>
              <a:t> (baris 9)</a:t>
            </a:r>
          </a:p>
          <a:p>
            <a:pPr marL="182880" indent="-182880" algn="l">
              <a:lnSpc>
                <a:spcPct val="115000"/>
              </a:lnSpc>
              <a:spcAft>
                <a:spcPts val="400"/>
              </a:spcAft>
              <a:buClr>
                <a:srgbClr val="E0764F"/>
              </a:buClr>
              <a:buSzPct val="100000"/>
              <a:buFont typeface="+mj-lt"/>
              <a:buAutoNum type="arabicPeriod"/>
            </a:pPr>
            <a:r>
              <a:rPr sz="950" b="0" i="0">
                <a:solidFill>
                  <a:srgbClr val="B5482A"/>
                </a:solidFill>
                <a:latin typeface="Inconsolata"/>
              </a:rPr>
              <a:t>pip install</a:t>
            </a:r>
            <a:r>
              <a:rPr sz="950" b="0" i="0">
                <a:solidFill>
                  <a:srgbClr val="434343"/>
                </a:solidFill>
                <a:latin typeface="Inter"/>
              </a:rPr>
              <a:t> setelahnya, jadi cache hilang setiap kode berubah (baris 10)</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Berjalan sebagai root dengan </a:t>
            </a:r>
            <a:r>
              <a:rPr sz="950" b="0" i="0">
                <a:solidFill>
                  <a:srgbClr val="B5482A"/>
                </a:solidFill>
                <a:latin typeface="Inconsolata"/>
              </a:rPr>
              <a:t>--reload</a:t>
            </a:r>
            <a:r>
              <a:rPr sz="950" b="0" i="0">
                <a:solidFill>
                  <a:srgbClr val="434343"/>
                </a:solidFill>
                <a:latin typeface="Inter"/>
              </a:rPr>
              <a:t> (baris 12)</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B5482A"/>
                </a:solidFill>
                <a:latin typeface="Inconsolata"/>
              </a:rPr>
              <a:t>whoami</a:t>
            </a:r>
            <a:r>
              <a:rPr sz="950" b="0" i="0">
                <a:solidFill>
                  <a:srgbClr val="434343"/>
                </a:solidFill>
                <a:latin typeface="Inter"/>
              </a:rPr>
              <a:t> = root, secret terbaca, dan </a:t>
            </a:r>
            <a:r>
              <a:rPr sz="950" b="0" i="0">
                <a:solidFill>
                  <a:srgbClr val="B5482A"/>
                </a:solidFill>
                <a:latin typeface="Inconsolata"/>
              </a:rPr>
              <a:t>pip install</a:t>
            </a:r>
            <a:r>
              <a:rPr sz="950" b="0" i="0">
                <a:solidFill>
                  <a:srgbClr val="434343"/>
                </a:solidFill>
                <a:latin typeface="Inter"/>
              </a:rPr>
              <a:t> diulang dari nol.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Dockerfile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urutan layer dan user biasa</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72237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01-dockerfile/after.Dockerfile</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7863840" cy="2980944"/>
          </a:xfrm>
          <a:prstGeom prst="rect">
            <a:avLst/>
          </a:prstGeom>
          <a:noFill/>
        </p:spPr>
        <p:txBody>
          <a:bodyPr wrap="none" lIns="146304" tIns="91440" rIns="146304" bIns="54864">
            <a:spAutoFit/>
          </a:bodyPr>
          <a:lstStyle/>
          <a:p>
            <a:pPr>
              <a:lnSpc>
                <a:spcPct val="107843"/>
              </a:lnSpc>
              <a:spcAft>
                <a:spcPts val="0"/>
              </a:spcAft>
            </a:pPr>
            <a:r>
              <a:rPr sz="850" i="0">
                <a:solidFill>
                  <a:srgbClr val="5C6773"/>
                </a:solidFill>
                <a:latin typeface="Inconsolata"/>
              </a:rPr>
              <a:t> 1  </a:t>
            </a:r>
            <a:r>
              <a:rPr sz="850" i="1">
                <a:solidFill>
                  <a:srgbClr val="8B98A8"/>
                </a:solidFill>
                <a:latin typeface="Inconsolata"/>
              </a:rPr>
              <a:t># Dockerfile - AFTER</a:t>
            </a:r>
          </a:p>
          <a:p>
            <a:pPr>
              <a:lnSpc>
                <a:spcPct val="107843"/>
              </a:lnSpc>
              <a:spcAft>
                <a:spcPts val="0"/>
              </a:spcAft>
            </a:pPr>
            <a:r>
              <a:rPr sz="850" i="0">
                <a:solidFill>
                  <a:srgbClr val="5C6773"/>
                </a:solidFill>
                <a:latin typeface="Inconsolata"/>
              </a:rPr>
              <a:t> 2  </a:t>
            </a:r>
            <a:r>
              <a:rPr sz="850" i="1">
                <a:solidFill>
                  <a:srgbClr val="8B98A8"/>
                </a:solidFill>
                <a:latin typeface="Inconsolata"/>
              </a:rPr>
              <a:t># - requirements.txt di-copy dan di-install DULU: selama tidak berubah,</a:t>
            </a:r>
          </a:p>
          <a:p>
            <a:pPr>
              <a:lnSpc>
                <a:spcPct val="107843"/>
              </a:lnSpc>
              <a:spcAft>
                <a:spcPts val="0"/>
              </a:spcAft>
            </a:pPr>
            <a:r>
              <a:rPr sz="850" i="0">
                <a:solidFill>
                  <a:srgbClr val="5C6773"/>
                </a:solidFill>
                <a:latin typeface="Inconsolata"/>
              </a:rPr>
              <a:t> 3  </a:t>
            </a:r>
            <a:r>
              <a:rPr sz="850" i="1">
                <a:solidFill>
                  <a:srgbClr val="8B98A8"/>
                </a:solidFill>
                <a:latin typeface="Inconsolata"/>
              </a:rPr>
              <a:t>#   layer pip install dipakai ulang dari cache</a:t>
            </a:r>
          </a:p>
          <a:p>
            <a:pPr>
              <a:lnSpc>
                <a:spcPct val="107843"/>
              </a:lnSpc>
              <a:spcAft>
                <a:spcPts val="0"/>
              </a:spcAft>
            </a:pPr>
            <a:r>
              <a:rPr sz="850" i="0">
                <a:solidFill>
                  <a:srgbClr val="5C6773"/>
                </a:solidFill>
                <a:latin typeface="Inconsolata"/>
              </a:rPr>
              <a:t> 4  </a:t>
            </a:r>
            <a:r>
              <a:rPr sz="850" i="1">
                <a:solidFill>
                  <a:srgbClr val="8B98A8"/>
                </a:solidFill>
                <a:latin typeface="Inconsolata"/>
              </a:rPr>
              <a:t># - .dockerignore (after.Dockerfile.dockerignore) membuang secret dan file yang tidak perlu</a:t>
            </a:r>
          </a:p>
          <a:p>
            <a:pPr>
              <a:lnSpc>
                <a:spcPct val="107843"/>
              </a:lnSpc>
              <a:spcAft>
                <a:spcPts val="0"/>
              </a:spcAft>
            </a:pPr>
            <a:r>
              <a:rPr sz="850" i="0">
                <a:solidFill>
                  <a:srgbClr val="5C6773"/>
                </a:solidFill>
                <a:latin typeface="Inconsolata"/>
              </a:rPr>
              <a:t> 5  </a:t>
            </a:r>
            <a:r>
              <a:rPr sz="850" i="1">
                <a:solidFill>
                  <a:srgbClr val="8B98A8"/>
                </a:solidFill>
                <a:latin typeface="Inconsolata"/>
              </a:rPr>
              <a:t># - Berjalan sebagai user biasa, tanpa --reload</a:t>
            </a:r>
          </a:p>
          <a:p>
            <a:pPr>
              <a:lnSpc>
                <a:spcPct val="107843"/>
              </a:lnSpc>
              <a:spcAft>
                <a:spcPts val="0"/>
              </a:spcAft>
            </a:pPr>
            <a:r>
              <a:rPr sz="850" i="0">
                <a:solidFill>
                  <a:srgbClr val="5C6773"/>
                </a:solidFill>
                <a:latin typeface="Inconsolata"/>
              </a:rPr>
              <a:t> 6  </a:t>
            </a:r>
            <a:r>
              <a:rPr sz="850" i="0">
                <a:solidFill>
                  <a:srgbClr val="FF8E6E"/>
                </a:solidFill>
                <a:latin typeface="Inconsolata"/>
              </a:rPr>
              <a:t>FROM</a:t>
            </a:r>
            <a:r>
              <a:rPr sz="850" i="0">
                <a:solidFill>
                  <a:srgbClr val="E6EDF3"/>
                </a:solidFill>
                <a:latin typeface="Inconsolata"/>
              </a:rPr>
              <a:t> python:3.12-slim</a:t>
            </a:r>
          </a:p>
          <a:p>
            <a:pPr>
              <a:lnSpc>
                <a:spcPct val="107843"/>
              </a:lnSpc>
              <a:spcAft>
                <a:spcPts val="0"/>
              </a:spcAft>
            </a:pPr>
            <a:r>
              <a:rPr sz="850" i="0">
                <a:solidFill>
                  <a:srgbClr val="5C6773"/>
                </a:solidFill>
                <a:latin typeface="Inconsolata"/>
              </a:rPr>
              <a:t> 7  </a:t>
            </a:r>
            <a:r>
              <a:rPr sz="850" i="0">
                <a:solidFill>
                  <a:srgbClr val="E6EDF3"/>
                </a:solidFill>
                <a:latin typeface="Inconsolata"/>
              </a:rPr>
              <a:t> </a:t>
            </a:r>
          </a:p>
          <a:p>
            <a:pPr>
              <a:lnSpc>
                <a:spcPct val="107843"/>
              </a:lnSpc>
              <a:spcAft>
                <a:spcPts val="0"/>
              </a:spcAft>
            </a:pPr>
            <a:r>
              <a:rPr sz="850" i="0">
                <a:solidFill>
                  <a:srgbClr val="5C6773"/>
                </a:solidFill>
                <a:latin typeface="Inconsolata"/>
              </a:rPr>
              <a:t> 8  </a:t>
            </a:r>
            <a:r>
              <a:rPr sz="850" i="0">
                <a:solidFill>
                  <a:srgbClr val="FF8E6E"/>
                </a:solidFill>
                <a:latin typeface="Inconsolata"/>
              </a:rPr>
              <a:t>ENV</a:t>
            </a:r>
            <a:r>
              <a:rPr sz="850" i="0">
                <a:solidFill>
                  <a:srgbClr val="E6EDF3"/>
                </a:solidFill>
                <a:latin typeface="Inconsolata"/>
              </a:rPr>
              <a:t> PYTHONDONTWRITEBYTECODE=1 \</a:t>
            </a:r>
          </a:p>
          <a:p>
            <a:pPr>
              <a:lnSpc>
                <a:spcPct val="107843"/>
              </a:lnSpc>
              <a:spcAft>
                <a:spcPts val="0"/>
              </a:spcAft>
            </a:pPr>
            <a:r>
              <a:rPr sz="850" i="0">
                <a:solidFill>
                  <a:srgbClr val="5C6773"/>
                </a:solidFill>
                <a:latin typeface="Inconsolata"/>
              </a:rPr>
              <a:t> 9  </a:t>
            </a:r>
            <a:r>
              <a:rPr sz="850" i="0">
                <a:solidFill>
                  <a:srgbClr val="E6EDF3"/>
                </a:solidFill>
                <a:latin typeface="Inconsolata"/>
              </a:rPr>
              <a:t>    PYTHONUNBUFFERED=1</a:t>
            </a:r>
          </a:p>
          <a:p>
            <a:pPr>
              <a:lnSpc>
                <a:spcPct val="107843"/>
              </a:lnSpc>
              <a:spcAft>
                <a:spcPts val="0"/>
              </a:spcAft>
            </a:pPr>
            <a:r>
              <a:rPr sz="850" i="0">
                <a:solidFill>
                  <a:srgbClr val="5C6773"/>
                </a:solidFill>
                <a:latin typeface="Inconsolata"/>
              </a:rPr>
              <a:t>10  </a:t>
            </a:r>
            <a:r>
              <a:rPr sz="850" i="0">
                <a:solidFill>
                  <a:srgbClr val="FF8E6E"/>
                </a:solidFill>
                <a:latin typeface="Inconsolata"/>
              </a:rPr>
              <a:t>WORKDIR</a:t>
            </a:r>
            <a:r>
              <a:rPr sz="850" i="0">
                <a:solidFill>
                  <a:srgbClr val="E6EDF3"/>
                </a:solidFill>
                <a:latin typeface="Inconsolata"/>
              </a:rPr>
              <a:t> /app</a:t>
            </a:r>
          </a:p>
          <a:p>
            <a:pPr>
              <a:lnSpc>
                <a:spcPct val="107843"/>
              </a:lnSpc>
              <a:spcAft>
                <a:spcPts val="0"/>
              </a:spcAft>
            </a:pPr>
            <a:r>
              <a:rPr sz="850" i="0">
                <a:solidFill>
                  <a:srgbClr val="5C6773"/>
                </a:solidFill>
                <a:latin typeface="Inconsolata"/>
              </a:rPr>
              <a:t>11  </a:t>
            </a:r>
            <a:r>
              <a:rPr sz="850" i="0">
                <a:solidFill>
                  <a:srgbClr val="E6EDF3"/>
                </a:solidFill>
                <a:latin typeface="Inconsolata"/>
              </a:rPr>
              <a:t> </a:t>
            </a:r>
          </a:p>
          <a:p>
            <a:pPr>
              <a:lnSpc>
                <a:spcPct val="107843"/>
              </a:lnSpc>
              <a:spcAft>
                <a:spcPts val="0"/>
              </a:spcAft>
            </a:pPr>
            <a:r>
              <a:rPr sz="850" i="0">
                <a:solidFill>
                  <a:srgbClr val="5C6773"/>
                </a:solidFill>
                <a:latin typeface="Inconsolata"/>
              </a:rPr>
              <a:t>12  </a:t>
            </a:r>
            <a:r>
              <a:rPr sz="850" i="0">
                <a:solidFill>
                  <a:srgbClr val="FF8E6E"/>
                </a:solidFill>
                <a:latin typeface="Inconsolata"/>
              </a:rPr>
              <a:t>COPY</a:t>
            </a:r>
            <a:r>
              <a:rPr sz="850" i="0">
                <a:solidFill>
                  <a:srgbClr val="E6EDF3"/>
                </a:solidFill>
                <a:latin typeface="Inconsolata"/>
              </a:rPr>
              <a:t> requirements.txt .</a:t>
            </a:r>
          </a:p>
          <a:p>
            <a:pPr>
              <a:lnSpc>
                <a:spcPct val="107843"/>
              </a:lnSpc>
              <a:spcAft>
                <a:spcPts val="0"/>
              </a:spcAft>
            </a:pPr>
            <a:r>
              <a:rPr sz="850" i="0">
                <a:solidFill>
                  <a:srgbClr val="5C6773"/>
                </a:solidFill>
                <a:latin typeface="Inconsolata"/>
              </a:rPr>
              <a:t>13  </a:t>
            </a:r>
            <a:r>
              <a:rPr sz="850" i="0">
                <a:solidFill>
                  <a:srgbClr val="FF8E6E"/>
                </a:solidFill>
                <a:latin typeface="Inconsolata"/>
              </a:rPr>
              <a:t>RUN</a:t>
            </a:r>
            <a:r>
              <a:rPr sz="850" i="0">
                <a:solidFill>
                  <a:srgbClr val="E6EDF3"/>
                </a:solidFill>
                <a:latin typeface="Inconsolata"/>
              </a:rPr>
              <a:t> pip install --no-cache-dir -r requirements.txt</a:t>
            </a:r>
          </a:p>
          <a:p>
            <a:pPr>
              <a:lnSpc>
                <a:spcPct val="107843"/>
              </a:lnSpc>
              <a:spcAft>
                <a:spcPts val="0"/>
              </a:spcAft>
            </a:pPr>
            <a:r>
              <a:rPr sz="850" i="0">
                <a:solidFill>
                  <a:srgbClr val="5C6773"/>
                </a:solidFill>
                <a:latin typeface="Inconsolata"/>
              </a:rPr>
              <a:t>14  </a:t>
            </a:r>
            <a:r>
              <a:rPr sz="850" i="0">
                <a:solidFill>
                  <a:srgbClr val="E6EDF3"/>
                </a:solidFill>
                <a:latin typeface="Inconsolata"/>
              </a:rPr>
              <a:t> </a:t>
            </a:r>
          </a:p>
          <a:p>
            <a:pPr>
              <a:lnSpc>
                <a:spcPct val="107843"/>
              </a:lnSpc>
              <a:spcAft>
                <a:spcPts val="0"/>
              </a:spcAft>
            </a:pPr>
            <a:r>
              <a:rPr sz="850" i="0">
                <a:solidFill>
                  <a:srgbClr val="5C6773"/>
                </a:solidFill>
                <a:latin typeface="Inconsolata"/>
              </a:rPr>
              <a:t>15  </a:t>
            </a:r>
            <a:r>
              <a:rPr sz="850" i="0">
                <a:solidFill>
                  <a:srgbClr val="FF8E6E"/>
                </a:solidFill>
                <a:latin typeface="Inconsolata"/>
              </a:rPr>
              <a:t>COPY</a:t>
            </a:r>
            <a:r>
              <a:rPr sz="850" i="0">
                <a:solidFill>
                  <a:srgbClr val="E6EDF3"/>
                </a:solidFill>
                <a:latin typeface="Inconsolata"/>
              </a:rPr>
              <a:t> app ./app</a:t>
            </a:r>
          </a:p>
          <a:p>
            <a:pPr>
              <a:lnSpc>
                <a:spcPct val="107843"/>
              </a:lnSpc>
              <a:spcAft>
                <a:spcPts val="0"/>
              </a:spcAft>
            </a:pPr>
            <a:r>
              <a:rPr sz="850" i="0">
                <a:solidFill>
                  <a:srgbClr val="5C6773"/>
                </a:solidFill>
                <a:latin typeface="Inconsolata"/>
              </a:rPr>
              <a:t>16  </a:t>
            </a:r>
            <a:r>
              <a:rPr sz="850" i="0">
                <a:solidFill>
                  <a:srgbClr val="FF8E6E"/>
                </a:solidFill>
                <a:latin typeface="Inconsolata"/>
              </a:rPr>
              <a:t>RUN</a:t>
            </a:r>
            <a:r>
              <a:rPr sz="850" i="0">
                <a:solidFill>
                  <a:srgbClr val="E6EDF3"/>
                </a:solidFill>
                <a:latin typeface="Inconsolata"/>
              </a:rPr>
              <a:t> useradd --create-home appuser</a:t>
            </a:r>
          </a:p>
          <a:p>
            <a:pPr>
              <a:lnSpc>
                <a:spcPct val="107843"/>
              </a:lnSpc>
              <a:spcAft>
                <a:spcPts val="0"/>
              </a:spcAft>
            </a:pPr>
            <a:r>
              <a:rPr sz="850" i="0">
                <a:solidFill>
                  <a:srgbClr val="5C6773"/>
                </a:solidFill>
                <a:latin typeface="Inconsolata"/>
              </a:rPr>
              <a:t>17  </a:t>
            </a:r>
            <a:r>
              <a:rPr sz="850" i="0">
                <a:solidFill>
                  <a:srgbClr val="FF8E6E"/>
                </a:solidFill>
                <a:latin typeface="Inconsolata"/>
              </a:rPr>
              <a:t>USER</a:t>
            </a:r>
            <a:r>
              <a:rPr sz="850" i="0">
                <a:solidFill>
                  <a:srgbClr val="E6EDF3"/>
                </a:solidFill>
                <a:latin typeface="Inconsolata"/>
              </a:rPr>
              <a:t> appuser</a:t>
            </a:r>
          </a:p>
          <a:p>
            <a:pPr>
              <a:lnSpc>
                <a:spcPct val="107843"/>
              </a:lnSpc>
              <a:spcAft>
                <a:spcPts val="0"/>
              </a:spcAft>
            </a:pPr>
            <a:r>
              <a:rPr sz="850" i="0">
                <a:solidFill>
                  <a:srgbClr val="5C6773"/>
                </a:solidFill>
                <a:latin typeface="Inconsolata"/>
              </a:rPr>
              <a:t>18  </a:t>
            </a:r>
            <a:r>
              <a:rPr sz="850" i="0">
                <a:solidFill>
                  <a:srgbClr val="E6EDF3"/>
                </a:solidFill>
                <a:latin typeface="Inconsolata"/>
              </a:rPr>
              <a:t> </a:t>
            </a:r>
          </a:p>
          <a:p>
            <a:pPr>
              <a:lnSpc>
                <a:spcPct val="107843"/>
              </a:lnSpc>
              <a:spcAft>
                <a:spcPts val="0"/>
              </a:spcAft>
            </a:pPr>
            <a:r>
              <a:rPr sz="850" i="0">
                <a:solidFill>
                  <a:srgbClr val="5C6773"/>
                </a:solidFill>
                <a:latin typeface="Inconsolata"/>
              </a:rPr>
              <a:t>19  </a:t>
            </a:r>
            <a:r>
              <a:rPr sz="850" i="0">
                <a:solidFill>
                  <a:srgbClr val="FF8E6E"/>
                </a:solidFill>
                <a:latin typeface="Inconsolata"/>
              </a:rPr>
              <a:t>EXPOSE</a:t>
            </a:r>
            <a:r>
              <a:rPr sz="850" i="0">
                <a:solidFill>
                  <a:srgbClr val="E6EDF3"/>
                </a:solidFill>
                <a:latin typeface="Inconsolata"/>
              </a:rPr>
              <a:t> 8000</a:t>
            </a:r>
          </a:p>
          <a:p>
            <a:pPr>
              <a:lnSpc>
                <a:spcPct val="107843"/>
              </a:lnSpc>
              <a:spcAft>
                <a:spcPts val="0"/>
              </a:spcAft>
            </a:pPr>
            <a:r>
              <a:rPr sz="850" i="0">
                <a:solidFill>
                  <a:srgbClr val="5C6773"/>
                </a:solidFill>
                <a:latin typeface="Inconsolata"/>
              </a:rPr>
              <a:t>20  </a:t>
            </a:r>
            <a:r>
              <a:rPr sz="850" i="0">
                <a:solidFill>
                  <a:srgbClr val="FF8E6E"/>
                </a:solidFill>
                <a:latin typeface="Inconsolata"/>
              </a:rPr>
              <a:t>CMD</a:t>
            </a:r>
            <a:r>
              <a:rPr sz="850" i="0">
                <a:solidFill>
                  <a:srgbClr val="E6EDF3"/>
                </a:solidFill>
                <a:latin typeface="Inconsolata"/>
              </a:rPr>
              <a:t> ["uvicorn", "app.main:app", "--host", "0.0.0.0", "--port", "8000"]</a:t>
            </a:r>
          </a:p>
        </p:txBody>
      </p:sp>
      <p:sp>
        <p:nvSpPr>
          <p:cNvPr id="29" name="Box 12"/>
          <p:cNvSpPr/>
          <p:nvPr/>
        </p:nvSpPr>
        <p:spPr>
          <a:xfrm>
            <a:off x="704088" y="3365373"/>
            <a:ext cx="7699248" cy="271018"/>
          </a:xfrm>
          <a:prstGeom prst="roundRect">
            <a:avLst>
              <a:gd name="adj" fmla="val 16869"/>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8284463" y="338201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3784473"/>
            <a:ext cx="7699248" cy="131318"/>
          </a:xfrm>
          <a:prstGeom prst="roundRect">
            <a:avLst>
              <a:gd name="adj" fmla="val 3481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8284463" y="373126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3924173"/>
            <a:ext cx="7699248" cy="690118"/>
          </a:xfrm>
          <a:prstGeom prst="roundRect">
            <a:avLst>
              <a:gd name="adj" fmla="val 6624"/>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8284463" y="415036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Dockerfile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01-dockerfile/after.Dockerfile</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sesi-11-docker-kubernetes-cicd/01-dockerfile</a:t>
            </a:r>
          </a:p>
          <a:p>
            <a:pPr>
              <a:lnSpc>
                <a:spcPct val="111111"/>
              </a:lnSpc>
              <a:spcAft>
                <a:spcPts val="0"/>
              </a:spcAft>
            </a:pPr>
            <a:r>
              <a:rPr sz="900" i="0">
                <a:solidFill>
                  <a:srgbClr val="82B1FF"/>
                </a:solidFill>
                <a:latin typeface="Inconsolata"/>
              </a:rPr>
              <a:t>$ docker build -f after.Dockerfile -t demo-dockerfile:after .</a:t>
            </a:r>
          </a:p>
        </p:txBody>
      </p:sp>
      <p:pic>
        <p:nvPicPr>
          <p:cNvPr id="29" name="Image 12" descr="s11-01-dockerfile-after.png"/>
          <p:cNvPicPr>
            <a:picLocks noChangeAspect="1"/>
          </p:cNvPicPr>
          <p:nvPr/>
        </p:nvPicPr>
        <p:blipFill>
          <a:blip r:embed="rId2"/>
          <a:stretch>
            <a:fillRect/>
          </a:stretch>
        </p:blipFill>
        <p:spPr>
          <a:xfrm>
            <a:off x="621792" y="2322576"/>
            <a:ext cx="4297680" cy="1582804"/>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requirements.txt di-install dulu, layer ini di-cache (baris 12, 13)</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Hanya folder </a:t>
            </a:r>
            <a:r>
              <a:rPr sz="950" b="0" i="0">
                <a:solidFill>
                  <a:srgbClr val="B5482A"/>
                </a:solidFill>
                <a:latin typeface="Inconsolata"/>
              </a:rPr>
              <a:t>app</a:t>
            </a:r>
            <a:r>
              <a:rPr sz="950" b="0" i="0">
                <a:solidFill>
                  <a:srgbClr val="434343"/>
                </a:solidFill>
                <a:latin typeface="Inter"/>
              </a:rPr>
              <a:t> yang di-copy, </a:t>
            </a:r>
            <a:r>
              <a:rPr sz="950" b="0" i="0">
                <a:solidFill>
                  <a:srgbClr val="B5482A"/>
                </a:solidFill>
                <a:latin typeface="Inconsolata"/>
              </a:rPr>
              <a:t>.env.local</a:t>
            </a:r>
            <a:r>
              <a:rPr sz="950" b="0" i="0">
                <a:solidFill>
                  <a:srgbClr val="434343"/>
                </a:solidFill>
                <a:latin typeface="Inter"/>
              </a:rPr>
              <a:t> dibuang </a:t>
            </a:r>
            <a:r>
              <a:rPr sz="950" b="0" i="0">
                <a:solidFill>
                  <a:srgbClr val="B5482A"/>
                </a:solidFill>
                <a:latin typeface="Inconsolata"/>
              </a:rPr>
              <a:t>.dockerignore</a:t>
            </a:r>
            <a:r>
              <a:rPr sz="950" b="0" i="0">
                <a:solidFill>
                  <a:srgbClr val="434343"/>
                </a:solidFill>
                <a:latin typeface="Inter"/>
              </a:rPr>
              <a:t> (baris 15)</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User biasa, tanpa </a:t>
            </a:r>
            <a:r>
              <a:rPr sz="950" b="0" i="0">
                <a:solidFill>
                  <a:srgbClr val="B5482A"/>
                </a:solidFill>
                <a:latin typeface="Inconsolata"/>
              </a:rPr>
              <a:t>--reload</a:t>
            </a:r>
            <a:r>
              <a:rPr sz="950" b="0" i="0">
                <a:solidFill>
                  <a:srgbClr val="434343"/>
                </a:solidFill>
                <a:latin typeface="Inter"/>
              </a:rPr>
              <a:t> (baris 16-20)</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B5482A"/>
                </a:solidFill>
                <a:latin typeface="Inconsolata"/>
              </a:rPr>
              <a:t>whoami</a:t>
            </a:r>
            <a:r>
              <a:rPr sz="950" b="0" i="0">
                <a:solidFill>
                  <a:srgbClr val="434343"/>
                </a:solidFill>
                <a:latin typeface="Inter"/>
              </a:rPr>
              <a:t> = appuser, </a:t>
            </a:r>
            <a:r>
              <a:rPr sz="950" b="0" i="0">
                <a:solidFill>
                  <a:srgbClr val="B5482A"/>
                </a:solidFill>
                <a:latin typeface="Inconsolata"/>
              </a:rPr>
              <a:t>.env.local</a:t>
            </a:r>
            <a:r>
              <a:rPr sz="950" b="0" i="0">
                <a:solidFill>
                  <a:srgbClr val="434343"/>
                </a:solidFill>
                <a:latin typeface="Inter"/>
              </a:rPr>
              <a:t> tidak ada, dan </a:t>
            </a:r>
            <a:r>
              <a:rPr sz="950" b="0" i="0">
                <a:solidFill>
                  <a:srgbClr val="B5482A"/>
                </a:solidFill>
                <a:latin typeface="Inconsolata"/>
              </a:rPr>
              <a:t>pip install</a:t>
            </a:r>
            <a:r>
              <a:rPr sz="950" b="0" i="0">
                <a:solidFill>
                  <a:srgbClr val="434343"/>
                </a:solidFill>
                <a:latin typeface="Inter"/>
              </a:rPr>
              <a:t> CACHED.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Multi-stage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Multi-stage Build?</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Multi-stage build adalah</a:t>
            </a:r>
          </a:p>
          <a:p>
            <a:pPr algn="l">
              <a:lnSpc>
                <a:spcPct val="115000"/>
              </a:lnSpc>
              <a:spcAft>
                <a:spcPts val="400"/>
              </a:spcAft>
            </a:pPr>
            <a:r>
              <a:rPr sz="900" b="0" i="0">
                <a:solidFill>
                  <a:srgbClr val="434343"/>
                </a:solidFill>
                <a:latin typeface="Inter"/>
              </a:rPr>
              <a:t>Dockerfile dengan lebih dari satu </a:t>
            </a:r>
            <a:r>
              <a:rPr sz="900" b="0" i="0">
                <a:solidFill>
                  <a:srgbClr val="B5482A"/>
                </a:solidFill>
                <a:latin typeface="Inconsolata"/>
              </a:rPr>
              <a:t>FROM</a:t>
            </a:r>
            <a:r>
              <a:rPr sz="900" b="0" i="0">
                <a:solidFill>
                  <a:srgbClr val="434343"/>
                </a:solidFill>
                <a:latin typeface="Inter"/>
              </a:rPr>
              <a:t>. Stage pertama (</a:t>
            </a:r>
            <a:r>
              <a:rPr sz="900" b="1" i="0">
                <a:solidFill>
                  <a:srgbClr val="434343"/>
                </a:solidFill>
                <a:latin typeface="Inter"/>
              </a:rPr>
              <a:t>builder</a:t>
            </a:r>
            <a:r>
              <a:rPr sz="900" b="0" i="0">
                <a:solidFill>
                  <a:srgbClr val="434343"/>
                </a:solidFill>
                <a:latin typeface="Inter"/>
              </a:rPr>
              <a:t>) berisi compiler untuk meng-install dependency, lalu stage akhir hanya mengambil hasilnya dengan </a:t>
            </a:r>
            <a:r>
              <a:rPr sz="900" b="0" i="0">
                <a:solidFill>
                  <a:srgbClr val="B5482A"/>
                </a:solidFill>
                <a:latin typeface="Inconsolata"/>
              </a:rPr>
              <a:t>COPY --from</a:t>
            </a:r>
            <a:r>
              <a:rPr sz="900" b="0" i="0">
                <a:solidFill>
                  <a:srgbClr val="434343"/>
                </a:solidFill>
                <a:latin typeface="Inter"/>
              </a:rPr>
              <a:t>. Sehingga tool build tidak ikut ke image production.</a:t>
            </a:r>
          </a:p>
          <a:p>
            <a:pPr algn="l">
              <a:lnSpc>
                <a:spcPct val="115000"/>
              </a:lnSpc>
              <a:spcAft>
                <a:spcPts val="400"/>
              </a:spcAft>
            </a:pPr>
            <a:r>
              <a:rPr sz="100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Mengecilkan ukuran image</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Mengurangi celah keamanan dari paket yang tidak dipakai saat runtime</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satu stage: 02-multi-stage/before.Dockerfile</a:t>
            </a:r>
          </a:p>
        </p:txBody>
      </p:sp>
      <p:sp>
        <p:nvSpPr>
          <p:cNvPr id="28" name="CodeBg 11"/>
          <p:cNvSpPr/>
          <p:nvPr/>
        </p:nvSpPr>
        <p:spPr>
          <a:xfrm>
            <a:off x="4297680" y="1719072"/>
            <a:ext cx="4187951" cy="740664"/>
          </a:xfrm>
          <a:prstGeom prst="roundRect">
            <a:avLst>
              <a:gd name="adj" fmla="val 2469"/>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740664"/>
          </a:xfrm>
          <a:prstGeom prst="rect">
            <a:avLst/>
          </a:prstGeom>
          <a:noFill/>
        </p:spPr>
        <p:txBody>
          <a:bodyPr wrap="none" lIns="146304" tIns="91440" rIns="146304" bIns="54864">
            <a:spAutoFit/>
          </a:bodyPr>
          <a:lstStyle/>
          <a:p>
            <a:pPr>
              <a:lnSpc>
                <a:spcPct val="111111"/>
              </a:lnSpc>
              <a:spcAft>
                <a:spcPts val="0"/>
              </a:spcAft>
            </a:pPr>
            <a:r>
              <a:rPr sz="750" i="0">
                <a:solidFill>
                  <a:srgbClr val="FF8E6E"/>
                </a:solidFill>
                <a:latin typeface="Inconsolata"/>
              </a:rPr>
              <a:t>RUN</a:t>
            </a:r>
            <a:r>
              <a:rPr sz="750" i="0">
                <a:solidFill>
                  <a:srgbClr val="E6EDF3"/>
                </a:solidFill>
                <a:latin typeface="Inconsolata"/>
              </a:rPr>
              <a:t> apt-get update \</a:t>
            </a:r>
          </a:p>
          <a:p>
            <a:pPr>
              <a:lnSpc>
                <a:spcPct val="111111"/>
              </a:lnSpc>
              <a:spcAft>
                <a:spcPts val="0"/>
              </a:spcAft>
            </a:pPr>
            <a:r>
              <a:rPr sz="750" i="0">
                <a:solidFill>
                  <a:srgbClr val="E6EDF3"/>
                </a:solidFill>
                <a:latin typeface="Inconsolata"/>
              </a:rPr>
              <a:t>    &amp;&amp; apt-get install -y --no-install-recommends build-essential libpq-dev \</a:t>
            </a:r>
          </a:p>
        </p:txBody>
      </p:sp>
      <p:sp>
        <p:nvSpPr>
          <p:cNvPr id="30" name="Box 13"/>
          <p:cNvSpPr/>
          <p:nvPr/>
        </p:nvSpPr>
        <p:spPr>
          <a:xfrm>
            <a:off x="4379976" y="1954022"/>
            <a:ext cx="4023359" cy="119380"/>
          </a:xfrm>
          <a:prstGeom prst="roundRect">
            <a:avLst>
              <a:gd name="adj" fmla="val 38297"/>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Tab 15"/>
          <p:cNvSpPr/>
          <p:nvPr/>
        </p:nvSpPr>
        <p:spPr>
          <a:xfrm>
            <a:off x="4297680" y="2551176"/>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4407408" y="2628900"/>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4544568" y="2628900"/>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681728" y="2628900"/>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4846320" y="2560320"/>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dua stage: 02-multi-stage/after.Dockerfile</a:t>
            </a:r>
          </a:p>
        </p:txBody>
      </p:sp>
      <p:sp>
        <p:nvSpPr>
          <p:cNvPr id="36" name="CodeBg 21"/>
          <p:cNvSpPr/>
          <p:nvPr/>
        </p:nvSpPr>
        <p:spPr>
          <a:xfrm>
            <a:off x="4297680" y="2788920"/>
            <a:ext cx="4187951" cy="1911095"/>
          </a:xfrm>
          <a:prstGeom prst="roundRect">
            <a:avLst>
              <a:gd name="adj" fmla="val 956"/>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4297680" y="2788920"/>
            <a:ext cx="4187951" cy="1911095"/>
          </a:xfrm>
          <a:prstGeom prst="rect">
            <a:avLst/>
          </a:prstGeom>
          <a:noFill/>
        </p:spPr>
        <p:txBody>
          <a:bodyPr wrap="none" lIns="146304" tIns="91440" rIns="146304" bIns="54864">
            <a:spAutoFit/>
          </a:bodyPr>
          <a:lstStyle/>
          <a:p>
            <a:pPr>
              <a:lnSpc>
                <a:spcPct val="111111"/>
              </a:lnSpc>
              <a:spcAft>
                <a:spcPts val="0"/>
              </a:spcAft>
            </a:pPr>
            <a:r>
              <a:rPr sz="750" i="0">
                <a:solidFill>
                  <a:srgbClr val="FF8E6E"/>
                </a:solidFill>
                <a:latin typeface="Inconsolata"/>
              </a:rPr>
              <a:t>FROM</a:t>
            </a:r>
            <a:r>
              <a:rPr sz="750" i="0">
                <a:solidFill>
                  <a:srgbClr val="E6EDF3"/>
                </a:solidFill>
                <a:latin typeface="Inconsolata"/>
              </a:rPr>
              <a:t> python:3.12-slim AS builder</a:t>
            </a:r>
          </a:p>
          <a:p>
            <a:pPr>
              <a:lnSpc>
                <a:spcPct val="111111"/>
              </a:lnSpc>
              <a:spcAft>
                <a:spcPts val="0"/>
              </a:spcAft>
            </a:pPr>
            <a:r>
              <a:rPr sz="750" i="0">
                <a:solidFill>
                  <a:srgbClr val="E6EDF3"/>
                </a:solidFill>
                <a:latin typeface="Inconsolata"/>
              </a:rPr>
              <a:t>...</a:t>
            </a:r>
          </a:p>
          <a:p>
            <a:pPr>
              <a:lnSpc>
                <a:spcPct val="111111"/>
              </a:lnSpc>
              <a:spcAft>
                <a:spcPts val="0"/>
              </a:spcAft>
            </a:pPr>
            <a:r>
              <a:rPr sz="750" i="0">
                <a:solidFill>
                  <a:srgbClr val="FF8E6E"/>
                </a:solidFill>
                <a:latin typeface="Inconsolata"/>
              </a:rPr>
              <a:t>FROM</a:t>
            </a:r>
            <a:r>
              <a:rPr sz="750" i="0">
                <a:solidFill>
                  <a:srgbClr val="E6EDF3"/>
                </a:solidFill>
                <a:latin typeface="Inconsolata"/>
              </a:rPr>
              <a:t> python:3.12-slim</a:t>
            </a:r>
          </a:p>
          <a:p>
            <a:pPr>
              <a:lnSpc>
                <a:spcPct val="111111"/>
              </a:lnSpc>
              <a:spcAft>
                <a:spcPts val="0"/>
              </a:spcAft>
            </a:pPr>
            <a:r>
              <a:rPr sz="750" i="0">
                <a:solidFill>
                  <a:srgbClr val="E6EDF3"/>
                </a:solidFill>
                <a:latin typeface="Inconsolata"/>
              </a:rPr>
              <a:t>...</a:t>
            </a:r>
          </a:p>
          <a:p>
            <a:pPr>
              <a:lnSpc>
                <a:spcPct val="111111"/>
              </a:lnSpc>
              <a:spcAft>
                <a:spcPts val="0"/>
              </a:spcAft>
            </a:pPr>
            <a:r>
              <a:rPr sz="750" i="0">
                <a:solidFill>
                  <a:srgbClr val="FF8E6E"/>
                </a:solidFill>
                <a:latin typeface="Inconsolata"/>
              </a:rPr>
              <a:t>COPY</a:t>
            </a:r>
            <a:r>
              <a:rPr sz="750" i="0">
                <a:solidFill>
                  <a:srgbClr val="E6EDF3"/>
                </a:solidFill>
                <a:latin typeface="Inconsolata"/>
              </a:rPr>
              <a:t> --from=builder /opt/venv /opt/venv</a:t>
            </a:r>
          </a:p>
        </p:txBody>
      </p:sp>
      <p:sp>
        <p:nvSpPr>
          <p:cNvPr id="38" name="Box 23"/>
          <p:cNvSpPr/>
          <p:nvPr/>
        </p:nvSpPr>
        <p:spPr>
          <a:xfrm>
            <a:off x="4379976" y="2896870"/>
            <a:ext cx="4023359" cy="119380"/>
          </a:xfrm>
          <a:prstGeom prst="roundRect">
            <a:avLst>
              <a:gd name="adj" fmla="val 3829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379976" y="3404870"/>
            <a:ext cx="4023359" cy="119380"/>
          </a:xfrm>
          <a:prstGeom prst="roundRect">
            <a:avLst>
              <a:gd name="adj" fmla="val 3829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Multi-stage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menggunakan Multi-stage Build?</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Dengan satu stage</a:t>
            </a:r>
          </a:p>
          <a:p>
            <a:pPr algn="l">
              <a:lnSpc>
                <a:spcPct val="115000"/>
              </a:lnSpc>
              <a:spcAft>
                <a:spcPts val="400"/>
              </a:spcAft>
            </a:pPr>
            <a:r>
              <a:rPr sz="950" b="0" i="0">
                <a:solidFill>
                  <a:srgbClr val="434343"/>
                </a:solidFill>
                <a:latin typeface="Inter"/>
              </a:rPr>
              <a:t>Compiler dan header C dibutuhkan untuk </a:t>
            </a:r>
            <a:r>
              <a:rPr sz="950" b="0" i="0">
                <a:solidFill>
                  <a:srgbClr val="B5482A"/>
                </a:solidFill>
                <a:latin typeface="Inconsolata"/>
              </a:rPr>
              <a:t>pip install psycopg[c]</a:t>
            </a:r>
            <a:r>
              <a:rPr sz="950" b="0" i="0">
                <a:solidFill>
                  <a:srgbClr val="434343"/>
                </a:solidFill>
                <a:latin typeface="Inter"/>
              </a:rPr>
              <a:t>, lalu ikut tersimpan di image akhir.</a:t>
            </a:r>
          </a:p>
          <a:p>
            <a:pPr algn="l">
              <a:lnSpc>
                <a:spcPct val="115000"/>
              </a:lnSpc>
              <a:spcAft>
                <a:spcPts val="400"/>
              </a:spcAft>
            </a:pPr>
            <a:r>
              <a:rPr sz="1050" b="1" i="0">
                <a:solidFill>
                  <a:srgbClr val="1C4587"/>
                </a:solidFill>
                <a:latin typeface="Inter"/>
              </a:rPr>
              <a:t>Jika dependency yang perlu di-compile makin banyak</a:t>
            </a:r>
          </a:p>
          <a:p>
            <a:pPr algn="l">
              <a:lnSpc>
                <a:spcPct val="115000"/>
              </a:lnSpc>
              <a:spcAft>
                <a:spcPts val="400"/>
              </a:spcAft>
            </a:pPr>
            <a:r>
              <a:rPr sz="950" b="0" i="0">
                <a:solidFill>
                  <a:srgbClr val="434343"/>
                </a:solidFill>
                <a:latin typeface="Inter"/>
              </a:rPr>
              <a:t>Ukuran image terus bertambah, dan setiap paket tambahan berpotensi punya celah keamanan.</a:t>
            </a:r>
          </a:p>
          <a:p>
            <a:pPr algn="l">
              <a:lnSpc>
                <a:spcPct val="115000"/>
              </a:lnSpc>
              <a:spcAft>
                <a:spcPts val="400"/>
              </a:spcAft>
            </a:pPr>
            <a:r>
              <a:rPr sz="950" b="0" i="0">
                <a:solidFill>
                  <a:srgbClr val="434343"/>
                </a:solidFill>
                <a:latin typeface="Inter"/>
              </a:rPr>
              <a:t>Hal ini membuat deploy lebih lambat dan hasil scan keamanan lebih banyak temuan.</a:t>
            </a:r>
          </a:p>
          <a:p>
            <a:pPr algn="l">
              <a:lnSpc>
                <a:spcPct val="115000"/>
              </a:lnSpc>
              <a:spcAft>
                <a:spcPts val="400"/>
              </a:spcAft>
            </a:pPr>
            <a:r>
              <a:rPr sz="1050" b="1" i="0">
                <a:solidFill>
                  <a:srgbClr val="1C4587"/>
                </a:solidFill>
                <a:latin typeface="Inter"/>
              </a:rPr>
              <a:t>Yang dipakai dari Docker: FROM ... AS dan COPY --from</a:t>
            </a:r>
          </a:p>
          <a:p>
            <a:pPr algn="l">
              <a:lnSpc>
                <a:spcPct val="115000"/>
              </a:lnSpc>
              <a:spcAft>
                <a:spcPts val="400"/>
              </a:spcAft>
            </a:pPr>
            <a:r>
              <a:rPr sz="950" b="0" i="0">
                <a:solidFill>
                  <a:srgbClr val="434343"/>
                </a:solidFill>
                <a:latin typeface="Inter"/>
              </a:rPr>
              <a:t>Setiap </a:t>
            </a:r>
            <a:r>
              <a:rPr sz="950" b="0" i="0">
                <a:solidFill>
                  <a:srgbClr val="B5482A"/>
                </a:solidFill>
                <a:latin typeface="Inconsolata"/>
              </a:rPr>
              <a:t>FROM</a:t>
            </a:r>
            <a:r>
              <a:rPr sz="950" b="0" i="0">
                <a:solidFill>
                  <a:srgbClr val="434343"/>
                </a:solidFill>
                <a:latin typeface="Inter"/>
              </a:rPr>
              <a:t> memulai stage baru. Stage akhir yang menjadi image.</a:t>
            </a:r>
          </a:p>
        </p:txBody>
      </p:sp>
      <p:graphicFrame>
        <p:nvGraphicFramePr>
          <p:cNvPr id="23" name="Table 4"/>
          <p:cNvGraphicFramePr>
            <a:graphicFrameLocks noGrp="1"/>
          </p:cNvGraphicFramePr>
          <p:nvPr/>
        </p:nvGraphicFramePr>
        <p:xfrm>
          <a:off x="4800600" y="1481328"/>
          <a:ext cx="3685032" cy="1371600"/>
        </p:xfrm>
        <a:graphic>
          <a:graphicData uri="http://schemas.openxmlformats.org/drawingml/2006/table">
            <a:tbl>
              <a:tblPr firstRow="1" bandRow="1"/>
              <a:tblGrid>
                <a:gridCol w="2221992">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tblGrid>
              <a:tr h="457200">
                <a:tc>
                  <a:txBody>
                    <a:bodyPr/>
                    <a:lstStyle/>
                    <a:p>
                      <a:pPr algn="l">
                        <a:lnSpc>
                          <a:spcPct val="100000"/>
                        </a:lnSpc>
                        <a:spcAft>
                          <a:spcPts val="0"/>
                        </a:spcAft>
                      </a:pPr>
                      <a:endParaRP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Ukuran</a:t>
                      </a:r>
                    </a:p>
                  </a:txBody>
                  <a:tcPr marL="73152" marR="73152" marT="36576" marB="36576" anchor="ctr">
                    <a:solidFill>
                      <a:srgbClr val="1C4587"/>
                    </a:solidFill>
                  </a:tcPr>
                </a:tc>
                <a:extLst>
                  <a:ext uri="{0D108BD9-81ED-4DB2-BD59-A6C34878D82A}">
                    <a16:rowId xmlns:a16="http://schemas.microsoft.com/office/drawing/2014/main" val="10000"/>
                  </a:ext>
                </a:extLst>
              </a:tr>
              <a:tr h="457200">
                <a:tc>
                  <a:txBody>
                    <a:bodyPr/>
                    <a:lstStyle/>
                    <a:p>
                      <a:pPr algn="l">
                        <a:lnSpc>
                          <a:spcPct val="100000"/>
                        </a:lnSpc>
                        <a:spcAft>
                          <a:spcPts val="0"/>
                        </a:spcAft>
                      </a:pPr>
                      <a:r>
                        <a:rPr sz="850" b="1" i="0">
                          <a:solidFill>
                            <a:srgbClr val="1C4587"/>
                          </a:solidFill>
                          <a:latin typeface="Inter"/>
                        </a:rPr>
                        <a:t>Satu stage (gcc ikut)</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726 MB</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pPr algn="l">
                        <a:lnSpc>
                          <a:spcPct val="100000"/>
                        </a:lnSpc>
                        <a:spcAft>
                          <a:spcPts val="0"/>
                        </a:spcAft>
                      </a:pPr>
                      <a:r>
                        <a:rPr sz="850" b="1" i="0">
                          <a:solidFill>
                            <a:srgbClr val="1C4587"/>
                          </a:solidFill>
                          <a:latin typeface="Inter"/>
                        </a:rPr>
                        <a:t>Multi-stage (tanpa gcc)</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278 MB</a:t>
                      </a:r>
                    </a:p>
                  </a:txBody>
                  <a:tcPr marL="73152" marR="73152" marT="36576" marB="36576" anchor="ctr">
                    <a:solidFill>
                      <a:srgbClr val="F3F4F6"/>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Multi-stage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compiler ikut ke image</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72237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02-multi-stage/before.Dockerfile</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7863840" cy="2980944"/>
          </a:xfrm>
          <a:prstGeom prst="rect">
            <a:avLst/>
          </a:prstGeom>
          <a:noFill/>
        </p:spPr>
        <p:txBody>
          <a:bodyPr wrap="none" lIns="146304" tIns="91440" rIns="146304" bIns="54864">
            <a:spAutoFit/>
          </a:bodyPr>
          <a:lstStyle/>
          <a:p>
            <a:pPr>
              <a:lnSpc>
                <a:spcPct val="111111"/>
              </a:lnSpc>
              <a:spcAft>
                <a:spcPts val="0"/>
              </a:spcAft>
            </a:pPr>
            <a:r>
              <a:rPr sz="900" i="0">
                <a:solidFill>
                  <a:srgbClr val="5C6773"/>
                </a:solidFill>
                <a:latin typeface="Inconsolata"/>
              </a:rPr>
              <a:t> 1  </a:t>
            </a:r>
            <a:r>
              <a:rPr sz="900" i="1">
                <a:solidFill>
                  <a:srgbClr val="8B98A8"/>
                </a:solidFill>
                <a:latin typeface="Inconsolata"/>
              </a:rPr>
              <a:t># Multi-stage - BEFORE (satu stage)</a:t>
            </a:r>
          </a:p>
          <a:p>
            <a:pPr>
              <a:lnSpc>
                <a:spcPct val="111111"/>
              </a:lnSpc>
              <a:spcAft>
                <a:spcPts val="0"/>
              </a:spcAft>
            </a:pPr>
            <a:r>
              <a:rPr sz="900" i="0">
                <a:solidFill>
                  <a:srgbClr val="5C6773"/>
                </a:solidFill>
                <a:latin typeface="Inconsolata"/>
              </a:rPr>
              <a:t> 2  </a:t>
            </a:r>
            <a:r>
              <a:rPr sz="900" i="1">
                <a:solidFill>
                  <a:srgbClr val="8B98A8"/>
                </a:solidFill>
                <a:latin typeface="Inconsolata"/>
              </a:rPr>
              <a:t># Compiler dan header C dibutuhkan untuk pip install psycopg[c],</a:t>
            </a:r>
          </a:p>
          <a:p>
            <a:pPr>
              <a:lnSpc>
                <a:spcPct val="111111"/>
              </a:lnSpc>
              <a:spcAft>
                <a:spcPts val="0"/>
              </a:spcAft>
            </a:pPr>
            <a:r>
              <a:rPr sz="900" i="0">
                <a:solidFill>
                  <a:srgbClr val="5C6773"/>
                </a:solidFill>
                <a:latin typeface="Inconsolata"/>
              </a:rPr>
              <a:t> 3  </a:t>
            </a:r>
            <a:r>
              <a:rPr sz="900" i="1">
                <a:solidFill>
                  <a:srgbClr val="8B98A8"/>
                </a:solidFill>
                <a:latin typeface="Inconsolata"/>
              </a:rPr>
              <a:t># lalu ikut terbawa ke image production walaupun tidak dipakai saat aplikasi berjalan.</a:t>
            </a:r>
          </a:p>
          <a:p>
            <a:pPr>
              <a:lnSpc>
                <a:spcPct val="111111"/>
              </a:lnSpc>
              <a:spcAft>
                <a:spcPts val="0"/>
              </a:spcAft>
            </a:pPr>
            <a:r>
              <a:rPr sz="900" i="0">
                <a:solidFill>
                  <a:srgbClr val="5C6773"/>
                </a:solidFill>
                <a:latin typeface="Inconsolata"/>
              </a:rPr>
              <a:t> 4  </a:t>
            </a:r>
            <a:r>
              <a:rPr sz="900" i="0">
                <a:solidFill>
                  <a:srgbClr val="FF8E6E"/>
                </a:solidFill>
                <a:latin typeface="Inconsolata"/>
              </a:rPr>
              <a:t>FROM</a:t>
            </a:r>
            <a:r>
              <a:rPr sz="900" i="0">
                <a:solidFill>
                  <a:srgbClr val="E6EDF3"/>
                </a:solidFill>
                <a:latin typeface="Inconsolata"/>
              </a:rPr>
              <a:t> python:3.12-slim</a:t>
            </a:r>
          </a:p>
          <a:p>
            <a:pPr>
              <a:lnSpc>
                <a:spcPct val="111111"/>
              </a:lnSpc>
              <a:spcAft>
                <a:spcPts val="0"/>
              </a:spcAft>
            </a:pPr>
            <a:r>
              <a:rPr sz="900" i="0">
                <a:solidFill>
                  <a:srgbClr val="5C6773"/>
                </a:solidFill>
                <a:latin typeface="Inconsolata"/>
              </a:rPr>
              <a:t> 5  </a:t>
            </a:r>
            <a:r>
              <a:rPr sz="900" i="0">
                <a:solidFill>
                  <a:srgbClr val="E6EDF3"/>
                </a:solidFill>
                <a:latin typeface="Inconsolata"/>
              </a:rPr>
              <a:t> </a:t>
            </a:r>
          </a:p>
          <a:p>
            <a:pPr>
              <a:lnSpc>
                <a:spcPct val="111111"/>
              </a:lnSpc>
              <a:spcAft>
                <a:spcPts val="0"/>
              </a:spcAft>
            </a:pPr>
            <a:r>
              <a:rPr sz="900" i="0">
                <a:solidFill>
                  <a:srgbClr val="5C6773"/>
                </a:solidFill>
                <a:latin typeface="Inconsolata"/>
              </a:rPr>
              <a:t> 6  </a:t>
            </a:r>
            <a:r>
              <a:rPr sz="900" i="0">
                <a:solidFill>
                  <a:srgbClr val="FF8E6E"/>
                </a:solidFill>
                <a:latin typeface="Inconsolata"/>
              </a:rPr>
              <a:t>RUN</a:t>
            </a:r>
            <a:r>
              <a:rPr sz="900" i="0">
                <a:solidFill>
                  <a:srgbClr val="E6EDF3"/>
                </a:solidFill>
                <a:latin typeface="Inconsolata"/>
              </a:rPr>
              <a:t> apt-get update \</a:t>
            </a:r>
          </a:p>
          <a:p>
            <a:pPr>
              <a:lnSpc>
                <a:spcPct val="111111"/>
              </a:lnSpc>
              <a:spcAft>
                <a:spcPts val="0"/>
              </a:spcAft>
            </a:pPr>
            <a:r>
              <a:rPr sz="900" i="0">
                <a:solidFill>
                  <a:srgbClr val="5C6773"/>
                </a:solidFill>
                <a:latin typeface="Inconsolata"/>
              </a:rPr>
              <a:t> 7  </a:t>
            </a:r>
            <a:r>
              <a:rPr sz="900" i="0">
                <a:solidFill>
                  <a:srgbClr val="E6EDF3"/>
                </a:solidFill>
                <a:latin typeface="Inconsolata"/>
              </a:rPr>
              <a:t>    &amp;&amp; apt-get install -y --no-install-recommends build-essential libpq-dev \</a:t>
            </a:r>
          </a:p>
          <a:p>
            <a:pPr>
              <a:lnSpc>
                <a:spcPct val="111111"/>
              </a:lnSpc>
              <a:spcAft>
                <a:spcPts val="0"/>
              </a:spcAft>
            </a:pPr>
            <a:r>
              <a:rPr sz="900" i="0">
                <a:solidFill>
                  <a:srgbClr val="5C6773"/>
                </a:solidFill>
                <a:latin typeface="Inconsolata"/>
              </a:rPr>
              <a:t> 8  </a:t>
            </a:r>
            <a:r>
              <a:rPr sz="900" i="0">
                <a:solidFill>
                  <a:srgbClr val="E6EDF3"/>
                </a:solidFill>
                <a:latin typeface="Inconsolata"/>
              </a:rPr>
              <a:t>    &amp;&amp; rm -rf /var/lib/apt/lists/*</a:t>
            </a:r>
          </a:p>
          <a:p>
            <a:pPr>
              <a:lnSpc>
                <a:spcPct val="111111"/>
              </a:lnSpc>
              <a:spcAft>
                <a:spcPts val="0"/>
              </a:spcAft>
            </a:pPr>
            <a:r>
              <a:rPr sz="900" i="0">
                <a:solidFill>
                  <a:srgbClr val="5C6773"/>
                </a:solidFill>
                <a:latin typeface="Inconsolata"/>
              </a:rPr>
              <a:t> 9  </a:t>
            </a:r>
            <a:r>
              <a:rPr sz="900" i="0">
                <a:solidFill>
                  <a:srgbClr val="FF8E6E"/>
                </a:solidFill>
                <a:latin typeface="Inconsolata"/>
              </a:rPr>
              <a:t>WORKDIR</a:t>
            </a:r>
            <a:r>
              <a:rPr sz="900" i="0">
                <a:solidFill>
                  <a:srgbClr val="E6EDF3"/>
                </a:solidFill>
                <a:latin typeface="Inconsolata"/>
              </a:rPr>
              <a:t> /app</a:t>
            </a:r>
          </a:p>
          <a:p>
            <a:pPr>
              <a:lnSpc>
                <a:spcPct val="111111"/>
              </a:lnSpc>
              <a:spcAft>
                <a:spcPts val="0"/>
              </a:spcAft>
            </a:pPr>
            <a:r>
              <a:rPr sz="900" i="0">
                <a:solidFill>
                  <a:srgbClr val="5C6773"/>
                </a:solidFill>
                <a:latin typeface="Inconsolata"/>
              </a:rPr>
              <a:t>10  </a:t>
            </a:r>
            <a:r>
              <a:rPr sz="900" i="0">
                <a:solidFill>
                  <a:srgbClr val="FF8E6E"/>
                </a:solidFill>
                <a:latin typeface="Inconsolata"/>
              </a:rPr>
              <a:t>COPY</a:t>
            </a:r>
            <a:r>
              <a:rPr sz="900" i="0">
                <a:solidFill>
                  <a:srgbClr val="E6EDF3"/>
                </a:solidFill>
                <a:latin typeface="Inconsolata"/>
              </a:rPr>
              <a:t> requirements.txt .</a:t>
            </a:r>
          </a:p>
          <a:p>
            <a:pPr>
              <a:lnSpc>
                <a:spcPct val="111111"/>
              </a:lnSpc>
              <a:spcAft>
                <a:spcPts val="0"/>
              </a:spcAft>
            </a:pPr>
            <a:r>
              <a:rPr sz="900" i="0">
                <a:solidFill>
                  <a:srgbClr val="5C6773"/>
                </a:solidFill>
                <a:latin typeface="Inconsolata"/>
              </a:rPr>
              <a:t>11  </a:t>
            </a:r>
            <a:r>
              <a:rPr sz="900" i="0">
                <a:solidFill>
                  <a:srgbClr val="FF8E6E"/>
                </a:solidFill>
                <a:latin typeface="Inconsolata"/>
              </a:rPr>
              <a:t>RUN</a:t>
            </a:r>
            <a:r>
              <a:rPr sz="900" i="0">
                <a:solidFill>
                  <a:srgbClr val="E6EDF3"/>
                </a:solidFill>
                <a:latin typeface="Inconsolata"/>
              </a:rPr>
              <a:t> pip install --no-cache-dir -r requirements.txt</a:t>
            </a:r>
          </a:p>
          <a:p>
            <a:pPr>
              <a:lnSpc>
                <a:spcPct val="111111"/>
              </a:lnSpc>
              <a:spcAft>
                <a:spcPts val="0"/>
              </a:spcAft>
            </a:pPr>
            <a:r>
              <a:rPr sz="900" i="0">
                <a:solidFill>
                  <a:srgbClr val="5C6773"/>
                </a:solidFill>
                <a:latin typeface="Inconsolata"/>
              </a:rPr>
              <a:t>12  </a:t>
            </a:r>
            <a:r>
              <a:rPr sz="900" i="0">
                <a:solidFill>
                  <a:srgbClr val="FF8E6E"/>
                </a:solidFill>
                <a:latin typeface="Inconsolata"/>
              </a:rPr>
              <a:t>COPY</a:t>
            </a:r>
            <a:r>
              <a:rPr sz="900" i="0">
                <a:solidFill>
                  <a:srgbClr val="E6EDF3"/>
                </a:solidFill>
                <a:latin typeface="Inconsolata"/>
              </a:rPr>
              <a:t> app ./app</a:t>
            </a:r>
          </a:p>
          <a:p>
            <a:pPr>
              <a:lnSpc>
                <a:spcPct val="111111"/>
              </a:lnSpc>
              <a:spcAft>
                <a:spcPts val="0"/>
              </a:spcAft>
            </a:pPr>
            <a:r>
              <a:rPr sz="900" i="0">
                <a:solidFill>
                  <a:srgbClr val="5C6773"/>
                </a:solidFill>
                <a:latin typeface="Inconsolata"/>
              </a:rPr>
              <a:t>13  </a:t>
            </a:r>
            <a:r>
              <a:rPr sz="900" i="0">
                <a:solidFill>
                  <a:srgbClr val="E6EDF3"/>
                </a:solidFill>
                <a:latin typeface="Inconsolata"/>
              </a:rPr>
              <a:t> </a:t>
            </a:r>
          </a:p>
          <a:p>
            <a:pPr>
              <a:lnSpc>
                <a:spcPct val="111111"/>
              </a:lnSpc>
              <a:spcAft>
                <a:spcPts val="0"/>
              </a:spcAft>
            </a:pPr>
            <a:r>
              <a:rPr sz="900" i="0">
                <a:solidFill>
                  <a:srgbClr val="5C6773"/>
                </a:solidFill>
                <a:latin typeface="Inconsolata"/>
              </a:rPr>
              <a:t>14  </a:t>
            </a:r>
            <a:r>
              <a:rPr sz="900" i="0">
                <a:solidFill>
                  <a:srgbClr val="FF8E6E"/>
                </a:solidFill>
                <a:latin typeface="Inconsolata"/>
              </a:rPr>
              <a:t>RUN</a:t>
            </a:r>
            <a:r>
              <a:rPr sz="900" i="0">
                <a:solidFill>
                  <a:srgbClr val="E6EDF3"/>
                </a:solidFill>
                <a:latin typeface="Inconsolata"/>
              </a:rPr>
              <a:t> useradd --create-home appuser</a:t>
            </a:r>
          </a:p>
          <a:p>
            <a:pPr>
              <a:lnSpc>
                <a:spcPct val="111111"/>
              </a:lnSpc>
              <a:spcAft>
                <a:spcPts val="0"/>
              </a:spcAft>
            </a:pPr>
            <a:r>
              <a:rPr sz="900" i="0">
                <a:solidFill>
                  <a:srgbClr val="5C6773"/>
                </a:solidFill>
                <a:latin typeface="Inconsolata"/>
              </a:rPr>
              <a:t>15  </a:t>
            </a:r>
            <a:r>
              <a:rPr sz="900" i="0">
                <a:solidFill>
                  <a:srgbClr val="FF8E6E"/>
                </a:solidFill>
                <a:latin typeface="Inconsolata"/>
              </a:rPr>
              <a:t>USER</a:t>
            </a:r>
            <a:r>
              <a:rPr sz="900" i="0">
                <a:solidFill>
                  <a:srgbClr val="E6EDF3"/>
                </a:solidFill>
                <a:latin typeface="Inconsolata"/>
              </a:rPr>
              <a:t> appuser</a:t>
            </a:r>
          </a:p>
          <a:p>
            <a:pPr>
              <a:lnSpc>
                <a:spcPct val="111111"/>
              </a:lnSpc>
              <a:spcAft>
                <a:spcPts val="0"/>
              </a:spcAft>
            </a:pPr>
            <a:r>
              <a:rPr sz="900" i="0">
                <a:solidFill>
                  <a:srgbClr val="5C6773"/>
                </a:solidFill>
                <a:latin typeface="Inconsolata"/>
              </a:rPr>
              <a:t>16  </a:t>
            </a:r>
            <a:r>
              <a:rPr sz="900" i="0">
                <a:solidFill>
                  <a:srgbClr val="FF8E6E"/>
                </a:solidFill>
                <a:latin typeface="Inconsolata"/>
              </a:rPr>
              <a:t>CMD</a:t>
            </a:r>
            <a:r>
              <a:rPr sz="900" i="0">
                <a:solidFill>
                  <a:srgbClr val="E6EDF3"/>
                </a:solidFill>
                <a:latin typeface="Inconsolata"/>
              </a:rPr>
              <a:t> ["uvicorn", "app.main:app", "--host", "0.0.0.0", "--port", "8000"]</a:t>
            </a:r>
          </a:p>
        </p:txBody>
      </p:sp>
      <p:sp>
        <p:nvSpPr>
          <p:cNvPr id="29" name="Box 12"/>
          <p:cNvSpPr/>
          <p:nvPr/>
        </p:nvSpPr>
        <p:spPr>
          <a:xfrm>
            <a:off x="704088" y="2592324"/>
            <a:ext cx="7699248" cy="448056"/>
          </a:xfrm>
          <a:prstGeom prst="roundRect">
            <a:avLst>
              <a:gd name="adj" fmla="val 10204"/>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8284463" y="269748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3354323"/>
            <a:ext cx="7699248" cy="143255"/>
          </a:xfrm>
          <a:prstGeom prst="roundRect">
            <a:avLst>
              <a:gd name="adj" fmla="val 31914"/>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8284463" y="3307079"/>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Multi-stage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02-multi-stage/before.Dockerfile</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sesi-11-docker-kubernetes-cicd/02-multi-stage</a:t>
            </a:r>
          </a:p>
          <a:p>
            <a:pPr>
              <a:lnSpc>
                <a:spcPct val="111111"/>
              </a:lnSpc>
              <a:spcAft>
                <a:spcPts val="0"/>
              </a:spcAft>
            </a:pPr>
            <a:r>
              <a:rPr sz="900" i="0">
                <a:solidFill>
                  <a:srgbClr val="82B1FF"/>
                </a:solidFill>
                <a:latin typeface="Inconsolata"/>
              </a:rPr>
              <a:t>$ docker build -f before.Dockerfile -t demo-multistage:before .</a:t>
            </a:r>
          </a:p>
        </p:txBody>
      </p:sp>
      <p:pic>
        <p:nvPicPr>
          <p:cNvPr id="29" name="Image 12" descr="s11-02-multi-stage-before.png"/>
          <p:cNvPicPr>
            <a:picLocks noChangeAspect="1"/>
          </p:cNvPicPr>
          <p:nvPr/>
        </p:nvPicPr>
        <p:blipFill>
          <a:blip r:embed="rId2"/>
          <a:stretch>
            <a:fillRect/>
          </a:stretch>
        </p:blipFill>
        <p:spPr>
          <a:xfrm>
            <a:off x="621792" y="2322576"/>
            <a:ext cx="4297680" cy="1249720"/>
          </a:xfrm>
          <a:prstGeom prst="rect">
            <a:avLst/>
          </a:prstGeom>
        </p:spPr>
      </p:pic>
      <p:sp>
        <p:nvSpPr>
          <p:cNvPr id="30" name="Box 13"/>
          <p:cNvSpPr/>
          <p:nvPr/>
        </p:nvSpPr>
        <p:spPr>
          <a:xfrm>
            <a:off x="5074920" y="1481328"/>
            <a:ext cx="3410712" cy="3218688"/>
          </a:xfrm>
          <a:prstGeom prst="roundRect">
            <a:avLst>
              <a:gd name="adj" fmla="val 3409"/>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C0392B"/>
                </a:solidFill>
                <a:latin typeface="Inter"/>
              </a:rPr>
              <a:t>Masalahnya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Compiler dan header C di-install di image akhir (baris 6-8)</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Install dependency yang perlu di-compile (baris 11)</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Image 726 MB, dan gcc ada di dalamnya.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Multi-stage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stage builder terpisah (1/2)</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72237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02-multi-stage/after.Dockerfile</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7863840" cy="2980944"/>
          </a:xfrm>
          <a:prstGeom prst="rect">
            <a:avLst/>
          </a:prstGeom>
          <a:noFill/>
        </p:spPr>
        <p:txBody>
          <a:bodyPr wrap="none" lIns="146304" tIns="91440" rIns="146304" bIns="54864">
            <a:spAutoFit/>
          </a:bodyPr>
          <a:lstStyle/>
          <a:p>
            <a:pPr>
              <a:lnSpc>
                <a:spcPct val="107843"/>
              </a:lnSpc>
              <a:spcAft>
                <a:spcPts val="0"/>
              </a:spcAft>
            </a:pPr>
            <a:r>
              <a:rPr sz="850" i="0">
                <a:solidFill>
                  <a:srgbClr val="5C6773"/>
                </a:solidFill>
                <a:latin typeface="Inconsolata"/>
              </a:rPr>
              <a:t> 1  </a:t>
            </a:r>
            <a:r>
              <a:rPr sz="850" i="1">
                <a:solidFill>
                  <a:srgbClr val="8B98A8"/>
                </a:solidFill>
                <a:latin typeface="Inconsolata"/>
              </a:rPr>
              <a:t># Multi-stage - AFTER</a:t>
            </a:r>
          </a:p>
          <a:p>
            <a:pPr>
              <a:lnSpc>
                <a:spcPct val="107843"/>
              </a:lnSpc>
              <a:spcAft>
                <a:spcPts val="0"/>
              </a:spcAft>
            </a:pPr>
            <a:r>
              <a:rPr sz="850" i="0">
                <a:solidFill>
                  <a:srgbClr val="5C6773"/>
                </a:solidFill>
                <a:latin typeface="Inconsolata"/>
              </a:rPr>
              <a:t> 2  </a:t>
            </a:r>
            <a:r>
              <a:rPr sz="850" i="1">
                <a:solidFill>
                  <a:srgbClr val="8B98A8"/>
                </a:solidFill>
                <a:latin typeface="Inconsolata"/>
              </a:rPr>
              <a:t># Stage "builder": punya compiler, meng-install semua dependency ke /opt/venv</a:t>
            </a:r>
          </a:p>
          <a:p>
            <a:pPr>
              <a:lnSpc>
                <a:spcPct val="107843"/>
              </a:lnSpc>
              <a:spcAft>
                <a:spcPts val="0"/>
              </a:spcAft>
            </a:pPr>
            <a:r>
              <a:rPr sz="850" i="0">
                <a:solidFill>
                  <a:srgbClr val="5C6773"/>
                </a:solidFill>
                <a:latin typeface="Inconsolata"/>
              </a:rPr>
              <a:t> 3  </a:t>
            </a:r>
            <a:r>
              <a:rPr sz="850" i="1">
                <a:solidFill>
                  <a:srgbClr val="8B98A8"/>
                </a:solidFill>
                <a:latin typeface="Inconsolata"/>
              </a:rPr>
              <a:t># Stage akhir   : hanya runtime (libpq5) + hasil install dari builder</a:t>
            </a:r>
          </a:p>
          <a:p>
            <a:pPr>
              <a:lnSpc>
                <a:spcPct val="107843"/>
              </a:lnSpc>
              <a:spcAft>
                <a:spcPts val="0"/>
              </a:spcAft>
            </a:pPr>
            <a:r>
              <a:rPr sz="850" i="0">
                <a:solidFill>
                  <a:srgbClr val="5C6773"/>
                </a:solidFill>
                <a:latin typeface="Inconsolata"/>
              </a:rPr>
              <a:t> 4  </a:t>
            </a:r>
            <a:r>
              <a:rPr sz="850" i="1">
                <a:solidFill>
                  <a:srgbClr val="8B98A8"/>
                </a:solidFill>
                <a:latin typeface="Inconsolata"/>
              </a:rPr>
              <a:t># Compiler tidak ikut ke image akhir, jadi image lebih kecil dan celah keamanannya lebih sedikit.</a:t>
            </a:r>
          </a:p>
          <a:p>
            <a:pPr>
              <a:lnSpc>
                <a:spcPct val="107843"/>
              </a:lnSpc>
              <a:spcAft>
                <a:spcPts val="0"/>
              </a:spcAft>
            </a:pPr>
            <a:r>
              <a:rPr sz="850" i="0">
                <a:solidFill>
                  <a:srgbClr val="5C6773"/>
                </a:solidFill>
                <a:latin typeface="Inconsolata"/>
              </a:rPr>
              <a:t> 5  </a:t>
            </a:r>
            <a:r>
              <a:rPr sz="850" i="0">
                <a:solidFill>
                  <a:srgbClr val="FF8E6E"/>
                </a:solidFill>
                <a:latin typeface="Inconsolata"/>
              </a:rPr>
              <a:t>FROM</a:t>
            </a:r>
            <a:r>
              <a:rPr sz="850" i="0">
                <a:solidFill>
                  <a:srgbClr val="E6EDF3"/>
                </a:solidFill>
                <a:latin typeface="Inconsolata"/>
              </a:rPr>
              <a:t> python:3.12-slim AS builder</a:t>
            </a:r>
          </a:p>
          <a:p>
            <a:pPr>
              <a:lnSpc>
                <a:spcPct val="107843"/>
              </a:lnSpc>
              <a:spcAft>
                <a:spcPts val="0"/>
              </a:spcAft>
            </a:pPr>
            <a:r>
              <a:rPr sz="850" i="0">
                <a:solidFill>
                  <a:srgbClr val="5C6773"/>
                </a:solidFill>
                <a:latin typeface="Inconsolata"/>
              </a:rPr>
              <a:t> 6  </a:t>
            </a:r>
            <a:r>
              <a:rPr sz="850" i="0">
                <a:solidFill>
                  <a:srgbClr val="E6EDF3"/>
                </a:solidFill>
                <a:latin typeface="Inconsolata"/>
              </a:rPr>
              <a:t> </a:t>
            </a:r>
          </a:p>
          <a:p>
            <a:pPr>
              <a:lnSpc>
                <a:spcPct val="107843"/>
              </a:lnSpc>
              <a:spcAft>
                <a:spcPts val="0"/>
              </a:spcAft>
            </a:pPr>
            <a:r>
              <a:rPr sz="850" i="0">
                <a:solidFill>
                  <a:srgbClr val="5C6773"/>
                </a:solidFill>
                <a:latin typeface="Inconsolata"/>
              </a:rPr>
              <a:t> 7  </a:t>
            </a:r>
            <a:r>
              <a:rPr sz="850" i="0">
                <a:solidFill>
                  <a:srgbClr val="FF8E6E"/>
                </a:solidFill>
                <a:latin typeface="Inconsolata"/>
              </a:rPr>
              <a:t>RUN</a:t>
            </a:r>
            <a:r>
              <a:rPr sz="850" i="0">
                <a:solidFill>
                  <a:srgbClr val="E6EDF3"/>
                </a:solidFill>
                <a:latin typeface="Inconsolata"/>
              </a:rPr>
              <a:t> apt-get update \</a:t>
            </a:r>
          </a:p>
          <a:p>
            <a:pPr>
              <a:lnSpc>
                <a:spcPct val="107843"/>
              </a:lnSpc>
              <a:spcAft>
                <a:spcPts val="0"/>
              </a:spcAft>
            </a:pPr>
            <a:r>
              <a:rPr sz="850" i="0">
                <a:solidFill>
                  <a:srgbClr val="5C6773"/>
                </a:solidFill>
                <a:latin typeface="Inconsolata"/>
              </a:rPr>
              <a:t> 8  </a:t>
            </a:r>
            <a:r>
              <a:rPr sz="850" i="0">
                <a:solidFill>
                  <a:srgbClr val="E6EDF3"/>
                </a:solidFill>
                <a:latin typeface="Inconsolata"/>
              </a:rPr>
              <a:t>    &amp;&amp; apt-get install -y --no-install-recommends build-essential libpq-dev</a:t>
            </a:r>
          </a:p>
          <a:p>
            <a:pPr>
              <a:lnSpc>
                <a:spcPct val="107843"/>
              </a:lnSpc>
              <a:spcAft>
                <a:spcPts val="0"/>
              </a:spcAft>
            </a:pPr>
            <a:r>
              <a:rPr sz="850" i="0">
                <a:solidFill>
                  <a:srgbClr val="5C6773"/>
                </a:solidFill>
                <a:latin typeface="Inconsolata"/>
              </a:rPr>
              <a:t> 9  </a:t>
            </a:r>
            <a:r>
              <a:rPr sz="850" i="0">
                <a:solidFill>
                  <a:srgbClr val="FF8E6E"/>
                </a:solidFill>
                <a:latin typeface="Inconsolata"/>
              </a:rPr>
              <a:t>RUN</a:t>
            </a:r>
            <a:r>
              <a:rPr sz="850" i="0">
                <a:solidFill>
                  <a:srgbClr val="E6EDF3"/>
                </a:solidFill>
                <a:latin typeface="Inconsolata"/>
              </a:rPr>
              <a:t> python -m venv /opt/venv</a:t>
            </a:r>
          </a:p>
          <a:p>
            <a:pPr>
              <a:lnSpc>
                <a:spcPct val="107843"/>
              </a:lnSpc>
              <a:spcAft>
                <a:spcPts val="0"/>
              </a:spcAft>
            </a:pPr>
            <a:r>
              <a:rPr sz="850" i="0">
                <a:solidFill>
                  <a:srgbClr val="5C6773"/>
                </a:solidFill>
                <a:latin typeface="Inconsolata"/>
              </a:rPr>
              <a:t>10  </a:t>
            </a:r>
            <a:r>
              <a:rPr sz="850" i="0">
                <a:solidFill>
                  <a:srgbClr val="FF8E6E"/>
                </a:solidFill>
                <a:latin typeface="Inconsolata"/>
              </a:rPr>
              <a:t>ENV</a:t>
            </a:r>
            <a:r>
              <a:rPr sz="850" i="0">
                <a:solidFill>
                  <a:srgbClr val="E6EDF3"/>
                </a:solidFill>
                <a:latin typeface="Inconsolata"/>
              </a:rPr>
              <a:t> PATH="/opt/venv/bin:$PATH"</a:t>
            </a:r>
          </a:p>
          <a:p>
            <a:pPr>
              <a:lnSpc>
                <a:spcPct val="107843"/>
              </a:lnSpc>
              <a:spcAft>
                <a:spcPts val="0"/>
              </a:spcAft>
            </a:pPr>
            <a:r>
              <a:rPr sz="850" i="0">
                <a:solidFill>
                  <a:srgbClr val="5C6773"/>
                </a:solidFill>
                <a:latin typeface="Inconsolata"/>
              </a:rPr>
              <a:t>11  </a:t>
            </a:r>
            <a:r>
              <a:rPr sz="850" i="0">
                <a:solidFill>
                  <a:srgbClr val="FF8E6E"/>
                </a:solidFill>
                <a:latin typeface="Inconsolata"/>
              </a:rPr>
              <a:t>COPY</a:t>
            </a:r>
            <a:r>
              <a:rPr sz="850" i="0">
                <a:solidFill>
                  <a:srgbClr val="E6EDF3"/>
                </a:solidFill>
                <a:latin typeface="Inconsolata"/>
              </a:rPr>
              <a:t> requirements.txt .</a:t>
            </a:r>
          </a:p>
          <a:p>
            <a:pPr>
              <a:lnSpc>
                <a:spcPct val="107843"/>
              </a:lnSpc>
              <a:spcAft>
                <a:spcPts val="0"/>
              </a:spcAft>
            </a:pPr>
            <a:r>
              <a:rPr sz="850" i="0">
                <a:solidFill>
                  <a:srgbClr val="5C6773"/>
                </a:solidFill>
                <a:latin typeface="Inconsolata"/>
              </a:rPr>
              <a:t>12  </a:t>
            </a:r>
            <a:r>
              <a:rPr sz="850" i="0">
                <a:solidFill>
                  <a:srgbClr val="FF8E6E"/>
                </a:solidFill>
                <a:latin typeface="Inconsolata"/>
              </a:rPr>
              <a:t>RUN</a:t>
            </a:r>
            <a:r>
              <a:rPr sz="850" i="0">
                <a:solidFill>
                  <a:srgbClr val="E6EDF3"/>
                </a:solidFill>
                <a:latin typeface="Inconsolata"/>
              </a:rPr>
              <a:t> pip install --no-cache-dir -r requirements.txt</a:t>
            </a:r>
          </a:p>
        </p:txBody>
      </p:sp>
      <p:sp>
        <p:nvSpPr>
          <p:cNvPr id="29" name="Box 12"/>
          <p:cNvSpPr/>
          <p:nvPr/>
        </p:nvSpPr>
        <p:spPr>
          <a:xfrm>
            <a:off x="704088" y="2387473"/>
            <a:ext cx="7699248" cy="1109218"/>
          </a:xfrm>
          <a:prstGeom prst="roundRect">
            <a:avLst>
              <a:gd name="adj" fmla="val 4121"/>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8284463" y="282321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Multi-stage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stage builder terpisah (2/2)</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72237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02-multi-stage/after.Dockerfile</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7863840" cy="2980944"/>
          </a:xfrm>
          <a:prstGeom prst="rect">
            <a:avLst/>
          </a:prstGeom>
          <a:noFill/>
        </p:spPr>
        <p:txBody>
          <a:bodyPr wrap="none" lIns="146304" tIns="91440" rIns="146304" bIns="54864">
            <a:spAutoFit/>
          </a:bodyPr>
          <a:lstStyle/>
          <a:p>
            <a:pPr>
              <a:lnSpc>
                <a:spcPct val="107843"/>
              </a:lnSpc>
              <a:spcAft>
                <a:spcPts val="0"/>
              </a:spcAft>
            </a:pPr>
            <a:r>
              <a:rPr sz="850" i="0">
                <a:solidFill>
                  <a:srgbClr val="5C6773"/>
                </a:solidFill>
                <a:latin typeface="Inconsolata"/>
              </a:rPr>
              <a:t>15  </a:t>
            </a:r>
            <a:r>
              <a:rPr sz="850" i="0">
                <a:solidFill>
                  <a:srgbClr val="FF8E6E"/>
                </a:solidFill>
                <a:latin typeface="Inconsolata"/>
              </a:rPr>
              <a:t>FROM</a:t>
            </a:r>
            <a:r>
              <a:rPr sz="850" i="0">
                <a:solidFill>
                  <a:srgbClr val="E6EDF3"/>
                </a:solidFill>
                <a:latin typeface="Inconsolata"/>
              </a:rPr>
              <a:t> python:3.12-slim</a:t>
            </a:r>
          </a:p>
          <a:p>
            <a:pPr>
              <a:lnSpc>
                <a:spcPct val="107843"/>
              </a:lnSpc>
              <a:spcAft>
                <a:spcPts val="0"/>
              </a:spcAft>
            </a:pPr>
            <a:r>
              <a:rPr sz="850" i="0">
                <a:solidFill>
                  <a:srgbClr val="5C6773"/>
                </a:solidFill>
                <a:latin typeface="Inconsolata"/>
              </a:rPr>
              <a:t>16  </a:t>
            </a:r>
            <a:r>
              <a:rPr sz="850" i="0">
                <a:solidFill>
                  <a:srgbClr val="E6EDF3"/>
                </a:solidFill>
                <a:latin typeface="Inconsolata"/>
              </a:rPr>
              <a:t> </a:t>
            </a:r>
          </a:p>
          <a:p>
            <a:pPr>
              <a:lnSpc>
                <a:spcPct val="107843"/>
              </a:lnSpc>
              <a:spcAft>
                <a:spcPts val="0"/>
              </a:spcAft>
            </a:pPr>
            <a:r>
              <a:rPr sz="850" i="0">
                <a:solidFill>
                  <a:srgbClr val="5C6773"/>
                </a:solidFill>
                <a:latin typeface="Inconsolata"/>
              </a:rPr>
              <a:t>17  </a:t>
            </a:r>
            <a:r>
              <a:rPr sz="850" i="0">
                <a:solidFill>
                  <a:srgbClr val="FF8E6E"/>
                </a:solidFill>
                <a:latin typeface="Inconsolata"/>
              </a:rPr>
              <a:t>RUN</a:t>
            </a:r>
            <a:r>
              <a:rPr sz="850" i="0">
                <a:solidFill>
                  <a:srgbClr val="E6EDF3"/>
                </a:solidFill>
                <a:latin typeface="Inconsolata"/>
              </a:rPr>
              <a:t> apt-get update \</a:t>
            </a:r>
          </a:p>
          <a:p>
            <a:pPr>
              <a:lnSpc>
                <a:spcPct val="107843"/>
              </a:lnSpc>
              <a:spcAft>
                <a:spcPts val="0"/>
              </a:spcAft>
            </a:pPr>
            <a:r>
              <a:rPr sz="850" i="0">
                <a:solidFill>
                  <a:srgbClr val="5C6773"/>
                </a:solidFill>
                <a:latin typeface="Inconsolata"/>
              </a:rPr>
              <a:t>18  </a:t>
            </a:r>
            <a:r>
              <a:rPr sz="850" i="0">
                <a:solidFill>
                  <a:srgbClr val="E6EDF3"/>
                </a:solidFill>
                <a:latin typeface="Inconsolata"/>
              </a:rPr>
              <a:t>    &amp;&amp; apt-get install -y --no-install-recommends libpq5 \</a:t>
            </a:r>
          </a:p>
          <a:p>
            <a:pPr>
              <a:lnSpc>
                <a:spcPct val="107843"/>
              </a:lnSpc>
              <a:spcAft>
                <a:spcPts val="0"/>
              </a:spcAft>
            </a:pPr>
            <a:r>
              <a:rPr sz="850" i="0">
                <a:solidFill>
                  <a:srgbClr val="5C6773"/>
                </a:solidFill>
                <a:latin typeface="Inconsolata"/>
              </a:rPr>
              <a:t>19  </a:t>
            </a:r>
            <a:r>
              <a:rPr sz="850" i="0">
                <a:solidFill>
                  <a:srgbClr val="E6EDF3"/>
                </a:solidFill>
                <a:latin typeface="Inconsolata"/>
              </a:rPr>
              <a:t>    &amp;&amp; rm -rf /var/lib/apt/lists/*</a:t>
            </a:r>
          </a:p>
          <a:p>
            <a:pPr>
              <a:lnSpc>
                <a:spcPct val="107843"/>
              </a:lnSpc>
              <a:spcAft>
                <a:spcPts val="0"/>
              </a:spcAft>
            </a:pPr>
            <a:r>
              <a:rPr sz="850" i="0">
                <a:solidFill>
                  <a:srgbClr val="5C6773"/>
                </a:solidFill>
                <a:latin typeface="Inconsolata"/>
              </a:rPr>
              <a:t>20  </a:t>
            </a:r>
            <a:r>
              <a:rPr sz="850" i="0">
                <a:solidFill>
                  <a:srgbClr val="FF8E6E"/>
                </a:solidFill>
                <a:latin typeface="Inconsolata"/>
              </a:rPr>
              <a:t>COPY</a:t>
            </a:r>
            <a:r>
              <a:rPr sz="850" i="0">
                <a:solidFill>
                  <a:srgbClr val="E6EDF3"/>
                </a:solidFill>
                <a:latin typeface="Inconsolata"/>
              </a:rPr>
              <a:t> --from=builder /opt/venv /opt/venv</a:t>
            </a:r>
          </a:p>
          <a:p>
            <a:pPr>
              <a:lnSpc>
                <a:spcPct val="107843"/>
              </a:lnSpc>
              <a:spcAft>
                <a:spcPts val="0"/>
              </a:spcAft>
            </a:pPr>
            <a:r>
              <a:rPr sz="850" i="0">
                <a:solidFill>
                  <a:srgbClr val="5C6773"/>
                </a:solidFill>
                <a:latin typeface="Inconsolata"/>
              </a:rPr>
              <a:t>21  </a:t>
            </a:r>
            <a:r>
              <a:rPr sz="850" i="0">
                <a:solidFill>
                  <a:srgbClr val="FF8E6E"/>
                </a:solidFill>
                <a:latin typeface="Inconsolata"/>
              </a:rPr>
              <a:t>ENV</a:t>
            </a:r>
            <a:r>
              <a:rPr sz="850" i="0">
                <a:solidFill>
                  <a:srgbClr val="E6EDF3"/>
                </a:solidFill>
                <a:latin typeface="Inconsolata"/>
              </a:rPr>
              <a:t> PATH="/opt/venv/bin:$PATH"</a:t>
            </a:r>
          </a:p>
          <a:p>
            <a:pPr>
              <a:lnSpc>
                <a:spcPct val="107843"/>
              </a:lnSpc>
              <a:spcAft>
                <a:spcPts val="0"/>
              </a:spcAft>
            </a:pPr>
            <a:r>
              <a:rPr sz="850" i="0">
                <a:solidFill>
                  <a:srgbClr val="5C6773"/>
                </a:solidFill>
                <a:latin typeface="Inconsolata"/>
              </a:rPr>
              <a:t>22  </a:t>
            </a:r>
            <a:r>
              <a:rPr sz="850" i="0">
                <a:solidFill>
                  <a:srgbClr val="FF8E6E"/>
                </a:solidFill>
                <a:latin typeface="Inconsolata"/>
              </a:rPr>
              <a:t>WORKDIR</a:t>
            </a:r>
            <a:r>
              <a:rPr sz="850" i="0">
                <a:solidFill>
                  <a:srgbClr val="E6EDF3"/>
                </a:solidFill>
                <a:latin typeface="Inconsolata"/>
              </a:rPr>
              <a:t> /app</a:t>
            </a:r>
          </a:p>
          <a:p>
            <a:pPr>
              <a:lnSpc>
                <a:spcPct val="107843"/>
              </a:lnSpc>
              <a:spcAft>
                <a:spcPts val="0"/>
              </a:spcAft>
            </a:pPr>
            <a:r>
              <a:rPr sz="850" i="0">
                <a:solidFill>
                  <a:srgbClr val="5C6773"/>
                </a:solidFill>
                <a:latin typeface="Inconsolata"/>
              </a:rPr>
              <a:t>23  </a:t>
            </a:r>
            <a:r>
              <a:rPr sz="850" i="0">
                <a:solidFill>
                  <a:srgbClr val="FF8E6E"/>
                </a:solidFill>
                <a:latin typeface="Inconsolata"/>
              </a:rPr>
              <a:t>COPY</a:t>
            </a:r>
            <a:r>
              <a:rPr sz="850" i="0">
                <a:solidFill>
                  <a:srgbClr val="E6EDF3"/>
                </a:solidFill>
                <a:latin typeface="Inconsolata"/>
              </a:rPr>
              <a:t> app ./app</a:t>
            </a:r>
          </a:p>
          <a:p>
            <a:pPr>
              <a:lnSpc>
                <a:spcPct val="107843"/>
              </a:lnSpc>
              <a:spcAft>
                <a:spcPts val="0"/>
              </a:spcAft>
            </a:pPr>
            <a:r>
              <a:rPr sz="850" i="0">
                <a:solidFill>
                  <a:srgbClr val="5C6773"/>
                </a:solidFill>
                <a:latin typeface="Inconsolata"/>
              </a:rPr>
              <a:t>24  </a:t>
            </a:r>
            <a:r>
              <a:rPr sz="850" i="0">
                <a:solidFill>
                  <a:srgbClr val="E6EDF3"/>
                </a:solidFill>
                <a:latin typeface="Inconsolata"/>
              </a:rPr>
              <a:t> </a:t>
            </a:r>
          </a:p>
          <a:p>
            <a:pPr>
              <a:lnSpc>
                <a:spcPct val="107843"/>
              </a:lnSpc>
              <a:spcAft>
                <a:spcPts val="0"/>
              </a:spcAft>
            </a:pPr>
            <a:r>
              <a:rPr sz="850" i="0">
                <a:solidFill>
                  <a:srgbClr val="5C6773"/>
                </a:solidFill>
                <a:latin typeface="Inconsolata"/>
              </a:rPr>
              <a:t>25  </a:t>
            </a:r>
            <a:r>
              <a:rPr sz="850" i="0">
                <a:solidFill>
                  <a:srgbClr val="FF8E6E"/>
                </a:solidFill>
                <a:latin typeface="Inconsolata"/>
              </a:rPr>
              <a:t>RUN</a:t>
            </a:r>
            <a:r>
              <a:rPr sz="850" i="0">
                <a:solidFill>
                  <a:srgbClr val="E6EDF3"/>
                </a:solidFill>
                <a:latin typeface="Inconsolata"/>
              </a:rPr>
              <a:t> useradd --create-home appuser</a:t>
            </a:r>
          </a:p>
          <a:p>
            <a:pPr>
              <a:lnSpc>
                <a:spcPct val="107843"/>
              </a:lnSpc>
              <a:spcAft>
                <a:spcPts val="0"/>
              </a:spcAft>
            </a:pPr>
            <a:r>
              <a:rPr sz="850" i="0">
                <a:solidFill>
                  <a:srgbClr val="5C6773"/>
                </a:solidFill>
                <a:latin typeface="Inconsolata"/>
              </a:rPr>
              <a:t>26  </a:t>
            </a:r>
            <a:r>
              <a:rPr sz="850" i="0">
                <a:solidFill>
                  <a:srgbClr val="FF8E6E"/>
                </a:solidFill>
                <a:latin typeface="Inconsolata"/>
              </a:rPr>
              <a:t>USER</a:t>
            </a:r>
            <a:r>
              <a:rPr sz="850" i="0">
                <a:solidFill>
                  <a:srgbClr val="E6EDF3"/>
                </a:solidFill>
                <a:latin typeface="Inconsolata"/>
              </a:rPr>
              <a:t> appuser</a:t>
            </a:r>
          </a:p>
          <a:p>
            <a:pPr>
              <a:lnSpc>
                <a:spcPct val="107843"/>
              </a:lnSpc>
              <a:spcAft>
                <a:spcPts val="0"/>
              </a:spcAft>
            </a:pPr>
            <a:r>
              <a:rPr sz="850" i="0">
                <a:solidFill>
                  <a:srgbClr val="5C6773"/>
                </a:solidFill>
                <a:latin typeface="Inconsolata"/>
              </a:rPr>
              <a:t>27  </a:t>
            </a:r>
            <a:r>
              <a:rPr sz="850" i="0">
                <a:solidFill>
                  <a:srgbClr val="FF8E6E"/>
                </a:solidFill>
                <a:latin typeface="Inconsolata"/>
              </a:rPr>
              <a:t>CMD</a:t>
            </a:r>
            <a:r>
              <a:rPr sz="850" i="0">
                <a:solidFill>
                  <a:srgbClr val="E6EDF3"/>
                </a:solidFill>
                <a:latin typeface="Inconsolata"/>
              </a:rPr>
              <a:t> ["uvicorn", "app.main:app", "--host", "0.0.0.0", "--port", "8000"]</a:t>
            </a:r>
          </a:p>
        </p:txBody>
      </p:sp>
      <p:sp>
        <p:nvSpPr>
          <p:cNvPr id="29" name="Box 12"/>
          <p:cNvSpPr/>
          <p:nvPr/>
        </p:nvSpPr>
        <p:spPr>
          <a:xfrm>
            <a:off x="704088" y="2247773"/>
            <a:ext cx="7699248" cy="131318"/>
          </a:xfrm>
          <a:prstGeom prst="roundRect">
            <a:avLst>
              <a:gd name="adj" fmla="val 3481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8284463" y="219456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1" name="Box 14"/>
          <p:cNvSpPr/>
          <p:nvPr/>
        </p:nvSpPr>
        <p:spPr>
          <a:xfrm>
            <a:off x="704088" y="2527173"/>
            <a:ext cx="7699248" cy="131318"/>
          </a:xfrm>
          <a:prstGeom prst="roundRect">
            <a:avLst>
              <a:gd name="adj" fmla="val 3481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8284463" y="247396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Multi-stage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02-multi-stage/after.Dockerfile</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sesi-11-docker-kubernetes-cicd/02-multi-stage</a:t>
            </a:r>
          </a:p>
          <a:p>
            <a:pPr>
              <a:lnSpc>
                <a:spcPct val="111111"/>
              </a:lnSpc>
              <a:spcAft>
                <a:spcPts val="0"/>
              </a:spcAft>
            </a:pPr>
            <a:r>
              <a:rPr sz="900" i="0">
                <a:solidFill>
                  <a:srgbClr val="82B1FF"/>
                </a:solidFill>
                <a:latin typeface="Inconsolata"/>
              </a:rPr>
              <a:t>$ docker build -f after.Dockerfile -t demo-multistage:after .</a:t>
            </a:r>
          </a:p>
        </p:txBody>
      </p:sp>
      <p:pic>
        <p:nvPicPr>
          <p:cNvPr id="29" name="Image 12" descr="s11-02-multi-stage-after.png"/>
          <p:cNvPicPr>
            <a:picLocks noChangeAspect="1"/>
          </p:cNvPicPr>
          <p:nvPr/>
        </p:nvPicPr>
        <p:blipFill>
          <a:blip r:embed="rId2"/>
          <a:stretch>
            <a:fillRect/>
          </a:stretch>
        </p:blipFill>
        <p:spPr>
          <a:xfrm>
            <a:off x="621792" y="2322576"/>
            <a:ext cx="4297680" cy="1249720"/>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Stage builder: compiler, venv, dan install dependency (baris 5-12)</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Stage akhir: hanya library runtime </a:t>
            </a:r>
            <a:r>
              <a:rPr sz="950" b="0" i="0">
                <a:solidFill>
                  <a:srgbClr val="B5482A"/>
                </a:solidFill>
                <a:latin typeface="Inconsolata"/>
              </a:rPr>
              <a:t>libpq5</a:t>
            </a:r>
            <a:r>
              <a:rPr sz="950" b="0" i="0">
                <a:solidFill>
                  <a:srgbClr val="434343"/>
                </a:solidFill>
                <a:latin typeface="Inter"/>
              </a:rPr>
              <a:t> (baris 18)</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Ambil venv dari builder (baris 20)</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Image 278 MB, gcc tidak ada, psycopg versi C tetap jalan.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Docker Compose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Docker Compose?</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Docker Compose adalah</a:t>
            </a:r>
          </a:p>
          <a:p>
            <a:pPr algn="l">
              <a:lnSpc>
                <a:spcPct val="115000"/>
              </a:lnSpc>
              <a:spcAft>
                <a:spcPts val="400"/>
              </a:spcAft>
            </a:pPr>
            <a:r>
              <a:rPr sz="900" b="0" i="0">
                <a:solidFill>
                  <a:srgbClr val="434343"/>
                </a:solidFill>
                <a:latin typeface="Inter"/>
              </a:rPr>
              <a:t>Tool untuk menjalankan beberapa container sekaligus dari satu file YAML. Setiap service, image, environment, port, dan urutan start ditulis di file itu. Sehingga seluruh stack cukup dijalankan dengan satu perintah.</a:t>
            </a:r>
          </a:p>
          <a:p>
            <a:pPr algn="l">
              <a:lnSpc>
                <a:spcPct val="115000"/>
              </a:lnSpc>
              <a:spcAft>
                <a:spcPts val="400"/>
              </a:spcAft>
            </a:pPr>
            <a:r>
              <a:rPr sz="100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Menjalankan API beserta PostgreSQL, Redis, dan RabbitMQ di laptop</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Menyamakan environment semua anggota tim</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Mengatur urutan start lewat healthcheck</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docker run manual: 03-docker-compose/before.sh</a:t>
            </a:r>
          </a:p>
        </p:txBody>
      </p:sp>
      <p:sp>
        <p:nvSpPr>
          <p:cNvPr id="28" name="CodeBg 11"/>
          <p:cNvSpPr/>
          <p:nvPr/>
        </p:nvSpPr>
        <p:spPr>
          <a:xfrm>
            <a:off x="4297680" y="1719072"/>
            <a:ext cx="4187951" cy="740664"/>
          </a:xfrm>
          <a:prstGeom prst="roundRect">
            <a:avLst>
              <a:gd name="adj" fmla="val 2469"/>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740664"/>
          </a:xfrm>
          <a:prstGeom prst="rect">
            <a:avLst/>
          </a:prstGeom>
          <a:noFill/>
        </p:spPr>
        <p:txBody>
          <a:bodyPr wrap="none" lIns="146304" tIns="91440" rIns="146304" bIns="54864">
            <a:spAutoFit/>
          </a:bodyPr>
          <a:lstStyle/>
          <a:p>
            <a:pPr>
              <a:lnSpc>
                <a:spcPct val="111111"/>
              </a:lnSpc>
              <a:spcAft>
                <a:spcPts val="0"/>
              </a:spcAft>
            </a:pPr>
            <a:r>
              <a:rPr sz="750" i="0">
                <a:solidFill>
                  <a:srgbClr val="E6EDF3"/>
                </a:solidFill>
                <a:latin typeface="Inconsolata"/>
              </a:rPr>
              <a:t>docker run -d --name demo-api -p 8000:8000 \</a:t>
            </a:r>
          </a:p>
          <a:p>
            <a:pPr>
              <a:lnSpc>
                <a:spcPct val="111111"/>
              </a:lnSpc>
              <a:spcAft>
                <a:spcPts val="0"/>
              </a:spcAft>
            </a:pPr>
            <a:r>
              <a:rPr sz="750" i="0">
                <a:solidFill>
                  <a:srgbClr val="E6EDF3"/>
                </a:solidFill>
                <a:latin typeface="Inconsolata"/>
              </a:rPr>
              <a:t>  -e DATABASE_URL=postgresql://postgres:app@localhost:5432/postgres \</a:t>
            </a:r>
          </a:p>
        </p:txBody>
      </p:sp>
      <p:sp>
        <p:nvSpPr>
          <p:cNvPr id="30" name="Box 13"/>
          <p:cNvSpPr/>
          <p:nvPr/>
        </p:nvSpPr>
        <p:spPr>
          <a:xfrm>
            <a:off x="4379976" y="1954022"/>
            <a:ext cx="4023359" cy="119380"/>
          </a:xfrm>
          <a:prstGeom prst="roundRect">
            <a:avLst>
              <a:gd name="adj" fmla="val 38297"/>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Tab 15"/>
          <p:cNvSpPr/>
          <p:nvPr/>
        </p:nvSpPr>
        <p:spPr>
          <a:xfrm>
            <a:off x="4297680" y="2551176"/>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4407408" y="2628900"/>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4544568" y="2628900"/>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681728" y="2628900"/>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4846320" y="2560320"/>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compose: 03-docker-compose/compose.yaml</a:t>
            </a:r>
          </a:p>
        </p:txBody>
      </p:sp>
      <p:sp>
        <p:nvSpPr>
          <p:cNvPr id="36" name="CodeBg 21"/>
          <p:cNvSpPr/>
          <p:nvPr/>
        </p:nvSpPr>
        <p:spPr>
          <a:xfrm>
            <a:off x="4297680" y="2788920"/>
            <a:ext cx="4187951" cy="1911095"/>
          </a:xfrm>
          <a:prstGeom prst="roundRect">
            <a:avLst>
              <a:gd name="adj" fmla="val 956"/>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4297680" y="2788920"/>
            <a:ext cx="4187951" cy="1911095"/>
          </a:xfrm>
          <a:prstGeom prst="rect">
            <a:avLst/>
          </a:prstGeom>
          <a:noFill/>
        </p:spPr>
        <p:txBody>
          <a:bodyPr wrap="none" lIns="146304" tIns="91440" rIns="146304" bIns="54864">
            <a:spAutoFit/>
          </a:bodyPr>
          <a:lstStyle/>
          <a:p>
            <a:pPr>
              <a:lnSpc>
                <a:spcPct val="111111"/>
              </a:lnSpc>
              <a:spcAft>
                <a:spcPts val="0"/>
              </a:spcAft>
            </a:pPr>
            <a:r>
              <a:rPr sz="750" i="0">
                <a:solidFill>
                  <a:srgbClr val="E6EDF3"/>
                </a:solidFill>
                <a:latin typeface="Inconsolata"/>
              </a:rPr>
              <a:t>      </a:t>
            </a:r>
            <a:r>
              <a:rPr sz="750" i="0">
                <a:solidFill>
                  <a:srgbClr val="82B1FF"/>
                </a:solidFill>
                <a:latin typeface="Inconsolata"/>
              </a:rPr>
              <a:t>DATABASE_URL</a:t>
            </a:r>
            <a:r>
              <a:rPr sz="750" i="0">
                <a:solidFill>
                  <a:srgbClr val="E6EDF3"/>
                </a:solidFill>
                <a:latin typeface="Inconsolata"/>
              </a:rPr>
              <a:t>: postgresql://postgres:app@postgres:5432/postgres</a:t>
            </a:r>
          </a:p>
          <a:p>
            <a:pPr>
              <a:lnSpc>
                <a:spcPct val="111111"/>
              </a:lnSpc>
              <a:spcAft>
                <a:spcPts val="0"/>
              </a:spcAft>
            </a:pPr>
            <a:r>
              <a:rPr sz="750" i="0">
                <a:solidFill>
                  <a:srgbClr val="E6EDF3"/>
                </a:solidFill>
                <a:latin typeface="Inconsolata"/>
              </a:rPr>
              <a:t>...</a:t>
            </a:r>
          </a:p>
          <a:p>
            <a:pPr>
              <a:lnSpc>
                <a:spcPct val="111111"/>
              </a:lnSpc>
              <a:spcAft>
                <a:spcPts val="0"/>
              </a:spcAft>
            </a:pPr>
            <a:r>
              <a:rPr sz="750" i="0">
                <a:solidFill>
                  <a:srgbClr val="E6EDF3"/>
                </a:solidFill>
                <a:latin typeface="Inconsolata"/>
              </a:rPr>
              <a:t>    </a:t>
            </a:r>
            <a:r>
              <a:rPr sz="750" i="0">
                <a:solidFill>
                  <a:srgbClr val="82B1FF"/>
                </a:solidFill>
                <a:latin typeface="Inconsolata"/>
              </a:rPr>
              <a:t>depends_on</a:t>
            </a:r>
            <a:r>
              <a:rPr sz="750" i="0">
                <a:solidFill>
                  <a:srgbClr val="E6EDF3"/>
                </a:solidFill>
                <a:latin typeface="Inconsolata"/>
              </a:rPr>
              <a:t>:</a:t>
            </a:r>
          </a:p>
          <a:p>
            <a:pPr>
              <a:lnSpc>
                <a:spcPct val="111111"/>
              </a:lnSpc>
              <a:spcAft>
                <a:spcPts val="0"/>
              </a:spcAft>
            </a:pPr>
            <a:r>
              <a:rPr sz="750" i="0">
                <a:solidFill>
                  <a:srgbClr val="E6EDF3"/>
                </a:solidFill>
                <a:latin typeface="Inconsolata"/>
              </a:rPr>
              <a:t>      </a:t>
            </a:r>
            <a:r>
              <a:rPr sz="750" i="0">
                <a:solidFill>
                  <a:srgbClr val="82B1FF"/>
                </a:solidFill>
                <a:latin typeface="Inconsolata"/>
              </a:rPr>
              <a:t>postgres</a:t>
            </a:r>
            <a:r>
              <a:rPr sz="750" i="0">
                <a:solidFill>
                  <a:srgbClr val="E6EDF3"/>
                </a:solidFill>
                <a:latin typeface="Inconsolata"/>
              </a:rPr>
              <a:t>:</a:t>
            </a:r>
          </a:p>
          <a:p>
            <a:pPr>
              <a:lnSpc>
                <a:spcPct val="111111"/>
              </a:lnSpc>
              <a:spcAft>
                <a:spcPts val="0"/>
              </a:spcAft>
            </a:pPr>
            <a:r>
              <a:rPr sz="750" i="0">
                <a:solidFill>
                  <a:srgbClr val="E6EDF3"/>
                </a:solidFill>
                <a:latin typeface="Inconsolata"/>
              </a:rPr>
              <a:t>        </a:t>
            </a:r>
            <a:r>
              <a:rPr sz="750" i="0">
                <a:solidFill>
                  <a:srgbClr val="82B1FF"/>
                </a:solidFill>
                <a:latin typeface="Inconsolata"/>
              </a:rPr>
              <a:t>condition</a:t>
            </a:r>
            <a:r>
              <a:rPr sz="750" i="0">
                <a:solidFill>
                  <a:srgbClr val="E6EDF3"/>
                </a:solidFill>
                <a:latin typeface="Inconsolata"/>
              </a:rPr>
              <a:t>: service_healthy</a:t>
            </a:r>
          </a:p>
        </p:txBody>
      </p:sp>
      <p:sp>
        <p:nvSpPr>
          <p:cNvPr id="38" name="Box 23"/>
          <p:cNvSpPr/>
          <p:nvPr/>
        </p:nvSpPr>
        <p:spPr>
          <a:xfrm>
            <a:off x="4379976" y="2896870"/>
            <a:ext cx="4023359" cy="119380"/>
          </a:xfrm>
          <a:prstGeom prst="roundRect">
            <a:avLst>
              <a:gd name="adj" fmla="val 3829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379976" y="3150870"/>
            <a:ext cx="4023359" cy="373380"/>
          </a:xfrm>
          <a:prstGeom prst="roundRect">
            <a:avLst>
              <a:gd name="adj" fmla="val 12244"/>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Docker Compose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menggunakan Docker Compose?</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Dengan docker run manual</a:t>
            </a:r>
          </a:p>
          <a:p>
            <a:pPr algn="l">
              <a:lnSpc>
                <a:spcPct val="115000"/>
              </a:lnSpc>
              <a:spcAft>
                <a:spcPts val="400"/>
              </a:spcAft>
            </a:pPr>
            <a:r>
              <a:rPr sz="950" b="0" i="0">
                <a:solidFill>
                  <a:srgbClr val="434343"/>
                </a:solidFill>
                <a:latin typeface="Inter"/>
              </a:rPr>
              <a:t>Setiap container dijalankan dengan perintah panjang. API memakai </a:t>
            </a:r>
            <a:r>
              <a:rPr sz="950" b="0" i="0">
                <a:solidFill>
                  <a:srgbClr val="B5482A"/>
                </a:solidFill>
                <a:latin typeface="Inconsolata"/>
              </a:rPr>
              <a:t>localhost</a:t>
            </a:r>
            <a:r>
              <a:rPr sz="950" b="0" i="0">
                <a:solidFill>
                  <a:srgbClr val="434343"/>
                </a:solidFill>
                <a:latin typeface="Inter"/>
              </a:rPr>
              <a:t>, padahal di dalam container itu berarti container API sendiri.</a:t>
            </a:r>
          </a:p>
          <a:p>
            <a:pPr algn="l">
              <a:lnSpc>
                <a:spcPct val="115000"/>
              </a:lnSpc>
              <a:spcAft>
                <a:spcPts val="400"/>
              </a:spcAft>
            </a:pPr>
            <a:r>
              <a:rPr sz="1050" b="1" i="0">
                <a:solidFill>
                  <a:srgbClr val="1C4587"/>
                </a:solidFill>
                <a:latin typeface="Inter"/>
              </a:rPr>
              <a:t>Jika service-nya makin banyak</a:t>
            </a:r>
          </a:p>
          <a:p>
            <a:pPr algn="l">
              <a:lnSpc>
                <a:spcPct val="115000"/>
              </a:lnSpc>
              <a:spcAft>
                <a:spcPts val="400"/>
              </a:spcAft>
            </a:pPr>
            <a:r>
              <a:rPr sz="950" b="0" i="0">
                <a:solidFill>
                  <a:srgbClr val="434343"/>
                </a:solidFill>
                <a:latin typeface="Inter"/>
              </a:rPr>
              <a:t>Order API butuh PostgreSQL, Redis, RabbitMQ, worker, consumer, dan Jaeger.</a:t>
            </a:r>
          </a:p>
          <a:p>
            <a:pPr algn="l">
              <a:lnSpc>
                <a:spcPct val="115000"/>
              </a:lnSpc>
              <a:spcAft>
                <a:spcPts val="400"/>
              </a:spcAft>
            </a:pPr>
            <a:r>
              <a:rPr sz="950" b="0" i="0">
                <a:solidFill>
                  <a:srgbClr val="434343"/>
                </a:solidFill>
                <a:latin typeface="Inter"/>
              </a:rPr>
              <a:t>Hal ini membuat menjalankan aplikasi di laptop rawan salah urutan dan salah alamat.</a:t>
            </a:r>
          </a:p>
          <a:p>
            <a:pPr algn="l">
              <a:lnSpc>
                <a:spcPct val="115000"/>
              </a:lnSpc>
              <a:spcAft>
                <a:spcPts val="400"/>
              </a:spcAft>
            </a:pPr>
            <a:r>
              <a:rPr sz="1050" b="1" i="0">
                <a:solidFill>
                  <a:srgbClr val="1C4587"/>
                </a:solidFill>
                <a:latin typeface="Inter"/>
              </a:rPr>
              <a:t>Yang dipakai dari Docker Compose</a:t>
            </a:r>
          </a:p>
          <a:p>
            <a:pPr algn="l">
              <a:lnSpc>
                <a:spcPct val="115000"/>
              </a:lnSpc>
              <a:spcAft>
                <a:spcPts val="400"/>
              </a:spcAft>
            </a:pPr>
            <a:r>
              <a:rPr sz="950" b="0" i="0">
                <a:solidFill>
                  <a:srgbClr val="434343"/>
                </a:solidFill>
                <a:latin typeface="Inter"/>
              </a:rPr>
              <a:t>Semua service di satu network. Nama service menjadi hostname.</a:t>
            </a:r>
          </a:p>
        </p:txBody>
      </p:sp>
      <p:graphicFrame>
        <p:nvGraphicFramePr>
          <p:cNvPr id="23" name="Table 4"/>
          <p:cNvGraphicFramePr>
            <a:graphicFrameLocks noGrp="1"/>
          </p:cNvGraphicFramePr>
          <p:nvPr/>
        </p:nvGraphicFramePr>
        <p:xfrm>
          <a:off x="4800600" y="1481328"/>
          <a:ext cx="3685031" cy="2057400"/>
        </p:xfrm>
        <a:graphic>
          <a:graphicData uri="http://schemas.openxmlformats.org/drawingml/2006/table">
            <a:tbl>
              <a:tblPr firstRow="1" bandRow="1"/>
              <a:tblGrid>
                <a:gridCol w="1856231">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411480">
                <a:tc>
                  <a:txBody>
                    <a:bodyPr/>
                    <a:lstStyle/>
                    <a:p>
                      <a:pPr algn="l">
                        <a:lnSpc>
                          <a:spcPct val="100000"/>
                        </a:lnSpc>
                        <a:spcAft>
                          <a:spcPts val="0"/>
                        </a:spcAft>
                      </a:pPr>
                      <a:r>
                        <a:rPr sz="850" b="1" i="0">
                          <a:solidFill>
                            <a:srgbClr val="FFFFFF"/>
                          </a:solidFill>
                          <a:latin typeface="Inter"/>
                        </a:rPr>
                        <a:t>Ditulis</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Artinya</a:t>
                      </a:r>
                    </a:p>
                  </a:txBody>
                  <a:tcPr marL="73152" marR="73152" marT="36576" marB="36576" anchor="ctr">
                    <a:solidFill>
                      <a:srgbClr val="1C4587"/>
                    </a:solidFill>
                  </a:tcPr>
                </a:tc>
                <a:extLst>
                  <a:ext uri="{0D108BD9-81ED-4DB2-BD59-A6C34878D82A}">
                    <a16:rowId xmlns:a16="http://schemas.microsoft.com/office/drawing/2014/main" val="10000"/>
                  </a:ext>
                </a:extLst>
              </a:tr>
              <a:tr h="411480">
                <a:tc>
                  <a:txBody>
                    <a:bodyPr/>
                    <a:lstStyle/>
                    <a:p>
                      <a:pPr algn="l">
                        <a:lnSpc>
                          <a:spcPct val="100000"/>
                        </a:lnSpc>
                        <a:spcAft>
                          <a:spcPts val="0"/>
                        </a:spcAft>
                      </a:pPr>
                      <a:r>
                        <a:rPr sz="850" b="1" i="0">
                          <a:solidFill>
                            <a:srgbClr val="1C4587"/>
                          </a:solidFill>
                          <a:latin typeface="Inter"/>
                        </a:rPr>
                        <a:t>services:</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Daftar container</a:t>
                      </a:r>
                    </a:p>
                  </a:txBody>
                  <a:tcPr marL="73152" marR="73152" marT="36576" marB="36576" anchor="ctr">
                    <a:solidFill>
                      <a:srgbClr val="FFFFFF"/>
                    </a:solidFill>
                  </a:tcPr>
                </a:tc>
                <a:extLst>
                  <a:ext uri="{0D108BD9-81ED-4DB2-BD59-A6C34878D82A}">
                    <a16:rowId xmlns:a16="http://schemas.microsoft.com/office/drawing/2014/main" val="10001"/>
                  </a:ext>
                </a:extLst>
              </a:tr>
              <a:tr h="411480">
                <a:tc>
                  <a:txBody>
                    <a:bodyPr/>
                    <a:lstStyle/>
                    <a:p>
                      <a:pPr algn="l">
                        <a:lnSpc>
                          <a:spcPct val="100000"/>
                        </a:lnSpc>
                        <a:spcAft>
                          <a:spcPts val="0"/>
                        </a:spcAft>
                      </a:pPr>
                      <a:r>
                        <a:rPr sz="850" b="1" i="0">
                          <a:solidFill>
                            <a:srgbClr val="1C4587"/>
                          </a:solidFill>
                          <a:latin typeface="Inter"/>
                        </a:rPr>
                        <a:t>postgres (hostname)</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Alamat service lain</a:t>
                      </a:r>
                    </a:p>
                  </a:txBody>
                  <a:tcPr marL="73152" marR="73152" marT="36576" marB="36576" anchor="ctr">
                    <a:solidFill>
                      <a:srgbClr val="F3F4F6"/>
                    </a:solidFill>
                  </a:tcPr>
                </a:tc>
                <a:extLst>
                  <a:ext uri="{0D108BD9-81ED-4DB2-BD59-A6C34878D82A}">
                    <a16:rowId xmlns:a16="http://schemas.microsoft.com/office/drawing/2014/main" val="10002"/>
                  </a:ext>
                </a:extLst>
              </a:tr>
              <a:tr h="411480">
                <a:tc>
                  <a:txBody>
                    <a:bodyPr/>
                    <a:lstStyle/>
                    <a:p>
                      <a:pPr algn="l">
                        <a:lnSpc>
                          <a:spcPct val="100000"/>
                        </a:lnSpc>
                        <a:spcAft>
                          <a:spcPts val="0"/>
                        </a:spcAft>
                      </a:pPr>
                      <a:r>
                        <a:rPr sz="850" b="1" i="0">
                          <a:solidFill>
                            <a:srgbClr val="1C4587"/>
                          </a:solidFill>
                          <a:latin typeface="Inter"/>
                        </a:rPr>
                        <a:t>healthcheck:</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Cara mengecek service siap</a:t>
                      </a:r>
                    </a:p>
                  </a:txBody>
                  <a:tcPr marL="73152" marR="73152" marT="36576" marB="36576" anchor="ctr">
                    <a:solidFill>
                      <a:srgbClr val="FFFFFF"/>
                    </a:solidFill>
                  </a:tcPr>
                </a:tc>
                <a:extLst>
                  <a:ext uri="{0D108BD9-81ED-4DB2-BD59-A6C34878D82A}">
                    <a16:rowId xmlns:a16="http://schemas.microsoft.com/office/drawing/2014/main" val="10003"/>
                  </a:ext>
                </a:extLst>
              </a:tr>
              <a:tr h="411480">
                <a:tc>
                  <a:txBody>
                    <a:bodyPr/>
                    <a:lstStyle/>
                    <a:p>
                      <a:pPr algn="l">
                        <a:lnSpc>
                          <a:spcPct val="100000"/>
                        </a:lnSpc>
                        <a:spcAft>
                          <a:spcPts val="0"/>
                        </a:spcAft>
                      </a:pPr>
                      <a:r>
                        <a:rPr sz="850" b="1" i="0">
                          <a:solidFill>
                            <a:srgbClr val="1C4587"/>
                          </a:solidFill>
                          <a:latin typeface="Inter"/>
                        </a:rPr>
                        <a:t>depends_on: service_healthy</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Tunggu service lain siap</a:t>
                      </a:r>
                    </a:p>
                  </a:txBody>
                  <a:tcPr marL="73152" marR="73152" marT="36576" marB="36576" anchor="ctr">
                    <a:solidFill>
                      <a:srgbClr val="F3F4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Docker Compose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setiap container dijalankan manual</a:t>
            </a:r>
          </a:p>
        </p:txBody>
      </p:sp>
      <p:sp>
        <p:nvSpPr>
          <p:cNvPr id="22" name="CodeTab 4"/>
          <p:cNvSpPr/>
          <p:nvPr/>
        </p:nvSpPr>
        <p:spPr>
          <a:xfrm>
            <a:off x="621792" y="1481328"/>
            <a:ext cx="4507992"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86791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03-docker-compose/before.sh</a:t>
            </a:r>
          </a:p>
        </p:txBody>
      </p:sp>
      <p:sp>
        <p:nvSpPr>
          <p:cNvPr id="27" name="CodeBg 10"/>
          <p:cNvSpPr/>
          <p:nvPr/>
        </p:nvSpPr>
        <p:spPr>
          <a:xfrm>
            <a:off x="621792" y="1719072"/>
            <a:ext cx="4507992"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507992" cy="2980944"/>
          </a:xfrm>
          <a:prstGeom prst="rect">
            <a:avLst/>
          </a:prstGeom>
          <a:noFill/>
        </p:spPr>
        <p:txBody>
          <a:bodyPr wrap="none" lIns="146304" tIns="91440" rIns="146304" bIns="54864">
            <a:spAutoFit/>
          </a:bodyPr>
          <a:lstStyle/>
          <a:p>
            <a:pPr>
              <a:lnSpc>
                <a:spcPct val="103448"/>
              </a:lnSpc>
              <a:spcAft>
                <a:spcPts val="0"/>
              </a:spcAft>
            </a:pPr>
            <a:r>
              <a:rPr sz="725" i="0">
                <a:solidFill>
                  <a:srgbClr val="5C6773"/>
                </a:solidFill>
                <a:latin typeface="Inconsolata"/>
              </a:rPr>
              <a:t> 1  </a:t>
            </a:r>
            <a:r>
              <a:rPr sz="725" i="1">
                <a:solidFill>
                  <a:srgbClr val="8B98A8"/>
                </a:solidFill>
                <a:latin typeface="Inconsolata"/>
              </a:rPr>
              <a:t>#!/bin/sh</a:t>
            </a:r>
          </a:p>
          <a:p>
            <a:pPr>
              <a:lnSpc>
                <a:spcPct val="103448"/>
              </a:lnSpc>
              <a:spcAft>
                <a:spcPts val="0"/>
              </a:spcAft>
            </a:pPr>
            <a:r>
              <a:rPr sz="725" i="0">
                <a:solidFill>
                  <a:srgbClr val="5C6773"/>
                </a:solidFill>
                <a:latin typeface="Inconsolata"/>
              </a:rPr>
              <a:t> 2  </a:t>
            </a:r>
            <a:r>
              <a:rPr sz="725" i="1">
                <a:solidFill>
                  <a:srgbClr val="8B98A8"/>
                </a:solidFill>
                <a:latin typeface="Inconsolata"/>
              </a:rPr>
              <a:t># Docker Compose - BEFORE (setiap container dijalankan manual)</a:t>
            </a:r>
          </a:p>
          <a:p>
            <a:pPr>
              <a:lnSpc>
                <a:spcPct val="103448"/>
              </a:lnSpc>
              <a:spcAft>
                <a:spcPts val="0"/>
              </a:spcAft>
            </a:pPr>
            <a:r>
              <a:rPr sz="725" i="0">
                <a:solidFill>
                  <a:srgbClr val="5C6773"/>
                </a:solidFill>
                <a:latin typeface="Inconsolata"/>
              </a:rPr>
              <a:t> 3  </a:t>
            </a:r>
            <a:r>
              <a:rPr sz="725" i="1">
                <a:solidFill>
                  <a:srgbClr val="8B98A8"/>
                </a:solidFill>
                <a:latin typeface="Inconsolata"/>
              </a:rPr>
              <a:t># - Perintah panjang yang harus diketik ulang dan urutannya diingat sendiri</a:t>
            </a:r>
          </a:p>
          <a:p>
            <a:pPr>
              <a:lnSpc>
                <a:spcPct val="103448"/>
              </a:lnSpc>
              <a:spcAft>
                <a:spcPts val="0"/>
              </a:spcAft>
            </a:pPr>
            <a:r>
              <a:rPr sz="725" i="0">
                <a:solidFill>
                  <a:srgbClr val="5C6773"/>
                </a:solidFill>
                <a:latin typeface="Inconsolata"/>
              </a:rPr>
              <a:t> 4  </a:t>
            </a:r>
            <a:r>
              <a:rPr sz="725" i="1">
                <a:solidFill>
                  <a:srgbClr val="8B98A8"/>
                </a:solidFill>
                <a:latin typeface="Inconsolata"/>
              </a:rPr>
              <a:t># - Setiap container ada di network default yang terpisah</a:t>
            </a:r>
          </a:p>
          <a:p>
            <a:pPr>
              <a:lnSpc>
                <a:spcPct val="103448"/>
              </a:lnSpc>
              <a:spcAft>
                <a:spcPts val="0"/>
              </a:spcAft>
            </a:pPr>
            <a:r>
              <a:rPr sz="725" i="0">
                <a:solidFill>
                  <a:srgbClr val="5C6773"/>
                </a:solidFill>
                <a:latin typeface="Inconsolata"/>
              </a:rPr>
              <a:t> 5  </a:t>
            </a:r>
            <a:r>
              <a:rPr sz="725" i="1">
                <a:solidFill>
                  <a:srgbClr val="8B98A8"/>
                </a:solidFill>
                <a:latin typeface="Inconsolata"/>
              </a:rPr>
              <a:t># - localhost di dalam container API = container API itu sendiri, bukan PostgreSQL</a:t>
            </a:r>
          </a:p>
          <a:p>
            <a:pPr>
              <a:lnSpc>
                <a:spcPct val="103448"/>
              </a:lnSpc>
              <a:spcAft>
                <a:spcPts val="0"/>
              </a:spcAft>
            </a:pPr>
            <a:r>
              <a:rPr sz="725" i="0">
                <a:solidFill>
                  <a:srgbClr val="5C6773"/>
                </a:solidFill>
                <a:latin typeface="Inconsolata"/>
              </a:rPr>
              <a:t> 6  </a:t>
            </a:r>
            <a:r>
              <a:rPr sz="725" i="1">
                <a:solidFill>
                  <a:srgbClr val="8B98A8"/>
                </a:solidFill>
                <a:latin typeface="Inconsolata"/>
              </a:rPr>
              <a:t># - API langsung jalan walaupun PostgreSQL belum siap</a:t>
            </a:r>
          </a:p>
          <a:p>
            <a:pPr>
              <a:lnSpc>
                <a:spcPct val="103448"/>
              </a:lnSpc>
              <a:spcAft>
                <a:spcPts val="0"/>
              </a:spcAft>
            </a:pPr>
            <a:r>
              <a:rPr sz="725" i="0">
                <a:solidFill>
                  <a:srgbClr val="5C6773"/>
                </a:solidFill>
                <a:latin typeface="Inconsolata"/>
              </a:rPr>
              <a:t> 7  </a:t>
            </a:r>
            <a:r>
              <a:rPr sz="725" i="0">
                <a:solidFill>
                  <a:srgbClr val="E6EDF3"/>
                </a:solidFill>
                <a:latin typeface="Inconsolata"/>
              </a:rPr>
              <a:t>docker build -t demo-compose-api .</a:t>
            </a:r>
          </a:p>
          <a:p>
            <a:pPr>
              <a:lnSpc>
                <a:spcPct val="103448"/>
              </a:lnSpc>
              <a:spcAft>
                <a:spcPts val="0"/>
              </a:spcAft>
            </a:pPr>
            <a:r>
              <a:rPr sz="725" i="0">
                <a:solidFill>
                  <a:srgbClr val="5C6773"/>
                </a:solidFill>
                <a:latin typeface="Inconsolata"/>
              </a:rPr>
              <a:t> 8  </a:t>
            </a:r>
          </a:p>
          <a:p>
            <a:pPr>
              <a:lnSpc>
                <a:spcPct val="103448"/>
              </a:lnSpc>
              <a:spcAft>
                <a:spcPts val="0"/>
              </a:spcAft>
            </a:pPr>
            <a:r>
              <a:rPr sz="725" i="0">
                <a:solidFill>
                  <a:srgbClr val="5C6773"/>
                </a:solidFill>
                <a:latin typeface="Inconsolata"/>
              </a:rPr>
              <a:t> 9  </a:t>
            </a:r>
            <a:r>
              <a:rPr sz="725" i="0">
                <a:solidFill>
                  <a:srgbClr val="E6EDF3"/>
                </a:solidFill>
                <a:latin typeface="Inconsolata"/>
              </a:rPr>
              <a:t>docker run -d --name demo-postgres -e POSTGRES_PASSWORD=app postgres:16-alpine</a:t>
            </a:r>
          </a:p>
          <a:p>
            <a:pPr>
              <a:lnSpc>
                <a:spcPct val="103448"/>
              </a:lnSpc>
              <a:spcAft>
                <a:spcPts val="0"/>
              </a:spcAft>
            </a:pPr>
            <a:r>
              <a:rPr sz="725" i="0">
                <a:solidFill>
                  <a:srgbClr val="5C6773"/>
                </a:solidFill>
                <a:latin typeface="Inconsolata"/>
              </a:rPr>
              <a:t>10  </a:t>
            </a:r>
            <a:r>
              <a:rPr sz="725" i="0">
                <a:solidFill>
                  <a:srgbClr val="E6EDF3"/>
                </a:solidFill>
                <a:latin typeface="Inconsolata"/>
              </a:rPr>
              <a:t>docker run -d --name demo-redis redis:7-alpine</a:t>
            </a:r>
          </a:p>
          <a:p>
            <a:pPr>
              <a:lnSpc>
                <a:spcPct val="103448"/>
              </a:lnSpc>
              <a:spcAft>
                <a:spcPts val="0"/>
              </a:spcAft>
            </a:pPr>
            <a:r>
              <a:rPr sz="725" i="0">
                <a:solidFill>
                  <a:srgbClr val="5C6773"/>
                </a:solidFill>
                <a:latin typeface="Inconsolata"/>
              </a:rPr>
              <a:t>11  </a:t>
            </a:r>
            <a:r>
              <a:rPr sz="725" i="0">
                <a:solidFill>
                  <a:srgbClr val="E6EDF3"/>
                </a:solidFill>
                <a:latin typeface="Inconsolata"/>
              </a:rPr>
              <a:t>docker run -d --name demo-api -p 8000:8000 \</a:t>
            </a:r>
          </a:p>
          <a:p>
            <a:pPr>
              <a:lnSpc>
                <a:spcPct val="103448"/>
              </a:lnSpc>
              <a:spcAft>
                <a:spcPts val="0"/>
              </a:spcAft>
            </a:pPr>
            <a:r>
              <a:rPr sz="725" i="0">
                <a:solidFill>
                  <a:srgbClr val="5C6773"/>
                </a:solidFill>
                <a:latin typeface="Inconsolata"/>
              </a:rPr>
              <a:t>12  </a:t>
            </a:r>
            <a:r>
              <a:rPr sz="725" i="0">
                <a:solidFill>
                  <a:srgbClr val="E6EDF3"/>
                </a:solidFill>
                <a:latin typeface="Inconsolata"/>
              </a:rPr>
              <a:t>  -e DATABASE_URL=postgresql://postgres:app@localhost:5432/postgres \</a:t>
            </a:r>
          </a:p>
          <a:p>
            <a:pPr>
              <a:lnSpc>
                <a:spcPct val="103448"/>
              </a:lnSpc>
              <a:spcAft>
                <a:spcPts val="0"/>
              </a:spcAft>
            </a:pPr>
            <a:r>
              <a:rPr sz="725" i="0">
                <a:solidFill>
                  <a:srgbClr val="5C6773"/>
                </a:solidFill>
                <a:latin typeface="Inconsolata"/>
              </a:rPr>
              <a:t>13  </a:t>
            </a:r>
            <a:r>
              <a:rPr sz="725" i="0">
                <a:solidFill>
                  <a:srgbClr val="E6EDF3"/>
                </a:solidFill>
                <a:latin typeface="Inconsolata"/>
              </a:rPr>
              <a:t>  -e REDIS_URL=redis://localhost:6379/0 \</a:t>
            </a:r>
          </a:p>
          <a:p>
            <a:pPr>
              <a:lnSpc>
                <a:spcPct val="103448"/>
              </a:lnSpc>
              <a:spcAft>
                <a:spcPts val="0"/>
              </a:spcAft>
            </a:pPr>
            <a:r>
              <a:rPr sz="725" i="0">
                <a:solidFill>
                  <a:srgbClr val="5C6773"/>
                </a:solidFill>
                <a:latin typeface="Inconsolata"/>
              </a:rPr>
              <a:t>14  </a:t>
            </a:r>
            <a:r>
              <a:rPr sz="725" i="0">
                <a:solidFill>
                  <a:srgbClr val="E6EDF3"/>
                </a:solidFill>
                <a:latin typeface="Inconsolata"/>
              </a:rPr>
              <a:t>  demo-compose-api</a:t>
            </a:r>
          </a:p>
          <a:p>
            <a:pPr>
              <a:lnSpc>
                <a:spcPct val="103448"/>
              </a:lnSpc>
              <a:spcAft>
                <a:spcPts val="0"/>
              </a:spcAft>
            </a:pPr>
            <a:r>
              <a:rPr sz="725" i="0">
                <a:solidFill>
                  <a:srgbClr val="5C6773"/>
                </a:solidFill>
                <a:latin typeface="Inconsolata"/>
              </a:rPr>
              <a:t>15  </a:t>
            </a:r>
          </a:p>
          <a:p>
            <a:pPr>
              <a:lnSpc>
                <a:spcPct val="103448"/>
              </a:lnSpc>
              <a:spcAft>
                <a:spcPts val="0"/>
              </a:spcAft>
            </a:pPr>
            <a:r>
              <a:rPr sz="725" i="0">
                <a:solidFill>
                  <a:srgbClr val="5C6773"/>
                </a:solidFill>
                <a:latin typeface="Inconsolata"/>
              </a:rPr>
              <a:t>16  </a:t>
            </a:r>
            <a:r>
              <a:rPr sz="725" i="0">
                <a:solidFill>
                  <a:srgbClr val="E6EDF3"/>
                </a:solidFill>
                <a:latin typeface="Inconsolata"/>
              </a:rPr>
              <a:t>sleep 5</a:t>
            </a:r>
          </a:p>
          <a:p>
            <a:pPr>
              <a:lnSpc>
                <a:spcPct val="103448"/>
              </a:lnSpc>
              <a:spcAft>
                <a:spcPts val="0"/>
              </a:spcAft>
            </a:pPr>
            <a:r>
              <a:rPr sz="725" i="0">
                <a:solidFill>
                  <a:srgbClr val="5C6773"/>
                </a:solidFill>
                <a:latin typeface="Inconsolata"/>
              </a:rPr>
              <a:t>17  </a:t>
            </a:r>
            <a:r>
              <a:rPr sz="725" i="0">
                <a:solidFill>
                  <a:srgbClr val="E6EDF3"/>
                </a:solidFill>
                <a:latin typeface="Inconsolata"/>
              </a:rPr>
              <a:t>curl -s localhost:8000/health/ready</a:t>
            </a:r>
          </a:p>
        </p:txBody>
      </p:sp>
      <p:sp>
        <p:nvSpPr>
          <p:cNvPr id="29" name="Box 12"/>
          <p:cNvSpPr/>
          <p:nvPr/>
        </p:nvSpPr>
        <p:spPr>
          <a:xfrm>
            <a:off x="704088" y="2739771"/>
            <a:ext cx="4343400" cy="336042"/>
          </a:xfrm>
          <a:prstGeom prst="roundRect">
            <a:avLst>
              <a:gd name="adj" fmla="val 13605"/>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4928616" y="27889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3082671"/>
            <a:ext cx="4343400" cy="221742"/>
          </a:xfrm>
          <a:prstGeom prst="roundRect">
            <a:avLst>
              <a:gd name="adj" fmla="val 20618"/>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4928616" y="307467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CodeTab 17"/>
          <p:cNvSpPr/>
          <p:nvPr/>
        </p:nvSpPr>
        <p:spPr>
          <a:xfrm>
            <a:off x="5285231" y="1481328"/>
            <a:ext cx="320040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Dot 18"/>
          <p:cNvSpPr/>
          <p:nvPr/>
        </p:nvSpPr>
        <p:spPr>
          <a:xfrm>
            <a:off x="5394959"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Dot 19"/>
          <p:cNvSpPr/>
          <p:nvPr/>
        </p:nvSpPr>
        <p:spPr>
          <a:xfrm>
            <a:off x="553212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Dot 20"/>
          <p:cNvSpPr/>
          <p:nvPr/>
        </p:nvSpPr>
        <p:spPr>
          <a:xfrm>
            <a:off x="5669279"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 21"/>
          <p:cNvSpPr txBox="1"/>
          <p:nvPr/>
        </p:nvSpPr>
        <p:spPr>
          <a:xfrm>
            <a:off x="5833871" y="1490472"/>
            <a:ext cx="256032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38" name="CodeBg 23"/>
          <p:cNvSpPr/>
          <p:nvPr/>
        </p:nvSpPr>
        <p:spPr>
          <a:xfrm>
            <a:off x="5285231" y="1719072"/>
            <a:ext cx="3200400" cy="457200"/>
          </a:xfrm>
          <a:prstGeom prst="roundRect">
            <a:avLst>
              <a:gd name="adj" fmla="val 4000"/>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Code 24"/>
          <p:cNvSpPr txBox="1"/>
          <p:nvPr/>
        </p:nvSpPr>
        <p:spPr>
          <a:xfrm>
            <a:off x="5285231" y="1719072"/>
            <a:ext cx="3200400" cy="457200"/>
          </a:xfrm>
          <a:prstGeom prst="rect">
            <a:avLst/>
          </a:prstGeom>
          <a:noFill/>
        </p:spPr>
        <p:txBody>
          <a:bodyPr wrap="none" lIns="146304" tIns="91440" rIns="146304" bIns="54864">
            <a:spAutoFit/>
          </a:bodyPr>
          <a:lstStyle/>
          <a:p>
            <a:pPr>
              <a:lnSpc>
                <a:spcPct val="104167"/>
              </a:lnSpc>
              <a:spcAft>
                <a:spcPts val="0"/>
              </a:spcAft>
            </a:pPr>
            <a:r>
              <a:rPr sz="800" i="0">
                <a:solidFill>
                  <a:srgbClr val="82B1FF"/>
                </a:solidFill>
                <a:latin typeface="Inconsolata"/>
              </a:rPr>
              <a:t>$ cd sesi-11-docker-kubernetes-cicd/03-docker-compose</a:t>
            </a:r>
          </a:p>
          <a:p>
            <a:pPr>
              <a:lnSpc>
                <a:spcPct val="104167"/>
              </a:lnSpc>
              <a:spcAft>
                <a:spcPts val="0"/>
              </a:spcAft>
            </a:pPr>
            <a:r>
              <a:rPr sz="800" i="0">
                <a:solidFill>
                  <a:srgbClr val="82B1FF"/>
                </a:solidFill>
                <a:latin typeface="Inconsolata"/>
              </a:rPr>
              <a:t>$ sh before.sh</a:t>
            </a:r>
          </a:p>
        </p:txBody>
      </p:sp>
      <p:pic>
        <p:nvPicPr>
          <p:cNvPr id="40" name="Image 25" descr="s11-03-docker-compose-before.png"/>
          <p:cNvPicPr>
            <a:picLocks noChangeAspect="1"/>
          </p:cNvPicPr>
          <p:nvPr/>
        </p:nvPicPr>
        <p:blipFill>
          <a:blip r:embed="rId2"/>
          <a:stretch>
            <a:fillRect/>
          </a:stretch>
        </p:blipFill>
        <p:spPr>
          <a:xfrm>
            <a:off x="5285231" y="2249424"/>
            <a:ext cx="3200400" cy="589547"/>
          </a:xfrm>
          <a:prstGeom prst="rect">
            <a:avLst/>
          </a:prstGeom>
        </p:spPr>
      </p:pic>
      <p:sp>
        <p:nvSpPr>
          <p:cNvPr id="41" name="Box 26"/>
          <p:cNvSpPr/>
          <p:nvPr/>
        </p:nvSpPr>
        <p:spPr>
          <a:xfrm>
            <a:off x="5285231" y="2930411"/>
            <a:ext cx="3200400" cy="1769604"/>
          </a:xfrm>
          <a:prstGeom prst="roundRect">
            <a:avLst>
              <a:gd name="adj" fmla="val 62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2" name="Text 27"/>
          <p:cNvSpPr txBox="1"/>
          <p:nvPr/>
        </p:nvSpPr>
        <p:spPr>
          <a:xfrm>
            <a:off x="5422392" y="3021851"/>
            <a:ext cx="2926080" cy="310896"/>
          </a:xfrm>
          <a:prstGeom prst="rect">
            <a:avLst/>
          </a:prstGeom>
          <a:noFill/>
        </p:spPr>
        <p:txBody>
          <a:bodyPr wrap="square" lIns="45720" rIns="45720" anchor="t">
            <a:spAutoFit/>
          </a:bodyPr>
          <a:lstStyle/>
          <a:p>
            <a:pPr algn="l">
              <a:lnSpc>
                <a:spcPct val="115000"/>
              </a:lnSpc>
              <a:spcAft>
                <a:spcPts val="400"/>
              </a:spcAft>
            </a:pPr>
            <a:r>
              <a:rPr sz="1000" b="1" i="0">
                <a:solidFill>
                  <a:srgbClr val="C0392B"/>
                </a:solidFill>
                <a:latin typeface="Inter"/>
              </a:rPr>
              <a:t>Masalahnya</a:t>
            </a:r>
          </a:p>
        </p:txBody>
      </p:sp>
      <p:sp>
        <p:nvSpPr>
          <p:cNvPr id="43" name="Text 28"/>
          <p:cNvSpPr txBox="1"/>
          <p:nvPr/>
        </p:nvSpPr>
        <p:spPr>
          <a:xfrm>
            <a:off x="5422392" y="3341891"/>
            <a:ext cx="2926080" cy="1266684"/>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850" b="0" i="0">
                <a:solidFill>
                  <a:srgbClr val="434343"/>
                </a:solidFill>
                <a:latin typeface="Inter"/>
              </a:rPr>
              <a:t>Setiap container dijalankan sendiri-sendiri (baris 9-11)</a:t>
            </a:r>
          </a:p>
          <a:p>
            <a:pPr marL="182880" indent="-182880" algn="l">
              <a:lnSpc>
                <a:spcPct val="115000"/>
              </a:lnSpc>
              <a:spcAft>
                <a:spcPts val="400"/>
              </a:spcAft>
              <a:buClr>
                <a:srgbClr val="E0764F"/>
              </a:buClr>
              <a:buSzPct val="100000"/>
              <a:buFont typeface="+mj-lt"/>
              <a:buAutoNum type="arabicPeriod"/>
            </a:pPr>
            <a:r>
              <a:rPr sz="850" b="0" i="0">
                <a:solidFill>
                  <a:srgbClr val="434343"/>
                </a:solidFill>
                <a:latin typeface="Inter"/>
              </a:rPr>
              <a:t>Alamat database dan Redis memakai localhost (baris 12-13)</a:t>
            </a:r>
          </a:p>
          <a:p>
            <a:pPr algn="l">
              <a:lnSpc>
                <a:spcPct val="115000"/>
              </a:lnSpc>
              <a:spcAft>
                <a:spcPts val="0"/>
              </a:spcAft>
            </a:pPr>
            <a:endParaRPr sz="850" b="0" i="0">
              <a:solidFill>
                <a:srgbClr val="434343"/>
              </a:solidFill>
              <a:latin typeface="Inter"/>
            </a:endParaRPr>
          </a:p>
          <a:p>
            <a:pPr algn="l">
              <a:lnSpc>
                <a:spcPct val="115000"/>
              </a:lnSpc>
              <a:spcAft>
                <a:spcPts val="400"/>
              </a:spcAft>
            </a:pPr>
            <a:r>
              <a:rPr sz="850" b="0" i="0">
                <a:solidFill>
                  <a:srgbClr val="434343"/>
                </a:solidFill>
                <a:latin typeface="Inter"/>
              </a:rPr>
              <a:t>Readiness check: database dan redis down.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Docker Compose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semua service di compose.yaml (1/2)</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72237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03-docker-compose/compose.yaml</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7863840" cy="2980944"/>
          </a:xfrm>
          <a:prstGeom prst="rect">
            <a:avLst/>
          </a:prstGeom>
          <a:noFill/>
        </p:spPr>
        <p:txBody>
          <a:bodyPr wrap="none" lIns="146304" tIns="91440" rIns="146304" bIns="54864">
            <a:spAutoFit/>
          </a:bodyPr>
          <a:lstStyle/>
          <a:p>
            <a:pPr>
              <a:lnSpc>
                <a:spcPct val="107843"/>
              </a:lnSpc>
              <a:spcAft>
                <a:spcPts val="0"/>
              </a:spcAft>
            </a:pPr>
            <a:r>
              <a:rPr sz="850" i="0">
                <a:solidFill>
                  <a:srgbClr val="5C6773"/>
                </a:solidFill>
                <a:latin typeface="Inconsolata"/>
              </a:rPr>
              <a:t> 1  </a:t>
            </a:r>
            <a:r>
              <a:rPr sz="850" i="1">
                <a:solidFill>
                  <a:srgbClr val="8B98A8"/>
                </a:solidFill>
                <a:latin typeface="Inconsolata"/>
              </a:rPr>
              <a:t># Docker Compose - AFTER</a:t>
            </a:r>
          </a:p>
          <a:p>
            <a:pPr>
              <a:lnSpc>
                <a:spcPct val="107843"/>
              </a:lnSpc>
              <a:spcAft>
                <a:spcPts val="0"/>
              </a:spcAft>
            </a:pPr>
            <a:r>
              <a:rPr sz="850" i="0">
                <a:solidFill>
                  <a:srgbClr val="5C6773"/>
                </a:solidFill>
                <a:latin typeface="Inconsolata"/>
              </a:rPr>
              <a:t> 2  </a:t>
            </a:r>
            <a:r>
              <a:rPr sz="850" i="1">
                <a:solidFill>
                  <a:srgbClr val="8B98A8"/>
                </a:solidFill>
                <a:latin typeface="Inconsolata"/>
              </a:rPr>
              <a:t># Semua service ditulis di satu file, lalu dijalankan dengan: docker compose up -d --build</a:t>
            </a:r>
          </a:p>
          <a:p>
            <a:pPr>
              <a:lnSpc>
                <a:spcPct val="107843"/>
              </a:lnSpc>
              <a:spcAft>
                <a:spcPts val="0"/>
              </a:spcAft>
            </a:pPr>
            <a:r>
              <a:rPr sz="850" i="0">
                <a:solidFill>
                  <a:srgbClr val="5C6773"/>
                </a:solidFill>
                <a:latin typeface="Inconsolata"/>
              </a:rPr>
              <a:t> 3  </a:t>
            </a:r>
            <a:r>
              <a:rPr sz="850" i="1">
                <a:solidFill>
                  <a:srgbClr val="8B98A8"/>
                </a:solidFill>
                <a:latin typeface="Inconsolata"/>
              </a:rPr>
              <a:t># - Satu network bersama: service saling memanggil dengan nama service (postgres, redis)</a:t>
            </a:r>
          </a:p>
          <a:p>
            <a:pPr>
              <a:lnSpc>
                <a:spcPct val="107843"/>
              </a:lnSpc>
              <a:spcAft>
                <a:spcPts val="0"/>
              </a:spcAft>
            </a:pPr>
            <a:r>
              <a:rPr sz="850" i="0">
                <a:solidFill>
                  <a:srgbClr val="5C6773"/>
                </a:solidFill>
                <a:latin typeface="Inconsolata"/>
              </a:rPr>
              <a:t> 4  </a:t>
            </a:r>
            <a:r>
              <a:rPr sz="850" i="1">
                <a:solidFill>
                  <a:srgbClr val="8B98A8"/>
                </a:solidFill>
                <a:latin typeface="Inconsolata"/>
              </a:rPr>
              <a:t># - depends_on + healthcheck: API baru start setelah PostgreSQL dan Redis siap</a:t>
            </a:r>
          </a:p>
          <a:p>
            <a:pPr>
              <a:lnSpc>
                <a:spcPct val="107843"/>
              </a:lnSpc>
              <a:spcAft>
                <a:spcPts val="0"/>
              </a:spcAft>
            </a:pPr>
            <a:r>
              <a:rPr sz="850" i="0">
                <a:solidFill>
                  <a:srgbClr val="5C6773"/>
                </a:solidFill>
                <a:latin typeface="Inconsolata"/>
              </a:rPr>
              <a:t> 5  </a:t>
            </a:r>
            <a:r>
              <a:rPr sz="850" i="0">
                <a:solidFill>
                  <a:srgbClr val="82B1FF"/>
                </a:solidFill>
                <a:latin typeface="Inconsolata"/>
              </a:rPr>
              <a:t>services</a:t>
            </a:r>
            <a:r>
              <a:rPr sz="850" i="0">
                <a:solidFill>
                  <a:srgbClr val="E6EDF3"/>
                </a:solidFill>
                <a:latin typeface="Inconsolata"/>
              </a:rPr>
              <a:t>:</a:t>
            </a:r>
          </a:p>
          <a:p>
            <a:pPr>
              <a:lnSpc>
                <a:spcPct val="107843"/>
              </a:lnSpc>
              <a:spcAft>
                <a:spcPts val="0"/>
              </a:spcAft>
            </a:pPr>
            <a:r>
              <a:rPr sz="850" i="0">
                <a:solidFill>
                  <a:srgbClr val="5C6773"/>
                </a:solidFill>
                <a:latin typeface="Inconsolata"/>
              </a:rPr>
              <a:t> 6  </a:t>
            </a:r>
            <a:r>
              <a:rPr sz="850" i="0">
                <a:solidFill>
                  <a:srgbClr val="E6EDF3"/>
                </a:solidFill>
                <a:latin typeface="Inconsolata"/>
              </a:rPr>
              <a:t>  </a:t>
            </a:r>
            <a:r>
              <a:rPr sz="850" i="0">
                <a:solidFill>
                  <a:srgbClr val="82B1FF"/>
                </a:solidFill>
                <a:latin typeface="Inconsolata"/>
              </a:rPr>
              <a:t>api</a:t>
            </a:r>
            <a:r>
              <a:rPr sz="850" i="0">
                <a:solidFill>
                  <a:srgbClr val="E6EDF3"/>
                </a:solidFill>
                <a:latin typeface="Inconsolata"/>
              </a:rPr>
              <a:t>:</a:t>
            </a:r>
          </a:p>
          <a:p>
            <a:pPr>
              <a:lnSpc>
                <a:spcPct val="107843"/>
              </a:lnSpc>
              <a:spcAft>
                <a:spcPts val="0"/>
              </a:spcAft>
            </a:pPr>
            <a:r>
              <a:rPr sz="850" i="0">
                <a:solidFill>
                  <a:srgbClr val="5C6773"/>
                </a:solidFill>
                <a:latin typeface="Inconsolata"/>
              </a:rPr>
              <a:t> 7  </a:t>
            </a:r>
            <a:r>
              <a:rPr sz="850" i="0">
                <a:solidFill>
                  <a:srgbClr val="E6EDF3"/>
                </a:solidFill>
                <a:latin typeface="Inconsolata"/>
              </a:rPr>
              <a:t>    </a:t>
            </a:r>
            <a:r>
              <a:rPr sz="850" i="0">
                <a:solidFill>
                  <a:srgbClr val="82B1FF"/>
                </a:solidFill>
                <a:latin typeface="Inconsolata"/>
              </a:rPr>
              <a:t>build</a:t>
            </a:r>
            <a:r>
              <a:rPr sz="850" i="0">
                <a:solidFill>
                  <a:srgbClr val="E6EDF3"/>
                </a:solidFill>
                <a:latin typeface="Inconsolata"/>
              </a:rPr>
              <a:t>: </a:t>
            </a:r>
            <a:r>
              <a:rPr sz="850" i="0">
                <a:solidFill>
                  <a:srgbClr val="F9C97A"/>
                </a:solidFill>
                <a:latin typeface="Inconsolata"/>
              </a:rPr>
              <a:t>.</a:t>
            </a:r>
          </a:p>
          <a:p>
            <a:pPr>
              <a:lnSpc>
                <a:spcPct val="107843"/>
              </a:lnSpc>
              <a:spcAft>
                <a:spcPts val="0"/>
              </a:spcAft>
            </a:pPr>
            <a:r>
              <a:rPr sz="850" i="0">
                <a:solidFill>
                  <a:srgbClr val="5C6773"/>
                </a:solidFill>
                <a:latin typeface="Inconsolata"/>
              </a:rPr>
              <a:t> 8  </a:t>
            </a:r>
            <a:r>
              <a:rPr sz="850" i="0">
                <a:solidFill>
                  <a:srgbClr val="E6EDF3"/>
                </a:solidFill>
                <a:latin typeface="Inconsolata"/>
              </a:rPr>
              <a:t>    </a:t>
            </a:r>
            <a:r>
              <a:rPr sz="850" i="0">
                <a:solidFill>
                  <a:srgbClr val="82B1FF"/>
                </a:solidFill>
                <a:latin typeface="Inconsolata"/>
              </a:rPr>
              <a:t>ports</a:t>
            </a:r>
            <a:r>
              <a:rPr sz="850" i="0">
                <a:solidFill>
                  <a:srgbClr val="E6EDF3"/>
                </a:solidFill>
                <a:latin typeface="Inconsolata"/>
              </a:rPr>
              <a:t>:</a:t>
            </a:r>
          </a:p>
          <a:p>
            <a:pPr>
              <a:lnSpc>
                <a:spcPct val="107843"/>
              </a:lnSpc>
              <a:spcAft>
                <a:spcPts val="0"/>
              </a:spcAft>
            </a:pPr>
            <a:r>
              <a:rPr sz="850" i="0">
                <a:solidFill>
                  <a:srgbClr val="5C6773"/>
                </a:solidFill>
                <a:latin typeface="Inconsolata"/>
              </a:rPr>
              <a:t> 9  </a:t>
            </a:r>
            <a:r>
              <a:rPr sz="850" i="0">
                <a:solidFill>
                  <a:srgbClr val="E6EDF3"/>
                </a:solidFill>
                <a:latin typeface="Inconsolata"/>
              </a:rPr>
              <a:t>      - "8000:8000"</a:t>
            </a:r>
          </a:p>
          <a:p>
            <a:pPr>
              <a:lnSpc>
                <a:spcPct val="107843"/>
              </a:lnSpc>
              <a:spcAft>
                <a:spcPts val="0"/>
              </a:spcAft>
            </a:pPr>
            <a:r>
              <a:rPr sz="850" i="0">
                <a:solidFill>
                  <a:srgbClr val="5C6773"/>
                </a:solidFill>
                <a:latin typeface="Inconsolata"/>
              </a:rPr>
              <a:t>10  </a:t>
            </a:r>
            <a:r>
              <a:rPr sz="850" i="0">
                <a:solidFill>
                  <a:srgbClr val="E6EDF3"/>
                </a:solidFill>
                <a:latin typeface="Inconsolata"/>
              </a:rPr>
              <a:t>    </a:t>
            </a:r>
            <a:r>
              <a:rPr sz="850" i="0">
                <a:solidFill>
                  <a:srgbClr val="82B1FF"/>
                </a:solidFill>
                <a:latin typeface="Inconsolata"/>
              </a:rPr>
              <a:t>environment</a:t>
            </a:r>
            <a:r>
              <a:rPr sz="850" i="0">
                <a:solidFill>
                  <a:srgbClr val="E6EDF3"/>
                </a:solidFill>
                <a:latin typeface="Inconsolata"/>
              </a:rPr>
              <a:t>:</a:t>
            </a:r>
          </a:p>
          <a:p>
            <a:pPr>
              <a:lnSpc>
                <a:spcPct val="107843"/>
              </a:lnSpc>
              <a:spcAft>
                <a:spcPts val="0"/>
              </a:spcAft>
            </a:pPr>
            <a:r>
              <a:rPr sz="850" i="0">
                <a:solidFill>
                  <a:srgbClr val="5C6773"/>
                </a:solidFill>
                <a:latin typeface="Inconsolata"/>
              </a:rPr>
              <a:t>11  </a:t>
            </a:r>
            <a:r>
              <a:rPr sz="850" i="0">
                <a:solidFill>
                  <a:srgbClr val="E6EDF3"/>
                </a:solidFill>
                <a:latin typeface="Inconsolata"/>
              </a:rPr>
              <a:t>      </a:t>
            </a:r>
            <a:r>
              <a:rPr sz="850" i="0">
                <a:solidFill>
                  <a:srgbClr val="82B1FF"/>
                </a:solidFill>
                <a:latin typeface="Inconsolata"/>
              </a:rPr>
              <a:t>DATABASE_URL</a:t>
            </a:r>
            <a:r>
              <a:rPr sz="850" i="0">
                <a:solidFill>
                  <a:srgbClr val="E6EDF3"/>
                </a:solidFill>
                <a:latin typeface="Inconsolata"/>
              </a:rPr>
              <a:t>: postgresql://postgres:app@postgres:5432/postgres</a:t>
            </a:r>
          </a:p>
          <a:p>
            <a:pPr>
              <a:lnSpc>
                <a:spcPct val="107843"/>
              </a:lnSpc>
              <a:spcAft>
                <a:spcPts val="0"/>
              </a:spcAft>
            </a:pPr>
            <a:r>
              <a:rPr sz="850" i="0">
                <a:solidFill>
                  <a:srgbClr val="5C6773"/>
                </a:solidFill>
                <a:latin typeface="Inconsolata"/>
              </a:rPr>
              <a:t>12  </a:t>
            </a:r>
            <a:r>
              <a:rPr sz="850" i="0">
                <a:solidFill>
                  <a:srgbClr val="E6EDF3"/>
                </a:solidFill>
                <a:latin typeface="Inconsolata"/>
              </a:rPr>
              <a:t>      </a:t>
            </a:r>
            <a:r>
              <a:rPr sz="850" i="0">
                <a:solidFill>
                  <a:srgbClr val="82B1FF"/>
                </a:solidFill>
                <a:latin typeface="Inconsolata"/>
              </a:rPr>
              <a:t>REDIS_URL</a:t>
            </a:r>
            <a:r>
              <a:rPr sz="850" i="0">
                <a:solidFill>
                  <a:srgbClr val="E6EDF3"/>
                </a:solidFill>
                <a:latin typeface="Inconsolata"/>
              </a:rPr>
              <a:t>: redis://redis:6379/0</a:t>
            </a:r>
          </a:p>
          <a:p>
            <a:pPr>
              <a:lnSpc>
                <a:spcPct val="107843"/>
              </a:lnSpc>
              <a:spcAft>
                <a:spcPts val="0"/>
              </a:spcAft>
            </a:pPr>
            <a:r>
              <a:rPr sz="850" i="0">
                <a:solidFill>
                  <a:srgbClr val="5C6773"/>
                </a:solidFill>
                <a:latin typeface="Inconsolata"/>
              </a:rPr>
              <a:t>13  </a:t>
            </a:r>
            <a:r>
              <a:rPr sz="850" i="0">
                <a:solidFill>
                  <a:srgbClr val="E6EDF3"/>
                </a:solidFill>
                <a:latin typeface="Inconsolata"/>
              </a:rPr>
              <a:t>    </a:t>
            </a:r>
            <a:r>
              <a:rPr sz="850" i="0">
                <a:solidFill>
                  <a:srgbClr val="82B1FF"/>
                </a:solidFill>
                <a:latin typeface="Inconsolata"/>
              </a:rPr>
              <a:t>depends_on</a:t>
            </a:r>
            <a:r>
              <a:rPr sz="850" i="0">
                <a:solidFill>
                  <a:srgbClr val="E6EDF3"/>
                </a:solidFill>
                <a:latin typeface="Inconsolata"/>
              </a:rPr>
              <a:t>:</a:t>
            </a:r>
          </a:p>
          <a:p>
            <a:pPr>
              <a:lnSpc>
                <a:spcPct val="107843"/>
              </a:lnSpc>
              <a:spcAft>
                <a:spcPts val="0"/>
              </a:spcAft>
            </a:pPr>
            <a:r>
              <a:rPr sz="850" i="0">
                <a:solidFill>
                  <a:srgbClr val="5C6773"/>
                </a:solidFill>
                <a:latin typeface="Inconsolata"/>
              </a:rPr>
              <a:t>14  </a:t>
            </a:r>
            <a:r>
              <a:rPr sz="850" i="0">
                <a:solidFill>
                  <a:srgbClr val="E6EDF3"/>
                </a:solidFill>
                <a:latin typeface="Inconsolata"/>
              </a:rPr>
              <a:t>      </a:t>
            </a:r>
            <a:r>
              <a:rPr sz="850" i="0">
                <a:solidFill>
                  <a:srgbClr val="82B1FF"/>
                </a:solidFill>
                <a:latin typeface="Inconsolata"/>
              </a:rPr>
              <a:t>postgres</a:t>
            </a:r>
            <a:r>
              <a:rPr sz="850" i="0">
                <a:solidFill>
                  <a:srgbClr val="E6EDF3"/>
                </a:solidFill>
                <a:latin typeface="Inconsolata"/>
              </a:rPr>
              <a:t>:</a:t>
            </a:r>
          </a:p>
          <a:p>
            <a:pPr>
              <a:lnSpc>
                <a:spcPct val="107843"/>
              </a:lnSpc>
              <a:spcAft>
                <a:spcPts val="0"/>
              </a:spcAft>
            </a:pPr>
            <a:r>
              <a:rPr sz="850" i="0">
                <a:solidFill>
                  <a:srgbClr val="5C6773"/>
                </a:solidFill>
                <a:latin typeface="Inconsolata"/>
              </a:rPr>
              <a:t>15  </a:t>
            </a:r>
            <a:r>
              <a:rPr sz="850" i="0">
                <a:solidFill>
                  <a:srgbClr val="E6EDF3"/>
                </a:solidFill>
                <a:latin typeface="Inconsolata"/>
              </a:rPr>
              <a:t>        </a:t>
            </a:r>
            <a:r>
              <a:rPr sz="850" i="0">
                <a:solidFill>
                  <a:srgbClr val="82B1FF"/>
                </a:solidFill>
                <a:latin typeface="Inconsolata"/>
              </a:rPr>
              <a:t>condition</a:t>
            </a:r>
            <a:r>
              <a:rPr sz="850" i="0">
                <a:solidFill>
                  <a:srgbClr val="E6EDF3"/>
                </a:solidFill>
                <a:latin typeface="Inconsolata"/>
              </a:rPr>
              <a:t>: service_healthy</a:t>
            </a:r>
          </a:p>
          <a:p>
            <a:pPr>
              <a:lnSpc>
                <a:spcPct val="107843"/>
              </a:lnSpc>
              <a:spcAft>
                <a:spcPts val="0"/>
              </a:spcAft>
            </a:pPr>
            <a:r>
              <a:rPr sz="850" i="0">
                <a:solidFill>
                  <a:srgbClr val="5C6773"/>
                </a:solidFill>
                <a:latin typeface="Inconsolata"/>
              </a:rPr>
              <a:t>16  </a:t>
            </a:r>
            <a:r>
              <a:rPr sz="850" i="0">
                <a:solidFill>
                  <a:srgbClr val="E6EDF3"/>
                </a:solidFill>
                <a:latin typeface="Inconsolata"/>
              </a:rPr>
              <a:t>      </a:t>
            </a:r>
            <a:r>
              <a:rPr sz="850" i="0">
                <a:solidFill>
                  <a:srgbClr val="82B1FF"/>
                </a:solidFill>
                <a:latin typeface="Inconsolata"/>
              </a:rPr>
              <a:t>redis</a:t>
            </a:r>
            <a:r>
              <a:rPr sz="850" i="0">
                <a:solidFill>
                  <a:srgbClr val="E6EDF3"/>
                </a:solidFill>
                <a:latin typeface="Inconsolata"/>
              </a:rPr>
              <a:t>:</a:t>
            </a:r>
          </a:p>
          <a:p>
            <a:pPr>
              <a:lnSpc>
                <a:spcPct val="107843"/>
              </a:lnSpc>
              <a:spcAft>
                <a:spcPts val="0"/>
              </a:spcAft>
            </a:pPr>
            <a:r>
              <a:rPr sz="850" i="0">
                <a:solidFill>
                  <a:srgbClr val="5C6773"/>
                </a:solidFill>
                <a:latin typeface="Inconsolata"/>
              </a:rPr>
              <a:t>17  </a:t>
            </a:r>
            <a:r>
              <a:rPr sz="850" i="0">
                <a:solidFill>
                  <a:srgbClr val="E6EDF3"/>
                </a:solidFill>
                <a:latin typeface="Inconsolata"/>
              </a:rPr>
              <a:t>        </a:t>
            </a:r>
            <a:r>
              <a:rPr sz="850" i="0">
                <a:solidFill>
                  <a:srgbClr val="82B1FF"/>
                </a:solidFill>
                <a:latin typeface="Inconsolata"/>
              </a:rPr>
              <a:t>condition</a:t>
            </a:r>
            <a:r>
              <a:rPr sz="850" i="0">
                <a:solidFill>
                  <a:srgbClr val="E6EDF3"/>
                </a:solidFill>
                <a:latin typeface="Inconsolata"/>
              </a:rPr>
              <a:t>: service_healthy</a:t>
            </a:r>
          </a:p>
        </p:txBody>
      </p:sp>
      <p:sp>
        <p:nvSpPr>
          <p:cNvPr id="29" name="Box 12"/>
          <p:cNvSpPr/>
          <p:nvPr/>
        </p:nvSpPr>
        <p:spPr>
          <a:xfrm>
            <a:off x="704088" y="3225673"/>
            <a:ext cx="7699248" cy="271018"/>
          </a:xfrm>
          <a:prstGeom prst="roundRect">
            <a:avLst>
              <a:gd name="adj" fmla="val 16869"/>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8284463" y="324231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3505073"/>
            <a:ext cx="7699248" cy="410718"/>
          </a:xfrm>
          <a:prstGeom prst="roundRect">
            <a:avLst>
              <a:gd name="adj" fmla="val 11131"/>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8284463" y="359156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Docker Compose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semua service di compose.yaml (2/2)</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72237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03-docker-compose/compose.yaml</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7863840" cy="2980944"/>
          </a:xfrm>
          <a:prstGeom prst="rect">
            <a:avLst/>
          </a:prstGeom>
          <a:noFill/>
        </p:spPr>
        <p:txBody>
          <a:bodyPr wrap="none" lIns="146304" tIns="91440" rIns="146304" bIns="54864">
            <a:spAutoFit/>
          </a:bodyPr>
          <a:lstStyle/>
          <a:p>
            <a:pPr>
              <a:lnSpc>
                <a:spcPct val="107843"/>
              </a:lnSpc>
              <a:spcAft>
                <a:spcPts val="0"/>
              </a:spcAft>
            </a:pPr>
            <a:r>
              <a:rPr sz="850" i="0">
                <a:solidFill>
                  <a:srgbClr val="5C6773"/>
                </a:solidFill>
                <a:latin typeface="Inconsolata"/>
              </a:rPr>
              <a:t>19  </a:t>
            </a:r>
            <a:r>
              <a:rPr sz="850" i="0">
                <a:solidFill>
                  <a:srgbClr val="E6EDF3"/>
                </a:solidFill>
                <a:latin typeface="Inconsolata"/>
              </a:rPr>
              <a:t>  </a:t>
            </a:r>
            <a:r>
              <a:rPr sz="850" i="0">
                <a:solidFill>
                  <a:srgbClr val="82B1FF"/>
                </a:solidFill>
                <a:latin typeface="Inconsolata"/>
              </a:rPr>
              <a:t>postgres</a:t>
            </a:r>
            <a:r>
              <a:rPr sz="850" i="0">
                <a:solidFill>
                  <a:srgbClr val="E6EDF3"/>
                </a:solidFill>
                <a:latin typeface="Inconsolata"/>
              </a:rPr>
              <a:t>:</a:t>
            </a:r>
          </a:p>
          <a:p>
            <a:pPr>
              <a:lnSpc>
                <a:spcPct val="107843"/>
              </a:lnSpc>
              <a:spcAft>
                <a:spcPts val="0"/>
              </a:spcAft>
            </a:pPr>
            <a:r>
              <a:rPr sz="850" i="0">
                <a:solidFill>
                  <a:srgbClr val="5C6773"/>
                </a:solidFill>
                <a:latin typeface="Inconsolata"/>
              </a:rPr>
              <a:t>20  </a:t>
            </a:r>
            <a:r>
              <a:rPr sz="850" i="0">
                <a:solidFill>
                  <a:srgbClr val="E6EDF3"/>
                </a:solidFill>
                <a:latin typeface="Inconsolata"/>
              </a:rPr>
              <a:t>    </a:t>
            </a:r>
            <a:r>
              <a:rPr sz="850" i="0">
                <a:solidFill>
                  <a:srgbClr val="82B1FF"/>
                </a:solidFill>
                <a:latin typeface="Inconsolata"/>
              </a:rPr>
              <a:t>image</a:t>
            </a:r>
            <a:r>
              <a:rPr sz="850" i="0">
                <a:solidFill>
                  <a:srgbClr val="E6EDF3"/>
                </a:solidFill>
                <a:latin typeface="Inconsolata"/>
              </a:rPr>
              <a:t>: postgres:16-alpine</a:t>
            </a:r>
          </a:p>
          <a:p>
            <a:pPr>
              <a:lnSpc>
                <a:spcPct val="107843"/>
              </a:lnSpc>
              <a:spcAft>
                <a:spcPts val="0"/>
              </a:spcAft>
            </a:pPr>
            <a:r>
              <a:rPr sz="850" i="0">
                <a:solidFill>
                  <a:srgbClr val="5C6773"/>
                </a:solidFill>
                <a:latin typeface="Inconsolata"/>
              </a:rPr>
              <a:t>21  </a:t>
            </a:r>
            <a:r>
              <a:rPr sz="850" i="0">
                <a:solidFill>
                  <a:srgbClr val="E6EDF3"/>
                </a:solidFill>
                <a:latin typeface="Inconsolata"/>
              </a:rPr>
              <a:t>    </a:t>
            </a:r>
            <a:r>
              <a:rPr sz="850" i="0">
                <a:solidFill>
                  <a:srgbClr val="82B1FF"/>
                </a:solidFill>
                <a:latin typeface="Inconsolata"/>
              </a:rPr>
              <a:t>environment</a:t>
            </a:r>
            <a:r>
              <a:rPr sz="850" i="0">
                <a:solidFill>
                  <a:srgbClr val="E6EDF3"/>
                </a:solidFill>
                <a:latin typeface="Inconsolata"/>
              </a:rPr>
              <a:t>:</a:t>
            </a:r>
          </a:p>
          <a:p>
            <a:pPr>
              <a:lnSpc>
                <a:spcPct val="107843"/>
              </a:lnSpc>
              <a:spcAft>
                <a:spcPts val="0"/>
              </a:spcAft>
            </a:pPr>
            <a:r>
              <a:rPr sz="850" i="0">
                <a:solidFill>
                  <a:srgbClr val="5C6773"/>
                </a:solidFill>
                <a:latin typeface="Inconsolata"/>
              </a:rPr>
              <a:t>22  </a:t>
            </a:r>
            <a:r>
              <a:rPr sz="850" i="0">
                <a:solidFill>
                  <a:srgbClr val="E6EDF3"/>
                </a:solidFill>
                <a:latin typeface="Inconsolata"/>
              </a:rPr>
              <a:t>      </a:t>
            </a:r>
            <a:r>
              <a:rPr sz="850" i="0">
                <a:solidFill>
                  <a:srgbClr val="82B1FF"/>
                </a:solidFill>
                <a:latin typeface="Inconsolata"/>
              </a:rPr>
              <a:t>POSTGRES_PASSWORD</a:t>
            </a:r>
            <a:r>
              <a:rPr sz="850" i="0">
                <a:solidFill>
                  <a:srgbClr val="E6EDF3"/>
                </a:solidFill>
                <a:latin typeface="Inconsolata"/>
              </a:rPr>
              <a:t>: app</a:t>
            </a:r>
          </a:p>
          <a:p>
            <a:pPr>
              <a:lnSpc>
                <a:spcPct val="107843"/>
              </a:lnSpc>
              <a:spcAft>
                <a:spcPts val="0"/>
              </a:spcAft>
            </a:pPr>
            <a:r>
              <a:rPr sz="850" i="0">
                <a:solidFill>
                  <a:srgbClr val="5C6773"/>
                </a:solidFill>
                <a:latin typeface="Inconsolata"/>
              </a:rPr>
              <a:t>23  </a:t>
            </a:r>
            <a:r>
              <a:rPr sz="850" i="0">
                <a:solidFill>
                  <a:srgbClr val="E6EDF3"/>
                </a:solidFill>
                <a:latin typeface="Inconsolata"/>
              </a:rPr>
              <a:t>    </a:t>
            </a:r>
            <a:r>
              <a:rPr sz="850" i="0">
                <a:solidFill>
                  <a:srgbClr val="82B1FF"/>
                </a:solidFill>
                <a:latin typeface="Inconsolata"/>
              </a:rPr>
              <a:t>healthcheck</a:t>
            </a:r>
            <a:r>
              <a:rPr sz="850" i="0">
                <a:solidFill>
                  <a:srgbClr val="E6EDF3"/>
                </a:solidFill>
                <a:latin typeface="Inconsolata"/>
              </a:rPr>
              <a:t>:</a:t>
            </a:r>
          </a:p>
          <a:p>
            <a:pPr>
              <a:lnSpc>
                <a:spcPct val="107843"/>
              </a:lnSpc>
              <a:spcAft>
                <a:spcPts val="0"/>
              </a:spcAft>
            </a:pPr>
            <a:r>
              <a:rPr sz="850" i="0">
                <a:solidFill>
                  <a:srgbClr val="5C6773"/>
                </a:solidFill>
                <a:latin typeface="Inconsolata"/>
              </a:rPr>
              <a:t>24  </a:t>
            </a:r>
            <a:r>
              <a:rPr sz="850" i="0">
                <a:solidFill>
                  <a:srgbClr val="E6EDF3"/>
                </a:solidFill>
                <a:latin typeface="Inconsolata"/>
              </a:rPr>
              <a:t>      </a:t>
            </a:r>
            <a:r>
              <a:rPr sz="850" i="0">
                <a:solidFill>
                  <a:srgbClr val="82B1FF"/>
                </a:solidFill>
                <a:latin typeface="Inconsolata"/>
              </a:rPr>
              <a:t>test</a:t>
            </a:r>
            <a:r>
              <a:rPr sz="850" i="0">
                <a:solidFill>
                  <a:srgbClr val="E6EDF3"/>
                </a:solidFill>
                <a:latin typeface="Inconsolata"/>
              </a:rPr>
              <a:t>: ["CMD", "pg_isready", "-U", "postgres"]</a:t>
            </a:r>
          </a:p>
          <a:p>
            <a:pPr>
              <a:lnSpc>
                <a:spcPct val="107843"/>
              </a:lnSpc>
              <a:spcAft>
                <a:spcPts val="0"/>
              </a:spcAft>
            </a:pPr>
            <a:r>
              <a:rPr sz="850" i="0">
                <a:solidFill>
                  <a:srgbClr val="5C6773"/>
                </a:solidFill>
                <a:latin typeface="Inconsolata"/>
              </a:rPr>
              <a:t>25  </a:t>
            </a:r>
            <a:r>
              <a:rPr sz="850" i="0">
                <a:solidFill>
                  <a:srgbClr val="E6EDF3"/>
                </a:solidFill>
                <a:latin typeface="Inconsolata"/>
              </a:rPr>
              <a:t>      </a:t>
            </a:r>
            <a:r>
              <a:rPr sz="850" i="0">
                <a:solidFill>
                  <a:srgbClr val="82B1FF"/>
                </a:solidFill>
                <a:latin typeface="Inconsolata"/>
              </a:rPr>
              <a:t>interval</a:t>
            </a:r>
            <a:r>
              <a:rPr sz="850" i="0">
                <a:solidFill>
                  <a:srgbClr val="E6EDF3"/>
                </a:solidFill>
                <a:latin typeface="Inconsolata"/>
              </a:rPr>
              <a:t>: 2s</a:t>
            </a:r>
          </a:p>
          <a:p>
            <a:pPr>
              <a:lnSpc>
                <a:spcPct val="107843"/>
              </a:lnSpc>
              <a:spcAft>
                <a:spcPts val="0"/>
              </a:spcAft>
            </a:pPr>
            <a:r>
              <a:rPr sz="850" i="0">
                <a:solidFill>
                  <a:srgbClr val="5C6773"/>
                </a:solidFill>
                <a:latin typeface="Inconsolata"/>
              </a:rPr>
              <a:t>26  </a:t>
            </a:r>
            <a:r>
              <a:rPr sz="850" i="0">
                <a:solidFill>
                  <a:srgbClr val="E6EDF3"/>
                </a:solidFill>
                <a:latin typeface="Inconsolata"/>
              </a:rPr>
              <a:t>      </a:t>
            </a:r>
            <a:r>
              <a:rPr sz="850" i="0">
                <a:solidFill>
                  <a:srgbClr val="82B1FF"/>
                </a:solidFill>
                <a:latin typeface="Inconsolata"/>
              </a:rPr>
              <a:t>retries</a:t>
            </a:r>
            <a:r>
              <a:rPr sz="850" i="0">
                <a:solidFill>
                  <a:srgbClr val="E6EDF3"/>
                </a:solidFill>
                <a:latin typeface="Inconsolata"/>
              </a:rPr>
              <a:t>: </a:t>
            </a:r>
            <a:r>
              <a:rPr sz="850" i="0">
                <a:solidFill>
                  <a:srgbClr val="F9C97A"/>
                </a:solidFill>
                <a:latin typeface="Inconsolata"/>
              </a:rPr>
              <a:t>15</a:t>
            </a:r>
          </a:p>
          <a:p>
            <a:pPr>
              <a:lnSpc>
                <a:spcPct val="107843"/>
              </a:lnSpc>
              <a:spcAft>
                <a:spcPts val="0"/>
              </a:spcAft>
            </a:pPr>
            <a:r>
              <a:rPr sz="850" i="0">
                <a:solidFill>
                  <a:srgbClr val="5C6773"/>
                </a:solidFill>
                <a:latin typeface="Inconsolata"/>
              </a:rPr>
              <a:t>27  </a:t>
            </a:r>
            <a:r>
              <a:rPr sz="850" i="0">
                <a:solidFill>
                  <a:srgbClr val="E6EDF3"/>
                </a:solidFill>
                <a:latin typeface="Inconsolata"/>
              </a:rPr>
              <a:t> </a:t>
            </a:r>
          </a:p>
          <a:p>
            <a:pPr>
              <a:lnSpc>
                <a:spcPct val="107843"/>
              </a:lnSpc>
              <a:spcAft>
                <a:spcPts val="0"/>
              </a:spcAft>
            </a:pPr>
            <a:r>
              <a:rPr sz="850" i="0">
                <a:solidFill>
                  <a:srgbClr val="5C6773"/>
                </a:solidFill>
                <a:latin typeface="Inconsolata"/>
              </a:rPr>
              <a:t>28  </a:t>
            </a:r>
            <a:r>
              <a:rPr sz="850" i="0">
                <a:solidFill>
                  <a:srgbClr val="E6EDF3"/>
                </a:solidFill>
                <a:latin typeface="Inconsolata"/>
              </a:rPr>
              <a:t>  </a:t>
            </a:r>
            <a:r>
              <a:rPr sz="850" i="0">
                <a:solidFill>
                  <a:srgbClr val="82B1FF"/>
                </a:solidFill>
                <a:latin typeface="Inconsolata"/>
              </a:rPr>
              <a:t>redis</a:t>
            </a:r>
            <a:r>
              <a:rPr sz="850" i="0">
                <a:solidFill>
                  <a:srgbClr val="E6EDF3"/>
                </a:solidFill>
                <a:latin typeface="Inconsolata"/>
              </a:rPr>
              <a:t>:</a:t>
            </a:r>
          </a:p>
          <a:p>
            <a:pPr>
              <a:lnSpc>
                <a:spcPct val="107843"/>
              </a:lnSpc>
              <a:spcAft>
                <a:spcPts val="0"/>
              </a:spcAft>
            </a:pPr>
            <a:r>
              <a:rPr sz="850" i="0">
                <a:solidFill>
                  <a:srgbClr val="5C6773"/>
                </a:solidFill>
                <a:latin typeface="Inconsolata"/>
              </a:rPr>
              <a:t>29  </a:t>
            </a:r>
            <a:r>
              <a:rPr sz="850" i="0">
                <a:solidFill>
                  <a:srgbClr val="E6EDF3"/>
                </a:solidFill>
                <a:latin typeface="Inconsolata"/>
              </a:rPr>
              <a:t>    </a:t>
            </a:r>
            <a:r>
              <a:rPr sz="850" i="0">
                <a:solidFill>
                  <a:srgbClr val="82B1FF"/>
                </a:solidFill>
                <a:latin typeface="Inconsolata"/>
              </a:rPr>
              <a:t>image</a:t>
            </a:r>
            <a:r>
              <a:rPr sz="850" i="0">
                <a:solidFill>
                  <a:srgbClr val="E6EDF3"/>
                </a:solidFill>
                <a:latin typeface="Inconsolata"/>
              </a:rPr>
              <a:t>: redis:7-alpine</a:t>
            </a:r>
          </a:p>
          <a:p>
            <a:pPr>
              <a:lnSpc>
                <a:spcPct val="107843"/>
              </a:lnSpc>
              <a:spcAft>
                <a:spcPts val="0"/>
              </a:spcAft>
            </a:pPr>
            <a:r>
              <a:rPr sz="850" i="0">
                <a:solidFill>
                  <a:srgbClr val="5C6773"/>
                </a:solidFill>
                <a:latin typeface="Inconsolata"/>
              </a:rPr>
              <a:t>30  </a:t>
            </a:r>
            <a:r>
              <a:rPr sz="850" i="0">
                <a:solidFill>
                  <a:srgbClr val="E6EDF3"/>
                </a:solidFill>
                <a:latin typeface="Inconsolata"/>
              </a:rPr>
              <a:t>    </a:t>
            </a:r>
            <a:r>
              <a:rPr sz="850" i="0">
                <a:solidFill>
                  <a:srgbClr val="82B1FF"/>
                </a:solidFill>
                <a:latin typeface="Inconsolata"/>
              </a:rPr>
              <a:t>healthcheck</a:t>
            </a:r>
            <a:r>
              <a:rPr sz="850" i="0">
                <a:solidFill>
                  <a:srgbClr val="E6EDF3"/>
                </a:solidFill>
                <a:latin typeface="Inconsolata"/>
              </a:rPr>
              <a:t>:</a:t>
            </a:r>
          </a:p>
          <a:p>
            <a:pPr>
              <a:lnSpc>
                <a:spcPct val="107843"/>
              </a:lnSpc>
              <a:spcAft>
                <a:spcPts val="0"/>
              </a:spcAft>
            </a:pPr>
            <a:r>
              <a:rPr sz="850" i="0">
                <a:solidFill>
                  <a:srgbClr val="5C6773"/>
                </a:solidFill>
                <a:latin typeface="Inconsolata"/>
              </a:rPr>
              <a:t>31  </a:t>
            </a:r>
            <a:r>
              <a:rPr sz="850" i="0">
                <a:solidFill>
                  <a:srgbClr val="E6EDF3"/>
                </a:solidFill>
                <a:latin typeface="Inconsolata"/>
              </a:rPr>
              <a:t>      </a:t>
            </a:r>
            <a:r>
              <a:rPr sz="850" i="0">
                <a:solidFill>
                  <a:srgbClr val="82B1FF"/>
                </a:solidFill>
                <a:latin typeface="Inconsolata"/>
              </a:rPr>
              <a:t>test</a:t>
            </a:r>
            <a:r>
              <a:rPr sz="850" i="0">
                <a:solidFill>
                  <a:srgbClr val="E6EDF3"/>
                </a:solidFill>
                <a:latin typeface="Inconsolata"/>
              </a:rPr>
              <a:t>: ["CMD", "redis-cli", "ping"]</a:t>
            </a:r>
          </a:p>
          <a:p>
            <a:pPr>
              <a:lnSpc>
                <a:spcPct val="107843"/>
              </a:lnSpc>
              <a:spcAft>
                <a:spcPts val="0"/>
              </a:spcAft>
            </a:pPr>
            <a:r>
              <a:rPr sz="850" i="0">
                <a:solidFill>
                  <a:srgbClr val="5C6773"/>
                </a:solidFill>
                <a:latin typeface="Inconsolata"/>
              </a:rPr>
              <a:t>32  </a:t>
            </a:r>
            <a:r>
              <a:rPr sz="850" i="0">
                <a:solidFill>
                  <a:srgbClr val="E6EDF3"/>
                </a:solidFill>
                <a:latin typeface="Inconsolata"/>
              </a:rPr>
              <a:t>      </a:t>
            </a:r>
            <a:r>
              <a:rPr sz="850" i="0">
                <a:solidFill>
                  <a:srgbClr val="82B1FF"/>
                </a:solidFill>
                <a:latin typeface="Inconsolata"/>
              </a:rPr>
              <a:t>interval</a:t>
            </a:r>
            <a:r>
              <a:rPr sz="850" i="0">
                <a:solidFill>
                  <a:srgbClr val="E6EDF3"/>
                </a:solidFill>
                <a:latin typeface="Inconsolata"/>
              </a:rPr>
              <a:t>: 2s</a:t>
            </a:r>
          </a:p>
          <a:p>
            <a:pPr>
              <a:lnSpc>
                <a:spcPct val="107843"/>
              </a:lnSpc>
              <a:spcAft>
                <a:spcPts val="0"/>
              </a:spcAft>
            </a:pPr>
            <a:r>
              <a:rPr sz="850" i="0">
                <a:solidFill>
                  <a:srgbClr val="5C6773"/>
                </a:solidFill>
                <a:latin typeface="Inconsolata"/>
              </a:rPr>
              <a:t>33  </a:t>
            </a:r>
            <a:r>
              <a:rPr sz="850" i="0">
                <a:solidFill>
                  <a:srgbClr val="E6EDF3"/>
                </a:solidFill>
                <a:latin typeface="Inconsolata"/>
              </a:rPr>
              <a:t>      </a:t>
            </a:r>
            <a:r>
              <a:rPr sz="850" i="0">
                <a:solidFill>
                  <a:srgbClr val="82B1FF"/>
                </a:solidFill>
                <a:latin typeface="Inconsolata"/>
              </a:rPr>
              <a:t>retries</a:t>
            </a:r>
            <a:r>
              <a:rPr sz="850" i="0">
                <a:solidFill>
                  <a:srgbClr val="E6EDF3"/>
                </a:solidFill>
                <a:latin typeface="Inconsolata"/>
              </a:rPr>
              <a:t>: </a:t>
            </a:r>
            <a:r>
              <a:rPr sz="850" i="0">
                <a:solidFill>
                  <a:srgbClr val="F9C97A"/>
                </a:solidFill>
                <a:latin typeface="Inconsolata"/>
              </a:rPr>
              <a:t>15</a:t>
            </a:r>
          </a:p>
        </p:txBody>
      </p:sp>
      <p:sp>
        <p:nvSpPr>
          <p:cNvPr id="29" name="Box 12"/>
          <p:cNvSpPr/>
          <p:nvPr/>
        </p:nvSpPr>
        <p:spPr>
          <a:xfrm>
            <a:off x="704088" y="2387473"/>
            <a:ext cx="7699248" cy="550418"/>
          </a:xfrm>
          <a:prstGeom prst="roundRect">
            <a:avLst>
              <a:gd name="adj" fmla="val 830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8284463" y="254381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Docker Compose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03-docker-compose/compose.yaml</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sesi-11-docker-kubernetes-cicd/03-docker-compose</a:t>
            </a:r>
          </a:p>
          <a:p>
            <a:pPr>
              <a:lnSpc>
                <a:spcPct val="111111"/>
              </a:lnSpc>
              <a:spcAft>
                <a:spcPts val="0"/>
              </a:spcAft>
            </a:pPr>
            <a:r>
              <a:rPr sz="900" i="0">
                <a:solidFill>
                  <a:srgbClr val="82B1FF"/>
                </a:solidFill>
                <a:latin typeface="Inconsolata"/>
              </a:rPr>
              <a:t>$ docker compose up -d --build</a:t>
            </a:r>
          </a:p>
        </p:txBody>
      </p:sp>
      <p:pic>
        <p:nvPicPr>
          <p:cNvPr id="29" name="Image 12" descr="s11-03-docker-compose-after.png"/>
          <p:cNvPicPr>
            <a:picLocks noChangeAspect="1"/>
          </p:cNvPicPr>
          <p:nvPr/>
        </p:nvPicPr>
        <p:blipFill>
          <a:blip r:embed="rId2"/>
          <a:stretch>
            <a:fillRect/>
          </a:stretch>
        </p:blipFill>
        <p:spPr>
          <a:xfrm>
            <a:off x="621792" y="2322576"/>
            <a:ext cx="4297680" cy="2052708"/>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Alamat memakai nama service (baris 11-12)</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API menunggu PostgreSQL dan Redis healthy (baris 13-15)</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Cara mengecek service siap (baris 23-26)</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Semua service healthy, </a:t>
            </a:r>
            <a:r>
              <a:rPr sz="950" b="0" i="0">
                <a:solidFill>
                  <a:srgbClr val="B5482A"/>
                </a:solidFill>
                <a:latin typeface="Inconsolata"/>
              </a:rPr>
              <a:t>/health/ready</a:t>
            </a:r>
            <a:r>
              <a:rPr sz="950" b="0" i="0">
                <a:solidFill>
                  <a:srgbClr val="434343"/>
                </a:solidFill>
                <a:latin typeface="Inter"/>
              </a:rPr>
              <a:t> ok.</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oogle Shape;3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28</a:t>
            </a:fld>
            <a:endParaRPr/>
          </a:p>
        </p:txBody>
      </p:sp>
      <p:sp>
        <p:nvSpPr>
          <p:cNvPr id="31" name="Text 1"/>
          <p:cNvSpPr txBox="1"/>
          <p:nvPr/>
        </p:nvSpPr>
        <p:spPr>
          <a:xfrm>
            <a:off x="822960" y="1600200"/>
            <a:ext cx="7315200" cy="365760"/>
          </a:xfrm>
          <a:prstGeom prst="rect">
            <a:avLst/>
          </a:prstGeom>
          <a:noFill/>
        </p:spPr>
        <p:txBody>
          <a:bodyPr wrap="square" lIns="45720" rIns="45720" anchor="t">
            <a:spAutoFit/>
          </a:bodyPr>
          <a:lstStyle/>
          <a:p>
            <a:pPr algn="l">
              <a:lnSpc>
                <a:spcPct val="115000"/>
              </a:lnSpc>
              <a:spcAft>
                <a:spcPts val="400"/>
              </a:spcAft>
            </a:pPr>
            <a:r>
              <a:rPr sz="1400" b="0" i="0">
                <a:solidFill>
                  <a:srgbClr val="CFE0FA"/>
                </a:solidFill>
                <a:latin typeface="Inter"/>
              </a:rPr>
              <a:t>Bagian 02</a:t>
            </a:r>
          </a:p>
        </p:txBody>
      </p:sp>
      <p:sp>
        <p:nvSpPr>
          <p:cNvPr id="32" name="Text 2"/>
          <p:cNvSpPr txBox="1"/>
          <p:nvPr/>
        </p:nvSpPr>
        <p:spPr>
          <a:xfrm>
            <a:off x="822960" y="1920240"/>
            <a:ext cx="7315200" cy="822960"/>
          </a:xfrm>
          <a:prstGeom prst="rect">
            <a:avLst/>
          </a:prstGeom>
          <a:noFill/>
        </p:spPr>
        <p:txBody>
          <a:bodyPr wrap="square" lIns="45720" rIns="45720" anchor="t">
            <a:spAutoFit/>
          </a:bodyPr>
          <a:lstStyle/>
          <a:p>
            <a:pPr algn="l">
              <a:lnSpc>
                <a:spcPct val="115000"/>
              </a:lnSpc>
              <a:spcAft>
                <a:spcPts val="400"/>
              </a:spcAft>
            </a:pPr>
            <a:r>
              <a:rPr sz="3000" b="0" i="0">
                <a:solidFill>
                  <a:srgbClr val="FFFFFF"/>
                </a:solidFill>
                <a:latin typeface="Work Sans ExtraBold"/>
              </a:rPr>
              <a:t>Kubernetes Basics</a:t>
            </a:r>
          </a:p>
        </p:txBody>
      </p:sp>
      <p:sp>
        <p:nvSpPr>
          <p:cNvPr id="33" name="Text 3"/>
          <p:cNvSpPr txBox="1"/>
          <p:nvPr/>
        </p:nvSpPr>
        <p:spPr>
          <a:xfrm>
            <a:off x="822960" y="2743200"/>
            <a:ext cx="6583680" cy="731520"/>
          </a:xfrm>
          <a:prstGeom prst="rect">
            <a:avLst/>
          </a:prstGeom>
          <a:noFill/>
        </p:spPr>
        <p:txBody>
          <a:bodyPr wrap="square" lIns="45720" rIns="45720" anchor="t">
            <a:spAutoFit/>
          </a:bodyPr>
          <a:lstStyle/>
          <a:p>
            <a:pPr algn="l">
              <a:lnSpc>
                <a:spcPct val="115000"/>
              </a:lnSpc>
              <a:spcAft>
                <a:spcPts val="400"/>
              </a:spcAft>
            </a:pPr>
            <a:r>
              <a:rPr sz="1200" b="0" i="0">
                <a:solidFill>
                  <a:srgbClr val="E3ECFA"/>
                </a:solidFill>
                <a:latin typeface="Inter"/>
              </a:rPr>
              <a:t>Pod, Deployment, Service, ConfigMap, Secret, dan probes.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Kubernetes</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Kubernetes?</a:t>
            </a:r>
          </a:p>
        </p:txBody>
      </p:sp>
      <p:sp>
        <p:nvSpPr>
          <p:cNvPr id="22" name="Text 3"/>
          <p:cNvSpPr txBox="1"/>
          <p:nvPr/>
        </p:nvSpPr>
        <p:spPr>
          <a:xfrm>
            <a:off x="621792" y="1481328"/>
            <a:ext cx="384048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Kubernetes adalah</a:t>
            </a:r>
          </a:p>
          <a:p>
            <a:pPr algn="l">
              <a:lnSpc>
                <a:spcPct val="115000"/>
              </a:lnSpc>
              <a:spcAft>
                <a:spcPts val="400"/>
              </a:spcAft>
            </a:pPr>
            <a:r>
              <a:rPr sz="950" b="0" i="0">
                <a:solidFill>
                  <a:srgbClr val="434343"/>
                </a:solidFill>
                <a:latin typeface="Inter"/>
              </a:rPr>
              <a:t>Platform untuk menjalankan dan mengatur container di banyak server sekaligus. Kita menulis </a:t>
            </a:r>
            <a:r>
              <a:rPr sz="950" b="1" i="0">
                <a:solidFill>
                  <a:srgbClr val="434343"/>
                </a:solidFill>
                <a:latin typeface="Inter"/>
              </a:rPr>
              <a:t>kondisi yang diinginkan</a:t>
            </a:r>
            <a:r>
              <a:rPr sz="950" b="0" i="0">
                <a:solidFill>
                  <a:srgbClr val="434343"/>
                </a:solidFill>
                <a:latin typeface="Inter"/>
              </a:rPr>
              <a:t> dalam file YAML (manifest), misalnya "2 pod API selalu berjalan", lalu Kubernetes terus menjaga kondisi itu.</a:t>
            </a:r>
          </a:p>
          <a:p>
            <a:pPr algn="l">
              <a:lnSpc>
                <a:spcPct val="115000"/>
              </a:lnSpc>
              <a:spcAft>
                <a:spcPts val="400"/>
              </a:spcAft>
            </a:pPr>
            <a:r>
              <a:rPr sz="105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Membuat ulang container yang mati secara otomatis</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Membagi traffic ke beberapa salinan aplikasi</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Deploy versi baru tanpa downtime</a:t>
            </a:r>
          </a:p>
        </p:txBody>
      </p:sp>
      <p:graphicFrame>
        <p:nvGraphicFramePr>
          <p:cNvPr id="23" name="Table 4"/>
          <p:cNvGraphicFramePr>
            <a:graphicFrameLocks noGrp="1"/>
          </p:cNvGraphicFramePr>
          <p:nvPr/>
        </p:nvGraphicFramePr>
        <p:xfrm>
          <a:off x="4892040" y="1481328"/>
          <a:ext cx="3593592" cy="2468880"/>
        </p:xfrm>
        <a:graphic>
          <a:graphicData uri="http://schemas.openxmlformats.org/drawingml/2006/table">
            <a:tbl>
              <a:tblPr firstRow="1" bandRow="1"/>
              <a:tblGrid>
                <a:gridCol w="1280160">
                  <a:extLst>
                    <a:ext uri="{9D8B030D-6E8A-4147-A177-3AD203B41FA5}">
                      <a16:colId xmlns:a16="http://schemas.microsoft.com/office/drawing/2014/main" val="20000"/>
                    </a:ext>
                  </a:extLst>
                </a:gridCol>
                <a:gridCol w="2313432">
                  <a:extLst>
                    <a:ext uri="{9D8B030D-6E8A-4147-A177-3AD203B41FA5}">
                      <a16:colId xmlns:a16="http://schemas.microsoft.com/office/drawing/2014/main" val="20001"/>
                    </a:ext>
                  </a:extLst>
                </a:gridCol>
              </a:tblGrid>
              <a:tr h="411480">
                <a:tc>
                  <a:txBody>
                    <a:bodyPr/>
                    <a:lstStyle/>
                    <a:p>
                      <a:pPr algn="l">
                        <a:lnSpc>
                          <a:spcPct val="100000"/>
                        </a:lnSpc>
                        <a:spcAft>
                          <a:spcPts val="0"/>
                        </a:spcAft>
                      </a:pPr>
                      <a:r>
                        <a:rPr sz="850" b="1" i="0">
                          <a:solidFill>
                            <a:srgbClr val="FFFFFF"/>
                          </a:solidFill>
                          <a:latin typeface="Inter"/>
                        </a:rPr>
                        <a:t>Resource</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Fungsinya</a:t>
                      </a:r>
                    </a:p>
                  </a:txBody>
                  <a:tcPr marL="73152" marR="73152" marT="36576" marB="36576" anchor="ctr">
                    <a:solidFill>
                      <a:srgbClr val="1C4587"/>
                    </a:solidFill>
                  </a:tcPr>
                </a:tc>
                <a:extLst>
                  <a:ext uri="{0D108BD9-81ED-4DB2-BD59-A6C34878D82A}">
                    <a16:rowId xmlns:a16="http://schemas.microsoft.com/office/drawing/2014/main" val="10000"/>
                  </a:ext>
                </a:extLst>
              </a:tr>
              <a:tr h="411480">
                <a:tc>
                  <a:txBody>
                    <a:bodyPr/>
                    <a:lstStyle/>
                    <a:p>
                      <a:pPr algn="l">
                        <a:lnSpc>
                          <a:spcPct val="100000"/>
                        </a:lnSpc>
                        <a:spcAft>
                          <a:spcPts val="0"/>
                        </a:spcAft>
                      </a:pPr>
                      <a:r>
                        <a:rPr sz="850" b="1" i="0">
                          <a:solidFill>
                            <a:srgbClr val="1C4587"/>
                          </a:solidFill>
                          <a:latin typeface="Inter"/>
                        </a:rPr>
                        <a:t>Pod</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Satu atau beberapa container yang berjalan bersama</a:t>
                      </a:r>
                    </a:p>
                  </a:txBody>
                  <a:tcPr marL="73152" marR="73152" marT="36576" marB="36576" anchor="ctr">
                    <a:solidFill>
                      <a:srgbClr val="FFFFFF"/>
                    </a:solidFill>
                  </a:tcPr>
                </a:tc>
                <a:extLst>
                  <a:ext uri="{0D108BD9-81ED-4DB2-BD59-A6C34878D82A}">
                    <a16:rowId xmlns:a16="http://schemas.microsoft.com/office/drawing/2014/main" val="10001"/>
                  </a:ext>
                </a:extLst>
              </a:tr>
              <a:tr h="411480">
                <a:tc>
                  <a:txBody>
                    <a:bodyPr/>
                    <a:lstStyle/>
                    <a:p>
                      <a:pPr algn="l">
                        <a:lnSpc>
                          <a:spcPct val="100000"/>
                        </a:lnSpc>
                        <a:spcAft>
                          <a:spcPts val="0"/>
                        </a:spcAft>
                      </a:pPr>
                      <a:r>
                        <a:rPr sz="850" b="1" i="0">
                          <a:solidFill>
                            <a:srgbClr val="1C4587"/>
                          </a:solidFill>
                          <a:latin typeface="Inter"/>
                        </a:rPr>
                        <a:t>Deployment</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Menjaga jumlah pod dan mengatur update</a:t>
                      </a:r>
                    </a:p>
                  </a:txBody>
                  <a:tcPr marL="73152" marR="73152" marT="36576" marB="36576" anchor="ctr">
                    <a:solidFill>
                      <a:srgbClr val="F3F4F6"/>
                    </a:solidFill>
                  </a:tcPr>
                </a:tc>
                <a:extLst>
                  <a:ext uri="{0D108BD9-81ED-4DB2-BD59-A6C34878D82A}">
                    <a16:rowId xmlns:a16="http://schemas.microsoft.com/office/drawing/2014/main" val="10002"/>
                  </a:ext>
                </a:extLst>
              </a:tr>
              <a:tr h="411480">
                <a:tc>
                  <a:txBody>
                    <a:bodyPr/>
                    <a:lstStyle/>
                    <a:p>
                      <a:pPr algn="l">
                        <a:lnSpc>
                          <a:spcPct val="100000"/>
                        </a:lnSpc>
                        <a:spcAft>
                          <a:spcPts val="0"/>
                        </a:spcAft>
                      </a:pPr>
                      <a:r>
                        <a:rPr sz="850" b="1" i="0">
                          <a:solidFill>
                            <a:srgbClr val="1C4587"/>
                          </a:solidFill>
                          <a:latin typeface="Inter"/>
                        </a:rPr>
                        <a:t>Service</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Alamat tetap di depan sekumpulan pod</a:t>
                      </a:r>
                    </a:p>
                  </a:txBody>
                  <a:tcPr marL="73152" marR="73152" marT="36576" marB="36576" anchor="ctr">
                    <a:solidFill>
                      <a:srgbClr val="FFFFFF"/>
                    </a:solidFill>
                  </a:tcPr>
                </a:tc>
                <a:extLst>
                  <a:ext uri="{0D108BD9-81ED-4DB2-BD59-A6C34878D82A}">
                    <a16:rowId xmlns:a16="http://schemas.microsoft.com/office/drawing/2014/main" val="10003"/>
                  </a:ext>
                </a:extLst>
              </a:tr>
              <a:tr h="411480">
                <a:tc>
                  <a:txBody>
                    <a:bodyPr/>
                    <a:lstStyle/>
                    <a:p>
                      <a:pPr algn="l">
                        <a:lnSpc>
                          <a:spcPct val="100000"/>
                        </a:lnSpc>
                        <a:spcAft>
                          <a:spcPts val="0"/>
                        </a:spcAft>
                      </a:pPr>
                      <a:r>
                        <a:rPr sz="850" b="1" i="0">
                          <a:solidFill>
                            <a:srgbClr val="1C4587"/>
                          </a:solidFill>
                          <a:latin typeface="Inter"/>
                        </a:rPr>
                        <a:t>ConfigMap / Secret</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Config dan nilai rahasia</a:t>
                      </a:r>
                    </a:p>
                  </a:txBody>
                  <a:tcPr marL="73152" marR="73152" marT="36576" marB="36576" anchor="ctr">
                    <a:solidFill>
                      <a:srgbClr val="F3F4F6"/>
                    </a:solidFill>
                  </a:tcPr>
                </a:tc>
                <a:extLst>
                  <a:ext uri="{0D108BD9-81ED-4DB2-BD59-A6C34878D82A}">
                    <a16:rowId xmlns:a16="http://schemas.microsoft.com/office/drawing/2014/main" val="10004"/>
                  </a:ext>
                </a:extLst>
              </a:tr>
              <a:tr h="411480">
                <a:tc>
                  <a:txBody>
                    <a:bodyPr/>
                    <a:lstStyle/>
                    <a:p>
                      <a:pPr algn="l">
                        <a:lnSpc>
                          <a:spcPct val="100000"/>
                        </a:lnSpc>
                        <a:spcAft>
                          <a:spcPts val="0"/>
                        </a:spcAft>
                      </a:pPr>
                      <a:r>
                        <a:rPr sz="850" b="1" i="0">
                          <a:solidFill>
                            <a:srgbClr val="1C4587"/>
                          </a:solidFill>
                          <a:latin typeface="Inter"/>
                        </a:rPr>
                        <a:t>Probe</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Cara Kubernetes mengecek kesehatan pod</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Deployment &amp; Service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Deployment dan Service?</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Deployment adalah</a:t>
            </a:r>
          </a:p>
          <a:p>
            <a:pPr algn="l">
              <a:lnSpc>
                <a:spcPct val="115000"/>
              </a:lnSpc>
              <a:spcAft>
                <a:spcPts val="400"/>
              </a:spcAft>
            </a:pPr>
            <a:r>
              <a:rPr sz="900" b="0" i="0">
                <a:solidFill>
                  <a:srgbClr val="434343"/>
                </a:solidFill>
                <a:latin typeface="Inter"/>
              </a:rPr>
              <a:t>Resource Kubernetes yang menjaga sejumlah pod (</a:t>
            </a:r>
            <a:r>
              <a:rPr sz="900" b="1" i="0">
                <a:solidFill>
                  <a:srgbClr val="434343"/>
                </a:solidFill>
                <a:latin typeface="Inter"/>
              </a:rPr>
              <a:t>replicas</a:t>
            </a:r>
            <a:r>
              <a:rPr sz="900" b="0" i="0">
                <a:solidFill>
                  <a:srgbClr val="434343"/>
                </a:solidFill>
                <a:latin typeface="Inter"/>
              </a:rPr>
              <a:t>) dari template yang sama tetap berjalan. Pod yang mati atau dihapus langsung dibuat ulang.</a:t>
            </a:r>
          </a:p>
          <a:p>
            <a:pPr algn="l">
              <a:lnSpc>
                <a:spcPct val="115000"/>
              </a:lnSpc>
              <a:spcAft>
                <a:spcPts val="400"/>
              </a:spcAft>
            </a:pPr>
            <a:r>
              <a:rPr sz="1000" b="1" i="0">
                <a:solidFill>
                  <a:srgbClr val="1C4587"/>
                </a:solidFill>
                <a:latin typeface="Inter"/>
              </a:rPr>
              <a:t>Service adalah</a:t>
            </a:r>
          </a:p>
          <a:p>
            <a:pPr algn="l">
              <a:lnSpc>
                <a:spcPct val="115000"/>
              </a:lnSpc>
              <a:spcAft>
                <a:spcPts val="400"/>
              </a:spcAft>
            </a:pPr>
            <a:r>
              <a:rPr sz="900" b="0" i="0">
                <a:solidFill>
                  <a:srgbClr val="434343"/>
                </a:solidFill>
                <a:latin typeface="Inter"/>
              </a:rPr>
              <a:t>Alamat DNS tetap di depan sekumpulan pod berdasarkan </a:t>
            </a:r>
            <a:r>
              <a:rPr sz="900" b="1" i="0">
                <a:solidFill>
                  <a:srgbClr val="434343"/>
                </a:solidFill>
                <a:latin typeface="Inter"/>
              </a:rPr>
              <a:t>label</a:t>
            </a:r>
            <a:r>
              <a:rPr sz="900" b="0" i="0">
                <a:solidFill>
                  <a:srgbClr val="434343"/>
                </a:solidFill>
                <a:latin typeface="Inter"/>
              </a:rPr>
              <a:t>. Request dibagi ke pod yang sedang siap.</a:t>
            </a:r>
          </a:p>
          <a:p>
            <a:pPr algn="l">
              <a:lnSpc>
                <a:spcPct val="115000"/>
              </a:lnSpc>
              <a:spcAft>
                <a:spcPts val="400"/>
              </a:spcAft>
            </a:pPr>
            <a:r>
              <a:rPr sz="100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Menjaga aplikasi tetap tersedia saat pod mati</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Memberi satu alamat untuk banyak pod</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pod tunggal: 04-deployment-service/before/pod.yaml</a:t>
            </a:r>
          </a:p>
        </p:txBody>
      </p:sp>
      <p:sp>
        <p:nvSpPr>
          <p:cNvPr id="28" name="CodeBg 11"/>
          <p:cNvSpPr/>
          <p:nvPr/>
        </p:nvSpPr>
        <p:spPr>
          <a:xfrm>
            <a:off x="4297680" y="1719072"/>
            <a:ext cx="4187951" cy="868680"/>
          </a:xfrm>
          <a:prstGeom prst="roundRect">
            <a:avLst>
              <a:gd name="adj" fmla="val 2105"/>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868680"/>
          </a:xfrm>
          <a:prstGeom prst="rect">
            <a:avLst/>
          </a:prstGeom>
          <a:noFill/>
        </p:spPr>
        <p:txBody>
          <a:bodyPr wrap="none" lIns="146304" tIns="91440" rIns="146304" bIns="54864">
            <a:spAutoFit/>
          </a:bodyPr>
          <a:lstStyle/>
          <a:p>
            <a:pPr>
              <a:lnSpc>
                <a:spcPct val="107843"/>
              </a:lnSpc>
              <a:spcAft>
                <a:spcPts val="0"/>
              </a:spcAft>
            </a:pPr>
            <a:r>
              <a:rPr sz="850" i="0">
                <a:solidFill>
                  <a:srgbClr val="82B1FF"/>
                </a:solidFill>
                <a:latin typeface="Inconsolata"/>
              </a:rPr>
              <a:t>kind</a:t>
            </a:r>
            <a:r>
              <a:rPr sz="850" i="0">
                <a:solidFill>
                  <a:srgbClr val="E6EDF3"/>
                </a:solidFill>
                <a:latin typeface="Inconsolata"/>
              </a:rPr>
              <a:t>: Pod</a:t>
            </a:r>
          </a:p>
          <a:p>
            <a:pPr>
              <a:lnSpc>
                <a:spcPct val="107843"/>
              </a:lnSpc>
              <a:spcAft>
                <a:spcPts val="0"/>
              </a:spcAft>
            </a:pPr>
            <a:r>
              <a:rPr sz="850" i="0">
                <a:solidFill>
                  <a:srgbClr val="82B1FF"/>
                </a:solidFill>
                <a:latin typeface="Inconsolata"/>
              </a:rPr>
              <a:t>metadata</a:t>
            </a:r>
            <a:r>
              <a:rPr sz="850" i="0">
                <a:solidFill>
                  <a:srgbClr val="E6EDF3"/>
                </a:solidFill>
                <a:latin typeface="Inconsolata"/>
              </a:rPr>
              <a:t>:</a:t>
            </a:r>
          </a:p>
          <a:p>
            <a:pPr>
              <a:lnSpc>
                <a:spcPct val="107843"/>
              </a:lnSpc>
              <a:spcAft>
                <a:spcPts val="0"/>
              </a:spcAft>
            </a:pPr>
            <a:r>
              <a:rPr sz="850" i="0">
                <a:solidFill>
                  <a:srgbClr val="E6EDF3"/>
                </a:solidFill>
                <a:latin typeface="Inconsolata"/>
              </a:rPr>
              <a:t>  </a:t>
            </a:r>
            <a:r>
              <a:rPr sz="850" i="0">
                <a:solidFill>
                  <a:srgbClr val="82B1FF"/>
                </a:solidFill>
                <a:latin typeface="Inconsolata"/>
              </a:rPr>
              <a:t>name</a:t>
            </a:r>
            <a:r>
              <a:rPr sz="850" i="0">
                <a:solidFill>
                  <a:srgbClr val="E6EDF3"/>
                </a:solidFill>
                <a:latin typeface="Inconsolata"/>
              </a:rPr>
              <a:t>: order-api</a:t>
            </a:r>
          </a:p>
        </p:txBody>
      </p:sp>
      <p:sp>
        <p:nvSpPr>
          <p:cNvPr id="30" name="Box 13"/>
          <p:cNvSpPr/>
          <p:nvPr/>
        </p:nvSpPr>
        <p:spPr>
          <a:xfrm>
            <a:off x="4379976" y="1828673"/>
            <a:ext cx="4023359" cy="131318"/>
          </a:xfrm>
          <a:prstGeom prst="roundRect">
            <a:avLst>
              <a:gd name="adj" fmla="val 34816"/>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Tab 15"/>
          <p:cNvSpPr/>
          <p:nvPr/>
        </p:nvSpPr>
        <p:spPr>
          <a:xfrm>
            <a:off x="4297680" y="2679192"/>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4407408" y="2756916"/>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4544568" y="2756916"/>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681728" y="2756916"/>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4846320" y="2688336"/>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Deployment: 04-deployment-service/after/deployment.yaml</a:t>
            </a:r>
          </a:p>
        </p:txBody>
      </p:sp>
      <p:sp>
        <p:nvSpPr>
          <p:cNvPr id="36" name="CodeBg 21"/>
          <p:cNvSpPr/>
          <p:nvPr/>
        </p:nvSpPr>
        <p:spPr>
          <a:xfrm>
            <a:off x="4297680" y="2916936"/>
            <a:ext cx="4187951" cy="1783079"/>
          </a:xfrm>
          <a:prstGeom prst="roundRect">
            <a:avLst>
              <a:gd name="adj" fmla="val 1025"/>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4297680" y="2916936"/>
            <a:ext cx="4187951" cy="1783079"/>
          </a:xfrm>
          <a:prstGeom prst="rect">
            <a:avLst/>
          </a:prstGeom>
          <a:noFill/>
        </p:spPr>
        <p:txBody>
          <a:bodyPr wrap="none" lIns="146304" tIns="91440" rIns="146304" bIns="54864">
            <a:spAutoFit/>
          </a:bodyPr>
          <a:lstStyle/>
          <a:p>
            <a:pPr>
              <a:lnSpc>
                <a:spcPct val="111111"/>
              </a:lnSpc>
              <a:spcAft>
                <a:spcPts val="0"/>
              </a:spcAft>
            </a:pPr>
            <a:r>
              <a:rPr sz="825" i="0">
                <a:solidFill>
                  <a:srgbClr val="82B1FF"/>
                </a:solidFill>
                <a:latin typeface="Inconsolata"/>
              </a:rPr>
              <a:t>kind</a:t>
            </a:r>
            <a:r>
              <a:rPr sz="825" i="0">
                <a:solidFill>
                  <a:srgbClr val="E6EDF3"/>
                </a:solidFill>
                <a:latin typeface="Inconsolata"/>
              </a:rPr>
              <a:t>: Deployment</a:t>
            </a:r>
          </a:p>
          <a:p>
            <a:pPr>
              <a:lnSpc>
                <a:spcPct val="111111"/>
              </a:lnSpc>
              <a:spcAft>
                <a:spcPts val="0"/>
              </a:spcAft>
            </a:pPr>
            <a:r>
              <a:rPr sz="825" i="0">
                <a:solidFill>
                  <a:srgbClr val="E6EDF3"/>
                </a:solidFill>
                <a:latin typeface="Inconsolata"/>
              </a:rPr>
              <a:t>...</a:t>
            </a:r>
          </a:p>
          <a:p>
            <a:pPr>
              <a:lnSpc>
                <a:spcPct val="111111"/>
              </a:lnSpc>
              <a:spcAft>
                <a:spcPts val="0"/>
              </a:spcAft>
            </a:pPr>
            <a:r>
              <a:rPr sz="825" i="0">
                <a:solidFill>
                  <a:srgbClr val="E6EDF3"/>
                </a:solidFill>
                <a:latin typeface="Inconsolata"/>
              </a:rPr>
              <a:t>  </a:t>
            </a:r>
            <a:r>
              <a:rPr sz="825" i="0">
                <a:solidFill>
                  <a:srgbClr val="82B1FF"/>
                </a:solidFill>
                <a:latin typeface="Inconsolata"/>
              </a:rPr>
              <a:t>replicas</a:t>
            </a:r>
            <a:r>
              <a:rPr sz="825" i="0">
                <a:solidFill>
                  <a:srgbClr val="E6EDF3"/>
                </a:solidFill>
                <a:latin typeface="Inconsolata"/>
              </a:rPr>
              <a:t>: </a:t>
            </a:r>
            <a:r>
              <a:rPr sz="825" i="0">
                <a:solidFill>
                  <a:srgbClr val="F9C97A"/>
                </a:solidFill>
                <a:latin typeface="Inconsolata"/>
              </a:rPr>
              <a:t>2</a:t>
            </a:r>
          </a:p>
          <a:p>
            <a:pPr>
              <a:lnSpc>
                <a:spcPct val="111111"/>
              </a:lnSpc>
              <a:spcAft>
                <a:spcPts val="0"/>
              </a:spcAft>
            </a:pPr>
            <a:r>
              <a:rPr sz="825" i="0">
                <a:solidFill>
                  <a:srgbClr val="E6EDF3"/>
                </a:solidFill>
                <a:latin typeface="Inconsolata"/>
              </a:rPr>
              <a:t>  </a:t>
            </a:r>
            <a:r>
              <a:rPr sz="825" i="0">
                <a:solidFill>
                  <a:srgbClr val="82B1FF"/>
                </a:solidFill>
                <a:latin typeface="Inconsolata"/>
              </a:rPr>
              <a:t>selector</a:t>
            </a:r>
            <a:r>
              <a:rPr sz="825" i="0">
                <a:solidFill>
                  <a:srgbClr val="E6EDF3"/>
                </a:solidFill>
                <a:latin typeface="Inconsolata"/>
              </a:rPr>
              <a:t>:</a:t>
            </a:r>
          </a:p>
          <a:p>
            <a:pPr>
              <a:lnSpc>
                <a:spcPct val="111111"/>
              </a:lnSpc>
              <a:spcAft>
                <a:spcPts val="0"/>
              </a:spcAft>
            </a:pPr>
            <a:r>
              <a:rPr sz="825" i="0">
                <a:solidFill>
                  <a:srgbClr val="E6EDF3"/>
                </a:solidFill>
                <a:latin typeface="Inconsolata"/>
              </a:rPr>
              <a:t>    </a:t>
            </a:r>
            <a:r>
              <a:rPr sz="825" i="0">
                <a:solidFill>
                  <a:srgbClr val="82B1FF"/>
                </a:solidFill>
                <a:latin typeface="Inconsolata"/>
              </a:rPr>
              <a:t>matchLabels</a:t>
            </a:r>
            <a:r>
              <a:rPr sz="825" i="0">
                <a:solidFill>
                  <a:srgbClr val="E6EDF3"/>
                </a:solidFill>
                <a:latin typeface="Inconsolata"/>
              </a:rPr>
              <a:t>:</a:t>
            </a:r>
          </a:p>
          <a:p>
            <a:pPr>
              <a:lnSpc>
                <a:spcPct val="111111"/>
              </a:lnSpc>
              <a:spcAft>
                <a:spcPts val="0"/>
              </a:spcAft>
            </a:pPr>
            <a:r>
              <a:rPr sz="825" i="0">
                <a:solidFill>
                  <a:srgbClr val="E6EDF3"/>
                </a:solidFill>
                <a:latin typeface="Inconsolata"/>
              </a:rPr>
              <a:t>      </a:t>
            </a:r>
            <a:r>
              <a:rPr sz="825" i="0">
                <a:solidFill>
                  <a:srgbClr val="82B1FF"/>
                </a:solidFill>
                <a:latin typeface="Inconsolata"/>
              </a:rPr>
              <a:t>app</a:t>
            </a:r>
            <a:r>
              <a:rPr sz="825" i="0">
                <a:solidFill>
                  <a:srgbClr val="E6EDF3"/>
                </a:solidFill>
                <a:latin typeface="Inconsolata"/>
              </a:rPr>
              <a:t>: order-api            </a:t>
            </a:r>
            <a:r>
              <a:rPr sz="825" i="1">
                <a:solidFill>
                  <a:srgbClr val="8B98A8"/>
                </a:solidFill>
                <a:latin typeface="Inconsolata"/>
              </a:rPr>
              <a:t># pod mana yang diurus Deployment ini</a:t>
            </a:r>
          </a:p>
        </p:txBody>
      </p:sp>
      <p:sp>
        <p:nvSpPr>
          <p:cNvPr id="38" name="Box 23"/>
          <p:cNvSpPr/>
          <p:nvPr/>
        </p:nvSpPr>
        <p:spPr>
          <a:xfrm>
            <a:off x="4379976" y="3305937"/>
            <a:ext cx="4023359" cy="131318"/>
          </a:xfrm>
          <a:prstGeom prst="roundRect">
            <a:avLst>
              <a:gd name="adj" fmla="val 3481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379976" y="3585337"/>
            <a:ext cx="4023359" cy="271018"/>
          </a:xfrm>
          <a:prstGeom prst="roundRect">
            <a:avLst>
              <a:gd name="adj" fmla="val 16869"/>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Deployment &amp; Service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menggunakan Deployment?</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Dengan Pod langsung</a:t>
            </a:r>
          </a:p>
          <a:p>
            <a:pPr algn="l">
              <a:lnSpc>
                <a:spcPct val="115000"/>
              </a:lnSpc>
              <a:spcAft>
                <a:spcPts val="400"/>
              </a:spcAft>
            </a:pPr>
            <a:r>
              <a:rPr sz="950" b="0" i="0">
                <a:solidFill>
                  <a:srgbClr val="434343"/>
                </a:solidFill>
                <a:latin typeface="Inter"/>
              </a:rPr>
              <a:t>Pod dihapus atau node-nya mati, aplikasi hilang, dan tidak ada yang membuatnya ulang.</a:t>
            </a:r>
          </a:p>
          <a:p>
            <a:pPr algn="l">
              <a:lnSpc>
                <a:spcPct val="115000"/>
              </a:lnSpc>
              <a:spcAft>
                <a:spcPts val="400"/>
              </a:spcAft>
            </a:pPr>
            <a:r>
              <a:rPr sz="1050" b="1" i="0">
                <a:solidFill>
                  <a:srgbClr val="1C4587"/>
                </a:solidFill>
                <a:latin typeface="Inter"/>
              </a:rPr>
              <a:t>Jika traffic makin banyak</a:t>
            </a:r>
          </a:p>
          <a:p>
            <a:pPr algn="l">
              <a:lnSpc>
                <a:spcPct val="115000"/>
              </a:lnSpc>
              <a:spcAft>
                <a:spcPts val="400"/>
              </a:spcAft>
            </a:pPr>
            <a:r>
              <a:rPr sz="950" b="0" i="0">
                <a:solidFill>
                  <a:srgbClr val="434343"/>
                </a:solidFill>
                <a:latin typeface="Inter"/>
              </a:rPr>
              <a:t>Satu pod tidak cukup, dan client tidak bisa mengikuti IP pod yang berubah setiap dibuat ulang.</a:t>
            </a:r>
          </a:p>
          <a:p>
            <a:pPr algn="l">
              <a:lnSpc>
                <a:spcPct val="115000"/>
              </a:lnSpc>
              <a:spcAft>
                <a:spcPts val="400"/>
              </a:spcAft>
            </a:pPr>
            <a:r>
              <a:rPr sz="950" b="0" i="0">
                <a:solidFill>
                  <a:srgbClr val="434343"/>
                </a:solidFill>
                <a:latin typeface="Inter"/>
              </a:rPr>
              <a:t>Hal ini membuat aplikasi mudah down dan sulit di-scale.</a:t>
            </a:r>
          </a:p>
          <a:p>
            <a:pPr algn="l">
              <a:lnSpc>
                <a:spcPct val="115000"/>
              </a:lnSpc>
              <a:spcAft>
                <a:spcPts val="400"/>
              </a:spcAft>
            </a:pPr>
            <a:r>
              <a:rPr sz="1050" b="1" i="0">
                <a:solidFill>
                  <a:srgbClr val="1C4587"/>
                </a:solidFill>
                <a:latin typeface="Inter"/>
              </a:rPr>
              <a:t>Yang dipakai dari Kubernetes</a:t>
            </a:r>
          </a:p>
          <a:p>
            <a:pPr algn="l">
              <a:lnSpc>
                <a:spcPct val="115000"/>
              </a:lnSpc>
              <a:spcAft>
                <a:spcPts val="400"/>
              </a:spcAft>
            </a:pPr>
            <a:r>
              <a:rPr sz="950" b="0" i="0">
                <a:solidFill>
                  <a:srgbClr val="434343"/>
                </a:solidFill>
                <a:latin typeface="Inter"/>
              </a:rPr>
              <a:t>Hampir tidak pernah membuat Pod langsung. Pod dibuat lewat Deployment.</a:t>
            </a:r>
          </a:p>
        </p:txBody>
      </p:sp>
      <p:graphicFrame>
        <p:nvGraphicFramePr>
          <p:cNvPr id="23" name="Table 4"/>
          <p:cNvGraphicFramePr>
            <a:graphicFrameLocks noGrp="1"/>
          </p:cNvGraphicFramePr>
          <p:nvPr/>
        </p:nvGraphicFramePr>
        <p:xfrm>
          <a:off x="4800600" y="1481328"/>
          <a:ext cx="3685032" cy="2057400"/>
        </p:xfrm>
        <a:graphic>
          <a:graphicData uri="http://schemas.openxmlformats.org/drawingml/2006/table">
            <a:tbl>
              <a:tblPr firstRow="1" bandRow="1"/>
              <a:tblGrid>
                <a:gridCol w="2313432">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411480">
                <a:tc>
                  <a:txBody>
                    <a:bodyPr/>
                    <a:lstStyle/>
                    <a:p>
                      <a:pPr algn="l">
                        <a:lnSpc>
                          <a:spcPct val="100000"/>
                        </a:lnSpc>
                        <a:spcAft>
                          <a:spcPts val="0"/>
                        </a:spcAft>
                      </a:pPr>
                      <a:r>
                        <a:rPr sz="850" b="1" i="0">
                          <a:solidFill>
                            <a:srgbClr val="FFFFFF"/>
                          </a:solidFill>
                          <a:latin typeface="Inter"/>
                        </a:rPr>
                        <a:t>Perintah</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Artinya</a:t>
                      </a:r>
                    </a:p>
                  </a:txBody>
                  <a:tcPr marL="73152" marR="73152" marT="36576" marB="36576" anchor="ctr">
                    <a:solidFill>
                      <a:srgbClr val="1C4587"/>
                    </a:solidFill>
                  </a:tcPr>
                </a:tc>
                <a:extLst>
                  <a:ext uri="{0D108BD9-81ED-4DB2-BD59-A6C34878D82A}">
                    <a16:rowId xmlns:a16="http://schemas.microsoft.com/office/drawing/2014/main" val="10000"/>
                  </a:ext>
                </a:extLst>
              </a:tr>
              <a:tr h="411480">
                <a:tc>
                  <a:txBody>
                    <a:bodyPr/>
                    <a:lstStyle/>
                    <a:p>
                      <a:pPr algn="l">
                        <a:lnSpc>
                          <a:spcPct val="100000"/>
                        </a:lnSpc>
                        <a:spcAft>
                          <a:spcPts val="0"/>
                        </a:spcAft>
                      </a:pPr>
                      <a:r>
                        <a:rPr sz="850" b="1" i="0">
                          <a:solidFill>
                            <a:srgbClr val="1C4587"/>
                          </a:solidFill>
                          <a:latin typeface="Inter"/>
                        </a:rPr>
                        <a:t>kubectl apply -f after/</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Buat atau update resource</a:t>
                      </a:r>
                    </a:p>
                  </a:txBody>
                  <a:tcPr marL="73152" marR="73152" marT="36576" marB="36576" anchor="ctr">
                    <a:solidFill>
                      <a:srgbClr val="FFFFFF"/>
                    </a:solidFill>
                  </a:tcPr>
                </a:tc>
                <a:extLst>
                  <a:ext uri="{0D108BD9-81ED-4DB2-BD59-A6C34878D82A}">
                    <a16:rowId xmlns:a16="http://schemas.microsoft.com/office/drawing/2014/main" val="10001"/>
                  </a:ext>
                </a:extLst>
              </a:tr>
              <a:tr h="411480">
                <a:tc>
                  <a:txBody>
                    <a:bodyPr/>
                    <a:lstStyle/>
                    <a:p>
                      <a:pPr algn="l">
                        <a:lnSpc>
                          <a:spcPct val="100000"/>
                        </a:lnSpc>
                        <a:spcAft>
                          <a:spcPts val="0"/>
                        </a:spcAft>
                      </a:pPr>
                      <a:r>
                        <a:rPr sz="850" b="1" i="0">
                          <a:solidFill>
                            <a:srgbClr val="1C4587"/>
                          </a:solidFill>
                          <a:latin typeface="Inter"/>
                        </a:rPr>
                        <a:t>kubectl get pods</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Lihat pod dan statusnya</a:t>
                      </a:r>
                    </a:p>
                  </a:txBody>
                  <a:tcPr marL="73152" marR="73152" marT="36576" marB="36576" anchor="ctr">
                    <a:solidFill>
                      <a:srgbClr val="F3F4F6"/>
                    </a:solidFill>
                  </a:tcPr>
                </a:tc>
                <a:extLst>
                  <a:ext uri="{0D108BD9-81ED-4DB2-BD59-A6C34878D82A}">
                    <a16:rowId xmlns:a16="http://schemas.microsoft.com/office/drawing/2014/main" val="10002"/>
                  </a:ext>
                </a:extLst>
              </a:tr>
              <a:tr h="411480">
                <a:tc>
                  <a:txBody>
                    <a:bodyPr/>
                    <a:lstStyle/>
                    <a:p>
                      <a:pPr algn="l">
                        <a:lnSpc>
                          <a:spcPct val="100000"/>
                        </a:lnSpc>
                        <a:spcAft>
                          <a:spcPts val="0"/>
                        </a:spcAft>
                      </a:pPr>
                      <a:r>
                        <a:rPr sz="850" b="1" i="0">
                          <a:solidFill>
                            <a:srgbClr val="1C4587"/>
                          </a:solidFill>
                          <a:latin typeface="Inter"/>
                        </a:rPr>
                        <a:t>kubectl scale deploy/order-api --replicas=3</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Ubah jumlah pod</a:t>
                      </a:r>
                    </a:p>
                  </a:txBody>
                  <a:tcPr marL="73152" marR="73152" marT="36576" marB="36576" anchor="ctr">
                    <a:solidFill>
                      <a:srgbClr val="FFFFFF"/>
                    </a:solidFill>
                  </a:tcPr>
                </a:tc>
                <a:extLst>
                  <a:ext uri="{0D108BD9-81ED-4DB2-BD59-A6C34878D82A}">
                    <a16:rowId xmlns:a16="http://schemas.microsoft.com/office/drawing/2014/main" val="10003"/>
                  </a:ext>
                </a:extLst>
              </a:tr>
              <a:tr h="411480">
                <a:tc>
                  <a:txBody>
                    <a:bodyPr/>
                    <a:lstStyle/>
                    <a:p>
                      <a:pPr algn="l">
                        <a:lnSpc>
                          <a:spcPct val="100000"/>
                        </a:lnSpc>
                        <a:spcAft>
                          <a:spcPts val="0"/>
                        </a:spcAft>
                      </a:pPr>
                      <a:r>
                        <a:rPr sz="850" b="1" i="0">
                          <a:solidFill>
                            <a:srgbClr val="1C4587"/>
                          </a:solidFill>
                          <a:latin typeface="Inter"/>
                        </a:rPr>
                        <a:t>kubectl port-forward svc/order-api 8080:80</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Akses Service dari laptop</a:t>
                      </a:r>
                    </a:p>
                  </a:txBody>
                  <a:tcPr marL="73152" marR="73152" marT="36576" marB="36576" anchor="ctr">
                    <a:solidFill>
                      <a:srgbClr val="F3F4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Deployment &amp; Service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Pod tunggal</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72237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04-deployment-service/before/pod.yaml</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7863840" cy="2980944"/>
          </a:xfrm>
          <a:prstGeom prst="rect">
            <a:avLst/>
          </a:prstGeom>
          <a:noFill/>
        </p:spPr>
        <p:txBody>
          <a:bodyPr wrap="none" lIns="146304" tIns="91440" rIns="146304" bIns="54864">
            <a:spAutoFit/>
          </a:bodyPr>
          <a:lstStyle/>
          <a:p>
            <a:pPr>
              <a:lnSpc>
                <a:spcPct val="111111"/>
              </a:lnSpc>
              <a:spcAft>
                <a:spcPts val="0"/>
              </a:spcAft>
            </a:pPr>
            <a:r>
              <a:rPr sz="900" i="0">
                <a:solidFill>
                  <a:srgbClr val="5C6773"/>
                </a:solidFill>
                <a:latin typeface="Inconsolata"/>
              </a:rPr>
              <a:t> 1  </a:t>
            </a:r>
            <a:r>
              <a:rPr sz="900" i="1">
                <a:solidFill>
                  <a:srgbClr val="8B98A8"/>
                </a:solidFill>
                <a:latin typeface="Inconsolata"/>
              </a:rPr>
              <a:t># Deployment &amp; Service - BEFORE (satu Pod langsung)</a:t>
            </a:r>
          </a:p>
          <a:p>
            <a:pPr>
              <a:lnSpc>
                <a:spcPct val="111111"/>
              </a:lnSpc>
              <a:spcAft>
                <a:spcPts val="0"/>
              </a:spcAft>
            </a:pPr>
            <a:r>
              <a:rPr sz="900" i="0">
                <a:solidFill>
                  <a:srgbClr val="5C6773"/>
                </a:solidFill>
                <a:latin typeface="Inconsolata"/>
              </a:rPr>
              <a:t> 2  </a:t>
            </a:r>
            <a:r>
              <a:rPr sz="900" i="1">
                <a:solidFill>
                  <a:srgbClr val="8B98A8"/>
                </a:solidFill>
                <a:latin typeface="Inconsolata"/>
              </a:rPr>
              <a:t># - Pod dihapus atau node mati = aplikasi hilang, tidak ada yang membuat ulang</a:t>
            </a:r>
          </a:p>
          <a:p>
            <a:pPr>
              <a:lnSpc>
                <a:spcPct val="111111"/>
              </a:lnSpc>
              <a:spcAft>
                <a:spcPts val="0"/>
              </a:spcAft>
            </a:pPr>
            <a:r>
              <a:rPr sz="900" i="0">
                <a:solidFill>
                  <a:srgbClr val="5C6773"/>
                </a:solidFill>
                <a:latin typeface="Inconsolata"/>
              </a:rPr>
              <a:t> 3  </a:t>
            </a:r>
            <a:r>
              <a:rPr sz="900" i="1">
                <a:solidFill>
                  <a:srgbClr val="8B98A8"/>
                </a:solidFill>
                <a:latin typeface="Inconsolata"/>
              </a:rPr>
              <a:t># - Hanya satu salinan, tidak bisa dibagi beban</a:t>
            </a:r>
          </a:p>
          <a:p>
            <a:pPr>
              <a:lnSpc>
                <a:spcPct val="111111"/>
              </a:lnSpc>
              <a:spcAft>
                <a:spcPts val="0"/>
              </a:spcAft>
            </a:pPr>
            <a:r>
              <a:rPr sz="900" i="0">
                <a:solidFill>
                  <a:srgbClr val="5C6773"/>
                </a:solidFill>
                <a:latin typeface="Inconsolata"/>
              </a:rPr>
              <a:t> 4  </a:t>
            </a:r>
            <a:r>
              <a:rPr sz="900" i="1">
                <a:solidFill>
                  <a:srgbClr val="8B98A8"/>
                </a:solidFill>
                <a:latin typeface="Inconsolata"/>
              </a:rPr>
              <a:t># - Client harus tahu IP pod, dan IP itu berubah setiap pod dibuat ulang</a:t>
            </a:r>
          </a:p>
          <a:p>
            <a:pPr>
              <a:lnSpc>
                <a:spcPct val="111111"/>
              </a:lnSpc>
              <a:spcAft>
                <a:spcPts val="0"/>
              </a:spcAft>
            </a:pPr>
            <a:r>
              <a:rPr sz="900" i="0">
                <a:solidFill>
                  <a:srgbClr val="5C6773"/>
                </a:solidFill>
                <a:latin typeface="Inconsolata"/>
              </a:rPr>
              <a:t> 5  </a:t>
            </a:r>
            <a:r>
              <a:rPr sz="900" i="0">
                <a:solidFill>
                  <a:srgbClr val="82B1FF"/>
                </a:solidFill>
                <a:latin typeface="Inconsolata"/>
              </a:rPr>
              <a:t>apiVersion</a:t>
            </a:r>
            <a:r>
              <a:rPr sz="900" i="0">
                <a:solidFill>
                  <a:srgbClr val="E6EDF3"/>
                </a:solidFill>
                <a:latin typeface="Inconsolata"/>
              </a:rPr>
              <a:t>: v1</a:t>
            </a:r>
          </a:p>
          <a:p>
            <a:pPr>
              <a:lnSpc>
                <a:spcPct val="111111"/>
              </a:lnSpc>
              <a:spcAft>
                <a:spcPts val="0"/>
              </a:spcAft>
            </a:pPr>
            <a:r>
              <a:rPr sz="900" i="0">
                <a:solidFill>
                  <a:srgbClr val="5C6773"/>
                </a:solidFill>
                <a:latin typeface="Inconsolata"/>
              </a:rPr>
              <a:t> 6  </a:t>
            </a:r>
            <a:r>
              <a:rPr sz="900" i="0">
                <a:solidFill>
                  <a:srgbClr val="82B1FF"/>
                </a:solidFill>
                <a:latin typeface="Inconsolata"/>
              </a:rPr>
              <a:t>kind</a:t>
            </a:r>
            <a:r>
              <a:rPr sz="900" i="0">
                <a:solidFill>
                  <a:srgbClr val="E6EDF3"/>
                </a:solidFill>
                <a:latin typeface="Inconsolata"/>
              </a:rPr>
              <a:t>: Pod</a:t>
            </a:r>
          </a:p>
          <a:p>
            <a:pPr>
              <a:lnSpc>
                <a:spcPct val="111111"/>
              </a:lnSpc>
              <a:spcAft>
                <a:spcPts val="0"/>
              </a:spcAft>
            </a:pPr>
            <a:r>
              <a:rPr sz="900" i="0">
                <a:solidFill>
                  <a:srgbClr val="5C6773"/>
                </a:solidFill>
                <a:latin typeface="Inconsolata"/>
              </a:rPr>
              <a:t> 7  </a:t>
            </a:r>
            <a:r>
              <a:rPr sz="900" i="0">
                <a:solidFill>
                  <a:srgbClr val="82B1FF"/>
                </a:solidFill>
                <a:latin typeface="Inconsolata"/>
              </a:rPr>
              <a:t>metadata</a:t>
            </a:r>
            <a:r>
              <a:rPr sz="900" i="0">
                <a:solidFill>
                  <a:srgbClr val="E6EDF3"/>
                </a:solidFill>
                <a:latin typeface="Inconsolata"/>
              </a:rPr>
              <a:t>:</a:t>
            </a:r>
          </a:p>
          <a:p>
            <a:pPr>
              <a:lnSpc>
                <a:spcPct val="111111"/>
              </a:lnSpc>
              <a:spcAft>
                <a:spcPts val="0"/>
              </a:spcAft>
            </a:pPr>
            <a:r>
              <a:rPr sz="900" i="0">
                <a:solidFill>
                  <a:srgbClr val="5C6773"/>
                </a:solidFill>
                <a:latin typeface="Inconsolata"/>
              </a:rPr>
              <a:t> 8  </a:t>
            </a:r>
            <a:r>
              <a:rPr sz="900" i="0">
                <a:solidFill>
                  <a:srgbClr val="E6EDF3"/>
                </a:solidFill>
                <a:latin typeface="Inconsolata"/>
              </a:rPr>
              <a:t>  </a:t>
            </a:r>
            <a:r>
              <a:rPr sz="900" i="0">
                <a:solidFill>
                  <a:srgbClr val="82B1FF"/>
                </a:solidFill>
                <a:latin typeface="Inconsolata"/>
              </a:rPr>
              <a:t>name</a:t>
            </a:r>
            <a:r>
              <a:rPr sz="900" i="0">
                <a:solidFill>
                  <a:srgbClr val="E6EDF3"/>
                </a:solidFill>
                <a:latin typeface="Inconsolata"/>
              </a:rPr>
              <a:t>: order-api</a:t>
            </a:r>
          </a:p>
          <a:p>
            <a:pPr>
              <a:lnSpc>
                <a:spcPct val="111111"/>
              </a:lnSpc>
              <a:spcAft>
                <a:spcPts val="0"/>
              </a:spcAft>
            </a:pPr>
            <a:r>
              <a:rPr sz="900" i="0">
                <a:solidFill>
                  <a:srgbClr val="5C6773"/>
                </a:solidFill>
                <a:latin typeface="Inconsolata"/>
              </a:rPr>
              <a:t> 9  </a:t>
            </a:r>
            <a:r>
              <a:rPr sz="900" i="0">
                <a:solidFill>
                  <a:srgbClr val="E6EDF3"/>
                </a:solidFill>
                <a:latin typeface="Inconsolata"/>
              </a:rPr>
              <a:t>  </a:t>
            </a:r>
            <a:r>
              <a:rPr sz="900" i="0">
                <a:solidFill>
                  <a:srgbClr val="82B1FF"/>
                </a:solidFill>
                <a:latin typeface="Inconsolata"/>
              </a:rPr>
              <a:t>labels</a:t>
            </a:r>
            <a:r>
              <a:rPr sz="900" i="0">
                <a:solidFill>
                  <a:srgbClr val="E6EDF3"/>
                </a:solidFill>
                <a:latin typeface="Inconsolata"/>
              </a:rPr>
              <a:t>:</a:t>
            </a:r>
          </a:p>
          <a:p>
            <a:pPr>
              <a:lnSpc>
                <a:spcPct val="111111"/>
              </a:lnSpc>
              <a:spcAft>
                <a:spcPts val="0"/>
              </a:spcAft>
            </a:pPr>
            <a:r>
              <a:rPr sz="900" i="0">
                <a:solidFill>
                  <a:srgbClr val="5C6773"/>
                </a:solidFill>
                <a:latin typeface="Inconsolata"/>
              </a:rPr>
              <a:t>10  </a:t>
            </a:r>
            <a:r>
              <a:rPr sz="900" i="0">
                <a:solidFill>
                  <a:srgbClr val="E6EDF3"/>
                </a:solidFill>
                <a:latin typeface="Inconsolata"/>
              </a:rPr>
              <a:t>    </a:t>
            </a:r>
            <a:r>
              <a:rPr sz="900" i="0">
                <a:solidFill>
                  <a:srgbClr val="82B1FF"/>
                </a:solidFill>
                <a:latin typeface="Inconsolata"/>
              </a:rPr>
              <a:t>app</a:t>
            </a:r>
            <a:r>
              <a:rPr sz="900" i="0">
                <a:solidFill>
                  <a:srgbClr val="E6EDF3"/>
                </a:solidFill>
                <a:latin typeface="Inconsolata"/>
              </a:rPr>
              <a:t>: order-api</a:t>
            </a:r>
          </a:p>
          <a:p>
            <a:pPr>
              <a:lnSpc>
                <a:spcPct val="111111"/>
              </a:lnSpc>
              <a:spcAft>
                <a:spcPts val="0"/>
              </a:spcAft>
            </a:pPr>
            <a:r>
              <a:rPr sz="900" i="0">
                <a:solidFill>
                  <a:srgbClr val="5C6773"/>
                </a:solidFill>
                <a:latin typeface="Inconsolata"/>
              </a:rPr>
              <a:t>11  </a:t>
            </a:r>
            <a:r>
              <a:rPr sz="900" i="0">
                <a:solidFill>
                  <a:srgbClr val="82B1FF"/>
                </a:solidFill>
                <a:latin typeface="Inconsolata"/>
              </a:rPr>
              <a:t>spec</a:t>
            </a:r>
            <a:r>
              <a:rPr sz="900" i="0">
                <a:solidFill>
                  <a:srgbClr val="E6EDF3"/>
                </a:solidFill>
                <a:latin typeface="Inconsolata"/>
              </a:rPr>
              <a:t>:</a:t>
            </a:r>
          </a:p>
          <a:p>
            <a:pPr>
              <a:lnSpc>
                <a:spcPct val="111111"/>
              </a:lnSpc>
              <a:spcAft>
                <a:spcPts val="0"/>
              </a:spcAft>
            </a:pPr>
            <a:r>
              <a:rPr sz="900" i="0">
                <a:solidFill>
                  <a:srgbClr val="5C6773"/>
                </a:solidFill>
                <a:latin typeface="Inconsolata"/>
              </a:rPr>
              <a:t>12  </a:t>
            </a:r>
            <a:r>
              <a:rPr sz="900" i="0">
                <a:solidFill>
                  <a:srgbClr val="E6EDF3"/>
                </a:solidFill>
                <a:latin typeface="Inconsolata"/>
              </a:rPr>
              <a:t>  </a:t>
            </a:r>
            <a:r>
              <a:rPr sz="900" i="0">
                <a:solidFill>
                  <a:srgbClr val="82B1FF"/>
                </a:solidFill>
                <a:latin typeface="Inconsolata"/>
              </a:rPr>
              <a:t>containers</a:t>
            </a:r>
            <a:r>
              <a:rPr sz="900" i="0">
                <a:solidFill>
                  <a:srgbClr val="E6EDF3"/>
                </a:solidFill>
                <a:latin typeface="Inconsolata"/>
              </a:rPr>
              <a:t>:</a:t>
            </a:r>
          </a:p>
          <a:p>
            <a:pPr>
              <a:lnSpc>
                <a:spcPct val="111111"/>
              </a:lnSpc>
              <a:spcAft>
                <a:spcPts val="0"/>
              </a:spcAft>
            </a:pPr>
            <a:r>
              <a:rPr sz="900" i="0">
                <a:solidFill>
                  <a:srgbClr val="5C6773"/>
                </a:solidFill>
                <a:latin typeface="Inconsolata"/>
              </a:rPr>
              <a:t>13  </a:t>
            </a:r>
            <a:r>
              <a:rPr sz="900" i="0">
                <a:solidFill>
                  <a:srgbClr val="E6EDF3"/>
                </a:solidFill>
                <a:latin typeface="Inconsolata"/>
              </a:rPr>
              <a:t>    - </a:t>
            </a:r>
            <a:r>
              <a:rPr sz="900" i="0">
                <a:solidFill>
                  <a:srgbClr val="82B1FF"/>
                </a:solidFill>
                <a:latin typeface="Inconsolata"/>
              </a:rPr>
              <a:t>name</a:t>
            </a:r>
            <a:r>
              <a:rPr sz="900" i="0">
                <a:solidFill>
                  <a:srgbClr val="E6EDF3"/>
                </a:solidFill>
                <a:latin typeface="Inconsolata"/>
              </a:rPr>
              <a:t>: api</a:t>
            </a:r>
          </a:p>
          <a:p>
            <a:pPr>
              <a:lnSpc>
                <a:spcPct val="111111"/>
              </a:lnSpc>
              <a:spcAft>
                <a:spcPts val="0"/>
              </a:spcAft>
            </a:pPr>
            <a:r>
              <a:rPr sz="900" i="0">
                <a:solidFill>
                  <a:srgbClr val="5C6773"/>
                </a:solidFill>
                <a:latin typeface="Inconsolata"/>
              </a:rPr>
              <a:t>14  </a:t>
            </a:r>
            <a:r>
              <a:rPr sz="900" i="0">
                <a:solidFill>
                  <a:srgbClr val="E6EDF3"/>
                </a:solidFill>
                <a:latin typeface="Inconsolata"/>
              </a:rPr>
              <a:t>      </a:t>
            </a:r>
            <a:r>
              <a:rPr sz="900" i="0">
                <a:solidFill>
                  <a:srgbClr val="82B1FF"/>
                </a:solidFill>
                <a:latin typeface="Inconsolata"/>
              </a:rPr>
              <a:t>image</a:t>
            </a:r>
            <a:r>
              <a:rPr sz="900" i="0">
                <a:solidFill>
                  <a:srgbClr val="E6EDF3"/>
                </a:solidFill>
                <a:latin typeface="Inconsolata"/>
              </a:rPr>
              <a:t>: k8s-demo:1.0</a:t>
            </a:r>
          </a:p>
          <a:p>
            <a:pPr>
              <a:lnSpc>
                <a:spcPct val="111111"/>
              </a:lnSpc>
              <a:spcAft>
                <a:spcPts val="0"/>
              </a:spcAft>
            </a:pPr>
            <a:r>
              <a:rPr sz="900" i="0">
                <a:solidFill>
                  <a:srgbClr val="5C6773"/>
                </a:solidFill>
                <a:latin typeface="Inconsolata"/>
              </a:rPr>
              <a:t>15  </a:t>
            </a:r>
            <a:r>
              <a:rPr sz="900" i="0">
                <a:solidFill>
                  <a:srgbClr val="E6EDF3"/>
                </a:solidFill>
                <a:latin typeface="Inconsolata"/>
              </a:rPr>
              <a:t>      </a:t>
            </a:r>
            <a:r>
              <a:rPr sz="900" i="0">
                <a:solidFill>
                  <a:srgbClr val="82B1FF"/>
                </a:solidFill>
                <a:latin typeface="Inconsolata"/>
              </a:rPr>
              <a:t>imagePullPolicy</a:t>
            </a:r>
            <a:r>
              <a:rPr sz="900" i="0">
                <a:solidFill>
                  <a:srgbClr val="E6EDF3"/>
                </a:solidFill>
                <a:latin typeface="Inconsolata"/>
              </a:rPr>
              <a:t>: IfNotPresent</a:t>
            </a:r>
          </a:p>
          <a:p>
            <a:pPr>
              <a:lnSpc>
                <a:spcPct val="111111"/>
              </a:lnSpc>
              <a:spcAft>
                <a:spcPts val="0"/>
              </a:spcAft>
            </a:pPr>
            <a:r>
              <a:rPr sz="900" i="0">
                <a:solidFill>
                  <a:srgbClr val="5C6773"/>
                </a:solidFill>
                <a:latin typeface="Inconsolata"/>
              </a:rPr>
              <a:t>16  </a:t>
            </a:r>
            <a:r>
              <a:rPr sz="900" i="0">
                <a:solidFill>
                  <a:srgbClr val="E6EDF3"/>
                </a:solidFill>
                <a:latin typeface="Inconsolata"/>
              </a:rPr>
              <a:t>      </a:t>
            </a:r>
            <a:r>
              <a:rPr sz="900" i="0">
                <a:solidFill>
                  <a:srgbClr val="82B1FF"/>
                </a:solidFill>
                <a:latin typeface="Inconsolata"/>
              </a:rPr>
              <a:t>ports</a:t>
            </a:r>
            <a:r>
              <a:rPr sz="900" i="0">
                <a:solidFill>
                  <a:srgbClr val="E6EDF3"/>
                </a:solidFill>
                <a:latin typeface="Inconsolata"/>
              </a:rPr>
              <a:t>:</a:t>
            </a:r>
          </a:p>
          <a:p>
            <a:pPr>
              <a:lnSpc>
                <a:spcPct val="111111"/>
              </a:lnSpc>
              <a:spcAft>
                <a:spcPts val="0"/>
              </a:spcAft>
            </a:pPr>
            <a:r>
              <a:rPr sz="900" i="0">
                <a:solidFill>
                  <a:srgbClr val="5C6773"/>
                </a:solidFill>
                <a:latin typeface="Inconsolata"/>
              </a:rPr>
              <a:t>17  </a:t>
            </a:r>
            <a:r>
              <a:rPr sz="900" i="0">
                <a:solidFill>
                  <a:srgbClr val="E6EDF3"/>
                </a:solidFill>
                <a:latin typeface="Inconsolata"/>
              </a:rPr>
              <a:t>        - </a:t>
            </a:r>
            <a:r>
              <a:rPr sz="900" i="0">
                <a:solidFill>
                  <a:srgbClr val="82B1FF"/>
                </a:solidFill>
                <a:latin typeface="Inconsolata"/>
              </a:rPr>
              <a:t>containerPort</a:t>
            </a:r>
            <a:r>
              <a:rPr sz="900" i="0">
                <a:solidFill>
                  <a:srgbClr val="E6EDF3"/>
                </a:solidFill>
                <a:latin typeface="Inconsolata"/>
              </a:rPr>
              <a:t>: </a:t>
            </a:r>
            <a:r>
              <a:rPr sz="900" i="0">
                <a:solidFill>
                  <a:srgbClr val="F9C97A"/>
                </a:solidFill>
                <a:latin typeface="Inconsolata"/>
              </a:rPr>
              <a:t>8000</a:t>
            </a:r>
          </a:p>
        </p:txBody>
      </p:sp>
      <p:sp>
        <p:nvSpPr>
          <p:cNvPr id="29" name="Box 12"/>
          <p:cNvSpPr/>
          <p:nvPr/>
        </p:nvSpPr>
        <p:spPr>
          <a:xfrm>
            <a:off x="704088" y="2592324"/>
            <a:ext cx="7699248" cy="143255"/>
          </a:xfrm>
          <a:prstGeom prst="roundRect">
            <a:avLst>
              <a:gd name="adj" fmla="val 31914"/>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8284463" y="254508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3506724"/>
            <a:ext cx="7699248" cy="905256"/>
          </a:xfrm>
          <a:prstGeom prst="roundRect">
            <a:avLst>
              <a:gd name="adj" fmla="val 5050"/>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8284463" y="384048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Deployment &amp; Service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04-deployment-service/before/</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621792"/>
          </a:xfrm>
          <a:prstGeom prst="roundRect">
            <a:avLst>
              <a:gd name="adj" fmla="val 2941"/>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621792"/>
          </a:xfrm>
          <a:prstGeom prst="rect">
            <a:avLst/>
          </a:prstGeom>
          <a:noFill/>
        </p:spPr>
        <p:txBody>
          <a:bodyPr wrap="none" lIns="146304" tIns="91440" rIns="146304" bIns="54864">
            <a:spAutoFit/>
          </a:bodyPr>
          <a:lstStyle/>
          <a:p>
            <a:pPr>
              <a:lnSpc>
                <a:spcPct val="107843"/>
              </a:lnSpc>
              <a:spcAft>
                <a:spcPts val="0"/>
              </a:spcAft>
            </a:pPr>
            <a:r>
              <a:rPr sz="850" i="0">
                <a:solidFill>
                  <a:srgbClr val="82B1FF"/>
                </a:solidFill>
                <a:latin typeface="Inconsolata"/>
              </a:rPr>
              <a:t>$ cd sesi-11-docker-kubernetes-cicd/04-deployment-service</a:t>
            </a:r>
          </a:p>
          <a:p>
            <a:pPr>
              <a:lnSpc>
                <a:spcPct val="107843"/>
              </a:lnSpc>
              <a:spcAft>
                <a:spcPts val="0"/>
              </a:spcAft>
            </a:pPr>
            <a:r>
              <a:rPr sz="850" i="0">
                <a:solidFill>
                  <a:srgbClr val="82B1FF"/>
                </a:solidFill>
                <a:latin typeface="Inconsolata"/>
              </a:rPr>
              <a:t>$ kubectl apply -f before/pod.yaml</a:t>
            </a:r>
          </a:p>
          <a:p>
            <a:pPr>
              <a:lnSpc>
                <a:spcPct val="107843"/>
              </a:lnSpc>
              <a:spcAft>
                <a:spcPts val="0"/>
              </a:spcAft>
            </a:pPr>
            <a:r>
              <a:rPr sz="850" i="0">
                <a:solidFill>
                  <a:srgbClr val="82B1FF"/>
                </a:solidFill>
                <a:latin typeface="Inconsolata"/>
              </a:rPr>
              <a:t>$ kubectl delete pod order-api</a:t>
            </a:r>
          </a:p>
        </p:txBody>
      </p:sp>
      <p:pic>
        <p:nvPicPr>
          <p:cNvPr id="29" name="Image 12" descr="s11-04-deployment-service-before.png"/>
          <p:cNvPicPr>
            <a:picLocks noChangeAspect="1"/>
          </p:cNvPicPr>
          <p:nvPr/>
        </p:nvPicPr>
        <p:blipFill>
          <a:blip r:embed="rId2"/>
          <a:stretch>
            <a:fillRect/>
          </a:stretch>
        </p:blipFill>
        <p:spPr>
          <a:xfrm>
            <a:off x="621792" y="2459736"/>
            <a:ext cx="4297680" cy="1707762"/>
          </a:xfrm>
          <a:prstGeom prst="rect">
            <a:avLst/>
          </a:prstGeom>
        </p:spPr>
      </p:pic>
      <p:sp>
        <p:nvSpPr>
          <p:cNvPr id="30" name="Box 13"/>
          <p:cNvSpPr/>
          <p:nvPr/>
        </p:nvSpPr>
        <p:spPr>
          <a:xfrm>
            <a:off x="5074920" y="1481328"/>
            <a:ext cx="3410712" cy="3218688"/>
          </a:xfrm>
          <a:prstGeom prst="roundRect">
            <a:avLst>
              <a:gd name="adj" fmla="val 3409"/>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C0392B"/>
                </a:solidFill>
                <a:latin typeface="Inter"/>
              </a:rPr>
              <a:t>Masalahnya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Resource Pod dibuat langsung (baris 6)</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Satu container dari image demo (baris 12-17)</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Pod dihapus, aplikasi hilang: </a:t>
            </a:r>
            <a:r>
              <a:rPr sz="950" b="0" i="0">
                <a:solidFill>
                  <a:srgbClr val="B5482A"/>
                </a:solidFill>
                <a:latin typeface="Inconsolata"/>
              </a:rPr>
              <a:t>No resources found</a:t>
            </a:r>
            <a:r>
              <a:rPr sz="950" b="0" i="0">
                <a:solidFill>
                  <a:srgbClr val="434343"/>
                </a:solidFill>
                <a:latin typeface="Inter"/>
              </a:rPr>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Deployment &amp; Service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Deployment 2 replica dan Service</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72237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04-deployment-service/after/deployment.yaml</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7863840" cy="2980944"/>
          </a:xfrm>
          <a:prstGeom prst="rect">
            <a:avLst/>
          </a:prstGeom>
          <a:noFill/>
        </p:spPr>
        <p:txBody>
          <a:bodyPr wrap="none" lIns="146304" tIns="91440" rIns="146304" bIns="54864">
            <a:spAutoFit/>
          </a:bodyPr>
          <a:lstStyle/>
          <a:p>
            <a:pPr>
              <a:lnSpc>
                <a:spcPct val="107527"/>
              </a:lnSpc>
              <a:spcAft>
                <a:spcPts val="0"/>
              </a:spcAft>
            </a:pPr>
            <a:r>
              <a:rPr sz="775" i="0">
                <a:solidFill>
                  <a:srgbClr val="5C6773"/>
                </a:solidFill>
                <a:latin typeface="Inconsolata"/>
              </a:rPr>
              <a:t> 1  </a:t>
            </a:r>
            <a:r>
              <a:rPr sz="775" i="1">
                <a:solidFill>
                  <a:srgbClr val="8B98A8"/>
                </a:solidFill>
                <a:latin typeface="Inconsolata"/>
              </a:rPr>
              <a:t># Deployment &amp; Service - AFTER</a:t>
            </a:r>
          </a:p>
          <a:p>
            <a:pPr>
              <a:lnSpc>
                <a:spcPct val="107527"/>
              </a:lnSpc>
              <a:spcAft>
                <a:spcPts val="0"/>
              </a:spcAft>
            </a:pPr>
            <a:r>
              <a:rPr sz="775" i="0">
                <a:solidFill>
                  <a:srgbClr val="5C6773"/>
                </a:solidFill>
                <a:latin typeface="Inconsolata"/>
              </a:rPr>
              <a:t> 2  </a:t>
            </a:r>
            <a:r>
              <a:rPr sz="775" i="1">
                <a:solidFill>
                  <a:srgbClr val="8B98A8"/>
                </a:solidFill>
                <a:latin typeface="Inconsolata"/>
              </a:rPr>
              <a:t># Deployment menjaga jumlah pod sesuai replicas. Pod mati atau dihapus = dibuat ulang otomatis.</a:t>
            </a:r>
          </a:p>
          <a:p>
            <a:pPr>
              <a:lnSpc>
                <a:spcPct val="107527"/>
              </a:lnSpc>
              <a:spcAft>
                <a:spcPts val="0"/>
              </a:spcAft>
            </a:pPr>
            <a:r>
              <a:rPr sz="775" i="0">
                <a:solidFill>
                  <a:srgbClr val="5C6773"/>
                </a:solidFill>
                <a:latin typeface="Inconsolata"/>
              </a:rPr>
              <a:t> 3  </a:t>
            </a:r>
            <a:r>
              <a:rPr sz="775" i="0">
                <a:solidFill>
                  <a:srgbClr val="82B1FF"/>
                </a:solidFill>
                <a:latin typeface="Inconsolata"/>
              </a:rPr>
              <a:t>apiVersion</a:t>
            </a:r>
            <a:r>
              <a:rPr sz="775" i="0">
                <a:solidFill>
                  <a:srgbClr val="E6EDF3"/>
                </a:solidFill>
                <a:latin typeface="Inconsolata"/>
              </a:rPr>
              <a:t>: apps/v1</a:t>
            </a:r>
          </a:p>
          <a:p>
            <a:pPr>
              <a:lnSpc>
                <a:spcPct val="107527"/>
              </a:lnSpc>
              <a:spcAft>
                <a:spcPts val="0"/>
              </a:spcAft>
            </a:pPr>
            <a:r>
              <a:rPr sz="775" i="0">
                <a:solidFill>
                  <a:srgbClr val="5C6773"/>
                </a:solidFill>
                <a:latin typeface="Inconsolata"/>
              </a:rPr>
              <a:t> 4  </a:t>
            </a:r>
            <a:r>
              <a:rPr sz="775" i="0">
                <a:solidFill>
                  <a:srgbClr val="82B1FF"/>
                </a:solidFill>
                <a:latin typeface="Inconsolata"/>
              </a:rPr>
              <a:t>kind</a:t>
            </a:r>
            <a:r>
              <a:rPr sz="775" i="0">
                <a:solidFill>
                  <a:srgbClr val="E6EDF3"/>
                </a:solidFill>
                <a:latin typeface="Inconsolata"/>
              </a:rPr>
              <a:t>: Deployment</a:t>
            </a:r>
          </a:p>
          <a:p>
            <a:pPr>
              <a:lnSpc>
                <a:spcPct val="107527"/>
              </a:lnSpc>
              <a:spcAft>
                <a:spcPts val="0"/>
              </a:spcAft>
            </a:pPr>
            <a:r>
              <a:rPr sz="775" i="0">
                <a:solidFill>
                  <a:srgbClr val="5C6773"/>
                </a:solidFill>
                <a:latin typeface="Inconsolata"/>
              </a:rPr>
              <a:t> 5  </a:t>
            </a:r>
            <a:r>
              <a:rPr sz="775" i="0">
                <a:solidFill>
                  <a:srgbClr val="82B1FF"/>
                </a:solidFill>
                <a:latin typeface="Inconsolata"/>
              </a:rPr>
              <a:t>metadata</a:t>
            </a:r>
            <a:r>
              <a:rPr sz="775" i="0">
                <a:solidFill>
                  <a:srgbClr val="E6EDF3"/>
                </a:solidFill>
                <a:latin typeface="Inconsolata"/>
              </a:rPr>
              <a:t>:</a:t>
            </a:r>
          </a:p>
          <a:p>
            <a:pPr>
              <a:lnSpc>
                <a:spcPct val="107527"/>
              </a:lnSpc>
              <a:spcAft>
                <a:spcPts val="0"/>
              </a:spcAft>
            </a:pPr>
            <a:r>
              <a:rPr sz="775" i="0">
                <a:solidFill>
                  <a:srgbClr val="5C6773"/>
                </a:solidFill>
                <a:latin typeface="Inconsolata"/>
              </a:rPr>
              <a:t> 6  </a:t>
            </a:r>
            <a:r>
              <a:rPr sz="775" i="0">
                <a:solidFill>
                  <a:srgbClr val="E6EDF3"/>
                </a:solidFill>
                <a:latin typeface="Inconsolata"/>
              </a:rPr>
              <a:t>  </a:t>
            </a:r>
            <a:r>
              <a:rPr sz="775" i="0">
                <a:solidFill>
                  <a:srgbClr val="82B1FF"/>
                </a:solidFill>
                <a:latin typeface="Inconsolata"/>
              </a:rPr>
              <a:t>name</a:t>
            </a:r>
            <a:r>
              <a:rPr sz="775" i="0">
                <a:solidFill>
                  <a:srgbClr val="E6EDF3"/>
                </a:solidFill>
                <a:latin typeface="Inconsolata"/>
              </a:rPr>
              <a:t>: order-api</a:t>
            </a:r>
          </a:p>
          <a:p>
            <a:pPr>
              <a:lnSpc>
                <a:spcPct val="107527"/>
              </a:lnSpc>
              <a:spcAft>
                <a:spcPts val="0"/>
              </a:spcAft>
            </a:pPr>
            <a:r>
              <a:rPr sz="775" i="0">
                <a:solidFill>
                  <a:srgbClr val="5C6773"/>
                </a:solidFill>
                <a:latin typeface="Inconsolata"/>
              </a:rPr>
              <a:t> 7  </a:t>
            </a:r>
            <a:r>
              <a:rPr sz="775" i="0">
                <a:solidFill>
                  <a:srgbClr val="82B1FF"/>
                </a:solidFill>
                <a:latin typeface="Inconsolata"/>
              </a:rPr>
              <a:t>spec</a:t>
            </a:r>
            <a:r>
              <a:rPr sz="775" i="0">
                <a:solidFill>
                  <a:srgbClr val="E6EDF3"/>
                </a:solidFill>
                <a:latin typeface="Inconsolata"/>
              </a:rPr>
              <a:t>:</a:t>
            </a:r>
          </a:p>
          <a:p>
            <a:pPr>
              <a:lnSpc>
                <a:spcPct val="107527"/>
              </a:lnSpc>
              <a:spcAft>
                <a:spcPts val="0"/>
              </a:spcAft>
            </a:pPr>
            <a:r>
              <a:rPr sz="775" i="0">
                <a:solidFill>
                  <a:srgbClr val="5C6773"/>
                </a:solidFill>
                <a:latin typeface="Inconsolata"/>
              </a:rPr>
              <a:t> 8  </a:t>
            </a:r>
            <a:r>
              <a:rPr sz="775" i="0">
                <a:solidFill>
                  <a:srgbClr val="E6EDF3"/>
                </a:solidFill>
                <a:latin typeface="Inconsolata"/>
              </a:rPr>
              <a:t>  </a:t>
            </a:r>
            <a:r>
              <a:rPr sz="775" i="0">
                <a:solidFill>
                  <a:srgbClr val="82B1FF"/>
                </a:solidFill>
                <a:latin typeface="Inconsolata"/>
              </a:rPr>
              <a:t>replicas</a:t>
            </a:r>
            <a:r>
              <a:rPr sz="775" i="0">
                <a:solidFill>
                  <a:srgbClr val="E6EDF3"/>
                </a:solidFill>
                <a:latin typeface="Inconsolata"/>
              </a:rPr>
              <a:t>: </a:t>
            </a:r>
            <a:r>
              <a:rPr sz="775" i="0">
                <a:solidFill>
                  <a:srgbClr val="F9C97A"/>
                </a:solidFill>
                <a:latin typeface="Inconsolata"/>
              </a:rPr>
              <a:t>2</a:t>
            </a:r>
          </a:p>
          <a:p>
            <a:pPr>
              <a:lnSpc>
                <a:spcPct val="107527"/>
              </a:lnSpc>
              <a:spcAft>
                <a:spcPts val="0"/>
              </a:spcAft>
            </a:pPr>
            <a:r>
              <a:rPr sz="775" i="0">
                <a:solidFill>
                  <a:srgbClr val="5C6773"/>
                </a:solidFill>
                <a:latin typeface="Inconsolata"/>
              </a:rPr>
              <a:t> 9  </a:t>
            </a:r>
            <a:r>
              <a:rPr sz="775" i="0">
                <a:solidFill>
                  <a:srgbClr val="E6EDF3"/>
                </a:solidFill>
                <a:latin typeface="Inconsolata"/>
              </a:rPr>
              <a:t>  </a:t>
            </a:r>
            <a:r>
              <a:rPr sz="775" i="0">
                <a:solidFill>
                  <a:srgbClr val="82B1FF"/>
                </a:solidFill>
                <a:latin typeface="Inconsolata"/>
              </a:rPr>
              <a:t>selector</a:t>
            </a:r>
            <a:r>
              <a:rPr sz="775" i="0">
                <a:solidFill>
                  <a:srgbClr val="E6EDF3"/>
                </a:solidFill>
                <a:latin typeface="Inconsolata"/>
              </a:rPr>
              <a:t>:</a:t>
            </a:r>
          </a:p>
          <a:p>
            <a:pPr>
              <a:lnSpc>
                <a:spcPct val="107527"/>
              </a:lnSpc>
              <a:spcAft>
                <a:spcPts val="0"/>
              </a:spcAft>
            </a:pPr>
            <a:r>
              <a:rPr sz="775" i="0">
                <a:solidFill>
                  <a:srgbClr val="5C6773"/>
                </a:solidFill>
                <a:latin typeface="Inconsolata"/>
              </a:rPr>
              <a:t>10  </a:t>
            </a:r>
            <a:r>
              <a:rPr sz="775" i="0">
                <a:solidFill>
                  <a:srgbClr val="E6EDF3"/>
                </a:solidFill>
                <a:latin typeface="Inconsolata"/>
              </a:rPr>
              <a:t>    </a:t>
            </a:r>
            <a:r>
              <a:rPr sz="775" i="0">
                <a:solidFill>
                  <a:srgbClr val="82B1FF"/>
                </a:solidFill>
                <a:latin typeface="Inconsolata"/>
              </a:rPr>
              <a:t>matchLabels</a:t>
            </a:r>
            <a:r>
              <a:rPr sz="775" i="0">
                <a:solidFill>
                  <a:srgbClr val="E6EDF3"/>
                </a:solidFill>
                <a:latin typeface="Inconsolata"/>
              </a:rPr>
              <a:t>:</a:t>
            </a:r>
          </a:p>
          <a:p>
            <a:pPr>
              <a:lnSpc>
                <a:spcPct val="107527"/>
              </a:lnSpc>
              <a:spcAft>
                <a:spcPts val="0"/>
              </a:spcAft>
            </a:pPr>
            <a:r>
              <a:rPr sz="775" i="0">
                <a:solidFill>
                  <a:srgbClr val="5C6773"/>
                </a:solidFill>
                <a:latin typeface="Inconsolata"/>
              </a:rPr>
              <a:t>11  </a:t>
            </a:r>
            <a:r>
              <a:rPr sz="775" i="0">
                <a:solidFill>
                  <a:srgbClr val="E6EDF3"/>
                </a:solidFill>
                <a:latin typeface="Inconsolata"/>
              </a:rPr>
              <a:t>      </a:t>
            </a:r>
            <a:r>
              <a:rPr sz="775" i="0">
                <a:solidFill>
                  <a:srgbClr val="82B1FF"/>
                </a:solidFill>
                <a:latin typeface="Inconsolata"/>
              </a:rPr>
              <a:t>app</a:t>
            </a:r>
            <a:r>
              <a:rPr sz="775" i="0">
                <a:solidFill>
                  <a:srgbClr val="E6EDF3"/>
                </a:solidFill>
                <a:latin typeface="Inconsolata"/>
              </a:rPr>
              <a:t>: order-api            </a:t>
            </a:r>
            <a:r>
              <a:rPr sz="775" i="1">
                <a:solidFill>
                  <a:srgbClr val="8B98A8"/>
                </a:solidFill>
                <a:latin typeface="Inconsolata"/>
              </a:rPr>
              <a:t># pod mana yang diurus Deployment ini</a:t>
            </a:r>
          </a:p>
          <a:p>
            <a:pPr>
              <a:lnSpc>
                <a:spcPct val="107527"/>
              </a:lnSpc>
              <a:spcAft>
                <a:spcPts val="0"/>
              </a:spcAft>
            </a:pPr>
            <a:r>
              <a:rPr sz="775" i="0">
                <a:solidFill>
                  <a:srgbClr val="5C6773"/>
                </a:solidFill>
                <a:latin typeface="Inconsolata"/>
              </a:rPr>
              <a:t>12  </a:t>
            </a:r>
            <a:r>
              <a:rPr sz="775" i="0">
                <a:solidFill>
                  <a:srgbClr val="E6EDF3"/>
                </a:solidFill>
                <a:latin typeface="Inconsolata"/>
              </a:rPr>
              <a:t>  </a:t>
            </a:r>
            <a:r>
              <a:rPr sz="775" i="0">
                <a:solidFill>
                  <a:srgbClr val="82B1FF"/>
                </a:solidFill>
                <a:latin typeface="Inconsolata"/>
              </a:rPr>
              <a:t>template</a:t>
            </a:r>
            <a:r>
              <a:rPr sz="775" i="0">
                <a:solidFill>
                  <a:srgbClr val="E6EDF3"/>
                </a:solidFill>
                <a:latin typeface="Inconsolata"/>
              </a:rPr>
              <a:t>:</a:t>
            </a:r>
          </a:p>
          <a:p>
            <a:pPr>
              <a:lnSpc>
                <a:spcPct val="107527"/>
              </a:lnSpc>
              <a:spcAft>
                <a:spcPts val="0"/>
              </a:spcAft>
            </a:pPr>
            <a:r>
              <a:rPr sz="775" i="0">
                <a:solidFill>
                  <a:srgbClr val="5C6773"/>
                </a:solidFill>
                <a:latin typeface="Inconsolata"/>
              </a:rPr>
              <a:t>13  </a:t>
            </a:r>
            <a:r>
              <a:rPr sz="775" i="0">
                <a:solidFill>
                  <a:srgbClr val="E6EDF3"/>
                </a:solidFill>
                <a:latin typeface="Inconsolata"/>
              </a:rPr>
              <a:t>    </a:t>
            </a:r>
            <a:r>
              <a:rPr sz="775" i="0">
                <a:solidFill>
                  <a:srgbClr val="82B1FF"/>
                </a:solidFill>
                <a:latin typeface="Inconsolata"/>
              </a:rPr>
              <a:t>metadata</a:t>
            </a:r>
            <a:r>
              <a:rPr sz="775" i="0">
                <a:solidFill>
                  <a:srgbClr val="E6EDF3"/>
                </a:solidFill>
                <a:latin typeface="Inconsolata"/>
              </a:rPr>
              <a:t>:</a:t>
            </a:r>
          </a:p>
          <a:p>
            <a:pPr>
              <a:lnSpc>
                <a:spcPct val="107527"/>
              </a:lnSpc>
              <a:spcAft>
                <a:spcPts val="0"/>
              </a:spcAft>
            </a:pPr>
            <a:r>
              <a:rPr sz="775" i="0">
                <a:solidFill>
                  <a:srgbClr val="5C6773"/>
                </a:solidFill>
                <a:latin typeface="Inconsolata"/>
              </a:rPr>
              <a:t>14  </a:t>
            </a:r>
            <a:r>
              <a:rPr sz="775" i="0">
                <a:solidFill>
                  <a:srgbClr val="E6EDF3"/>
                </a:solidFill>
                <a:latin typeface="Inconsolata"/>
              </a:rPr>
              <a:t>      </a:t>
            </a:r>
            <a:r>
              <a:rPr sz="775" i="0">
                <a:solidFill>
                  <a:srgbClr val="82B1FF"/>
                </a:solidFill>
                <a:latin typeface="Inconsolata"/>
              </a:rPr>
              <a:t>labels</a:t>
            </a:r>
            <a:r>
              <a:rPr sz="775" i="0">
                <a:solidFill>
                  <a:srgbClr val="E6EDF3"/>
                </a:solidFill>
                <a:latin typeface="Inconsolata"/>
              </a:rPr>
              <a:t>:</a:t>
            </a:r>
          </a:p>
          <a:p>
            <a:pPr>
              <a:lnSpc>
                <a:spcPct val="107527"/>
              </a:lnSpc>
              <a:spcAft>
                <a:spcPts val="0"/>
              </a:spcAft>
            </a:pPr>
            <a:r>
              <a:rPr sz="775" i="0">
                <a:solidFill>
                  <a:srgbClr val="5C6773"/>
                </a:solidFill>
                <a:latin typeface="Inconsolata"/>
              </a:rPr>
              <a:t>15  </a:t>
            </a:r>
            <a:r>
              <a:rPr sz="775" i="0">
                <a:solidFill>
                  <a:srgbClr val="E6EDF3"/>
                </a:solidFill>
                <a:latin typeface="Inconsolata"/>
              </a:rPr>
              <a:t>        </a:t>
            </a:r>
            <a:r>
              <a:rPr sz="775" i="0">
                <a:solidFill>
                  <a:srgbClr val="82B1FF"/>
                </a:solidFill>
                <a:latin typeface="Inconsolata"/>
              </a:rPr>
              <a:t>app</a:t>
            </a:r>
            <a:r>
              <a:rPr sz="775" i="0">
                <a:solidFill>
                  <a:srgbClr val="E6EDF3"/>
                </a:solidFill>
                <a:latin typeface="Inconsolata"/>
              </a:rPr>
              <a:t>: order-api</a:t>
            </a:r>
          </a:p>
          <a:p>
            <a:pPr>
              <a:lnSpc>
                <a:spcPct val="107527"/>
              </a:lnSpc>
              <a:spcAft>
                <a:spcPts val="0"/>
              </a:spcAft>
            </a:pPr>
            <a:r>
              <a:rPr sz="775" i="0">
                <a:solidFill>
                  <a:srgbClr val="5C6773"/>
                </a:solidFill>
                <a:latin typeface="Inconsolata"/>
              </a:rPr>
              <a:t>16  </a:t>
            </a:r>
            <a:r>
              <a:rPr sz="775" i="0">
                <a:solidFill>
                  <a:srgbClr val="E6EDF3"/>
                </a:solidFill>
                <a:latin typeface="Inconsolata"/>
              </a:rPr>
              <a:t>    </a:t>
            </a:r>
            <a:r>
              <a:rPr sz="775" i="0">
                <a:solidFill>
                  <a:srgbClr val="82B1FF"/>
                </a:solidFill>
                <a:latin typeface="Inconsolata"/>
              </a:rPr>
              <a:t>spec</a:t>
            </a:r>
            <a:r>
              <a:rPr sz="775" i="0">
                <a:solidFill>
                  <a:srgbClr val="E6EDF3"/>
                </a:solidFill>
                <a:latin typeface="Inconsolata"/>
              </a:rPr>
              <a:t>:</a:t>
            </a:r>
          </a:p>
          <a:p>
            <a:pPr>
              <a:lnSpc>
                <a:spcPct val="107527"/>
              </a:lnSpc>
              <a:spcAft>
                <a:spcPts val="0"/>
              </a:spcAft>
            </a:pPr>
            <a:r>
              <a:rPr sz="775" i="0">
                <a:solidFill>
                  <a:srgbClr val="5C6773"/>
                </a:solidFill>
                <a:latin typeface="Inconsolata"/>
              </a:rPr>
              <a:t>17  </a:t>
            </a:r>
            <a:r>
              <a:rPr sz="775" i="0">
                <a:solidFill>
                  <a:srgbClr val="E6EDF3"/>
                </a:solidFill>
                <a:latin typeface="Inconsolata"/>
              </a:rPr>
              <a:t>      </a:t>
            </a:r>
            <a:r>
              <a:rPr sz="775" i="0">
                <a:solidFill>
                  <a:srgbClr val="82B1FF"/>
                </a:solidFill>
                <a:latin typeface="Inconsolata"/>
              </a:rPr>
              <a:t>containers</a:t>
            </a:r>
            <a:r>
              <a:rPr sz="775" i="0">
                <a:solidFill>
                  <a:srgbClr val="E6EDF3"/>
                </a:solidFill>
                <a:latin typeface="Inconsolata"/>
              </a:rPr>
              <a:t>:</a:t>
            </a:r>
          </a:p>
          <a:p>
            <a:pPr>
              <a:lnSpc>
                <a:spcPct val="107527"/>
              </a:lnSpc>
              <a:spcAft>
                <a:spcPts val="0"/>
              </a:spcAft>
            </a:pPr>
            <a:r>
              <a:rPr sz="775" i="0">
                <a:solidFill>
                  <a:srgbClr val="5C6773"/>
                </a:solidFill>
                <a:latin typeface="Inconsolata"/>
              </a:rPr>
              <a:t>18  </a:t>
            </a:r>
            <a:r>
              <a:rPr sz="775" i="0">
                <a:solidFill>
                  <a:srgbClr val="E6EDF3"/>
                </a:solidFill>
                <a:latin typeface="Inconsolata"/>
              </a:rPr>
              <a:t>        - </a:t>
            </a:r>
            <a:r>
              <a:rPr sz="775" i="0">
                <a:solidFill>
                  <a:srgbClr val="82B1FF"/>
                </a:solidFill>
                <a:latin typeface="Inconsolata"/>
              </a:rPr>
              <a:t>name</a:t>
            </a:r>
            <a:r>
              <a:rPr sz="775" i="0">
                <a:solidFill>
                  <a:srgbClr val="E6EDF3"/>
                </a:solidFill>
                <a:latin typeface="Inconsolata"/>
              </a:rPr>
              <a:t>: api</a:t>
            </a:r>
          </a:p>
          <a:p>
            <a:pPr>
              <a:lnSpc>
                <a:spcPct val="107527"/>
              </a:lnSpc>
              <a:spcAft>
                <a:spcPts val="0"/>
              </a:spcAft>
            </a:pPr>
            <a:r>
              <a:rPr sz="775" i="0">
                <a:solidFill>
                  <a:srgbClr val="5C6773"/>
                </a:solidFill>
                <a:latin typeface="Inconsolata"/>
              </a:rPr>
              <a:t>19  </a:t>
            </a:r>
            <a:r>
              <a:rPr sz="775" i="0">
                <a:solidFill>
                  <a:srgbClr val="E6EDF3"/>
                </a:solidFill>
                <a:latin typeface="Inconsolata"/>
              </a:rPr>
              <a:t>          </a:t>
            </a:r>
            <a:r>
              <a:rPr sz="775" i="0">
                <a:solidFill>
                  <a:srgbClr val="82B1FF"/>
                </a:solidFill>
                <a:latin typeface="Inconsolata"/>
              </a:rPr>
              <a:t>image</a:t>
            </a:r>
            <a:r>
              <a:rPr sz="775" i="0">
                <a:solidFill>
                  <a:srgbClr val="E6EDF3"/>
                </a:solidFill>
                <a:latin typeface="Inconsolata"/>
              </a:rPr>
              <a:t>: k8s-demo:1.0</a:t>
            </a:r>
          </a:p>
          <a:p>
            <a:pPr>
              <a:lnSpc>
                <a:spcPct val="107527"/>
              </a:lnSpc>
              <a:spcAft>
                <a:spcPts val="0"/>
              </a:spcAft>
            </a:pPr>
            <a:r>
              <a:rPr sz="775" i="0">
                <a:solidFill>
                  <a:srgbClr val="5C6773"/>
                </a:solidFill>
                <a:latin typeface="Inconsolata"/>
              </a:rPr>
              <a:t>20  </a:t>
            </a:r>
            <a:r>
              <a:rPr sz="775" i="0">
                <a:solidFill>
                  <a:srgbClr val="E6EDF3"/>
                </a:solidFill>
                <a:latin typeface="Inconsolata"/>
              </a:rPr>
              <a:t>          </a:t>
            </a:r>
            <a:r>
              <a:rPr sz="775" i="0">
                <a:solidFill>
                  <a:srgbClr val="82B1FF"/>
                </a:solidFill>
                <a:latin typeface="Inconsolata"/>
              </a:rPr>
              <a:t>imagePullPolicy</a:t>
            </a:r>
            <a:r>
              <a:rPr sz="775" i="0">
                <a:solidFill>
                  <a:srgbClr val="E6EDF3"/>
                </a:solidFill>
                <a:latin typeface="Inconsolata"/>
              </a:rPr>
              <a:t>: IfNotPresent</a:t>
            </a:r>
          </a:p>
          <a:p>
            <a:pPr>
              <a:lnSpc>
                <a:spcPct val="107527"/>
              </a:lnSpc>
              <a:spcAft>
                <a:spcPts val="0"/>
              </a:spcAft>
            </a:pPr>
            <a:r>
              <a:rPr sz="775" i="0">
                <a:solidFill>
                  <a:srgbClr val="5C6773"/>
                </a:solidFill>
                <a:latin typeface="Inconsolata"/>
              </a:rPr>
              <a:t>21  </a:t>
            </a:r>
            <a:r>
              <a:rPr sz="775" i="0">
                <a:solidFill>
                  <a:srgbClr val="E6EDF3"/>
                </a:solidFill>
                <a:latin typeface="Inconsolata"/>
              </a:rPr>
              <a:t>          </a:t>
            </a:r>
            <a:r>
              <a:rPr sz="775" i="0">
                <a:solidFill>
                  <a:srgbClr val="82B1FF"/>
                </a:solidFill>
                <a:latin typeface="Inconsolata"/>
              </a:rPr>
              <a:t>ports</a:t>
            </a:r>
            <a:r>
              <a:rPr sz="775" i="0">
                <a:solidFill>
                  <a:srgbClr val="E6EDF3"/>
                </a:solidFill>
                <a:latin typeface="Inconsolata"/>
              </a:rPr>
              <a:t>:</a:t>
            </a:r>
          </a:p>
          <a:p>
            <a:pPr>
              <a:lnSpc>
                <a:spcPct val="107527"/>
              </a:lnSpc>
              <a:spcAft>
                <a:spcPts val="0"/>
              </a:spcAft>
            </a:pPr>
            <a:r>
              <a:rPr sz="775" i="0">
                <a:solidFill>
                  <a:srgbClr val="5C6773"/>
                </a:solidFill>
                <a:latin typeface="Inconsolata"/>
              </a:rPr>
              <a:t>22  </a:t>
            </a:r>
            <a:r>
              <a:rPr sz="775" i="0">
                <a:solidFill>
                  <a:srgbClr val="E6EDF3"/>
                </a:solidFill>
                <a:latin typeface="Inconsolata"/>
              </a:rPr>
              <a:t>            - </a:t>
            </a:r>
            <a:r>
              <a:rPr sz="775" i="0">
                <a:solidFill>
                  <a:srgbClr val="82B1FF"/>
                </a:solidFill>
                <a:latin typeface="Inconsolata"/>
              </a:rPr>
              <a:t>containerPort</a:t>
            </a:r>
            <a:r>
              <a:rPr sz="775" i="0">
                <a:solidFill>
                  <a:srgbClr val="E6EDF3"/>
                </a:solidFill>
                <a:latin typeface="Inconsolata"/>
              </a:rPr>
              <a:t>: </a:t>
            </a:r>
            <a:r>
              <a:rPr sz="775" i="0">
                <a:solidFill>
                  <a:srgbClr val="F9C97A"/>
                </a:solidFill>
                <a:latin typeface="Inconsolata"/>
              </a:rPr>
              <a:t>8000</a:t>
            </a:r>
          </a:p>
        </p:txBody>
      </p:sp>
      <p:sp>
        <p:nvSpPr>
          <p:cNvPr id="29" name="Box 12"/>
          <p:cNvSpPr/>
          <p:nvPr/>
        </p:nvSpPr>
        <p:spPr>
          <a:xfrm>
            <a:off x="704088" y="2208022"/>
            <a:ext cx="7699248" cy="627380"/>
          </a:xfrm>
          <a:prstGeom prst="roundRect">
            <a:avLst>
              <a:gd name="adj" fmla="val 728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8284463" y="240284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843022"/>
            <a:ext cx="7699248" cy="373380"/>
          </a:xfrm>
          <a:prstGeom prst="roundRect">
            <a:avLst>
              <a:gd name="adj" fmla="val 12244"/>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8284463" y="291084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3224022"/>
            <a:ext cx="7699248" cy="1389380"/>
          </a:xfrm>
          <a:prstGeom prst="roundRect">
            <a:avLst>
              <a:gd name="adj" fmla="val 3290"/>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8284463" y="379984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Deployment &amp; Service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04-deployment-service/after/</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621792"/>
          </a:xfrm>
          <a:prstGeom prst="roundRect">
            <a:avLst>
              <a:gd name="adj" fmla="val 2941"/>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621792"/>
          </a:xfrm>
          <a:prstGeom prst="rect">
            <a:avLst/>
          </a:prstGeom>
          <a:noFill/>
        </p:spPr>
        <p:txBody>
          <a:bodyPr wrap="none" lIns="146304" tIns="91440" rIns="146304" bIns="54864">
            <a:spAutoFit/>
          </a:bodyPr>
          <a:lstStyle/>
          <a:p>
            <a:pPr>
              <a:lnSpc>
                <a:spcPct val="107843"/>
              </a:lnSpc>
              <a:spcAft>
                <a:spcPts val="0"/>
              </a:spcAft>
            </a:pPr>
            <a:r>
              <a:rPr sz="850" i="0">
                <a:solidFill>
                  <a:srgbClr val="82B1FF"/>
                </a:solidFill>
                <a:latin typeface="Inconsolata"/>
              </a:rPr>
              <a:t>$ cd sesi-11-docker-kubernetes-cicd/04-deployment-service</a:t>
            </a:r>
          </a:p>
          <a:p>
            <a:pPr>
              <a:lnSpc>
                <a:spcPct val="107843"/>
              </a:lnSpc>
              <a:spcAft>
                <a:spcPts val="0"/>
              </a:spcAft>
            </a:pPr>
            <a:r>
              <a:rPr sz="850" i="0">
                <a:solidFill>
                  <a:srgbClr val="82B1FF"/>
                </a:solidFill>
                <a:latin typeface="Inconsolata"/>
              </a:rPr>
              <a:t>$ kubectl apply -f after/</a:t>
            </a:r>
          </a:p>
          <a:p>
            <a:pPr>
              <a:lnSpc>
                <a:spcPct val="107843"/>
              </a:lnSpc>
              <a:spcAft>
                <a:spcPts val="0"/>
              </a:spcAft>
            </a:pPr>
            <a:r>
              <a:rPr sz="850" i="0">
                <a:solidFill>
                  <a:srgbClr val="82B1FF"/>
                </a:solidFill>
                <a:latin typeface="Inconsolata"/>
              </a:rPr>
              <a:t>$ kubectl delete pod &lt;nama-pod&gt;</a:t>
            </a:r>
          </a:p>
        </p:txBody>
      </p:sp>
      <p:pic>
        <p:nvPicPr>
          <p:cNvPr id="29" name="Image 12" descr="s11-04-deployment-service-after.png"/>
          <p:cNvPicPr>
            <a:picLocks noChangeAspect="1"/>
          </p:cNvPicPr>
          <p:nvPr/>
        </p:nvPicPr>
        <p:blipFill>
          <a:blip r:embed="rId2"/>
          <a:stretch>
            <a:fillRect/>
          </a:stretch>
        </p:blipFill>
        <p:spPr>
          <a:xfrm>
            <a:off x="621792" y="2459736"/>
            <a:ext cx="3669792" cy="2240280"/>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Deployment menjaga 2 pod (baris 4-8)</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Pod dipilih lewat label (baris 9-11)</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Template pod yang dibuat ulang (baris 12-22)</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Pod dihapus langsung diganti. Service (</a:t>
            </a:r>
            <a:r>
              <a:rPr sz="950" b="0" i="0">
                <a:solidFill>
                  <a:srgbClr val="B5482A"/>
                </a:solidFill>
                <a:latin typeface="Inconsolata"/>
              </a:rPr>
              <a:t>service.yaml</a:t>
            </a:r>
            <a:r>
              <a:rPr sz="950" b="0" i="0">
                <a:solidFill>
                  <a:srgbClr val="434343"/>
                </a:solidFill>
                <a:latin typeface="Inter"/>
              </a:rPr>
              <a:t>) membagi request ke kedua pod.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ConfigMap &amp; Secret</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ConfigMap dan Secret?</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ConfigMap adalah</a:t>
            </a:r>
          </a:p>
          <a:p>
            <a:pPr algn="l">
              <a:lnSpc>
                <a:spcPct val="115000"/>
              </a:lnSpc>
              <a:spcAft>
                <a:spcPts val="400"/>
              </a:spcAft>
            </a:pPr>
            <a:r>
              <a:rPr sz="900" b="0" i="0">
                <a:solidFill>
                  <a:srgbClr val="434343"/>
                </a:solidFill>
                <a:latin typeface="Inter"/>
              </a:rPr>
              <a:t>Resource Kubernetes untuk menyimpan config yang tidak rahasia, misalnya level log dan alamat service.</a:t>
            </a:r>
          </a:p>
          <a:p>
            <a:pPr algn="l">
              <a:lnSpc>
                <a:spcPct val="115000"/>
              </a:lnSpc>
              <a:spcAft>
                <a:spcPts val="400"/>
              </a:spcAft>
            </a:pPr>
            <a:r>
              <a:rPr sz="1000" b="1" i="0">
                <a:solidFill>
                  <a:srgbClr val="1C4587"/>
                </a:solidFill>
                <a:latin typeface="Inter"/>
              </a:rPr>
              <a:t>Secret adalah</a:t>
            </a:r>
          </a:p>
          <a:p>
            <a:pPr algn="l">
              <a:lnSpc>
                <a:spcPct val="115000"/>
              </a:lnSpc>
              <a:spcAft>
                <a:spcPts val="400"/>
              </a:spcAft>
            </a:pPr>
            <a:r>
              <a:rPr sz="900" b="0" i="0">
                <a:solidFill>
                  <a:srgbClr val="434343"/>
                </a:solidFill>
                <a:latin typeface="Inter"/>
              </a:rPr>
              <a:t>Resource untuk nilai rahasia seperti password dan API key. Akses ke Secret bisa dibatasi dengan RBAC Kubernetes.</a:t>
            </a:r>
          </a:p>
          <a:p>
            <a:pPr algn="l">
              <a:lnSpc>
                <a:spcPct val="115000"/>
              </a:lnSpc>
              <a:spcAft>
                <a:spcPts val="400"/>
              </a:spcAft>
            </a:pPr>
            <a:r>
              <a:rPr sz="100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Memisahkan config dari image dan dari manifest Deployment</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Mengganti config tanpa build ulang image</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nilai di Deployment: 05-configmap-secret/before/</a:t>
            </a:r>
          </a:p>
        </p:txBody>
      </p:sp>
      <p:sp>
        <p:nvSpPr>
          <p:cNvPr id="28" name="CodeBg 11"/>
          <p:cNvSpPr/>
          <p:nvPr/>
        </p:nvSpPr>
        <p:spPr>
          <a:xfrm>
            <a:off x="4297680" y="1719072"/>
            <a:ext cx="4187951" cy="978408"/>
          </a:xfrm>
          <a:prstGeom prst="roundRect">
            <a:avLst>
              <a:gd name="adj" fmla="val 1869"/>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978408"/>
          </a:xfrm>
          <a:prstGeom prst="rect">
            <a:avLst/>
          </a:prstGeom>
          <a:noFill/>
        </p:spPr>
        <p:txBody>
          <a:bodyPr wrap="none" lIns="146304" tIns="91440" rIns="146304" bIns="54864">
            <a:spAutoFit/>
          </a:bodyPr>
          <a:lstStyle/>
          <a:p>
            <a:pPr>
              <a:lnSpc>
                <a:spcPct val="107843"/>
              </a:lnSpc>
              <a:spcAft>
                <a:spcPts val="0"/>
              </a:spcAft>
            </a:pPr>
            <a:r>
              <a:rPr sz="850" i="0">
                <a:solidFill>
                  <a:srgbClr val="E6EDF3"/>
                </a:solidFill>
                <a:latin typeface="Inconsolata"/>
              </a:rPr>
              <a:t>          </a:t>
            </a:r>
            <a:r>
              <a:rPr sz="850" i="0">
                <a:solidFill>
                  <a:srgbClr val="82B1FF"/>
                </a:solidFill>
                <a:latin typeface="Inconsolata"/>
              </a:rPr>
              <a:t>env</a:t>
            </a:r>
            <a:r>
              <a:rPr sz="850" i="0">
                <a:solidFill>
                  <a:srgbClr val="E6EDF3"/>
                </a:solidFill>
                <a:latin typeface="Inconsolata"/>
              </a:rPr>
              <a:t>:</a:t>
            </a:r>
          </a:p>
          <a:p>
            <a:pPr>
              <a:lnSpc>
                <a:spcPct val="107843"/>
              </a:lnSpc>
              <a:spcAft>
                <a:spcPts val="0"/>
              </a:spcAft>
            </a:pPr>
            <a:r>
              <a:rPr sz="850" i="0">
                <a:solidFill>
                  <a:srgbClr val="E6EDF3"/>
                </a:solidFill>
                <a:latin typeface="Inconsolata"/>
              </a:rPr>
              <a:t>            - </a:t>
            </a:r>
            <a:r>
              <a:rPr sz="850" i="0">
                <a:solidFill>
                  <a:srgbClr val="82B1FF"/>
                </a:solidFill>
                <a:latin typeface="Inconsolata"/>
              </a:rPr>
              <a:t>name</a:t>
            </a:r>
            <a:r>
              <a:rPr sz="850" i="0">
                <a:solidFill>
                  <a:srgbClr val="E6EDF3"/>
                </a:solidFill>
                <a:latin typeface="Inconsolata"/>
              </a:rPr>
              <a:t>: API_KEY</a:t>
            </a:r>
          </a:p>
          <a:p>
            <a:pPr>
              <a:lnSpc>
                <a:spcPct val="107843"/>
              </a:lnSpc>
              <a:spcAft>
                <a:spcPts val="0"/>
              </a:spcAft>
            </a:pPr>
            <a:r>
              <a:rPr sz="850" i="0">
                <a:solidFill>
                  <a:srgbClr val="E6EDF3"/>
                </a:solidFill>
                <a:latin typeface="Inconsolata"/>
              </a:rPr>
              <a:t>              </a:t>
            </a:r>
            <a:r>
              <a:rPr sz="850" i="0">
                <a:solidFill>
                  <a:srgbClr val="82B1FF"/>
                </a:solidFill>
                <a:latin typeface="Inconsolata"/>
              </a:rPr>
              <a:t>value</a:t>
            </a:r>
            <a:r>
              <a:rPr sz="850" i="0">
                <a:solidFill>
                  <a:srgbClr val="E6EDF3"/>
                </a:solidFill>
                <a:latin typeface="Inconsolata"/>
              </a:rPr>
              <a:t>: </a:t>
            </a:r>
            <a:r>
              <a:rPr sz="850" i="0">
                <a:solidFill>
                  <a:srgbClr val="A5D6A7"/>
                </a:solidFill>
                <a:latin typeface="Inconsolata"/>
              </a:rPr>
              <a:t>"sk-live-8f2a91c4d7e3"</a:t>
            </a:r>
          </a:p>
        </p:txBody>
      </p:sp>
      <p:sp>
        <p:nvSpPr>
          <p:cNvPr id="30" name="Box 13"/>
          <p:cNvSpPr/>
          <p:nvPr/>
        </p:nvSpPr>
        <p:spPr>
          <a:xfrm>
            <a:off x="4379976" y="1968373"/>
            <a:ext cx="4023359" cy="271018"/>
          </a:xfrm>
          <a:prstGeom prst="roundRect">
            <a:avLst>
              <a:gd name="adj" fmla="val 16869"/>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Tab 15"/>
          <p:cNvSpPr/>
          <p:nvPr/>
        </p:nvSpPr>
        <p:spPr>
          <a:xfrm>
            <a:off x="4297680" y="2788920"/>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4407408" y="2866644"/>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4544568" y="2866644"/>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681728" y="2866644"/>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4846320" y="2798064"/>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envFrom: 05-configmap-secret/after/</a:t>
            </a:r>
          </a:p>
        </p:txBody>
      </p:sp>
      <p:sp>
        <p:nvSpPr>
          <p:cNvPr id="36" name="CodeBg 21"/>
          <p:cNvSpPr/>
          <p:nvPr/>
        </p:nvSpPr>
        <p:spPr>
          <a:xfrm>
            <a:off x="4297680" y="3026664"/>
            <a:ext cx="4187951" cy="1673351"/>
          </a:xfrm>
          <a:prstGeom prst="roundRect">
            <a:avLst>
              <a:gd name="adj" fmla="val 1092"/>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4297680" y="3026664"/>
            <a:ext cx="4187951" cy="1673351"/>
          </a:xfrm>
          <a:prstGeom prst="rect">
            <a:avLst/>
          </a:prstGeom>
          <a:noFill/>
        </p:spPr>
        <p:txBody>
          <a:bodyPr wrap="none" lIns="146304" tIns="91440" rIns="146304" bIns="54864">
            <a:spAutoFit/>
          </a:bodyPr>
          <a:lstStyle/>
          <a:p>
            <a:pPr>
              <a:lnSpc>
                <a:spcPct val="107843"/>
              </a:lnSpc>
              <a:spcAft>
                <a:spcPts val="0"/>
              </a:spcAft>
            </a:pPr>
            <a:r>
              <a:rPr sz="850" i="0">
                <a:solidFill>
                  <a:srgbClr val="E6EDF3"/>
                </a:solidFill>
                <a:latin typeface="Inconsolata"/>
              </a:rPr>
              <a:t>          </a:t>
            </a:r>
            <a:r>
              <a:rPr sz="850" i="0">
                <a:solidFill>
                  <a:srgbClr val="82B1FF"/>
                </a:solidFill>
                <a:latin typeface="Inconsolata"/>
              </a:rPr>
              <a:t>envFrom</a:t>
            </a:r>
            <a:r>
              <a:rPr sz="850" i="0">
                <a:solidFill>
                  <a:srgbClr val="E6EDF3"/>
                </a:solidFill>
                <a:latin typeface="Inconsolata"/>
              </a:rPr>
              <a:t>:</a:t>
            </a:r>
          </a:p>
          <a:p>
            <a:pPr>
              <a:lnSpc>
                <a:spcPct val="107843"/>
              </a:lnSpc>
              <a:spcAft>
                <a:spcPts val="0"/>
              </a:spcAft>
            </a:pPr>
            <a:r>
              <a:rPr sz="850" i="0">
                <a:solidFill>
                  <a:srgbClr val="E6EDF3"/>
                </a:solidFill>
                <a:latin typeface="Inconsolata"/>
              </a:rPr>
              <a:t>            - </a:t>
            </a:r>
            <a:r>
              <a:rPr sz="850" i="0">
                <a:solidFill>
                  <a:srgbClr val="82B1FF"/>
                </a:solidFill>
                <a:latin typeface="Inconsolata"/>
              </a:rPr>
              <a:t>configMapRef</a:t>
            </a:r>
            <a:r>
              <a:rPr sz="850" i="0">
                <a:solidFill>
                  <a:srgbClr val="E6EDF3"/>
                </a:solidFill>
                <a:latin typeface="Inconsolata"/>
              </a:rPr>
              <a:t>:</a:t>
            </a:r>
          </a:p>
          <a:p>
            <a:pPr>
              <a:lnSpc>
                <a:spcPct val="107843"/>
              </a:lnSpc>
              <a:spcAft>
                <a:spcPts val="0"/>
              </a:spcAft>
            </a:pPr>
            <a:r>
              <a:rPr sz="850" i="0">
                <a:solidFill>
                  <a:srgbClr val="E6EDF3"/>
                </a:solidFill>
                <a:latin typeface="Inconsolata"/>
              </a:rPr>
              <a:t>                </a:t>
            </a:r>
            <a:r>
              <a:rPr sz="850" i="0">
                <a:solidFill>
                  <a:srgbClr val="82B1FF"/>
                </a:solidFill>
                <a:latin typeface="Inconsolata"/>
              </a:rPr>
              <a:t>name</a:t>
            </a:r>
            <a:r>
              <a:rPr sz="850" i="0">
                <a:solidFill>
                  <a:srgbClr val="E6EDF3"/>
                </a:solidFill>
                <a:latin typeface="Inconsolata"/>
              </a:rPr>
              <a:t>: order-api-config</a:t>
            </a:r>
          </a:p>
          <a:p>
            <a:pPr>
              <a:lnSpc>
                <a:spcPct val="107843"/>
              </a:lnSpc>
              <a:spcAft>
                <a:spcPts val="0"/>
              </a:spcAft>
            </a:pPr>
            <a:r>
              <a:rPr sz="850" i="0">
                <a:solidFill>
                  <a:srgbClr val="E6EDF3"/>
                </a:solidFill>
                <a:latin typeface="Inconsolata"/>
              </a:rPr>
              <a:t>            - </a:t>
            </a:r>
            <a:r>
              <a:rPr sz="850" i="0">
                <a:solidFill>
                  <a:srgbClr val="82B1FF"/>
                </a:solidFill>
                <a:latin typeface="Inconsolata"/>
              </a:rPr>
              <a:t>secretRef</a:t>
            </a:r>
            <a:r>
              <a:rPr sz="850" i="0">
                <a:solidFill>
                  <a:srgbClr val="E6EDF3"/>
                </a:solidFill>
                <a:latin typeface="Inconsolata"/>
              </a:rPr>
              <a:t>:</a:t>
            </a:r>
          </a:p>
          <a:p>
            <a:pPr>
              <a:lnSpc>
                <a:spcPct val="107843"/>
              </a:lnSpc>
              <a:spcAft>
                <a:spcPts val="0"/>
              </a:spcAft>
            </a:pPr>
            <a:r>
              <a:rPr sz="850" i="0">
                <a:solidFill>
                  <a:srgbClr val="E6EDF3"/>
                </a:solidFill>
                <a:latin typeface="Inconsolata"/>
              </a:rPr>
              <a:t>                </a:t>
            </a:r>
            <a:r>
              <a:rPr sz="850" i="0">
                <a:solidFill>
                  <a:srgbClr val="82B1FF"/>
                </a:solidFill>
                <a:latin typeface="Inconsolata"/>
              </a:rPr>
              <a:t>name</a:t>
            </a:r>
            <a:r>
              <a:rPr sz="850" i="0">
                <a:solidFill>
                  <a:srgbClr val="E6EDF3"/>
                </a:solidFill>
                <a:latin typeface="Inconsolata"/>
              </a:rPr>
              <a:t>: order-api-secret</a:t>
            </a:r>
          </a:p>
        </p:txBody>
      </p:sp>
      <p:sp>
        <p:nvSpPr>
          <p:cNvPr id="38" name="Box 23"/>
          <p:cNvSpPr/>
          <p:nvPr/>
        </p:nvSpPr>
        <p:spPr>
          <a:xfrm>
            <a:off x="4379976" y="3136265"/>
            <a:ext cx="4023359" cy="690118"/>
          </a:xfrm>
          <a:prstGeom prst="roundRect">
            <a:avLst>
              <a:gd name="adj" fmla="val 6624"/>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ConfigMap &amp; Secret</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menggunakan ConfigMap dan Secret?</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Dengan nilai di Deployment</a:t>
            </a:r>
          </a:p>
          <a:p>
            <a:pPr algn="l">
              <a:lnSpc>
                <a:spcPct val="115000"/>
              </a:lnSpc>
              <a:spcAft>
                <a:spcPts val="400"/>
              </a:spcAft>
            </a:pPr>
            <a:r>
              <a:rPr sz="950" b="0" i="0">
                <a:solidFill>
                  <a:srgbClr val="B5482A"/>
                </a:solidFill>
                <a:latin typeface="Inconsolata"/>
              </a:rPr>
              <a:t>API_KEY</a:t>
            </a:r>
            <a:r>
              <a:rPr sz="950" b="0" i="0">
                <a:solidFill>
                  <a:srgbClr val="434343"/>
                </a:solidFill>
                <a:latin typeface="Inter"/>
              </a:rPr>
              <a:t> tertulis di manifest. Siapa pun yang bisa membaca Deployment atau repository-nya bisa melihatnya.</a:t>
            </a:r>
          </a:p>
          <a:p>
            <a:pPr algn="l">
              <a:lnSpc>
                <a:spcPct val="115000"/>
              </a:lnSpc>
              <a:spcAft>
                <a:spcPts val="400"/>
              </a:spcAft>
            </a:pPr>
            <a:r>
              <a:rPr sz="1050" b="1" i="0">
                <a:solidFill>
                  <a:srgbClr val="1C4587"/>
                </a:solidFill>
                <a:latin typeface="Inter"/>
              </a:rPr>
              <a:t>Jika environment makin banyak</a:t>
            </a:r>
          </a:p>
          <a:p>
            <a:pPr algn="l">
              <a:lnSpc>
                <a:spcPct val="115000"/>
              </a:lnSpc>
              <a:spcAft>
                <a:spcPts val="400"/>
              </a:spcAft>
            </a:pPr>
            <a:r>
              <a:rPr sz="950" b="0" i="0">
                <a:solidFill>
                  <a:srgbClr val="434343"/>
                </a:solidFill>
                <a:latin typeface="Inter"/>
              </a:rPr>
              <a:t>Staging dan production butuh nilai berbeda, tetapi manifest Deployment-nya sama.</a:t>
            </a:r>
          </a:p>
          <a:p>
            <a:pPr algn="l">
              <a:lnSpc>
                <a:spcPct val="115000"/>
              </a:lnSpc>
              <a:spcAft>
                <a:spcPts val="400"/>
              </a:spcAft>
            </a:pPr>
            <a:r>
              <a:rPr sz="950" b="0" i="0">
                <a:solidFill>
                  <a:srgbClr val="434343"/>
                </a:solidFill>
                <a:latin typeface="Inter"/>
              </a:rPr>
              <a:t>Hal ini menimbulkan potensi secret production ikut ter-commit dan tersebar.</a:t>
            </a:r>
          </a:p>
          <a:p>
            <a:pPr algn="l">
              <a:lnSpc>
                <a:spcPct val="115000"/>
              </a:lnSpc>
              <a:spcAft>
                <a:spcPts val="400"/>
              </a:spcAft>
            </a:pPr>
            <a:r>
              <a:rPr sz="1050" b="1" i="0">
                <a:solidFill>
                  <a:srgbClr val="1C4587"/>
                </a:solidFill>
                <a:latin typeface="Inter"/>
              </a:rPr>
              <a:t>Yang perlu diperhatikan</a:t>
            </a:r>
          </a:p>
          <a:p>
            <a:pPr algn="l">
              <a:lnSpc>
                <a:spcPct val="115000"/>
              </a:lnSpc>
              <a:spcAft>
                <a:spcPts val="400"/>
              </a:spcAft>
            </a:pPr>
            <a:r>
              <a:rPr sz="950" b="0" i="0">
                <a:solidFill>
                  <a:srgbClr val="434343"/>
                </a:solidFill>
                <a:latin typeface="Inter"/>
              </a:rPr>
              <a:t>Isi Secret hanya di-encode base64, bukan dienkripsi. Secret asli dibuat dari luar repository.</a:t>
            </a:r>
          </a:p>
        </p:txBody>
      </p:sp>
      <p:sp>
        <p:nvSpPr>
          <p:cNvPr id="23" name="CodeTab 5"/>
          <p:cNvSpPr/>
          <p:nvPr/>
        </p:nvSpPr>
        <p:spPr>
          <a:xfrm>
            <a:off x="4800600" y="1481328"/>
            <a:ext cx="3685032"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91032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504748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518464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5349240" y="1490472"/>
            <a:ext cx="3044952"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membuat Secret di cluster asli</a:t>
            </a:r>
          </a:p>
        </p:txBody>
      </p:sp>
      <p:sp>
        <p:nvSpPr>
          <p:cNvPr id="28" name="CodeBg 11"/>
          <p:cNvSpPr/>
          <p:nvPr/>
        </p:nvSpPr>
        <p:spPr>
          <a:xfrm>
            <a:off x="4800600" y="1719072"/>
            <a:ext cx="3685032"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800600" y="1719072"/>
            <a:ext cx="3685032" cy="484632"/>
          </a:xfrm>
          <a:prstGeom prst="rect">
            <a:avLst/>
          </a:prstGeom>
          <a:noFill/>
        </p:spPr>
        <p:txBody>
          <a:bodyPr wrap="none" lIns="146304" tIns="91440" rIns="146304" bIns="54864">
            <a:spAutoFit/>
          </a:bodyPr>
          <a:lstStyle/>
          <a:p>
            <a:pPr>
              <a:lnSpc>
                <a:spcPct val="107843"/>
              </a:lnSpc>
              <a:spcAft>
                <a:spcPts val="0"/>
              </a:spcAft>
            </a:pPr>
            <a:r>
              <a:rPr sz="850" i="0">
                <a:solidFill>
                  <a:srgbClr val="E6EDF3"/>
                </a:solidFill>
                <a:latin typeface="Inconsolata"/>
              </a:rPr>
              <a:t>kubectl create secret generic order-api-secret \</a:t>
            </a:r>
          </a:p>
          <a:p>
            <a:pPr>
              <a:lnSpc>
                <a:spcPct val="107843"/>
              </a:lnSpc>
              <a:spcAft>
                <a:spcPts val="0"/>
              </a:spcAft>
            </a:pPr>
            <a:r>
              <a:rPr sz="850" i="0">
                <a:solidFill>
                  <a:srgbClr val="E6EDF3"/>
                </a:solidFill>
                <a:latin typeface="Inconsolata"/>
              </a:rPr>
              <a:t>  --from-literal=API_KEY=...</a:t>
            </a:r>
          </a:p>
        </p:txBody>
      </p:sp>
      <p:graphicFrame>
        <p:nvGraphicFramePr>
          <p:cNvPr id="30" name="Table 13"/>
          <p:cNvGraphicFramePr>
            <a:graphicFrameLocks noGrp="1"/>
          </p:cNvGraphicFramePr>
          <p:nvPr/>
        </p:nvGraphicFramePr>
        <p:xfrm>
          <a:off x="4800600" y="2368296"/>
          <a:ext cx="3685032" cy="1234440"/>
        </p:xfrm>
        <a:graphic>
          <a:graphicData uri="http://schemas.openxmlformats.org/drawingml/2006/table">
            <a:tbl>
              <a:tblPr firstRow="1" bandRow="1"/>
              <a:tblGrid>
                <a:gridCol w="1216152">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tblGrid>
              <a:tr h="411480">
                <a:tc>
                  <a:txBody>
                    <a:bodyPr/>
                    <a:lstStyle/>
                    <a:p>
                      <a:pPr algn="l">
                        <a:lnSpc>
                          <a:spcPct val="100000"/>
                        </a:lnSpc>
                        <a:spcAft>
                          <a:spcPts val="0"/>
                        </a:spcAft>
                      </a:pPr>
                      <a:r>
                        <a:rPr sz="850" b="1" i="0">
                          <a:solidFill>
                            <a:srgbClr val="FFFFFF"/>
                          </a:solidFill>
                          <a:latin typeface="Inter"/>
                        </a:rPr>
                        <a:t>Resource</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Isi</a:t>
                      </a:r>
                    </a:p>
                  </a:txBody>
                  <a:tcPr marL="73152" marR="73152" marT="36576" marB="36576" anchor="ctr">
                    <a:solidFill>
                      <a:srgbClr val="1C4587"/>
                    </a:solidFill>
                  </a:tcPr>
                </a:tc>
                <a:extLst>
                  <a:ext uri="{0D108BD9-81ED-4DB2-BD59-A6C34878D82A}">
                    <a16:rowId xmlns:a16="http://schemas.microsoft.com/office/drawing/2014/main" val="10000"/>
                  </a:ext>
                </a:extLst>
              </a:tr>
              <a:tr h="411480">
                <a:tc>
                  <a:txBody>
                    <a:bodyPr/>
                    <a:lstStyle/>
                    <a:p>
                      <a:pPr algn="l">
                        <a:lnSpc>
                          <a:spcPct val="100000"/>
                        </a:lnSpc>
                        <a:spcAft>
                          <a:spcPts val="0"/>
                        </a:spcAft>
                      </a:pPr>
                      <a:r>
                        <a:rPr sz="850" b="1" i="0">
                          <a:solidFill>
                            <a:srgbClr val="1C4587"/>
                          </a:solidFill>
                          <a:latin typeface="Inter"/>
                        </a:rPr>
                        <a:t>ConfigMap</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ENV, LOG_LEVEL, alamat Redis</a:t>
                      </a:r>
                    </a:p>
                  </a:txBody>
                  <a:tcPr marL="73152" marR="73152" marT="36576" marB="36576" anchor="ctr">
                    <a:solidFill>
                      <a:srgbClr val="FFFFFF"/>
                    </a:solidFill>
                  </a:tcPr>
                </a:tc>
                <a:extLst>
                  <a:ext uri="{0D108BD9-81ED-4DB2-BD59-A6C34878D82A}">
                    <a16:rowId xmlns:a16="http://schemas.microsoft.com/office/drawing/2014/main" val="10001"/>
                  </a:ext>
                </a:extLst>
              </a:tr>
              <a:tr h="411480">
                <a:tc>
                  <a:txBody>
                    <a:bodyPr/>
                    <a:lstStyle/>
                    <a:p>
                      <a:pPr algn="l">
                        <a:lnSpc>
                          <a:spcPct val="100000"/>
                        </a:lnSpc>
                        <a:spcAft>
                          <a:spcPts val="0"/>
                        </a:spcAft>
                      </a:pPr>
                      <a:r>
                        <a:rPr sz="850" b="1" i="0">
                          <a:solidFill>
                            <a:srgbClr val="1C4587"/>
                          </a:solidFill>
                          <a:latin typeface="Inter"/>
                        </a:rPr>
                        <a:t>Secret</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JWT_SECRET, DATABASE_URL, API key</a:t>
                      </a:r>
                    </a:p>
                  </a:txBody>
                  <a:tcPr marL="73152" marR="73152" marT="36576" marB="36576" anchor="ctr">
                    <a:solidFill>
                      <a:srgbClr val="F3F4F6"/>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ConfigMap &amp; Secret</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API key di manifest Deployment (1/2)</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72237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05-configmap-secret/before/deployment.yaml</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7863840" cy="2980944"/>
          </a:xfrm>
          <a:prstGeom prst="rect">
            <a:avLst/>
          </a:prstGeom>
          <a:noFill/>
        </p:spPr>
        <p:txBody>
          <a:bodyPr wrap="none" lIns="146304" tIns="91440" rIns="146304" bIns="54864">
            <a:spAutoFit/>
          </a:bodyPr>
          <a:lstStyle/>
          <a:p>
            <a:pPr>
              <a:lnSpc>
                <a:spcPct val="107843"/>
              </a:lnSpc>
              <a:spcAft>
                <a:spcPts val="0"/>
              </a:spcAft>
            </a:pPr>
            <a:r>
              <a:rPr sz="850" i="0">
                <a:solidFill>
                  <a:srgbClr val="5C6773"/>
                </a:solidFill>
                <a:latin typeface="Inconsolata"/>
              </a:rPr>
              <a:t> 1  </a:t>
            </a:r>
            <a:r>
              <a:rPr sz="850" i="1">
                <a:solidFill>
                  <a:srgbClr val="8B98A8"/>
                </a:solidFill>
                <a:latin typeface="Inconsolata"/>
              </a:rPr>
              <a:t># ConfigMap &amp; Secret - BEFORE (config dan secret ditulis langsung di Deployment)</a:t>
            </a:r>
          </a:p>
          <a:p>
            <a:pPr>
              <a:lnSpc>
                <a:spcPct val="107843"/>
              </a:lnSpc>
              <a:spcAft>
                <a:spcPts val="0"/>
              </a:spcAft>
            </a:pPr>
            <a:r>
              <a:rPr sz="850" i="0">
                <a:solidFill>
                  <a:srgbClr val="5C6773"/>
                </a:solidFill>
                <a:latin typeface="Inconsolata"/>
              </a:rPr>
              <a:t> 2  </a:t>
            </a:r>
            <a:r>
              <a:rPr sz="850" i="1">
                <a:solidFill>
                  <a:srgbClr val="8B98A8"/>
                </a:solidFill>
                <a:latin typeface="Inconsolata"/>
              </a:rPr>
              <a:t># - API_KEY terbaca oleh siapa pun yang bisa membuka file ini atau repository-nya</a:t>
            </a:r>
          </a:p>
          <a:p>
            <a:pPr>
              <a:lnSpc>
                <a:spcPct val="107843"/>
              </a:lnSpc>
              <a:spcAft>
                <a:spcPts val="0"/>
              </a:spcAft>
            </a:pPr>
            <a:r>
              <a:rPr sz="850" i="0">
                <a:solidFill>
                  <a:srgbClr val="5C6773"/>
                </a:solidFill>
                <a:latin typeface="Inconsolata"/>
              </a:rPr>
              <a:t> 3  </a:t>
            </a:r>
            <a:r>
              <a:rPr sz="850" i="1">
                <a:solidFill>
                  <a:srgbClr val="8B98A8"/>
                </a:solidFill>
                <a:latin typeface="Inconsolata"/>
              </a:rPr>
              <a:t># - Config yang sama untuk banyak Deployment harus ditulis ulang di setiap file</a:t>
            </a:r>
          </a:p>
          <a:p>
            <a:pPr>
              <a:lnSpc>
                <a:spcPct val="107843"/>
              </a:lnSpc>
              <a:spcAft>
                <a:spcPts val="0"/>
              </a:spcAft>
            </a:pPr>
            <a:r>
              <a:rPr sz="850" i="0">
                <a:solidFill>
                  <a:srgbClr val="5C6773"/>
                </a:solidFill>
                <a:latin typeface="Inconsolata"/>
              </a:rPr>
              <a:t> 4  </a:t>
            </a:r>
            <a:r>
              <a:rPr sz="850" i="1">
                <a:solidFill>
                  <a:srgbClr val="8B98A8"/>
                </a:solidFill>
                <a:latin typeface="Inconsolata"/>
              </a:rPr>
              <a:t># - Mengganti config = mengubah manifest Deployment</a:t>
            </a:r>
          </a:p>
          <a:p>
            <a:pPr>
              <a:lnSpc>
                <a:spcPct val="107843"/>
              </a:lnSpc>
              <a:spcAft>
                <a:spcPts val="0"/>
              </a:spcAft>
            </a:pPr>
            <a:r>
              <a:rPr sz="850" i="0">
                <a:solidFill>
                  <a:srgbClr val="5C6773"/>
                </a:solidFill>
                <a:latin typeface="Inconsolata"/>
              </a:rPr>
              <a:t> 5  </a:t>
            </a:r>
            <a:r>
              <a:rPr sz="850" i="0">
                <a:solidFill>
                  <a:srgbClr val="82B1FF"/>
                </a:solidFill>
                <a:latin typeface="Inconsolata"/>
              </a:rPr>
              <a:t>apiVersion</a:t>
            </a:r>
            <a:r>
              <a:rPr sz="850" i="0">
                <a:solidFill>
                  <a:srgbClr val="E6EDF3"/>
                </a:solidFill>
                <a:latin typeface="Inconsolata"/>
              </a:rPr>
              <a:t>: apps/v1</a:t>
            </a:r>
          </a:p>
          <a:p>
            <a:pPr>
              <a:lnSpc>
                <a:spcPct val="107843"/>
              </a:lnSpc>
              <a:spcAft>
                <a:spcPts val="0"/>
              </a:spcAft>
            </a:pPr>
            <a:r>
              <a:rPr sz="850" i="0">
                <a:solidFill>
                  <a:srgbClr val="5C6773"/>
                </a:solidFill>
                <a:latin typeface="Inconsolata"/>
              </a:rPr>
              <a:t> 6  </a:t>
            </a:r>
            <a:r>
              <a:rPr sz="850" i="0">
                <a:solidFill>
                  <a:srgbClr val="82B1FF"/>
                </a:solidFill>
                <a:latin typeface="Inconsolata"/>
              </a:rPr>
              <a:t>kind</a:t>
            </a:r>
            <a:r>
              <a:rPr sz="850" i="0">
                <a:solidFill>
                  <a:srgbClr val="E6EDF3"/>
                </a:solidFill>
                <a:latin typeface="Inconsolata"/>
              </a:rPr>
              <a:t>: Deployment</a:t>
            </a:r>
          </a:p>
          <a:p>
            <a:pPr>
              <a:lnSpc>
                <a:spcPct val="107843"/>
              </a:lnSpc>
              <a:spcAft>
                <a:spcPts val="0"/>
              </a:spcAft>
            </a:pPr>
            <a:r>
              <a:rPr sz="850" i="0">
                <a:solidFill>
                  <a:srgbClr val="5C6773"/>
                </a:solidFill>
                <a:latin typeface="Inconsolata"/>
              </a:rPr>
              <a:t> 7  </a:t>
            </a:r>
            <a:r>
              <a:rPr sz="850" i="0">
                <a:solidFill>
                  <a:srgbClr val="82B1FF"/>
                </a:solidFill>
                <a:latin typeface="Inconsolata"/>
              </a:rPr>
              <a:t>metadata</a:t>
            </a:r>
            <a:r>
              <a:rPr sz="850" i="0">
                <a:solidFill>
                  <a:srgbClr val="E6EDF3"/>
                </a:solidFill>
                <a:latin typeface="Inconsolata"/>
              </a:rPr>
              <a:t>:</a:t>
            </a:r>
          </a:p>
          <a:p>
            <a:pPr>
              <a:lnSpc>
                <a:spcPct val="107843"/>
              </a:lnSpc>
              <a:spcAft>
                <a:spcPts val="0"/>
              </a:spcAft>
            </a:pPr>
            <a:r>
              <a:rPr sz="850" i="0">
                <a:solidFill>
                  <a:srgbClr val="5C6773"/>
                </a:solidFill>
                <a:latin typeface="Inconsolata"/>
              </a:rPr>
              <a:t> 8  </a:t>
            </a:r>
            <a:r>
              <a:rPr sz="850" i="0">
                <a:solidFill>
                  <a:srgbClr val="E6EDF3"/>
                </a:solidFill>
                <a:latin typeface="Inconsolata"/>
              </a:rPr>
              <a:t>  </a:t>
            </a:r>
            <a:r>
              <a:rPr sz="850" i="0">
                <a:solidFill>
                  <a:srgbClr val="82B1FF"/>
                </a:solidFill>
                <a:latin typeface="Inconsolata"/>
              </a:rPr>
              <a:t>name</a:t>
            </a:r>
            <a:r>
              <a:rPr sz="850" i="0">
                <a:solidFill>
                  <a:srgbClr val="E6EDF3"/>
                </a:solidFill>
                <a:latin typeface="Inconsolata"/>
              </a:rPr>
              <a:t>: order-api</a:t>
            </a:r>
          </a:p>
          <a:p>
            <a:pPr>
              <a:lnSpc>
                <a:spcPct val="107843"/>
              </a:lnSpc>
              <a:spcAft>
                <a:spcPts val="0"/>
              </a:spcAft>
            </a:pPr>
            <a:r>
              <a:rPr sz="850" i="0">
                <a:solidFill>
                  <a:srgbClr val="5C6773"/>
                </a:solidFill>
                <a:latin typeface="Inconsolata"/>
              </a:rPr>
              <a:t> 9  </a:t>
            </a:r>
            <a:r>
              <a:rPr sz="850" i="0">
                <a:solidFill>
                  <a:srgbClr val="82B1FF"/>
                </a:solidFill>
                <a:latin typeface="Inconsolata"/>
              </a:rPr>
              <a:t>spec</a:t>
            </a:r>
            <a:r>
              <a:rPr sz="850" i="0">
                <a:solidFill>
                  <a:srgbClr val="E6EDF3"/>
                </a:solidFill>
                <a:latin typeface="Inconsolata"/>
              </a:rPr>
              <a:t>:</a:t>
            </a:r>
          </a:p>
          <a:p>
            <a:pPr>
              <a:lnSpc>
                <a:spcPct val="107843"/>
              </a:lnSpc>
              <a:spcAft>
                <a:spcPts val="0"/>
              </a:spcAft>
            </a:pPr>
            <a:r>
              <a:rPr sz="850" i="0">
                <a:solidFill>
                  <a:srgbClr val="5C6773"/>
                </a:solidFill>
                <a:latin typeface="Inconsolata"/>
              </a:rPr>
              <a:t>10  </a:t>
            </a:r>
            <a:r>
              <a:rPr sz="850" i="0">
                <a:solidFill>
                  <a:srgbClr val="E6EDF3"/>
                </a:solidFill>
                <a:latin typeface="Inconsolata"/>
              </a:rPr>
              <a:t>  </a:t>
            </a:r>
            <a:r>
              <a:rPr sz="850" i="0">
                <a:solidFill>
                  <a:srgbClr val="82B1FF"/>
                </a:solidFill>
                <a:latin typeface="Inconsolata"/>
              </a:rPr>
              <a:t>replicas</a:t>
            </a:r>
            <a:r>
              <a:rPr sz="850" i="0">
                <a:solidFill>
                  <a:srgbClr val="E6EDF3"/>
                </a:solidFill>
                <a:latin typeface="Inconsolata"/>
              </a:rPr>
              <a:t>: </a:t>
            </a:r>
            <a:r>
              <a:rPr sz="850" i="0">
                <a:solidFill>
                  <a:srgbClr val="F9C97A"/>
                </a:solidFill>
                <a:latin typeface="Inconsolata"/>
              </a:rPr>
              <a:t>1</a:t>
            </a:r>
          </a:p>
          <a:p>
            <a:pPr>
              <a:lnSpc>
                <a:spcPct val="107843"/>
              </a:lnSpc>
              <a:spcAft>
                <a:spcPts val="0"/>
              </a:spcAft>
            </a:pPr>
            <a:r>
              <a:rPr sz="850" i="0">
                <a:solidFill>
                  <a:srgbClr val="5C6773"/>
                </a:solidFill>
                <a:latin typeface="Inconsolata"/>
              </a:rPr>
              <a:t>11  </a:t>
            </a:r>
            <a:r>
              <a:rPr sz="850" i="0">
                <a:solidFill>
                  <a:srgbClr val="E6EDF3"/>
                </a:solidFill>
                <a:latin typeface="Inconsolata"/>
              </a:rPr>
              <a:t>  </a:t>
            </a:r>
            <a:r>
              <a:rPr sz="850" i="0">
                <a:solidFill>
                  <a:srgbClr val="82B1FF"/>
                </a:solidFill>
                <a:latin typeface="Inconsolata"/>
              </a:rPr>
              <a:t>selector</a:t>
            </a:r>
            <a:r>
              <a:rPr sz="850" i="0">
                <a:solidFill>
                  <a:srgbClr val="E6EDF3"/>
                </a:solidFill>
                <a:latin typeface="Inconsolata"/>
              </a:rPr>
              <a:t>:</a:t>
            </a:r>
          </a:p>
          <a:p>
            <a:pPr>
              <a:lnSpc>
                <a:spcPct val="107843"/>
              </a:lnSpc>
              <a:spcAft>
                <a:spcPts val="0"/>
              </a:spcAft>
            </a:pPr>
            <a:r>
              <a:rPr sz="850" i="0">
                <a:solidFill>
                  <a:srgbClr val="5C6773"/>
                </a:solidFill>
                <a:latin typeface="Inconsolata"/>
              </a:rPr>
              <a:t>12  </a:t>
            </a:r>
            <a:r>
              <a:rPr sz="850" i="0">
                <a:solidFill>
                  <a:srgbClr val="E6EDF3"/>
                </a:solidFill>
                <a:latin typeface="Inconsolata"/>
              </a:rPr>
              <a:t>    </a:t>
            </a:r>
            <a:r>
              <a:rPr sz="850" i="0">
                <a:solidFill>
                  <a:srgbClr val="82B1FF"/>
                </a:solidFill>
                <a:latin typeface="Inconsolata"/>
              </a:rPr>
              <a:t>matchLabels</a:t>
            </a:r>
            <a:r>
              <a:rPr sz="850" i="0">
                <a:solidFill>
                  <a:srgbClr val="E6EDF3"/>
                </a:solidFill>
                <a:latin typeface="Inconsolata"/>
              </a:rPr>
              <a:t>:</a:t>
            </a:r>
          </a:p>
          <a:p>
            <a:pPr>
              <a:lnSpc>
                <a:spcPct val="107843"/>
              </a:lnSpc>
              <a:spcAft>
                <a:spcPts val="0"/>
              </a:spcAft>
            </a:pPr>
            <a:r>
              <a:rPr sz="850" i="0">
                <a:solidFill>
                  <a:srgbClr val="5C6773"/>
                </a:solidFill>
                <a:latin typeface="Inconsolata"/>
              </a:rPr>
              <a:t>13  </a:t>
            </a:r>
            <a:r>
              <a:rPr sz="850" i="0">
                <a:solidFill>
                  <a:srgbClr val="E6EDF3"/>
                </a:solidFill>
                <a:latin typeface="Inconsolata"/>
              </a:rPr>
              <a:t>      </a:t>
            </a:r>
            <a:r>
              <a:rPr sz="850" i="0">
                <a:solidFill>
                  <a:srgbClr val="82B1FF"/>
                </a:solidFill>
                <a:latin typeface="Inconsolata"/>
              </a:rPr>
              <a:t>app</a:t>
            </a:r>
            <a:r>
              <a:rPr sz="850" i="0">
                <a:solidFill>
                  <a:srgbClr val="E6EDF3"/>
                </a:solidFill>
                <a:latin typeface="Inconsolata"/>
              </a:rPr>
              <a:t>: order-api</a:t>
            </a:r>
          </a:p>
          <a:p>
            <a:pPr>
              <a:lnSpc>
                <a:spcPct val="107843"/>
              </a:lnSpc>
              <a:spcAft>
                <a:spcPts val="0"/>
              </a:spcAft>
            </a:pPr>
            <a:r>
              <a:rPr sz="850" i="0">
                <a:solidFill>
                  <a:srgbClr val="5C6773"/>
                </a:solidFill>
                <a:latin typeface="Inconsolata"/>
              </a:rPr>
              <a:t>14  </a:t>
            </a:r>
            <a:r>
              <a:rPr sz="850" i="0">
                <a:solidFill>
                  <a:srgbClr val="E6EDF3"/>
                </a:solidFill>
                <a:latin typeface="Inconsolata"/>
              </a:rPr>
              <a:t>  </a:t>
            </a:r>
            <a:r>
              <a:rPr sz="850" i="0">
                <a:solidFill>
                  <a:srgbClr val="82B1FF"/>
                </a:solidFill>
                <a:latin typeface="Inconsolata"/>
              </a:rPr>
              <a:t>template</a:t>
            </a:r>
            <a:r>
              <a:rPr sz="850" i="0">
                <a:solidFill>
                  <a:srgbClr val="E6EDF3"/>
                </a:solidFill>
                <a:latin typeface="Inconsolata"/>
              </a:rPr>
              <a: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ConfigMap &amp; Secret</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API key di manifest Deployment (2/2)</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72237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05-configmap-secret/before/deployment.yaml</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7863840" cy="2980944"/>
          </a:xfrm>
          <a:prstGeom prst="rect">
            <a:avLst/>
          </a:prstGeom>
          <a:noFill/>
        </p:spPr>
        <p:txBody>
          <a:bodyPr wrap="none" lIns="146304" tIns="91440" rIns="146304" bIns="54864">
            <a:spAutoFit/>
          </a:bodyPr>
          <a:lstStyle/>
          <a:p>
            <a:pPr>
              <a:lnSpc>
                <a:spcPct val="107843"/>
              </a:lnSpc>
              <a:spcAft>
                <a:spcPts val="0"/>
              </a:spcAft>
            </a:pPr>
            <a:r>
              <a:rPr sz="850" i="0">
                <a:solidFill>
                  <a:srgbClr val="5C6773"/>
                </a:solidFill>
                <a:latin typeface="Inconsolata"/>
              </a:rPr>
              <a:t>15  </a:t>
            </a:r>
            <a:r>
              <a:rPr sz="850" i="0">
                <a:solidFill>
                  <a:srgbClr val="E6EDF3"/>
                </a:solidFill>
                <a:latin typeface="Inconsolata"/>
              </a:rPr>
              <a:t>    </a:t>
            </a:r>
            <a:r>
              <a:rPr sz="850" i="0">
                <a:solidFill>
                  <a:srgbClr val="82B1FF"/>
                </a:solidFill>
                <a:latin typeface="Inconsolata"/>
              </a:rPr>
              <a:t>metadata</a:t>
            </a:r>
            <a:r>
              <a:rPr sz="850" i="0">
                <a:solidFill>
                  <a:srgbClr val="E6EDF3"/>
                </a:solidFill>
                <a:latin typeface="Inconsolata"/>
              </a:rPr>
              <a:t>:</a:t>
            </a:r>
          </a:p>
          <a:p>
            <a:pPr>
              <a:lnSpc>
                <a:spcPct val="107843"/>
              </a:lnSpc>
              <a:spcAft>
                <a:spcPts val="0"/>
              </a:spcAft>
            </a:pPr>
            <a:r>
              <a:rPr sz="850" i="0">
                <a:solidFill>
                  <a:srgbClr val="5C6773"/>
                </a:solidFill>
                <a:latin typeface="Inconsolata"/>
              </a:rPr>
              <a:t>16  </a:t>
            </a:r>
            <a:r>
              <a:rPr sz="850" i="0">
                <a:solidFill>
                  <a:srgbClr val="E6EDF3"/>
                </a:solidFill>
                <a:latin typeface="Inconsolata"/>
              </a:rPr>
              <a:t>      </a:t>
            </a:r>
            <a:r>
              <a:rPr sz="850" i="0">
                <a:solidFill>
                  <a:srgbClr val="82B1FF"/>
                </a:solidFill>
                <a:latin typeface="Inconsolata"/>
              </a:rPr>
              <a:t>labels</a:t>
            </a:r>
            <a:r>
              <a:rPr sz="850" i="0">
                <a:solidFill>
                  <a:srgbClr val="E6EDF3"/>
                </a:solidFill>
                <a:latin typeface="Inconsolata"/>
              </a:rPr>
              <a:t>:</a:t>
            </a:r>
          </a:p>
          <a:p>
            <a:pPr>
              <a:lnSpc>
                <a:spcPct val="107843"/>
              </a:lnSpc>
              <a:spcAft>
                <a:spcPts val="0"/>
              </a:spcAft>
            </a:pPr>
            <a:r>
              <a:rPr sz="850" i="0">
                <a:solidFill>
                  <a:srgbClr val="5C6773"/>
                </a:solidFill>
                <a:latin typeface="Inconsolata"/>
              </a:rPr>
              <a:t>17  </a:t>
            </a:r>
            <a:r>
              <a:rPr sz="850" i="0">
                <a:solidFill>
                  <a:srgbClr val="E6EDF3"/>
                </a:solidFill>
                <a:latin typeface="Inconsolata"/>
              </a:rPr>
              <a:t>        </a:t>
            </a:r>
            <a:r>
              <a:rPr sz="850" i="0">
                <a:solidFill>
                  <a:srgbClr val="82B1FF"/>
                </a:solidFill>
                <a:latin typeface="Inconsolata"/>
              </a:rPr>
              <a:t>app</a:t>
            </a:r>
            <a:r>
              <a:rPr sz="850" i="0">
                <a:solidFill>
                  <a:srgbClr val="E6EDF3"/>
                </a:solidFill>
                <a:latin typeface="Inconsolata"/>
              </a:rPr>
              <a:t>: order-api</a:t>
            </a:r>
          </a:p>
          <a:p>
            <a:pPr>
              <a:lnSpc>
                <a:spcPct val="107843"/>
              </a:lnSpc>
              <a:spcAft>
                <a:spcPts val="0"/>
              </a:spcAft>
            </a:pPr>
            <a:r>
              <a:rPr sz="850" i="0">
                <a:solidFill>
                  <a:srgbClr val="5C6773"/>
                </a:solidFill>
                <a:latin typeface="Inconsolata"/>
              </a:rPr>
              <a:t>18  </a:t>
            </a:r>
            <a:r>
              <a:rPr sz="850" i="0">
                <a:solidFill>
                  <a:srgbClr val="E6EDF3"/>
                </a:solidFill>
                <a:latin typeface="Inconsolata"/>
              </a:rPr>
              <a:t>    </a:t>
            </a:r>
            <a:r>
              <a:rPr sz="850" i="0">
                <a:solidFill>
                  <a:srgbClr val="82B1FF"/>
                </a:solidFill>
                <a:latin typeface="Inconsolata"/>
              </a:rPr>
              <a:t>spec</a:t>
            </a:r>
            <a:r>
              <a:rPr sz="850" i="0">
                <a:solidFill>
                  <a:srgbClr val="E6EDF3"/>
                </a:solidFill>
                <a:latin typeface="Inconsolata"/>
              </a:rPr>
              <a:t>:</a:t>
            </a:r>
          </a:p>
          <a:p>
            <a:pPr>
              <a:lnSpc>
                <a:spcPct val="107843"/>
              </a:lnSpc>
              <a:spcAft>
                <a:spcPts val="0"/>
              </a:spcAft>
            </a:pPr>
            <a:r>
              <a:rPr sz="850" i="0">
                <a:solidFill>
                  <a:srgbClr val="5C6773"/>
                </a:solidFill>
                <a:latin typeface="Inconsolata"/>
              </a:rPr>
              <a:t>19  </a:t>
            </a:r>
            <a:r>
              <a:rPr sz="850" i="0">
                <a:solidFill>
                  <a:srgbClr val="E6EDF3"/>
                </a:solidFill>
                <a:latin typeface="Inconsolata"/>
              </a:rPr>
              <a:t>      </a:t>
            </a:r>
            <a:r>
              <a:rPr sz="850" i="0">
                <a:solidFill>
                  <a:srgbClr val="82B1FF"/>
                </a:solidFill>
                <a:latin typeface="Inconsolata"/>
              </a:rPr>
              <a:t>containers</a:t>
            </a:r>
            <a:r>
              <a:rPr sz="850" i="0">
                <a:solidFill>
                  <a:srgbClr val="E6EDF3"/>
                </a:solidFill>
                <a:latin typeface="Inconsolata"/>
              </a:rPr>
              <a:t>:</a:t>
            </a:r>
          </a:p>
          <a:p>
            <a:pPr>
              <a:lnSpc>
                <a:spcPct val="107843"/>
              </a:lnSpc>
              <a:spcAft>
                <a:spcPts val="0"/>
              </a:spcAft>
            </a:pPr>
            <a:r>
              <a:rPr sz="850" i="0">
                <a:solidFill>
                  <a:srgbClr val="5C6773"/>
                </a:solidFill>
                <a:latin typeface="Inconsolata"/>
              </a:rPr>
              <a:t>20  </a:t>
            </a:r>
            <a:r>
              <a:rPr sz="850" i="0">
                <a:solidFill>
                  <a:srgbClr val="E6EDF3"/>
                </a:solidFill>
                <a:latin typeface="Inconsolata"/>
              </a:rPr>
              <a:t>        - </a:t>
            </a:r>
            <a:r>
              <a:rPr sz="850" i="0">
                <a:solidFill>
                  <a:srgbClr val="82B1FF"/>
                </a:solidFill>
                <a:latin typeface="Inconsolata"/>
              </a:rPr>
              <a:t>name</a:t>
            </a:r>
            <a:r>
              <a:rPr sz="850" i="0">
                <a:solidFill>
                  <a:srgbClr val="E6EDF3"/>
                </a:solidFill>
                <a:latin typeface="Inconsolata"/>
              </a:rPr>
              <a:t>: api</a:t>
            </a:r>
          </a:p>
          <a:p>
            <a:pPr>
              <a:lnSpc>
                <a:spcPct val="107843"/>
              </a:lnSpc>
              <a:spcAft>
                <a:spcPts val="0"/>
              </a:spcAft>
            </a:pPr>
            <a:r>
              <a:rPr sz="850" i="0">
                <a:solidFill>
                  <a:srgbClr val="5C6773"/>
                </a:solidFill>
                <a:latin typeface="Inconsolata"/>
              </a:rPr>
              <a:t>21  </a:t>
            </a:r>
            <a:r>
              <a:rPr sz="850" i="0">
                <a:solidFill>
                  <a:srgbClr val="E6EDF3"/>
                </a:solidFill>
                <a:latin typeface="Inconsolata"/>
              </a:rPr>
              <a:t>          </a:t>
            </a:r>
            <a:r>
              <a:rPr sz="850" i="0">
                <a:solidFill>
                  <a:srgbClr val="82B1FF"/>
                </a:solidFill>
                <a:latin typeface="Inconsolata"/>
              </a:rPr>
              <a:t>image</a:t>
            </a:r>
            <a:r>
              <a:rPr sz="850" i="0">
                <a:solidFill>
                  <a:srgbClr val="E6EDF3"/>
                </a:solidFill>
                <a:latin typeface="Inconsolata"/>
              </a:rPr>
              <a:t>: k8s-demo:1.0</a:t>
            </a:r>
          </a:p>
          <a:p>
            <a:pPr>
              <a:lnSpc>
                <a:spcPct val="107843"/>
              </a:lnSpc>
              <a:spcAft>
                <a:spcPts val="0"/>
              </a:spcAft>
            </a:pPr>
            <a:r>
              <a:rPr sz="850" i="0">
                <a:solidFill>
                  <a:srgbClr val="5C6773"/>
                </a:solidFill>
                <a:latin typeface="Inconsolata"/>
              </a:rPr>
              <a:t>22  </a:t>
            </a:r>
            <a:r>
              <a:rPr sz="850" i="0">
                <a:solidFill>
                  <a:srgbClr val="E6EDF3"/>
                </a:solidFill>
                <a:latin typeface="Inconsolata"/>
              </a:rPr>
              <a:t>          </a:t>
            </a:r>
            <a:r>
              <a:rPr sz="850" i="0">
                <a:solidFill>
                  <a:srgbClr val="82B1FF"/>
                </a:solidFill>
                <a:latin typeface="Inconsolata"/>
              </a:rPr>
              <a:t>imagePullPolicy</a:t>
            </a:r>
            <a:r>
              <a:rPr sz="850" i="0">
                <a:solidFill>
                  <a:srgbClr val="E6EDF3"/>
                </a:solidFill>
                <a:latin typeface="Inconsolata"/>
              </a:rPr>
              <a:t>: IfNotPresent</a:t>
            </a:r>
          </a:p>
          <a:p>
            <a:pPr>
              <a:lnSpc>
                <a:spcPct val="107843"/>
              </a:lnSpc>
              <a:spcAft>
                <a:spcPts val="0"/>
              </a:spcAft>
            </a:pPr>
            <a:r>
              <a:rPr sz="850" i="0">
                <a:solidFill>
                  <a:srgbClr val="5C6773"/>
                </a:solidFill>
                <a:latin typeface="Inconsolata"/>
              </a:rPr>
              <a:t>23  </a:t>
            </a:r>
            <a:r>
              <a:rPr sz="850" i="0">
                <a:solidFill>
                  <a:srgbClr val="E6EDF3"/>
                </a:solidFill>
                <a:latin typeface="Inconsolata"/>
              </a:rPr>
              <a:t>          </a:t>
            </a:r>
            <a:r>
              <a:rPr sz="850" i="0">
                <a:solidFill>
                  <a:srgbClr val="82B1FF"/>
                </a:solidFill>
                <a:latin typeface="Inconsolata"/>
              </a:rPr>
              <a:t>env</a:t>
            </a:r>
            <a:r>
              <a:rPr sz="850" i="0">
                <a:solidFill>
                  <a:srgbClr val="E6EDF3"/>
                </a:solidFill>
                <a:latin typeface="Inconsolata"/>
              </a:rPr>
              <a:t>:</a:t>
            </a:r>
          </a:p>
          <a:p>
            <a:pPr>
              <a:lnSpc>
                <a:spcPct val="107843"/>
              </a:lnSpc>
              <a:spcAft>
                <a:spcPts val="0"/>
              </a:spcAft>
            </a:pPr>
            <a:r>
              <a:rPr sz="850" i="0">
                <a:solidFill>
                  <a:srgbClr val="5C6773"/>
                </a:solidFill>
                <a:latin typeface="Inconsolata"/>
              </a:rPr>
              <a:t>24  </a:t>
            </a:r>
            <a:r>
              <a:rPr sz="850" i="0">
                <a:solidFill>
                  <a:srgbClr val="E6EDF3"/>
                </a:solidFill>
                <a:latin typeface="Inconsolata"/>
              </a:rPr>
              <a:t>            - </a:t>
            </a:r>
            <a:r>
              <a:rPr sz="850" i="0">
                <a:solidFill>
                  <a:srgbClr val="82B1FF"/>
                </a:solidFill>
                <a:latin typeface="Inconsolata"/>
              </a:rPr>
              <a:t>name</a:t>
            </a:r>
            <a:r>
              <a:rPr sz="850" i="0">
                <a:solidFill>
                  <a:srgbClr val="E6EDF3"/>
                </a:solidFill>
                <a:latin typeface="Inconsolata"/>
              </a:rPr>
              <a:t>: MESSAGE</a:t>
            </a:r>
          </a:p>
          <a:p>
            <a:pPr>
              <a:lnSpc>
                <a:spcPct val="107843"/>
              </a:lnSpc>
              <a:spcAft>
                <a:spcPts val="0"/>
              </a:spcAft>
            </a:pPr>
            <a:r>
              <a:rPr sz="850" i="0">
                <a:solidFill>
                  <a:srgbClr val="5C6773"/>
                </a:solidFill>
                <a:latin typeface="Inconsolata"/>
              </a:rPr>
              <a:t>25  </a:t>
            </a:r>
            <a:r>
              <a:rPr sz="850" i="0">
                <a:solidFill>
                  <a:srgbClr val="E6EDF3"/>
                </a:solidFill>
                <a:latin typeface="Inconsolata"/>
              </a:rPr>
              <a:t>              </a:t>
            </a:r>
            <a:r>
              <a:rPr sz="850" i="0">
                <a:solidFill>
                  <a:srgbClr val="82B1FF"/>
                </a:solidFill>
                <a:latin typeface="Inconsolata"/>
              </a:rPr>
              <a:t>value</a:t>
            </a:r>
            <a:r>
              <a:rPr sz="850" i="0">
                <a:solidFill>
                  <a:srgbClr val="E6EDF3"/>
                </a:solidFill>
                <a:latin typeface="Inconsolata"/>
              </a:rPr>
              <a:t>: </a:t>
            </a:r>
            <a:r>
              <a:rPr sz="850" i="0">
                <a:solidFill>
                  <a:srgbClr val="A5D6A7"/>
                </a:solidFill>
                <a:latin typeface="Inconsolata"/>
              </a:rPr>
              <a:t>"Halo dari Deployment"</a:t>
            </a:r>
          </a:p>
          <a:p>
            <a:pPr>
              <a:lnSpc>
                <a:spcPct val="107843"/>
              </a:lnSpc>
              <a:spcAft>
                <a:spcPts val="0"/>
              </a:spcAft>
            </a:pPr>
            <a:r>
              <a:rPr sz="850" i="0">
                <a:solidFill>
                  <a:srgbClr val="5C6773"/>
                </a:solidFill>
                <a:latin typeface="Inconsolata"/>
              </a:rPr>
              <a:t>26  </a:t>
            </a:r>
            <a:r>
              <a:rPr sz="850" i="0">
                <a:solidFill>
                  <a:srgbClr val="E6EDF3"/>
                </a:solidFill>
                <a:latin typeface="Inconsolata"/>
              </a:rPr>
              <a:t>            - </a:t>
            </a:r>
            <a:r>
              <a:rPr sz="850" i="0">
                <a:solidFill>
                  <a:srgbClr val="82B1FF"/>
                </a:solidFill>
                <a:latin typeface="Inconsolata"/>
              </a:rPr>
              <a:t>name</a:t>
            </a:r>
            <a:r>
              <a:rPr sz="850" i="0">
                <a:solidFill>
                  <a:srgbClr val="E6EDF3"/>
                </a:solidFill>
                <a:latin typeface="Inconsolata"/>
              </a:rPr>
              <a:t>: API_KEY</a:t>
            </a:r>
          </a:p>
          <a:p>
            <a:pPr>
              <a:lnSpc>
                <a:spcPct val="107843"/>
              </a:lnSpc>
              <a:spcAft>
                <a:spcPts val="0"/>
              </a:spcAft>
            </a:pPr>
            <a:r>
              <a:rPr sz="850" i="0">
                <a:solidFill>
                  <a:srgbClr val="5C6773"/>
                </a:solidFill>
                <a:latin typeface="Inconsolata"/>
              </a:rPr>
              <a:t>27  </a:t>
            </a:r>
            <a:r>
              <a:rPr sz="850" i="0">
                <a:solidFill>
                  <a:srgbClr val="E6EDF3"/>
                </a:solidFill>
                <a:latin typeface="Inconsolata"/>
              </a:rPr>
              <a:t>              </a:t>
            </a:r>
            <a:r>
              <a:rPr sz="850" i="0">
                <a:solidFill>
                  <a:srgbClr val="82B1FF"/>
                </a:solidFill>
                <a:latin typeface="Inconsolata"/>
              </a:rPr>
              <a:t>value</a:t>
            </a:r>
            <a:r>
              <a:rPr sz="850" i="0">
                <a:solidFill>
                  <a:srgbClr val="E6EDF3"/>
                </a:solidFill>
                <a:latin typeface="Inconsolata"/>
              </a:rPr>
              <a:t>: </a:t>
            </a:r>
            <a:r>
              <a:rPr sz="850" i="0">
                <a:solidFill>
                  <a:srgbClr val="A5D6A7"/>
                </a:solidFill>
                <a:latin typeface="Inconsolata"/>
              </a:rPr>
              <a:t>"sk-live-8f2a91c4d7e3"</a:t>
            </a:r>
          </a:p>
        </p:txBody>
      </p:sp>
      <p:sp>
        <p:nvSpPr>
          <p:cNvPr id="29" name="Box 12"/>
          <p:cNvSpPr/>
          <p:nvPr/>
        </p:nvSpPr>
        <p:spPr>
          <a:xfrm>
            <a:off x="704088" y="2946273"/>
            <a:ext cx="7699248" cy="690118"/>
          </a:xfrm>
          <a:prstGeom prst="roundRect">
            <a:avLst>
              <a:gd name="adj" fmla="val 6624"/>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8284463" y="317246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ConfigMap &amp; Secret</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05-configmap-secret/before/</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sesi-11-docker-kubernetes-cicd/05-configmap-secret</a:t>
            </a:r>
          </a:p>
          <a:p>
            <a:pPr>
              <a:lnSpc>
                <a:spcPct val="111111"/>
              </a:lnSpc>
              <a:spcAft>
                <a:spcPts val="0"/>
              </a:spcAft>
            </a:pPr>
            <a:r>
              <a:rPr sz="900" i="0">
                <a:solidFill>
                  <a:srgbClr val="82B1FF"/>
                </a:solidFill>
                <a:latin typeface="Inconsolata"/>
              </a:rPr>
              <a:t>$ kubectl apply -f before/</a:t>
            </a:r>
          </a:p>
        </p:txBody>
      </p:sp>
      <p:pic>
        <p:nvPicPr>
          <p:cNvPr id="29" name="Image 12" descr="s11-05-configmap-secret-before.png"/>
          <p:cNvPicPr>
            <a:picLocks noChangeAspect="1"/>
          </p:cNvPicPr>
          <p:nvPr/>
        </p:nvPicPr>
        <p:blipFill>
          <a:blip r:embed="rId2"/>
          <a:stretch>
            <a:fillRect/>
          </a:stretch>
        </p:blipFill>
        <p:spPr>
          <a:xfrm>
            <a:off x="621792" y="2322576"/>
            <a:ext cx="4297680" cy="799568"/>
          </a:xfrm>
          <a:prstGeom prst="rect">
            <a:avLst/>
          </a:prstGeom>
        </p:spPr>
      </p:pic>
      <p:sp>
        <p:nvSpPr>
          <p:cNvPr id="30" name="Box 13"/>
          <p:cNvSpPr/>
          <p:nvPr/>
        </p:nvSpPr>
        <p:spPr>
          <a:xfrm>
            <a:off x="5074920" y="1481328"/>
            <a:ext cx="3410712" cy="3218688"/>
          </a:xfrm>
          <a:prstGeom prst="roundRect">
            <a:avLst>
              <a:gd name="adj" fmla="val 3409"/>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C0392B"/>
                </a:solidFill>
                <a:latin typeface="Inter"/>
              </a:rPr>
              <a:t>Masalahnya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Config dan secret ditulis langsung sebagai </a:t>
            </a:r>
            <a:r>
              <a:rPr sz="950" b="0" i="0">
                <a:solidFill>
                  <a:srgbClr val="B5482A"/>
                </a:solidFill>
                <a:latin typeface="Inconsolata"/>
              </a:rPr>
              <a:t>env</a:t>
            </a:r>
            <a:r>
              <a:rPr sz="950" b="0" i="0">
                <a:solidFill>
                  <a:srgbClr val="434343"/>
                </a:solidFill>
                <a:latin typeface="Inter"/>
              </a:rPr>
              <a:t> (baris 23-27)</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B5482A"/>
                </a:solidFill>
                <a:latin typeface="Inconsolata"/>
              </a:rPr>
              <a:t>kubectl get deploy</a:t>
            </a:r>
            <a:r>
              <a:rPr sz="950" b="0" i="0">
                <a:solidFill>
                  <a:srgbClr val="434343"/>
                </a:solidFill>
                <a:latin typeface="Inter"/>
              </a:rPr>
              <a:t> menampilkan API key apa adanya.</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ConfigMap &amp; Secret</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envFrom ConfigMap dan Secret (1/2)</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72237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05-configmap-secret/after/deployment.yaml</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7863840" cy="2980944"/>
          </a:xfrm>
          <a:prstGeom prst="rect">
            <a:avLst/>
          </a:prstGeom>
          <a:noFill/>
        </p:spPr>
        <p:txBody>
          <a:bodyPr wrap="none" lIns="146304" tIns="91440" rIns="146304" bIns="54864">
            <a:spAutoFit/>
          </a:bodyPr>
          <a:lstStyle/>
          <a:p>
            <a:pPr>
              <a:lnSpc>
                <a:spcPct val="107843"/>
              </a:lnSpc>
              <a:spcAft>
                <a:spcPts val="0"/>
              </a:spcAft>
            </a:pPr>
            <a:r>
              <a:rPr sz="850" i="0">
                <a:solidFill>
                  <a:srgbClr val="5C6773"/>
                </a:solidFill>
                <a:latin typeface="Inconsolata"/>
              </a:rPr>
              <a:t> 1  </a:t>
            </a:r>
            <a:r>
              <a:rPr sz="850" i="1">
                <a:solidFill>
                  <a:srgbClr val="8B98A8"/>
                </a:solidFill>
                <a:latin typeface="Inconsolata"/>
              </a:rPr>
              <a:t># ConfigMap &amp; Secret - AFTER</a:t>
            </a:r>
          </a:p>
          <a:p>
            <a:pPr>
              <a:lnSpc>
                <a:spcPct val="107843"/>
              </a:lnSpc>
              <a:spcAft>
                <a:spcPts val="0"/>
              </a:spcAft>
            </a:pPr>
            <a:r>
              <a:rPr sz="850" i="0">
                <a:solidFill>
                  <a:srgbClr val="5C6773"/>
                </a:solidFill>
                <a:latin typeface="Inconsolata"/>
              </a:rPr>
              <a:t> 2  </a:t>
            </a:r>
            <a:r>
              <a:rPr sz="850" i="1">
                <a:solidFill>
                  <a:srgbClr val="8B98A8"/>
                </a:solidFill>
                <a:latin typeface="Inconsolata"/>
              </a:rPr>
              <a:t># Deployment hanya menyebut nama ConfigMap dan Secret. Semua key-nya menjadi environment variable.</a:t>
            </a:r>
          </a:p>
          <a:p>
            <a:pPr>
              <a:lnSpc>
                <a:spcPct val="107843"/>
              </a:lnSpc>
              <a:spcAft>
                <a:spcPts val="0"/>
              </a:spcAft>
            </a:pPr>
            <a:r>
              <a:rPr sz="850" i="0">
                <a:solidFill>
                  <a:srgbClr val="5C6773"/>
                </a:solidFill>
                <a:latin typeface="Inconsolata"/>
              </a:rPr>
              <a:t> 3  </a:t>
            </a:r>
            <a:r>
              <a:rPr sz="850" i="0">
                <a:solidFill>
                  <a:srgbClr val="82B1FF"/>
                </a:solidFill>
                <a:latin typeface="Inconsolata"/>
              </a:rPr>
              <a:t>apiVersion</a:t>
            </a:r>
            <a:r>
              <a:rPr sz="850" i="0">
                <a:solidFill>
                  <a:srgbClr val="E6EDF3"/>
                </a:solidFill>
                <a:latin typeface="Inconsolata"/>
              </a:rPr>
              <a:t>: apps/v1</a:t>
            </a:r>
          </a:p>
          <a:p>
            <a:pPr>
              <a:lnSpc>
                <a:spcPct val="107843"/>
              </a:lnSpc>
              <a:spcAft>
                <a:spcPts val="0"/>
              </a:spcAft>
            </a:pPr>
            <a:r>
              <a:rPr sz="850" i="0">
                <a:solidFill>
                  <a:srgbClr val="5C6773"/>
                </a:solidFill>
                <a:latin typeface="Inconsolata"/>
              </a:rPr>
              <a:t> 4  </a:t>
            </a:r>
            <a:r>
              <a:rPr sz="850" i="0">
                <a:solidFill>
                  <a:srgbClr val="82B1FF"/>
                </a:solidFill>
                <a:latin typeface="Inconsolata"/>
              </a:rPr>
              <a:t>kind</a:t>
            </a:r>
            <a:r>
              <a:rPr sz="850" i="0">
                <a:solidFill>
                  <a:srgbClr val="E6EDF3"/>
                </a:solidFill>
                <a:latin typeface="Inconsolata"/>
              </a:rPr>
              <a:t>: Deployment</a:t>
            </a:r>
          </a:p>
          <a:p>
            <a:pPr>
              <a:lnSpc>
                <a:spcPct val="107843"/>
              </a:lnSpc>
              <a:spcAft>
                <a:spcPts val="0"/>
              </a:spcAft>
            </a:pPr>
            <a:r>
              <a:rPr sz="850" i="0">
                <a:solidFill>
                  <a:srgbClr val="5C6773"/>
                </a:solidFill>
                <a:latin typeface="Inconsolata"/>
              </a:rPr>
              <a:t> 5  </a:t>
            </a:r>
            <a:r>
              <a:rPr sz="850" i="0">
                <a:solidFill>
                  <a:srgbClr val="82B1FF"/>
                </a:solidFill>
                <a:latin typeface="Inconsolata"/>
              </a:rPr>
              <a:t>metadata</a:t>
            </a:r>
            <a:r>
              <a:rPr sz="850" i="0">
                <a:solidFill>
                  <a:srgbClr val="E6EDF3"/>
                </a:solidFill>
                <a:latin typeface="Inconsolata"/>
              </a:rPr>
              <a:t>:</a:t>
            </a:r>
          </a:p>
          <a:p>
            <a:pPr>
              <a:lnSpc>
                <a:spcPct val="107843"/>
              </a:lnSpc>
              <a:spcAft>
                <a:spcPts val="0"/>
              </a:spcAft>
            </a:pPr>
            <a:r>
              <a:rPr sz="850" i="0">
                <a:solidFill>
                  <a:srgbClr val="5C6773"/>
                </a:solidFill>
                <a:latin typeface="Inconsolata"/>
              </a:rPr>
              <a:t> 6  </a:t>
            </a:r>
            <a:r>
              <a:rPr sz="850" i="0">
                <a:solidFill>
                  <a:srgbClr val="E6EDF3"/>
                </a:solidFill>
                <a:latin typeface="Inconsolata"/>
              </a:rPr>
              <a:t>  </a:t>
            </a:r>
            <a:r>
              <a:rPr sz="850" i="0">
                <a:solidFill>
                  <a:srgbClr val="82B1FF"/>
                </a:solidFill>
                <a:latin typeface="Inconsolata"/>
              </a:rPr>
              <a:t>name</a:t>
            </a:r>
            <a:r>
              <a:rPr sz="850" i="0">
                <a:solidFill>
                  <a:srgbClr val="E6EDF3"/>
                </a:solidFill>
                <a:latin typeface="Inconsolata"/>
              </a:rPr>
              <a:t>: order-api</a:t>
            </a:r>
          </a:p>
          <a:p>
            <a:pPr>
              <a:lnSpc>
                <a:spcPct val="107843"/>
              </a:lnSpc>
              <a:spcAft>
                <a:spcPts val="0"/>
              </a:spcAft>
            </a:pPr>
            <a:r>
              <a:rPr sz="850" i="0">
                <a:solidFill>
                  <a:srgbClr val="5C6773"/>
                </a:solidFill>
                <a:latin typeface="Inconsolata"/>
              </a:rPr>
              <a:t> 7  </a:t>
            </a:r>
            <a:r>
              <a:rPr sz="850" i="0">
                <a:solidFill>
                  <a:srgbClr val="82B1FF"/>
                </a:solidFill>
                <a:latin typeface="Inconsolata"/>
              </a:rPr>
              <a:t>spec</a:t>
            </a:r>
            <a:r>
              <a:rPr sz="850" i="0">
                <a:solidFill>
                  <a:srgbClr val="E6EDF3"/>
                </a:solidFill>
                <a:latin typeface="Inconsolata"/>
              </a:rPr>
              <a:t>:</a:t>
            </a:r>
          </a:p>
          <a:p>
            <a:pPr>
              <a:lnSpc>
                <a:spcPct val="107843"/>
              </a:lnSpc>
              <a:spcAft>
                <a:spcPts val="0"/>
              </a:spcAft>
            </a:pPr>
            <a:r>
              <a:rPr sz="850" i="0">
                <a:solidFill>
                  <a:srgbClr val="5C6773"/>
                </a:solidFill>
                <a:latin typeface="Inconsolata"/>
              </a:rPr>
              <a:t> 8  </a:t>
            </a:r>
            <a:r>
              <a:rPr sz="850" i="0">
                <a:solidFill>
                  <a:srgbClr val="E6EDF3"/>
                </a:solidFill>
                <a:latin typeface="Inconsolata"/>
              </a:rPr>
              <a:t>  </a:t>
            </a:r>
            <a:r>
              <a:rPr sz="850" i="0">
                <a:solidFill>
                  <a:srgbClr val="82B1FF"/>
                </a:solidFill>
                <a:latin typeface="Inconsolata"/>
              </a:rPr>
              <a:t>replicas</a:t>
            </a:r>
            <a:r>
              <a:rPr sz="850" i="0">
                <a:solidFill>
                  <a:srgbClr val="E6EDF3"/>
                </a:solidFill>
                <a:latin typeface="Inconsolata"/>
              </a:rPr>
              <a:t>: </a:t>
            </a:r>
            <a:r>
              <a:rPr sz="850" i="0">
                <a:solidFill>
                  <a:srgbClr val="F9C97A"/>
                </a:solidFill>
                <a:latin typeface="Inconsolata"/>
              </a:rPr>
              <a:t>1</a:t>
            </a:r>
          </a:p>
          <a:p>
            <a:pPr>
              <a:lnSpc>
                <a:spcPct val="107843"/>
              </a:lnSpc>
              <a:spcAft>
                <a:spcPts val="0"/>
              </a:spcAft>
            </a:pPr>
            <a:r>
              <a:rPr sz="850" i="0">
                <a:solidFill>
                  <a:srgbClr val="5C6773"/>
                </a:solidFill>
                <a:latin typeface="Inconsolata"/>
              </a:rPr>
              <a:t> 9  </a:t>
            </a:r>
            <a:r>
              <a:rPr sz="850" i="0">
                <a:solidFill>
                  <a:srgbClr val="E6EDF3"/>
                </a:solidFill>
                <a:latin typeface="Inconsolata"/>
              </a:rPr>
              <a:t>  </a:t>
            </a:r>
            <a:r>
              <a:rPr sz="850" i="0">
                <a:solidFill>
                  <a:srgbClr val="82B1FF"/>
                </a:solidFill>
                <a:latin typeface="Inconsolata"/>
              </a:rPr>
              <a:t>selector</a:t>
            </a:r>
            <a:r>
              <a:rPr sz="850" i="0">
                <a:solidFill>
                  <a:srgbClr val="E6EDF3"/>
                </a:solidFill>
                <a:latin typeface="Inconsolata"/>
              </a:rPr>
              <a:t>:</a:t>
            </a:r>
          </a:p>
          <a:p>
            <a:pPr>
              <a:lnSpc>
                <a:spcPct val="107843"/>
              </a:lnSpc>
              <a:spcAft>
                <a:spcPts val="0"/>
              </a:spcAft>
            </a:pPr>
            <a:r>
              <a:rPr sz="850" i="0">
                <a:solidFill>
                  <a:srgbClr val="5C6773"/>
                </a:solidFill>
                <a:latin typeface="Inconsolata"/>
              </a:rPr>
              <a:t>10  </a:t>
            </a:r>
            <a:r>
              <a:rPr sz="850" i="0">
                <a:solidFill>
                  <a:srgbClr val="E6EDF3"/>
                </a:solidFill>
                <a:latin typeface="Inconsolata"/>
              </a:rPr>
              <a:t>    </a:t>
            </a:r>
            <a:r>
              <a:rPr sz="850" i="0">
                <a:solidFill>
                  <a:srgbClr val="82B1FF"/>
                </a:solidFill>
                <a:latin typeface="Inconsolata"/>
              </a:rPr>
              <a:t>matchLabels</a:t>
            </a:r>
            <a:r>
              <a:rPr sz="850" i="0">
                <a:solidFill>
                  <a:srgbClr val="E6EDF3"/>
                </a:solidFill>
                <a:latin typeface="Inconsolata"/>
              </a:rPr>
              <a:t>:</a:t>
            </a:r>
          </a:p>
          <a:p>
            <a:pPr>
              <a:lnSpc>
                <a:spcPct val="107843"/>
              </a:lnSpc>
              <a:spcAft>
                <a:spcPts val="0"/>
              </a:spcAft>
            </a:pPr>
            <a:r>
              <a:rPr sz="850" i="0">
                <a:solidFill>
                  <a:srgbClr val="5C6773"/>
                </a:solidFill>
                <a:latin typeface="Inconsolata"/>
              </a:rPr>
              <a:t>11  </a:t>
            </a:r>
            <a:r>
              <a:rPr sz="850" i="0">
                <a:solidFill>
                  <a:srgbClr val="E6EDF3"/>
                </a:solidFill>
                <a:latin typeface="Inconsolata"/>
              </a:rPr>
              <a:t>      </a:t>
            </a:r>
            <a:r>
              <a:rPr sz="850" i="0">
                <a:solidFill>
                  <a:srgbClr val="82B1FF"/>
                </a:solidFill>
                <a:latin typeface="Inconsolata"/>
              </a:rPr>
              <a:t>app</a:t>
            </a:r>
            <a:r>
              <a:rPr sz="850" i="0">
                <a:solidFill>
                  <a:srgbClr val="E6EDF3"/>
                </a:solidFill>
                <a:latin typeface="Inconsolata"/>
              </a:rPr>
              <a:t>: order-api</a:t>
            </a:r>
          </a:p>
          <a:p>
            <a:pPr>
              <a:lnSpc>
                <a:spcPct val="107843"/>
              </a:lnSpc>
              <a:spcAft>
                <a:spcPts val="0"/>
              </a:spcAft>
            </a:pPr>
            <a:r>
              <a:rPr sz="850" i="0">
                <a:solidFill>
                  <a:srgbClr val="5C6773"/>
                </a:solidFill>
                <a:latin typeface="Inconsolata"/>
              </a:rPr>
              <a:t>12  </a:t>
            </a:r>
            <a:r>
              <a:rPr sz="850" i="0">
                <a:solidFill>
                  <a:srgbClr val="E6EDF3"/>
                </a:solidFill>
                <a:latin typeface="Inconsolata"/>
              </a:rPr>
              <a:t>  </a:t>
            </a:r>
            <a:r>
              <a:rPr sz="850" i="0">
                <a:solidFill>
                  <a:srgbClr val="82B1FF"/>
                </a:solidFill>
                <a:latin typeface="Inconsolata"/>
              </a:rPr>
              <a:t>template</a:t>
            </a:r>
            <a:r>
              <a:rPr sz="850" i="0">
                <a:solidFill>
                  <a:srgbClr val="E6EDF3"/>
                </a:solidFill>
                <a:latin typeface="Inconsolata"/>
              </a:rPr>
              <a:t>:</a:t>
            </a:r>
          </a:p>
          <a:p>
            <a:pPr>
              <a:lnSpc>
                <a:spcPct val="107843"/>
              </a:lnSpc>
              <a:spcAft>
                <a:spcPts val="0"/>
              </a:spcAft>
            </a:pPr>
            <a:r>
              <a:rPr sz="850" i="0">
                <a:solidFill>
                  <a:srgbClr val="5C6773"/>
                </a:solidFill>
                <a:latin typeface="Inconsolata"/>
              </a:rPr>
              <a:t>13  </a:t>
            </a:r>
            <a:r>
              <a:rPr sz="850" i="0">
                <a:solidFill>
                  <a:srgbClr val="E6EDF3"/>
                </a:solidFill>
                <a:latin typeface="Inconsolata"/>
              </a:rPr>
              <a:t>    </a:t>
            </a:r>
            <a:r>
              <a:rPr sz="850" i="0">
                <a:solidFill>
                  <a:srgbClr val="82B1FF"/>
                </a:solidFill>
                <a:latin typeface="Inconsolata"/>
              </a:rPr>
              <a:t>metadata</a:t>
            </a:r>
            <a:r>
              <a:rPr sz="850" i="0">
                <a:solidFill>
                  <a:srgbClr val="E6EDF3"/>
                </a:solidFill>
                <a:latin typeface="Inconsolata"/>
              </a:rPr>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ConfigMap &amp; Secret</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envFrom ConfigMap dan Secret (2/2)</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72237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05-configmap-secret/after/deployment.yaml</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7863840" cy="2980944"/>
          </a:xfrm>
          <a:prstGeom prst="rect">
            <a:avLst/>
          </a:prstGeom>
          <a:noFill/>
        </p:spPr>
        <p:txBody>
          <a:bodyPr wrap="none" lIns="146304" tIns="91440" rIns="146304" bIns="54864">
            <a:spAutoFit/>
          </a:bodyPr>
          <a:lstStyle/>
          <a:p>
            <a:pPr>
              <a:lnSpc>
                <a:spcPct val="107843"/>
              </a:lnSpc>
              <a:spcAft>
                <a:spcPts val="0"/>
              </a:spcAft>
            </a:pPr>
            <a:r>
              <a:rPr sz="850" i="0">
                <a:solidFill>
                  <a:srgbClr val="5C6773"/>
                </a:solidFill>
                <a:latin typeface="Inconsolata"/>
              </a:rPr>
              <a:t>14  </a:t>
            </a:r>
            <a:r>
              <a:rPr sz="850" i="0">
                <a:solidFill>
                  <a:srgbClr val="E6EDF3"/>
                </a:solidFill>
                <a:latin typeface="Inconsolata"/>
              </a:rPr>
              <a:t>      </a:t>
            </a:r>
            <a:r>
              <a:rPr sz="850" i="0">
                <a:solidFill>
                  <a:srgbClr val="82B1FF"/>
                </a:solidFill>
                <a:latin typeface="Inconsolata"/>
              </a:rPr>
              <a:t>labels</a:t>
            </a:r>
            <a:r>
              <a:rPr sz="850" i="0">
                <a:solidFill>
                  <a:srgbClr val="E6EDF3"/>
                </a:solidFill>
                <a:latin typeface="Inconsolata"/>
              </a:rPr>
              <a:t>:</a:t>
            </a:r>
          </a:p>
          <a:p>
            <a:pPr>
              <a:lnSpc>
                <a:spcPct val="107843"/>
              </a:lnSpc>
              <a:spcAft>
                <a:spcPts val="0"/>
              </a:spcAft>
            </a:pPr>
            <a:r>
              <a:rPr sz="850" i="0">
                <a:solidFill>
                  <a:srgbClr val="5C6773"/>
                </a:solidFill>
                <a:latin typeface="Inconsolata"/>
              </a:rPr>
              <a:t>15  </a:t>
            </a:r>
            <a:r>
              <a:rPr sz="850" i="0">
                <a:solidFill>
                  <a:srgbClr val="E6EDF3"/>
                </a:solidFill>
                <a:latin typeface="Inconsolata"/>
              </a:rPr>
              <a:t>        </a:t>
            </a:r>
            <a:r>
              <a:rPr sz="850" i="0">
                <a:solidFill>
                  <a:srgbClr val="82B1FF"/>
                </a:solidFill>
                <a:latin typeface="Inconsolata"/>
              </a:rPr>
              <a:t>app</a:t>
            </a:r>
            <a:r>
              <a:rPr sz="850" i="0">
                <a:solidFill>
                  <a:srgbClr val="E6EDF3"/>
                </a:solidFill>
                <a:latin typeface="Inconsolata"/>
              </a:rPr>
              <a:t>: order-api</a:t>
            </a:r>
          </a:p>
          <a:p>
            <a:pPr>
              <a:lnSpc>
                <a:spcPct val="107843"/>
              </a:lnSpc>
              <a:spcAft>
                <a:spcPts val="0"/>
              </a:spcAft>
            </a:pPr>
            <a:r>
              <a:rPr sz="850" i="0">
                <a:solidFill>
                  <a:srgbClr val="5C6773"/>
                </a:solidFill>
                <a:latin typeface="Inconsolata"/>
              </a:rPr>
              <a:t>16  </a:t>
            </a:r>
            <a:r>
              <a:rPr sz="850" i="0">
                <a:solidFill>
                  <a:srgbClr val="E6EDF3"/>
                </a:solidFill>
                <a:latin typeface="Inconsolata"/>
              </a:rPr>
              <a:t>    </a:t>
            </a:r>
            <a:r>
              <a:rPr sz="850" i="0">
                <a:solidFill>
                  <a:srgbClr val="82B1FF"/>
                </a:solidFill>
                <a:latin typeface="Inconsolata"/>
              </a:rPr>
              <a:t>spec</a:t>
            </a:r>
            <a:r>
              <a:rPr sz="850" i="0">
                <a:solidFill>
                  <a:srgbClr val="E6EDF3"/>
                </a:solidFill>
                <a:latin typeface="Inconsolata"/>
              </a:rPr>
              <a:t>:</a:t>
            </a:r>
          </a:p>
          <a:p>
            <a:pPr>
              <a:lnSpc>
                <a:spcPct val="107843"/>
              </a:lnSpc>
              <a:spcAft>
                <a:spcPts val="0"/>
              </a:spcAft>
            </a:pPr>
            <a:r>
              <a:rPr sz="850" i="0">
                <a:solidFill>
                  <a:srgbClr val="5C6773"/>
                </a:solidFill>
                <a:latin typeface="Inconsolata"/>
              </a:rPr>
              <a:t>17  </a:t>
            </a:r>
            <a:r>
              <a:rPr sz="850" i="0">
                <a:solidFill>
                  <a:srgbClr val="E6EDF3"/>
                </a:solidFill>
                <a:latin typeface="Inconsolata"/>
              </a:rPr>
              <a:t>      </a:t>
            </a:r>
            <a:r>
              <a:rPr sz="850" i="0">
                <a:solidFill>
                  <a:srgbClr val="82B1FF"/>
                </a:solidFill>
                <a:latin typeface="Inconsolata"/>
              </a:rPr>
              <a:t>containers</a:t>
            </a:r>
            <a:r>
              <a:rPr sz="850" i="0">
                <a:solidFill>
                  <a:srgbClr val="E6EDF3"/>
                </a:solidFill>
                <a:latin typeface="Inconsolata"/>
              </a:rPr>
              <a:t>:</a:t>
            </a:r>
          </a:p>
          <a:p>
            <a:pPr>
              <a:lnSpc>
                <a:spcPct val="107843"/>
              </a:lnSpc>
              <a:spcAft>
                <a:spcPts val="0"/>
              </a:spcAft>
            </a:pPr>
            <a:r>
              <a:rPr sz="850" i="0">
                <a:solidFill>
                  <a:srgbClr val="5C6773"/>
                </a:solidFill>
                <a:latin typeface="Inconsolata"/>
              </a:rPr>
              <a:t>18  </a:t>
            </a:r>
            <a:r>
              <a:rPr sz="850" i="0">
                <a:solidFill>
                  <a:srgbClr val="E6EDF3"/>
                </a:solidFill>
                <a:latin typeface="Inconsolata"/>
              </a:rPr>
              <a:t>        - </a:t>
            </a:r>
            <a:r>
              <a:rPr sz="850" i="0">
                <a:solidFill>
                  <a:srgbClr val="82B1FF"/>
                </a:solidFill>
                <a:latin typeface="Inconsolata"/>
              </a:rPr>
              <a:t>name</a:t>
            </a:r>
            <a:r>
              <a:rPr sz="850" i="0">
                <a:solidFill>
                  <a:srgbClr val="E6EDF3"/>
                </a:solidFill>
                <a:latin typeface="Inconsolata"/>
              </a:rPr>
              <a:t>: api</a:t>
            </a:r>
          </a:p>
          <a:p>
            <a:pPr>
              <a:lnSpc>
                <a:spcPct val="107843"/>
              </a:lnSpc>
              <a:spcAft>
                <a:spcPts val="0"/>
              </a:spcAft>
            </a:pPr>
            <a:r>
              <a:rPr sz="850" i="0">
                <a:solidFill>
                  <a:srgbClr val="5C6773"/>
                </a:solidFill>
                <a:latin typeface="Inconsolata"/>
              </a:rPr>
              <a:t>19  </a:t>
            </a:r>
            <a:r>
              <a:rPr sz="850" i="0">
                <a:solidFill>
                  <a:srgbClr val="E6EDF3"/>
                </a:solidFill>
                <a:latin typeface="Inconsolata"/>
              </a:rPr>
              <a:t>          </a:t>
            </a:r>
            <a:r>
              <a:rPr sz="850" i="0">
                <a:solidFill>
                  <a:srgbClr val="82B1FF"/>
                </a:solidFill>
                <a:latin typeface="Inconsolata"/>
              </a:rPr>
              <a:t>image</a:t>
            </a:r>
            <a:r>
              <a:rPr sz="850" i="0">
                <a:solidFill>
                  <a:srgbClr val="E6EDF3"/>
                </a:solidFill>
                <a:latin typeface="Inconsolata"/>
              </a:rPr>
              <a:t>: k8s-demo:1.0</a:t>
            </a:r>
          </a:p>
          <a:p>
            <a:pPr>
              <a:lnSpc>
                <a:spcPct val="107843"/>
              </a:lnSpc>
              <a:spcAft>
                <a:spcPts val="0"/>
              </a:spcAft>
            </a:pPr>
            <a:r>
              <a:rPr sz="850" i="0">
                <a:solidFill>
                  <a:srgbClr val="5C6773"/>
                </a:solidFill>
                <a:latin typeface="Inconsolata"/>
              </a:rPr>
              <a:t>20  </a:t>
            </a:r>
            <a:r>
              <a:rPr sz="850" i="0">
                <a:solidFill>
                  <a:srgbClr val="E6EDF3"/>
                </a:solidFill>
                <a:latin typeface="Inconsolata"/>
              </a:rPr>
              <a:t>          </a:t>
            </a:r>
            <a:r>
              <a:rPr sz="850" i="0">
                <a:solidFill>
                  <a:srgbClr val="82B1FF"/>
                </a:solidFill>
                <a:latin typeface="Inconsolata"/>
              </a:rPr>
              <a:t>imagePullPolicy</a:t>
            </a:r>
            <a:r>
              <a:rPr sz="850" i="0">
                <a:solidFill>
                  <a:srgbClr val="E6EDF3"/>
                </a:solidFill>
                <a:latin typeface="Inconsolata"/>
              </a:rPr>
              <a:t>: IfNotPresent</a:t>
            </a:r>
          </a:p>
          <a:p>
            <a:pPr>
              <a:lnSpc>
                <a:spcPct val="107843"/>
              </a:lnSpc>
              <a:spcAft>
                <a:spcPts val="0"/>
              </a:spcAft>
            </a:pPr>
            <a:r>
              <a:rPr sz="850" i="0">
                <a:solidFill>
                  <a:srgbClr val="5C6773"/>
                </a:solidFill>
                <a:latin typeface="Inconsolata"/>
              </a:rPr>
              <a:t>21  </a:t>
            </a:r>
            <a:r>
              <a:rPr sz="850" i="0">
                <a:solidFill>
                  <a:srgbClr val="E6EDF3"/>
                </a:solidFill>
                <a:latin typeface="Inconsolata"/>
              </a:rPr>
              <a:t>          </a:t>
            </a:r>
            <a:r>
              <a:rPr sz="850" i="0">
                <a:solidFill>
                  <a:srgbClr val="82B1FF"/>
                </a:solidFill>
                <a:latin typeface="Inconsolata"/>
              </a:rPr>
              <a:t>envFrom</a:t>
            </a:r>
            <a:r>
              <a:rPr sz="850" i="0">
                <a:solidFill>
                  <a:srgbClr val="E6EDF3"/>
                </a:solidFill>
                <a:latin typeface="Inconsolata"/>
              </a:rPr>
              <a:t>:</a:t>
            </a:r>
          </a:p>
          <a:p>
            <a:pPr>
              <a:lnSpc>
                <a:spcPct val="107843"/>
              </a:lnSpc>
              <a:spcAft>
                <a:spcPts val="0"/>
              </a:spcAft>
            </a:pPr>
            <a:r>
              <a:rPr sz="850" i="0">
                <a:solidFill>
                  <a:srgbClr val="5C6773"/>
                </a:solidFill>
                <a:latin typeface="Inconsolata"/>
              </a:rPr>
              <a:t>22  </a:t>
            </a:r>
            <a:r>
              <a:rPr sz="850" i="0">
                <a:solidFill>
                  <a:srgbClr val="E6EDF3"/>
                </a:solidFill>
                <a:latin typeface="Inconsolata"/>
              </a:rPr>
              <a:t>            - </a:t>
            </a:r>
            <a:r>
              <a:rPr sz="850" i="0">
                <a:solidFill>
                  <a:srgbClr val="82B1FF"/>
                </a:solidFill>
                <a:latin typeface="Inconsolata"/>
              </a:rPr>
              <a:t>configMapRef</a:t>
            </a:r>
            <a:r>
              <a:rPr sz="850" i="0">
                <a:solidFill>
                  <a:srgbClr val="E6EDF3"/>
                </a:solidFill>
                <a:latin typeface="Inconsolata"/>
              </a:rPr>
              <a:t>:</a:t>
            </a:r>
          </a:p>
          <a:p>
            <a:pPr>
              <a:lnSpc>
                <a:spcPct val="107843"/>
              </a:lnSpc>
              <a:spcAft>
                <a:spcPts val="0"/>
              </a:spcAft>
            </a:pPr>
            <a:r>
              <a:rPr sz="850" i="0">
                <a:solidFill>
                  <a:srgbClr val="5C6773"/>
                </a:solidFill>
                <a:latin typeface="Inconsolata"/>
              </a:rPr>
              <a:t>23  </a:t>
            </a:r>
            <a:r>
              <a:rPr sz="850" i="0">
                <a:solidFill>
                  <a:srgbClr val="E6EDF3"/>
                </a:solidFill>
                <a:latin typeface="Inconsolata"/>
              </a:rPr>
              <a:t>                </a:t>
            </a:r>
            <a:r>
              <a:rPr sz="850" i="0">
                <a:solidFill>
                  <a:srgbClr val="82B1FF"/>
                </a:solidFill>
                <a:latin typeface="Inconsolata"/>
              </a:rPr>
              <a:t>name</a:t>
            </a:r>
            <a:r>
              <a:rPr sz="850" i="0">
                <a:solidFill>
                  <a:srgbClr val="E6EDF3"/>
                </a:solidFill>
                <a:latin typeface="Inconsolata"/>
              </a:rPr>
              <a:t>: order-api-config</a:t>
            </a:r>
          </a:p>
          <a:p>
            <a:pPr>
              <a:lnSpc>
                <a:spcPct val="107843"/>
              </a:lnSpc>
              <a:spcAft>
                <a:spcPts val="0"/>
              </a:spcAft>
            </a:pPr>
            <a:r>
              <a:rPr sz="850" i="0">
                <a:solidFill>
                  <a:srgbClr val="5C6773"/>
                </a:solidFill>
                <a:latin typeface="Inconsolata"/>
              </a:rPr>
              <a:t>24  </a:t>
            </a:r>
            <a:r>
              <a:rPr sz="850" i="0">
                <a:solidFill>
                  <a:srgbClr val="E6EDF3"/>
                </a:solidFill>
                <a:latin typeface="Inconsolata"/>
              </a:rPr>
              <a:t>            - </a:t>
            </a:r>
            <a:r>
              <a:rPr sz="850" i="0">
                <a:solidFill>
                  <a:srgbClr val="82B1FF"/>
                </a:solidFill>
                <a:latin typeface="Inconsolata"/>
              </a:rPr>
              <a:t>secretRef</a:t>
            </a:r>
            <a:r>
              <a:rPr sz="850" i="0">
                <a:solidFill>
                  <a:srgbClr val="E6EDF3"/>
                </a:solidFill>
                <a:latin typeface="Inconsolata"/>
              </a:rPr>
              <a:t>:</a:t>
            </a:r>
          </a:p>
          <a:p>
            <a:pPr>
              <a:lnSpc>
                <a:spcPct val="107843"/>
              </a:lnSpc>
              <a:spcAft>
                <a:spcPts val="0"/>
              </a:spcAft>
            </a:pPr>
            <a:r>
              <a:rPr sz="850" i="0">
                <a:solidFill>
                  <a:srgbClr val="5C6773"/>
                </a:solidFill>
                <a:latin typeface="Inconsolata"/>
              </a:rPr>
              <a:t>25  </a:t>
            </a:r>
            <a:r>
              <a:rPr sz="850" i="0">
                <a:solidFill>
                  <a:srgbClr val="E6EDF3"/>
                </a:solidFill>
                <a:latin typeface="Inconsolata"/>
              </a:rPr>
              <a:t>                </a:t>
            </a:r>
            <a:r>
              <a:rPr sz="850" i="0">
                <a:solidFill>
                  <a:srgbClr val="82B1FF"/>
                </a:solidFill>
                <a:latin typeface="Inconsolata"/>
              </a:rPr>
              <a:t>name</a:t>
            </a:r>
            <a:r>
              <a:rPr sz="850" i="0">
                <a:solidFill>
                  <a:srgbClr val="E6EDF3"/>
                </a:solidFill>
                <a:latin typeface="Inconsolata"/>
              </a:rPr>
              <a:t>: order-api-secret</a:t>
            </a:r>
          </a:p>
        </p:txBody>
      </p:sp>
      <p:sp>
        <p:nvSpPr>
          <p:cNvPr id="29" name="Box 12"/>
          <p:cNvSpPr/>
          <p:nvPr/>
        </p:nvSpPr>
        <p:spPr>
          <a:xfrm>
            <a:off x="704088" y="2806573"/>
            <a:ext cx="7699248" cy="690118"/>
          </a:xfrm>
          <a:prstGeom prst="roundRect">
            <a:avLst>
              <a:gd name="adj" fmla="val 6624"/>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8284463" y="303276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ConfigMap &amp; Secret</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05-configmap-secret/after/</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sesi-11-docker-kubernetes-cicd/05-configmap-secret</a:t>
            </a:r>
          </a:p>
          <a:p>
            <a:pPr>
              <a:lnSpc>
                <a:spcPct val="111111"/>
              </a:lnSpc>
              <a:spcAft>
                <a:spcPts val="0"/>
              </a:spcAft>
            </a:pPr>
            <a:r>
              <a:rPr sz="900" i="0">
                <a:solidFill>
                  <a:srgbClr val="82B1FF"/>
                </a:solidFill>
                <a:latin typeface="Inconsolata"/>
              </a:rPr>
              <a:t>$ kubectl apply -f after/</a:t>
            </a:r>
          </a:p>
        </p:txBody>
      </p:sp>
      <p:pic>
        <p:nvPicPr>
          <p:cNvPr id="29" name="Image 12" descr="s11-05-configmap-secret-after.png"/>
          <p:cNvPicPr>
            <a:picLocks noChangeAspect="1"/>
          </p:cNvPicPr>
          <p:nvPr/>
        </p:nvPicPr>
        <p:blipFill>
          <a:blip r:embed="rId2"/>
          <a:stretch>
            <a:fillRect/>
          </a:stretch>
        </p:blipFill>
        <p:spPr>
          <a:xfrm>
            <a:off x="621792" y="2322576"/>
            <a:ext cx="4297680" cy="1714075"/>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Deployment hanya menyebut nama ConfigMap dan Secret (baris 21-25)</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Isinya ada di </a:t>
            </a:r>
            <a:r>
              <a:rPr sz="950" b="0" i="0">
                <a:solidFill>
                  <a:srgbClr val="B5482A"/>
                </a:solidFill>
                <a:latin typeface="Inconsolata"/>
              </a:rPr>
              <a:t>configmap.yaml</a:t>
            </a:r>
            <a:r>
              <a:rPr sz="950" b="0" i="0">
                <a:solidFill>
                  <a:srgbClr val="434343"/>
                </a:solidFill>
                <a:latin typeface="Inter"/>
              </a:rPr>
              <a:t> dan </a:t>
            </a:r>
            <a:r>
              <a:rPr sz="950" b="0" i="0">
                <a:solidFill>
                  <a:srgbClr val="B5482A"/>
                </a:solidFill>
                <a:latin typeface="Inconsolata"/>
              </a:rPr>
              <a:t>secret.yaml</a:t>
            </a:r>
          </a:p>
          <a:p>
            <a:pPr algn="l">
              <a:lnSpc>
                <a:spcPct val="115000"/>
              </a:lnSpc>
              <a:spcAft>
                <a:spcPts val="0"/>
              </a:spcAft>
            </a:pPr>
            <a:endParaRPr sz="950" b="0" i="0">
              <a:solidFill>
                <a:srgbClr val="B5482A"/>
              </a:solidFill>
              <a:latin typeface="Inconsolata"/>
            </a:endParaRPr>
          </a:p>
          <a:p>
            <a:pPr algn="l">
              <a:lnSpc>
                <a:spcPct val="115000"/>
              </a:lnSpc>
              <a:spcAft>
                <a:spcPts val="400"/>
              </a:spcAft>
            </a:pPr>
            <a:r>
              <a:rPr sz="950" b="0" i="0">
                <a:solidFill>
                  <a:srgbClr val="434343"/>
                </a:solidFill>
                <a:latin typeface="Inter"/>
              </a:rPr>
              <a:t>Deployment tidak lagi berisi nilai. Secret tersimpan base64, aplikasi tetap membaca </a:t>
            </a:r>
            <a:r>
              <a:rPr sz="950" b="0" i="0">
                <a:solidFill>
                  <a:srgbClr val="B5482A"/>
                </a:solidFill>
                <a:latin typeface="Inconsolata"/>
              </a:rPr>
              <a:t>MESSAGE</a:t>
            </a:r>
            <a:r>
              <a:rPr sz="950" b="0" i="0">
                <a:solidFill>
                  <a:srgbClr val="434343"/>
                </a:solidFill>
                <a:latin typeface="Inter"/>
              </a:rPr>
              <a:t> dan </a:t>
            </a:r>
            <a:r>
              <a:rPr sz="950" b="0" i="0">
                <a:solidFill>
                  <a:srgbClr val="B5482A"/>
                </a:solidFill>
                <a:latin typeface="Inconsolata"/>
              </a:rPr>
              <a:t>API_KEY</a:t>
            </a:r>
            <a:r>
              <a:rPr sz="950" b="0" i="0">
                <a:solidFill>
                  <a:srgbClr val="434343"/>
                </a:solidFill>
                <a:latin typeface="Inter"/>
              </a:rPr>
              <a: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Probes</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Readiness dan Liveness Probe?</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Readiness probe adalah</a:t>
            </a:r>
          </a:p>
          <a:p>
            <a:pPr algn="l">
              <a:lnSpc>
                <a:spcPct val="115000"/>
              </a:lnSpc>
              <a:spcAft>
                <a:spcPts val="400"/>
              </a:spcAft>
            </a:pPr>
            <a:r>
              <a:rPr sz="900" b="0" i="0">
                <a:solidFill>
                  <a:srgbClr val="434343"/>
                </a:solidFill>
                <a:latin typeface="Inter"/>
              </a:rPr>
              <a:t>Pengecekan berkala apakah pod </a:t>
            </a:r>
            <a:r>
              <a:rPr sz="900" b="1" i="0">
                <a:solidFill>
                  <a:srgbClr val="434343"/>
                </a:solidFill>
                <a:latin typeface="Inter"/>
              </a:rPr>
              <a:t>siap menerima traffic</a:t>
            </a:r>
            <a:r>
              <a:rPr sz="900" b="0" i="0">
                <a:solidFill>
                  <a:srgbClr val="434343"/>
                </a:solidFill>
                <a:latin typeface="Inter"/>
              </a:rPr>
              <a:t>. Gagal = pod dikeluarkan dari Service, tanpa restart.</a:t>
            </a:r>
          </a:p>
          <a:p>
            <a:pPr algn="l">
              <a:lnSpc>
                <a:spcPct val="115000"/>
              </a:lnSpc>
              <a:spcAft>
                <a:spcPts val="400"/>
              </a:spcAft>
            </a:pPr>
            <a:r>
              <a:rPr sz="1000" b="1" i="0">
                <a:solidFill>
                  <a:srgbClr val="1C4587"/>
                </a:solidFill>
                <a:latin typeface="Inter"/>
              </a:rPr>
              <a:t>Liveness probe adalah</a:t>
            </a:r>
          </a:p>
          <a:p>
            <a:pPr algn="l">
              <a:lnSpc>
                <a:spcPct val="115000"/>
              </a:lnSpc>
              <a:spcAft>
                <a:spcPts val="400"/>
              </a:spcAft>
            </a:pPr>
            <a:r>
              <a:rPr sz="900" b="0" i="0">
                <a:solidFill>
                  <a:srgbClr val="434343"/>
                </a:solidFill>
                <a:latin typeface="Inter"/>
              </a:rPr>
              <a:t>Pengecekan berkala apakah container </a:t>
            </a:r>
            <a:r>
              <a:rPr sz="900" b="1" i="0">
                <a:solidFill>
                  <a:srgbClr val="434343"/>
                </a:solidFill>
                <a:latin typeface="Inter"/>
              </a:rPr>
              <a:t>masih sehat</a:t>
            </a:r>
            <a:r>
              <a:rPr sz="900" b="0" i="0">
                <a:solidFill>
                  <a:srgbClr val="434343"/>
                </a:solidFill>
                <a:latin typeface="Inter"/>
              </a:rPr>
              <a:t>. Gagal beberapa kali = container di-restart.</a:t>
            </a:r>
          </a:p>
          <a:p>
            <a:pPr algn="l">
              <a:lnSpc>
                <a:spcPct val="115000"/>
              </a:lnSpc>
              <a:spcAft>
                <a:spcPts val="400"/>
              </a:spcAft>
            </a:pPr>
            <a:r>
              <a:rPr sz="100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Mencegah request masuk ke pod yang belum siap</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Memulihkan aplikasi yang macet tanpa campur tangan manual</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tanpa probe: 06-probes/before/</a:t>
            </a:r>
          </a:p>
        </p:txBody>
      </p:sp>
      <p:sp>
        <p:nvSpPr>
          <p:cNvPr id="28" name="CodeBg 11"/>
          <p:cNvSpPr/>
          <p:nvPr/>
        </p:nvSpPr>
        <p:spPr>
          <a:xfrm>
            <a:off x="4297680" y="1719072"/>
            <a:ext cx="4187951" cy="704088"/>
          </a:xfrm>
          <a:prstGeom prst="roundRect">
            <a:avLst>
              <a:gd name="adj" fmla="val 2597"/>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704088"/>
          </a:xfrm>
          <a:prstGeom prst="rect">
            <a:avLst/>
          </a:prstGeom>
          <a:noFill/>
        </p:spPr>
        <p:txBody>
          <a:bodyPr wrap="none" lIns="146304" tIns="91440" rIns="146304" bIns="54864">
            <a:spAutoFit/>
          </a:bodyPr>
          <a:lstStyle/>
          <a:p>
            <a:pPr>
              <a:lnSpc>
                <a:spcPct val="111111"/>
              </a:lnSpc>
              <a:spcAft>
                <a:spcPts val="0"/>
              </a:spcAft>
            </a:pPr>
            <a:r>
              <a:rPr sz="750" i="0">
                <a:solidFill>
                  <a:srgbClr val="E6EDF3"/>
                </a:solidFill>
                <a:latin typeface="Inconsolata"/>
              </a:rPr>
              <a:t>          </a:t>
            </a:r>
            <a:r>
              <a:rPr sz="750" i="0">
                <a:solidFill>
                  <a:srgbClr val="82B1FF"/>
                </a:solidFill>
                <a:latin typeface="Inconsolata"/>
              </a:rPr>
              <a:t>env</a:t>
            </a:r>
            <a:r>
              <a:rPr sz="750" i="0">
                <a:solidFill>
                  <a:srgbClr val="E6EDF3"/>
                </a:solidFill>
                <a:latin typeface="Inconsolata"/>
              </a:rPr>
              <a:t>:</a:t>
            </a:r>
          </a:p>
          <a:p>
            <a:pPr>
              <a:lnSpc>
                <a:spcPct val="111111"/>
              </a:lnSpc>
              <a:spcAft>
                <a:spcPts val="0"/>
              </a:spcAft>
            </a:pPr>
            <a:r>
              <a:rPr sz="750" i="0">
                <a:solidFill>
                  <a:srgbClr val="E6EDF3"/>
                </a:solidFill>
                <a:latin typeface="Inconsolata"/>
              </a:rPr>
              <a:t>            - </a:t>
            </a:r>
            <a:r>
              <a:rPr sz="750" i="0">
                <a:solidFill>
                  <a:srgbClr val="82B1FF"/>
                </a:solidFill>
                <a:latin typeface="Inconsolata"/>
              </a:rPr>
              <a:t>name</a:t>
            </a:r>
            <a:r>
              <a:rPr sz="750" i="0">
                <a:solidFill>
                  <a:srgbClr val="E6EDF3"/>
                </a:solidFill>
                <a:latin typeface="Inconsolata"/>
              </a:rPr>
              <a:t>: STARTUP_SECONDS</a:t>
            </a:r>
          </a:p>
          <a:p>
            <a:pPr>
              <a:lnSpc>
                <a:spcPct val="111111"/>
              </a:lnSpc>
              <a:spcAft>
                <a:spcPts val="0"/>
              </a:spcAft>
            </a:pPr>
            <a:r>
              <a:rPr sz="750" i="0">
                <a:solidFill>
                  <a:srgbClr val="E6EDF3"/>
                </a:solidFill>
                <a:latin typeface="Inconsolata"/>
              </a:rPr>
              <a:t>              </a:t>
            </a:r>
            <a:r>
              <a:rPr sz="750" i="0">
                <a:solidFill>
                  <a:srgbClr val="82B1FF"/>
                </a:solidFill>
                <a:latin typeface="Inconsolata"/>
              </a:rPr>
              <a:t>value</a:t>
            </a:r>
            <a:r>
              <a:rPr sz="750" i="0">
                <a:solidFill>
                  <a:srgbClr val="E6EDF3"/>
                </a:solidFill>
                <a:latin typeface="Inconsolata"/>
              </a:rPr>
              <a:t>: </a:t>
            </a:r>
            <a:r>
              <a:rPr sz="750" i="0">
                <a:solidFill>
                  <a:srgbClr val="A5D6A7"/>
                </a:solidFill>
                <a:latin typeface="Inconsolata"/>
              </a:rPr>
              <a:t>"20"</a:t>
            </a:r>
          </a:p>
        </p:txBody>
      </p:sp>
      <p:sp>
        <p:nvSpPr>
          <p:cNvPr id="30" name="Box 13"/>
          <p:cNvSpPr/>
          <p:nvPr/>
        </p:nvSpPr>
        <p:spPr>
          <a:xfrm>
            <a:off x="4379976" y="1954022"/>
            <a:ext cx="4023359" cy="246380"/>
          </a:xfrm>
          <a:prstGeom prst="roundRect">
            <a:avLst>
              <a:gd name="adj" fmla="val 18556"/>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Tab 15"/>
          <p:cNvSpPr/>
          <p:nvPr/>
        </p:nvSpPr>
        <p:spPr>
          <a:xfrm>
            <a:off x="4297680" y="2514600"/>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4407408" y="2592324"/>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4544568" y="2592324"/>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681728" y="2592324"/>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4846320" y="2523744"/>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dengan probe: 06-probes/after/</a:t>
            </a:r>
          </a:p>
        </p:txBody>
      </p:sp>
      <p:sp>
        <p:nvSpPr>
          <p:cNvPr id="36" name="CodeBg 21"/>
          <p:cNvSpPr/>
          <p:nvPr/>
        </p:nvSpPr>
        <p:spPr>
          <a:xfrm>
            <a:off x="4297680" y="2752344"/>
            <a:ext cx="4187951" cy="1947672"/>
          </a:xfrm>
          <a:prstGeom prst="roundRect">
            <a:avLst>
              <a:gd name="adj" fmla="val 938"/>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4297680" y="2752344"/>
            <a:ext cx="4187951" cy="1947672"/>
          </a:xfrm>
          <a:prstGeom prst="rect">
            <a:avLst/>
          </a:prstGeom>
          <a:noFill/>
        </p:spPr>
        <p:txBody>
          <a:bodyPr wrap="none" lIns="146304" tIns="91440" rIns="146304" bIns="54864">
            <a:spAutoFit/>
          </a:bodyPr>
          <a:lstStyle/>
          <a:p>
            <a:pPr>
              <a:lnSpc>
                <a:spcPct val="111111"/>
              </a:lnSpc>
              <a:spcAft>
                <a:spcPts val="0"/>
              </a:spcAft>
            </a:pPr>
            <a:r>
              <a:rPr sz="750" i="0">
                <a:solidFill>
                  <a:srgbClr val="E6EDF3"/>
                </a:solidFill>
                <a:latin typeface="Inconsolata"/>
              </a:rPr>
              <a:t>          </a:t>
            </a:r>
            <a:r>
              <a:rPr sz="750" i="0">
                <a:solidFill>
                  <a:srgbClr val="82B1FF"/>
                </a:solidFill>
                <a:latin typeface="Inconsolata"/>
              </a:rPr>
              <a:t>readinessProbe</a:t>
            </a:r>
            <a:r>
              <a:rPr sz="750" i="0">
                <a:solidFill>
                  <a:srgbClr val="E6EDF3"/>
                </a:solidFill>
                <a:latin typeface="Inconsolata"/>
              </a:rPr>
              <a:t>:</a:t>
            </a:r>
          </a:p>
          <a:p>
            <a:pPr>
              <a:lnSpc>
                <a:spcPct val="111111"/>
              </a:lnSpc>
              <a:spcAft>
                <a:spcPts val="0"/>
              </a:spcAft>
            </a:pPr>
            <a:r>
              <a:rPr sz="750" i="0">
                <a:solidFill>
                  <a:srgbClr val="E6EDF3"/>
                </a:solidFill>
                <a:latin typeface="Inconsolata"/>
              </a:rPr>
              <a:t>            </a:t>
            </a:r>
            <a:r>
              <a:rPr sz="750" i="0">
                <a:solidFill>
                  <a:srgbClr val="82B1FF"/>
                </a:solidFill>
                <a:latin typeface="Inconsolata"/>
              </a:rPr>
              <a:t>httpGet</a:t>
            </a:r>
            <a:r>
              <a:rPr sz="750" i="0">
                <a:solidFill>
                  <a:srgbClr val="E6EDF3"/>
                </a:solidFill>
                <a:latin typeface="Inconsolata"/>
              </a:rPr>
              <a:t>:</a:t>
            </a:r>
          </a:p>
          <a:p>
            <a:pPr>
              <a:lnSpc>
                <a:spcPct val="111111"/>
              </a:lnSpc>
              <a:spcAft>
                <a:spcPts val="0"/>
              </a:spcAft>
            </a:pPr>
            <a:r>
              <a:rPr sz="750" i="0">
                <a:solidFill>
                  <a:srgbClr val="E6EDF3"/>
                </a:solidFill>
                <a:latin typeface="Inconsolata"/>
              </a:rPr>
              <a:t>              </a:t>
            </a:r>
            <a:r>
              <a:rPr sz="750" i="0">
                <a:solidFill>
                  <a:srgbClr val="82B1FF"/>
                </a:solidFill>
                <a:latin typeface="Inconsolata"/>
              </a:rPr>
              <a:t>path</a:t>
            </a:r>
            <a:r>
              <a:rPr sz="750" i="0">
                <a:solidFill>
                  <a:srgbClr val="E6EDF3"/>
                </a:solidFill>
                <a:latin typeface="Inconsolata"/>
              </a:rPr>
              <a:t>: /health/ready</a:t>
            </a:r>
          </a:p>
          <a:p>
            <a:pPr>
              <a:lnSpc>
                <a:spcPct val="111111"/>
              </a:lnSpc>
              <a:spcAft>
                <a:spcPts val="0"/>
              </a:spcAft>
            </a:pPr>
            <a:r>
              <a:rPr sz="750" i="0">
                <a:solidFill>
                  <a:srgbClr val="E6EDF3"/>
                </a:solidFill>
                <a:latin typeface="Inconsolata"/>
              </a:rPr>
              <a:t>              </a:t>
            </a:r>
            <a:r>
              <a:rPr sz="750" i="0">
                <a:solidFill>
                  <a:srgbClr val="82B1FF"/>
                </a:solidFill>
                <a:latin typeface="Inconsolata"/>
              </a:rPr>
              <a:t>port</a:t>
            </a:r>
            <a:r>
              <a:rPr sz="750" i="0">
                <a:solidFill>
                  <a:srgbClr val="E6EDF3"/>
                </a:solidFill>
                <a:latin typeface="Inconsolata"/>
              </a:rPr>
              <a:t>: </a:t>
            </a:r>
            <a:r>
              <a:rPr sz="750" i="0">
                <a:solidFill>
                  <a:srgbClr val="F9C97A"/>
                </a:solidFill>
                <a:latin typeface="Inconsolata"/>
              </a:rPr>
              <a:t>8000</a:t>
            </a:r>
          </a:p>
          <a:p>
            <a:pPr>
              <a:lnSpc>
                <a:spcPct val="111111"/>
              </a:lnSpc>
              <a:spcAft>
                <a:spcPts val="0"/>
              </a:spcAft>
            </a:pPr>
            <a:r>
              <a:rPr sz="750" i="0">
                <a:solidFill>
                  <a:srgbClr val="E6EDF3"/>
                </a:solidFill>
                <a:latin typeface="Inconsolata"/>
              </a:rPr>
              <a:t>...</a:t>
            </a:r>
          </a:p>
          <a:p>
            <a:pPr>
              <a:lnSpc>
                <a:spcPct val="111111"/>
              </a:lnSpc>
              <a:spcAft>
                <a:spcPts val="0"/>
              </a:spcAft>
            </a:pPr>
            <a:r>
              <a:rPr sz="750" i="0">
                <a:solidFill>
                  <a:srgbClr val="E6EDF3"/>
                </a:solidFill>
                <a:latin typeface="Inconsolata"/>
              </a:rPr>
              <a:t>          </a:t>
            </a:r>
            <a:r>
              <a:rPr sz="750" i="0">
                <a:solidFill>
                  <a:srgbClr val="82B1FF"/>
                </a:solidFill>
                <a:latin typeface="Inconsolata"/>
              </a:rPr>
              <a:t>livenessProbe</a:t>
            </a:r>
            <a:r>
              <a:rPr sz="750" i="0">
                <a:solidFill>
                  <a:srgbClr val="E6EDF3"/>
                </a:solidFill>
                <a:latin typeface="Inconsolata"/>
              </a:rPr>
              <a:t>:</a:t>
            </a:r>
          </a:p>
          <a:p>
            <a:pPr>
              <a:lnSpc>
                <a:spcPct val="111111"/>
              </a:lnSpc>
              <a:spcAft>
                <a:spcPts val="0"/>
              </a:spcAft>
            </a:pPr>
            <a:r>
              <a:rPr sz="750" i="0">
                <a:solidFill>
                  <a:srgbClr val="E6EDF3"/>
                </a:solidFill>
                <a:latin typeface="Inconsolata"/>
              </a:rPr>
              <a:t>            </a:t>
            </a:r>
            <a:r>
              <a:rPr sz="750" i="0">
                <a:solidFill>
                  <a:srgbClr val="82B1FF"/>
                </a:solidFill>
                <a:latin typeface="Inconsolata"/>
              </a:rPr>
              <a:t>httpGet</a:t>
            </a:r>
            <a:r>
              <a:rPr sz="750" i="0">
                <a:solidFill>
                  <a:srgbClr val="E6EDF3"/>
                </a:solidFill>
                <a:latin typeface="Inconsolata"/>
              </a:rPr>
              <a:t>:</a:t>
            </a:r>
          </a:p>
          <a:p>
            <a:pPr>
              <a:lnSpc>
                <a:spcPct val="111111"/>
              </a:lnSpc>
              <a:spcAft>
                <a:spcPts val="0"/>
              </a:spcAft>
            </a:pPr>
            <a:r>
              <a:rPr sz="750" i="0">
                <a:solidFill>
                  <a:srgbClr val="E6EDF3"/>
                </a:solidFill>
                <a:latin typeface="Inconsolata"/>
              </a:rPr>
              <a:t>              </a:t>
            </a:r>
            <a:r>
              <a:rPr sz="750" i="0">
                <a:solidFill>
                  <a:srgbClr val="82B1FF"/>
                </a:solidFill>
                <a:latin typeface="Inconsolata"/>
              </a:rPr>
              <a:t>path</a:t>
            </a:r>
            <a:r>
              <a:rPr sz="750" i="0">
                <a:solidFill>
                  <a:srgbClr val="E6EDF3"/>
                </a:solidFill>
                <a:latin typeface="Inconsolata"/>
              </a:rPr>
              <a:t>: /health/live</a:t>
            </a:r>
          </a:p>
        </p:txBody>
      </p:sp>
      <p:sp>
        <p:nvSpPr>
          <p:cNvPr id="38" name="Box 23"/>
          <p:cNvSpPr/>
          <p:nvPr/>
        </p:nvSpPr>
        <p:spPr>
          <a:xfrm>
            <a:off x="4379976" y="2860294"/>
            <a:ext cx="4023359" cy="373380"/>
          </a:xfrm>
          <a:prstGeom prst="roundRect">
            <a:avLst>
              <a:gd name="adj" fmla="val 12244"/>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379976" y="3495294"/>
            <a:ext cx="4023359" cy="373380"/>
          </a:xfrm>
          <a:prstGeom prst="roundRect">
            <a:avLst>
              <a:gd name="adj" fmla="val 12244"/>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Probes</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menggunakan Probes?</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Tanpa probe</a:t>
            </a:r>
          </a:p>
          <a:p>
            <a:pPr algn="l">
              <a:lnSpc>
                <a:spcPct val="115000"/>
              </a:lnSpc>
              <a:spcAft>
                <a:spcPts val="400"/>
              </a:spcAft>
            </a:pPr>
            <a:r>
              <a:rPr sz="950" b="0" i="0">
                <a:solidFill>
                  <a:srgbClr val="434343"/>
                </a:solidFill>
                <a:latin typeface="Inter"/>
              </a:rPr>
              <a:t>Kubernetes hanya melihat proses hidup. Pod langsung dianggap Ready walaupun aplikasi baru siap 20 detik kemudian.</a:t>
            </a:r>
          </a:p>
          <a:p>
            <a:pPr algn="l">
              <a:lnSpc>
                <a:spcPct val="115000"/>
              </a:lnSpc>
              <a:spcAft>
                <a:spcPts val="400"/>
              </a:spcAft>
            </a:pPr>
            <a:r>
              <a:rPr sz="1050" b="1" i="0">
                <a:solidFill>
                  <a:srgbClr val="1C4587"/>
                </a:solidFill>
                <a:latin typeface="Inter"/>
              </a:rPr>
              <a:t>Jika deploy makin sering</a:t>
            </a:r>
          </a:p>
          <a:p>
            <a:pPr algn="l">
              <a:lnSpc>
                <a:spcPct val="115000"/>
              </a:lnSpc>
              <a:spcAft>
                <a:spcPts val="400"/>
              </a:spcAft>
            </a:pPr>
            <a:r>
              <a:rPr sz="950" b="0" i="0">
                <a:solidFill>
                  <a:srgbClr val="434343"/>
                </a:solidFill>
                <a:latin typeface="Inter"/>
              </a:rPr>
              <a:t>Setiap deploy ada request yang gagal ke pod yang belum siap, dan pod yang macet tidak pernah di-restart.</a:t>
            </a:r>
          </a:p>
          <a:p>
            <a:pPr algn="l">
              <a:lnSpc>
                <a:spcPct val="115000"/>
              </a:lnSpc>
              <a:spcAft>
                <a:spcPts val="400"/>
              </a:spcAft>
            </a:pPr>
            <a:r>
              <a:rPr sz="950" b="0" i="0">
                <a:solidFill>
                  <a:srgbClr val="434343"/>
                </a:solidFill>
                <a:latin typeface="Inter"/>
              </a:rPr>
              <a:t>Hal ini membuat error muncul di setiap rilis tanpa sebab yang jelas.</a:t>
            </a:r>
          </a:p>
          <a:p>
            <a:pPr algn="l">
              <a:lnSpc>
                <a:spcPct val="115000"/>
              </a:lnSpc>
              <a:spcAft>
                <a:spcPts val="400"/>
              </a:spcAft>
            </a:pPr>
            <a:r>
              <a:rPr sz="1050" b="1" i="0">
                <a:solidFill>
                  <a:srgbClr val="1C4587"/>
                </a:solidFill>
                <a:latin typeface="Inter"/>
              </a:rPr>
              <a:t>Yang dipakai dari Kubernetes</a:t>
            </a:r>
          </a:p>
          <a:p>
            <a:pPr algn="l">
              <a:lnSpc>
                <a:spcPct val="115000"/>
              </a:lnSpc>
              <a:spcAft>
                <a:spcPts val="400"/>
              </a:spcAft>
            </a:pPr>
            <a:r>
              <a:rPr sz="950" b="0" i="0">
                <a:solidFill>
                  <a:srgbClr val="434343"/>
                </a:solidFill>
                <a:latin typeface="Inter"/>
              </a:rPr>
              <a:t>Probe memanggil endpoint health check dari Sesi 9.</a:t>
            </a:r>
          </a:p>
        </p:txBody>
      </p:sp>
      <p:graphicFrame>
        <p:nvGraphicFramePr>
          <p:cNvPr id="23" name="Table 4"/>
          <p:cNvGraphicFramePr>
            <a:graphicFrameLocks noGrp="1"/>
          </p:cNvGraphicFramePr>
          <p:nvPr/>
        </p:nvGraphicFramePr>
        <p:xfrm>
          <a:off x="4800600" y="1481328"/>
          <a:ext cx="3685032" cy="1371600"/>
        </p:xfrm>
        <a:graphic>
          <a:graphicData uri="http://schemas.openxmlformats.org/drawingml/2006/table">
            <a:tbl>
              <a:tblPr firstRow="1" bandRow="1"/>
              <a:tblGrid>
                <a:gridCol w="100584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444752">
                  <a:extLst>
                    <a:ext uri="{9D8B030D-6E8A-4147-A177-3AD203B41FA5}">
                      <a16:colId xmlns:a16="http://schemas.microsoft.com/office/drawing/2014/main" val="20002"/>
                    </a:ext>
                  </a:extLst>
                </a:gridCol>
              </a:tblGrid>
              <a:tr h="457200">
                <a:tc>
                  <a:txBody>
                    <a:bodyPr/>
                    <a:lstStyle/>
                    <a:p>
                      <a:pPr algn="l">
                        <a:lnSpc>
                          <a:spcPct val="100000"/>
                        </a:lnSpc>
                        <a:spcAft>
                          <a:spcPts val="0"/>
                        </a:spcAft>
                      </a:pPr>
                      <a:r>
                        <a:rPr sz="850" b="1" i="0">
                          <a:solidFill>
                            <a:srgbClr val="FFFFFF"/>
                          </a:solidFill>
                          <a:latin typeface="Inter"/>
                        </a:rPr>
                        <a:t>Probe</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Endpoint</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Gagal =</a:t>
                      </a:r>
                    </a:p>
                  </a:txBody>
                  <a:tcPr marL="73152" marR="73152" marT="36576" marB="36576" anchor="ctr">
                    <a:solidFill>
                      <a:srgbClr val="1C4587"/>
                    </a:solidFill>
                  </a:tcPr>
                </a:tc>
                <a:extLst>
                  <a:ext uri="{0D108BD9-81ED-4DB2-BD59-A6C34878D82A}">
                    <a16:rowId xmlns:a16="http://schemas.microsoft.com/office/drawing/2014/main" val="10000"/>
                  </a:ext>
                </a:extLst>
              </a:tr>
              <a:tr h="457200">
                <a:tc>
                  <a:txBody>
                    <a:bodyPr/>
                    <a:lstStyle/>
                    <a:p>
                      <a:pPr algn="l">
                        <a:lnSpc>
                          <a:spcPct val="100000"/>
                        </a:lnSpc>
                        <a:spcAft>
                          <a:spcPts val="0"/>
                        </a:spcAft>
                      </a:pPr>
                      <a:r>
                        <a:rPr sz="850" b="1" i="0">
                          <a:solidFill>
                            <a:srgbClr val="1C4587"/>
                          </a:solidFill>
                          <a:latin typeface="Inter"/>
                        </a:rPr>
                        <a:t>readiness</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/health/ready</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Keluar dari Service</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pPr algn="l">
                        <a:lnSpc>
                          <a:spcPct val="100000"/>
                        </a:lnSpc>
                        <a:spcAft>
                          <a:spcPts val="0"/>
                        </a:spcAft>
                      </a:pPr>
                      <a:r>
                        <a:rPr sz="850" b="1" i="0">
                          <a:solidFill>
                            <a:srgbClr val="1C4587"/>
                          </a:solidFill>
                          <a:latin typeface="Inter"/>
                        </a:rPr>
                        <a:t>liveness</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/health/live</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Container di-restart</a:t>
                      </a:r>
                    </a:p>
                  </a:txBody>
                  <a:tcPr marL="73152" marR="73152" marT="36576" marB="36576" anchor="ctr">
                    <a:solidFill>
                      <a:srgbClr val="F3F4F6"/>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Probes</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tanpa probe (1/2)</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72237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06-probes/before/deployment.yaml</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7863840" cy="2980944"/>
          </a:xfrm>
          <a:prstGeom prst="rect">
            <a:avLst/>
          </a:prstGeom>
          <a:noFill/>
        </p:spPr>
        <p:txBody>
          <a:bodyPr wrap="none" lIns="146304" tIns="91440" rIns="146304" bIns="54864">
            <a:spAutoFit/>
          </a:bodyPr>
          <a:lstStyle/>
          <a:p>
            <a:pPr>
              <a:lnSpc>
                <a:spcPct val="107843"/>
              </a:lnSpc>
              <a:spcAft>
                <a:spcPts val="0"/>
              </a:spcAft>
            </a:pPr>
            <a:r>
              <a:rPr sz="850" i="0">
                <a:solidFill>
                  <a:srgbClr val="5C6773"/>
                </a:solidFill>
                <a:latin typeface="Inconsolata"/>
              </a:rPr>
              <a:t> 1  </a:t>
            </a:r>
            <a:r>
              <a:rPr sz="850" i="1">
                <a:solidFill>
                  <a:srgbClr val="8B98A8"/>
                </a:solidFill>
                <a:latin typeface="Inconsolata"/>
              </a:rPr>
              <a:t># Probes - BEFORE (Kubernetes hanya melihat proses masih hidup atau tidak)</a:t>
            </a:r>
          </a:p>
          <a:p>
            <a:pPr>
              <a:lnSpc>
                <a:spcPct val="107843"/>
              </a:lnSpc>
              <a:spcAft>
                <a:spcPts val="0"/>
              </a:spcAft>
            </a:pPr>
            <a:r>
              <a:rPr sz="850" i="0">
                <a:solidFill>
                  <a:srgbClr val="5C6773"/>
                </a:solidFill>
                <a:latin typeface="Inconsolata"/>
              </a:rPr>
              <a:t> 2  </a:t>
            </a:r>
            <a:r>
              <a:rPr sz="850" i="1">
                <a:solidFill>
                  <a:srgbClr val="8B98A8"/>
                </a:solidFill>
                <a:latin typeface="Inconsolata"/>
              </a:rPr>
              <a:t># Aplikasi demo butuh 20 detik untuk siap (STARTUP_SECONDS), lalu macet setelah 45 detik (BREAK_AFTER).</a:t>
            </a:r>
          </a:p>
          <a:p>
            <a:pPr>
              <a:lnSpc>
                <a:spcPct val="107843"/>
              </a:lnSpc>
              <a:spcAft>
                <a:spcPts val="0"/>
              </a:spcAft>
            </a:pPr>
            <a:r>
              <a:rPr sz="850" i="0">
                <a:solidFill>
                  <a:srgbClr val="5C6773"/>
                </a:solidFill>
                <a:latin typeface="Inconsolata"/>
              </a:rPr>
              <a:t> 3  </a:t>
            </a:r>
            <a:r>
              <a:rPr sz="850" i="1">
                <a:solidFill>
                  <a:srgbClr val="8B98A8"/>
                </a:solidFill>
                <a:latin typeface="Inconsolata"/>
              </a:rPr>
              <a:t># - Pod langsung dianggap Ready dan menerima traffic, padahal aplikasi belum siap</a:t>
            </a:r>
          </a:p>
          <a:p>
            <a:pPr>
              <a:lnSpc>
                <a:spcPct val="107843"/>
              </a:lnSpc>
              <a:spcAft>
                <a:spcPts val="0"/>
              </a:spcAft>
            </a:pPr>
            <a:r>
              <a:rPr sz="850" i="0">
                <a:solidFill>
                  <a:srgbClr val="5C6773"/>
                </a:solidFill>
                <a:latin typeface="Inconsolata"/>
              </a:rPr>
              <a:t> 4  </a:t>
            </a:r>
            <a:r>
              <a:rPr sz="850" i="1">
                <a:solidFill>
                  <a:srgbClr val="8B98A8"/>
                </a:solidFill>
                <a:latin typeface="Inconsolata"/>
              </a:rPr>
              <a:t># - Setelah macet, proses masih hidup, jadi pod tidak pernah di-restart</a:t>
            </a:r>
          </a:p>
          <a:p>
            <a:pPr>
              <a:lnSpc>
                <a:spcPct val="107843"/>
              </a:lnSpc>
              <a:spcAft>
                <a:spcPts val="0"/>
              </a:spcAft>
            </a:pPr>
            <a:r>
              <a:rPr sz="850" i="0">
                <a:solidFill>
                  <a:srgbClr val="5C6773"/>
                </a:solidFill>
                <a:latin typeface="Inconsolata"/>
              </a:rPr>
              <a:t> 5  </a:t>
            </a:r>
            <a:r>
              <a:rPr sz="850" i="0">
                <a:solidFill>
                  <a:srgbClr val="82B1FF"/>
                </a:solidFill>
                <a:latin typeface="Inconsolata"/>
              </a:rPr>
              <a:t>apiVersion</a:t>
            </a:r>
            <a:r>
              <a:rPr sz="850" i="0">
                <a:solidFill>
                  <a:srgbClr val="E6EDF3"/>
                </a:solidFill>
                <a:latin typeface="Inconsolata"/>
              </a:rPr>
              <a:t>: apps/v1</a:t>
            </a:r>
          </a:p>
          <a:p>
            <a:pPr>
              <a:lnSpc>
                <a:spcPct val="107843"/>
              </a:lnSpc>
              <a:spcAft>
                <a:spcPts val="0"/>
              </a:spcAft>
            </a:pPr>
            <a:r>
              <a:rPr sz="850" i="0">
                <a:solidFill>
                  <a:srgbClr val="5C6773"/>
                </a:solidFill>
                <a:latin typeface="Inconsolata"/>
              </a:rPr>
              <a:t> 6  </a:t>
            </a:r>
            <a:r>
              <a:rPr sz="850" i="0">
                <a:solidFill>
                  <a:srgbClr val="82B1FF"/>
                </a:solidFill>
                <a:latin typeface="Inconsolata"/>
              </a:rPr>
              <a:t>kind</a:t>
            </a:r>
            <a:r>
              <a:rPr sz="850" i="0">
                <a:solidFill>
                  <a:srgbClr val="E6EDF3"/>
                </a:solidFill>
                <a:latin typeface="Inconsolata"/>
              </a:rPr>
              <a:t>: Deployment</a:t>
            </a:r>
          </a:p>
          <a:p>
            <a:pPr>
              <a:lnSpc>
                <a:spcPct val="107843"/>
              </a:lnSpc>
              <a:spcAft>
                <a:spcPts val="0"/>
              </a:spcAft>
            </a:pPr>
            <a:r>
              <a:rPr sz="850" i="0">
                <a:solidFill>
                  <a:srgbClr val="5C6773"/>
                </a:solidFill>
                <a:latin typeface="Inconsolata"/>
              </a:rPr>
              <a:t> 7  </a:t>
            </a:r>
            <a:r>
              <a:rPr sz="850" i="0">
                <a:solidFill>
                  <a:srgbClr val="82B1FF"/>
                </a:solidFill>
                <a:latin typeface="Inconsolata"/>
              </a:rPr>
              <a:t>metadata</a:t>
            </a:r>
            <a:r>
              <a:rPr sz="850" i="0">
                <a:solidFill>
                  <a:srgbClr val="E6EDF3"/>
                </a:solidFill>
                <a:latin typeface="Inconsolata"/>
              </a:rPr>
              <a:t>:</a:t>
            </a:r>
          </a:p>
          <a:p>
            <a:pPr>
              <a:lnSpc>
                <a:spcPct val="107843"/>
              </a:lnSpc>
              <a:spcAft>
                <a:spcPts val="0"/>
              </a:spcAft>
            </a:pPr>
            <a:r>
              <a:rPr sz="850" i="0">
                <a:solidFill>
                  <a:srgbClr val="5C6773"/>
                </a:solidFill>
                <a:latin typeface="Inconsolata"/>
              </a:rPr>
              <a:t> 8  </a:t>
            </a:r>
            <a:r>
              <a:rPr sz="850" i="0">
                <a:solidFill>
                  <a:srgbClr val="E6EDF3"/>
                </a:solidFill>
                <a:latin typeface="Inconsolata"/>
              </a:rPr>
              <a:t>  </a:t>
            </a:r>
            <a:r>
              <a:rPr sz="850" i="0">
                <a:solidFill>
                  <a:srgbClr val="82B1FF"/>
                </a:solidFill>
                <a:latin typeface="Inconsolata"/>
              </a:rPr>
              <a:t>name</a:t>
            </a:r>
            <a:r>
              <a:rPr sz="850" i="0">
                <a:solidFill>
                  <a:srgbClr val="E6EDF3"/>
                </a:solidFill>
                <a:latin typeface="Inconsolata"/>
              </a:rPr>
              <a:t>: order-api</a:t>
            </a:r>
          </a:p>
          <a:p>
            <a:pPr>
              <a:lnSpc>
                <a:spcPct val="107843"/>
              </a:lnSpc>
              <a:spcAft>
                <a:spcPts val="0"/>
              </a:spcAft>
            </a:pPr>
            <a:r>
              <a:rPr sz="850" i="0">
                <a:solidFill>
                  <a:srgbClr val="5C6773"/>
                </a:solidFill>
                <a:latin typeface="Inconsolata"/>
              </a:rPr>
              <a:t> 9  </a:t>
            </a:r>
            <a:r>
              <a:rPr sz="850" i="0">
                <a:solidFill>
                  <a:srgbClr val="82B1FF"/>
                </a:solidFill>
                <a:latin typeface="Inconsolata"/>
              </a:rPr>
              <a:t>spec</a:t>
            </a:r>
            <a:r>
              <a:rPr sz="850" i="0">
                <a:solidFill>
                  <a:srgbClr val="E6EDF3"/>
                </a:solidFill>
                <a:latin typeface="Inconsolata"/>
              </a:rPr>
              <a:t>:</a:t>
            </a:r>
          </a:p>
          <a:p>
            <a:pPr>
              <a:lnSpc>
                <a:spcPct val="107843"/>
              </a:lnSpc>
              <a:spcAft>
                <a:spcPts val="0"/>
              </a:spcAft>
            </a:pPr>
            <a:r>
              <a:rPr sz="850" i="0">
                <a:solidFill>
                  <a:srgbClr val="5C6773"/>
                </a:solidFill>
                <a:latin typeface="Inconsolata"/>
              </a:rPr>
              <a:t>10  </a:t>
            </a:r>
            <a:r>
              <a:rPr sz="850" i="0">
                <a:solidFill>
                  <a:srgbClr val="E6EDF3"/>
                </a:solidFill>
                <a:latin typeface="Inconsolata"/>
              </a:rPr>
              <a:t>  </a:t>
            </a:r>
            <a:r>
              <a:rPr sz="850" i="0">
                <a:solidFill>
                  <a:srgbClr val="82B1FF"/>
                </a:solidFill>
                <a:latin typeface="Inconsolata"/>
              </a:rPr>
              <a:t>replicas</a:t>
            </a:r>
            <a:r>
              <a:rPr sz="850" i="0">
                <a:solidFill>
                  <a:srgbClr val="E6EDF3"/>
                </a:solidFill>
                <a:latin typeface="Inconsolata"/>
              </a:rPr>
              <a:t>: </a:t>
            </a:r>
            <a:r>
              <a:rPr sz="850" i="0">
                <a:solidFill>
                  <a:srgbClr val="F9C97A"/>
                </a:solidFill>
                <a:latin typeface="Inconsolata"/>
              </a:rPr>
              <a:t>1</a:t>
            </a:r>
          </a:p>
          <a:p>
            <a:pPr>
              <a:lnSpc>
                <a:spcPct val="107843"/>
              </a:lnSpc>
              <a:spcAft>
                <a:spcPts val="0"/>
              </a:spcAft>
            </a:pPr>
            <a:r>
              <a:rPr sz="850" i="0">
                <a:solidFill>
                  <a:srgbClr val="5C6773"/>
                </a:solidFill>
                <a:latin typeface="Inconsolata"/>
              </a:rPr>
              <a:t>11  </a:t>
            </a:r>
            <a:r>
              <a:rPr sz="850" i="0">
                <a:solidFill>
                  <a:srgbClr val="E6EDF3"/>
                </a:solidFill>
                <a:latin typeface="Inconsolata"/>
              </a:rPr>
              <a:t>  </a:t>
            </a:r>
            <a:r>
              <a:rPr sz="850" i="0">
                <a:solidFill>
                  <a:srgbClr val="82B1FF"/>
                </a:solidFill>
                <a:latin typeface="Inconsolata"/>
              </a:rPr>
              <a:t>selector</a:t>
            </a:r>
            <a:r>
              <a:rPr sz="850" i="0">
                <a:solidFill>
                  <a:srgbClr val="E6EDF3"/>
                </a:solidFill>
                <a:latin typeface="Inconsolata"/>
              </a:rPr>
              <a:t>:</a:t>
            </a:r>
          </a:p>
          <a:p>
            <a:pPr>
              <a:lnSpc>
                <a:spcPct val="107843"/>
              </a:lnSpc>
              <a:spcAft>
                <a:spcPts val="0"/>
              </a:spcAft>
            </a:pPr>
            <a:r>
              <a:rPr sz="850" i="0">
                <a:solidFill>
                  <a:srgbClr val="5C6773"/>
                </a:solidFill>
                <a:latin typeface="Inconsolata"/>
              </a:rPr>
              <a:t>12  </a:t>
            </a:r>
            <a:r>
              <a:rPr sz="850" i="0">
                <a:solidFill>
                  <a:srgbClr val="E6EDF3"/>
                </a:solidFill>
                <a:latin typeface="Inconsolata"/>
              </a:rPr>
              <a:t>    </a:t>
            </a:r>
            <a:r>
              <a:rPr sz="850" i="0">
                <a:solidFill>
                  <a:srgbClr val="82B1FF"/>
                </a:solidFill>
                <a:latin typeface="Inconsolata"/>
              </a:rPr>
              <a:t>matchLabels</a:t>
            </a:r>
            <a:r>
              <a:rPr sz="850" i="0">
                <a:solidFill>
                  <a:srgbClr val="E6EDF3"/>
                </a:solidFill>
                <a:latin typeface="Inconsolata"/>
              </a:rPr>
              <a:t>:</a:t>
            </a:r>
          </a:p>
          <a:p>
            <a:pPr>
              <a:lnSpc>
                <a:spcPct val="107843"/>
              </a:lnSpc>
              <a:spcAft>
                <a:spcPts val="0"/>
              </a:spcAft>
            </a:pPr>
            <a:r>
              <a:rPr sz="850" i="0">
                <a:solidFill>
                  <a:srgbClr val="5C6773"/>
                </a:solidFill>
                <a:latin typeface="Inconsolata"/>
              </a:rPr>
              <a:t>13  </a:t>
            </a:r>
            <a:r>
              <a:rPr sz="850" i="0">
                <a:solidFill>
                  <a:srgbClr val="E6EDF3"/>
                </a:solidFill>
                <a:latin typeface="Inconsolata"/>
              </a:rPr>
              <a:t>      </a:t>
            </a:r>
            <a:r>
              <a:rPr sz="850" i="0">
                <a:solidFill>
                  <a:srgbClr val="82B1FF"/>
                </a:solidFill>
                <a:latin typeface="Inconsolata"/>
              </a:rPr>
              <a:t>app</a:t>
            </a:r>
            <a:r>
              <a:rPr sz="850" i="0">
                <a:solidFill>
                  <a:srgbClr val="E6EDF3"/>
                </a:solidFill>
                <a:latin typeface="Inconsolata"/>
              </a:rPr>
              <a:t>: order-api</a:t>
            </a:r>
          </a:p>
          <a:p>
            <a:pPr>
              <a:lnSpc>
                <a:spcPct val="107843"/>
              </a:lnSpc>
              <a:spcAft>
                <a:spcPts val="0"/>
              </a:spcAft>
            </a:pPr>
            <a:r>
              <a:rPr sz="850" i="0">
                <a:solidFill>
                  <a:srgbClr val="5C6773"/>
                </a:solidFill>
                <a:latin typeface="Inconsolata"/>
              </a:rPr>
              <a:t>14  </a:t>
            </a:r>
            <a:r>
              <a:rPr sz="850" i="0">
                <a:solidFill>
                  <a:srgbClr val="E6EDF3"/>
                </a:solidFill>
                <a:latin typeface="Inconsolata"/>
              </a:rPr>
              <a:t>  </a:t>
            </a:r>
            <a:r>
              <a:rPr sz="850" i="0">
                <a:solidFill>
                  <a:srgbClr val="82B1FF"/>
                </a:solidFill>
                <a:latin typeface="Inconsolata"/>
              </a:rPr>
              <a:t>template</a:t>
            </a:r>
            <a:r>
              <a:rPr sz="850" i="0">
                <a:solidFill>
                  <a:srgbClr val="E6EDF3"/>
                </a:solidFill>
                <a:latin typeface="Inconsolata"/>
              </a:rPr>
              <a: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Probes</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tanpa probe (2/2)</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72237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06-probes/before/deployment.yaml</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7863840" cy="2980944"/>
          </a:xfrm>
          <a:prstGeom prst="rect">
            <a:avLst/>
          </a:prstGeom>
          <a:noFill/>
        </p:spPr>
        <p:txBody>
          <a:bodyPr wrap="none" lIns="146304" tIns="91440" rIns="146304" bIns="54864">
            <a:spAutoFit/>
          </a:bodyPr>
          <a:lstStyle/>
          <a:p>
            <a:pPr>
              <a:lnSpc>
                <a:spcPct val="107843"/>
              </a:lnSpc>
              <a:spcAft>
                <a:spcPts val="0"/>
              </a:spcAft>
            </a:pPr>
            <a:r>
              <a:rPr sz="850" i="0">
                <a:solidFill>
                  <a:srgbClr val="5C6773"/>
                </a:solidFill>
                <a:latin typeface="Inconsolata"/>
              </a:rPr>
              <a:t>15  </a:t>
            </a:r>
            <a:r>
              <a:rPr sz="850" i="0">
                <a:solidFill>
                  <a:srgbClr val="E6EDF3"/>
                </a:solidFill>
                <a:latin typeface="Inconsolata"/>
              </a:rPr>
              <a:t>    </a:t>
            </a:r>
            <a:r>
              <a:rPr sz="850" i="0">
                <a:solidFill>
                  <a:srgbClr val="82B1FF"/>
                </a:solidFill>
                <a:latin typeface="Inconsolata"/>
              </a:rPr>
              <a:t>metadata</a:t>
            </a:r>
            <a:r>
              <a:rPr sz="850" i="0">
                <a:solidFill>
                  <a:srgbClr val="E6EDF3"/>
                </a:solidFill>
                <a:latin typeface="Inconsolata"/>
              </a:rPr>
              <a:t>:</a:t>
            </a:r>
          </a:p>
          <a:p>
            <a:pPr>
              <a:lnSpc>
                <a:spcPct val="107843"/>
              </a:lnSpc>
              <a:spcAft>
                <a:spcPts val="0"/>
              </a:spcAft>
            </a:pPr>
            <a:r>
              <a:rPr sz="850" i="0">
                <a:solidFill>
                  <a:srgbClr val="5C6773"/>
                </a:solidFill>
                <a:latin typeface="Inconsolata"/>
              </a:rPr>
              <a:t>16  </a:t>
            </a:r>
            <a:r>
              <a:rPr sz="850" i="0">
                <a:solidFill>
                  <a:srgbClr val="E6EDF3"/>
                </a:solidFill>
                <a:latin typeface="Inconsolata"/>
              </a:rPr>
              <a:t>      </a:t>
            </a:r>
            <a:r>
              <a:rPr sz="850" i="0">
                <a:solidFill>
                  <a:srgbClr val="82B1FF"/>
                </a:solidFill>
                <a:latin typeface="Inconsolata"/>
              </a:rPr>
              <a:t>labels</a:t>
            </a:r>
            <a:r>
              <a:rPr sz="850" i="0">
                <a:solidFill>
                  <a:srgbClr val="E6EDF3"/>
                </a:solidFill>
                <a:latin typeface="Inconsolata"/>
              </a:rPr>
              <a:t>:</a:t>
            </a:r>
          </a:p>
          <a:p>
            <a:pPr>
              <a:lnSpc>
                <a:spcPct val="107843"/>
              </a:lnSpc>
              <a:spcAft>
                <a:spcPts val="0"/>
              </a:spcAft>
            </a:pPr>
            <a:r>
              <a:rPr sz="850" i="0">
                <a:solidFill>
                  <a:srgbClr val="5C6773"/>
                </a:solidFill>
                <a:latin typeface="Inconsolata"/>
              </a:rPr>
              <a:t>17  </a:t>
            </a:r>
            <a:r>
              <a:rPr sz="850" i="0">
                <a:solidFill>
                  <a:srgbClr val="E6EDF3"/>
                </a:solidFill>
                <a:latin typeface="Inconsolata"/>
              </a:rPr>
              <a:t>        </a:t>
            </a:r>
            <a:r>
              <a:rPr sz="850" i="0">
                <a:solidFill>
                  <a:srgbClr val="82B1FF"/>
                </a:solidFill>
                <a:latin typeface="Inconsolata"/>
              </a:rPr>
              <a:t>app</a:t>
            </a:r>
            <a:r>
              <a:rPr sz="850" i="0">
                <a:solidFill>
                  <a:srgbClr val="E6EDF3"/>
                </a:solidFill>
                <a:latin typeface="Inconsolata"/>
              </a:rPr>
              <a:t>: order-api</a:t>
            </a:r>
          </a:p>
          <a:p>
            <a:pPr>
              <a:lnSpc>
                <a:spcPct val="107843"/>
              </a:lnSpc>
              <a:spcAft>
                <a:spcPts val="0"/>
              </a:spcAft>
            </a:pPr>
            <a:r>
              <a:rPr sz="850" i="0">
                <a:solidFill>
                  <a:srgbClr val="5C6773"/>
                </a:solidFill>
                <a:latin typeface="Inconsolata"/>
              </a:rPr>
              <a:t>18  </a:t>
            </a:r>
            <a:r>
              <a:rPr sz="850" i="0">
                <a:solidFill>
                  <a:srgbClr val="E6EDF3"/>
                </a:solidFill>
                <a:latin typeface="Inconsolata"/>
              </a:rPr>
              <a:t>    </a:t>
            </a:r>
            <a:r>
              <a:rPr sz="850" i="0">
                <a:solidFill>
                  <a:srgbClr val="82B1FF"/>
                </a:solidFill>
                <a:latin typeface="Inconsolata"/>
              </a:rPr>
              <a:t>spec</a:t>
            </a:r>
            <a:r>
              <a:rPr sz="850" i="0">
                <a:solidFill>
                  <a:srgbClr val="E6EDF3"/>
                </a:solidFill>
                <a:latin typeface="Inconsolata"/>
              </a:rPr>
              <a:t>:</a:t>
            </a:r>
          </a:p>
          <a:p>
            <a:pPr>
              <a:lnSpc>
                <a:spcPct val="107843"/>
              </a:lnSpc>
              <a:spcAft>
                <a:spcPts val="0"/>
              </a:spcAft>
            </a:pPr>
            <a:r>
              <a:rPr sz="850" i="0">
                <a:solidFill>
                  <a:srgbClr val="5C6773"/>
                </a:solidFill>
                <a:latin typeface="Inconsolata"/>
              </a:rPr>
              <a:t>19  </a:t>
            </a:r>
            <a:r>
              <a:rPr sz="850" i="0">
                <a:solidFill>
                  <a:srgbClr val="E6EDF3"/>
                </a:solidFill>
                <a:latin typeface="Inconsolata"/>
              </a:rPr>
              <a:t>      </a:t>
            </a:r>
            <a:r>
              <a:rPr sz="850" i="0">
                <a:solidFill>
                  <a:srgbClr val="82B1FF"/>
                </a:solidFill>
                <a:latin typeface="Inconsolata"/>
              </a:rPr>
              <a:t>containers</a:t>
            </a:r>
            <a:r>
              <a:rPr sz="850" i="0">
                <a:solidFill>
                  <a:srgbClr val="E6EDF3"/>
                </a:solidFill>
                <a:latin typeface="Inconsolata"/>
              </a:rPr>
              <a:t>:</a:t>
            </a:r>
          </a:p>
          <a:p>
            <a:pPr>
              <a:lnSpc>
                <a:spcPct val="107843"/>
              </a:lnSpc>
              <a:spcAft>
                <a:spcPts val="0"/>
              </a:spcAft>
            </a:pPr>
            <a:r>
              <a:rPr sz="850" i="0">
                <a:solidFill>
                  <a:srgbClr val="5C6773"/>
                </a:solidFill>
                <a:latin typeface="Inconsolata"/>
              </a:rPr>
              <a:t>20  </a:t>
            </a:r>
            <a:r>
              <a:rPr sz="850" i="0">
                <a:solidFill>
                  <a:srgbClr val="E6EDF3"/>
                </a:solidFill>
                <a:latin typeface="Inconsolata"/>
              </a:rPr>
              <a:t>        - </a:t>
            </a:r>
            <a:r>
              <a:rPr sz="850" i="0">
                <a:solidFill>
                  <a:srgbClr val="82B1FF"/>
                </a:solidFill>
                <a:latin typeface="Inconsolata"/>
              </a:rPr>
              <a:t>name</a:t>
            </a:r>
            <a:r>
              <a:rPr sz="850" i="0">
                <a:solidFill>
                  <a:srgbClr val="E6EDF3"/>
                </a:solidFill>
                <a:latin typeface="Inconsolata"/>
              </a:rPr>
              <a:t>: api</a:t>
            </a:r>
          </a:p>
          <a:p>
            <a:pPr>
              <a:lnSpc>
                <a:spcPct val="107843"/>
              </a:lnSpc>
              <a:spcAft>
                <a:spcPts val="0"/>
              </a:spcAft>
            </a:pPr>
            <a:r>
              <a:rPr sz="850" i="0">
                <a:solidFill>
                  <a:srgbClr val="5C6773"/>
                </a:solidFill>
                <a:latin typeface="Inconsolata"/>
              </a:rPr>
              <a:t>21  </a:t>
            </a:r>
            <a:r>
              <a:rPr sz="850" i="0">
                <a:solidFill>
                  <a:srgbClr val="E6EDF3"/>
                </a:solidFill>
                <a:latin typeface="Inconsolata"/>
              </a:rPr>
              <a:t>          </a:t>
            </a:r>
            <a:r>
              <a:rPr sz="850" i="0">
                <a:solidFill>
                  <a:srgbClr val="82B1FF"/>
                </a:solidFill>
                <a:latin typeface="Inconsolata"/>
              </a:rPr>
              <a:t>image</a:t>
            </a:r>
            <a:r>
              <a:rPr sz="850" i="0">
                <a:solidFill>
                  <a:srgbClr val="E6EDF3"/>
                </a:solidFill>
                <a:latin typeface="Inconsolata"/>
              </a:rPr>
              <a:t>: k8s-demo:1.0</a:t>
            </a:r>
          </a:p>
          <a:p>
            <a:pPr>
              <a:lnSpc>
                <a:spcPct val="107843"/>
              </a:lnSpc>
              <a:spcAft>
                <a:spcPts val="0"/>
              </a:spcAft>
            </a:pPr>
            <a:r>
              <a:rPr sz="850" i="0">
                <a:solidFill>
                  <a:srgbClr val="5C6773"/>
                </a:solidFill>
                <a:latin typeface="Inconsolata"/>
              </a:rPr>
              <a:t>22  </a:t>
            </a:r>
            <a:r>
              <a:rPr sz="850" i="0">
                <a:solidFill>
                  <a:srgbClr val="E6EDF3"/>
                </a:solidFill>
                <a:latin typeface="Inconsolata"/>
              </a:rPr>
              <a:t>          </a:t>
            </a:r>
            <a:r>
              <a:rPr sz="850" i="0">
                <a:solidFill>
                  <a:srgbClr val="82B1FF"/>
                </a:solidFill>
                <a:latin typeface="Inconsolata"/>
              </a:rPr>
              <a:t>imagePullPolicy</a:t>
            </a:r>
            <a:r>
              <a:rPr sz="850" i="0">
                <a:solidFill>
                  <a:srgbClr val="E6EDF3"/>
                </a:solidFill>
                <a:latin typeface="Inconsolata"/>
              </a:rPr>
              <a:t>: IfNotPresent</a:t>
            </a:r>
          </a:p>
          <a:p>
            <a:pPr>
              <a:lnSpc>
                <a:spcPct val="107843"/>
              </a:lnSpc>
              <a:spcAft>
                <a:spcPts val="0"/>
              </a:spcAft>
            </a:pPr>
            <a:r>
              <a:rPr sz="850" i="0">
                <a:solidFill>
                  <a:srgbClr val="5C6773"/>
                </a:solidFill>
                <a:latin typeface="Inconsolata"/>
              </a:rPr>
              <a:t>23  </a:t>
            </a:r>
            <a:r>
              <a:rPr sz="850" i="0">
                <a:solidFill>
                  <a:srgbClr val="E6EDF3"/>
                </a:solidFill>
                <a:latin typeface="Inconsolata"/>
              </a:rPr>
              <a:t>          </a:t>
            </a:r>
            <a:r>
              <a:rPr sz="850" i="0">
                <a:solidFill>
                  <a:srgbClr val="82B1FF"/>
                </a:solidFill>
                <a:latin typeface="Inconsolata"/>
              </a:rPr>
              <a:t>env</a:t>
            </a:r>
            <a:r>
              <a:rPr sz="850" i="0">
                <a:solidFill>
                  <a:srgbClr val="E6EDF3"/>
                </a:solidFill>
                <a:latin typeface="Inconsolata"/>
              </a:rPr>
              <a:t>:</a:t>
            </a:r>
          </a:p>
          <a:p>
            <a:pPr>
              <a:lnSpc>
                <a:spcPct val="107843"/>
              </a:lnSpc>
              <a:spcAft>
                <a:spcPts val="0"/>
              </a:spcAft>
            </a:pPr>
            <a:r>
              <a:rPr sz="850" i="0">
                <a:solidFill>
                  <a:srgbClr val="5C6773"/>
                </a:solidFill>
                <a:latin typeface="Inconsolata"/>
              </a:rPr>
              <a:t>24  </a:t>
            </a:r>
            <a:r>
              <a:rPr sz="850" i="0">
                <a:solidFill>
                  <a:srgbClr val="E6EDF3"/>
                </a:solidFill>
                <a:latin typeface="Inconsolata"/>
              </a:rPr>
              <a:t>            - </a:t>
            </a:r>
            <a:r>
              <a:rPr sz="850" i="0">
                <a:solidFill>
                  <a:srgbClr val="82B1FF"/>
                </a:solidFill>
                <a:latin typeface="Inconsolata"/>
              </a:rPr>
              <a:t>name</a:t>
            </a:r>
            <a:r>
              <a:rPr sz="850" i="0">
                <a:solidFill>
                  <a:srgbClr val="E6EDF3"/>
                </a:solidFill>
                <a:latin typeface="Inconsolata"/>
              </a:rPr>
              <a:t>: STARTUP_SECONDS</a:t>
            </a:r>
          </a:p>
          <a:p>
            <a:pPr>
              <a:lnSpc>
                <a:spcPct val="107843"/>
              </a:lnSpc>
              <a:spcAft>
                <a:spcPts val="0"/>
              </a:spcAft>
            </a:pPr>
            <a:r>
              <a:rPr sz="850" i="0">
                <a:solidFill>
                  <a:srgbClr val="5C6773"/>
                </a:solidFill>
                <a:latin typeface="Inconsolata"/>
              </a:rPr>
              <a:t>25  </a:t>
            </a:r>
            <a:r>
              <a:rPr sz="850" i="0">
                <a:solidFill>
                  <a:srgbClr val="E6EDF3"/>
                </a:solidFill>
                <a:latin typeface="Inconsolata"/>
              </a:rPr>
              <a:t>              </a:t>
            </a:r>
            <a:r>
              <a:rPr sz="850" i="0">
                <a:solidFill>
                  <a:srgbClr val="82B1FF"/>
                </a:solidFill>
                <a:latin typeface="Inconsolata"/>
              </a:rPr>
              <a:t>value</a:t>
            </a:r>
            <a:r>
              <a:rPr sz="850" i="0">
                <a:solidFill>
                  <a:srgbClr val="E6EDF3"/>
                </a:solidFill>
                <a:latin typeface="Inconsolata"/>
              </a:rPr>
              <a:t>: </a:t>
            </a:r>
            <a:r>
              <a:rPr sz="850" i="0">
                <a:solidFill>
                  <a:srgbClr val="A5D6A7"/>
                </a:solidFill>
                <a:latin typeface="Inconsolata"/>
              </a:rPr>
              <a:t>"20"</a:t>
            </a:r>
          </a:p>
          <a:p>
            <a:pPr>
              <a:lnSpc>
                <a:spcPct val="107843"/>
              </a:lnSpc>
              <a:spcAft>
                <a:spcPts val="0"/>
              </a:spcAft>
            </a:pPr>
            <a:r>
              <a:rPr sz="850" i="0">
                <a:solidFill>
                  <a:srgbClr val="5C6773"/>
                </a:solidFill>
                <a:latin typeface="Inconsolata"/>
              </a:rPr>
              <a:t>26  </a:t>
            </a:r>
            <a:r>
              <a:rPr sz="850" i="0">
                <a:solidFill>
                  <a:srgbClr val="E6EDF3"/>
                </a:solidFill>
                <a:latin typeface="Inconsolata"/>
              </a:rPr>
              <a:t>            - </a:t>
            </a:r>
            <a:r>
              <a:rPr sz="850" i="0">
                <a:solidFill>
                  <a:srgbClr val="82B1FF"/>
                </a:solidFill>
                <a:latin typeface="Inconsolata"/>
              </a:rPr>
              <a:t>name</a:t>
            </a:r>
            <a:r>
              <a:rPr sz="850" i="0">
                <a:solidFill>
                  <a:srgbClr val="E6EDF3"/>
                </a:solidFill>
                <a:latin typeface="Inconsolata"/>
              </a:rPr>
              <a:t>: BREAK_AFTER</a:t>
            </a:r>
          </a:p>
          <a:p>
            <a:pPr>
              <a:lnSpc>
                <a:spcPct val="107843"/>
              </a:lnSpc>
              <a:spcAft>
                <a:spcPts val="0"/>
              </a:spcAft>
            </a:pPr>
            <a:r>
              <a:rPr sz="850" i="0">
                <a:solidFill>
                  <a:srgbClr val="5C6773"/>
                </a:solidFill>
                <a:latin typeface="Inconsolata"/>
              </a:rPr>
              <a:t>27  </a:t>
            </a:r>
            <a:r>
              <a:rPr sz="850" i="0">
                <a:solidFill>
                  <a:srgbClr val="E6EDF3"/>
                </a:solidFill>
                <a:latin typeface="Inconsolata"/>
              </a:rPr>
              <a:t>              </a:t>
            </a:r>
            <a:r>
              <a:rPr sz="850" i="0">
                <a:solidFill>
                  <a:srgbClr val="82B1FF"/>
                </a:solidFill>
                <a:latin typeface="Inconsolata"/>
              </a:rPr>
              <a:t>value</a:t>
            </a:r>
            <a:r>
              <a:rPr sz="850" i="0">
                <a:solidFill>
                  <a:srgbClr val="E6EDF3"/>
                </a:solidFill>
                <a:latin typeface="Inconsolata"/>
              </a:rPr>
              <a:t>: </a:t>
            </a:r>
            <a:r>
              <a:rPr sz="850" i="0">
                <a:solidFill>
                  <a:srgbClr val="A5D6A7"/>
                </a:solidFill>
                <a:latin typeface="Inconsolata"/>
              </a:rPr>
              <a:t>"45"</a:t>
            </a:r>
          </a:p>
        </p:txBody>
      </p:sp>
      <p:sp>
        <p:nvSpPr>
          <p:cNvPr id="29" name="Box 12"/>
          <p:cNvSpPr/>
          <p:nvPr/>
        </p:nvSpPr>
        <p:spPr>
          <a:xfrm>
            <a:off x="704088" y="3085973"/>
            <a:ext cx="7699248" cy="550418"/>
          </a:xfrm>
          <a:prstGeom prst="roundRect">
            <a:avLst>
              <a:gd name="adj" fmla="val 8306"/>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8284463" y="324231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Probes</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06-probes/before/</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sesi-11-docker-kubernetes-cicd/06-probes</a:t>
            </a:r>
          </a:p>
          <a:p>
            <a:pPr>
              <a:lnSpc>
                <a:spcPct val="111111"/>
              </a:lnSpc>
              <a:spcAft>
                <a:spcPts val="0"/>
              </a:spcAft>
            </a:pPr>
            <a:r>
              <a:rPr sz="900" i="0">
                <a:solidFill>
                  <a:srgbClr val="82B1FF"/>
                </a:solidFill>
                <a:latin typeface="Inconsolata"/>
              </a:rPr>
              <a:t>$ kubectl apply -f before/</a:t>
            </a:r>
          </a:p>
        </p:txBody>
      </p:sp>
      <p:pic>
        <p:nvPicPr>
          <p:cNvPr id="29" name="Image 12" descr="s11-06-probes-before.png"/>
          <p:cNvPicPr>
            <a:picLocks noChangeAspect="1"/>
          </p:cNvPicPr>
          <p:nvPr/>
        </p:nvPicPr>
        <p:blipFill>
          <a:blip r:embed="rId2"/>
          <a:stretch>
            <a:fillRect/>
          </a:stretch>
        </p:blipFill>
        <p:spPr>
          <a:xfrm>
            <a:off x="621792" y="2322576"/>
            <a:ext cx="4297680" cy="1820859"/>
          </a:xfrm>
          <a:prstGeom prst="rect">
            <a:avLst/>
          </a:prstGeom>
        </p:spPr>
      </p:pic>
      <p:sp>
        <p:nvSpPr>
          <p:cNvPr id="30" name="Box 13"/>
          <p:cNvSpPr/>
          <p:nvPr/>
        </p:nvSpPr>
        <p:spPr>
          <a:xfrm>
            <a:off x="5074920" y="1481328"/>
            <a:ext cx="3410712" cy="3218688"/>
          </a:xfrm>
          <a:prstGeom prst="roundRect">
            <a:avLst>
              <a:gd name="adj" fmla="val 3409"/>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C0392B"/>
                </a:solidFill>
                <a:latin typeface="Inter"/>
              </a:rPr>
              <a:t>Masalahnya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Aplikasi demo baru siap setelah 20 detik, lalu macet setelah 45 detik (baris 24-27)</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Tidak ada </a:t>
            </a:r>
            <a:r>
              <a:rPr sz="950" b="0" i="0">
                <a:solidFill>
                  <a:srgbClr val="B5482A"/>
                </a:solidFill>
                <a:latin typeface="Inconsolata"/>
              </a:rPr>
              <a:t>readinessProbe</a:t>
            </a:r>
            <a:r>
              <a:rPr sz="950" b="0" i="0">
                <a:solidFill>
                  <a:srgbClr val="434343"/>
                </a:solidFill>
                <a:latin typeface="Inter"/>
              </a:rPr>
              <a:t> maupun </a:t>
            </a:r>
            <a:r>
              <a:rPr sz="950" b="0" i="0">
                <a:solidFill>
                  <a:srgbClr val="B5482A"/>
                </a:solidFill>
                <a:latin typeface="Inconsolata"/>
              </a:rPr>
              <a:t>livenessProbe</a:t>
            </a:r>
          </a:p>
          <a:p>
            <a:pPr algn="l">
              <a:lnSpc>
                <a:spcPct val="115000"/>
              </a:lnSpc>
              <a:spcAft>
                <a:spcPts val="0"/>
              </a:spcAft>
            </a:pPr>
            <a:endParaRPr sz="950" b="0" i="0">
              <a:solidFill>
                <a:srgbClr val="B5482A"/>
              </a:solidFill>
              <a:latin typeface="Inconsolata"/>
            </a:endParaRPr>
          </a:p>
          <a:p>
            <a:pPr algn="l">
              <a:lnSpc>
                <a:spcPct val="115000"/>
              </a:lnSpc>
              <a:spcAft>
                <a:spcPts val="400"/>
              </a:spcAft>
            </a:pPr>
            <a:r>
              <a:rPr sz="950" b="0" i="0">
                <a:solidFill>
                  <a:srgbClr val="434343"/>
                </a:solidFill>
                <a:latin typeface="Inter"/>
              </a:rPr>
              <a:t>6 detik: </a:t>
            </a:r>
            <a:r>
              <a:rPr sz="950" b="0" i="0">
                <a:solidFill>
                  <a:srgbClr val="B5482A"/>
                </a:solidFill>
                <a:latin typeface="Inconsolata"/>
              </a:rPr>
              <a:t>1/1 Ready</a:t>
            </a:r>
            <a:r>
              <a:rPr sz="950" b="0" i="0">
                <a:solidFill>
                  <a:srgbClr val="434343"/>
                </a:solidFill>
                <a:latin typeface="Inter"/>
              </a:rPr>
              <a:t> padahal </a:t>
            </a:r>
            <a:r>
              <a:rPr sz="950" b="0" i="0">
                <a:solidFill>
                  <a:srgbClr val="B5482A"/>
                </a:solidFill>
                <a:latin typeface="Inconsolata"/>
              </a:rPr>
              <a:t>/health/ready</a:t>
            </a:r>
            <a:r>
              <a:rPr sz="950" b="0" i="0">
                <a:solidFill>
                  <a:srgbClr val="434343"/>
                </a:solidFill>
                <a:latin typeface="Inter"/>
              </a:rPr>
              <a:t> 503. 60 detik: macet, </a:t>
            </a:r>
            <a:r>
              <a:rPr sz="950" b="0" i="0">
                <a:solidFill>
                  <a:srgbClr val="B5482A"/>
                </a:solidFill>
                <a:latin typeface="Inconsolata"/>
              </a:rPr>
              <a:t>RESTARTS 0</a:t>
            </a:r>
            <a:r>
              <a:rPr sz="950" b="0" i="0">
                <a:solidFill>
                  <a:srgbClr val="434343"/>
                </a:solidFill>
                <a:latin typeface="Inter"/>
              </a:rPr>
              <a: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Probes</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readiness, liveness, dan resources (1/2)</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72237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06-probes/after/deployment.yaml</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7863840" cy="2980944"/>
          </a:xfrm>
          <a:prstGeom prst="rect">
            <a:avLst/>
          </a:prstGeom>
          <a:noFill/>
        </p:spPr>
        <p:txBody>
          <a:bodyPr wrap="none" lIns="146304" tIns="91440" rIns="146304" bIns="54864">
            <a:spAutoFit/>
          </a:bodyPr>
          <a:lstStyle/>
          <a:p>
            <a:pPr>
              <a:lnSpc>
                <a:spcPct val="107527"/>
              </a:lnSpc>
              <a:spcAft>
                <a:spcPts val="0"/>
              </a:spcAft>
            </a:pPr>
            <a:r>
              <a:rPr sz="775" i="0">
                <a:solidFill>
                  <a:srgbClr val="5C6773"/>
                </a:solidFill>
                <a:latin typeface="Inconsolata"/>
              </a:rPr>
              <a:t> 1  </a:t>
            </a:r>
            <a:r>
              <a:rPr sz="775" i="1">
                <a:solidFill>
                  <a:srgbClr val="8B98A8"/>
                </a:solidFill>
                <a:latin typeface="Inconsolata"/>
              </a:rPr>
              <a:t># Probes - AFTER (memakai endpoint health check dari Sesi 9)</a:t>
            </a:r>
          </a:p>
          <a:p>
            <a:pPr>
              <a:lnSpc>
                <a:spcPct val="107527"/>
              </a:lnSpc>
              <a:spcAft>
                <a:spcPts val="0"/>
              </a:spcAft>
            </a:pPr>
            <a:r>
              <a:rPr sz="775" i="0">
                <a:solidFill>
                  <a:srgbClr val="5C6773"/>
                </a:solidFill>
                <a:latin typeface="Inconsolata"/>
              </a:rPr>
              <a:t> 2  </a:t>
            </a:r>
            <a:r>
              <a:rPr sz="775" i="1">
                <a:solidFill>
                  <a:srgbClr val="8B98A8"/>
                </a:solidFill>
                <a:latin typeface="Inconsolata"/>
              </a:rPr>
              <a:t># - readinessProbe: gagal = pod dikeluarkan dari Service (tidak menerima traffic), TANPA restart</a:t>
            </a:r>
          </a:p>
          <a:p>
            <a:pPr>
              <a:lnSpc>
                <a:spcPct val="107527"/>
              </a:lnSpc>
              <a:spcAft>
                <a:spcPts val="0"/>
              </a:spcAft>
            </a:pPr>
            <a:r>
              <a:rPr sz="775" i="0">
                <a:solidFill>
                  <a:srgbClr val="5C6773"/>
                </a:solidFill>
                <a:latin typeface="Inconsolata"/>
              </a:rPr>
              <a:t> 3  </a:t>
            </a:r>
            <a:r>
              <a:rPr sz="775" i="1">
                <a:solidFill>
                  <a:srgbClr val="8B98A8"/>
                </a:solidFill>
                <a:latin typeface="Inconsolata"/>
              </a:rPr>
              <a:t># - livenessProbe : gagal beberapa kali berturut-turut = container di-restart</a:t>
            </a:r>
          </a:p>
          <a:p>
            <a:pPr>
              <a:lnSpc>
                <a:spcPct val="107527"/>
              </a:lnSpc>
              <a:spcAft>
                <a:spcPts val="0"/>
              </a:spcAft>
            </a:pPr>
            <a:r>
              <a:rPr sz="775" i="0">
                <a:solidFill>
                  <a:srgbClr val="5C6773"/>
                </a:solidFill>
                <a:latin typeface="Inconsolata"/>
              </a:rPr>
              <a:t> 4  </a:t>
            </a:r>
            <a:r>
              <a:rPr sz="775" i="1">
                <a:solidFill>
                  <a:srgbClr val="8B98A8"/>
                </a:solidFill>
                <a:latin typeface="Inconsolata"/>
              </a:rPr>
              <a:t># resources: batas CPU dan memori, supaya satu pod tidak menghabiskan resource node</a:t>
            </a:r>
          </a:p>
          <a:p>
            <a:pPr>
              <a:lnSpc>
                <a:spcPct val="107527"/>
              </a:lnSpc>
              <a:spcAft>
                <a:spcPts val="0"/>
              </a:spcAft>
            </a:pPr>
            <a:r>
              <a:rPr sz="775" i="0">
                <a:solidFill>
                  <a:srgbClr val="5C6773"/>
                </a:solidFill>
                <a:latin typeface="Inconsolata"/>
              </a:rPr>
              <a:t> 5  </a:t>
            </a:r>
            <a:r>
              <a:rPr sz="775" i="0">
                <a:solidFill>
                  <a:srgbClr val="82B1FF"/>
                </a:solidFill>
                <a:latin typeface="Inconsolata"/>
              </a:rPr>
              <a:t>apiVersion</a:t>
            </a:r>
            <a:r>
              <a:rPr sz="775" i="0">
                <a:solidFill>
                  <a:srgbClr val="E6EDF3"/>
                </a:solidFill>
                <a:latin typeface="Inconsolata"/>
              </a:rPr>
              <a:t>: apps/v1</a:t>
            </a:r>
          </a:p>
          <a:p>
            <a:pPr>
              <a:lnSpc>
                <a:spcPct val="107527"/>
              </a:lnSpc>
              <a:spcAft>
                <a:spcPts val="0"/>
              </a:spcAft>
            </a:pPr>
            <a:r>
              <a:rPr sz="775" i="0">
                <a:solidFill>
                  <a:srgbClr val="5C6773"/>
                </a:solidFill>
                <a:latin typeface="Inconsolata"/>
              </a:rPr>
              <a:t> 6  </a:t>
            </a:r>
            <a:r>
              <a:rPr sz="775" i="0">
                <a:solidFill>
                  <a:srgbClr val="82B1FF"/>
                </a:solidFill>
                <a:latin typeface="Inconsolata"/>
              </a:rPr>
              <a:t>kind</a:t>
            </a:r>
            <a:r>
              <a:rPr sz="775" i="0">
                <a:solidFill>
                  <a:srgbClr val="E6EDF3"/>
                </a:solidFill>
                <a:latin typeface="Inconsolata"/>
              </a:rPr>
              <a:t>: Deployment</a:t>
            </a:r>
          </a:p>
          <a:p>
            <a:pPr>
              <a:lnSpc>
                <a:spcPct val="107527"/>
              </a:lnSpc>
              <a:spcAft>
                <a:spcPts val="0"/>
              </a:spcAft>
            </a:pPr>
            <a:r>
              <a:rPr sz="775" i="0">
                <a:solidFill>
                  <a:srgbClr val="5C6773"/>
                </a:solidFill>
                <a:latin typeface="Inconsolata"/>
              </a:rPr>
              <a:t> 7  </a:t>
            </a:r>
            <a:r>
              <a:rPr sz="775" i="0">
                <a:solidFill>
                  <a:srgbClr val="82B1FF"/>
                </a:solidFill>
                <a:latin typeface="Inconsolata"/>
              </a:rPr>
              <a:t>metadata</a:t>
            </a:r>
            <a:r>
              <a:rPr sz="775" i="0">
                <a:solidFill>
                  <a:srgbClr val="E6EDF3"/>
                </a:solidFill>
                <a:latin typeface="Inconsolata"/>
              </a:rPr>
              <a:t>:</a:t>
            </a:r>
          </a:p>
          <a:p>
            <a:pPr>
              <a:lnSpc>
                <a:spcPct val="107527"/>
              </a:lnSpc>
              <a:spcAft>
                <a:spcPts val="0"/>
              </a:spcAft>
            </a:pPr>
            <a:r>
              <a:rPr sz="775" i="0">
                <a:solidFill>
                  <a:srgbClr val="5C6773"/>
                </a:solidFill>
                <a:latin typeface="Inconsolata"/>
              </a:rPr>
              <a:t> 8  </a:t>
            </a:r>
            <a:r>
              <a:rPr sz="775" i="0">
                <a:solidFill>
                  <a:srgbClr val="E6EDF3"/>
                </a:solidFill>
                <a:latin typeface="Inconsolata"/>
              </a:rPr>
              <a:t>  </a:t>
            </a:r>
            <a:r>
              <a:rPr sz="775" i="0">
                <a:solidFill>
                  <a:srgbClr val="82B1FF"/>
                </a:solidFill>
                <a:latin typeface="Inconsolata"/>
              </a:rPr>
              <a:t>name</a:t>
            </a:r>
            <a:r>
              <a:rPr sz="775" i="0">
                <a:solidFill>
                  <a:srgbClr val="E6EDF3"/>
                </a:solidFill>
                <a:latin typeface="Inconsolata"/>
              </a:rPr>
              <a:t>: order-api</a:t>
            </a:r>
          </a:p>
          <a:p>
            <a:pPr>
              <a:lnSpc>
                <a:spcPct val="107527"/>
              </a:lnSpc>
              <a:spcAft>
                <a:spcPts val="0"/>
              </a:spcAft>
            </a:pPr>
            <a:r>
              <a:rPr sz="775" i="0">
                <a:solidFill>
                  <a:srgbClr val="5C6773"/>
                </a:solidFill>
                <a:latin typeface="Inconsolata"/>
              </a:rPr>
              <a:t> 9  </a:t>
            </a:r>
            <a:r>
              <a:rPr sz="775" i="0">
                <a:solidFill>
                  <a:srgbClr val="82B1FF"/>
                </a:solidFill>
                <a:latin typeface="Inconsolata"/>
              </a:rPr>
              <a:t>spec</a:t>
            </a:r>
            <a:r>
              <a:rPr sz="775" i="0">
                <a:solidFill>
                  <a:srgbClr val="E6EDF3"/>
                </a:solidFill>
                <a:latin typeface="Inconsolata"/>
              </a:rPr>
              <a:t>:</a:t>
            </a:r>
          </a:p>
          <a:p>
            <a:pPr>
              <a:lnSpc>
                <a:spcPct val="107527"/>
              </a:lnSpc>
              <a:spcAft>
                <a:spcPts val="0"/>
              </a:spcAft>
            </a:pPr>
            <a:r>
              <a:rPr sz="775" i="0">
                <a:solidFill>
                  <a:srgbClr val="5C6773"/>
                </a:solidFill>
                <a:latin typeface="Inconsolata"/>
              </a:rPr>
              <a:t>10  </a:t>
            </a:r>
            <a:r>
              <a:rPr sz="775" i="0">
                <a:solidFill>
                  <a:srgbClr val="E6EDF3"/>
                </a:solidFill>
                <a:latin typeface="Inconsolata"/>
              </a:rPr>
              <a:t>  </a:t>
            </a:r>
            <a:r>
              <a:rPr sz="775" i="0">
                <a:solidFill>
                  <a:srgbClr val="82B1FF"/>
                </a:solidFill>
                <a:latin typeface="Inconsolata"/>
              </a:rPr>
              <a:t>replicas</a:t>
            </a:r>
            <a:r>
              <a:rPr sz="775" i="0">
                <a:solidFill>
                  <a:srgbClr val="E6EDF3"/>
                </a:solidFill>
                <a:latin typeface="Inconsolata"/>
              </a:rPr>
              <a:t>: </a:t>
            </a:r>
            <a:r>
              <a:rPr sz="775" i="0">
                <a:solidFill>
                  <a:srgbClr val="F9C97A"/>
                </a:solidFill>
                <a:latin typeface="Inconsolata"/>
              </a:rPr>
              <a:t>1</a:t>
            </a:r>
          </a:p>
          <a:p>
            <a:pPr>
              <a:lnSpc>
                <a:spcPct val="107527"/>
              </a:lnSpc>
              <a:spcAft>
                <a:spcPts val="0"/>
              </a:spcAft>
            </a:pPr>
            <a:r>
              <a:rPr sz="775" i="0">
                <a:solidFill>
                  <a:srgbClr val="5C6773"/>
                </a:solidFill>
                <a:latin typeface="Inconsolata"/>
              </a:rPr>
              <a:t>11  </a:t>
            </a:r>
            <a:r>
              <a:rPr sz="775" i="0">
                <a:solidFill>
                  <a:srgbClr val="E6EDF3"/>
                </a:solidFill>
                <a:latin typeface="Inconsolata"/>
              </a:rPr>
              <a:t>  </a:t>
            </a:r>
            <a:r>
              <a:rPr sz="775" i="0">
                <a:solidFill>
                  <a:srgbClr val="82B1FF"/>
                </a:solidFill>
                <a:latin typeface="Inconsolata"/>
              </a:rPr>
              <a:t>selector</a:t>
            </a:r>
            <a:r>
              <a:rPr sz="775" i="0">
                <a:solidFill>
                  <a:srgbClr val="E6EDF3"/>
                </a:solidFill>
                <a:latin typeface="Inconsolata"/>
              </a:rPr>
              <a:t>:</a:t>
            </a:r>
          </a:p>
          <a:p>
            <a:pPr>
              <a:lnSpc>
                <a:spcPct val="107527"/>
              </a:lnSpc>
              <a:spcAft>
                <a:spcPts val="0"/>
              </a:spcAft>
            </a:pPr>
            <a:r>
              <a:rPr sz="775" i="0">
                <a:solidFill>
                  <a:srgbClr val="5C6773"/>
                </a:solidFill>
                <a:latin typeface="Inconsolata"/>
              </a:rPr>
              <a:t>12  </a:t>
            </a:r>
            <a:r>
              <a:rPr sz="775" i="0">
                <a:solidFill>
                  <a:srgbClr val="E6EDF3"/>
                </a:solidFill>
                <a:latin typeface="Inconsolata"/>
              </a:rPr>
              <a:t>    </a:t>
            </a:r>
            <a:r>
              <a:rPr sz="775" i="0">
                <a:solidFill>
                  <a:srgbClr val="82B1FF"/>
                </a:solidFill>
                <a:latin typeface="Inconsolata"/>
              </a:rPr>
              <a:t>matchLabels</a:t>
            </a:r>
            <a:r>
              <a:rPr sz="775" i="0">
                <a:solidFill>
                  <a:srgbClr val="E6EDF3"/>
                </a:solidFill>
                <a:latin typeface="Inconsolata"/>
              </a:rPr>
              <a:t>:</a:t>
            </a:r>
          </a:p>
          <a:p>
            <a:pPr>
              <a:lnSpc>
                <a:spcPct val="107527"/>
              </a:lnSpc>
              <a:spcAft>
                <a:spcPts val="0"/>
              </a:spcAft>
            </a:pPr>
            <a:r>
              <a:rPr sz="775" i="0">
                <a:solidFill>
                  <a:srgbClr val="5C6773"/>
                </a:solidFill>
                <a:latin typeface="Inconsolata"/>
              </a:rPr>
              <a:t>13  </a:t>
            </a:r>
            <a:r>
              <a:rPr sz="775" i="0">
                <a:solidFill>
                  <a:srgbClr val="E6EDF3"/>
                </a:solidFill>
                <a:latin typeface="Inconsolata"/>
              </a:rPr>
              <a:t>      </a:t>
            </a:r>
            <a:r>
              <a:rPr sz="775" i="0">
                <a:solidFill>
                  <a:srgbClr val="82B1FF"/>
                </a:solidFill>
                <a:latin typeface="Inconsolata"/>
              </a:rPr>
              <a:t>app</a:t>
            </a:r>
            <a:r>
              <a:rPr sz="775" i="0">
                <a:solidFill>
                  <a:srgbClr val="E6EDF3"/>
                </a:solidFill>
                <a:latin typeface="Inconsolata"/>
              </a:rPr>
              <a:t>: order-api</a:t>
            </a:r>
          </a:p>
          <a:p>
            <a:pPr>
              <a:lnSpc>
                <a:spcPct val="107527"/>
              </a:lnSpc>
              <a:spcAft>
                <a:spcPts val="0"/>
              </a:spcAft>
            </a:pPr>
            <a:r>
              <a:rPr sz="775" i="0">
                <a:solidFill>
                  <a:srgbClr val="5C6773"/>
                </a:solidFill>
                <a:latin typeface="Inconsolata"/>
              </a:rPr>
              <a:t>14  </a:t>
            </a:r>
            <a:r>
              <a:rPr sz="775" i="0">
                <a:solidFill>
                  <a:srgbClr val="E6EDF3"/>
                </a:solidFill>
                <a:latin typeface="Inconsolata"/>
              </a:rPr>
              <a:t>  </a:t>
            </a:r>
            <a:r>
              <a:rPr sz="775" i="0">
                <a:solidFill>
                  <a:srgbClr val="82B1FF"/>
                </a:solidFill>
                <a:latin typeface="Inconsolata"/>
              </a:rPr>
              <a:t>template</a:t>
            </a:r>
            <a:r>
              <a:rPr sz="775" i="0">
                <a:solidFill>
                  <a:srgbClr val="E6EDF3"/>
                </a:solidFill>
                <a:latin typeface="Inconsolata"/>
              </a:rPr>
              <a:t>:</a:t>
            </a:r>
          </a:p>
          <a:p>
            <a:pPr>
              <a:lnSpc>
                <a:spcPct val="107527"/>
              </a:lnSpc>
              <a:spcAft>
                <a:spcPts val="0"/>
              </a:spcAft>
            </a:pPr>
            <a:r>
              <a:rPr sz="775" i="0">
                <a:solidFill>
                  <a:srgbClr val="5C6773"/>
                </a:solidFill>
                <a:latin typeface="Inconsolata"/>
              </a:rPr>
              <a:t>15  </a:t>
            </a:r>
            <a:r>
              <a:rPr sz="775" i="0">
                <a:solidFill>
                  <a:srgbClr val="E6EDF3"/>
                </a:solidFill>
                <a:latin typeface="Inconsolata"/>
              </a:rPr>
              <a:t>    </a:t>
            </a:r>
            <a:r>
              <a:rPr sz="775" i="0">
                <a:solidFill>
                  <a:srgbClr val="82B1FF"/>
                </a:solidFill>
                <a:latin typeface="Inconsolata"/>
              </a:rPr>
              <a:t>metadata</a:t>
            </a:r>
            <a:r>
              <a:rPr sz="775" i="0">
                <a:solidFill>
                  <a:srgbClr val="E6EDF3"/>
                </a:solidFill>
                <a:latin typeface="Inconsolata"/>
              </a:rPr>
              <a:t>:</a:t>
            </a:r>
          </a:p>
          <a:p>
            <a:pPr>
              <a:lnSpc>
                <a:spcPct val="107527"/>
              </a:lnSpc>
              <a:spcAft>
                <a:spcPts val="0"/>
              </a:spcAft>
            </a:pPr>
            <a:r>
              <a:rPr sz="775" i="0">
                <a:solidFill>
                  <a:srgbClr val="5C6773"/>
                </a:solidFill>
                <a:latin typeface="Inconsolata"/>
              </a:rPr>
              <a:t>16  </a:t>
            </a:r>
            <a:r>
              <a:rPr sz="775" i="0">
                <a:solidFill>
                  <a:srgbClr val="E6EDF3"/>
                </a:solidFill>
                <a:latin typeface="Inconsolata"/>
              </a:rPr>
              <a:t>      </a:t>
            </a:r>
            <a:r>
              <a:rPr sz="775" i="0">
                <a:solidFill>
                  <a:srgbClr val="82B1FF"/>
                </a:solidFill>
                <a:latin typeface="Inconsolata"/>
              </a:rPr>
              <a:t>labels</a:t>
            </a:r>
            <a:r>
              <a:rPr sz="775" i="0">
                <a:solidFill>
                  <a:srgbClr val="E6EDF3"/>
                </a:solidFill>
                <a:latin typeface="Inconsolata"/>
              </a:rPr>
              <a:t>:</a:t>
            </a:r>
          </a:p>
          <a:p>
            <a:pPr>
              <a:lnSpc>
                <a:spcPct val="107527"/>
              </a:lnSpc>
              <a:spcAft>
                <a:spcPts val="0"/>
              </a:spcAft>
            </a:pPr>
            <a:r>
              <a:rPr sz="775" i="0">
                <a:solidFill>
                  <a:srgbClr val="5C6773"/>
                </a:solidFill>
                <a:latin typeface="Inconsolata"/>
              </a:rPr>
              <a:t>17  </a:t>
            </a:r>
            <a:r>
              <a:rPr sz="775" i="0">
                <a:solidFill>
                  <a:srgbClr val="E6EDF3"/>
                </a:solidFill>
                <a:latin typeface="Inconsolata"/>
              </a:rPr>
              <a:t>        </a:t>
            </a:r>
            <a:r>
              <a:rPr sz="775" i="0">
                <a:solidFill>
                  <a:srgbClr val="82B1FF"/>
                </a:solidFill>
                <a:latin typeface="Inconsolata"/>
              </a:rPr>
              <a:t>app</a:t>
            </a:r>
            <a:r>
              <a:rPr sz="775" i="0">
                <a:solidFill>
                  <a:srgbClr val="E6EDF3"/>
                </a:solidFill>
                <a:latin typeface="Inconsolata"/>
              </a:rPr>
              <a:t>: order-api</a:t>
            </a:r>
          </a:p>
          <a:p>
            <a:pPr>
              <a:lnSpc>
                <a:spcPct val="107527"/>
              </a:lnSpc>
              <a:spcAft>
                <a:spcPts val="0"/>
              </a:spcAft>
            </a:pPr>
            <a:r>
              <a:rPr sz="775" i="0">
                <a:solidFill>
                  <a:srgbClr val="5C6773"/>
                </a:solidFill>
                <a:latin typeface="Inconsolata"/>
              </a:rPr>
              <a:t>18  </a:t>
            </a:r>
            <a:r>
              <a:rPr sz="775" i="0">
                <a:solidFill>
                  <a:srgbClr val="E6EDF3"/>
                </a:solidFill>
                <a:latin typeface="Inconsolata"/>
              </a:rPr>
              <a:t>    </a:t>
            </a:r>
            <a:r>
              <a:rPr sz="775" i="0">
                <a:solidFill>
                  <a:srgbClr val="82B1FF"/>
                </a:solidFill>
                <a:latin typeface="Inconsolata"/>
              </a:rPr>
              <a:t>spec</a:t>
            </a:r>
            <a:r>
              <a:rPr sz="775" i="0">
                <a:solidFill>
                  <a:srgbClr val="E6EDF3"/>
                </a:solidFill>
                <a:latin typeface="Inconsolata"/>
              </a:rPr>
              <a:t>:</a:t>
            </a:r>
          </a:p>
          <a:p>
            <a:pPr>
              <a:lnSpc>
                <a:spcPct val="107527"/>
              </a:lnSpc>
              <a:spcAft>
                <a:spcPts val="0"/>
              </a:spcAft>
            </a:pPr>
            <a:r>
              <a:rPr sz="775" i="0">
                <a:solidFill>
                  <a:srgbClr val="5C6773"/>
                </a:solidFill>
                <a:latin typeface="Inconsolata"/>
              </a:rPr>
              <a:t>19  </a:t>
            </a:r>
            <a:r>
              <a:rPr sz="775" i="0">
                <a:solidFill>
                  <a:srgbClr val="E6EDF3"/>
                </a:solidFill>
                <a:latin typeface="Inconsolata"/>
              </a:rPr>
              <a:t>      </a:t>
            </a:r>
            <a:r>
              <a:rPr sz="775" i="0">
                <a:solidFill>
                  <a:srgbClr val="82B1FF"/>
                </a:solidFill>
                <a:latin typeface="Inconsolata"/>
              </a:rPr>
              <a:t>containers</a:t>
            </a:r>
            <a:r>
              <a:rPr sz="775" i="0">
                <a:solidFill>
                  <a:srgbClr val="E6EDF3"/>
                </a:solidFill>
                <a:latin typeface="Inconsolata"/>
              </a:rPr>
              <a:t>:</a:t>
            </a:r>
          </a:p>
          <a:p>
            <a:pPr>
              <a:lnSpc>
                <a:spcPct val="107527"/>
              </a:lnSpc>
              <a:spcAft>
                <a:spcPts val="0"/>
              </a:spcAft>
            </a:pPr>
            <a:r>
              <a:rPr sz="775" i="0">
                <a:solidFill>
                  <a:srgbClr val="5C6773"/>
                </a:solidFill>
                <a:latin typeface="Inconsolata"/>
              </a:rPr>
              <a:t>20  </a:t>
            </a:r>
            <a:r>
              <a:rPr sz="775" i="0">
                <a:solidFill>
                  <a:srgbClr val="E6EDF3"/>
                </a:solidFill>
                <a:latin typeface="Inconsolata"/>
              </a:rPr>
              <a:t>        - </a:t>
            </a:r>
            <a:r>
              <a:rPr sz="775" i="0">
                <a:solidFill>
                  <a:srgbClr val="82B1FF"/>
                </a:solidFill>
                <a:latin typeface="Inconsolata"/>
              </a:rPr>
              <a:t>name</a:t>
            </a:r>
            <a:r>
              <a:rPr sz="775" i="0">
                <a:solidFill>
                  <a:srgbClr val="E6EDF3"/>
                </a:solidFill>
                <a:latin typeface="Inconsolata"/>
              </a:rPr>
              <a:t>: api</a:t>
            </a:r>
          </a:p>
          <a:p>
            <a:pPr>
              <a:lnSpc>
                <a:spcPct val="107527"/>
              </a:lnSpc>
              <a:spcAft>
                <a:spcPts val="0"/>
              </a:spcAft>
            </a:pPr>
            <a:r>
              <a:rPr sz="775" i="0">
                <a:solidFill>
                  <a:srgbClr val="5C6773"/>
                </a:solidFill>
                <a:latin typeface="Inconsolata"/>
              </a:rPr>
              <a:t>21  </a:t>
            </a:r>
            <a:r>
              <a:rPr sz="775" i="0">
                <a:solidFill>
                  <a:srgbClr val="E6EDF3"/>
                </a:solidFill>
                <a:latin typeface="Inconsolata"/>
              </a:rPr>
              <a:t>          </a:t>
            </a:r>
            <a:r>
              <a:rPr sz="775" i="0">
                <a:solidFill>
                  <a:srgbClr val="82B1FF"/>
                </a:solidFill>
                <a:latin typeface="Inconsolata"/>
              </a:rPr>
              <a:t>image</a:t>
            </a:r>
            <a:r>
              <a:rPr sz="775" i="0">
                <a:solidFill>
                  <a:srgbClr val="E6EDF3"/>
                </a:solidFill>
                <a:latin typeface="Inconsolata"/>
              </a:rPr>
              <a:t>: k8s-demo:1.0</a:t>
            </a:r>
          </a:p>
          <a:p>
            <a:pPr>
              <a:lnSpc>
                <a:spcPct val="107527"/>
              </a:lnSpc>
              <a:spcAft>
                <a:spcPts val="0"/>
              </a:spcAft>
            </a:pPr>
            <a:r>
              <a:rPr sz="775" i="0">
                <a:solidFill>
                  <a:srgbClr val="5C6773"/>
                </a:solidFill>
                <a:latin typeface="Inconsolata"/>
              </a:rPr>
              <a:t>22  </a:t>
            </a:r>
            <a:r>
              <a:rPr sz="775" i="0">
                <a:solidFill>
                  <a:srgbClr val="E6EDF3"/>
                </a:solidFill>
                <a:latin typeface="Inconsolata"/>
              </a:rPr>
              <a:t>          </a:t>
            </a:r>
            <a:r>
              <a:rPr sz="775" i="0">
                <a:solidFill>
                  <a:srgbClr val="82B1FF"/>
                </a:solidFill>
                <a:latin typeface="Inconsolata"/>
              </a:rPr>
              <a:t>imagePullPolicy</a:t>
            </a:r>
            <a:r>
              <a:rPr sz="775" i="0">
                <a:solidFill>
                  <a:srgbClr val="E6EDF3"/>
                </a:solidFill>
                <a:latin typeface="Inconsolata"/>
              </a:rPr>
              <a:t>: IfNotPresent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Probes</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readiness, liveness, dan resources (2/2)</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72237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06-probes/after/deployment.yaml</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7863840" cy="2980944"/>
          </a:xfrm>
          <a:prstGeom prst="rect">
            <a:avLst/>
          </a:prstGeom>
          <a:noFill/>
        </p:spPr>
        <p:txBody>
          <a:bodyPr wrap="none" lIns="146304" tIns="91440" rIns="146304" bIns="54864">
            <a:spAutoFit/>
          </a:bodyPr>
          <a:lstStyle/>
          <a:p>
            <a:pPr>
              <a:lnSpc>
                <a:spcPct val="107527"/>
              </a:lnSpc>
              <a:spcAft>
                <a:spcPts val="0"/>
              </a:spcAft>
            </a:pPr>
            <a:r>
              <a:rPr sz="775" i="0">
                <a:solidFill>
                  <a:srgbClr val="5C6773"/>
                </a:solidFill>
                <a:latin typeface="Inconsolata"/>
              </a:rPr>
              <a:t>23  </a:t>
            </a:r>
            <a:r>
              <a:rPr sz="775" i="0">
                <a:solidFill>
                  <a:srgbClr val="E6EDF3"/>
                </a:solidFill>
                <a:latin typeface="Inconsolata"/>
              </a:rPr>
              <a:t>          </a:t>
            </a:r>
            <a:r>
              <a:rPr sz="775" i="0">
                <a:solidFill>
                  <a:srgbClr val="82B1FF"/>
                </a:solidFill>
                <a:latin typeface="Inconsolata"/>
              </a:rPr>
              <a:t>env</a:t>
            </a:r>
            <a:r>
              <a:rPr sz="775" i="0">
                <a:solidFill>
                  <a:srgbClr val="E6EDF3"/>
                </a:solidFill>
                <a:latin typeface="Inconsolata"/>
              </a:rPr>
              <a:t>:</a:t>
            </a:r>
          </a:p>
          <a:p>
            <a:pPr>
              <a:lnSpc>
                <a:spcPct val="107527"/>
              </a:lnSpc>
              <a:spcAft>
                <a:spcPts val="0"/>
              </a:spcAft>
            </a:pPr>
            <a:r>
              <a:rPr sz="775" i="0">
                <a:solidFill>
                  <a:srgbClr val="5C6773"/>
                </a:solidFill>
                <a:latin typeface="Inconsolata"/>
              </a:rPr>
              <a:t>24  </a:t>
            </a:r>
            <a:r>
              <a:rPr sz="775" i="0">
                <a:solidFill>
                  <a:srgbClr val="E6EDF3"/>
                </a:solidFill>
                <a:latin typeface="Inconsolata"/>
              </a:rPr>
              <a:t>            - </a:t>
            </a:r>
            <a:r>
              <a:rPr sz="775" i="0">
                <a:solidFill>
                  <a:srgbClr val="82B1FF"/>
                </a:solidFill>
                <a:latin typeface="Inconsolata"/>
              </a:rPr>
              <a:t>name</a:t>
            </a:r>
            <a:r>
              <a:rPr sz="775" i="0">
                <a:solidFill>
                  <a:srgbClr val="E6EDF3"/>
                </a:solidFill>
                <a:latin typeface="Inconsolata"/>
              </a:rPr>
              <a:t>: STARTUP_SECONDS</a:t>
            </a:r>
          </a:p>
          <a:p>
            <a:pPr>
              <a:lnSpc>
                <a:spcPct val="107527"/>
              </a:lnSpc>
              <a:spcAft>
                <a:spcPts val="0"/>
              </a:spcAft>
            </a:pPr>
            <a:r>
              <a:rPr sz="775" i="0">
                <a:solidFill>
                  <a:srgbClr val="5C6773"/>
                </a:solidFill>
                <a:latin typeface="Inconsolata"/>
              </a:rPr>
              <a:t>25  </a:t>
            </a:r>
            <a:r>
              <a:rPr sz="775" i="0">
                <a:solidFill>
                  <a:srgbClr val="E6EDF3"/>
                </a:solidFill>
                <a:latin typeface="Inconsolata"/>
              </a:rPr>
              <a:t>              </a:t>
            </a:r>
            <a:r>
              <a:rPr sz="775" i="0">
                <a:solidFill>
                  <a:srgbClr val="82B1FF"/>
                </a:solidFill>
                <a:latin typeface="Inconsolata"/>
              </a:rPr>
              <a:t>value</a:t>
            </a:r>
            <a:r>
              <a:rPr sz="775" i="0">
                <a:solidFill>
                  <a:srgbClr val="E6EDF3"/>
                </a:solidFill>
                <a:latin typeface="Inconsolata"/>
              </a:rPr>
              <a:t>: </a:t>
            </a:r>
            <a:r>
              <a:rPr sz="775" i="0">
                <a:solidFill>
                  <a:srgbClr val="A5D6A7"/>
                </a:solidFill>
                <a:latin typeface="Inconsolata"/>
              </a:rPr>
              <a:t>"20"</a:t>
            </a:r>
          </a:p>
          <a:p>
            <a:pPr>
              <a:lnSpc>
                <a:spcPct val="107527"/>
              </a:lnSpc>
              <a:spcAft>
                <a:spcPts val="0"/>
              </a:spcAft>
            </a:pPr>
            <a:r>
              <a:rPr sz="775" i="0">
                <a:solidFill>
                  <a:srgbClr val="5C6773"/>
                </a:solidFill>
                <a:latin typeface="Inconsolata"/>
              </a:rPr>
              <a:t>26  </a:t>
            </a:r>
            <a:r>
              <a:rPr sz="775" i="0">
                <a:solidFill>
                  <a:srgbClr val="E6EDF3"/>
                </a:solidFill>
                <a:latin typeface="Inconsolata"/>
              </a:rPr>
              <a:t>            - </a:t>
            </a:r>
            <a:r>
              <a:rPr sz="775" i="0">
                <a:solidFill>
                  <a:srgbClr val="82B1FF"/>
                </a:solidFill>
                <a:latin typeface="Inconsolata"/>
              </a:rPr>
              <a:t>name</a:t>
            </a:r>
            <a:r>
              <a:rPr sz="775" i="0">
                <a:solidFill>
                  <a:srgbClr val="E6EDF3"/>
                </a:solidFill>
                <a:latin typeface="Inconsolata"/>
              </a:rPr>
              <a:t>: BREAK_AFTER</a:t>
            </a:r>
          </a:p>
          <a:p>
            <a:pPr>
              <a:lnSpc>
                <a:spcPct val="107527"/>
              </a:lnSpc>
              <a:spcAft>
                <a:spcPts val="0"/>
              </a:spcAft>
            </a:pPr>
            <a:r>
              <a:rPr sz="775" i="0">
                <a:solidFill>
                  <a:srgbClr val="5C6773"/>
                </a:solidFill>
                <a:latin typeface="Inconsolata"/>
              </a:rPr>
              <a:t>27  </a:t>
            </a:r>
            <a:r>
              <a:rPr sz="775" i="0">
                <a:solidFill>
                  <a:srgbClr val="E6EDF3"/>
                </a:solidFill>
                <a:latin typeface="Inconsolata"/>
              </a:rPr>
              <a:t>              </a:t>
            </a:r>
            <a:r>
              <a:rPr sz="775" i="0">
                <a:solidFill>
                  <a:srgbClr val="82B1FF"/>
                </a:solidFill>
                <a:latin typeface="Inconsolata"/>
              </a:rPr>
              <a:t>value</a:t>
            </a:r>
            <a:r>
              <a:rPr sz="775" i="0">
                <a:solidFill>
                  <a:srgbClr val="E6EDF3"/>
                </a:solidFill>
                <a:latin typeface="Inconsolata"/>
              </a:rPr>
              <a:t>: </a:t>
            </a:r>
            <a:r>
              <a:rPr sz="775" i="0">
                <a:solidFill>
                  <a:srgbClr val="A5D6A7"/>
                </a:solidFill>
                <a:latin typeface="Inconsolata"/>
              </a:rPr>
              <a:t>"45"</a:t>
            </a:r>
          </a:p>
          <a:p>
            <a:pPr>
              <a:lnSpc>
                <a:spcPct val="107527"/>
              </a:lnSpc>
              <a:spcAft>
                <a:spcPts val="0"/>
              </a:spcAft>
            </a:pPr>
            <a:r>
              <a:rPr sz="775" i="0">
                <a:solidFill>
                  <a:srgbClr val="5C6773"/>
                </a:solidFill>
                <a:latin typeface="Inconsolata"/>
              </a:rPr>
              <a:t>28  </a:t>
            </a:r>
            <a:r>
              <a:rPr sz="775" i="0">
                <a:solidFill>
                  <a:srgbClr val="E6EDF3"/>
                </a:solidFill>
                <a:latin typeface="Inconsolata"/>
              </a:rPr>
              <a:t>          </a:t>
            </a:r>
            <a:r>
              <a:rPr sz="775" i="0">
                <a:solidFill>
                  <a:srgbClr val="82B1FF"/>
                </a:solidFill>
                <a:latin typeface="Inconsolata"/>
              </a:rPr>
              <a:t>readinessProbe</a:t>
            </a:r>
            <a:r>
              <a:rPr sz="775" i="0">
                <a:solidFill>
                  <a:srgbClr val="E6EDF3"/>
                </a:solidFill>
                <a:latin typeface="Inconsolata"/>
              </a:rPr>
              <a:t>:</a:t>
            </a:r>
          </a:p>
          <a:p>
            <a:pPr>
              <a:lnSpc>
                <a:spcPct val="107527"/>
              </a:lnSpc>
              <a:spcAft>
                <a:spcPts val="0"/>
              </a:spcAft>
            </a:pPr>
            <a:r>
              <a:rPr sz="775" i="0">
                <a:solidFill>
                  <a:srgbClr val="5C6773"/>
                </a:solidFill>
                <a:latin typeface="Inconsolata"/>
              </a:rPr>
              <a:t>29  </a:t>
            </a:r>
            <a:r>
              <a:rPr sz="775" i="0">
                <a:solidFill>
                  <a:srgbClr val="E6EDF3"/>
                </a:solidFill>
                <a:latin typeface="Inconsolata"/>
              </a:rPr>
              <a:t>            </a:t>
            </a:r>
            <a:r>
              <a:rPr sz="775" i="0">
                <a:solidFill>
                  <a:srgbClr val="82B1FF"/>
                </a:solidFill>
                <a:latin typeface="Inconsolata"/>
              </a:rPr>
              <a:t>httpGet</a:t>
            </a:r>
            <a:r>
              <a:rPr sz="775" i="0">
                <a:solidFill>
                  <a:srgbClr val="E6EDF3"/>
                </a:solidFill>
                <a:latin typeface="Inconsolata"/>
              </a:rPr>
              <a:t>:</a:t>
            </a:r>
          </a:p>
          <a:p>
            <a:pPr>
              <a:lnSpc>
                <a:spcPct val="107527"/>
              </a:lnSpc>
              <a:spcAft>
                <a:spcPts val="0"/>
              </a:spcAft>
            </a:pPr>
            <a:r>
              <a:rPr sz="775" i="0">
                <a:solidFill>
                  <a:srgbClr val="5C6773"/>
                </a:solidFill>
                <a:latin typeface="Inconsolata"/>
              </a:rPr>
              <a:t>30  </a:t>
            </a:r>
            <a:r>
              <a:rPr sz="775" i="0">
                <a:solidFill>
                  <a:srgbClr val="E6EDF3"/>
                </a:solidFill>
                <a:latin typeface="Inconsolata"/>
              </a:rPr>
              <a:t>              </a:t>
            </a:r>
            <a:r>
              <a:rPr sz="775" i="0">
                <a:solidFill>
                  <a:srgbClr val="82B1FF"/>
                </a:solidFill>
                <a:latin typeface="Inconsolata"/>
              </a:rPr>
              <a:t>path</a:t>
            </a:r>
            <a:r>
              <a:rPr sz="775" i="0">
                <a:solidFill>
                  <a:srgbClr val="E6EDF3"/>
                </a:solidFill>
                <a:latin typeface="Inconsolata"/>
              </a:rPr>
              <a:t>: /health/ready</a:t>
            </a:r>
          </a:p>
          <a:p>
            <a:pPr>
              <a:lnSpc>
                <a:spcPct val="107527"/>
              </a:lnSpc>
              <a:spcAft>
                <a:spcPts val="0"/>
              </a:spcAft>
            </a:pPr>
            <a:r>
              <a:rPr sz="775" i="0">
                <a:solidFill>
                  <a:srgbClr val="5C6773"/>
                </a:solidFill>
                <a:latin typeface="Inconsolata"/>
              </a:rPr>
              <a:t>31  </a:t>
            </a:r>
            <a:r>
              <a:rPr sz="775" i="0">
                <a:solidFill>
                  <a:srgbClr val="E6EDF3"/>
                </a:solidFill>
                <a:latin typeface="Inconsolata"/>
              </a:rPr>
              <a:t>              </a:t>
            </a:r>
            <a:r>
              <a:rPr sz="775" i="0">
                <a:solidFill>
                  <a:srgbClr val="82B1FF"/>
                </a:solidFill>
                <a:latin typeface="Inconsolata"/>
              </a:rPr>
              <a:t>port</a:t>
            </a:r>
            <a:r>
              <a:rPr sz="775" i="0">
                <a:solidFill>
                  <a:srgbClr val="E6EDF3"/>
                </a:solidFill>
                <a:latin typeface="Inconsolata"/>
              </a:rPr>
              <a:t>: </a:t>
            </a:r>
            <a:r>
              <a:rPr sz="775" i="0">
                <a:solidFill>
                  <a:srgbClr val="F9C97A"/>
                </a:solidFill>
                <a:latin typeface="Inconsolata"/>
              </a:rPr>
              <a:t>8000</a:t>
            </a:r>
          </a:p>
          <a:p>
            <a:pPr>
              <a:lnSpc>
                <a:spcPct val="107527"/>
              </a:lnSpc>
              <a:spcAft>
                <a:spcPts val="0"/>
              </a:spcAft>
            </a:pPr>
            <a:r>
              <a:rPr sz="775" i="0">
                <a:solidFill>
                  <a:srgbClr val="5C6773"/>
                </a:solidFill>
                <a:latin typeface="Inconsolata"/>
              </a:rPr>
              <a:t>32  </a:t>
            </a:r>
            <a:r>
              <a:rPr sz="775" i="0">
                <a:solidFill>
                  <a:srgbClr val="E6EDF3"/>
                </a:solidFill>
                <a:latin typeface="Inconsolata"/>
              </a:rPr>
              <a:t>            </a:t>
            </a:r>
            <a:r>
              <a:rPr sz="775" i="0">
                <a:solidFill>
                  <a:srgbClr val="82B1FF"/>
                </a:solidFill>
                <a:latin typeface="Inconsolata"/>
              </a:rPr>
              <a:t>periodSeconds</a:t>
            </a:r>
            <a:r>
              <a:rPr sz="775" i="0">
                <a:solidFill>
                  <a:srgbClr val="E6EDF3"/>
                </a:solidFill>
                <a:latin typeface="Inconsolata"/>
              </a:rPr>
              <a:t>: </a:t>
            </a:r>
            <a:r>
              <a:rPr sz="775" i="0">
                <a:solidFill>
                  <a:srgbClr val="F9C97A"/>
                </a:solidFill>
                <a:latin typeface="Inconsolata"/>
              </a:rPr>
              <a:t>2</a:t>
            </a:r>
          </a:p>
          <a:p>
            <a:pPr>
              <a:lnSpc>
                <a:spcPct val="107527"/>
              </a:lnSpc>
              <a:spcAft>
                <a:spcPts val="0"/>
              </a:spcAft>
            </a:pPr>
            <a:r>
              <a:rPr sz="775" i="0">
                <a:solidFill>
                  <a:srgbClr val="5C6773"/>
                </a:solidFill>
                <a:latin typeface="Inconsolata"/>
              </a:rPr>
              <a:t>33  </a:t>
            </a:r>
            <a:r>
              <a:rPr sz="775" i="0">
                <a:solidFill>
                  <a:srgbClr val="E6EDF3"/>
                </a:solidFill>
                <a:latin typeface="Inconsolata"/>
              </a:rPr>
              <a:t>          </a:t>
            </a:r>
            <a:r>
              <a:rPr sz="775" i="0">
                <a:solidFill>
                  <a:srgbClr val="82B1FF"/>
                </a:solidFill>
                <a:latin typeface="Inconsolata"/>
              </a:rPr>
              <a:t>livenessProbe</a:t>
            </a:r>
            <a:r>
              <a:rPr sz="775" i="0">
                <a:solidFill>
                  <a:srgbClr val="E6EDF3"/>
                </a:solidFill>
                <a:latin typeface="Inconsolata"/>
              </a:rPr>
              <a:t>:</a:t>
            </a:r>
          </a:p>
          <a:p>
            <a:pPr>
              <a:lnSpc>
                <a:spcPct val="107527"/>
              </a:lnSpc>
              <a:spcAft>
                <a:spcPts val="0"/>
              </a:spcAft>
            </a:pPr>
            <a:r>
              <a:rPr sz="775" i="0">
                <a:solidFill>
                  <a:srgbClr val="5C6773"/>
                </a:solidFill>
                <a:latin typeface="Inconsolata"/>
              </a:rPr>
              <a:t>34  </a:t>
            </a:r>
            <a:r>
              <a:rPr sz="775" i="0">
                <a:solidFill>
                  <a:srgbClr val="E6EDF3"/>
                </a:solidFill>
                <a:latin typeface="Inconsolata"/>
              </a:rPr>
              <a:t>            </a:t>
            </a:r>
            <a:r>
              <a:rPr sz="775" i="0">
                <a:solidFill>
                  <a:srgbClr val="82B1FF"/>
                </a:solidFill>
                <a:latin typeface="Inconsolata"/>
              </a:rPr>
              <a:t>httpGet</a:t>
            </a:r>
            <a:r>
              <a:rPr sz="775" i="0">
                <a:solidFill>
                  <a:srgbClr val="E6EDF3"/>
                </a:solidFill>
                <a:latin typeface="Inconsolata"/>
              </a:rPr>
              <a:t>:</a:t>
            </a:r>
          </a:p>
          <a:p>
            <a:pPr>
              <a:lnSpc>
                <a:spcPct val="107527"/>
              </a:lnSpc>
              <a:spcAft>
                <a:spcPts val="0"/>
              </a:spcAft>
            </a:pPr>
            <a:r>
              <a:rPr sz="775" i="0">
                <a:solidFill>
                  <a:srgbClr val="5C6773"/>
                </a:solidFill>
                <a:latin typeface="Inconsolata"/>
              </a:rPr>
              <a:t>35  </a:t>
            </a:r>
            <a:r>
              <a:rPr sz="775" i="0">
                <a:solidFill>
                  <a:srgbClr val="E6EDF3"/>
                </a:solidFill>
                <a:latin typeface="Inconsolata"/>
              </a:rPr>
              <a:t>              </a:t>
            </a:r>
            <a:r>
              <a:rPr sz="775" i="0">
                <a:solidFill>
                  <a:srgbClr val="82B1FF"/>
                </a:solidFill>
                <a:latin typeface="Inconsolata"/>
              </a:rPr>
              <a:t>path</a:t>
            </a:r>
            <a:r>
              <a:rPr sz="775" i="0">
                <a:solidFill>
                  <a:srgbClr val="E6EDF3"/>
                </a:solidFill>
                <a:latin typeface="Inconsolata"/>
              </a:rPr>
              <a:t>: /health/live</a:t>
            </a:r>
          </a:p>
          <a:p>
            <a:pPr>
              <a:lnSpc>
                <a:spcPct val="107527"/>
              </a:lnSpc>
              <a:spcAft>
                <a:spcPts val="0"/>
              </a:spcAft>
            </a:pPr>
            <a:r>
              <a:rPr sz="775" i="0">
                <a:solidFill>
                  <a:srgbClr val="5C6773"/>
                </a:solidFill>
                <a:latin typeface="Inconsolata"/>
              </a:rPr>
              <a:t>36  </a:t>
            </a:r>
            <a:r>
              <a:rPr sz="775" i="0">
                <a:solidFill>
                  <a:srgbClr val="E6EDF3"/>
                </a:solidFill>
                <a:latin typeface="Inconsolata"/>
              </a:rPr>
              <a:t>              </a:t>
            </a:r>
            <a:r>
              <a:rPr sz="775" i="0">
                <a:solidFill>
                  <a:srgbClr val="82B1FF"/>
                </a:solidFill>
                <a:latin typeface="Inconsolata"/>
              </a:rPr>
              <a:t>port</a:t>
            </a:r>
            <a:r>
              <a:rPr sz="775" i="0">
                <a:solidFill>
                  <a:srgbClr val="E6EDF3"/>
                </a:solidFill>
                <a:latin typeface="Inconsolata"/>
              </a:rPr>
              <a:t>: </a:t>
            </a:r>
            <a:r>
              <a:rPr sz="775" i="0">
                <a:solidFill>
                  <a:srgbClr val="F9C97A"/>
                </a:solidFill>
                <a:latin typeface="Inconsolata"/>
              </a:rPr>
              <a:t>8000</a:t>
            </a:r>
          </a:p>
          <a:p>
            <a:pPr>
              <a:lnSpc>
                <a:spcPct val="107527"/>
              </a:lnSpc>
              <a:spcAft>
                <a:spcPts val="0"/>
              </a:spcAft>
            </a:pPr>
            <a:r>
              <a:rPr sz="775" i="0">
                <a:solidFill>
                  <a:srgbClr val="5C6773"/>
                </a:solidFill>
                <a:latin typeface="Inconsolata"/>
              </a:rPr>
              <a:t>37  </a:t>
            </a:r>
            <a:r>
              <a:rPr sz="775" i="0">
                <a:solidFill>
                  <a:srgbClr val="E6EDF3"/>
                </a:solidFill>
                <a:latin typeface="Inconsolata"/>
              </a:rPr>
              <a:t>            </a:t>
            </a:r>
            <a:r>
              <a:rPr sz="775" i="0">
                <a:solidFill>
                  <a:srgbClr val="82B1FF"/>
                </a:solidFill>
                <a:latin typeface="Inconsolata"/>
              </a:rPr>
              <a:t>periodSeconds</a:t>
            </a:r>
            <a:r>
              <a:rPr sz="775" i="0">
                <a:solidFill>
                  <a:srgbClr val="E6EDF3"/>
                </a:solidFill>
                <a:latin typeface="Inconsolata"/>
              </a:rPr>
              <a:t>: </a:t>
            </a:r>
            <a:r>
              <a:rPr sz="775" i="0">
                <a:solidFill>
                  <a:srgbClr val="F9C97A"/>
                </a:solidFill>
                <a:latin typeface="Inconsolata"/>
              </a:rPr>
              <a:t>5</a:t>
            </a:r>
          </a:p>
          <a:p>
            <a:pPr>
              <a:lnSpc>
                <a:spcPct val="107527"/>
              </a:lnSpc>
              <a:spcAft>
                <a:spcPts val="0"/>
              </a:spcAft>
            </a:pPr>
            <a:r>
              <a:rPr sz="775" i="0">
                <a:solidFill>
                  <a:srgbClr val="5C6773"/>
                </a:solidFill>
                <a:latin typeface="Inconsolata"/>
              </a:rPr>
              <a:t>38  </a:t>
            </a:r>
            <a:r>
              <a:rPr sz="775" i="0">
                <a:solidFill>
                  <a:srgbClr val="E6EDF3"/>
                </a:solidFill>
                <a:latin typeface="Inconsolata"/>
              </a:rPr>
              <a:t>            </a:t>
            </a:r>
            <a:r>
              <a:rPr sz="775" i="0">
                <a:solidFill>
                  <a:srgbClr val="82B1FF"/>
                </a:solidFill>
                <a:latin typeface="Inconsolata"/>
              </a:rPr>
              <a:t>failureThreshold</a:t>
            </a:r>
            <a:r>
              <a:rPr sz="775" i="0">
                <a:solidFill>
                  <a:srgbClr val="E6EDF3"/>
                </a:solidFill>
                <a:latin typeface="Inconsolata"/>
              </a:rPr>
              <a:t>: </a:t>
            </a:r>
            <a:r>
              <a:rPr sz="775" i="0">
                <a:solidFill>
                  <a:srgbClr val="F9C97A"/>
                </a:solidFill>
                <a:latin typeface="Inconsolata"/>
              </a:rPr>
              <a:t>2</a:t>
            </a:r>
          </a:p>
          <a:p>
            <a:pPr>
              <a:lnSpc>
                <a:spcPct val="107527"/>
              </a:lnSpc>
              <a:spcAft>
                <a:spcPts val="0"/>
              </a:spcAft>
            </a:pPr>
            <a:r>
              <a:rPr sz="775" i="0">
                <a:solidFill>
                  <a:srgbClr val="5C6773"/>
                </a:solidFill>
                <a:latin typeface="Inconsolata"/>
              </a:rPr>
              <a:t>39  </a:t>
            </a:r>
            <a:r>
              <a:rPr sz="775" i="0">
                <a:solidFill>
                  <a:srgbClr val="E6EDF3"/>
                </a:solidFill>
                <a:latin typeface="Inconsolata"/>
              </a:rPr>
              <a:t>          </a:t>
            </a:r>
            <a:r>
              <a:rPr sz="775" i="0">
                <a:solidFill>
                  <a:srgbClr val="82B1FF"/>
                </a:solidFill>
                <a:latin typeface="Inconsolata"/>
              </a:rPr>
              <a:t>resources</a:t>
            </a:r>
            <a:r>
              <a:rPr sz="775" i="0">
                <a:solidFill>
                  <a:srgbClr val="E6EDF3"/>
                </a:solidFill>
                <a:latin typeface="Inconsolata"/>
              </a:rPr>
              <a:t>:</a:t>
            </a:r>
          </a:p>
          <a:p>
            <a:pPr>
              <a:lnSpc>
                <a:spcPct val="107527"/>
              </a:lnSpc>
              <a:spcAft>
                <a:spcPts val="0"/>
              </a:spcAft>
            </a:pPr>
            <a:r>
              <a:rPr sz="775" i="0">
                <a:solidFill>
                  <a:srgbClr val="5C6773"/>
                </a:solidFill>
                <a:latin typeface="Inconsolata"/>
              </a:rPr>
              <a:t>40  </a:t>
            </a:r>
            <a:r>
              <a:rPr sz="775" i="0">
                <a:solidFill>
                  <a:srgbClr val="E6EDF3"/>
                </a:solidFill>
                <a:latin typeface="Inconsolata"/>
              </a:rPr>
              <a:t>            </a:t>
            </a:r>
            <a:r>
              <a:rPr sz="775" i="0">
                <a:solidFill>
                  <a:srgbClr val="82B1FF"/>
                </a:solidFill>
                <a:latin typeface="Inconsolata"/>
              </a:rPr>
              <a:t>requests</a:t>
            </a:r>
            <a:r>
              <a:rPr sz="775" i="0">
                <a:solidFill>
                  <a:srgbClr val="E6EDF3"/>
                </a:solidFill>
                <a:latin typeface="Inconsolata"/>
              </a:rPr>
              <a:t>:</a:t>
            </a:r>
          </a:p>
          <a:p>
            <a:pPr>
              <a:lnSpc>
                <a:spcPct val="107527"/>
              </a:lnSpc>
              <a:spcAft>
                <a:spcPts val="0"/>
              </a:spcAft>
            </a:pPr>
            <a:r>
              <a:rPr sz="775" i="0">
                <a:solidFill>
                  <a:srgbClr val="5C6773"/>
                </a:solidFill>
                <a:latin typeface="Inconsolata"/>
              </a:rPr>
              <a:t>41  </a:t>
            </a:r>
            <a:r>
              <a:rPr sz="775" i="0">
                <a:solidFill>
                  <a:srgbClr val="E6EDF3"/>
                </a:solidFill>
                <a:latin typeface="Inconsolata"/>
              </a:rPr>
              <a:t>              </a:t>
            </a:r>
            <a:r>
              <a:rPr sz="775" i="0">
                <a:solidFill>
                  <a:srgbClr val="82B1FF"/>
                </a:solidFill>
                <a:latin typeface="Inconsolata"/>
              </a:rPr>
              <a:t>cpu</a:t>
            </a:r>
            <a:r>
              <a:rPr sz="775" i="0">
                <a:solidFill>
                  <a:srgbClr val="E6EDF3"/>
                </a:solidFill>
                <a:latin typeface="Inconsolata"/>
              </a:rPr>
              <a:t>: 50m</a:t>
            </a:r>
          </a:p>
          <a:p>
            <a:pPr>
              <a:lnSpc>
                <a:spcPct val="107527"/>
              </a:lnSpc>
              <a:spcAft>
                <a:spcPts val="0"/>
              </a:spcAft>
            </a:pPr>
            <a:r>
              <a:rPr sz="775" i="0">
                <a:solidFill>
                  <a:srgbClr val="5C6773"/>
                </a:solidFill>
                <a:latin typeface="Inconsolata"/>
              </a:rPr>
              <a:t>42  </a:t>
            </a:r>
            <a:r>
              <a:rPr sz="775" i="0">
                <a:solidFill>
                  <a:srgbClr val="E6EDF3"/>
                </a:solidFill>
                <a:latin typeface="Inconsolata"/>
              </a:rPr>
              <a:t>              </a:t>
            </a:r>
            <a:r>
              <a:rPr sz="775" i="0">
                <a:solidFill>
                  <a:srgbClr val="82B1FF"/>
                </a:solidFill>
                <a:latin typeface="Inconsolata"/>
              </a:rPr>
              <a:t>memory</a:t>
            </a:r>
            <a:r>
              <a:rPr sz="775" i="0">
                <a:solidFill>
                  <a:srgbClr val="E6EDF3"/>
                </a:solidFill>
                <a:latin typeface="Inconsolata"/>
              </a:rPr>
              <a:t>: 64Mi</a:t>
            </a:r>
          </a:p>
          <a:p>
            <a:pPr>
              <a:lnSpc>
                <a:spcPct val="107527"/>
              </a:lnSpc>
              <a:spcAft>
                <a:spcPts val="0"/>
              </a:spcAft>
            </a:pPr>
            <a:r>
              <a:rPr sz="775" i="0">
                <a:solidFill>
                  <a:srgbClr val="5C6773"/>
                </a:solidFill>
                <a:latin typeface="Inconsolata"/>
              </a:rPr>
              <a:t>43  </a:t>
            </a:r>
            <a:r>
              <a:rPr sz="775" i="0">
                <a:solidFill>
                  <a:srgbClr val="E6EDF3"/>
                </a:solidFill>
                <a:latin typeface="Inconsolata"/>
              </a:rPr>
              <a:t>            </a:t>
            </a:r>
            <a:r>
              <a:rPr sz="775" i="0">
                <a:solidFill>
                  <a:srgbClr val="82B1FF"/>
                </a:solidFill>
                <a:latin typeface="Inconsolata"/>
              </a:rPr>
              <a:t>limits</a:t>
            </a:r>
            <a:r>
              <a:rPr sz="775" i="0">
                <a:solidFill>
                  <a:srgbClr val="E6EDF3"/>
                </a:solidFill>
                <a:latin typeface="Inconsolata"/>
              </a:rPr>
              <a:t>:</a:t>
            </a:r>
          </a:p>
          <a:p>
            <a:pPr>
              <a:lnSpc>
                <a:spcPct val="107527"/>
              </a:lnSpc>
              <a:spcAft>
                <a:spcPts val="0"/>
              </a:spcAft>
            </a:pPr>
            <a:r>
              <a:rPr sz="775" i="0">
                <a:solidFill>
                  <a:srgbClr val="5C6773"/>
                </a:solidFill>
                <a:latin typeface="Inconsolata"/>
              </a:rPr>
              <a:t>44  </a:t>
            </a:r>
            <a:r>
              <a:rPr sz="775" i="0">
                <a:solidFill>
                  <a:srgbClr val="E6EDF3"/>
                </a:solidFill>
                <a:latin typeface="Inconsolata"/>
              </a:rPr>
              <a:t>              </a:t>
            </a:r>
            <a:r>
              <a:rPr sz="775" i="0">
                <a:solidFill>
                  <a:srgbClr val="82B1FF"/>
                </a:solidFill>
                <a:latin typeface="Inconsolata"/>
              </a:rPr>
              <a:t>memory</a:t>
            </a:r>
            <a:r>
              <a:rPr sz="775" i="0">
                <a:solidFill>
                  <a:srgbClr val="E6EDF3"/>
                </a:solidFill>
                <a:latin typeface="Inconsolata"/>
              </a:rPr>
              <a:t>: 256Mi</a:t>
            </a:r>
          </a:p>
        </p:txBody>
      </p:sp>
      <p:sp>
        <p:nvSpPr>
          <p:cNvPr id="29" name="Box 12"/>
          <p:cNvSpPr/>
          <p:nvPr/>
        </p:nvSpPr>
        <p:spPr>
          <a:xfrm>
            <a:off x="704088" y="2462022"/>
            <a:ext cx="7699248" cy="627380"/>
          </a:xfrm>
          <a:prstGeom prst="roundRect">
            <a:avLst>
              <a:gd name="adj" fmla="val 728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8284463" y="265684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3097022"/>
            <a:ext cx="7699248" cy="754380"/>
          </a:xfrm>
          <a:prstGeom prst="roundRect">
            <a:avLst>
              <a:gd name="adj" fmla="val 6060"/>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8284463" y="335534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3859022"/>
            <a:ext cx="7699248" cy="754380"/>
          </a:xfrm>
          <a:prstGeom prst="roundRect">
            <a:avLst>
              <a:gd name="adj" fmla="val 6060"/>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8284463" y="411734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Probes</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06-probes/after/</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sesi-11-docker-kubernetes-cicd/06-probes</a:t>
            </a:r>
          </a:p>
          <a:p>
            <a:pPr>
              <a:lnSpc>
                <a:spcPct val="111111"/>
              </a:lnSpc>
              <a:spcAft>
                <a:spcPts val="0"/>
              </a:spcAft>
            </a:pPr>
            <a:r>
              <a:rPr sz="900" i="0">
                <a:solidFill>
                  <a:srgbClr val="82B1FF"/>
                </a:solidFill>
                <a:latin typeface="Inconsolata"/>
              </a:rPr>
              <a:t>$ kubectl apply -f after/</a:t>
            </a:r>
          </a:p>
        </p:txBody>
      </p:sp>
      <p:pic>
        <p:nvPicPr>
          <p:cNvPr id="29" name="Image 12" descr="s11-06-probes-after.png"/>
          <p:cNvPicPr>
            <a:picLocks noChangeAspect="1"/>
          </p:cNvPicPr>
          <p:nvPr/>
        </p:nvPicPr>
        <p:blipFill>
          <a:blip r:embed="rId2"/>
          <a:stretch>
            <a:fillRect/>
          </a:stretch>
        </p:blipFill>
        <p:spPr>
          <a:xfrm>
            <a:off x="621792" y="2322576"/>
            <a:ext cx="4297680" cy="1939611"/>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Readiness: </a:t>
            </a:r>
            <a:r>
              <a:rPr sz="950" b="0" i="0">
                <a:solidFill>
                  <a:srgbClr val="B5482A"/>
                </a:solidFill>
                <a:latin typeface="Inconsolata"/>
              </a:rPr>
              <a:t>/health/ready</a:t>
            </a:r>
            <a:r>
              <a:rPr sz="950" b="0" i="0">
                <a:solidFill>
                  <a:srgbClr val="434343"/>
                </a:solidFill>
                <a:latin typeface="Inter"/>
              </a:rPr>
              <a:t> tiap 2 detik (baris 28-32)</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Liveness: </a:t>
            </a:r>
            <a:r>
              <a:rPr sz="950" b="0" i="0">
                <a:solidFill>
                  <a:srgbClr val="B5482A"/>
                </a:solidFill>
                <a:latin typeface="Inconsolata"/>
              </a:rPr>
              <a:t>/health/live</a:t>
            </a:r>
            <a:r>
              <a:rPr sz="950" b="0" i="0">
                <a:solidFill>
                  <a:srgbClr val="434343"/>
                </a:solidFill>
                <a:latin typeface="Inter"/>
              </a:rPr>
              <a:t> tiap 5 detik, gagal 2 kali = restart (baris 33-38)</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Batas CPU dan memori (baris 39-44)</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B5482A"/>
                </a:solidFill>
                <a:latin typeface="Inconsolata"/>
              </a:rPr>
              <a:t>0/1</a:t>
            </a:r>
            <a:r>
              <a:rPr sz="950" b="0" i="0">
                <a:solidFill>
                  <a:srgbClr val="434343"/>
                </a:solidFill>
                <a:latin typeface="Inter"/>
              </a:rPr>
              <a:t> sampai siap, </a:t>
            </a:r>
            <a:r>
              <a:rPr sz="950" b="0" i="0">
                <a:solidFill>
                  <a:srgbClr val="B5482A"/>
                </a:solidFill>
                <a:latin typeface="Inconsolata"/>
              </a:rPr>
              <a:t>1/1</a:t>
            </a:r>
            <a:r>
              <a:rPr sz="950" b="0" i="0">
                <a:solidFill>
                  <a:srgbClr val="434343"/>
                </a:solidFill>
                <a:latin typeface="Inter"/>
              </a:rPr>
              <a:t> di detik 26, </a:t>
            </a:r>
            <a:r>
              <a:rPr sz="950" b="0" i="0">
                <a:solidFill>
                  <a:srgbClr val="B5482A"/>
                </a:solidFill>
                <a:latin typeface="Inconsolata"/>
              </a:rPr>
              <a:t>RESTARTS 1</a:t>
            </a:r>
            <a:r>
              <a:rPr sz="950" b="0" i="0">
                <a:solidFill>
                  <a:srgbClr val="434343"/>
                </a:solidFill>
                <a:latin typeface="Inter"/>
              </a:rPr>
              <a:t> setelah macet.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oogle Shape;3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52</a:t>
            </a:fld>
            <a:endParaRPr/>
          </a:p>
        </p:txBody>
      </p:sp>
      <p:sp>
        <p:nvSpPr>
          <p:cNvPr id="31" name="Text 1"/>
          <p:cNvSpPr txBox="1"/>
          <p:nvPr/>
        </p:nvSpPr>
        <p:spPr>
          <a:xfrm>
            <a:off x="822960" y="1600200"/>
            <a:ext cx="7315200" cy="365760"/>
          </a:xfrm>
          <a:prstGeom prst="rect">
            <a:avLst/>
          </a:prstGeom>
          <a:noFill/>
        </p:spPr>
        <p:txBody>
          <a:bodyPr wrap="square" lIns="45720" rIns="45720" anchor="t">
            <a:spAutoFit/>
          </a:bodyPr>
          <a:lstStyle/>
          <a:p>
            <a:pPr algn="l">
              <a:lnSpc>
                <a:spcPct val="115000"/>
              </a:lnSpc>
              <a:spcAft>
                <a:spcPts val="400"/>
              </a:spcAft>
            </a:pPr>
            <a:r>
              <a:rPr sz="1400" b="0" i="0">
                <a:solidFill>
                  <a:srgbClr val="CFE0FA"/>
                </a:solidFill>
                <a:latin typeface="Inter"/>
              </a:rPr>
              <a:t>Bagian 03</a:t>
            </a:r>
          </a:p>
        </p:txBody>
      </p:sp>
      <p:sp>
        <p:nvSpPr>
          <p:cNvPr id="32" name="Text 2"/>
          <p:cNvSpPr txBox="1"/>
          <p:nvPr/>
        </p:nvSpPr>
        <p:spPr>
          <a:xfrm>
            <a:off x="822960" y="1920240"/>
            <a:ext cx="7315200" cy="822960"/>
          </a:xfrm>
          <a:prstGeom prst="rect">
            <a:avLst/>
          </a:prstGeom>
          <a:noFill/>
        </p:spPr>
        <p:txBody>
          <a:bodyPr wrap="square" lIns="45720" rIns="45720" anchor="t">
            <a:spAutoFit/>
          </a:bodyPr>
          <a:lstStyle/>
          <a:p>
            <a:pPr algn="l">
              <a:lnSpc>
                <a:spcPct val="115000"/>
              </a:lnSpc>
              <a:spcAft>
                <a:spcPts val="400"/>
              </a:spcAft>
            </a:pPr>
            <a:r>
              <a:rPr sz="3000" b="0" i="0">
                <a:solidFill>
                  <a:srgbClr val="FFFFFF"/>
                </a:solidFill>
                <a:latin typeface="Work Sans ExtraBold"/>
              </a:rPr>
              <a:t>CI/CD Pipeline</a:t>
            </a:r>
          </a:p>
        </p:txBody>
      </p:sp>
      <p:sp>
        <p:nvSpPr>
          <p:cNvPr id="33" name="Text 3"/>
          <p:cNvSpPr txBox="1"/>
          <p:nvPr/>
        </p:nvSpPr>
        <p:spPr>
          <a:xfrm>
            <a:off x="822960" y="2743200"/>
            <a:ext cx="6583680" cy="731520"/>
          </a:xfrm>
          <a:prstGeom prst="rect">
            <a:avLst/>
          </a:prstGeom>
          <a:noFill/>
        </p:spPr>
        <p:txBody>
          <a:bodyPr wrap="square" lIns="45720" rIns="45720" anchor="t">
            <a:spAutoFit/>
          </a:bodyPr>
          <a:lstStyle/>
          <a:p>
            <a:pPr algn="l">
              <a:lnSpc>
                <a:spcPct val="115000"/>
              </a:lnSpc>
              <a:spcAft>
                <a:spcPts val="400"/>
              </a:spcAft>
            </a:pPr>
            <a:r>
              <a:rPr sz="1200" b="0" i="0">
                <a:solidFill>
                  <a:srgbClr val="E3ECFA"/>
                </a:solidFill>
                <a:latin typeface="Inter"/>
              </a:rPr>
              <a:t>Lint, test, build, scan, dan publish otomatis.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CI/CD</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CI/CD?</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CI (Continuous Integration) adalah</a:t>
            </a:r>
          </a:p>
          <a:p>
            <a:pPr algn="l">
              <a:lnSpc>
                <a:spcPct val="115000"/>
              </a:lnSpc>
              <a:spcAft>
                <a:spcPts val="400"/>
              </a:spcAft>
            </a:pPr>
            <a:r>
              <a:rPr sz="900" b="0" i="0">
                <a:solidFill>
                  <a:srgbClr val="434343"/>
                </a:solidFill>
                <a:latin typeface="Inter"/>
              </a:rPr>
              <a:t>Praktik menjalankan pengecekan otomatis (lint, test, build) di </a:t>
            </a:r>
            <a:r>
              <a:rPr sz="900" b="1" i="0">
                <a:solidFill>
                  <a:srgbClr val="434343"/>
                </a:solidFill>
                <a:latin typeface="Inter"/>
              </a:rPr>
              <a:t>setiap perubahan kode</a:t>
            </a:r>
            <a:r>
              <a:rPr sz="900" b="0" i="0">
                <a:solidFill>
                  <a:srgbClr val="434343"/>
                </a:solidFill>
                <a:latin typeface="Inter"/>
              </a:rPr>
              <a:t>, sebelum di-merge.</a:t>
            </a:r>
          </a:p>
          <a:p>
            <a:pPr algn="l">
              <a:lnSpc>
                <a:spcPct val="115000"/>
              </a:lnSpc>
              <a:spcAft>
                <a:spcPts val="400"/>
              </a:spcAft>
            </a:pPr>
            <a:r>
              <a:rPr sz="1000" b="1" i="0">
                <a:solidFill>
                  <a:srgbClr val="1C4587"/>
                </a:solidFill>
                <a:latin typeface="Inter"/>
              </a:rPr>
              <a:t>CD (Continuous Delivery) adalah</a:t>
            </a:r>
          </a:p>
          <a:p>
            <a:pPr algn="l">
              <a:lnSpc>
                <a:spcPct val="115000"/>
              </a:lnSpc>
              <a:spcAft>
                <a:spcPts val="400"/>
              </a:spcAft>
            </a:pPr>
            <a:r>
              <a:rPr sz="900" b="0" i="0">
                <a:solidFill>
                  <a:srgbClr val="434343"/>
                </a:solidFill>
                <a:latin typeface="Inter"/>
              </a:rPr>
              <a:t>Lanjutan CI: hasil build yang lolos semua pengecekan otomatis disiapkan atau di-deploy ke environment.</a:t>
            </a:r>
          </a:p>
          <a:p>
            <a:pPr algn="l">
              <a:lnSpc>
                <a:spcPct val="115000"/>
              </a:lnSpc>
              <a:spcAft>
                <a:spcPts val="400"/>
              </a:spcAft>
            </a:pPr>
            <a:r>
              <a:rPr sz="100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Menemukan kode bermasalah sebelum masuk main</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Membuat image yang di-deploy selalu sudah lolos test dan scan</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setelah merge: 07-ci-pipeline/before.yml</a:t>
            </a:r>
          </a:p>
        </p:txBody>
      </p:sp>
      <p:sp>
        <p:nvSpPr>
          <p:cNvPr id="28" name="CodeBg 11"/>
          <p:cNvSpPr/>
          <p:nvPr/>
        </p:nvSpPr>
        <p:spPr>
          <a:xfrm>
            <a:off x="4297680" y="1719072"/>
            <a:ext cx="4187951" cy="1005840"/>
          </a:xfrm>
          <a:prstGeom prst="roundRect">
            <a:avLst>
              <a:gd name="adj" fmla="val 1818"/>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1005840"/>
          </a:xfrm>
          <a:prstGeom prst="rect">
            <a:avLst/>
          </a:prstGeom>
          <a:noFill/>
        </p:spPr>
        <p:txBody>
          <a:bodyPr wrap="none" lIns="146304" tIns="91440" rIns="146304" bIns="54864">
            <a:spAutoFit/>
          </a:bodyPr>
          <a:lstStyle/>
          <a:p>
            <a:pPr>
              <a:lnSpc>
                <a:spcPct val="111111"/>
              </a:lnSpc>
              <a:spcAft>
                <a:spcPts val="0"/>
              </a:spcAft>
            </a:pPr>
            <a:r>
              <a:rPr sz="750" i="0">
                <a:solidFill>
                  <a:srgbClr val="82B1FF"/>
                </a:solidFill>
                <a:latin typeface="Inconsolata"/>
              </a:rPr>
              <a:t>on</a:t>
            </a:r>
            <a:r>
              <a:rPr sz="750" i="0">
                <a:solidFill>
                  <a:srgbClr val="E6EDF3"/>
                </a:solidFill>
                <a:latin typeface="Inconsolata"/>
              </a:rPr>
              <a:t>:</a:t>
            </a:r>
          </a:p>
          <a:p>
            <a:pPr>
              <a:lnSpc>
                <a:spcPct val="111111"/>
              </a:lnSpc>
              <a:spcAft>
                <a:spcPts val="0"/>
              </a:spcAft>
            </a:pPr>
            <a:r>
              <a:rPr sz="750" i="0">
                <a:solidFill>
                  <a:srgbClr val="E6EDF3"/>
                </a:solidFill>
                <a:latin typeface="Inconsolata"/>
              </a:rPr>
              <a:t>  </a:t>
            </a:r>
            <a:r>
              <a:rPr sz="750" i="0">
                <a:solidFill>
                  <a:srgbClr val="82B1FF"/>
                </a:solidFill>
                <a:latin typeface="Inconsolata"/>
              </a:rPr>
              <a:t>push</a:t>
            </a:r>
            <a:r>
              <a:rPr sz="750" i="0">
                <a:solidFill>
                  <a:srgbClr val="E6EDF3"/>
                </a:solidFill>
                <a:latin typeface="Inconsolata"/>
              </a:rPr>
              <a:t>:</a:t>
            </a:r>
          </a:p>
          <a:p>
            <a:pPr>
              <a:lnSpc>
                <a:spcPct val="111111"/>
              </a:lnSpc>
              <a:spcAft>
                <a:spcPts val="0"/>
              </a:spcAft>
            </a:pPr>
            <a:r>
              <a:rPr sz="750" i="0">
                <a:solidFill>
                  <a:srgbClr val="E6EDF3"/>
                </a:solidFill>
                <a:latin typeface="Inconsolata"/>
              </a:rPr>
              <a:t>    </a:t>
            </a:r>
            <a:r>
              <a:rPr sz="750" i="0">
                <a:solidFill>
                  <a:srgbClr val="82B1FF"/>
                </a:solidFill>
                <a:latin typeface="Inconsolata"/>
              </a:rPr>
              <a:t>branches</a:t>
            </a:r>
            <a:r>
              <a:rPr sz="750" i="0">
                <a:solidFill>
                  <a:srgbClr val="E6EDF3"/>
                </a:solidFill>
                <a:latin typeface="Inconsolata"/>
              </a:rPr>
              <a:t>: [main]</a:t>
            </a:r>
          </a:p>
          <a:p>
            <a:pPr>
              <a:lnSpc>
                <a:spcPct val="111111"/>
              </a:lnSpc>
              <a:spcAft>
                <a:spcPts val="0"/>
              </a:spcAft>
            </a:pPr>
            <a:r>
              <a:rPr sz="750" i="0">
                <a:solidFill>
                  <a:srgbClr val="E6EDF3"/>
                </a:solidFill>
                <a:latin typeface="Inconsolata"/>
              </a:rPr>
              <a:t>...</a:t>
            </a:r>
          </a:p>
          <a:p>
            <a:pPr>
              <a:lnSpc>
                <a:spcPct val="111111"/>
              </a:lnSpc>
              <a:spcAft>
                <a:spcPts val="0"/>
              </a:spcAft>
            </a:pPr>
            <a:r>
              <a:rPr sz="750" i="0">
                <a:solidFill>
                  <a:srgbClr val="E6EDF3"/>
                </a:solidFill>
                <a:latin typeface="Inconsolata"/>
              </a:rPr>
              <a:t>      - </a:t>
            </a:r>
            <a:r>
              <a:rPr sz="750" i="0">
                <a:solidFill>
                  <a:srgbClr val="82B1FF"/>
                </a:solidFill>
                <a:latin typeface="Inconsolata"/>
              </a:rPr>
              <a:t>run</a:t>
            </a:r>
            <a:r>
              <a:rPr sz="750" i="0">
                <a:solidFill>
                  <a:srgbClr val="E6EDF3"/>
                </a:solidFill>
                <a:latin typeface="Inconsolata"/>
              </a:rPr>
              <a:t>: pytest</a:t>
            </a:r>
          </a:p>
        </p:txBody>
      </p:sp>
      <p:sp>
        <p:nvSpPr>
          <p:cNvPr id="30" name="Box 13"/>
          <p:cNvSpPr/>
          <p:nvPr/>
        </p:nvSpPr>
        <p:spPr>
          <a:xfrm>
            <a:off x="4379976" y="1954022"/>
            <a:ext cx="4023359" cy="246380"/>
          </a:xfrm>
          <a:prstGeom prst="roundRect">
            <a:avLst>
              <a:gd name="adj" fmla="val 18556"/>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Box 14"/>
          <p:cNvSpPr/>
          <p:nvPr/>
        </p:nvSpPr>
        <p:spPr>
          <a:xfrm>
            <a:off x="4379976" y="2335022"/>
            <a:ext cx="4023359" cy="119380"/>
          </a:xfrm>
          <a:prstGeom prst="roundRect">
            <a:avLst>
              <a:gd name="adj" fmla="val 38297"/>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CodeTab 16"/>
          <p:cNvSpPr/>
          <p:nvPr/>
        </p:nvSpPr>
        <p:spPr>
          <a:xfrm>
            <a:off x="4297680" y="2816352"/>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3" name="Dot 17"/>
          <p:cNvSpPr/>
          <p:nvPr/>
        </p:nvSpPr>
        <p:spPr>
          <a:xfrm>
            <a:off x="4407408" y="2894076"/>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544568" y="2894076"/>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Dot 19"/>
          <p:cNvSpPr/>
          <p:nvPr/>
        </p:nvSpPr>
        <p:spPr>
          <a:xfrm>
            <a:off x="4681728" y="2894076"/>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 20"/>
          <p:cNvSpPr txBox="1"/>
          <p:nvPr/>
        </p:nvSpPr>
        <p:spPr>
          <a:xfrm>
            <a:off x="4846320" y="2825496"/>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sebelum merge: 07-ci-pipeline/after.yml</a:t>
            </a:r>
          </a:p>
        </p:txBody>
      </p:sp>
      <p:sp>
        <p:nvSpPr>
          <p:cNvPr id="37" name="CodeBg 22"/>
          <p:cNvSpPr/>
          <p:nvPr/>
        </p:nvSpPr>
        <p:spPr>
          <a:xfrm>
            <a:off x="4297680" y="3054096"/>
            <a:ext cx="4187951" cy="1645919"/>
          </a:xfrm>
          <a:prstGeom prst="roundRect">
            <a:avLst>
              <a:gd name="adj" fmla="val 1111"/>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8" name="Code 23"/>
          <p:cNvSpPr txBox="1"/>
          <p:nvPr/>
        </p:nvSpPr>
        <p:spPr>
          <a:xfrm>
            <a:off x="4297680" y="3054096"/>
            <a:ext cx="4187951" cy="1645919"/>
          </a:xfrm>
          <a:prstGeom prst="rect">
            <a:avLst/>
          </a:prstGeom>
          <a:noFill/>
        </p:spPr>
        <p:txBody>
          <a:bodyPr wrap="none" lIns="146304" tIns="91440" rIns="146304" bIns="54864">
            <a:spAutoFit/>
          </a:bodyPr>
          <a:lstStyle/>
          <a:p>
            <a:pPr>
              <a:lnSpc>
                <a:spcPct val="111111"/>
              </a:lnSpc>
              <a:spcAft>
                <a:spcPts val="0"/>
              </a:spcAft>
            </a:pPr>
            <a:r>
              <a:rPr sz="750" i="0">
                <a:solidFill>
                  <a:srgbClr val="82B1FF"/>
                </a:solidFill>
                <a:latin typeface="Inconsolata"/>
              </a:rPr>
              <a:t>on</a:t>
            </a:r>
            <a:r>
              <a:rPr sz="750" i="0">
                <a:solidFill>
                  <a:srgbClr val="E6EDF3"/>
                </a:solidFill>
                <a:latin typeface="Inconsolata"/>
              </a:rPr>
              <a:t>:</a:t>
            </a:r>
          </a:p>
          <a:p>
            <a:pPr>
              <a:lnSpc>
                <a:spcPct val="111111"/>
              </a:lnSpc>
              <a:spcAft>
                <a:spcPts val="0"/>
              </a:spcAft>
            </a:pPr>
            <a:r>
              <a:rPr sz="750" i="0">
                <a:solidFill>
                  <a:srgbClr val="E6EDF3"/>
                </a:solidFill>
                <a:latin typeface="Inconsolata"/>
              </a:rPr>
              <a:t>  </a:t>
            </a:r>
            <a:r>
              <a:rPr sz="750" i="0">
                <a:solidFill>
                  <a:srgbClr val="82B1FF"/>
                </a:solidFill>
                <a:latin typeface="Inconsolata"/>
              </a:rPr>
              <a:t>pull_request</a:t>
            </a:r>
            <a:r>
              <a:rPr sz="750" i="0">
                <a:solidFill>
                  <a:srgbClr val="E6EDF3"/>
                </a:solidFill>
                <a:latin typeface="Inconsolata"/>
              </a:rPr>
              <a:t>:</a:t>
            </a:r>
          </a:p>
          <a:p>
            <a:pPr>
              <a:lnSpc>
                <a:spcPct val="111111"/>
              </a:lnSpc>
              <a:spcAft>
                <a:spcPts val="0"/>
              </a:spcAft>
            </a:pPr>
            <a:r>
              <a:rPr sz="750" i="0">
                <a:solidFill>
                  <a:srgbClr val="E6EDF3"/>
                </a:solidFill>
                <a:latin typeface="Inconsolata"/>
              </a:rPr>
              <a:t>...</a:t>
            </a:r>
          </a:p>
          <a:p>
            <a:pPr>
              <a:lnSpc>
                <a:spcPct val="111111"/>
              </a:lnSpc>
              <a:spcAft>
                <a:spcPts val="0"/>
              </a:spcAft>
            </a:pPr>
            <a:r>
              <a:rPr sz="750" i="0">
                <a:solidFill>
                  <a:srgbClr val="E6EDF3"/>
                </a:solidFill>
                <a:latin typeface="Inconsolata"/>
              </a:rPr>
              <a:t>  </a:t>
            </a:r>
            <a:r>
              <a:rPr sz="750" i="0">
                <a:solidFill>
                  <a:srgbClr val="82B1FF"/>
                </a:solidFill>
                <a:latin typeface="Inconsolata"/>
              </a:rPr>
              <a:t>test</a:t>
            </a:r>
            <a:r>
              <a:rPr sz="750" i="0">
                <a:solidFill>
                  <a:srgbClr val="E6EDF3"/>
                </a:solidFill>
                <a:latin typeface="Inconsolata"/>
              </a:rPr>
              <a:t>:</a:t>
            </a:r>
          </a:p>
          <a:p>
            <a:pPr>
              <a:lnSpc>
                <a:spcPct val="111111"/>
              </a:lnSpc>
              <a:spcAft>
                <a:spcPts val="0"/>
              </a:spcAft>
            </a:pPr>
            <a:r>
              <a:rPr sz="750" i="0">
                <a:solidFill>
                  <a:srgbClr val="E6EDF3"/>
                </a:solidFill>
                <a:latin typeface="Inconsolata"/>
              </a:rPr>
              <a:t>    </a:t>
            </a:r>
            <a:r>
              <a:rPr sz="750" i="0">
                <a:solidFill>
                  <a:srgbClr val="82B1FF"/>
                </a:solidFill>
                <a:latin typeface="Inconsolata"/>
              </a:rPr>
              <a:t>needs</a:t>
            </a:r>
            <a:r>
              <a:rPr sz="750" i="0">
                <a:solidFill>
                  <a:srgbClr val="E6EDF3"/>
                </a:solidFill>
                <a:latin typeface="Inconsolata"/>
              </a:rPr>
              <a:t>: lint</a:t>
            </a:r>
          </a:p>
          <a:p>
            <a:pPr>
              <a:lnSpc>
                <a:spcPct val="111111"/>
              </a:lnSpc>
              <a:spcAft>
                <a:spcPts val="0"/>
              </a:spcAft>
            </a:pPr>
            <a:r>
              <a:rPr sz="750" i="0">
                <a:solidFill>
                  <a:srgbClr val="E6EDF3"/>
                </a:solidFill>
                <a:latin typeface="Inconsolata"/>
              </a:rPr>
              <a:t>...</a:t>
            </a:r>
          </a:p>
          <a:p>
            <a:pPr>
              <a:lnSpc>
                <a:spcPct val="111111"/>
              </a:lnSpc>
              <a:spcAft>
                <a:spcPts val="0"/>
              </a:spcAft>
            </a:pPr>
            <a:r>
              <a:rPr sz="750" i="0">
                <a:solidFill>
                  <a:srgbClr val="E6EDF3"/>
                </a:solidFill>
                <a:latin typeface="Inconsolata"/>
              </a:rPr>
              <a:t>  </a:t>
            </a:r>
            <a:r>
              <a:rPr sz="750" i="0">
                <a:solidFill>
                  <a:srgbClr val="82B1FF"/>
                </a:solidFill>
                <a:latin typeface="Inconsolata"/>
              </a:rPr>
              <a:t>build-scan</a:t>
            </a:r>
            <a:r>
              <a:rPr sz="750" i="0">
                <a:solidFill>
                  <a:srgbClr val="E6EDF3"/>
                </a:solidFill>
                <a:latin typeface="Inconsolata"/>
              </a:rPr>
              <a:t>:</a:t>
            </a:r>
          </a:p>
          <a:p>
            <a:pPr>
              <a:lnSpc>
                <a:spcPct val="111111"/>
              </a:lnSpc>
              <a:spcAft>
                <a:spcPts val="0"/>
              </a:spcAft>
            </a:pPr>
            <a:r>
              <a:rPr sz="750" i="0">
                <a:solidFill>
                  <a:srgbClr val="E6EDF3"/>
                </a:solidFill>
                <a:latin typeface="Inconsolata"/>
              </a:rPr>
              <a:t>    </a:t>
            </a:r>
            <a:r>
              <a:rPr sz="750" i="0">
                <a:solidFill>
                  <a:srgbClr val="82B1FF"/>
                </a:solidFill>
                <a:latin typeface="Inconsolata"/>
              </a:rPr>
              <a:t>needs</a:t>
            </a:r>
            <a:r>
              <a:rPr sz="750" i="0">
                <a:solidFill>
                  <a:srgbClr val="E6EDF3"/>
                </a:solidFill>
                <a:latin typeface="Inconsolata"/>
              </a:rPr>
              <a:t>: test</a:t>
            </a:r>
          </a:p>
        </p:txBody>
      </p:sp>
      <p:sp>
        <p:nvSpPr>
          <p:cNvPr id="39" name="Box 24"/>
          <p:cNvSpPr/>
          <p:nvPr/>
        </p:nvSpPr>
        <p:spPr>
          <a:xfrm>
            <a:off x="4379976" y="3289046"/>
            <a:ext cx="4023359" cy="119380"/>
          </a:xfrm>
          <a:prstGeom prst="roundRect">
            <a:avLst>
              <a:gd name="adj" fmla="val 3829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0" name="Box 25"/>
          <p:cNvSpPr/>
          <p:nvPr/>
        </p:nvSpPr>
        <p:spPr>
          <a:xfrm>
            <a:off x="4379976" y="3670045"/>
            <a:ext cx="4023359" cy="119380"/>
          </a:xfrm>
          <a:prstGeom prst="roundRect">
            <a:avLst>
              <a:gd name="adj" fmla="val 3829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Box 26"/>
          <p:cNvSpPr/>
          <p:nvPr/>
        </p:nvSpPr>
        <p:spPr>
          <a:xfrm>
            <a:off x="4379976" y="4051046"/>
            <a:ext cx="4023359" cy="119380"/>
          </a:xfrm>
          <a:prstGeom prst="roundRect">
            <a:avLst>
              <a:gd name="adj" fmla="val 3829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CI/CD</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menggunakan Pipeline CI/CD?</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Dengan pengecekan manual</a:t>
            </a:r>
          </a:p>
          <a:p>
            <a:pPr algn="l">
              <a:lnSpc>
                <a:spcPct val="115000"/>
              </a:lnSpc>
              <a:spcAft>
                <a:spcPts val="400"/>
              </a:spcAft>
            </a:pPr>
            <a:r>
              <a:rPr sz="950" b="0" i="0">
                <a:solidFill>
                  <a:srgbClr val="434343"/>
                </a:solidFill>
                <a:latin typeface="Inter"/>
              </a:rPr>
              <a:t>Pipeline hanya </a:t>
            </a:r>
            <a:r>
              <a:rPr sz="950" b="0" i="0">
                <a:solidFill>
                  <a:srgbClr val="B5482A"/>
                </a:solidFill>
                <a:latin typeface="Inconsolata"/>
              </a:rPr>
              <a:t>pytest</a:t>
            </a:r>
            <a:r>
              <a:rPr sz="950" b="0" i="0">
                <a:solidFill>
                  <a:srgbClr val="434343"/>
                </a:solidFill>
                <a:latin typeface="Inter"/>
              </a:rPr>
              <a:t>, dan baru jalan setelah kode masuk main. Import yang tidak dipakai dan image yang rentan lolos.</a:t>
            </a:r>
          </a:p>
          <a:p>
            <a:pPr algn="l">
              <a:lnSpc>
                <a:spcPct val="115000"/>
              </a:lnSpc>
              <a:spcAft>
                <a:spcPts val="400"/>
              </a:spcAft>
            </a:pPr>
            <a:r>
              <a:rPr sz="1050" b="1" i="0">
                <a:solidFill>
                  <a:srgbClr val="1C4587"/>
                </a:solidFill>
                <a:latin typeface="Inter"/>
              </a:rPr>
              <a:t>Jika anggota tim makin banyak</a:t>
            </a:r>
          </a:p>
          <a:p>
            <a:pPr algn="l">
              <a:lnSpc>
                <a:spcPct val="115000"/>
              </a:lnSpc>
              <a:spcAft>
                <a:spcPts val="400"/>
              </a:spcAft>
            </a:pPr>
            <a:r>
              <a:rPr sz="950" b="0" i="0">
                <a:solidFill>
                  <a:srgbClr val="434343"/>
                </a:solidFill>
                <a:latin typeface="Inter"/>
              </a:rPr>
              <a:t>Pull request makin banyak, dan setiap orang menguji dengan caranya sendiri.</a:t>
            </a:r>
          </a:p>
          <a:p>
            <a:pPr algn="l">
              <a:lnSpc>
                <a:spcPct val="115000"/>
              </a:lnSpc>
              <a:spcAft>
                <a:spcPts val="400"/>
              </a:spcAft>
            </a:pPr>
            <a:r>
              <a:rPr sz="950" b="0" i="0">
                <a:solidFill>
                  <a:srgbClr val="434343"/>
                </a:solidFill>
                <a:latin typeface="Inter"/>
              </a:rPr>
              <a:t>Hal ini membuat kode bermasalah sering lolos ke main dan baru ketahuan di production.</a:t>
            </a:r>
          </a:p>
          <a:p>
            <a:pPr algn="l">
              <a:lnSpc>
                <a:spcPct val="115000"/>
              </a:lnSpc>
              <a:spcAft>
                <a:spcPts val="400"/>
              </a:spcAft>
            </a:pPr>
            <a:r>
              <a:rPr sz="1050" b="1" i="0">
                <a:solidFill>
                  <a:srgbClr val="1C4587"/>
                </a:solidFill>
                <a:latin typeface="Inter"/>
              </a:rPr>
              <a:t>Yang dipakai dari GitHub Actions</a:t>
            </a:r>
          </a:p>
          <a:p>
            <a:pPr algn="l">
              <a:lnSpc>
                <a:spcPct val="115000"/>
              </a:lnSpc>
              <a:spcAft>
                <a:spcPts val="400"/>
              </a:spcAft>
            </a:pPr>
            <a:r>
              <a:rPr sz="950" b="0" i="0">
                <a:solidFill>
                  <a:srgbClr val="434343"/>
                </a:solidFill>
                <a:latin typeface="Inter"/>
              </a:rPr>
              <a:t>Workflow YAML di </a:t>
            </a:r>
            <a:r>
              <a:rPr sz="950" b="0" i="0">
                <a:solidFill>
                  <a:srgbClr val="B5482A"/>
                </a:solidFill>
                <a:latin typeface="Inconsolata"/>
              </a:rPr>
              <a:t>.github/workflows/</a:t>
            </a:r>
            <a:r>
              <a:rPr sz="950" b="0" i="0">
                <a:solidFill>
                  <a:srgbClr val="434343"/>
                </a:solidFill>
                <a:latin typeface="Inter"/>
              </a:rPr>
              <a:t>. Job berurutan lewat </a:t>
            </a:r>
            <a:r>
              <a:rPr sz="950" b="0" i="0">
                <a:solidFill>
                  <a:srgbClr val="B5482A"/>
                </a:solidFill>
                <a:latin typeface="Inconsolata"/>
              </a:rPr>
              <a:t>needs</a:t>
            </a:r>
            <a:r>
              <a:rPr sz="950" b="0" i="0">
                <a:solidFill>
                  <a:srgbClr val="434343"/>
                </a:solidFill>
                <a:latin typeface="Inter"/>
              </a:rPr>
              <a:t>.</a:t>
            </a:r>
          </a:p>
        </p:txBody>
      </p:sp>
      <p:graphicFrame>
        <p:nvGraphicFramePr>
          <p:cNvPr id="23" name="Table 4"/>
          <p:cNvGraphicFramePr>
            <a:graphicFrameLocks noGrp="1"/>
          </p:cNvGraphicFramePr>
          <p:nvPr/>
        </p:nvGraphicFramePr>
        <p:xfrm>
          <a:off x="4800600" y="1481328"/>
          <a:ext cx="3685032" cy="2057400"/>
        </p:xfrm>
        <a:graphic>
          <a:graphicData uri="http://schemas.openxmlformats.org/drawingml/2006/table">
            <a:tbl>
              <a:tblPr firstRow="1" bandRow="1"/>
              <a:tblGrid>
                <a:gridCol w="1216152">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tblGrid>
              <a:tr h="411480">
                <a:tc>
                  <a:txBody>
                    <a:bodyPr/>
                    <a:lstStyle/>
                    <a:p>
                      <a:pPr algn="l">
                        <a:lnSpc>
                          <a:spcPct val="100000"/>
                        </a:lnSpc>
                        <a:spcAft>
                          <a:spcPts val="0"/>
                        </a:spcAft>
                      </a:pPr>
                      <a:r>
                        <a:rPr sz="850" b="1" i="0">
                          <a:solidFill>
                            <a:srgbClr val="FFFFFF"/>
                          </a:solidFill>
                          <a:latin typeface="Inter"/>
                        </a:rPr>
                        <a:t>Job</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Isinya</a:t>
                      </a:r>
                    </a:p>
                  </a:txBody>
                  <a:tcPr marL="73152" marR="73152" marT="36576" marB="36576" anchor="ctr">
                    <a:solidFill>
                      <a:srgbClr val="1C4587"/>
                    </a:solidFill>
                  </a:tcPr>
                </a:tc>
                <a:extLst>
                  <a:ext uri="{0D108BD9-81ED-4DB2-BD59-A6C34878D82A}">
                    <a16:rowId xmlns:a16="http://schemas.microsoft.com/office/drawing/2014/main" val="10000"/>
                  </a:ext>
                </a:extLst>
              </a:tr>
              <a:tr h="411480">
                <a:tc>
                  <a:txBody>
                    <a:bodyPr/>
                    <a:lstStyle/>
                    <a:p>
                      <a:pPr algn="l">
                        <a:lnSpc>
                          <a:spcPct val="100000"/>
                        </a:lnSpc>
                        <a:spcAft>
                          <a:spcPts val="0"/>
                        </a:spcAft>
                      </a:pPr>
                      <a:r>
                        <a:rPr sz="850" b="1" i="0">
                          <a:solidFill>
                            <a:srgbClr val="1C4587"/>
                          </a:solidFill>
                          <a:latin typeface="Inter"/>
                        </a:rPr>
                        <a:t>lint</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ruff check .</a:t>
                      </a:r>
                    </a:p>
                  </a:txBody>
                  <a:tcPr marL="73152" marR="73152" marT="36576" marB="36576" anchor="ctr">
                    <a:solidFill>
                      <a:srgbClr val="FFFFFF"/>
                    </a:solidFill>
                  </a:tcPr>
                </a:tc>
                <a:extLst>
                  <a:ext uri="{0D108BD9-81ED-4DB2-BD59-A6C34878D82A}">
                    <a16:rowId xmlns:a16="http://schemas.microsoft.com/office/drawing/2014/main" val="10001"/>
                  </a:ext>
                </a:extLst>
              </a:tr>
              <a:tr h="411480">
                <a:tc>
                  <a:txBody>
                    <a:bodyPr/>
                    <a:lstStyle/>
                    <a:p>
                      <a:pPr algn="l">
                        <a:lnSpc>
                          <a:spcPct val="100000"/>
                        </a:lnSpc>
                        <a:spcAft>
                          <a:spcPts val="0"/>
                        </a:spcAft>
                      </a:pPr>
                      <a:r>
                        <a:rPr sz="850" b="1" i="0">
                          <a:solidFill>
                            <a:srgbClr val="1C4587"/>
                          </a:solidFill>
                          <a:latin typeface="Inter"/>
                        </a:rPr>
                        <a:t>test</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pytest -q</a:t>
                      </a:r>
                    </a:p>
                  </a:txBody>
                  <a:tcPr marL="73152" marR="73152" marT="36576" marB="36576" anchor="ctr">
                    <a:solidFill>
                      <a:srgbClr val="F3F4F6"/>
                    </a:solidFill>
                  </a:tcPr>
                </a:tc>
                <a:extLst>
                  <a:ext uri="{0D108BD9-81ED-4DB2-BD59-A6C34878D82A}">
                    <a16:rowId xmlns:a16="http://schemas.microsoft.com/office/drawing/2014/main" val="10002"/>
                  </a:ext>
                </a:extLst>
              </a:tr>
              <a:tr h="411480">
                <a:tc>
                  <a:txBody>
                    <a:bodyPr/>
                    <a:lstStyle/>
                    <a:p>
                      <a:pPr algn="l">
                        <a:lnSpc>
                          <a:spcPct val="100000"/>
                        </a:lnSpc>
                        <a:spcAft>
                          <a:spcPts val="0"/>
                        </a:spcAft>
                      </a:pPr>
                      <a:r>
                        <a:rPr sz="850" b="1" i="0">
                          <a:solidFill>
                            <a:srgbClr val="1C4587"/>
                          </a:solidFill>
                          <a:latin typeface="Inter"/>
                        </a:rPr>
                        <a:t>build-scan</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docker build + Trivy</a:t>
                      </a:r>
                    </a:p>
                  </a:txBody>
                  <a:tcPr marL="73152" marR="73152" marT="36576" marB="36576" anchor="ctr">
                    <a:solidFill>
                      <a:srgbClr val="FFFFFF"/>
                    </a:solidFill>
                  </a:tcPr>
                </a:tc>
                <a:extLst>
                  <a:ext uri="{0D108BD9-81ED-4DB2-BD59-A6C34878D82A}">
                    <a16:rowId xmlns:a16="http://schemas.microsoft.com/office/drawing/2014/main" val="10003"/>
                  </a:ext>
                </a:extLst>
              </a:tr>
              <a:tr h="411480">
                <a:tc>
                  <a:txBody>
                    <a:bodyPr/>
                    <a:lstStyle/>
                    <a:p>
                      <a:pPr algn="l">
                        <a:lnSpc>
                          <a:spcPct val="100000"/>
                        </a:lnSpc>
                        <a:spcAft>
                          <a:spcPts val="0"/>
                        </a:spcAft>
                      </a:pPr>
                      <a:r>
                        <a:rPr sz="850" b="1" i="0">
                          <a:solidFill>
                            <a:srgbClr val="1C4587"/>
                          </a:solidFill>
                          <a:latin typeface="Inter"/>
                        </a:rPr>
                        <a:t>publish</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Push image ke ghcr.io (main saja)</a:t>
                      </a:r>
                    </a:p>
                  </a:txBody>
                  <a:tcPr marL="73152" marR="73152" marT="36576" marB="36576" anchor="ctr">
                    <a:solidFill>
                      <a:srgbClr val="F3F4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CI/CD</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pytest setelah merge</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72237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07-ci-pipeline/before.yml</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7863840" cy="2980944"/>
          </a:xfrm>
          <a:prstGeom prst="rect">
            <a:avLst/>
          </a:prstGeom>
          <a:noFill/>
        </p:spPr>
        <p:txBody>
          <a:bodyPr wrap="none" lIns="146304" tIns="91440" rIns="146304" bIns="54864">
            <a:spAutoFit/>
          </a:bodyPr>
          <a:lstStyle/>
          <a:p>
            <a:pPr>
              <a:lnSpc>
                <a:spcPct val="111111"/>
              </a:lnSpc>
              <a:spcAft>
                <a:spcPts val="0"/>
              </a:spcAft>
            </a:pPr>
            <a:r>
              <a:rPr sz="900" i="0">
                <a:solidFill>
                  <a:srgbClr val="5C6773"/>
                </a:solidFill>
                <a:latin typeface="Inconsolata"/>
              </a:rPr>
              <a:t> 1  </a:t>
            </a:r>
            <a:r>
              <a:rPr sz="900" i="1">
                <a:solidFill>
                  <a:srgbClr val="8B98A8"/>
                </a:solidFill>
                <a:latin typeface="Inconsolata"/>
              </a:rPr>
              <a:t># CI - BEFORE (.github/workflows/ci.yml)</a:t>
            </a:r>
          </a:p>
          <a:p>
            <a:pPr>
              <a:lnSpc>
                <a:spcPct val="111111"/>
              </a:lnSpc>
              <a:spcAft>
                <a:spcPts val="0"/>
              </a:spcAft>
            </a:pPr>
            <a:r>
              <a:rPr sz="900" i="0">
                <a:solidFill>
                  <a:srgbClr val="5C6773"/>
                </a:solidFill>
                <a:latin typeface="Inconsolata"/>
              </a:rPr>
              <a:t> 2  </a:t>
            </a:r>
            <a:r>
              <a:rPr sz="900" i="1">
                <a:solidFill>
                  <a:srgbClr val="8B98A8"/>
                </a:solidFill>
                <a:latin typeface="Inconsolata"/>
              </a:rPr>
              <a:t># - Baru jalan setelah kode masuk main, jadi kode bermasalah sudah terlanjur di-merge</a:t>
            </a:r>
          </a:p>
          <a:p>
            <a:pPr>
              <a:lnSpc>
                <a:spcPct val="111111"/>
              </a:lnSpc>
              <a:spcAft>
                <a:spcPts val="0"/>
              </a:spcAft>
            </a:pPr>
            <a:r>
              <a:rPr sz="900" i="0">
                <a:solidFill>
                  <a:srgbClr val="5C6773"/>
                </a:solidFill>
                <a:latin typeface="Inconsolata"/>
              </a:rPr>
              <a:t> 3  </a:t>
            </a:r>
            <a:r>
              <a:rPr sz="900" i="1">
                <a:solidFill>
                  <a:srgbClr val="8B98A8"/>
                </a:solidFill>
                <a:latin typeface="Inconsolata"/>
              </a:rPr>
              <a:t># - Hanya pytest: tidak ada lint, tidak ada build image, tidak ada scan keamanan</a:t>
            </a:r>
          </a:p>
          <a:p>
            <a:pPr>
              <a:lnSpc>
                <a:spcPct val="111111"/>
              </a:lnSpc>
              <a:spcAft>
                <a:spcPts val="0"/>
              </a:spcAft>
            </a:pPr>
            <a:r>
              <a:rPr sz="900" i="0">
                <a:solidFill>
                  <a:srgbClr val="5C6773"/>
                </a:solidFill>
                <a:latin typeface="Inconsolata"/>
              </a:rPr>
              <a:t> 4  </a:t>
            </a:r>
            <a:r>
              <a:rPr sz="900" i="1">
                <a:solidFill>
                  <a:srgbClr val="8B98A8"/>
                </a:solidFill>
                <a:latin typeface="Inconsolata"/>
              </a:rPr>
              <a:t># - Versi Python tidak ditentukan, hasilnya bisa berbeda dengan production</a:t>
            </a:r>
          </a:p>
          <a:p>
            <a:pPr>
              <a:lnSpc>
                <a:spcPct val="111111"/>
              </a:lnSpc>
              <a:spcAft>
                <a:spcPts val="0"/>
              </a:spcAft>
            </a:pPr>
            <a:r>
              <a:rPr sz="900" i="0">
                <a:solidFill>
                  <a:srgbClr val="5C6773"/>
                </a:solidFill>
                <a:latin typeface="Inconsolata"/>
              </a:rPr>
              <a:t> 5  </a:t>
            </a:r>
            <a:r>
              <a:rPr sz="900" i="0">
                <a:solidFill>
                  <a:srgbClr val="82B1FF"/>
                </a:solidFill>
                <a:latin typeface="Inconsolata"/>
              </a:rPr>
              <a:t>name</a:t>
            </a:r>
            <a:r>
              <a:rPr sz="900" i="0">
                <a:solidFill>
                  <a:srgbClr val="E6EDF3"/>
                </a:solidFill>
                <a:latin typeface="Inconsolata"/>
              </a:rPr>
              <a:t>: CI</a:t>
            </a:r>
          </a:p>
          <a:p>
            <a:pPr>
              <a:lnSpc>
                <a:spcPct val="111111"/>
              </a:lnSpc>
              <a:spcAft>
                <a:spcPts val="0"/>
              </a:spcAft>
            </a:pPr>
            <a:r>
              <a:rPr sz="900" i="0">
                <a:solidFill>
                  <a:srgbClr val="5C6773"/>
                </a:solidFill>
                <a:latin typeface="Inconsolata"/>
              </a:rPr>
              <a:t> 6  </a:t>
            </a:r>
            <a:r>
              <a:rPr sz="900" i="0">
                <a:solidFill>
                  <a:srgbClr val="E6EDF3"/>
                </a:solidFill>
                <a:latin typeface="Inconsolata"/>
              </a:rPr>
              <a:t> </a:t>
            </a:r>
          </a:p>
          <a:p>
            <a:pPr>
              <a:lnSpc>
                <a:spcPct val="111111"/>
              </a:lnSpc>
              <a:spcAft>
                <a:spcPts val="0"/>
              </a:spcAft>
            </a:pPr>
            <a:r>
              <a:rPr sz="900" i="0">
                <a:solidFill>
                  <a:srgbClr val="5C6773"/>
                </a:solidFill>
                <a:latin typeface="Inconsolata"/>
              </a:rPr>
              <a:t> 7  </a:t>
            </a:r>
            <a:r>
              <a:rPr sz="900" i="0">
                <a:solidFill>
                  <a:srgbClr val="82B1FF"/>
                </a:solidFill>
                <a:latin typeface="Inconsolata"/>
              </a:rPr>
              <a:t>on</a:t>
            </a:r>
            <a:r>
              <a:rPr sz="900" i="0">
                <a:solidFill>
                  <a:srgbClr val="E6EDF3"/>
                </a:solidFill>
                <a:latin typeface="Inconsolata"/>
              </a:rPr>
              <a:t>:</a:t>
            </a:r>
          </a:p>
          <a:p>
            <a:pPr>
              <a:lnSpc>
                <a:spcPct val="111111"/>
              </a:lnSpc>
              <a:spcAft>
                <a:spcPts val="0"/>
              </a:spcAft>
            </a:pPr>
            <a:r>
              <a:rPr sz="900" i="0">
                <a:solidFill>
                  <a:srgbClr val="5C6773"/>
                </a:solidFill>
                <a:latin typeface="Inconsolata"/>
              </a:rPr>
              <a:t> 8  </a:t>
            </a:r>
            <a:r>
              <a:rPr sz="900" i="0">
                <a:solidFill>
                  <a:srgbClr val="E6EDF3"/>
                </a:solidFill>
                <a:latin typeface="Inconsolata"/>
              </a:rPr>
              <a:t>  </a:t>
            </a:r>
            <a:r>
              <a:rPr sz="900" i="0">
                <a:solidFill>
                  <a:srgbClr val="82B1FF"/>
                </a:solidFill>
                <a:latin typeface="Inconsolata"/>
              </a:rPr>
              <a:t>push</a:t>
            </a:r>
            <a:r>
              <a:rPr sz="900" i="0">
                <a:solidFill>
                  <a:srgbClr val="E6EDF3"/>
                </a:solidFill>
                <a:latin typeface="Inconsolata"/>
              </a:rPr>
              <a:t>:</a:t>
            </a:r>
          </a:p>
          <a:p>
            <a:pPr>
              <a:lnSpc>
                <a:spcPct val="111111"/>
              </a:lnSpc>
              <a:spcAft>
                <a:spcPts val="0"/>
              </a:spcAft>
            </a:pPr>
            <a:r>
              <a:rPr sz="900" i="0">
                <a:solidFill>
                  <a:srgbClr val="5C6773"/>
                </a:solidFill>
                <a:latin typeface="Inconsolata"/>
              </a:rPr>
              <a:t> 9  </a:t>
            </a:r>
            <a:r>
              <a:rPr sz="900" i="0">
                <a:solidFill>
                  <a:srgbClr val="E6EDF3"/>
                </a:solidFill>
                <a:latin typeface="Inconsolata"/>
              </a:rPr>
              <a:t>    </a:t>
            </a:r>
            <a:r>
              <a:rPr sz="900" i="0">
                <a:solidFill>
                  <a:srgbClr val="82B1FF"/>
                </a:solidFill>
                <a:latin typeface="Inconsolata"/>
              </a:rPr>
              <a:t>branches</a:t>
            </a:r>
            <a:r>
              <a:rPr sz="900" i="0">
                <a:solidFill>
                  <a:srgbClr val="E6EDF3"/>
                </a:solidFill>
                <a:latin typeface="Inconsolata"/>
              </a:rPr>
              <a:t>: [main]</a:t>
            </a:r>
          </a:p>
          <a:p>
            <a:pPr>
              <a:lnSpc>
                <a:spcPct val="111111"/>
              </a:lnSpc>
              <a:spcAft>
                <a:spcPts val="0"/>
              </a:spcAft>
            </a:pPr>
            <a:r>
              <a:rPr sz="900" i="0">
                <a:solidFill>
                  <a:srgbClr val="5C6773"/>
                </a:solidFill>
                <a:latin typeface="Inconsolata"/>
              </a:rPr>
              <a:t>10  </a:t>
            </a:r>
            <a:r>
              <a:rPr sz="900" i="0">
                <a:solidFill>
                  <a:srgbClr val="E6EDF3"/>
                </a:solidFill>
                <a:latin typeface="Inconsolata"/>
              </a:rPr>
              <a:t> </a:t>
            </a:r>
          </a:p>
          <a:p>
            <a:pPr>
              <a:lnSpc>
                <a:spcPct val="111111"/>
              </a:lnSpc>
              <a:spcAft>
                <a:spcPts val="0"/>
              </a:spcAft>
            </a:pPr>
            <a:r>
              <a:rPr sz="900" i="0">
                <a:solidFill>
                  <a:srgbClr val="5C6773"/>
                </a:solidFill>
                <a:latin typeface="Inconsolata"/>
              </a:rPr>
              <a:t>11  </a:t>
            </a:r>
            <a:r>
              <a:rPr sz="900" i="0">
                <a:solidFill>
                  <a:srgbClr val="82B1FF"/>
                </a:solidFill>
                <a:latin typeface="Inconsolata"/>
              </a:rPr>
              <a:t>jobs</a:t>
            </a:r>
            <a:r>
              <a:rPr sz="900" i="0">
                <a:solidFill>
                  <a:srgbClr val="E6EDF3"/>
                </a:solidFill>
                <a:latin typeface="Inconsolata"/>
              </a:rPr>
              <a:t>:</a:t>
            </a:r>
          </a:p>
          <a:p>
            <a:pPr>
              <a:lnSpc>
                <a:spcPct val="111111"/>
              </a:lnSpc>
              <a:spcAft>
                <a:spcPts val="0"/>
              </a:spcAft>
            </a:pPr>
            <a:r>
              <a:rPr sz="900" i="0">
                <a:solidFill>
                  <a:srgbClr val="5C6773"/>
                </a:solidFill>
                <a:latin typeface="Inconsolata"/>
              </a:rPr>
              <a:t>12  </a:t>
            </a:r>
            <a:r>
              <a:rPr sz="900" i="0">
                <a:solidFill>
                  <a:srgbClr val="E6EDF3"/>
                </a:solidFill>
                <a:latin typeface="Inconsolata"/>
              </a:rPr>
              <a:t>  </a:t>
            </a:r>
            <a:r>
              <a:rPr sz="900" i="0">
                <a:solidFill>
                  <a:srgbClr val="82B1FF"/>
                </a:solidFill>
                <a:latin typeface="Inconsolata"/>
              </a:rPr>
              <a:t>test</a:t>
            </a:r>
            <a:r>
              <a:rPr sz="900" i="0">
                <a:solidFill>
                  <a:srgbClr val="E6EDF3"/>
                </a:solidFill>
                <a:latin typeface="Inconsolata"/>
              </a:rPr>
              <a:t>:</a:t>
            </a:r>
          </a:p>
          <a:p>
            <a:pPr>
              <a:lnSpc>
                <a:spcPct val="111111"/>
              </a:lnSpc>
              <a:spcAft>
                <a:spcPts val="0"/>
              </a:spcAft>
            </a:pPr>
            <a:r>
              <a:rPr sz="900" i="0">
                <a:solidFill>
                  <a:srgbClr val="5C6773"/>
                </a:solidFill>
                <a:latin typeface="Inconsolata"/>
              </a:rPr>
              <a:t>13  </a:t>
            </a:r>
            <a:r>
              <a:rPr sz="900" i="0">
                <a:solidFill>
                  <a:srgbClr val="E6EDF3"/>
                </a:solidFill>
                <a:latin typeface="Inconsolata"/>
              </a:rPr>
              <a:t>    </a:t>
            </a:r>
            <a:r>
              <a:rPr sz="900" i="0">
                <a:solidFill>
                  <a:srgbClr val="82B1FF"/>
                </a:solidFill>
                <a:latin typeface="Inconsolata"/>
              </a:rPr>
              <a:t>runs-on</a:t>
            </a:r>
            <a:r>
              <a:rPr sz="900" i="0">
                <a:solidFill>
                  <a:srgbClr val="E6EDF3"/>
                </a:solidFill>
                <a:latin typeface="Inconsolata"/>
              </a:rPr>
              <a:t>: ubuntu-latest</a:t>
            </a:r>
          </a:p>
          <a:p>
            <a:pPr>
              <a:lnSpc>
                <a:spcPct val="111111"/>
              </a:lnSpc>
              <a:spcAft>
                <a:spcPts val="0"/>
              </a:spcAft>
            </a:pPr>
            <a:r>
              <a:rPr sz="900" i="0">
                <a:solidFill>
                  <a:srgbClr val="5C6773"/>
                </a:solidFill>
                <a:latin typeface="Inconsolata"/>
              </a:rPr>
              <a:t>14  </a:t>
            </a:r>
            <a:r>
              <a:rPr sz="900" i="0">
                <a:solidFill>
                  <a:srgbClr val="E6EDF3"/>
                </a:solidFill>
                <a:latin typeface="Inconsolata"/>
              </a:rPr>
              <a:t>    </a:t>
            </a:r>
            <a:r>
              <a:rPr sz="900" i="0">
                <a:solidFill>
                  <a:srgbClr val="82B1FF"/>
                </a:solidFill>
                <a:latin typeface="Inconsolata"/>
              </a:rPr>
              <a:t>steps</a:t>
            </a:r>
            <a:r>
              <a:rPr sz="900" i="0">
                <a:solidFill>
                  <a:srgbClr val="E6EDF3"/>
                </a:solidFill>
                <a:latin typeface="Inconsolata"/>
              </a:rPr>
              <a:t>:</a:t>
            </a:r>
          </a:p>
          <a:p>
            <a:pPr>
              <a:lnSpc>
                <a:spcPct val="111111"/>
              </a:lnSpc>
              <a:spcAft>
                <a:spcPts val="0"/>
              </a:spcAft>
            </a:pPr>
            <a:r>
              <a:rPr sz="900" i="0">
                <a:solidFill>
                  <a:srgbClr val="5C6773"/>
                </a:solidFill>
                <a:latin typeface="Inconsolata"/>
              </a:rPr>
              <a:t>15  </a:t>
            </a:r>
            <a:r>
              <a:rPr sz="900" i="0">
                <a:solidFill>
                  <a:srgbClr val="E6EDF3"/>
                </a:solidFill>
                <a:latin typeface="Inconsolata"/>
              </a:rPr>
              <a:t>      - </a:t>
            </a:r>
            <a:r>
              <a:rPr sz="900" i="0">
                <a:solidFill>
                  <a:srgbClr val="82B1FF"/>
                </a:solidFill>
                <a:latin typeface="Inconsolata"/>
              </a:rPr>
              <a:t>uses</a:t>
            </a:r>
            <a:r>
              <a:rPr sz="900" i="0">
                <a:solidFill>
                  <a:srgbClr val="E6EDF3"/>
                </a:solidFill>
                <a:latin typeface="Inconsolata"/>
              </a:rPr>
              <a:t>: actions/checkout@v4</a:t>
            </a:r>
          </a:p>
          <a:p>
            <a:pPr>
              <a:lnSpc>
                <a:spcPct val="111111"/>
              </a:lnSpc>
              <a:spcAft>
                <a:spcPts val="0"/>
              </a:spcAft>
            </a:pPr>
            <a:r>
              <a:rPr sz="900" i="0">
                <a:solidFill>
                  <a:srgbClr val="5C6773"/>
                </a:solidFill>
                <a:latin typeface="Inconsolata"/>
              </a:rPr>
              <a:t>16  </a:t>
            </a:r>
            <a:r>
              <a:rPr sz="900" i="0">
                <a:solidFill>
                  <a:srgbClr val="E6EDF3"/>
                </a:solidFill>
                <a:latin typeface="Inconsolata"/>
              </a:rPr>
              <a:t>      - </a:t>
            </a:r>
            <a:r>
              <a:rPr sz="900" i="0">
                <a:solidFill>
                  <a:srgbClr val="82B1FF"/>
                </a:solidFill>
                <a:latin typeface="Inconsolata"/>
              </a:rPr>
              <a:t>uses</a:t>
            </a:r>
            <a:r>
              <a:rPr sz="900" i="0">
                <a:solidFill>
                  <a:srgbClr val="E6EDF3"/>
                </a:solidFill>
                <a:latin typeface="Inconsolata"/>
              </a:rPr>
              <a:t>: actions/setup-python@v5</a:t>
            </a:r>
          </a:p>
          <a:p>
            <a:pPr>
              <a:lnSpc>
                <a:spcPct val="111111"/>
              </a:lnSpc>
              <a:spcAft>
                <a:spcPts val="0"/>
              </a:spcAft>
            </a:pPr>
            <a:r>
              <a:rPr sz="900" i="0">
                <a:solidFill>
                  <a:srgbClr val="5C6773"/>
                </a:solidFill>
                <a:latin typeface="Inconsolata"/>
              </a:rPr>
              <a:t>17  </a:t>
            </a:r>
            <a:r>
              <a:rPr sz="900" i="0">
                <a:solidFill>
                  <a:srgbClr val="E6EDF3"/>
                </a:solidFill>
                <a:latin typeface="Inconsolata"/>
              </a:rPr>
              <a:t>      - </a:t>
            </a:r>
            <a:r>
              <a:rPr sz="900" i="0">
                <a:solidFill>
                  <a:srgbClr val="82B1FF"/>
                </a:solidFill>
                <a:latin typeface="Inconsolata"/>
              </a:rPr>
              <a:t>run</a:t>
            </a:r>
            <a:r>
              <a:rPr sz="900" i="0">
                <a:solidFill>
                  <a:srgbClr val="E6EDF3"/>
                </a:solidFill>
                <a:latin typeface="Inconsolata"/>
              </a:rPr>
              <a:t>: pip install -r requirements.txt</a:t>
            </a:r>
          </a:p>
          <a:p>
            <a:pPr>
              <a:lnSpc>
                <a:spcPct val="111111"/>
              </a:lnSpc>
              <a:spcAft>
                <a:spcPts val="0"/>
              </a:spcAft>
            </a:pPr>
            <a:r>
              <a:rPr sz="900" i="0">
                <a:solidFill>
                  <a:srgbClr val="5C6773"/>
                </a:solidFill>
                <a:latin typeface="Inconsolata"/>
              </a:rPr>
              <a:t>18  </a:t>
            </a:r>
            <a:r>
              <a:rPr sz="900" i="0">
                <a:solidFill>
                  <a:srgbClr val="E6EDF3"/>
                </a:solidFill>
                <a:latin typeface="Inconsolata"/>
              </a:rPr>
              <a:t>      - </a:t>
            </a:r>
            <a:r>
              <a:rPr sz="900" i="0">
                <a:solidFill>
                  <a:srgbClr val="82B1FF"/>
                </a:solidFill>
                <a:latin typeface="Inconsolata"/>
              </a:rPr>
              <a:t>run</a:t>
            </a:r>
            <a:r>
              <a:rPr sz="900" i="0">
                <a:solidFill>
                  <a:srgbClr val="E6EDF3"/>
                </a:solidFill>
                <a:latin typeface="Inconsolata"/>
              </a:rPr>
              <a:t>: pytest</a:t>
            </a:r>
          </a:p>
        </p:txBody>
      </p:sp>
      <p:sp>
        <p:nvSpPr>
          <p:cNvPr id="29" name="Box 12"/>
          <p:cNvSpPr/>
          <p:nvPr/>
        </p:nvSpPr>
        <p:spPr>
          <a:xfrm>
            <a:off x="704088" y="2744724"/>
            <a:ext cx="7699248" cy="448056"/>
          </a:xfrm>
          <a:prstGeom prst="roundRect">
            <a:avLst>
              <a:gd name="adj" fmla="val 10204"/>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8284463" y="284988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4116324"/>
            <a:ext cx="7699248" cy="448056"/>
          </a:xfrm>
          <a:prstGeom prst="roundRect">
            <a:avLst>
              <a:gd name="adj" fmla="val 10204"/>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8284463" y="422148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CI/CD</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07-ci-pipeline/before.yml</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621792"/>
          </a:xfrm>
          <a:prstGeom prst="roundRect">
            <a:avLst>
              <a:gd name="adj" fmla="val 2941"/>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621792"/>
          </a:xfrm>
          <a:prstGeom prst="rect">
            <a:avLst/>
          </a:prstGeom>
          <a:noFill/>
        </p:spPr>
        <p:txBody>
          <a:bodyPr wrap="none" lIns="146304" tIns="91440" rIns="146304" bIns="54864">
            <a:spAutoFit/>
          </a:bodyPr>
          <a:lstStyle/>
          <a:p>
            <a:pPr>
              <a:lnSpc>
                <a:spcPct val="107843"/>
              </a:lnSpc>
              <a:spcAft>
                <a:spcPts val="0"/>
              </a:spcAft>
            </a:pPr>
            <a:r>
              <a:rPr sz="850" i="0">
                <a:solidFill>
                  <a:srgbClr val="82B1FF"/>
                </a:solidFill>
                <a:latin typeface="Inconsolata"/>
              </a:rPr>
              <a:t>$ cd sesi-11-docker-kubernetes-cicd/07-ci-pipeline</a:t>
            </a:r>
          </a:p>
          <a:p>
            <a:pPr>
              <a:lnSpc>
                <a:spcPct val="107843"/>
              </a:lnSpc>
              <a:spcAft>
                <a:spcPts val="0"/>
              </a:spcAft>
            </a:pPr>
            <a:r>
              <a:rPr sz="850" i="0">
                <a:solidFill>
                  <a:srgbClr val="82B1FF"/>
                </a:solidFill>
                <a:latin typeface="Inconsolata"/>
              </a:rPr>
              <a:t>$ pip install -r requirements.txt</a:t>
            </a:r>
          </a:p>
          <a:p>
            <a:pPr>
              <a:lnSpc>
                <a:spcPct val="107843"/>
              </a:lnSpc>
              <a:spcAft>
                <a:spcPts val="0"/>
              </a:spcAft>
            </a:pPr>
            <a:r>
              <a:rPr sz="850" i="0">
                <a:solidFill>
                  <a:srgbClr val="82B1FF"/>
                </a:solidFill>
                <a:latin typeface="Inconsolata"/>
              </a:rPr>
              <a:t>$ pytest</a:t>
            </a:r>
          </a:p>
        </p:txBody>
      </p:sp>
      <p:pic>
        <p:nvPicPr>
          <p:cNvPr id="29" name="Image 12" descr="s11-07-ci-pipeline-before.png"/>
          <p:cNvPicPr>
            <a:picLocks noChangeAspect="1"/>
          </p:cNvPicPr>
          <p:nvPr/>
        </p:nvPicPr>
        <p:blipFill>
          <a:blip r:embed="rId2"/>
          <a:stretch>
            <a:fillRect/>
          </a:stretch>
        </p:blipFill>
        <p:spPr>
          <a:xfrm>
            <a:off x="621792" y="2459736"/>
            <a:ext cx="4297680" cy="1136623"/>
          </a:xfrm>
          <a:prstGeom prst="rect">
            <a:avLst/>
          </a:prstGeom>
        </p:spPr>
      </p:pic>
      <p:sp>
        <p:nvSpPr>
          <p:cNvPr id="30" name="Box 13"/>
          <p:cNvSpPr/>
          <p:nvPr/>
        </p:nvSpPr>
        <p:spPr>
          <a:xfrm>
            <a:off x="5074920" y="1481328"/>
            <a:ext cx="3410712" cy="3218688"/>
          </a:xfrm>
          <a:prstGeom prst="roundRect">
            <a:avLst>
              <a:gd name="adj" fmla="val 3409"/>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C0392B"/>
                </a:solidFill>
                <a:latin typeface="Inter"/>
              </a:rPr>
              <a:t>Masalahnya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Baru jalan setelah push ke main (baris 7-9)</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Hanya pytest, versi Python tidak ditentukan (baris 16-18)</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Pipeline hijau walaupun kode punya import yang tidak dipakai.</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CI/CD</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lint, test, build, scan, publish (1/4)</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72237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07-ci-pipeline/after.yml</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7863840" cy="2980944"/>
          </a:xfrm>
          <a:prstGeom prst="rect">
            <a:avLst/>
          </a:prstGeom>
          <a:noFill/>
        </p:spPr>
        <p:txBody>
          <a:bodyPr wrap="none" lIns="146304" tIns="91440" rIns="146304" bIns="54864">
            <a:spAutoFit/>
          </a:bodyPr>
          <a:lstStyle/>
          <a:p>
            <a:pPr>
              <a:lnSpc>
                <a:spcPct val="104167"/>
              </a:lnSpc>
              <a:spcAft>
                <a:spcPts val="0"/>
              </a:spcAft>
            </a:pPr>
            <a:r>
              <a:rPr sz="800" i="0">
                <a:solidFill>
                  <a:srgbClr val="5C6773"/>
                </a:solidFill>
                <a:latin typeface="Inconsolata"/>
              </a:rPr>
              <a:t> 1  </a:t>
            </a:r>
            <a:r>
              <a:rPr sz="800" i="1">
                <a:solidFill>
                  <a:srgbClr val="8B98A8"/>
                </a:solidFill>
                <a:latin typeface="Inconsolata"/>
              </a:rPr>
              <a:t># CI/CD - AFTER (.github/workflows/ci.yml)</a:t>
            </a:r>
          </a:p>
          <a:p>
            <a:pPr>
              <a:lnSpc>
                <a:spcPct val="104167"/>
              </a:lnSpc>
              <a:spcAft>
                <a:spcPts val="0"/>
              </a:spcAft>
            </a:pPr>
            <a:r>
              <a:rPr sz="800" i="0">
                <a:solidFill>
                  <a:srgbClr val="5C6773"/>
                </a:solidFill>
                <a:latin typeface="Inconsolata"/>
              </a:rPr>
              <a:t> 2  </a:t>
            </a:r>
            <a:r>
              <a:rPr sz="800" i="1">
                <a:solidFill>
                  <a:srgbClr val="8B98A8"/>
                </a:solidFill>
                <a:latin typeface="Inconsolata"/>
              </a:rPr>
              <a:t># Jalan di setiap pull request, SEBELUM merge. Job berurutan lewat needs:</a:t>
            </a:r>
          </a:p>
          <a:p>
            <a:pPr>
              <a:lnSpc>
                <a:spcPct val="104167"/>
              </a:lnSpc>
              <a:spcAft>
                <a:spcPts val="0"/>
              </a:spcAft>
            </a:pPr>
            <a:r>
              <a:rPr sz="800" i="0">
                <a:solidFill>
                  <a:srgbClr val="5C6773"/>
                </a:solidFill>
                <a:latin typeface="Inconsolata"/>
              </a:rPr>
              <a:t> 3  </a:t>
            </a:r>
            <a:r>
              <a:rPr sz="800" i="1">
                <a:solidFill>
                  <a:srgbClr val="8B98A8"/>
                </a:solidFill>
                <a:latin typeface="Inconsolata"/>
              </a:rPr>
              <a:t>#   lint -&gt; test -&gt; build-scan -&gt; publish (hanya di main)</a:t>
            </a:r>
          </a:p>
          <a:p>
            <a:pPr>
              <a:lnSpc>
                <a:spcPct val="104167"/>
              </a:lnSpc>
              <a:spcAft>
                <a:spcPts val="0"/>
              </a:spcAft>
            </a:pPr>
            <a:r>
              <a:rPr sz="800" i="0">
                <a:solidFill>
                  <a:srgbClr val="5C6773"/>
                </a:solidFill>
                <a:latin typeface="Inconsolata"/>
              </a:rPr>
              <a:t> 4  </a:t>
            </a:r>
            <a:r>
              <a:rPr sz="800" i="1">
                <a:solidFill>
                  <a:srgbClr val="8B98A8"/>
                </a:solidFill>
                <a:latin typeface="Inconsolata"/>
              </a:rPr>
              <a:t># Satu job gagal = job berikutnya tidak jalan, dan pull request ditandai merah.</a:t>
            </a:r>
          </a:p>
          <a:p>
            <a:pPr>
              <a:lnSpc>
                <a:spcPct val="104167"/>
              </a:lnSpc>
              <a:spcAft>
                <a:spcPts val="0"/>
              </a:spcAft>
            </a:pPr>
            <a:r>
              <a:rPr sz="800" i="0">
                <a:solidFill>
                  <a:srgbClr val="5C6773"/>
                </a:solidFill>
                <a:latin typeface="Inconsolata"/>
              </a:rPr>
              <a:t> 5  </a:t>
            </a:r>
            <a:r>
              <a:rPr sz="800" i="0">
                <a:solidFill>
                  <a:srgbClr val="82B1FF"/>
                </a:solidFill>
                <a:latin typeface="Inconsolata"/>
              </a:rPr>
              <a:t>name</a:t>
            </a:r>
            <a:r>
              <a:rPr sz="800" i="0">
                <a:solidFill>
                  <a:srgbClr val="E6EDF3"/>
                </a:solidFill>
                <a:latin typeface="Inconsolata"/>
              </a:rPr>
              <a:t>: CI</a:t>
            </a:r>
          </a:p>
          <a:p>
            <a:pPr>
              <a:lnSpc>
                <a:spcPct val="104167"/>
              </a:lnSpc>
              <a:spcAft>
                <a:spcPts val="0"/>
              </a:spcAft>
            </a:pPr>
            <a:r>
              <a:rPr sz="800" i="0">
                <a:solidFill>
                  <a:srgbClr val="5C6773"/>
                </a:solidFill>
                <a:latin typeface="Inconsolata"/>
              </a:rPr>
              <a:t> 6  </a:t>
            </a:r>
            <a:r>
              <a:rPr sz="800" i="0">
                <a:solidFill>
                  <a:srgbClr val="E6EDF3"/>
                </a:solidFill>
                <a:latin typeface="Inconsolata"/>
              </a:rPr>
              <a:t> </a:t>
            </a:r>
          </a:p>
          <a:p>
            <a:pPr>
              <a:lnSpc>
                <a:spcPct val="104167"/>
              </a:lnSpc>
              <a:spcAft>
                <a:spcPts val="0"/>
              </a:spcAft>
            </a:pPr>
            <a:r>
              <a:rPr sz="800" i="0">
                <a:solidFill>
                  <a:srgbClr val="5C6773"/>
                </a:solidFill>
                <a:latin typeface="Inconsolata"/>
              </a:rPr>
              <a:t> 7  </a:t>
            </a:r>
            <a:r>
              <a:rPr sz="800" i="0">
                <a:solidFill>
                  <a:srgbClr val="82B1FF"/>
                </a:solidFill>
                <a:latin typeface="Inconsolata"/>
              </a:rPr>
              <a:t>on</a:t>
            </a:r>
            <a:r>
              <a:rPr sz="800" i="0">
                <a:solidFill>
                  <a:srgbClr val="E6EDF3"/>
                </a:solidFill>
                <a:latin typeface="Inconsolata"/>
              </a:rPr>
              <a:t>:</a:t>
            </a:r>
          </a:p>
          <a:p>
            <a:pPr>
              <a:lnSpc>
                <a:spcPct val="104167"/>
              </a:lnSpc>
              <a:spcAft>
                <a:spcPts val="0"/>
              </a:spcAft>
            </a:pPr>
            <a:r>
              <a:rPr sz="800" i="0">
                <a:solidFill>
                  <a:srgbClr val="5C6773"/>
                </a:solidFill>
                <a:latin typeface="Inconsolata"/>
              </a:rPr>
              <a:t> 8  </a:t>
            </a:r>
            <a:r>
              <a:rPr sz="800" i="0">
                <a:solidFill>
                  <a:srgbClr val="E6EDF3"/>
                </a:solidFill>
                <a:latin typeface="Inconsolata"/>
              </a:rPr>
              <a:t>  </a:t>
            </a:r>
            <a:r>
              <a:rPr sz="800" i="0">
                <a:solidFill>
                  <a:srgbClr val="82B1FF"/>
                </a:solidFill>
                <a:latin typeface="Inconsolata"/>
              </a:rPr>
              <a:t>pull_request</a:t>
            </a:r>
            <a:r>
              <a:rPr sz="800" i="0">
                <a:solidFill>
                  <a:srgbClr val="E6EDF3"/>
                </a:solidFill>
                <a:latin typeface="Inconsolata"/>
              </a:rPr>
              <a:t>:</a:t>
            </a:r>
          </a:p>
          <a:p>
            <a:pPr>
              <a:lnSpc>
                <a:spcPct val="104167"/>
              </a:lnSpc>
              <a:spcAft>
                <a:spcPts val="0"/>
              </a:spcAft>
            </a:pPr>
            <a:r>
              <a:rPr sz="800" i="0">
                <a:solidFill>
                  <a:srgbClr val="5C6773"/>
                </a:solidFill>
                <a:latin typeface="Inconsolata"/>
              </a:rPr>
              <a:t> 9  </a:t>
            </a:r>
            <a:r>
              <a:rPr sz="800" i="0">
                <a:solidFill>
                  <a:srgbClr val="E6EDF3"/>
                </a:solidFill>
                <a:latin typeface="Inconsolata"/>
              </a:rPr>
              <a:t>  </a:t>
            </a:r>
            <a:r>
              <a:rPr sz="800" i="0">
                <a:solidFill>
                  <a:srgbClr val="82B1FF"/>
                </a:solidFill>
                <a:latin typeface="Inconsolata"/>
              </a:rPr>
              <a:t>push</a:t>
            </a:r>
            <a:r>
              <a:rPr sz="800" i="0">
                <a:solidFill>
                  <a:srgbClr val="E6EDF3"/>
                </a:solidFill>
                <a:latin typeface="Inconsolata"/>
              </a:rPr>
              <a:t>:</a:t>
            </a:r>
          </a:p>
          <a:p>
            <a:pPr>
              <a:lnSpc>
                <a:spcPct val="104167"/>
              </a:lnSpc>
              <a:spcAft>
                <a:spcPts val="0"/>
              </a:spcAft>
            </a:pPr>
            <a:r>
              <a:rPr sz="800" i="0">
                <a:solidFill>
                  <a:srgbClr val="5C6773"/>
                </a:solidFill>
                <a:latin typeface="Inconsolata"/>
              </a:rPr>
              <a:t>10  </a:t>
            </a:r>
            <a:r>
              <a:rPr sz="800" i="0">
                <a:solidFill>
                  <a:srgbClr val="E6EDF3"/>
                </a:solidFill>
                <a:latin typeface="Inconsolata"/>
              </a:rPr>
              <a:t>    </a:t>
            </a:r>
            <a:r>
              <a:rPr sz="800" i="0">
                <a:solidFill>
                  <a:srgbClr val="82B1FF"/>
                </a:solidFill>
                <a:latin typeface="Inconsolata"/>
              </a:rPr>
              <a:t>branches</a:t>
            </a:r>
            <a:r>
              <a:rPr sz="800" i="0">
                <a:solidFill>
                  <a:srgbClr val="E6EDF3"/>
                </a:solidFill>
                <a:latin typeface="Inconsolata"/>
              </a:rPr>
              <a:t>: [main]</a:t>
            </a:r>
          </a:p>
          <a:p>
            <a:pPr>
              <a:lnSpc>
                <a:spcPct val="104167"/>
              </a:lnSpc>
              <a:spcAft>
                <a:spcPts val="0"/>
              </a:spcAft>
            </a:pPr>
            <a:r>
              <a:rPr sz="800" i="0">
                <a:solidFill>
                  <a:srgbClr val="5C6773"/>
                </a:solidFill>
                <a:latin typeface="Inconsolata"/>
              </a:rPr>
              <a:t>11  </a:t>
            </a:r>
            <a:r>
              <a:rPr sz="800" i="0">
                <a:solidFill>
                  <a:srgbClr val="E6EDF3"/>
                </a:solidFill>
                <a:latin typeface="Inconsolata"/>
              </a:rPr>
              <a:t> </a:t>
            </a:r>
          </a:p>
          <a:p>
            <a:pPr>
              <a:lnSpc>
                <a:spcPct val="104167"/>
              </a:lnSpc>
              <a:spcAft>
                <a:spcPts val="0"/>
              </a:spcAft>
            </a:pPr>
            <a:r>
              <a:rPr sz="800" i="0">
                <a:solidFill>
                  <a:srgbClr val="5C6773"/>
                </a:solidFill>
                <a:latin typeface="Inconsolata"/>
              </a:rPr>
              <a:t>12  </a:t>
            </a:r>
            <a:r>
              <a:rPr sz="800" i="0">
                <a:solidFill>
                  <a:srgbClr val="82B1FF"/>
                </a:solidFill>
                <a:latin typeface="Inconsolata"/>
              </a:rPr>
              <a:t>jobs</a:t>
            </a:r>
            <a:r>
              <a:rPr sz="800" i="0">
                <a:solidFill>
                  <a:srgbClr val="E6EDF3"/>
                </a:solidFill>
                <a:latin typeface="Inconsolata"/>
              </a:rPr>
              <a:t>:</a:t>
            </a:r>
          </a:p>
          <a:p>
            <a:pPr>
              <a:lnSpc>
                <a:spcPct val="104167"/>
              </a:lnSpc>
              <a:spcAft>
                <a:spcPts val="0"/>
              </a:spcAft>
            </a:pPr>
            <a:r>
              <a:rPr sz="800" i="0">
                <a:solidFill>
                  <a:srgbClr val="5C6773"/>
                </a:solidFill>
                <a:latin typeface="Inconsolata"/>
              </a:rPr>
              <a:t>13  </a:t>
            </a:r>
            <a:r>
              <a:rPr sz="800" i="0">
                <a:solidFill>
                  <a:srgbClr val="E6EDF3"/>
                </a:solidFill>
                <a:latin typeface="Inconsolata"/>
              </a:rPr>
              <a:t>  </a:t>
            </a:r>
            <a:r>
              <a:rPr sz="800" i="0">
                <a:solidFill>
                  <a:srgbClr val="82B1FF"/>
                </a:solidFill>
                <a:latin typeface="Inconsolata"/>
              </a:rPr>
              <a:t>lint</a:t>
            </a:r>
            <a:r>
              <a:rPr sz="800" i="0">
                <a:solidFill>
                  <a:srgbClr val="E6EDF3"/>
                </a:solidFill>
                <a:latin typeface="Inconsolata"/>
              </a:rPr>
              <a:t>:</a:t>
            </a:r>
          </a:p>
          <a:p>
            <a:pPr>
              <a:lnSpc>
                <a:spcPct val="104167"/>
              </a:lnSpc>
              <a:spcAft>
                <a:spcPts val="0"/>
              </a:spcAft>
            </a:pPr>
            <a:r>
              <a:rPr sz="800" i="0">
                <a:solidFill>
                  <a:srgbClr val="5C6773"/>
                </a:solidFill>
                <a:latin typeface="Inconsolata"/>
              </a:rPr>
              <a:t>14  </a:t>
            </a:r>
            <a:r>
              <a:rPr sz="800" i="0">
                <a:solidFill>
                  <a:srgbClr val="E6EDF3"/>
                </a:solidFill>
                <a:latin typeface="Inconsolata"/>
              </a:rPr>
              <a:t>    </a:t>
            </a:r>
            <a:r>
              <a:rPr sz="800" i="0">
                <a:solidFill>
                  <a:srgbClr val="82B1FF"/>
                </a:solidFill>
                <a:latin typeface="Inconsolata"/>
              </a:rPr>
              <a:t>runs-on</a:t>
            </a:r>
            <a:r>
              <a:rPr sz="800" i="0">
                <a:solidFill>
                  <a:srgbClr val="E6EDF3"/>
                </a:solidFill>
                <a:latin typeface="Inconsolata"/>
              </a:rPr>
              <a:t>: ubuntu-latest</a:t>
            </a:r>
          </a:p>
          <a:p>
            <a:pPr>
              <a:lnSpc>
                <a:spcPct val="104167"/>
              </a:lnSpc>
              <a:spcAft>
                <a:spcPts val="0"/>
              </a:spcAft>
            </a:pPr>
            <a:r>
              <a:rPr sz="800" i="0">
                <a:solidFill>
                  <a:srgbClr val="5C6773"/>
                </a:solidFill>
                <a:latin typeface="Inconsolata"/>
              </a:rPr>
              <a:t>15  </a:t>
            </a:r>
            <a:r>
              <a:rPr sz="800" i="0">
                <a:solidFill>
                  <a:srgbClr val="E6EDF3"/>
                </a:solidFill>
                <a:latin typeface="Inconsolata"/>
              </a:rPr>
              <a:t>    </a:t>
            </a:r>
            <a:r>
              <a:rPr sz="800" i="0">
                <a:solidFill>
                  <a:srgbClr val="82B1FF"/>
                </a:solidFill>
                <a:latin typeface="Inconsolata"/>
              </a:rPr>
              <a:t>steps</a:t>
            </a:r>
            <a:r>
              <a:rPr sz="800" i="0">
                <a:solidFill>
                  <a:srgbClr val="E6EDF3"/>
                </a:solidFill>
                <a:latin typeface="Inconsolata"/>
              </a:rPr>
              <a:t>:</a:t>
            </a:r>
          </a:p>
          <a:p>
            <a:pPr>
              <a:lnSpc>
                <a:spcPct val="104167"/>
              </a:lnSpc>
              <a:spcAft>
                <a:spcPts val="0"/>
              </a:spcAft>
            </a:pPr>
            <a:r>
              <a:rPr sz="800" i="0">
                <a:solidFill>
                  <a:srgbClr val="5C6773"/>
                </a:solidFill>
                <a:latin typeface="Inconsolata"/>
              </a:rPr>
              <a:t>16  </a:t>
            </a:r>
            <a:r>
              <a:rPr sz="800" i="0">
                <a:solidFill>
                  <a:srgbClr val="E6EDF3"/>
                </a:solidFill>
                <a:latin typeface="Inconsolata"/>
              </a:rPr>
              <a:t>      - </a:t>
            </a:r>
            <a:r>
              <a:rPr sz="800" i="0">
                <a:solidFill>
                  <a:srgbClr val="82B1FF"/>
                </a:solidFill>
                <a:latin typeface="Inconsolata"/>
              </a:rPr>
              <a:t>uses</a:t>
            </a:r>
            <a:r>
              <a:rPr sz="800" i="0">
                <a:solidFill>
                  <a:srgbClr val="E6EDF3"/>
                </a:solidFill>
                <a:latin typeface="Inconsolata"/>
              </a:rPr>
              <a:t>: actions/checkout@v4</a:t>
            </a:r>
          </a:p>
          <a:p>
            <a:pPr>
              <a:lnSpc>
                <a:spcPct val="104167"/>
              </a:lnSpc>
              <a:spcAft>
                <a:spcPts val="0"/>
              </a:spcAft>
            </a:pPr>
            <a:r>
              <a:rPr sz="800" i="0">
                <a:solidFill>
                  <a:srgbClr val="5C6773"/>
                </a:solidFill>
                <a:latin typeface="Inconsolata"/>
              </a:rPr>
              <a:t>17  </a:t>
            </a:r>
            <a:r>
              <a:rPr sz="800" i="0">
                <a:solidFill>
                  <a:srgbClr val="E6EDF3"/>
                </a:solidFill>
                <a:latin typeface="Inconsolata"/>
              </a:rPr>
              <a:t>      - </a:t>
            </a:r>
            <a:r>
              <a:rPr sz="800" i="0">
                <a:solidFill>
                  <a:srgbClr val="82B1FF"/>
                </a:solidFill>
                <a:latin typeface="Inconsolata"/>
              </a:rPr>
              <a:t>uses</a:t>
            </a:r>
            <a:r>
              <a:rPr sz="800" i="0">
                <a:solidFill>
                  <a:srgbClr val="E6EDF3"/>
                </a:solidFill>
                <a:latin typeface="Inconsolata"/>
              </a:rPr>
              <a:t>: actions/setup-python@v5</a:t>
            </a:r>
          </a:p>
          <a:p>
            <a:pPr>
              <a:lnSpc>
                <a:spcPct val="104167"/>
              </a:lnSpc>
              <a:spcAft>
                <a:spcPts val="0"/>
              </a:spcAft>
            </a:pPr>
            <a:r>
              <a:rPr sz="800" i="0">
                <a:solidFill>
                  <a:srgbClr val="5C6773"/>
                </a:solidFill>
                <a:latin typeface="Inconsolata"/>
              </a:rPr>
              <a:t>18  </a:t>
            </a:r>
            <a:r>
              <a:rPr sz="800" i="0">
                <a:solidFill>
                  <a:srgbClr val="E6EDF3"/>
                </a:solidFill>
                <a:latin typeface="Inconsolata"/>
              </a:rPr>
              <a:t>        </a:t>
            </a:r>
            <a:r>
              <a:rPr sz="800" i="0">
                <a:solidFill>
                  <a:srgbClr val="82B1FF"/>
                </a:solidFill>
                <a:latin typeface="Inconsolata"/>
              </a:rPr>
              <a:t>with</a:t>
            </a:r>
            <a:r>
              <a:rPr sz="800" i="0">
                <a:solidFill>
                  <a:srgbClr val="E6EDF3"/>
                </a:solidFill>
                <a:latin typeface="Inconsolata"/>
              </a:rPr>
              <a:t>:</a:t>
            </a:r>
          </a:p>
          <a:p>
            <a:pPr>
              <a:lnSpc>
                <a:spcPct val="104167"/>
              </a:lnSpc>
              <a:spcAft>
                <a:spcPts val="0"/>
              </a:spcAft>
            </a:pPr>
            <a:r>
              <a:rPr sz="800" i="0">
                <a:solidFill>
                  <a:srgbClr val="5C6773"/>
                </a:solidFill>
                <a:latin typeface="Inconsolata"/>
              </a:rPr>
              <a:t>19  </a:t>
            </a:r>
            <a:r>
              <a:rPr sz="800" i="0">
                <a:solidFill>
                  <a:srgbClr val="E6EDF3"/>
                </a:solidFill>
                <a:latin typeface="Inconsolata"/>
              </a:rPr>
              <a:t>          </a:t>
            </a:r>
            <a:r>
              <a:rPr sz="800" i="0">
                <a:solidFill>
                  <a:srgbClr val="82B1FF"/>
                </a:solidFill>
                <a:latin typeface="Inconsolata"/>
              </a:rPr>
              <a:t>python-version</a:t>
            </a:r>
            <a:r>
              <a:rPr sz="800" i="0">
                <a:solidFill>
                  <a:srgbClr val="E6EDF3"/>
                </a:solidFill>
                <a:latin typeface="Inconsolata"/>
              </a:rPr>
              <a:t>: </a:t>
            </a:r>
            <a:r>
              <a:rPr sz="800" i="0">
                <a:solidFill>
                  <a:srgbClr val="A5D6A7"/>
                </a:solidFill>
                <a:latin typeface="Inconsolata"/>
              </a:rPr>
              <a:t>"3.12"</a:t>
            </a:r>
          </a:p>
          <a:p>
            <a:pPr>
              <a:lnSpc>
                <a:spcPct val="104167"/>
              </a:lnSpc>
              <a:spcAft>
                <a:spcPts val="0"/>
              </a:spcAft>
            </a:pPr>
            <a:r>
              <a:rPr sz="800" i="0">
                <a:solidFill>
                  <a:srgbClr val="5C6773"/>
                </a:solidFill>
                <a:latin typeface="Inconsolata"/>
              </a:rPr>
              <a:t>20  </a:t>
            </a:r>
            <a:r>
              <a:rPr sz="800" i="0">
                <a:solidFill>
                  <a:srgbClr val="E6EDF3"/>
                </a:solidFill>
                <a:latin typeface="Inconsolata"/>
              </a:rPr>
              <a:t>      - </a:t>
            </a:r>
            <a:r>
              <a:rPr sz="800" i="0">
                <a:solidFill>
                  <a:srgbClr val="82B1FF"/>
                </a:solidFill>
                <a:latin typeface="Inconsolata"/>
              </a:rPr>
              <a:t>run</a:t>
            </a:r>
            <a:r>
              <a:rPr sz="800" i="0">
                <a:solidFill>
                  <a:srgbClr val="E6EDF3"/>
                </a:solidFill>
                <a:latin typeface="Inconsolata"/>
              </a:rPr>
              <a:t>: pip install ruff</a:t>
            </a:r>
          </a:p>
          <a:p>
            <a:pPr>
              <a:lnSpc>
                <a:spcPct val="104167"/>
              </a:lnSpc>
              <a:spcAft>
                <a:spcPts val="0"/>
              </a:spcAft>
            </a:pPr>
            <a:r>
              <a:rPr sz="800" i="0">
                <a:solidFill>
                  <a:srgbClr val="5C6773"/>
                </a:solidFill>
                <a:latin typeface="Inconsolata"/>
              </a:rPr>
              <a:t>21  </a:t>
            </a:r>
            <a:r>
              <a:rPr sz="800" i="0">
                <a:solidFill>
                  <a:srgbClr val="E6EDF3"/>
                </a:solidFill>
                <a:latin typeface="Inconsolata"/>
              </a:rPr>
              <a:t>      - </a:t>
            </a:r>
            <a:r>
              <a:rPr sz="800" i="0">
                <a:solidFill>
                  <a:srgbClr val="82B1FF"/>
                </a:solidFill>
                <a:latin typeface="Inconsolata"/>
              </a:rPr>
              <a:t>run</a:t>
            </a:r>
            <a:r>
              <a:rPr sz="800" i="0">
                <a:solidFill>
                  <a:srgbClr val="E6EDF3"/>
                </a:solidFill>
                <a:latin typeface="Inconsolata"/>
              </a:rPr>
              <a:t>: ruff check .</a:t>
            </a:r>
          </a:p>
        </p:txBody>
      </p:sp>
      <p:sp>
        <p:nvSpPr>
          <p:cNvPr id="29" name="Box 12"/>
          <p:cNvSpPr/>
          <p:nvPr/>
        </p:nvSpPr>
        <p:spPr>
          <a:xfrm>
            <a:off x="704088" y="2589022"/>
            <a:ext cx="7699248" cy="500380"/>
          </a:xfrm>
          <a:prstGeom prst="roundRect">
            <a:avLst>
              <a:gd name="adj" fmla="val 913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8284463" y="272034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3351022"/>
            <a:ext cx="7699248" cy="1135380"/>
          </a:xfrm>
          <a:prstGeom prst="roundRect">
            <a:avLst>
              <a:gd name="adj" fmla="val 402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8284463" y="379984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CI/CD</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lint, test, build, scan, publish (2/4)</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72237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07-ci-pipeline/after.yml</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7863840" cy="2980944"/>
          </a:xfrm>
          <a:prstGeom prst="rect">
            <a:avLst/>
          </a:prstGeom>
          <a:noFill/>
        </p:spPr>
        <p:txBody>
          <a:bodyPr wrap="none" lIns="146304" tIns="91440" rIns="146304" bIns="54864">
            <a:spAutoFit/>
          </a:bodyPr>
          <a:lstStyle/>
          <a:p>
            <a:pPr>
              <a:lnSpc>
                <a:spcPct val="107843"/>
              </a:lnSpc>
              <a:spcAft>
                <a:spcPts val="0"/>
              </a:spcAft>
            </a:pPr>
            <a:r>
              <a:rPr sz="850" i="0">
                <a:solidFill>
                  <a:srgbClr val="5C6773"/>
                </a:solidFill>
                <a:latin typeface="Inconsolata"/>
              </a:rPr>
              <a:t>23  </a:t>
            </a:r>
            <a:r>
              <a:rPr sz="850" i="0">
                <a:solidFill>
                  <a:srgbClr val="E6EDF3"/>
                </a:solidFill>
                <a:latin typeface="Inconsolata"/>
              </a:rPr>
              <a:t>  </a:t>
            </a:r>
            <a:r>
              <a:rPr sz="850" i="0">
                <a:solidFill>
                  <a:srgbClr val="82B1FF"/>
                </a:solidFill>
                <a:latin typeface="Inconsolata"/>
              </a:rPr>
              <a:t>test</a:t>
            </a:r>
            <a:r>
              <a:rPr sz="850" i="0">
                <a:solidFill>
                  <a:srgbClr val="E6EDF3"/>
                </a:solidFill>
                <a:latin typeface="Inconsolata"/>
              </a:rPr>
              <a:t>:</a:t>
            </a:r>
          </a:p>
          <a:p>
            <a:pPr>
              <a:lnSpc>
                <a:spcPct val="107843"/>
              </a:lnSpc>
              <a:spcAft>
                <a:spcPts val="0"/>
              </a:spcAft>
            </a:pPr>
            <a:r>
              <a:rPr sz="850" i="0">
                <a:solidFill>
                  <a:srgbClr val="5C6773"/>
                </a:solidFill>
                <a:latin typeface="Inconsolata"/>
              </a:rPr>
              <a:t>24  </a:t>
            </a:r>
            <a:r>
              <a:rPr sz="850" i="0">
                <a:solidFill>
                  <a:srgbClr val="E6EDF3"/>
                </a:solidFill>
                <a:latin typeface="Inconsolata"/>
              </a:rPr>
              <a:t>    </a:t>
            </a:r>
            <a:r>
              <a:rPr sz="850" i="0">
                <a:solidFill>
                  <a:srgbClr val="82B1FF"/>
                </a:solidFill>
                <a:latin typeface="Inconsolata"/>
              </a:rPr>
              <a:t>needs</a:t>
            </a:r>
            <a:r>
              <a:rPr sz="850" i="0">
                <a:solidFill>
                  <a:srgbClr val="E6EDF3"/>
                </a:solidFill>
                <a:latin typeface="Inconsolata"/>
              </a:rPr>
              <a:t>: lint</a:t>
            </a:r>
          </a:p>
          <a:p>
            <a:pPr>
              <a:lnSpc>
                <a:spcPct val="107843"/>
              </a:lnSpc>
              <a:spcAft>
                <a:spcPts val="0"/>
              </a:spcAft>
            </a:pPr>
            <a:r>
              <a:rPr sz="850" i="0">
                <a:solidFill>
                  <a:srgbClr val="5C6773"/>
                </a:solidFill>
                <a:latin typeface="Inconsolata"/>
              </a:rPr>
              <a:t>25  </a:t>
            </a:r>
            <a:r>
              <a:rPr sz="850" i="0">
                <a:solidFill>
                  <a:srgbClr val="E6EDF3"/>
                </a:solidFill>
                <a:latin typeface="Inconsolata"/>
              </a:rPr>
              <a:t>    </a:t>
            </a:r>
            <a:r>
              <a:rPr sz="850" i="0">
                <a:solidFill>
                  <a:srgbClr val="82B1FF"/>
                </a:solidFill>
                <a:latin typeface="Inconsolata"/>
              </a:rPr>
              <a:t>runs-on</a:t>
            </a:r>
            <a:r>
              <a:rPr sz="850" i="0">
                <a:solidFill>
                  <a:srgbClr val="E6EDF3"/>
                </a:solidFill>
                <a:latin typeface="Inconsolata"/>
              </a:rPr>
              <a:t>: ubuntu-latest</a:t>
            </a:r>
          </a:p>
          <a:p>
            <a:pPr>
              <a:lnSpc>
                <a:spcPct val="107843"/>
              </a:lnSpc>
              <a:spcAft>
                <a:spcPts val="0"/>
              </a:spcAft>
            </a:pPr>
            <a:r>
              <a:rPr sz="850" i="0">
                <a:solidFill>
                  <a:srgbClr val="5C6773"/>
                </a:solidFill>
                <a:latin typeface="Inconsolata"/>
              </a:rPr>
              <a:t>26  </a:t>
            </a:r>
            <a:r>
              <a:rPr sz="850" i="0">
                <a:solidFill>
                  <a:srgbClr val="E6EDF3"/>
                </a:solidFill>
                <a:latin typeface="Inconsolata"/>
              </a:rPr>
              <a:t>    </a:t>
            </a:r>
            <a:r>
              <a:rPr sz="850" i="0">
                <a:solidFill>
                  <a:srgbClr val="82B1FF"/>
                </a:solidFill>
                <a:latin typeface="Inconsolata"/>
              </a:rPr>
              <a:t>steps</a:t>
            </a:r>
            <a:r>
              <a:rPr sz="850" i="0">
                <a:solidFill>
                  <a:srgbClr val="E6EDF3"/>
                </a:solidFill>
                <a:latin typeface="Inconsolata"/>
              </a:rPr>
              <a:t>:</a:t>
            </a:r>
          </a:p>
          <a:p>
            <a:pPr>
              <a:lnSpc>
                <a:spcPct val="107843"/>
              </a:lnSpc>
              <a:spcAft>
                <a:spcPts val="0"/>
              </a:spcAft>
            </a:pPr>
            <a:r>
              <a:rPr sz="850" i="0">
                <a:solidFill>
                  <a:srgbClr val="5C6773"/>
                </a:solidFill>
                <a:latin typeface="Inconsolata"/>
              </a:rPr>
              <a:t>27  </a:t>
            </a:r>
            <a:r>
              <a:rPr sz="850" i="0">
                <a:solidFill>
                  <a:srgbClr val="E6EDF3"/>
                </a:solidFill>
                <a:latin typeface="Inconsolata"/>
              </a:rPr>
              <a:t>      - </a:t>
            </a:r>
            <a:r>
              <a:rPr sz="850" i="0">
                <a:solidFill>
                  <a:srgbClr val="82B1FF"/>
                </a:solidFill>
                <a:latin typeface="Inconsolata"/>
              </a:rPr>
              <a:t>uses</a:t>
            </a:r>
            <a:r>
              <a:rPr sz="850" i="0">
                <a:solidFill>
                  <a:srgbClr val="E6EDF3"/>
                </a:solidFill>
                <a:latin typeface="Inconsolata"/>
              </a:rPr>
              <a:t>: actions/checkout@v4</a:t>
            </a:r>
          </a:p>
          <a:p>
            <a:pPr>
              <a:lnSpc>
                <a:spcPct val="107843"/>
              </a:lnSpc>
              <a:spcAft>
                <a:spcPts val="0"/>
              </a:spcAft>
            </a:pPr>
            <a:r>
              <a:rPr sz="850" i="0">
                <a:solidFill>
                  <a:srgbClr val="5C6773"/>
                </a:solidFill>
                <a:latin typeface="Inconsolata"/>
              </a:rPr>
              <a:t>28  </a:t>
            </a:r>
            <a:r>
              <a:rPr sz="850" i="0">
                <a:solidFill>
                  <a:srgbClr val="E6EDF3"/>
                </a:solidFill>
                <a:latin typeface="Inconsolata"/>
              </a:rPr>
              <a:t>      - </a:t>
            </a:r>
            <a:r>
              <a:rPr sz="850" i="0">
                <a:solidFill>
                  <a:srgbClr val="82B1FF"/>
                </a:solidFill>
                <a:latin typeface="Inconsolata"/>
              </a:rPr>
              <a:t>uses</a:t>
            </a:r>
            <a:r>
              <a:rPr sz="850" i="0">
                <a:solidFill>
                  <a:srgbClr val="E6EDF3"/>
                </a:solidFill>
                <a:latin typeface="Inconsolata"/>
              </a:rPr>
              <a:t>: actions/setup-python@v5</a:t>
            </a:r>
          </a:p>
          <a:p>
            <a:pPr>
              <a:lnSpc>
                <a:spcPct val="107843"/>
              </a:lnSpc>
              <a:spcAft>
                <a:spcPts val="0"/>
              </a:spcAft>
            </a:pPr>
            <a:r>
              <a:rPr sz="850" i="0">
                <a:solidFill>
                  <a:srgbClr val="5C6773"/>
                </a:solidFill>
                <a:latin typeface="Inconsolata"/>
              </a:rPr>
              <a:t>29  </a:t>
            </a:r>
            <a:r>
              <a:rPr sz="850" i="0">
                <a:solidFill>
                  <a:srgbClr val="E6EDF3"/>
                </a:solidFill>
                <a:latin typeface="Inconsolata"/>
              </a:rPr>
              <a:t>        </a:t>
            </a:r>
            <a:r>
              <a:rPr sz="850" i="0">
                <a:solidFill>
                  <a:srgbClr val="82B1FF"/>
                </a:solidFill>
                <a:latin typeface="Inconsolata"/>
              </a:rPr>
              <a:t>with</a:t>
            </a:r>
            <a:r>
              <a:rPr sz="850" i="0">
                <a:solidFill>
                  <a:srgbClr val="E6EDF3"/>
                </a:solidFill>
                <a:latin typeface="Inconsolata"/>
              </a:rPr>
              <a:t>:</a:t>
            </a:r>
          </a:p>
          <a:p>
            <a:pPr>
              <a:lnSpc>
                <a:spcPct val="107843"/>
              </a:lnSpc>
              <a:spcAft>
                <a:spcPts val="0"/>
              </a:spcAft>
            </a:pPr>
            <a:r>
              <a:rPr sz="850" i="0">
                <a:solidFill>
                  <a:srgbClr val="5C6773"/>
                </a:solidFill>
                <a:latin typeface="Inconsolata"/>
              </a:rPr>
              <a:t>30  </a:t>
            </a:r>
            <a:r>
              <a:rPr sz="850" i="0">
                <a:solidFill>
                  <a:srgbClr val="E6EDF3"/>
                </a:solidFill>
                <a:latin typeface="Inconsolata"/>
              </a:rPr>
              <a:t>          </a:t>
            </a:r>
            <a:r>
              <a:rPr sz="850" i="0">
                <a:solidFill>
                  <a:srgbClr val="82B1FF"/>
                </a:solidFill>
                <a:latin typeface="Inconsolata"/>
              </a:rPr>
              <a:t>python-version</a:t>
            </a:r>
            <a:r>
              <a:rPr sz="850" i="0">
                <a:solidFill>
                  <a:srgbClr val="E6EDF3"/>
                </a:solidFill>
                <a:latin typeface="Inconsolata"/>
              </a:rPr>
              <a:t>: </a:t>
            </a:r>
            <a:r>
              <a:rPr sz="850" i="0">
                <a:solidFill>
                  <a:srgbClr val="A5D6A7"/>
                </a:solidFill>
                <a:latin typeface="Inconsolata"/>
              </a:rPr>
              <a:t>"3.12"</a:t>
            </a:r>
          </a:p>
          <a:p>
            <a:pPr>
              <a:lnSpc>
                <a:spcPct val="107843"/>
              </a:lnSpc>
              <a:spcAft>
                <a:spcPts val="0"/>
              </a:spcAft>
            </a:pPr>
            <a:r>
              <a:rPr sz="850" i="0">
                <a:solidFill>
                  <a:srgbClr val="5C6773"/>
                </a:solidFill>
                <a:latin typeface="Inconsolata"/>
              </a:rPr>
              <a:t>31  </a:t>
            </a:r>
            <a:r>
              <a:rPr sz="850" i="0">
                <a:solidFill>
                  <a:srgbClr val="E6EDF3"/>
                </a:solidFill>
                <a:latin typeface="Inconsolata"/>
              </a:rPr>
              <a:t>          </a:t>
            </a:r>
            <a:r>
              <a:rPr sz="850" i="0">
                <a:solidFill>
                  <a:srgbClr val="82B1FF"/>
                </a:solidFill>
                <a:latin typeface="Inconsolata"/>
              </a:rPr>
              <a:t>cache</a:t>
            </a:r>
            <a:r>
              <a:rPr sz="850" i="0">
                <a:solidFill>
                  <a:srgbClr val="E6EDF3"/>
                </a:solidFill>
                <a:latin typeface="Inconsolata"/>
              </a:rPr>
              <a:t>: pip</a:t>
            </a:r>
          </a:p>
          <a:p>
            <a:pPr>
              <a:lnSpc>
                <a:spcPct val="107843"/>
              </a:lnSpc>
              <a:spcAft>
                <a:spcPts val="0"/>
              </a:spcAft>
            </a:pPr>
            <a:r>
              <a:rPr sz="850" i="0">
                <a:solidFill>
                  <a:srgbClr val="5C6773"/>
                </a:solidFill>
                <a:latin typeface="Inconsolata"/>
              </a:rPr>
              <a:t>32  </a:t>
            </a:r>
            <a:r>
              <a:rPr sz="850" i="0">
                <a:solidFill>
                  <a:srgbClr val="E6EDF3"/>
                </a:solidFill>
                <a:latin typeface="Inconsolata"/>
              </a:rPr>
              <a:t>      - </a:t>
            </a:r>
            <a:r>
              <a:rPr sz="850" i="0">
                <a:solidFill>
                  <a:srgbClr val="82B1FF"/>
                </a:solidFill>
                <a:latin typeface="Inconsolata"/>
              </a:rPr>
              <a:t>run</a:t>
            </a:r>
            <a:r>
              <a:rPr sz="850" i="0">
                <a:solidFill>
                  <a:srgbClr val="E6EDF3"/>
                </a:solidFill>
                <a:latin typeface="Inconsolata"/>
              </a:rPr>
              <a:t>: pip install -r requirements.txt</a:t>
            </a:r>
          </a:p>
          <a:p>
            <a:pPr>
              <a:lnSpc>
                <a:spcPct val="107843"/>
              </a:lnSpc>
              <a:spcAft>
                <a:spcPts val="0"/>
              </a:spcAft>
            </a:pPr>
            <a:r>
              <a:rPr sz="850" i="0">
                <a:solidFill>
                  <a:srgbClr val="5C6773"/>
                </a:solidFill>
                <a:latin typeface="Inconsolata"/>
              </a:rPr>
              <a:t>33  </a:t>
            </a:r>
            <a:r>
              <a:rPr sz="850" i="0">
                <a:solidFill>
                  <a:srgbClr val="E6EDF3"/>
                </a:solidFill>
                <a:latin typeface="Inconsolata"/>
              </a:rPr>
              <a:t>      - </a:t>
            </a:r>
            <a:r>
              <a:rPr sz="850" i="0">
                <a:solidFill>
                  <a:srgbClr val="82B1FF"/>
                </a:solidFill>
                <a:latin typeface="Inconsolata"/>
              </a:rPr>
              <a:t>run</a:t>
            </a:r>
            <a:r>
              <a:rPr sz="850" i="0">
                <a:solidFill>
                  <a:srgbClr val="E6EDF3"/>
                </a:solidFill>
                <a:latin typeface="Inconsolata"/>
              </a:rPr>
              <a:t>: pytest -q</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CI/CD</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lint, test, build, scan, publish (3/4)</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72237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07-ci-pipeline/after.yml</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7863840" cy="2980944"/>
          </a:xfrm>
          <a:prstGeom prst="rect">
            <a:avLst/>
          </a:prstGeom>
          <a:noFill/>
        </p:spPr>
        <p:txBody>
          <a:bodyPr wrap="none" lIns="146304" tIns="91440" rIns="146304" bIns="54864">
            <a:spAutoFit/>
          </a:bodyPr>
          <a:lstStyle/>
          <a:p>
            <a:pPr>
              <a:lnSpc>
                <a:spcPct val="107843"/>
              </a:lnSpc>
              <a:spcAft>
                <a:spcPts val="0"/>
              </a:spcAft>
            </a:pPr>
            <a:r>
              <a:rPr sz="850" i="0">
                <a:solidFill>
                  <a:srgbClr val="5C6773"/>
                </a:solidFill>
                <a:latin typeface="Inconsolata"/>
              </a:rPr>
              <a:t>35  </a:t>
            </a:r>
            <a:r>
              <a:rPr sz="850" i="0">
                <a:solidFill>
                  <a:srgbClr val="E6EDF3"/>
                </a:solidFill>
                <a:latin typeface="Inconsolata"/>
              </a:rPr>
              <a:t>  </a:t>
            </a:r>
            <a:r>
              <a:rPr sz="850" i="0">
                <a:solidFill>
                  <a:srgbClr val="82B1FF"/>
                </a:solidFill>
                <a:latin typeface="Inconsolata"/>
              </a:rPr>
              <a:t>build-scan</a:t>
            </a:r>
            <a:r>
              <a:rPr sz="850" i="0">
                <a:solidFill>
                  <a:srgbClr val="E6EDF3"/>
                </a:solidFill>
                <a:latin typeface="Inconsolata"/>
              </a:rPr>
              <a:t>:</a:t>
            </a:r>
          </a:p>
          <a:p>
            <a:pPr>
              <a:lnSpc>
                <a:spcPct val="107843"/>
              </a:lnSpc>
              <a:spcAft>
                <a:spcPts val="0"/>
              </a:spcAft>
            </a:pPr>
            <a:r>
              <a:rPr sz="850" i="0">
                <a:solidFill>
                  <a:srgbClr val="5C6773"/>
                </a:solidFill>
                <a:latin typeface="Inconsolata"/>
              </a:rPr>
              <a:t>36  </a:t>
            </a:r>
            <a:r>
              <a:rPr sz="850" i="0">
                <a:solidFill>
                  <a:srgbClr val="E6EDF3"/>
                </a:solidFill>
                <a:latin typeface="Inconsolata"/>
              </a:rPr>
              <a:t>    </a:t>
            </a:r>
            <a:r>
              <a:rPr sz="850" i="0">
                <a:solidFill>
                  <a:srgbClr val="82B1FF"/>
                </a:solidFill>
                <a:latin typeface="Inconsolata"/>
              </a:rPr>
              <a:t>needs</a:t>
            </a:r>
            <a:r>
              <a:rPr sz="850" i="0">
                <a:solidFill>
                  <a:srgbClr val="E6EDF3"/>
                </a:solidFill>
                <a:latin typeface="Inconsolata"/>
              </a:rPr>
              <a:t>: test</a:t>
            </a:r>
          </a:p>
          <a:p>
            <a:pPr>
              <a:lnSpc>
                <a:spcPct val="107843"/>
              </a:lnSpc>
              <a:spcAft>
                <a:spcPts val="0"/>
              </a:spcAft>
            </a:pPr>
            <a:r>
              <a:rPr sz="850" i="0">
                <a:solidFill>
                  <a:srgbClr val="5C6773"/>
                </a:solidFill>
                <a:latin typeface="Inconsolata"/>
              </a:rPr>
              <a:t>37  </a:t>
            </a:r>
            <a:r>
              <a:rPr sz="850" i="0">
                <a:solidFill>
                  <a:srgbClr val="E6EDF3"/>
                </a:solidFill>
                <a:latin typeface="Inconsolata"/>
              </a:rPr>
              <a:t>    </a:t>
            </a:r>
            <a:r>
              <a:rPr sz="850" i="0">
                <a:solidFill>
                  <a:srgbClr val="82B1FF"/>
                </a:solidFill>
                <a:latin typeface="Inconsolata"/>
              </a:rPr>
              <a:t>runs-on</a:t>
            </a:r>
            <a:r>
              <a:rPr sz="850" i="0">
                <a:solidFill>
                  <a:srgbClr val="E6EDF3"/>
                </a:solidFill>
                <a:latin typeface="Inconsolata"/>
              </a:rPr>
              <a:t>: ubuntu-latest</a:t>
            </a:r>
          </a:p>
          <a:p>
            <a:pPr>
              <a:lnSpc>
                <a:spcPct val="107843"/>
              </a:lnSpc>
              <a:spcAft>
                <a:spcPts val="0"/>
              </a:spcAft>
            </a:pPr>
            <a:r>
              <a:rPr sz="850" i="0">
                <a:solidFill>
                  <a:srgbClr val="5C6773"/>
                </a:solidFill>
                <a:latin typeface="Inconsolata"/>
              </a:rPr>
              <a:t>38  </a:t>
            </a:r>
            <a:r>
              <a:rPr sz="850" i="0">
                <a:solidFill>
                  <a:srgbClr val="E6EDF3"/>
                </a:solidFill>
                <a:latin typeface="Inconsolata"/>
              </a:rPr>
              <a:t>    </a:t>
            </a:r>
            <a:r>
              <a:rPr sz="850" i="0">
                <a:solidFill>
                  <a:srgbClr val="82B1FF"/>
                </a:solidFill>
                <a:latin typeface="Inconsolata"/>
              </a:rPr>
              <a:t>steps</a:t>
            </a:r>
            <a:r>
              <a:rPr sz="850" i="0">
                <a:solidFill>
                  <a:srgbClr val="E6EDF3"/>
                </a:solidFill>
                <a:latin typeface="Inconsolata"/>
              </a:rPr>
              <a:t>:</a:t>
            </a:r>
          </a:p>
          <a:p>
            <a:pPr>
              <a:lnSpc>
                <a:spcPct val="107843"/>
              </a:lnSpc>
              <a:spcAft>
                <a:spcPts val="0"/>
              </a:spcAft>
            </a:pPr>
            <a:r>
              <a:rPr sz="850" i="0">
                <a:solidFill>
                  <a:srgbClr val="5C6773"/>
                </a:solidFill>
                <a:latin typeface="Inconsolata"/>
              </a:rPr>
              <a:t>39  </a:t>
            </a:r>
            <a:r>
              <a:rPr sz="850" i="0">
                <a:solidFill>
                  <a:srgbClr val="E6EDF3"/>
                </a:solidFill>
                <a:latin typeface="Inconsolata"/>
              </a:rPr>
              <a:t>      - </a:t>
            </a:r>
            <a:r>
              <a:rPr sz="850" i="0">
                <a:solidFill>
                  <a:srgbClr val="82B1FF"/>
                </a:solidFill>
                <a:latin typeface="Inconsolata"/>
              </a:rPr>
              <a:t>uses</a:t>
            </a:r>
            <a:r>
              <a:rPr sz="850" i="0">
                <a:solidFill>
                  <a:srgbClr val="E6EDF3"/>
                </a:solidFill>
                <a:latin typeface="Inconsolata"/>
              </a:rPr>
              <a:t>: actions/checkout@v4</a:t>
            </a:r>
          </a:p>
          <a:p>
            <a:pPr>
              <a:lnSpc>
                <a:spcPct val="107843"/>
              </a:lnSpc>
              <a:spcAft>
                <a:spcPts val="0"/>
              </a:spcAft>
            </a:pPr>
            <a:r>
              <a:rPr sz="850" i="0">
                <a:solidFill>
                  <a:srgbClr val="5C6773"/>
                </a:solidFill>
                <a:latin typeface="Inconsolata"/>
              </a:rPr>
              <a:t>40  </a:t>
            </a:r>
            <a:r>
              <a:rPr sz="850" i="0">
                <a:solidFill>
                  <a:srgbClr val="E6EDF3"/>
                </a:solidFill>
                <a:latin typeface="Inconsolata"/>
              </a:rPr>
              <a:t>      - </a:t>
            </a:r>
            <a:r>
              <a:rPr sz="850" i="0">
                <a:solidFill>
                  <a:srgbClr val="82B1FF"/>
                </a:solidFill>
                <a:latin typeface="Inconsolata"/>
              </a:rPr>
              <a:t>run</a:t>
            </a:r>
            <a:r>
              <a:rPr sz="850" i="0">
                <a:solidFill>
                  <a:srgbClr val="E6EDF3"/>
                </a:solidFill>
                <a:latin typeface="Inconsolata"/>
              </a:rPr>
              <a:t>: docker build -t order-api:${{ github.sha }} .</a:t>
            </a:r>
          </a:p>
          <a:p>
            <a:pPr>
              <a:lnSpc>
                <a:spcPct val="107843"/>
              </a:lnSpc>
              <a:spcAft>
                <a:spcPts val="0"/>
              </a:spcAft>
            </a:pPr>
            <a:r>
              <a:rPr sz="850" i="0">
                <a:solidFill>
                  <a:srgbClr val="5C6773"/>
                </a:solidFill>
                <a:latin typeface="Inconsolata"/>
              </a:rPr>
              <a:t>41  </a:t>
            </a:r>
            <a:r>
              <a:rPr sz="850" i="0">
                <a:solidFill>
                  <a:srgbClr val="E6EDF3"/>
                </a:solidFill>
                <a:latin typeface="Inconsolata"/>
              </a:rPr>
              <a:t>      - </a:t>
            </a:r>
            <a:r>
              <a:rPr sz="850" i="0">
                <a:solidFill>
                  <a:srgbClr val="82B1FF"/>
                </a:solidFill>
                <a:latin typeface="Inconsolata"/>
              </a:rPr>
              <a:t>name</a:t>
            </a:r>
            <a:r>
              <a:rPr sz="850" i="0">
                <a:solidFill>
                  <a:srgbClr val="E6EDF3"/>
                </a:solidFill>
                <a:latin typeface="Inconsolata"/>
              </a:rPr>
              <a:t>: Scan image (Trivy)</a:t>
            </a:r>
          </a:p>
          <a:p>
            <a:pPr>
              <a:lnSpc>
                <a:spcPct val="107843"/>
              </a:lnSpc>
              <a:spcAft>
                <a:spcPts val="0"/>
              </a:spcAft>
            </a:pPr>
            <a:r>
              <a:rPr sz="850" i="0">
                <a:solidFill>
                  <a:srgbClr val="5C6773"/>
                </a:solidFill>
                <a:latin typeface="Inconsolata"/>
              </a:rPr>
              <a:t>42  </a:t>
            </a:r>
            <a:r>
              <a:rPr sz="850" i="0">
                <a:solidFill>
                  <a:srgbClr val="E6EDF3"/>
                </a:solidFill>
                <a:latin typeface="Inconsolata"/>
              </a:rPr>
              <a:t>        </a:t>
            </a:r>
            <a:r>
              <a:rPr sz="850" i="0">
                <a:solidFill>
                  <a:srgbClr val="82B1FF"/>
                </a:solidFill>
                <a:latin typeface="Inconsolata"/>
              </a:rPr>
              <a:t>uses</a:t>
            </a:r>
            <a:r>
              <a:rPr sz="850" i="0">
                <a:solidFill>
                  <a:srgbClr val="E6EDF3"/>
                </a:solidFill>
                <a:latin typeface="Inconsolata"/>
              </a:rPr>
              <a:t>: aquasecurity/trivy-action@0.28.0</a:t>
            </a:r>
          </a:p>
          <a:p>
            <a:pPr>
              <a:lnSpc>
                <a:spcPct val="107843"/>
              </a:lnSpc>
              <a:spcAft>
                <a:spcPts val="0"/>
              </a:spcAft>
            </a:pPr>
            <a:r>
              <a:rPr sz="850" i="0">
                <a:solidFill>
                  <a:srgbClr val="5C6773"/>
                </a:solidFill>
                <a:latin typeface="Inconsolata"/>
              </a:rPr>
              <a:t>43  </a:t>
            </a:r>
            <a:r>
              <a:rPr sz="850" i="0">
                <a:solidFill>
                  <a:srgbClr val="E6EDF3"/>
                </a:solidFill>
                <a:latin typeface="Inconsolata"/>
              </a:rPr>
              <a:t>        </a:t>
            </a:r>
            <a:r>
              <a:rPr sz="850" i="0">
                <a:solidFill>
                  <a:srgbClr val="82B1FF"/>
                </a:solidFill>
                <a:latin typeface="Inconsolata"/>
              </a:rPr>
              <a:t>with</a:t>
            </a:r>
            <a:r>
              <a:rPr sz="850" i="0">
                <a:solidFill>
                  <a:srgbClr val="E6EDF3"/>
                </a:solidFill>
                <a:latin typeface="Inconsolata"/>
              </a:rPr>
              <a:t>:</a:t>
            </a:r>
          </a:p>
          <a:p>
            <a:pPr>
              <a:lnSpc>
                <a:spcPct val="107843"/>
              </a:lnSpc>
              <a:spcAft>
                <a:spcPts val="0"/>
              </a:spcAft>
            </a:pPr>
            <a:r>
              <a:rPr sz="850" i="0">
                <a:solidFill>
                  <a:srgbClr val="5C6773"/>
                </a:solidFill>
                <a:latin typeface="Inconsolata"/>
              </a:rPr>
              <a:t>44  </a:t>
            </a:r>
            <a:r>
              <a:rPr sz="850" i="0">
                <a:solidFill>
                  <a:srgbClr val="E6EDF3"/>
                </a:solidFill>
                <a:latin typeface="Inconsolata"/>
              </a:rPr>
              <a:t>          </a:t>
            </a:r>
            <a:r>
              <a:rPr sz="850" i="0">
                <a:solidFill>
                  <a:srgbClr val="82B1FF"/>
                </a:solidFill>
                <a:latin typeface="Inconsolata"/>
              </a:rPr>
              <a:t>image-ref</a:t>
            </a:r>
            <a:r>
              <a:rPr sz="850" i="0">
                <a:solidFill>
                  <a:srgbClr val="E6EDF3"/>
                </a:solidFill>
                <a:latin typeface="Inconsolata"/>
              </a:rPr>
              <a:t>: order-api:${{ github.sha }}</a:t>
            </a:r>
          </a:p>
          <a:p>
            <a:pPr>
              <a:lnSpc>
                <a:spcPct val="107843"/>
              </a:lnSpc>
              <a:spcAft>
                <a:spcPts val="0"/>
              </a:spcAft>
            </a:pPr>
            <a:r>
              <a:rPr sz="850" i="0">
                <a:solidFill>
                  <a:srgbClr val="5C6773"/>
                </a:solidFill>
                <a:latin typeface="Inconsolata"/>
              </a:rPr>
              <a:t>45  </a:t>
            </a:r>
            <a:r>
              <a:rPr sz="850" i="0">
                <a:solidFill>
                  <a:srgbClr val="E6EDF3"/>
                </a:solidFill>
                <a:latin typeface="Inconsolata"/>
              </a:rPr>
              <a:t>          </a:t>
            </a:r>
            <a:r>
              <a:rPr sz="850" i="0">
                <a:solidFill>
                  <a:srgbClr val="82B1FF"/>
                </a:solidFill>
                <a:latin typeface="Inconsolata"/>
              </a:rPr>
              <a:t>severity</a:t>
            </a:r>
            <a:r>
              <a:rPr sz="850" i="0">
                <a:solidFill>
                  <a:srgbClr val="E6EDF3"/>
                </a:solidFill>
                <a:latin typeface="Inconsolata"/>
              </a:rPr>
              <a:t>: CRITICAL,HIGH</a:t>
            </a:r>
          </a:p>
          <a:p>
            <a:pPr>
              <a:lnSpc>
                <a:spcPct val="107843"/>
              </a:lnSpc>
              <a:spcAft>
                <a:spcPts val="0"/>
              </a:spcAft>
            </a:pPr>
            <a:r>
              <a:rPr sz="850" i="0">
                <a:solidFill>
                  <a:srgbClr val="5C6773"/>
                </a:solidFill>
                <a:latin typeface="Inconsolata"/>
              </a:rPr>
              <a:t>46  </a:t>
            </a:r>
            <a:r>
              <a:rPr sz="850" i="0">
                <a:solidFill>
                  <a:srgbClr val="E6EDF3"/>
                </a:solidFill>
                <a:latin typeface="Inconsolata"/>
              </a:rPr>
              <a:t>          </a:t>
            </a:r>
            <a:r>
              <a:rPr sz="850" i="0">
                <a:solidFill>
                  <a:srgbClr val="82B1FF"/>
                </a:solidFill>
                <a:latin typeface="Inconsolata"/>
              </a:rPr>
              <a:t>ignore-unfixed</a:t>
            </a:r>
            <a:r>
              <a:rPr sz="850" i="0">
                <a:solidFill>
                  <a:srgbClr val="E6EDF3"/>
                </a:solidFill>
                <a:latin typeface="Inconsolata"/>
              </a:rPr>
              <a:t>: true</a:t>
            </a:r>
          </a:p>
          <a:p>
            <a:pPr>
              <a:lnSpc>
                <a:spcPct val="107843"/>
              </a:lnSpc>
              <a:spcAft>
                <a:spcPts val="0"/>
              </a:spcAft>
            </a:pPr>
            <a:r>
              <a:rPr sz="850" i="0">
                <a:solidFill>
                  <a:srgbClr val="5C6773"/>
                </a:solidFill>
                <a:latin typeface="Inconsolata"/>
              </a:rPr>
              <a:t>47  </a:t>
            </a:r>
            <a:r>
              <a:rPr sz="850" i="0">
                <a:solidFill>
                  <a:srgbClr val="E6EDF3"/>
                </a:solidFill>
                <a:latin typeface="Inconsolata"/>
              </a:rPr>
              <a:t>          </a:t>
            </a:r>
            <a:r>
              <a:rPr sz="850" i="0">
                <a:solidFill>
                  <a:srgbClr val="82B1FF"/>
                </a:solidFill>
                <a:latin typeface="Inconsolata"/>
              </a:rPr>
              <a:t>exit-code</a:t>
            </a:r>
            <a:r>
              <a:rPr sz="850" i="0">
                <a:solidFill>
                  <a:srgbClr val="E6EDF3"/>
                </a:solidFill>
                <a:latin typeface="Inconsolata"/>
              </a:rPr>
              <a:t>: </a:t>
            </a:r>
            <a:r>
              <a:rPr sz="850" i="0">
                <a:solidFill>
                  <a:srgbClr val="A5D6A7"/>
                </a:solidFill>
                <a:latin typeface="Inconsolata"/>
              </a:rPr>
              <a:t>"1"</a:t>
            </a:r>
          </a:p>
        </p:txBody>
      </p:sp>
      <p:sp>
        <p:nvSpPr>
          <p:cNvPr id="29" name="Box 12"/>
          <p:cNvSpPr/>
          <p:nvPr/>
        </p:nvSpPr>
        <p:spPr>
          <a:xfrm>
            <a:off x="704088" y="1828673"/>
            <a:ext cx="7699248" cy="1807718"/>
          </a:xfrm>
          <a:prstGeom prst="roundRect">
            <a:avLst>
              <a:gd name="adj" fmla="val 2529"/>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8284463" y="261366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CI/CD</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lint, test, build, scan, publish (4/4)</a:t>
            </a:r>
          </a:p>
        </p:txBody>
      </p:sp>
      <p:sp>
        <p:nvSpPr>
          <p:cNvPr id="22" name="CodeTab 4"/>
          <p:cNvSpPr/>
          <p:nvPr/>
        </p:nvSpPr>
        <p:spPr>
          <a:xfrm>
            <a:off x="621792" y="1481328"/>
            <a:ext cx="78638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72237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07-ci-pipeline/after.yml</a:t>
            </a:r>
          </a:p>
        </p:txBody>
      </p:sp>
      <p:sp>
        <p:nvSpPr>
          <p:cNvPr id="27" name="CodeBg 10"/>
          <p:cNvSpPr/>
          <p:nvPr/>
        </p:nvSpPr>
        <p:spPr>
          <a:xfrm>
            <a:off x="621792" y="1719072"/>
            <a:ext cx="78638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7863840" cy="2980944"/>
          </a:xfrm>
          <a:prstGeom prst="rect">
            <a:avLst/>
          </a:prstGeom>
          <a:noFill/>
        </p:spPr>
        <p:txBody>
          <a:bodyPr wrap="none" lIns="146304" tIns="91440" rIns="146304" bIns="54864">
            <a:spAutoFit/>
          </a:bodyPr>
          <a:lstStyle/>
          <a:p>
            <a:pPr>
              <a:lnSpc>
                <a:spcPct val="107843"/>
              </a:lnSpc>
              <a:spcAft>
                <a:spcPts val="0"/>
              </a:spcAft>
            </a:pPr>
            <a:r>
              <a:rPr sz="850" i="0">
                <a:solidFill>
                  <a:srgbClr val="5C6773"/>
                </a:solidFill>
                <a:latin typeface="Inconsolata"/>
              </a:rPr>
              <a:t>49  </a:t>
            </a:r>
            <a:r>
              <a:rPr sz="850" i="0">
                <a:solidFill>
                  <a:srgbClr val="E6EDF3"/>
                </a:solidFill>
                <a:latin typeface="Inconsolata"/>
              </a:rPr>
              <a:t>  </a:t>
            </a:r>
            <a:r>
              <a:rPr sz="850" i="0">
                <a:solidFill>
                  <a:srgbClr val="82B1FF"/>
                </a:solidFill>
                <a:latin typeface="Inconsolata"/>
              </a:rPr>
              <a:t>publish</a:t>
            </a:r>
            <a:r>
              <a:rPr sz="850" i="0">
                <a:solidFill>
                  <a:srgbClr val="E6EDF3"/>
                </a:solidFill>
                <a:latin typeface="Inconsolata"/>
              </a:rPr>
              <a:t>:</a:t>
            </a:r>
          </a:p>
          <a:p>
            <a:pPr>
              <a:lnSpc>
                <a:spcPct val="107843"/>
              </a:lnSpc>
              <a:spcAft>
                <a:spcPts val="0"/>
              </a:spcAft>
            </a:pPr>
            <a:r>
              <a:rPr sz="850" i="0">
                <a:solidFill>
                  <a:srgbClr val="5C6773"/>
                </a:solidFill>
                <a:latin typeface="Inconsolata"/>
              </a:rPr>
              <a:t>50  </a:t>
            </a:r>
            <a:r>
              <a:rPr sz="850" i="0">
                <a:solidFill>
                  <a:srgbClr val="E6EDF3"/>
                </a:solidFill>
                <a:latin typeface="Inconsolata"/>
              </a:rPr>
              <a:t>    </a:t>
            </a:r>
            <a:r>
              <a:rPr sz="850" i="0">
                <a:solidFill>
                  <a:srgbClr val="82B1FF"/>
                </a:solidFill>
                <a:latin typeface="Inconsolata"/>
              </a:rPr>
              <a:t>needs</a:t>
            </a:r>
            <a:r>
              <a:rPr sz="850" i="0">
                <a:solidFill>
                  <a:srgbClr val="E6EDF3"/>
                </a:solidFill>
                <a:latin typeface="Inconsolata"/>
              </a:rPr>
              <a:t>: build-scan</a:t>
            </a:r>
          </a:p>
          <a:p>
            <a:pPr>
              <a:lnSpc>
                <a:spcPct val="107843"/>
              </a:lnSpc>
              <a:spcAft>
                <a:spcPts val="0"/>
              </a:spcAft>
            </a:pPr>
            <a:r>
              <a:rPr sz="850" i="0">
                <a:solidFill>
                  <a:srgbClr val="5C6773"/>
                </a:solidFill>
                <a:latin typeface="Inconsolata"/>
              </a:rPr>
              <a:t>51  </a:t>
            </a:r>
            <a:r>
              <a:rPr sz="850" i="0">
                <a:solidFill>
                  <a:srgbClr val="E6EDF3"/>
                </a:solidFill>
                <a:latin typeface="Inconsolata"/>
              </a:rPr>
              <a:t>    </a:t>
            </a:r>
            <a:r>
              <a:rPr sz="850" i="0">
                <a:solidFill>
                  <a:srgbClr val="82B1FF"/>
                </a:solidFill>
                <a:latin typeface="Inconsolata"/>
              </a:rPr>
              <a:t>if</a:t>
            </a:r>
            <a:r>
              <a:rPr sz="850" i="0">
                <a:solidFill>
                  <a:srgbClr val="E6EDF3"/>
                </a:solidFill>
                <a:latin typeface="Inconsolata"/>
              </a:rPr>
              <a:t>: github.ref == 'refs/heads/main'</a:t>
            </a:r>
          </a:p>
          <a:p>
            <a:pPr>
              <a:lnSpc>
                <a:spcPct val="107843"/>
              </a:lnSpc>
              <a:spcAft>
                <a:spcPts val="0"/>
              </a:spcAft>
            </a:pPr>
            <a:r>
              <a:rPr sz="850" i="0">
                <a:solidFill>
                  <a:srgbClr val="5C6773"/>
                </a:solidFill>
                <a:latin typeface="Inconsolata"/>
              </a:rPr>
              <a:t>52  </a:t>
            </a:r>
            <a:r>
              <a:rPr sz="850" i="0">
                <a:solidFill>
                  <a:srgbClr val="E6EDF3"/>
                </a:solidFill>
                <a:latin typeface="Inconsolata"/>
              </a:rPr>
              <a:t>    </a:t>
            </a:r>
            <a:r>
              <a:rPr sz="850" i="0">
                <a:solidFill>
                  <a:srgbClr val="82B1FF"/>
                </a:solidFill>
                <a:latin typeface="Inconsolata"/>
              </a:rPr>
              <a:t>runs-on</a:t>
            </a:r>
            <a:r>
              <a:rPr sz="850" i="0">
                <a:solidFill>
                  <a:srgbClr val="E6EDF3"/>
                </a:solidFill>
                <a:latin typeface="Inconsolata"/>
              </a:rPr>
              <a:t>: ubuntu-latest</a:t>
            </a:r>
          </a:p>
          <a:p>
            <a:pPr>
              <a:lnSpc>
                <a:spcPct val="107843"/>
              </a:lnSpc>
              <a:spcAft>
                <a:spcPts val="0"/>
              </a:spcAft>
            </a:pPr>
            <a:r>
              <a:rPr sz="850" i="0">
                <a:solidFill>
                  <a:srgbClr val="5C6773"/>
                </a:solidFill>
                <a:latin typeface="Inconsolata"/>
              </a:rPr>
              <a:t>53  </a:t>
            </a:r>
            <a:r>
              <a:rPr sz="850" i="0">
                <a:solidFill>
                  <a:srgbClr val="E6EDF3"/>
                </a:solidFill>
                <a:latin typeface="Inconsolata"/>
              </a:rPr>
              <a:t>    </a:t>
            </a:r>
            <a:r>
              <a:rPr sz="850" i="0">
                <a:solidFill>
                  <a:srgbClr val="82B1FF"/>
                </a:solidFill>
                <a:latin typeface="Inconsolata"/>
              </a:rPr>
              <a:t>permissions</a:t>
            </a:r>
            <a:r>
              <a:rPr sz="850" i="0">
                <a:solidFill>
                  <a:srgbClr val="E6EDF3"/>
                </a:solidFill>
                <a:latin typeface="Inconsolata"/>
              </a:rPr>
              <a:t>:</a:t>
            </a:r>
          </a:p>
          <a:p>
            <a:pPr>
              <a:lnSpc>
                <a:spcPct val="107843"/>
              </a:lnSpc>
              <a:spcAft>
                <a:spcPts val="0"/>
              </a:spcAft>
            </a:pPr>
            <a:r>
              <a:rPr sz="850" i="0">
                <a:solidFill>
                  <a:srgbClr val="5C6773"/>
                </a:solidFill>
                <a:latin typeface="Inconsolata"/>
              </a:rPr>
              <a:t>54  </a:t>
            </a:r>
            <a:r>
              <a:rPr sz="850" i="0">
                <a:solidFill>
                  <a:srgbClr val="E6EDF3"/>
                </a:solidFill>
                <a:latin typeface="Inconsolata"/>
              </a:rPr>
              <a:t>      </a:t>
            </a:r>
            <a:r>
              <a:rPr sz="850" i="0">
                <a:solidFill>
                  <a:srgbClr val="82B1FF"/>
                </a:solidFill>
                <a:latin typeface="Inconsolata"/>
              </a:rPr>
              <a:t>packages</a:t>
            </a:r>
            <a:r>
              <a:rPr sz="850" i="0">
                <a:solidFill>
                  <a:srgbClr val="E6EDF3"/>
                </a:solidFill>
                <a:latin typeface="Inconsolata"/>
              </a:rPr>
              <a:t>: write</a:t>
            </a:r>
          </a:p>
          <a:p>
            <a:pPr>
              <a:lnSpc>
                <a:spcPct val="107843"/>
              </a:lnSpc>
              <a:spcAft>
                <a:spcPts val="0"/>
              </a:spcAft>
            </a:pPr>
            <a:r>
              <a:rPr sz="850" i="0">
                <a:solidFill>
                  <a:srgbClr val="5C6773"/>
                </a:solidFill>
                <a:latin typeface="Inconsolata"/>
              </a:rPr>
              <a:t>55  </a:t>
            </a:r>
            <a:r>
              <a:rPr sz="850" i="0">
                <a:solidFill>
                  <a:srgbClr val="E6EDF3"/>
                </a:solidFill>
                <a:latin typeface="Inconsolata"/>
              </a:rPr>
              <a:t>    </a:t>
            </a:r>
            <a:r>
              <a:rPr sz="850" i="0">
                <a:solidFill>
                  <a:srgbClr val="82B1FF"/>
                </a:solidFill>
                <a:latin typeface="Inconsolata"/>
              </a:rPr>
              <a:t>steps</a:t>
            </a:r>
            <a:r>
              <a:rPr sz="850" i="0">
                <a:solidFill>
                  <a:srgbClr val="E6EDF3"/>
                </a:solidFill>
                <a:latin typeface="Inconsolata"/>
              </a:rPr>
              <a:t>:</a:t>
            </a:r>
          </a:p>
          <a:p>
            <a:pPr>
              <a:lnSpc>
                <a:spcPct val="107843"/>
              </a:lnSpc>
              <a:spcAft>
                <a:spcPts val="0"/>
              </a:spcAft>
            </a:pPr>
            <a:r>
              <a:rPr sz="850" i="0">
                <a:solidFill>
                  <a:srgbClr val="5C6773"/>
                </a:solidFill>
                <a:latin typeface="Inconsolata"/>
              </a:rPr>
              <a:t>56  </a:t>
            </a:r>
            <a:r>
              <a:rPr sz="850" i="0">
                <a:solidFill>
                  <a:srgbClr val="E6EDF3"/>
                </a:solidFill>
                <a:latin typeface="Inconsolata"/>
              </a:rPr>
              <a:t>      - </a:t>
            </a:r>
            <a:r>
              <a:rPr sz="850" i="0">
                <a:solidFill>
                  <a:srgbClr val="82B1FF"/>
                </a:solidFill>
                <a:latin typeface="Inconsolata"/>
              </a:rPr>
              <a:t>uses</a:t>
            </a:r>
            <a:r>
              <a:rPr sz="850" i="0">
                <a:solidFill>
                  <a:srgbClr val="E6EDF3"/>
                </a:solidFill>
                <a:latin typeface="Inconsolata"/>
              </a:rPr>
              <a:t>: actions/checkout@v4</a:t>
            </a:r>
          </a:p>
          <a:p>
            <a:pPr>
              <a:lnSpc>
                <a:spcPct val="107843"/>
              </a:lnSpc>
              <a:spcAft>
                <a:spcPts val="0"/>
              </a:spcAft>
            </a:pPr>
            <a:r>
              <a:rPr sz="850" i="0">
                <a:solidFill>
                  <a:srgbClr val="5C6773"/>
                </a:solidFill>
                <a:latin typeface="Inconsolata"/>
              </a:rPr>
              <a:t>57  </a:t>
            </a:r>
            <a:r>
              <a:rPr sz="850" i="0">
                <a:solidFill>
                  <a:srgbClr val="E6EDF3"/>
                </a:solidFill>
                <a:latin typeface="Inconsolata"/>
              </a:rPr>
              <a:t>      - </a:t>
            </a:r>
            <a:r>
              <a:rPr sz="850" i="0">
                <a:solidFill>
                  <a:srgbClr val="82B1FF"/>
                </a:solidFill>
                <a:latin typeface="Inconsolata"/>
              </a:rPr>
              <a:t>uses</a:t>
            </a:r>
            <a:r>
              <a:rPr sz="850" i="0">
                <a:solidFill>
                  <a:srgbClr val="E6EDF3"/>
                </a:solidFill>
                <a:latin typeface="Inconsolata"/>
              </a:rPr>
              <a:t>: docker/login-action@v3</a:t>
            </a:r>
          </a:p>
          <a:p>
            <a:pPr>
              <a:lnSpc>
                <a:spcPct val="107843"/>
              </a:lnSpc>
              <a:spcAft>
                <a:spcPts val="0"/>
              </a:spcAft>
            </a:pPr>
            <a:r>
              <a:rPr sz="850" i="0">
                <a:solidFill>
                  <a:srgbClr val="5C6773"/>
                </a:solidFill>
                <a:latin typeface="Inconsolata"/>
              </a:rPr>
              <a:t>58  </a:t>
            </a:r>
            <a:r>
              <a:rPr sz="850" i="0">
                <a:solidFill>
                  <a:srgbClr val="E6EDF3"/>
                </a:solidFill>
                <a:latin typeface="Inconsolata"/>
              </a:rPr>
              <a:t>        </a:t>
            </a:r>
            <a:r>
              <a:rPr sz="850" i="0">
                <a:solidFill>
                  <a:srgbClr val="82B1FF"/>
                </a:solidFill>
                <a:latin typeface="Inconsolata"/>
              </a:rPr>
              <a:t>with</a:t>
            </a:r>
            <a:r>
              <a:rPr sz="850" i="0">
                <a:solidFill>
                  <a:srgbClr val="E6EDF3"/>
                </a:solidFill>
                <a:latin typeface="Inconsolata"/>
              </a:rPr>
              <a:t>:</a:t>
            </a:r>
          </a:p>
          <a:p>
            <a:pPr>
              <a:lnSpc>
                <a:spcPct val="107843"/>
              </a:lnSpc>
              <a:spcAft>
                <a:spcPts val="0"/>
              </a:spcAft>
            </a:pPr>
            <a:r>
              <a:rPr sz="850" i="0">
                <a:solidFill>
                  <a:srgbClr val="5C6773"/>
                </a:solidFill>
                <a:latin typeface="Inconsolata"/>
              </a:rPr>
              <a:t>59  </a:t>
            </a:r>
            <a:r>
              <a:rPr sz="850" i="0">
                <a:solidFill>
                  <a:srgbClr val="E6EDF3"/>
                </a:solidFill>
                <a:latin typeface="Inconsolata"/>
              </a:rPr>
              <a:t>          </a:t>
            </a:r>
            <a:r>
              <a:rPr sz="850" i="0">
                <a:solidFill>
                  <a:srgbClr val="82B1FF"/>
                </a:solidFill>
                <a:latin typeface="Inconsolata"/>
              </a:rPr>
              <a:t>registry</a:t>
            </a:r>
            <a:r>
              <a:rPr sz="850" i="0">
                <a:solidFill>
                  <a:srgbClr val="E6EDF3"/>
                </a:solidFill>
                <a:latin typeface="Inconsolata"/>
              </a:rPr>
              <a:t>: ghcr.io</a:t>
            </a:r>
          </a:p>
          <a:p>
            <a:pPr>
              <a:lnSpc>
                <a:spcPct val="107843"/>
              </a:lnSpc>
              <a:spcAft>
                <a:spcPts val="0"/>
              </a:spcAft>
            </a:pPr>
            <a:r>
              <a:rPr sz="850" i="0">
                <a:solidFill>
                  <a:srgbClr val="5C6773"/>
                </a:solidFill>
                <a:latin typeface="Inconsolata"/>
              </a:rPr>
              <a:t>60  </a:t>
            </a:r>
            <a:r>
              <a:rPr sz="850" i="0">
                <a:solidFill>
                  <a:srgbClr val="E6EDF3"/>
                </a:solidFill>
                <a:latin typeface="Inconsolata"/>
              </a:rPr>
              <a:t>          </a:t>
            </a:r>
            <a:r>
              <a:rPr sz="850" i="0">
                <a:solidFill>
                  <a:srgbClr val="82B1FF"/>
                </a:solidFill>
                <a:latin typeface="Inconsolata"/>
              </a:rPr>
              <a:t>username</a:t>
            </a:r>
            <a:r>
              <a:rPr sz="850" i="0">
                <a:solidFill>
                  <a:srgbClr val="E6EDF3"/>
                </a:solidFill>
                <a:latin typeface="Inconsolata"/>
              </a:rPr>
              <a:t>: ${{ github.actor }}</a:t>
            </a:r>
          </a:p>
          <a:p>
            <a:pPr>
              <a:lnSpc>
                <a:spcPct val="107843"/>
              </a:lnSpc>
              <a:spcAft>
                <a:spcPts val="0"/>
              </a:spcAft>
            </a:pPr>
            <a:r>
              <a:rPr sz="850" i="0">
                <a:solidFill>
                  <a:srgbClr val="5C6773"/>
                </a:solidFill>
                <a:latin typeface="Inconsolata"/>
              </a:rPr>
              <a:t>61  </a:t>
            </a:r>
            <a:r>
              <a:rPr sz="850" i="0">
                <a:solidFill>
                  <a:srgbClr val="E6EDF3"/>
                </a:solidFill>
                <a:latin typeface="Inconsolata"/>
              </a:rPr>
              <a:t>          </a:t>
            </a:r>
            <a:r>
              <a:rPr sz="850" i="0">
                <a:solidFill>
                  <a:srgbClr val="82B1FF"/>
                </a:solidFill>
                <a:latin typeface="Inconsolata"/>
              </a:rPr>
              <a:t>password</a:t>
            </a:r>
            <a:r>
              <a:rPr sz="850" i="0">
                <a:solidFill>
                  <a:srgbClr val="E6EDF3"/>
                </a:solidFill>
                <a:latin typeface="Inconsolata"/>
              </a:rPr>
              <a:t>: ${{ secrets.GITHUB_TOKEN }}</a:t>
            </a:r>
          </a:p>
          <a:p>
            <a:pPr>
              <a:lnSpc>
                <a:spcPct val="107843"/>
              </a:lnSpc>
              <a:spcAft>
                <a:spcPts val="0"/>
              </a:spcAft>
            </a:pPr>
            <a:r>
              <a:rPr sz="850" i="0">
                <a:solidFill>
                  <a:srgbClr val="5C6773"/>
                </a:solidFill>
                <a:latin typeface="Inconsolata"/>
              </a:rPr>
              <a:t>62  </a:t>
            </a:r>
            <a:r>
              <a:rPr sz="850" i="0">
                <a:solidFill>
                  <a:srgbClr val="E6EDF3"/>
                </a:solidFill>
                <a:latin typeface="Inconsolata"/>
              </a:rPr>
              <a:t>      - </a:t>
            </a:r>
            <a:r>
              <a:rPr sz="850" i="0">
                <a:solidFill>
                  <a:srgbClr val="82B1FF"/>
                </a:solidFill>
                <a:latin typeface="Inconsolata"/>
              </a:rPr>
              <a:t>uses</a:t>
            </a:r>
            <a:r>
              <a:rPr sz="850" i="0">
                <a:solidFill>
                  <a:srgbClr val="E6EDF3"/>
                </a:solidFill>
                <a:latin typeface="Inconsolata"/>
              </a:rPr>
              <a:t>: docker/build-push-action@v6</a:t>
            </a:r>
          </a:p>
          <a:p>
            <a:pPr>
              <a:lnSpc>
                <a:spcPct val="107843"/>
              </a:lnSpc>
              <a:spcAft>
                <a:spcPts val="0"/>
              </a:spcAft>
            </a:pPr>
            <a:r>
              <a:rPr sz="850" i="0">
                <a:solidFill>
                  <a:srgbClr val="5C6773"/>
                </a:solidFill>
                <a:latin typeface="Inconsolata"/>
              </a:rPr>
              <a:t>63  </a:t>
            </a:r>
            <a:r>
              <a:rPr sz="850" i="0">
                <a:solidFill>
                  <a:srgbClr val="E6EDF3"/>
                </a:solidFill>
                <a:latin typeface="Inconsolata"/>
              </a:rPr>
              <a:t>        </a:t>
            </a:r>
            <a:r>
              <a:rPr sz="850" i="0">
                <a:solidFill>
                  <a:srgbClr val="82B1FF"/>
                </a:solidFill>
                <a:latin typeface="Inconsolata"/>
              </a:rPr>
              <a:t>with</a:t>
            </a:r>
            <a:r>
              <a:rPr sz="850" i="0">
                <a:solidFill>
                  <a:srgbClr val="E6EDF3"/>
                </a:solidFill>
                <a:latin typeface="Inconsolata"/>
              </a:rPr>
              <a:t>:</a:t>
            </a:r>
          </a:p>
          <a:p>
            <a:pPr>
              <a:lnSpc>
                <a:spcPct val="107843"/>
              </a:lnSpc>
              <a:spcAft>
                <a:spcPts val="0"/>
              </a:spcAft>
            </a:pPr>
            <a:r>
              <a:rPr sz="850" i="0">
                <a:solidFill>
                  <a:srgbClr val="5C6773"/>
                </a:solidFill>
                <a:latin typeface="Inconsolata"/>
              </a:rPr>
              <a:t>64  </a:t>
            </a:r>
            <a:r>
              <a:rPr sz="850" i="0">
                <a:solidFill>
                  <a:srgbClr val="E6EDF3"/>
                </a:solidFill>
                <a:latin typeface="Inconsolata"/>
              </a:rPr>
              <a:t>          </a:t>
            </a:r>
            <a:r>
              <a:rPr sz="850" i="0">
                <a:solidFill>
                  <a:srgbClr val="82B1FF"/>
                </a:solidFill>
                <a:latin typeface="Inconsolata"/>
              </a:rPr>
              <a:t>push</a:t>
            </a:r>
            <a:r>
              <a:rPr sz="850" i="0">
                <a:solidFill>
                  <a:srgbClr val="E6EDF3"/>
                </a:solidFill>
                <a:latin typeface="Inconsolata"/>
              </a:rPr>
              <a:t>: true</a:t>
            </a:r>
          </a:p>
          <a:p>
            <a:pPr>
              <a:lnSpc>
                <a:spcPct val="107843"/>
              </a:lnSpc>
              <a:spcAft>
                <a:spcPts val="0"/>
              </a:spcAft>
            </a:pPr>
            <a:r>
              <a:rPr sz="850" i="0">
                <a:solidFill>
                  <a:srgbClr val="5C6773"/>
                </a:solidFill>
                <a:latin typeface="Inconsolata"/>
              </a:rPr>
              <a:t>65  </a:t>
            </a:r>
            <a:r>
              <a:rPr sz="850" i="0">
                <a:solidFill>
                  <a:srgbClr val="E6EDF3"/>
                </a:solidFill>
                <a:latin typeface="Inconsolata"/>
              </a:rPr>
              <a:t>          </a:t>
            </a:r>
            <a:r>
              <a:rPr sz="850" i="0">
                <a:solidFill>
                  <a:srgbClr val="82B1FF"/>
                </a:solidFill>
                <a:latin typeface="Inconsolata"/>
              </a:rPr>
              <a:t>tags</a:t>
            </a:r>
            <a:r>
              <a:rPr sz="850" i="0">
                <a:solidFill>
                  <a:srgbClr val="E6EDF3"/>
                </a:solidFill>
                <a:latin typeface="Inconsolata"/>
              </a:rPr>
              <a:t>: ghcr.io/${{ github.repository }}/order-api:${{ github.sha }}</a:t>
            </a:r>
          </a:p>
        </p:txBody>
      </p:sp>
      <p:sp>
        <p:nvSpPr>
          <p:cNvPr id="29" name="Box 12"/>
          <p:cNvSpPr/>
          <p:nvPr/>
        </p:nvSpPr>
        <p:spPr>
          <a:xfrm>
            <a:off x="704088" y="1828673"/>
            <a:ext cx="7699248" cy="410718"/>
          </a:xfrm>
          <a:prstGeom prst="roundRect">
            <a:avLst>
              <a:gd name="adj" fmla="val 11131"/>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8284463" y="191516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4</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CI/CD</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07-ci-pipeline/after.yml</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758952"/>
          </a:xfrm>
          <a:prstGeom prst="roundRect">
            <a:avLst>
              <a:gd name="adj" fmla="val 2409"/>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758952"/>
          </a:xfrm>
          <a:prstGeom prst="rect">
            <a:avLst/>
          </a:prstGeom>
          <a:noFill/>
        </p:spPr>
        <p:txBody>
          <a:bodyPr wrap="none" lIns="146304" tIns="91440" rIns="146304" bIns="54864">
            <a:spAutoFit/>
          </a:bodyPr>
          <a:lstStyle/>
          <a:p>
            <a:pPr>
              <a:lnSpc>
                <a:spcPct val="107843"/>
              </a:lnSpc>
              <a:spcAft>
                <a:spcPts val="0"/>
              </a:spcAft>
            </a:pPr>
            <a:r>
              <a:rPr sz="850" i="0">
                <a:solidFill>
                  <a:srgbClr val="82B1FF"/>
                </a:solidFill>
                <a:latin typeface="Inconsolata"/>
              </a:rPr>
              <a:t>$ cd sesi-11-docker-kubernetes-cicd/07-ci-pipeline</a:t>
            </a:r>
          </a:p>
          <a:p>
            <a:pPr>
              <a:lnSpc>
                <a:spcPct val="107843"/>
              </a:lnSpc>
              <a:spcAft>
                <a:spcPts val="0"/>
              </a:spcAft>
            </a:pPr>
            <a:r>
              <a:rPr sz="850" i="0">
                <a:solidFill>
                  <a:srgbClr val="82B1FF"/>
                </a:solidFill>
                <a:latin typeface="Inconsolata"/>
              </a:rPr>
              <a:t>$ ruff check .</a:t>
            </a:r>
          </a:p>
          <a:p>
            <a:pPr>
              <a:lnSpc>
                <a:spcPct val="107843"/>
              </a:lnSpc>
              <a:spcAft>
                <a:spcPts val="0"/>
              </a:spcAft>
            </a:pPr>
            <a:r>
              <a:rPr sz="850" i="0">
                <a:solidFill>
                  <a:srgbClr val="82B1FF"/>
                </a:solidFill>
                <a:latin typeface="Inconsolata"/>
              </a:rPr>
              <a:t>$ pytest -q</a:t>
            </a:r>
          </a:p>
          <a:p>
            <a:pPr>
              <a:lnSpc>
                <a:spcPct val="107843"/>
              </a:lnSpc>
              <a:spcAft>
                <a:spcPts val="0"/>
              </a:spcAft>
            </a:pPr>
            <a:r>
              <a:rPr sz="850" i="0">
                <a:solidFill>
                  <a:srgbClr val="82B1FF"/>
                </a:solidFill>
                <a:latin typeface="Inconsolata"/>
              </a:rPr>
              <a:t>$ docker build -t order-api:ci .</a:t>
            </a:r>
          </a:p>
        </p:txBody>
      </p:sp>
      <p:pic>
        <p:nvPicPr>
          <p:cNvPr id="29" name="Image 12" descr="s11-07-ci-pipeline-after.png"/>
          <p:cNvPicPr>
            <a:picLocks noChangeAspect="1"/>
          </p:cNvPicPr>
          <p:nvPr/>
        </p:nvPicPr>
        <p:blipFill>
          <a:blip r:embed="rId2"/>
          <a:stretch>
            <a:fillRect/>
          </a:stretch>
        </p:blipFill>
        <p:spPr>
          <a:xfrm>
            <a:off x="621792" y="2596896"/>
            <a:ext cx="4297680" cy="1913967"/>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Jalan di setiap pull request (baris 7-10)</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Lint dulu dengan ruff (baris 13-21)</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Build image lalu scan, gagal jika ada celah HIGH/CRITICAL (baris 35-47)</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Publish image ke registry, hanya dari main (baris 49-51)</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ruff menolak import yang tidak dipakai. Setelah diperbaiki: test lulus, Trivy 0 temuan.</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oogle Shape;3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62</a:t>
            </a:fld>
            <a:endParaRPr/>
          </a:p>
        </p:txBody>
      </p:sp>
      <p:sp>
        <p:nvSpPr>
          <p:cNvPr id="31" name="Text 1"/>
          <p:cNvSpPr txBox="1"/>
          <p:nvPr/>
        </p:nvSpPr>
        <p:spPr>
          <a:xfrm>
            <a:off x="822960" y="1600200"/>
            <a:ext cx="7315200" cy="365760"/>
          </a:xfrm>
          <a:prstGeom prst="rect">
            <a:avLst/>
          </a:prstGeom>
          <a:noFill/>
        </p:spPr>
        <p:txBody>
          <a:bodyPr wrap="square" lIns="45720" rIns="45720" anchor="t">
            <a:spAutoFit/>
          </a:bodyPr>
          <a:lstStyle/>
          <a:p>
            <a:pPr algn="l">
              <a:lnSpc>
                <a:spcPct val="115000"/>
              </a:lnSpc>
              <a:spcAft>
                <a:spcPts val="400"/>
              </a:spcAft>
            </a:pPr>
            <a:r>
              <a:rPr sz="1400" b="0" i="0">
                <a:solidFill>
                  <a:srgbClr val="CFE0FA"/>
                </a:solidFill>
                <a:latin typeface="Inter"/>
              </a:rPr>
              <a:t>Bagian 04</a:t>
            </a:r>
          </a:p>
        </p:txBody>
      </p:sp>
      <p:sp>
        <p:nvSpPr>
          <p:cNvPr id="32" name="Text 2"/>
          <p:cNvSpPr txBox="1"/>
          <p:nvPr/>
        </p:nvSpPr>
        <p:spPr>
          <a:xfrm>
            <a:off x="822960" y="1920240"/>
            <a:ext cx="7315200" cy="822960"/>
          </a:xfrm>
          <a:prstGeom prst="rect">
            <a:avLst/>
          </a:prstGeom>
          <a:noFill/>
        </p:spPr>
        <p:txBody>
          <a:bodyPr wrap="square" lIns="45720" rIns="45720" anchor="t">
            <a:spAutoFit/>
          </a:bodyPr>
          <a:lstStyle/>
          <a:p>
            <a:pPr algn="l">
              <a:lnSpc>
                <a:spcPct val="115000"/>
              </a:lnSpc>
              <a:spcAft>
                <a:spcPts val="400"/>
              </a:spcAft>
            </a:pPr>
            <a:r>
              <a:rPr sz="3000" b="0" i="0">
                <a:solidFill>
                  <a:srgbClr val="FFFFFF"/>
                </a:solidFill>
                <a:latin typeface="Work Sans ExtraBold"/>
              </a:rPr>
              <a:t>Hands-on: Dockerize Order API dan Pipeline CI</a:t>
            </a:r>
          </a:p>
        </p:txBody>
      </p:sp>
      <p:sp>
        <p:nvSpPr>
          <p:cNvPr id="33" name="Text 3"/>
          <p:cNvSpPr txBox="1"/>
          <p:nvPr/>
        </p:nvSpPr>
        <p:spPr>
          <a:xfrm>
            <a:off x="822960" y="3246120"/>
            <a:ext cx="6583680" cy="731520"/>
          </a:xfrm>
          <a:prstGeom prst="rect">
            <a:avLst/>
          </a:prstGeom>
          <a:noFill/>
        </p:spPr>
        <p:txBody>
          <a:bodyPr wrap="square" lIns="45720" rIns="45720" anchor="t">
            <a:spAutoFit/>
          </a:bodyPr>
          <a:lstStyle/>
          <a:p>
            <a:pPr algn="l">
              <a:lnSpc>
                <a:spcPct val="115000"/>
              </a:lnSpc>
              <a:spcAft>
                <a:spcPts val="400"/>
              </a:spcAft>
            </a:pPr>
            <a:r>
              <a:rPr sz="1200" b="0" i="0">
                <a:solidFill>
                  <a:srgbClr val="E3ECFA"/>
                </a:solidFill>
                <a:latin typeface="Inter"/>
              </a:rPr>
              <a:t>Dikerjakan bersama mentor, langkah demi langkah. Compose, Kubernetes, dan GitHub Actions.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Kondisi Awal</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Hasil Sesi 10: Berjalan dengan 4 Terminal</a:t>
            </a:r>
          </a:p>
        </p:txBody>
      </p:sp>
      <p:sp>
        <p:nvSpPr>
          <p:cNvPr id="22" name="CodeTab 4"/>
          <p:cNvSpPr/>
          <p:nvPr/>
        </p:nvSpPr>
        <p:spPr>
          <a:xfrm>
            <a:off x="621792" y="1481328"/>
            <a:ext cx="51206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4805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08-dockerize-ci/before/app/main.py</a:t>
            </a:r>
          </a:p>
        </p:txBody>
      </p:sp>
      <p:sp>
        <p:nvSpPr>
          <p:cNvPr id="27" name="CodeBg 10"/>
          <p:cNvSpPr/>
          <p:nvPr/>
        </p:nvSpPr>
        <p:spPr>
          <a:xfrm>
            <a:off x="621792" y="1719072"/>
            <a:ext cx="51206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120640" cy="2980944"/>
          </a:xfrm>
          <a:prstGeom prst="rect">
            <a:avLst/>
          </a:prstGeom>
          <a:noFill/>
        </p:spPr>
        <p:txBody>
          <a:bodyPr wrap="none" lIns="146304" tIns="91440" rIns="146304" bIns="54864">
            <a:spAutoFit/>
          </a:bodyPr>
          <a:lstStyle/>
          <a:p>
            <a:pPr>
              <a:lnSpc>
                <a:spcPct val="103448"/>
              </a:lnSpc>
              <a:spcAft>
                <a:spcPts val="0"/>
              </a:spcAft>
            </a:pPr>
            <a:r>
              <a:rPr sz="725" i="0">
                <a:solidFill>
                  <a:srgbClr val="E6EDF3"/>
                </a:solidFill>
                <a:latin typeface="Inconsolata"/>
              </a:rPr>
              <a:t>Jalankan dari folder before/, masing-masing di terminal sendiri:</a:t>
            </a:r>
          </a:p>
          <a:p>
            <a:pPr>
              <a:lnSpc>
                <a:spcPct val="103448"/>
              </a:lnSpc>
              <a:spcAft>
                <a:spcPts val="0"/>
              </a:spcAft>
            </a:pPr>
            <a:r>
              <a:rPr sz="725" i="0">
                <a:solidFill>
                  <a:srgbClr val="E6EDF3"/>
                </a:solidFill>
                <a:latin typeface="Inconsolata"/>
              </a:rPr>
              <a:t>    python -m app.consumers.notification_consumer          consumer notifikasi</a:t>
            </a:r>
          </a:p>
          <a:p>
            <a:pPr>
              <a:lnSpc>
                <a:spcPct val="103448"/>
              </a:lnSpc>
              <a:spcAft>
                <a:spcPts val="0"/>
              </a:spcAft>
            </a:pPr>
            <a:r>
              <a:rPr sz="725" i="0">
                <a:solidFill>
                  <a:srgbClr val="E6EDF3"/>
                </a:solidFill>
                <a:latin typeface="Inconsolata"/>
              </a:rPr>
              <a:t>    celery -A app.worker.celery_app worker --loglevel=info --pool=solo</a:t>
            </a:r>
          </a:p>
          <a:p>
            <a:pPr>
              <a:lnSpc>
                <a:spcPct val="103448"/>
              </a:lnSpc>
              <a:spcAft>
                <a:spcPts val="0"/>
              </a:spcAft>
            </a:pPr>
            <a:r>
              <a:rPr sz="725" i="0">
                <a:solidFill>
                  <a:srgbClr val="E6EDF3"/>
                </a:solidFill>
                <a:latin typeface="Inconsolata"/>
              </a:rPr>
              <a:t>    uvicorn app.main:app --reload --no-access-log          access log sudah dibuat middleware (JSON)</a:t>
            </a:r>
          </a:p>
        </p:txBody>
      </p:sp>
      <p:sp>
        <p:nvSpPr>
          <p:cNvPr id="29" name="Box 12"/>
          <p:cNvSpPr/>
          <p:nvPr/>
        </p:nvSpPr>
        <p:spPr>
          <a:xfrm>
            <a:off x="704088" y="1939671"/>
            <a:ext cx="4956048" cy="336042"/>
          </a:xfrm>
          <a:prstGeom prst="roundRect">
            <a:avLst>
              <a:gd name="adj" fmla="val 13605"/>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541264" y="19888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5897879" y="1481328"/>
            <a:ext cx="2587752" cy="3218688"/>
          </a:xfrm>
          <a:prstGeom prst="roundRect">
            <a:avLst>
              <a:gd name="adj" fmla="val 424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Text 15"/>
          <p:cNvSpPr txBox="1"/>
          <p:nvPr/>
        </p:nvSpPr>
        <p:spPr>
          <a:xfrm>
            <a:off x="6035040" y="1572768"/>
            <a:ext cx="2313432" cy="310896"/>
          </a:xfrm>
          <a:prstGeom prst="rect">
            <a:avLst/>
          </a:prstGeom>
          <a:noFill/>
        </p:spPr>
        <p:txBody>
          <a:bodyPr wrap="square" lIns="45720" rIns="45720" anchor="t">
            <a:spAutoFit/>
          </a:bodyPr>
          <a:lstStyle/>
          <a:p>
            <a:pPr algn="l">
              <a:lnSpc>
                <a:spcPct val="115000"/>
              </a:lnSpc>
              <a:spcAft>
                <a:spcPts val="400"/>
              </a:spcAft>
            </a:pPr>
            <a:r>
              <a:rPr sz="1100" b="1" i="0">
                <a:solidFill>
                  <a:srgbClr val="C0392B"/>
                </a:solidFill>
                <a:latin typeface="Inter"/>
              </a:rPr>
              <a:t>Masalahnya</a:t>
            </a:r>
          </a:p>
        </p:txBody>
      </p:sp>
      <p:sp>
        <p:nvSpPr>
          <p:cNvPr id="33" name="Text 16"/>
          <p:cNvSpPr txBox="1"/>
          <p:nvPr/>
        </p:nvSpPr>
        <p:spPr>
          <a:xfrm>
            <a:off x="6035040" y="1892808"/>
            <a:ext cx="231343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API, worker, dan consumer dijalankan manual di laptop</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Belum ada image, jadi tidak bisa di-deploy ke server</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Tidak ada pengecekan otomatis di setiap perubahan</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Kode inilah yang kita kembangkan di hands-on.</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mulai dari 08-dockerize-ci/before/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Tujuan &amp; Kriteria Selesai</a:t>
            </a:r>
          </a:p>
        </p:txBody>
      </p:sp>
      <p:sp>
        <p:nvSpPr>
          <p:cNvPr id="22" name="Box 3"/>
          <p:cNvSpPr/>
          <p:nvPr/>
        </p:nvSpPr>
        <p:spPr>
          <a:xfrm>
            <a:off x="621792" y="1481328"/>
            <a:ext cx="3840480" cy="3218688"/>
          </a:xfrm>
          <a:prstGeom prst="roundRect">
            <a:avLst>
              <a:gd name="adj" fmla="val 3409"/>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Text 4"/>
          <p:cNvSpPr txBox="1"/>
          <p:nvPr/>
        </p:nvSpPr>
        <p:spPr>
          <a:xfrm>
            <a:off x="758952" y="1572768"/>
            <a:ext cx="3566160" cy="310896"/>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Kriteria selesai</a:t>
            </a:r>
          </a:p>
        </p:txBody>
      </p:sp>
      <p:sp>
        <p:nvSpPr>
          <p:cNvPr id="24" name="Text 5"/>
          <p:cNvSpPr txBox="1"/>
          <p:nvPr/>
        </p:nvSpPr>
        <p:spPr>
          <a:xfrm>
            <a:off x="758952" y="1892808"/>
            <a:ext cx="3566160"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Image berjalan sebagai user biasa, tanpa </a:t>
            </a:r>
            <a:r>
              <a:rPr sz="900" b="0" i="0">
                <a:solidFill>
                  <a:srgbClr val="B5482A"/>
                </a:solidFill>
                <a:latin typeface="Inconsolata"/>
              </a:rPr>
              <a:t>.env</a:t>
            </a:r>
            <a:r>
              <a:rPr sz="900" b="0" i="0">
                <a:solidFill>
                  <a:srgbClr val="434343"/>
                </a:solidFill>
                <a:latin typeface="Inter"/>
              </a:rPr>
              <a:t> dan tests</a:t>
            </a:r>
          </a:p>
          <a:p>
            <a:pPr marL="182880" indent="-182880" algn="l">
              <a:lnSpc>
                <a:spcPct val="115000"/>
              </a:lnSpc>
              <a:spcAft>
                <a:spcPts val="400"/>
              </a:spcAft>
              <a:buClr>
                <a:srgbClr val="E0764F"/>
              </a:buClr>
              <a:buSzPct val="100000"/>
              <a:buFont typeface="Arial"/>
              <a:buChar char="•"/>
            </a:pPr>
            <a:r>
              <a:rPr sz="900" b="0" i="0">
                <a:solidFill>
                  <a:srgbClr val="B5482A"/>
                </a:solidFill>
                <a:latin typeface="Inconsolata"/>
              </a:rPr>
              <a:t>docker compose up</a:t>
            </a:r>
            <a:r>
              <a:rPr sz="900" b="0" i="0">
                <a:solidFill>
                  <a:srgbClr val="434343"/>
                </a:solidFill>
                <a:latin typeface="Inter"/>
              </a:rPr>
              <a:t> menjalankan API, worker, consumer, semua healthy</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Login, order, dan report berjalan di container</a:t>
            </a:r>
          </a:p>
          <a:p>
            <a:pPr marL="182880" indent="-182880" algn="l">
              <a:lnSpc>
                <a:spcPct val="115000"/>
              </a:lnSpc>
              <a:spcAft>
                <a:spcPts val="400"/>
              </a:spcAft>
              <a:buClr>
                <a:srgbClr val="E0764F"/>
              </a:buClr>
              <a:buSzPct val="100000"/>
              <a:buFont typeface="Arial"/>
              <a:buChar char="•"/>
            </a:pPr>
            <a:r>
              <a:rPr sz="900" b="0" i="0">
                <a:solidFill>
                  <a:srgbClr val="B5482A"/>
                </a:solidFill>
                <a:latin typeface="Inconsolata"/>
              </a:rPr>
              <a:t>kubectl apply -f k8s/</a:t>
            </a:r>
            <a:r>
              <a:rPr sz="900" b="0" i="0">
                <a:solidFill>
                  <a:srgbClr val="434343"/>
                </a:solidFill>
                <a:latin typeface="Inter"/>
              </a:rPr>
              <a:t> membuat 2 pod API yang Ready</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Workflow CI: lint, test, build, scan</a:t>
            </a:r>
          </a:p>
          <a:p>
            <a:pPr marL="182880" indent="-182880" algn="l">
              <a:lnSpc>
                <a:spcPct val="115000"/>
              </a:lnSpc>
              <a:spcAft>
                <a:spcPts val="400"/>
              </a:spcAft>
              <a:buClr>
                <a:srgbClr val="E0764F"/>
              </a:buClr>
              <a:buSzPct val="100000"/>
              <a:buFont typeface="Arial"/>
              <a:buChar char="•"/>
            </a:pPr>
            <a:r>
              <a:rPr sz="900" b="0" i="0">
                <a:solidFill>
                  <a:srgbClr val="B5482A"/>
                </a:solidFill>
                <a:latin typeface="Inconsolata"/>
              </a:rPr>
              <a:t>ruff check .</a:t>
            </a:r>
            <a:r>
              <a:rPr sz="900" b="0" i="0">
                <a:solidFill>
                  <a:srgbClr val="434343"/>
                </a:solidFill>
                <a:latin typeface="Inter"/>
              </a:rPr>
              <a:t> dan </a:t>
            </a:r>
            <a:r>
              <a:rPr sz="900" b="0" i="0">
                <a:solidFill>
                  <a:srgbClr val="B5482A"/>
                </a:solidFill>
                <a:latin typeface="Inconsolata"/>
              </a:rPr>
              <a:t>pytest</a:t>
            </a:r>
            <a:r>
              <a:rPr sz="900" b="0" i="0">
                <a:solidFill>
                  <a:srgbClr val="434343"/>
                </a:solidFill>
                <a:latin typeface="Inter"/>
              </a:rPr>
              <a:t> hijau</a:t>
            </a:r>
          </a:p>
        </p:txBody>
      </p:sp>
      <p:sp>
        <p:nvSpPr>
          <p:cNvPr id="25" name="CodeTab 7"/>
          <p:cNvSpPr/>
          <p:nvPr/>
        </p:nvSpPr>
        <p:spPr>
          <a:xfrm>
            <a:off x="4617720" y="1481328"/>
            <a:ext cx="3867912"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6" name="Dot 8"/>
          <p:cNvSpPr/>
          <p:nvPr/>
        </p:nvSpPr>
        <p:spPr>
          <a:xfrm>
            <a:off x="472744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Dot 9"/>
          <p:cNvSpPr/>
          <p:nvPr/>
        </p:nvSpPr>
        <p:spPr>
          <a:xfrm>
            <a:off x="486460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Dot 10"/>
          <p:cNvSpPr/>
          <p:nvPr/>
        </p:nvSpPr>
        <p:spPr>
          <a:xfrm>
            <a:off x="500176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 11"/>
          <p:cNvSpPr txBox="1"/>
          <p:nvPr/>
        </p:nvSpPr>
        <p:spPr>
          <a:xfrm>
            <a:off x="5166359" y="1490472"/>
            <a:ext cx="3227832"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target struktur</a:t>
            </a:r>
          </a:p>
        </p:txBody>
      </p:sp>
      <p:sp>
        <p:nvSpPr>
          <p:cNvPr id="30" name="CodeBg 13"/>
          <p:cNvSpPr/>
          <p:nvPr/>
        </p:nvSpPr>
        <p:spPr>
          <a:xfrm>
            <a:off x="4617720" y="1719072"/>
            <a:ext cx="3867912"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 14"/>
          <p:cNvSpPr txBox="1"/>
          <p:nvPr/>
        </p:nvSpPr>
        <p:spPr>
          <a:xfrm>
            <a:off x="4617720" y="1719072"/>
            <a:ext cx="3867912" cy="2980944"/>
          </a:xfrm>
          <a:prstGeom prst="rect">
            <a:avLst/>
          </a:prstGeom>
          <a:noFill/>
        </p:spPr>
        <p:txBody>
          <a:bodyPr wrap="none" lIns="146304" tIns="91440" rIns="146304" bIns="54864">
            <a:spAutoFit/>
          </a:bodyPr>
          <a:lstStyle/>
          <a:p>
            <a:pPr>
              <a:lnSpc>
                <a:spcPct val="111111"/>
              </a:lnSpc>
              <a:spcAft>
                <a:spcPts val="0"/>
              </a:spcAft>
            </a:pPr>
            <a:r>
              <a:rPr sz="750" i="0">
                <a:solidFill>
                  <a:srgbClr val="E6EDF3"/>
                </a:solidFill>
                <a:latin typeface="Inconsolata"/>
              </a:rPr>
              <a:t>latihan/</a:t>
            </a:r>
          </a:p>
          <a:p>
            <a:pPr>
              <a:lnSpc>
                <a:spcPct val="111111"/>
              </a:lnSpc>
              <a:spcAft>
                <a:spcPts val="0"/>
              </a:spcAft>
            </a:pPr>
            <a:r>
              <a:rPr sz="750" i="0">
                <a:solidFill>
                  <a:srgbClr val="E6EDF3"/>
                </a:solidFill>
                <a:latin typeface="Inconsolata"/>
              </a:rPr>
              <a:t>  requirements.txt       # langkah 2</a:t>
            </a:r>
          </a:p>
          <a:p>
            <a:pPr>
              <a:lnSpc>
                <a:spcPct val="111111"/>
              </a:lnSpc>
              <a:spcAft>
                <a:spcPts val="0"/>
              </a:spcAft>
            </a:pPr>
            <a:r>
              <a:rPr sz="750" i="0">
                <a:solidFill>
                  <a:srgbClr val="E6EDF3"/>
                </a:solidFill>
                <a:latin typeface="Inconsolata"/>
              </a:rPr>
              <a:t>  requirements-dev.txt   # langkah 2</a:t>
            </a:r>
          </a:p>
          <a:p>
            <a:pPr>
              <a:lnSpc>
                <a:spcPct val="111111"/>
              </a:lnSpc>
              <a:spcAft>
                <a:spcPts val="0"/>
              </a:spcAft>
            </a:pPr>
            <a:r>
              <a:rPr sz="750" i="0">
                <a:solidFill>
                  <a:srgbClr val="E6EDF3"/>
                </a:solidFill>
                <a:latin typeface="Inconsolata"/>
              </a:rPr>
              <a:t>  .dockerignore          # langkah 2</a:t>
            </a:r>
          </a:p>
          <a:p>
            <a:pPr>
              <a:lnSpc>
                <a:spcPct val="111111"/>
              </a:lnSpc>
              <a:spcAft>
                <a:spcPts val="0"/>
              </a:spcAft>
            </a:pPr>
            <a:r>
              <a:rPr sz="750" i="0">
                <a:solidFill>
                  <a:srgbClr val="E6EDF3"/>
                </a:solidFill>
                <a:latin typeface="Inconsolata"/>
              </a:rPr>
              <a:t>  Dockerfile             # langkah 3</a:t>
            </a:r>
          </a:p>
          <a:p>
            <a:pPr>
              <a:lnSpc>
                <a:spcPct val="111111"/>
              </a:lnSpc>
              <a:spcAft>
                <a:spcPts val="0"/>
              </a:spcAft>
            </a:pPr>
            <a:r>
              <a:rPr sz="750" i="0">
                <a:solidFill>
                  <a:srgbClr val="E6EDF3"/>
                </a:solidFill>
                <a:latin typeface="Inconsolata"/>
              </a:rPr>
              <a:t>  docker-compose.yml     # langkah 4</a:t>
            </a:r>
          </a:p>
          <a:p>
            <a:pPr>
              <a:lnSpc>
                <a:spcPct val="111111"/>
              </a:lnSpc>
              <a:spcAft>
                <a:spcPts val="0"/>
              </a:spcAft>
            </a:pPr>
            <a:r>
              <a:rPr sz="750" i="0">
                <a:solidFill>
                  <a:srgbClr val="E6EDF3"/>
                </a:solidFill>
                <a:latin typeface="Inconsolata"/>
              </a:rPr>
              <a:t>  k8s/</a:t>
            </a:r>
          </a:p>
          <a:p>
            <a:pPr>
              <a:lnSpc>
                <a:spcPct val="111111"/>
              </a:lnSpc>
              <a:spcAft>
                <a:spcPts val="0"/>
              </a:spcAft>
            </a:pPr>
            <a:r>
              <a:rPr sz="750" i="0">
                <a:solidFill>
                  <a:srgbClr val="E6EDF3"/>
                </a:solidFill>
                <a:latin typeface="Inconsolata"/>
              </a:rPr>
              <a:t>    config.yaml          # langkah 6</a:t>
            </a:r>
          </a:p>
          <a:p>
            <a:pPr>
              <a:lnSpc>
                <a:spcPct val="111111"/>
              </a:lnSpc>
              <a:spcAft>
                <a:spcPts val="0"/>
              </a:spcAft>
            </a:pPr>
            <a:r>
              <a:rPr sz="750" i="0">
                <a:solidFill>
                  <a:srgbClr val="E6EDF3"/>
                </a:solidFill>
                <a:latin typeface="Inconsolata"/>
              </a:rPr>
              <a:t>    api.yaml             # langkah 7</a:t>
            </a:r>
          </a:p>
          <a:p>
            <a:pPr>
              <a:lnSpc>
                <a:spcPct val="111111"/>
              </a:lnSpc>
              <a:spcAft>
                <a:spcPts val="0"/>
              </a:spcAft>
            </a:pPr>
            <a:r>
              <a:rPr sz="750" i="0">
                <a:solidFill>
                  <a:srgbClr val="E6EDF3"/>
                </a:solidFill>
                <a:latin typeface="Inconsolata"/>
              </a:rPr>
              <a:t>    workers.yaml         # langkah 8</a:t>
            </a:r>
          </a:p>
          <a:p>
            <a:pPr>
              <a:lnSpc>
                <a:spcPct val="111111"/>
              </a:lnSpc>
              <a:spcAft>
                <a:spcPts val="0"/>
              </a:spcAft>
            </a:pPr>
            <a:r>
              <a:rPr sz="750" i="0">
                <a:solidFill>
                  <a:srgbClr val="E6EDF3"/>
                </a:solidFill>
                <a:latin typeface="Inconsolata"/>
              </a:rPr>
              <a:t>    dependencies.yaml    # langkah 8</a:t>
            </a:r>
          </a:p>
          <a:p>
            <a:pPr>
              <a:lnSpc>
                <a:spcPct val="111111"/>
              </a:lnSpc>
              <a:spcAft>
                <a:spcPts val="0"/>
              </a:spcAft>
            </a:pPr>
            <a:r>
              <a:rPr sz="750" i="0">
                <a:solidFill>
                  <a:srgbClr val="E6EDF3"/>
                </a:solidFill>
                <a:latin typeface="Inconsolata"/>
              </a:rPr>
              <a:t>  pyproject.toml         # langkah 9</a:t>
            </a:r>
          </a:p>
          <a:p>
            <a:pPr>
              <a:lnSpc>
                <a:spcPct val="111111"/>
              </a:lnSpc>
              <a:spcAft>
                <a:spcPts val="0"/>
              </a:spcAft>
            </a:pPr>
            <a:r>
              <a:rPr sz="750" i="0">
                <a:solidFill>
                  <a:srgbClr val="E6EDF3"/>
                </a:solidFill>
                <a:latin typeface="Inconsolata"/>
              </a:rPr>
              <a:t>  .github/workflows/</a:t>
            </a:r>
          </a:p>
          <a:p>
            <a:pPr>
              <a:lnSpc>
                <a:spcPct val="111111"/>
              </a:lnSpc>
              <a:spcAft>
                <a:spcPts val="0"/>
              </a:spcAft>
            </a:pPr>
            <a:r>
              <a:rPr sz="750" i="0">
                <a:solidFill>
                  <a:srgbClr val="E6EDF3"/>
                </a:solidFill>
                <a:latin typeface="Inconsolata"/>
              </a:rPr>
              <a:t>    ci.yml               # langkah 9</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1 dari 10</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Siapkan folder latihan</a:t>
            </a:r>
          </a:p>
        </p:txBody>
      </p:sp>
      <p:sp>
        <p:nvSpPr>
          <p:cNvPr id="22" name="CodeTab 4"/>
          <p:cNvSpPr/>
          <p:nvPr/>
        </p:nvSpPr>
        <p:spPr>
          <a:xfrm>
            <a:off x="621792" y="1481328"/>
            <a:ext cx="48920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2519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terminal</a:t>
            </a:r>
          </a:p>
        </p:txBody>
      </p:sp>
      <p:sp>
        <p:nvSpPr>
          <p:cNvPr id="27" name="CodeBg 10"/>
          <p:cNvSpPr/>
          <p:nvPr/>
        </p:nvSpPr>
        <p:spPr>
          <a:xfrm>
            <a:off x="621792" y="1719072"/>
            <a:ext cx="48920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892040" cy="2980944"/>
          </a:xfrm>
          <a:prstGeom prst="rect">
            <a:avLst/>
          </a:prstGeom>
          <a:noFill/>
        </p:spPr>
        <p:txBody>
          <a:bodyPr wrap="none" lIns="146304" tIns="91440" rIns="146304" bIns="54864">
            <a:spAutoFit/>
          </a:bodyPr>
          <a:lstStyle/>
          <a:p>
            <a:pPr>
              <a:lnSpc>
                <a:spcPct val="107843"/>
              </a:lnSpc>
              <a:spcAft>
                <a:spcPts val="0"/>
              </a:spcAft>
            </a:pPr>
            <a:r>
              <a:rPr sz="850" i="0">
                <a:solidFill>
                  <a:srgbClr val="82B1FF"/>
                </a:solidFill>
                <a:latin typeface="Inconsolata"/>
              </a:rPr>
              <a:t>$ cd sesi-11-docker-kubernetes-cicd</a:t>
            </a:r>
          </a:p>
          <a:p>
            <a:pPr>
              <a:lnSpc>
                <a:spcPct val="107843"/>
              </a:lnSpc>
              <a:spcAft>
                <a:spcPts val="0"/>
              </a:spcAft>
            </a:pPr>
            <a:r>
              <a:rPr sz="850" i="0">
                <a:solidFill>
                  <a:srgbClr val="82B1FF"/>
                </a:solidFill>
                <a:latin typeface="Inconsolata"/>
              </a:rPr>
              <a:t>$ pip install -r requirements.txt</a:t>
            </a:r>
          </a:p>
          <a:p>
            <a:pPr>
              <a:lnSpc>
                <a:spcPct val="107843"/>
              </a:lnSpc>
              <a:spcAft>
                <a:spcPts val="0"/>
              </a:spcAft>
            </a:pPr>
            <a:r>
              <a:rPr sz="850" i="0">
                <a:solidFill>
                  <a:srgbClr val="82B1FF"/>
                </a:solidFill>
                <a:latin typeface="Inconsolata"/>
              </a:rPr>
              <a:t>$ cd 08-dockerize-ci</a:t>
            </a:r>
          </a:p>
          <a:p>
            <a:pPr>
              <a:lnSpc>
                <a:spcPct val="107843"/>
              </a:lnSpc>
              <a:spcAft>
                <a:spcPts val="0"/>
              </a:spcAft>
            </a:pPr>
            <a:r>
              <a:rPr sz="850" i="0">
                <a:solidFill>
                  <a:srgbClr val="82B1FF"/>
                </a:solidFill>
                <a:latin typeface="Inconsolata"/>
              </a:rPr>
              <a:t>$ cp -r before latihan</a:t>
            </a:r>
          </a:p>
          <a:p>
            <a:pPr>
              <a:lnSpc>
                <a:spcPct val="107843"/>
              </a:lnSpc>
              <a:spcAft>
                <a:spcPts val="0"/>
              </a:spcAft>
            </a:pPr>
            <a:r>
              <a:rPr sz="850" i="0">
                <a:solidFill>
                  <a:srgbClr val="82B1FF"/>
                </a:solidFill>
                <a:latin typeface="Inconsolata"/>
              </a:rPr>
              <a:t>$ cd latihan</a:t>
            </a:r>
          </a:p>
          <a:p>
            <a:pPr>
              <a:lnSpc>
                <a:spcPct val="107843"/>
              </a:lnSpc>
              <a:spcAft>
                <a:spcPts val="0"/>
              </a:spcAft>
            </a:pPr>
            <a:r>
              <a:rPr sz="850" i="0">
                <a:solidFill>
                  <a:srgbClr val="82B1FF"/>
                </a:solidFill>
                <a:latin typeface="Inconsolata"/>
              </a:rPr>
              <a:t>$ pytest -q</a:t>
            </a:r>
          </a:p>
          <a:p>
            <a:pPr>
              <a:lnSpc>
                <a:spcPct val="107843"/>
              </a:lnSpc>
              <a:spcAft>
                <a:spcPts val="0"/>
              </a:spcAft>
            </a:pPr>
            <a:endParaRPr sz="850" i="0">
              <a:solidFill>
                <a:srgbClr val="82B1FF"/>
              </a:solidFill>
              <a:latin typeface="Inconsolata"/>
            </a:endParaRPr>
          </a:p>
          <a:p>
            <a:pPr>
              <a:lnSpc>
                <a:spcPct val="107843"/>
              </a:lnSpc>
              <a:spcAft>
                <a:spcPts val="0"/>
              </a:spcAft>
            </a:pPr>
            <a:r>
              <a:rPr sz="850" i="0">
                <a:solidFill>
                  <a:srgbClr val="82B1FF"/>
                </a:solidFill>
                <a:latin typeface="Inconsolata"/>
              </a:rPr>
              <a:t>$ docker version</a:t>
            </a:r>
          </a:p>
          <a:p>
            <a:pPr>
              <a:lnSpc>
                <a:spcPct val="107843"/>
              </a:lnSpc>
              <a:spcAft>
                <a:spcPts val="0"/>
              </a:spcAft>
            </a:pPr>
            <a:r>
              <a:rPr sz="850" i="0">
                <a:solidFill>
                  <a:srgbClr val="82B1FF"/>
                </a:solidFill>
                <a:latin typeface="Inconsolata"/>
              </a:rPr>
              <a:t>$ kubectl get nodes      # cluster kind / minikube</a:t>
            </a:r>
          </a:p>
        </p:txBody>
      </p:sp>
      <p:sp>
        <p:nvSpPr>
          <p:cNvPr id="29" name="Box 12"/>
          <p:cNvSpPr/>
          <p:nvPr/>
        </p:nvSpPr>
        <p:spPr>
          <a:xfrm>
            <a:off x="5669279" y="1481328"/>
            <a:ext cx="2816352"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Text 13"/>
          <p:cNvSpPr txBox="1"/>
          <p:nvPr/>
        </p:nvSpPr>
        <p:spPr>
          <a:xfrm>
            <a:off x="5806440" y="1572768"/>
            <a:ext cx="2542032"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1" name="Text 14"/>
          <p:cNvSpPr txBox="1"/>
          <p:nvPr/>
        </p:nvSpPr>
        <p:spPr>
          <a:xfrm>
            <a:off x="5806440" y="1892808"/>
            <a:ext cx="2542032"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Install dependency (sudah termasuk </a:t>
            </a:r>
            <a:r>
              <a:rPr sz="900" b="0" i="0">
                <a:solidFill>
                  <a:srgbClr val="B5482A"/>
                </a:solidFill>
                <a:latin typeface="Inconsolata"/>
              </a:rPr>
              <a:t>ruff</a:t>
            </a:r>
            <a:r>
              <a:rPr sz="900" b="0" i="0">
                <a:solidFill>
                  <a:srgbClr val="434343"/>
                </a:solidFill>
                <a:latin typeface="Inter"/>
              </a:rPr>
              <a:t>)</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Salin </a:t>
            </a:r>
            <a:r>
              <a:rPr sz="900" b="0" i="0">
                <a:solidFill>
                  <a:srgbClr val="B5482A"/>
                </a:solidFill>
                <a:latin typeface="Inconsolata"/>
              </a:rPr>
              <a:t>before/</a:t>
            </a:r>
            <a:r>
              <a:rPr sz="900" b="0" i="0">
                <a:solidFill>
                  <a:srgbClr val="434343"/>
                </a:solidFill>
                <a:latin typeface="Inter"/>
              </a:rPr>
              <a:t> jadi </a:t>
            </a:r>
            <a:r>
              <a:rPr sz="900" b="0" i="0">
                <a:solidFill>
                  <a:srgbClr val="B5482A"/>
                </a:solidFill>
                <a:latin typeface="Inconsolata"/>
              </a:rPr>
              <a:t>latihan/</a:t>
            </a:r>
            <a:r>
              <a:rPr sz="900" b="0" i="0">
                <a:solidFill>
                  <a:srgbClr val="434343"/>
                </a:solidFill>
                <a:latin typeface="Inter"/>
              </a:rPr>
              <a:t>, pastikan test awal hijau</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Pastikan Docker dan cluster Kubernetes lokal jalan</a:t>
            </a:r>
          </a:p>
        </p:txBody>
      </p:sp>
      <p:sp>
        <p:nvSpPr>
          <p:cNvPr id="32" name="Box 15"/>
          <p:cNvSpPr/>
          <p:nvPr/>
        </p:nvSpPr>
        <p:spPr>
          <a:xfrm>
            <a:off x="5669279" y="3721608"/>
            <a:ext cx="2816352"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3" name="Text 16"/>
          <p:cNvSpPr txBox="1"/>
          <p:nvPr/>
        </p:nvSpPr>
        <p:spPr>
          <a:xfrm>
            <a:off x="5806440" y="3813048"/>
            <a:ext cx="2542032"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34" name="Text 17"/>
          <p:cNvSpPr txBox="1"/>
          <p:nvPr/>
        </p:nvSpPr>
        <p:spPr>
          <a:xfrm>
            <a:off x="5806440" y="4133088"/>
            <a:ext cx="2542032"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Test awal PASSED, node cluster Ready.</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2 dari 10</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requirements dan .dockerignore</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requirements.txt  +  .dockerignore</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7143"/>
              </a:lnSpc>
              <a:spcAft>
                <a:spcPts val="0"/>
              </a:spcAft>
            </a:pPr>
            <a:r>
              <a:rPr sz="700" i="1">
                <a:solidFill>
                  <a:srgbClr val="8B98A8"/>
                </a:solidFill>
                <a:latin typeface="Inconsolata"/>
              </a:rPr>
              <a:t># requirements.txt: dependency runtime (masuk image)</a:t>
            </a:r>
          </a:p>
          <a:p>
            <a:pPr>
              <a:lnSpc>
                <a:spcPct val="107143"/>
              </a:lnSpc>
              <a:spcAft>
                <a:spcPts val="0"/>
              </a:spcAft>
            </a:pPr>
            <a:r>
              <a:rPr sz="700" i="0">
                <a:solidFill>
                  <a:srgbClr val="E6EDF3"/>
                </a:solidFill>
                <a:latin typeface="Inconsolata"/>
              </a:rPr>
              <a:t>fastapi&gt;=0.115,&lt;1.0</a:t>
            </a:r>
          </a:p>
          <a:p>
            <a:pPr>
              <a:lnSpc>
                <a:spcPct val="107143"/>
              </a:lnSpc>
              <a:spcAft>
                <a:spcPts val="0"/>
              </a:spcAft>
            </a:pPr>
            <a:r>
              <a:rPr sz="700" i="0">
                <a:solidFill>
                  <a:srgbClr val="E6EDF3"/>
                </a:solidFill>
                <a:latin typeface="Inconsolata"/>
              </a:rPr>
              <a:t>uvicorn[standard]&gt;=0.30</a:t>
            </a:r>
          </a:p>
          <a:p>
            <a:pPr>
              <a:lnSpc>
                <a:spcPct val="107143"/>
              </a:lnSpc>
              <a:spcAft>
                <a:spcPts val="0"/>
              </a:spcAft>
            </a:pPr>
            <a:r>
              <a:rPr sz="700" i="0">
                <a:solidFill>
                  <a:srgbClr val="E6EDF3"/>
                </a:solidFill>
                <a:latin typeface="Inconsolata"/>
              </a:rPr>
              <a:t>sqlalchemy&gt;=2.0</a:t>
            </a:r>
          </a:p>
          <a:p>
            <a:pPr>
              <a:lnSpc>
                <a:spcPct val="107143"/>
              </a:lnSpc>
              <a:spcAft>
                <a:spcPts val="0"/>
              </a:spcAft>
            </a:pPr>
            <a:r>
              <a:rPr sz="700" i="1">
                <a:solidFill>
                  <a:srgbClr val="8B98A8"/>
                </a:solidFill>
                <a:latin typeface="Inconsolata"/>
              </a:rPr>
              <a:t># dibutuhkan instrumentation OpenTelemetry SQLAlchemy, SQLAlchemy 2.1 tidak lagi memasangnya otomatis</a:t>
            </a:r>
          </a:p>
          <a:p>
            <a:pPr>
              <a:lnSpc>
                <a:spcPct val="107143"/>
              </a:lnSpc>
              <a:spcAft>
                <a:spcPts val="0"/>
              </a:spcAft>
            </a:pPr>
            <a:r>
              <a:rPr sz="700" i="0">
                <a:solidFill>
                  <a:srgbClr val="E6EDF3"/>
                </a:solidFill>
                <a:latin typeface="Inconsolata"/>
              </a:rPr>
              <a:t>greenlet&gt;=3.0</a:t>
            </a:r>
          </a:p>
          <a:p>
            <a:pPr>
              <a:lnSpc>
                <a:spcPct val="107143"/>
              </a:lnSpc>
              <a:spcAft>
                <a:spcPts val="0"/>
              </a:spcAft>
            </a:pPr>
            <a:r>
              <a:rPr sz="700" i="0">
                <a:solidFill>
                  <a:srgbClr val="E6EDF3"/>
                </a:solidFill>
                <a:latin typeface="Inconsolata"/>
              </a:rPr>
              <a:t>...</a:t>
            </a:r>
          </a:p>
          <a:p>
            <a:pPr>
              <a:lnSpc>
                <a:spcPct val="107143"/>
              </a:lnSpc>
              <a:spcAft>
                <a:spcPts val="0"/>
              </a:spcAft>
            </a:pPr>
            <a:r>
              <a:rPr sz="700" i="1">
                <a:solidFill>
                  <a:srgbClr val="8B98A8"/>
                </a:solidFill>
                <a:latin typeface="Inconsolata"/>
              </a:rPr>
              <a:t># requirements-dev.txt: untuk development dan CI saja</a:t>
            </a:r>
          </a:p>
          <a:p>
            <a:pPr>
              <a:lnSpc>
                <a:spcPct val="107143"/>
              </a:lnSpc>
              <a:spcAft>
                <a:spcPts val="0"/>
              </a:spcAft>
            </a:pPr>
            <a:r>
              <a:rPr sz="700" i="0">
                <a:solidFill>
                  <a:srgbClr val="E6EDF3"/>
                </a:solidFill>
                <a:latin typeface="Inconsolata"/>
              </a:rPr>
              <a:t>-r requirements.txt</a:t>
            </a:r>
          </a:p>
          <a:p>
            <a:pPr>
              <a:lnSpc>
                <a:spcPct val="107143"/>
              </a:lnSpc>
              <a:spcAft>
                <a:spcPts val="0"/>
              </a:spcAft>
            </a:pPr>
            <a:r>
              <a:rPr sz="700" i="0">
                <a:solidFill>
                  <a:srgbClr val="E6EDF3"/>
                </a:solidFill>
                <a:latin typeface="Inconsolata"/>
              </a:rPr>
              <a:t>pytest&gt;=8</a:t>
            </a:r>
          </a:p>
          <a:p>
            <a:pPr>
              <a:lnSpc>
                <a:spcPct val="107143"/>
              </a:lnSpc>
              <a:spcAft>
                <a:spcPts val="0"/>
              </a:spcAft>
            </a:pPr>
            <a:r>
              <a:rPr sz="700" i="0">
                <a:solidFill>
                  <a:srgbClr val="E6EDF3"/>
                </a:solidFill>
                <a:latin typeface="Inconsolata"/>
              </a:rPr>
              <a:t>fakeredis&gt;=2.20</a:t>
            </a:r>
          </a:p>
          <a:p>
            <a:pPr>
              <a:lnSpc>
                <a:spcPct val="107143"/>
              </a:lnSpc>
              <a:spcAft>
                <a:spcPts val="0"/>
              </a:spcAft>
            </a:pPr>
            <a:r>
              <a:rPr sz="700" i="0">
                <a:solidFill>
                  <a:srgbClr val="E6EDF3"/>
                </a:solidFill>
                <a:latin typeface="Inconsolata"/>
              </a:rPr>
              <a:t>ruff&gt;=0.6</a:t>
            </a:r>
          </a:p>
          <a:p>
            <a:pPr>
              <a:lnSpc>
                <a:spcPct val="107143"/>
              </a:lnSpc>
              <a:spcAft>
                <a:spcPts val="0"/>
              </a:spcAft>
            </a:pPr>
            <a:endParaRPr sz="700" i="0">
              <a:solidFill>
                <a:srgbClr val="E6EDF3"/>
              </a:solidFill>
              <a:latin typeface="Inconsolata"/>
            </a:endParaRPr>
          </a:p>
          <a:p>
            <a:pPr>
              <a:lnSpc>
                <a:spcPct val="107143"/>
              </a:lnSpc>
              <a:spcAft>
                <a:spcPts val="0"/>
              </a:spcAft>
            </a:pPr>
            <a:r>
              <a:rPr sz="700" i="1">
                <a:solidFill>
                  <a:srgbClr val="8B98A8"/>
                </a:solidFill>
                <a:latin typeface="Inconsolata"/>
              </a:rPr>
              <a:t># .dockerignore</a:t>
            </a:r>
          </a:p>
          <a:p>
            <a:pPr>
              <a:lnSpc>
                <a:spcPct val="107143"/>
              </a:lnSpc>
              <a:spcAft>
                <a:spcPts val="0"/>
              </a:spcAft>
            </a:pPr>
            <a:r>
              <a:rPr sz="700" i="0">
                <a:solidFill>
                  <a:srgbClr val="E6EDF3"/>
                </a:solidFill>
                <a:latin typeface="Inconsolata"/>
              </a:rPr>
              <a:t>.env</a:t>
            </a:r>
          </a:p>
          <a:p>
            <a:pPr>
              <a:lnSpc>
                <a:spcPct val="107143"/>
              </a:lnSpc>
              <a:spcAft>
                <a:spcPts val="0"/>
              </a:spcAft>
            </a:pPr>
            <a:r>
              <a:rPr sz="700" i="0">
                <a:solidFill>
                  <a:srgbClr val="E6EDF3"/>
                </a:solidFill>
                <a:latin typeface="Inconsolata"/>
              </a:rPr>
              <a:t>.env.*</a:t>
            </a:r>
          </a:p>
          <a:p>
            <a:pPr>
              <a:lnSpc>
                <a:spcPct val="107143"/>
              </a:lnSpc>
              <a:spcAft>
                <a:spcPts val="0"/>
              </a:spcAft>
            </a:pPr>
            <a:r>
              <a:rPr sz="700" i="0">
                <a:solidFill>
                  <a:srgbClr val="E6EDF3"/>
                </a:solidFill>
                <a:latin typeface="Inconsolata"/>
              </a:rPr>
              <a:t>!.env.example</a:t>
            </a:r>
          </a:p>
          <a:p>
            <a:pPr>
              <a:lnSpc>
                <a:spcPct val="107143"/>
              </a:lnSpc>
              <a:spcAft>
                <a:spcPts val="0"/>
              </a:spcAft>
            </a:pPr>
            <a:r>
              <a:rPr sz="700" i="0">
                <a:solidFill>
                  <a:srgbClr val="E6EDF3"/>
                </a:solidFill>
                <a:latin typeface="Inconsolata"/>
              </a:rPr>
              <a:t>tests</a:t>
            </a:r>
          </a:p>
          <a:p>
            <a:pPr>
              <a:lnSpc>
                <a:spcPct val="107143"/>
              </a:lnSpc>
              <a:spcAft>
                <a:spcPts val="0"/>
              </a:spcAft>
            </a:pPr>
            <a:r>
              <a:rPr sz="700" i="0">
                <a:solidFill>
                  <a:srgbClr val="E6EDF3"/>
                </a:solidFill>
                <a:latin typeface="Inconsolata"/>
              </a:rPr>
              <a:t>k8s</a:t>
            </a:r>
          </a:p>
        </p:txBody>
      </p:sp>
      <p:sp>
        <p:nvSpPr>
          <p:cNvPr id="29" name="Box 12"/>
          <p:cNvSpPr/>
          <p:nvPr/>
        </p:nvSpPr>
        <p:spPr>
          <a:xfrm>
            <a:off x="704088" y="1939671"/>
            <a:ext cx="5230368" cy="564642"/>
          </a:xfrm>
          <a:prstGeom prst="roundRect">
            <a:avLst>
              <a:gd name="adj" fmla="val 8097"/>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210312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739771"/>
            <a:ext cx="5230368" cy="450342"/>
          </a:xfrm>
          <a:prstGeom prst="roundRect">
            <a:avLst>
              <a:gd name="adj" fmla="val 1015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284607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3425571"/>
            <a:ext cx="5230368" cy="564642"/>
          </a:xfrm>
          <a:prstGeom prst="roundRect">
            <a:avLst>
              <a:gd name="adj" fmla="val 8097"/>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815584" y="358902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Text 19"/>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7" name="Text 20"/>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Dependency runtime, termasuk </a:t>
            </a:r>
            <a:r>
              <a:rPr sz="900" b="0" i="0">
                <a:solidFill>
                  <a:srgbClr val="B5482A"/>
                </a:solidFill>
                <a:latin typeface="Inconsolata"/>
              </a:rPr>
              <a:t>greenlet</a:t>
            </a:r>
            <a:r>
              <a:rPr sz="900" b="0" i="0">
                <a:solidFill>
                  <a:srgbClr val="434343"/>
                </a:solidFill>
                <a:latin typeface="Inter"/>
              </a:rPr>
              <a:t> untuk tracing</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Dependency test dan lint dipisah, tidak masuk image</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Secret, tests, dan manifest tidak dikirim ke docker build</a:t>
            </a:r>
          </a:p>
        </p:txBody>
      </p:sp>
      <p:sp>
        <p:nvSpPr>
          <p:cNvPr id="38" name="Box 21"/>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Text 22"/>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40" name="Text 23"/>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Image lebih kecil, tanpa secret.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3 dari 10</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Dockerfile multi-stage</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Dockerfile</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2564"/>
              </a:lnSpc>
              <a:spcAft>
                <a:spcPts val="0"/>
              </a:spcAft>
            </a:pPr>
            <a:r>
              <a:rPr sz="650" i="1">
                <a:solidFill>
                  <a:srgbClr val="8B98A8"/>
                </a:solidFill>
                <a:latin typeface="Inconsolata"/>
              </a:rPr>
              <a:t># Stage 1: install dependency ke virtualenv</a:t>
            </a:r>
          </a:p>
          <a:p>
            <a:pPr>
              <a:lnSpc>
                <a:spcPct val="102564"/>
              </a:lnSpc>
              <a:spcAft>
                <a:spcPts val="0"/>
              </a:spcAft>
            </a:pPr>
            <a:r>
              <a:rPr sz="650" i="0">
                <a:solidFill>
                  <a:srgbClr val="FF8E6E"/>
                </a:solidFill>
                <a:latin typeface="Inconsolata"/>
              </a:rPr>
              <a:t>FROM</a:t>
            </a:r>
            <a:r>
              <a:rPr sz="650" i="0">
                <a:solidFill>
                  <a:srgbClr val="E6EDF3"/>
                </a:solidFill>
                <a:latin typeface="Inconsolata"/>
              </a:rPr>
              <a:t> python:3.12-slim AS builder</a:t>
            </a:r>
          </a:p>
          <a:p>
            <a:pPr>
              <a:lnSpc>
                <a:spcPct val="102564"/>
              </a:lnSpc>
              <a:spcAft>
                <a:spcPts val="0"/>
              </a:spcAft>
            </a:pPr>
            <a:r>
              <a:rPr sz="650" i="0">
                <a:solidFill>
                  <a:srgbClr val="E6EDF3"/>
                </a:solidFill>
                <a:latin typeface="Inconsolata"/>
              </a:rPr>
              <a:t> </a:t>
            </a:r>
          </a:p>
          <a:p>
            <a:pPr>
              <a:lnSpc>
                <a:spcPct val="102564"/>
              </a:lnSpc>
              <a:spcAft>
                <a:spcPts val="0"/>
              </a:spcAft>
            </a:pPr>
            <a:r>
              <a:rPr sz="650" i="0">
                <a:solidFill>
                  <a:srgbClr val="FF8E6E"/>
                </a:solidFill>
                <a:latin typeface="Inconsolata"/>
              </a:rPr>
              <a:t>RUN</a:t>
            </a:r>
            <a:r>
              <a:rPr sz="650" i="0">
                <a:solidFill>
                  <a:srgbClr val="E6EDF3"/>
                </a:solidFill>
                <a:latin typeface="Inconsolata"/>
              </a:rPr>
              <a:t> python -m venv /opt/venv</a:t>
            </a:r>
          </a:p>
          <a:p>
            <a:pPr>
              <a:lnSpc>
                <a:spcPct val="102564"/>
              </a:lnSpc>
              <a:spcAft>
                <a:spcPts val="0"/>
              </a:spcAft>
            </a:pPr>
            <a:r>
              <a:rPr sz="650" i="0">
                <a:solidFill>
                  <a:srgbClr val="FF8E6E"/>
                </a:solidFill>
                <a:latin typeface="Inconsolata"/>
              </a:rPr>
              <a:t>ENV</a:t>
            </a:r>
            <a:r>
              <a:rPr sz="650" i="0">
                <a:solidFill>
                  <a:srgbClr val="E6EDF3"/>
                </a:solidFill>
                <a:latin typeface="Inconsolata"/>
              </a:rPr>
              <a:t> PATH="/opt/venv/bin:$PATH"</a:t>
            </a:r>
          </a:p>
          <a:p>
            <a:pPr>
              <a:lnSpc>
                <a:spcPct val="102564"/>
              </a:lnSpc>
              <a:spcAft>
                <a:spcPts val="0"/>
              </a:spcAft>
            </a:pPr>
            <a:r>
              <a:rPr sz="650" i="0">
                <a:solidFill>
                  <a:srgbClr val="FF8E6E"/>
                </a:solidFill>
                <a:latin typeface="Inconsolata"/>
              </a:rPr>
              <a:t>COPY</a:t>
            </a:r>
            <a:r>
              <a:rPr sz="650" i="0">
                <a:solidFill>
                  <a:srgbClr val="E6EDF3"/>
                </a:solidFill>
                <a:latin typeface="Inconsolata"/>
              </a:rPr>
              <a:t> requirements.txt .</a:t>
            </a:r>
          </a:p>
          <a:p>
            <a:pPr>
              <a:lnSpc>
                <a:spcPct val="102564"/>
              </a:lnSpc>
              <a:spcAft>
                <a:spcPts val="0"/>
              </a:spcAft>
            </a:pPr>
            <a:r>
              <a:rPr sz="650" i="0">
                <a:solidFill>
                  <a:srgbClr val="FF8E6E"/>
                </a:solidFill>
                <a:latin typeface="Inconsolata"/>
              </a:rPr>
              <a:t>RUN</a:t>
            </a:r>
            <a:r>
              <a:rPr sz="650" i="0">
                <a:solidFill>
                  <a:srgbClr val="E6EDF3"/>
                </a:solidFill>
                <a:latin typeface="Inconsolata"/>
              </a:rPr>
              <a:t> pip install --no-cache-dir -r requirements.txt</a:t>
            </a:r>
          </a:p>
          <a:p>
            <a:pPr>
              <a:lnSpc>
                <a:spcPct val="102564"/>
              </a:lnSpc>
              <a:spcAft>
                <a:spcPts val="0"/>
              </a:spcAft>
            </a:pPr>
            <a:r>
              <a:rPr sz="650" i="0">
                <a:solidFill>
                  <a:srgbClr val="E6EDF3"/>
                </a:solidFill>
                <a:latin typeface="Inconsolata"/>
              </a:rPr>
              <a:t> </a:t>
            </a:r>
          </a:p>
          <a:p>
            <a:pPr>
              <a:lnSpc>
                <a:spcPct val="102564"/>
              </a:lnSpc>
              <a:spcAft>
                <a:spcPts val="0"/>
              </a:spcAft>
            </a:pPr>
            <a:r>
              <a:rPr sz="650" i="1">
                <a:solidFill>
                  <a:srgbClr val="8B98A8"/>
                </a:solidFill>
                <a:latin typeface="Inconsolata"/>
              </a:rPr>
              <a:t># Stage 2: image akhir, tanpa pip cache dan tanpa dependency development</a:t>
            </a:r>
          </a:p>
          <a:p>
            <a:pPr>
              <a:lnSpc>
                <a:spcPct val="102564"/>
              </a:lnSpc>
              <a:spcAft>
                <a:spcPts val="0"/>
              </a:spcAft>
            </a:pPr>
            <a:r>
              <a:rPr sz="650" i="0">
                <a:solidFill>
                  <a:srgbClr val="FF8E6E"/>
                </a:solidFill>
                <a:latin typeface="Inconsolata"/>
              </a:rPr>
              <a:t>FROM</a:t>
            </a:r>
            <a:r>
              <a:rPr sz="650" i="0">
                <a:solidFill>
                  <a:srgbClr val="E6EDF3"/>
                </a:solidFill>
                <a:latin typeface="Inconsolata"/>
              </a:rPr>
              <a:t> python:3.12-slim</a:t>
            </a:r>
          </a:p>
          <a:p>
            <a:pPr>
              <a:lnSpc>
                <a:spcPct val="102564"/>
              </a:lnSpc>
              <a:spcAft>
                <a:spcPts val="0"/>
              </a:spcAft>
            </a:pPr>
            <a:r>
              <a:rPr sz="650" i="0">
                <a:solidFill>
                  <a:srgbClr val="E6EDF3"/>
                </a:solidFill>
                <a:latin typeface="Inconsolata"/>
              </a:rPr>
              <a:t>...</a:t>
            </a:r>
          </a:p>
          <a:p>
            <a:pPr>
              <a:lnSpc>
                <a:spcPct val="102564"/>
              </a:lnSpc>
              <a:spcAft>
                <a:spcPts val="0"/>
              </a:spcAft>
            </a:pPr>
            <a:r>
              <a:rPr sz="650" i="0">
                <a:solidFill>
                  <a:srgbClr val="FF8E6E"/>
                </a:solidFill>
                <a:latin typeface="Inconsolata"/>
              </a:rPr>
              <a:t>COPY</a:t>
            </a:r>
            <a:r>
              <a:rPr sz="650" i="0">
                <a:solidFill>
                  <a:srgbClr val="E6EDF3"/>
                </a:solidFill>
                <a:latin typeface="Inconsolata"/>
              </a:rPr>
              <a:t> --from=builder /opt/venv /opt/venv</a:t>
            </a:r>
          </a:p>
          <a:p>
            <a:pPr>
              <a:lnSpc>
                <a:spcPct val="102564"/>
              </a:lnSpc>
              <a:spcAft>
                <a:spcPts val="0"/>
              </a:spcAft>
            </a:pPr>
            <a:r>
              <a:rPr sz="650" i="0">
                <a:solidFill>
                  <a:srgbClr val="FF8E6E"/>
                </a:solidFill>
                <a:latin typeface="Inconsolata"/>
              </a:rPr>
              <a:t>WORKDIR</a:t>
            </a:r>
            <a:r>
              <a:rPr sz="650" i="0">
                <a:solidFill>
                  <a:srgbClr val="E6EDF3"/>
                </a:solidFill>
                <a:latin typeface="Inconsolata"/>
              </a:rPr>
              <a:t> /app</a:t>
            </a:r>
          </a:p>
          <a:p>
            <a:pPr>
              <a:lnSpc>
                <a:spcPct val="102564"/>
              </a:lnSpc>
              <a:spcAft>
                <a:spcPts val="0"/>
              </a:spcAft>
            </a:pPr>
            <a:r>
              <a:rPr sz="650" i="0">
                <a:solidFill>
                  <a:srgbClr val="FF8E6E"/>
                </a:solidFill>
                <a:latin typeface="Inconsolata"/>
              </a:rPr>
              <a:t>COPY</a:t>
            </a:r>
            <a:r>
              <a:rPr sz="650" i="0">
                <a:solidFill>
                  <a:srgbClr val="E6EDF3"/>
                </a:solidFill>
                <a:latin typeface="Inconsolata"/>
              </a:rPr>
              <a:t> app ./app</a:t>
            </a:r>
          </a:p>
          <a:p>
            <a:pPr>
              <a:lnSpc>
                <a:spcPct val="102564"/>
              </a:lnSpc>
              <a:spcAft>
                <a:spcPts val="0"/>
              </a:spcAft>
            </a:pPr>
            <a:r>
              <a:rPr sz="650" i="0">
                <a:solidFill>
                  <a:srgbClr val="FF8E6E"/>
                </a:solidFill>
                <a:latin typeface="Inconsolata"/>
              </a:rPr>
              <a:t>COPY</a:t>
            </a:r>
            <a:r>
              <a:rPr sz="650" i="0">
                <a:solidFill>
                  <a:srgbClr val="E6EDF3"/>
                </a:solidFill>
                <a:latin typeface="Inconsolata"/>
              </a:rPr>
              <a:t> create_user.py seed.py ./</a:t>
            </a:r>
          </a:p>
          <a:p>
            <a:pPr>
              <a:lnSpc>
                <a:spcPct val="102564"/>
              </a:lnSpc>
              <a:spcAft>
                <a:spcPts val="0"/>
              </a:spcAft>
            </a:pPr>
            <a:r>
              <a:rPr sz="650" i="0">
                <a:solidFill>
                  <a:srgbClr val="E6EDF3"/>
                </a:solidFill>
                <a:latin typeface="Inconsolata"/>
              </a:rPr>
              <a:t> </a:t>
            </a:r>
          </a:p>
          <a:p>
            <a:pPr>
              <a:lnSpc>
                <a:spcPct val="102564"/>
              </a:lnSpc>
              <a:spcAft>
                <a:spcPts val="0"/>
              </a:spcAft>
            </a:pPr>
            <a:r>
              <a:rPr sz="650" i="1">
                <a:solidFill>
                  <a:srgbClr val="8B98A8"/>
                </a:solidFill>
                <a:latin typeface="Inconsolata"/>
              </a:rPr>
              <a:t># uid tetap supaya bisa dicek Kubernetes (runAsNonRoot)</a:t>
            </a:r>
          </a:p>
          <a:p>
            <a:pPr>
              <a:lnSpc>
                <a:spcPct val="102564"/>
              </a:lnSpc>
              <a:spcAft>
                <a:spcPts val="0"/>
              </a:spcAft>
            </a:pPr>
            <a:r>
              <a:rPr sz="650" i="0">
                <a:solidFill>
                  <a:srgbClr val="FF8E6E"/>
                </a:solidFill>
                <a:latin typeface="Inconsolata"/>
              </a:rPr>
              <a:t>RUN</a:t>
            </a:r>
            <a:r>
              <a:rPr sz="650" i="0">
                <a:solidFill>
                  <a:srgbClr val="E6EDF3"/>
                </a:solidFill>
                <a:latin typeface="Inconsolata"/>
              </a:rPr>
              <a:t> useradd --create-home --uid 10001 appuser</a:t>
            </a:r>
          </a:p>
          <a:p>
            <a:pPr>
              <a:lnSpc>
                <a:spcPct val="102564"/>
              </a:lnSpc>
              <a:spcAft>
                <a:spcPts val="0"/>
              </a:spcAft>
            </a:pPr>
            <a:r>
              <a:rPr sz="650" i="0">
                <a:solidFill>
                  <a:srgbClr val="FF8E6E"/>
                </a:solidFill>
                <a:latin typeface="Inconsolata"/>
              </a:rPr>
              <a:t>USER</a:t>
            </a:r>
            <a:r>
              <a:rPr sz="650" i="0">
                <a:solidFill>
                  <a:srgbClr val="E6EDF3"/>
                </a:solidFill>
                <a:latin typeface="Inconsolata"/>
              </a:rPr>
              <a:t> 10001</a:t>
            </a:r>
          </a:p>
          <a:p>
            <a:pPr>
              <a:lnSpc>
                <a:spcPct val="102564"/>
              </a:lnSpc>
              <a:spcAft>
                <a:spcPts val="0"/>
              </a:spcAft>
            </a:pPr>
            <a:r>
              <a:rPr sz="650" i="0">
                <a:solidFill>
                  <a:srgbClr val="E6EDF3"/>
                </a:solidFill>
                <a:latin typeface="Inconsolata"/>
              </a:rPr>
              <a:t>...</a:t>
            </a:r>
          </a:p>
          <a:p>
            <a:pPr>
              <a:lnSpc>
                <a:spcPct val="102564"/>
              </a:lnSpc>
              <a:spcAft>
                <a:spcPts val="0"/>
              </a:spcAft>
            </a:pPr>
            <a:r>
              <a:rPr sz="650" i="0">
                <a:solidFill>
                  <a:srgbClr val="FF8E6E"/>
                </a:solidFill>
                <a:latin typeface="Inconsolata"/>
              </a:rPr>
              <a:t>CMD</a:t>
            </a:r>
            <a:r>
              <a:rPr sz="650" i="0">
                <a:solidFill>
                  <a:srgbClr val="E6EDF3"/>
                </a:solidFill>
                <a:latin typeface="Inconsolata"/>
              </a:rPr>
              <a:t> ["uvicorn", "app.main:app", "--host", "0.0.0.0", "--port", "8000", "--no-access-log"]</a:t>
            </a:r>
          </a:p>
        </p:txBody>
      </p:sp>
      <p:sp>
        <p:nvSpPr>
          <p:cNvPr id="29" name="Box 12"/>
          <p:cNvSpPr/>
          <p:nvPr/>
        </p:nvSpPr>
        <p:spPr>
          <a:xfrm>
            <a:off x="704088" y="1925320"/>
            <a:ext cx="5230368" cy="603503"/>
          </a:xfrm>
          <a:prstGeom prst="roundRect">
            <a:avLst>
              <a:gd name="adj" fmla="val 7575"/>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2108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941320"/>
            <a:ext cx="5230368" cy="400304"/>
          </a:xfrm>
          <a:prstGeom prst="roundRect">
            <a:avLst>
              <a:gd name="adj" fmla="val 11421"/>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30226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3550920"/>
            <a:ext cx="5230368" cy="197104"/>
          </a:xfrm>
          <a:prstGeom prst="roundRect">
            <a:avLst>
              <a:gd name="adj" fmla="val 23195"/>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815584" y="35306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704088" y="3855720"/>
            <a:ext cx="523036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Box 19"/>
          <p:cNvSpPr/>
          <p:nvPr/>
        </p:nvSpPr>
        <p:spPr>
          <a:xfrm>
            <a:off x="5815584" y="37846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4</a:t>
            </a:r>
          </a:p>
        </p:txBody>
      </p:sp>
      <p:sp>
        <p:nvSpPr>
          <p:cNvPr id="37" name="Box 20"/>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8" name="Text 21"/>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9" name="Text 22"/>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Builder: install dependency ke venv (contoh 02)</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Image akhir: venv + kode aplikasi saja (contoh 01)</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User biasa dengan uid tetap</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Satu image untuk API, worker, dan consumer</a:t>
            </a:r>
          </a:p>
        </p:txBody>
      </p:sp>
      <p:sp>
        <p:nvSpPr>
          <p:cNvPr id="40" name="Box 23"/>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Text 24"/>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42" name="Text 25"/>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docker build -t order-api:1.0 .</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4 dari 10</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docker-compose.yml: seluruh stack</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docker-compose.yml</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5820"/>
              </a:lnSpc>
              <a:spcAft>
                <a:spcPts val="0"/>
              </a:spcAft>
            </a:pPr>
            <a:r>
              <a:rPr sz="630" i="0">
                <a:solidFill>
                  <a:srgbClr val="82B1FF"/>
                </a:solidFill>
                <a:latin typeface="Inconsolata"/>
              </a:rPr>
              <a:t>x-app</a:t>
            </a:r>
            <a:r>
              <a:rPr sz="630" i="0">
                <a:solidFill>
                  <a:srgbClr val="E6EDF3"/>
                </a:solidFill>
                <a:latin typeface="Inconsolata"/>
              </a:rPr>
              <a:t>: &amp;app</a:t>
            </a:r>
          </a:p>
          <a:p>
            <a:pPr>
              <a:lnSpc>
                <a:spcPct val="105820"/>
              </a:lnSpc>
              <a:spcAft>
                <a:spcPts val="0"/>
              </a:spcAft>
            </a:pPr>
            <a:r>
              <a:rPr sz="630" i="0">
                <a:solidFill>
                  <a:srgbClr val="E6EDF3"/>
                </a:solidFill>
                <a:latin typeface="Inconsolata"/>
              </a:rPr>
              <a:t>  </a:t>
            </a:r>
            <a:r>
              <a:rPr sz="630" i="0">
                <a:solidFill>
                  <a:srgbClr val="82B1FF"/>
                </a:solidFill>
                <a:latin typeface="Inconsolata"/>
              </a:rPr>
              <a:t>image</a:t>
            </a:r>
            <a:r>
              <a:rPr sz="630" i="0">
                <a:solidFill>
                  <a:srgbClr val="E6EDF3"/>
                </a:solidFill>
                <a:latin typeface="Inconsolata"/>
              </a:rPr>
              <a:t>: order-api:local</a:t>
            </a:r>
          </a:p>
          <a:p>
            <a:pPr>
              <a:lnSpc>
                <a:spcPct val="105820"/>
              </a:lnSpc>
              <a:spcAft>
                <a:spcPts val="0"/>
              </a:spcAft>
            </a:pPr>
            <a:r>
              <a:rPr sz="630" i="0">
                <a:solidFill>
                  <a:srgbClr val="E6EDF3"/>
                </a:solidFill>
                <a:latin typeface="Inconsolata"/>
              </a:rPr>
              <a:t>  </a:t>
            </a:r>
            <a:r>
              <a:rPr sz="630" i="0">
                <a:solidFill>
                  <a:srgbClr val="82B1FF"/>
                </a:solidFill>
                <a:latin typeface="Inconsolata"/>
              </a:rPr>
              <a:t>env_file</a:t>
            </a:r>
            <a:r>
              <a:rPr sz="630" i="0">
                <a:solidFill>
                  <a:srgbClr val="E6EDF3"/>
                </a:solidFill>
                <a:latin typeface="Inconsolata"/>
              </a:rPr>
              <a:t>: .env</a:t>
            </a:r>
          </a:p>
          <a:p>
            <a:pPr>
              <a:lnSpc>
                <a:spcPct val="105820"/>
              </a:lnSpc>
              <a:spcAft>
                <a:spcPts val="0"/>
              </a:spcAft>
            </a:pPr>
            <a:r>
              <a:rPr sz="630" i="0">
                <a:solidFill>
                  <a:srgbClr val="E6EDF3"/>
                </a:solidFill>
                <a:latin typeface="Inconsolata"/>
              </a:rPr>
              <a:t>  </a:t>
            </a:r>
            <a:r>
              <a:rPr sz="630" i="0">
                <a:solidFill>
                  <a:srgbClr val="82B1FF"/>
                </a:solidFill>
                <a:latin typeface="Inconsolata"/>
              </a:rPr>
              <a:t>environment</a:t>
            </a:r>
            <a:r>
              <a:rPr sz="630" i="0">
                <a:solidFill>
                  <a:srgbClr val="E6EDF3"/>
                </a:solidFill>
                <a:latin typeface="Inconsolata"/>
              </a:rPr>
              <a:t>:</a:t>
            </a:r>
          </a:p>
          <a:p>
            <a:pPr>
              <a:lnSpc>
                <a:spcPct val="105820"/>
              </a:lnSpc>
              <a:spcAft>
                <a:spcPts val="0"/>
              </a:spcAft>
            </a:pPr>
            <a:r>
              <a:rPr sz="630" i="0">
                <a:solidFill>
                  <a:srgbClr val="E6EDF3"/>
                </a:solidFill>
                <a:latin typeface="Inconsolata"/>
              </a:rPr>
              <a:t>    </a:t>
            </a:r>
            <a:r>
              <a:rPr sz="630" i="0">
                <a:solidFill>
                  <a:srgbClr val="82B1FF"/>
                </a:solidFill>
                <a:latin typeface="Inconsolata"/>
              </a:rPr>
              <a:t>DATABASE_URL</a:t>
            </a:r>
            <a:r>
              <a:rPr sz="630" i="0">
                <a:solidFill>
                  <a:srgbClr val="E6EDF3"/>
                </a:solidFill>
                <a:latin typeface="Inconsolata"/>
              </a:rPr>
              <a:t>: postgresql+psycopg://app:app@postgres:5432/orders</a:t>
            </a:r>
          </a:p>
          <a:p>
            <a:pPr>
              <a:lnSpc>
                <a:spcPct val="105820"/>
              </a:lnSpc>
              <a:spcAft>
                <a:spcPts val="0"/>
              </a:spcAft>
            </a:pPr>
            <a:r>
              <a:rPr sz="630" i="0">
                <a:solidFill>
                  <a:srgbClr val="E6EDF3"/>
                </a:solidFill>
                <a:latin typeface="Inconsolata"/>
              </a:rPr>
              <a:t>    </a:t>
            </a:r>
            <a:r>
              <a:rPr sz="630" i="0">
                <a:solidFill>
                  <a:srgbClr val="82B1FF"/>
                </a:solidFill>
                <a:latin typeface="Inconsolata"/>
              </a:rPr>
              <a:t>REDIS_URL</a:t>
            </a:r>
            <a:r>
              <a:rPr sz="630" i="0">
                <a:solidFill>
                  <a:srgbClr val="E6EDF3"/>
                </a:solidFill>
                <a:latin typeface="Inconsolata"/>
              </a:rPr>
              <a:t>: redis://redis:6379/2</a:t>
            </a:r>
          </a:p>
          <a:p>
            <a:pPr>
              <a:lnSpc>
                <a:spcPct val="105820"/>
              </a:lnSpc>
              <a:spcAft>
                <a:spcPts val="0"/>
              </a:spcAft>
            </a:pPr>
            <a:r>
              <a:rPr sz="630" i="0">
                <a:solidFill>
                  <a:srgbClr val="E6EDF3"/>
                </a:solidFill>
                <a:latin typeface="Inconsolata"/>
              </a:rPr>
              <a:t>    </a:t>
            </a:r>
            <a:r>
              <a:rPr sz="630" i="0">
                <a:solidFill>
                  <a:srgbClr val="82B1FF"/>
                </a:solidFill>
                <a:latin typeface="Inconsolata"/>
              </a:rPr>
              <a:t>RABBITMQ_URL</a:t>
            </a:r>
            <a:r>
              <a:rPr sz="630" i="0">
                <a:solidFill>
                  <a:srgbClr val="E6EDF3"/>
                </a:solidFill>
                <a:latin typeface="Inconsolata"/>
              </a:rPr>
              <a:t>: amqp://guest:guest@rabbitmq:5672/</a:t>
            </a:r>
          </a:p>
          <a:p>
            <a:pPr>
              <a:lnSpc>
                <a:spcPct val="105820"/>
              </a:lnSpc>
              <a:spcAft>
                <a:spcPts val="0"/>
              </a:spcAft>
            </a:pPr>
            <a:r>
              <a:rPr sz="630" i="0">
                <a:solidFill>
                  <a:srgbClr val="E6EDF3"/>
                </a:solidFill>
                <a:latin typeface="Inconsolata"/>
              </a:rPr>
              <a:t>...</a:t>
            </a:r>
          </a:p>
          <a:p>
            <a:pPr>
              <a:lnSpc>
                <a:spcPct val="105820"/>
              </a:lnSpc>
              <a:spcAft>
                <a:spcPts val="0"/>
              </a:spcAft>
            </a:pPr>
            <a:r>
              <a:rPr sz="630" i="0">
                <a:solidFill>
                  <a:srgbClr val="E6EDF3"/>
                </a:solidFill>
                <a:latin typeface="Inconsolata"/>
              </a:rPr>
              <a:t>  </a:t>
            </a:r>
            <a:r>
              <a:rPr sz="630" i="0">
                <a:solidFill>
                  <a:srgbClr val="82B1FF"/>
                </a:solidFill>
                <a:latin typeface="Inconsolata"/>
              </a:rPr>
              <a:t>depends_on</a:t>
            </a:r>
            <a:r>
              <a:rPr sz="630" i="0">
                <a:solidFill>
                  <a:srgbClr val="E6EDF3"/>
                </a:solidFill>
                <a:latin typeface="Inconsolata"/>
              </a:rPr>
              <a:t>:</a:t>
            </a:r>
          </a:p>
          <a:p>
            <a:pPr>
              <a:lnSpc>
                <a:spcPct val="105820"/>
              </a:lnSpc>
              <a:spcAft>
                <a:spcPts val="0"/>
              </a:spcAft>
            </a:pPr>
            <a:r>
              <a:rPr sz="630" i="0">
                <a:solidFill>
                  <a:srgbClr val="E6EDF3"/>
                </a:solidFill>
                <a:latin typeface="Inconsolata"/>
              </a:rPr>
              <a:t>    </a:t>
            </a:r>
            <a:r>
              <a:rPr sz="630" i="0">
                <a:solidFill>
                  <a:srgbClr val="82B1FF"/>
                </a:solidFill>
                <a:latin typeface="Inconsolata"/>
              </a:rPr>
              <a:t>postgres</a:t>
            </a:r>
            <a:r>
              <a:rPr sz="630" i="0">
                <a:solidFill>
                  <a:srgbClr val="E6EDF3"/>
                </a:solidFill>
                <a:latin typeface="Inconsolata"/>
              </a:rPr>
              <a:t>:</a:t>
            </a:r>
          </a:p>
          <a:p>
            <a:pPr>
              <a:lnSpc>
                <a:spcPct val="105820"/>
              </a:lnSpc>
              <a:spcAft>
                <a:spcPts val="0"/>
              </a:spcAft>
            </a:pPr>
            <a:r>
              <a:rPr sz="630" i="0">
                <a:solidFill>
                  <a:srgbClr val="E6EDF3"/>
                </a:solidFill>
                <a:latin typeface="Inconsolata"/>
              </a:rPr>
              <a:t>      </a:t>
            </a:r>
            <a:r>
              <a:rPr sz="630" i="0">
                <a:solidFill>
                  <a:srgbClr val="82B1FF"/>
                </a:solidFill>
                <a:latin typeface="Inconsolata"/>
              </a:rPr>
              <a:t>condition</a:t>
            </a:r>
            <a:r>
              <a:rPr sz="630" i="0">
                <a:solidFill>
                  <a:srgbClr val="E6EDF3"/>
                </a:solidFill>
                <a:latin typeface="Inconsolata"/>
              </a:rPr>
              <a:t>: service_healthy</a:t>
            </a:r>
          </a:p>
          <a:p>
            <a:pPr>
              <a:lnSpc>
                <a:spcPct val="105820"/>
              </a:lnSpc>
              <a:spcAft>
                <a:spcPts val="0"/>
              </a:spcAft>
            </a:pPr>
            <a:r>
              <a:rPr sz="630" i="0">
                <a:solidFill>
                  <a:srgbClr val="E6EDF3"/>
                </a:solidFill>
                <a:latin typeface="Inconsolata"/>
              </a:rPr>
              <a:t>...</a:t>
            </a:r>
          </a:p>
          <a:p>
            <a:pPr>
              <a:lnSpc>
                <a:spcPct val="105820"/>
              </a:lnSpc>
              <a:spcAft>
                <a:spcPts val="0"/>
              </a:spcAft>
            </a:pPr>
            <a:r>
              <a:rPr sz="630" i="0">
                <a:solidFill>
                  <a:srgbClr val="82B1FF"/>
                </a:solidFill>
                <a:latin typeface="Inconsolata"/>
              </a:rPr>
              <a:t>services</a:t>
            </a:r>
            <a:r>
              <a:rPr sz="630" i="0">
                <a:solidFill>
                  <a:srgbClr val="E6EDF3"/>
                </a:solidFill>
                <a:latin typeface="Inconsolata"/>
              </a:rPr>
              <a:t>:</a:t>
            </a:r>
          </a:p>
          <a:p>
            <a:pPr>
              <a:lnSpc>
                <a:spcPct val="105820"/>
              </a:lnSpc>
              <a:spcAft>
                <a:spcPts val="0"/>
              </a:spcAft>
            </a:pPr>
            <a:r>
              <a:rPr sz="630" i="0">
                <a:solidFill>
                  <a:srgbClr val="E6EDF3"/>
                </a:solidFill>
                <a:latin typeface="Inconsolata"/>
              </a:rPr>
              <a:t>  </a:t>
            </a:r>
            <a:r>
              <a:rPr sz="630" i="0">
                <a:solidFill>
                  <a:srgbClr val="82B1FF"/>
                </a:solidFill>
                <a:latin typeface="Inconsolata"/>
              </a:rPr>
              <a:t>api</a:t>
            </a:r>
            <a:r>
              <a:rPr sz="630" i="0">
                <a:solidFill>
                  <a:srgbClr val="E6EDF3"/>
                </a:solidFill>
                <a:latin typeface="Inconsolata"/>
              </a:rPr>
              <a:t>:</a:t>
            </a:r>
          </a:p>
          <a:p>
            <a:pPr>
              <a:lnSpc>
                <a:spcPct val="105820"/>
              </a:lnSpc>
              <a:spcAft>
                <a:spcPts val="0"/>
              </a:spcAft>
            </a:pPr>
            <a:r>
              <a:rPr sz="630" i="0">
                <a:solidFill>
                  <a:srgbClr val="E6EDF3"/>
                </a:solidFill>
                <a:latin typeface="Inconsolata"/>
              </a:rPr>
              <a:t>    &lt;&lt;: *app</a:t>
            </a:r>
          </a:p>
          <a:p>
            <a:pPr>
              <a:lnSpc>
                <a:spcPct val="105820"/>
              </a:lnSpc>
              <a:spcAft>
                <a:spcPts val="0"/>
              </a:spcAft>
            </a:pPr>
            <a:r>
              <a:rPr sz="630" i="0">
                <a:solidFill>
                  <a:srgbClr val="E6EDF3"/>
                </a:solidFill>
                <a:latin typeface="Inconsolata"/>
              </a:rPr>
              <a:t>    </a:t>
            </a:r>
            <a:r>
              <a:rPr sz="630" i="0">
                <a:solidFill>
                  <a:srgbClr val="82B1FF"/>
                </a:solidFill>
                <a:latin typeface="Inconsolata"/>
              </a:rPr>
              <a:t>build</a:t>
            </a:r>
            <a:r>
              <a:rPr sz="630" i="0">
                <a:solidFill>
                  <a:srgbClr val="E6EDF3"/>
                </a:solidFill>
                <a:latin typeface="Inconsolata"/>
              </a:rPr>
              <a:t>: </a:t>
            </a:r>
            <a:r>
              <a:rPr sz="630" i="0">
                <a:solidFill>
                  <a:srgbClr val="F9C97A"/>
                </a:solidFill>
                <a:latin typeface="Inconsolata"/>
              </a:rPr>
              <a:t>.</a:t>
            </a:r>
          </a:p>
          <a:p>
            <a:pPr>
              <a:lnSpc>
                <a:spcPct val="105820"/>
              </a:lnSpc>
              <a:spcAft>
                <a:spcPts val="0"/>
              </a:spcAft>
            </a:pPr>
            <a:r>
              <a:rPr sz="630" i="0">
                <a:solidFill>
                  <a:srgbClr val="E6EDF3"/>
                </a:solidFill>
                <a:latin typeface="Inconsolata"/>
              </a:rPr>
              <a:t>    </a:t>
            </a:r>
            <a:r>
              <a:rPr sz="630" i="0">
                <a:solidFill>
                  <a:srgbClr val="82B1FF"/>
                </a:solidFill>
                <a:latin typeface="Inconsolata"/>
              </a:rPr>
              <a:t>ports</a:t>
            </a:r>
            <a:r>
              <a:rPr sz="630" i="0">
                <a:solidFill>
                  <a:srgbClr val="E6EDF3"/>
                </a:solidFill>
                <a:latin typeface="Inconsolata"/>
              </a:rPr>
              <a:t>:</a:t>
            </a:r>
          </a:p>
          <a:p>
            <a:pPr>
              <a:lnSpc>
                <a:spcPct val="105820"/>
              </a:lnSpc>
              <a:spcAft>
                <a:spcPts val="0"/>
              </a:spcAft>
            </a:pPr>
            <a:r>
              <a:rPr sz="630" i="0">
                <a:solidFill>
                  <a:srgbClr val="E6EDF3"/>
                </a:solidFill>
                <a:latin typeface="Inconsolata"/>
              </a:rPr>
              <a:t>      - "8000:8000"</a:t>
            </a:r>
          </a:p>
          <a:p>
            <a:pPr>
              <a:lnSpc>
                <a:spcPct val="105820"/>
              </a:lnSpc>
              <a:spcAft>
                <a:spcPts val="0"/>
              </a:spcAft>
            </a:pPr>
            <a:r>
              <a:rPr sz="630" i="0">
                <a:solidFill>
                  <a:srgbClr val="E6EDF3"/>
                </a:solidFill>
                <a:latin typeface="Inconsolata"/>
              </a:rPr>
              <a:t>...</a:t>
            </a:r>
          </a:p>
          <a:p>
            <a:pPr>
              <a:lnSpc>
                <a:spcPct val="105820"/>
              </a:lnSpc>
              <a:spcAft>
                <a:spcPts val="0"/>
              </a:spcAft>
            </a:pPr>
            <a:r>
              <a:rPr sz="630" i="0">
                <a:solidFill>
                  <a:srgbClr val="E6EDF3"/>
                </a:solidFill>
                <a:latin typeface="Inconsolata"/>
              </a:rPr>
              <a:t>  </a:t>
            </a:r>
            <a:r>
              <a:rPr sz="630" i="0">
                <a:solidFill>
                  <a:srgbClr val="82B1FF"/>
                </a:solidFill>
                <a:latin typeface="Inconsolata"/>
              </a:rPr>
              <a:t>worker</a:t>
            </a:r>
            <a:r>
              <a:rPr sz="630" i="0">
                <a:solidFill>
                  <a:srgbClr val="E6EDF3"/>
                </a:solidFill>
                <a:latin typeface="Inconsolata"/>
              </a:rPr>
              <a:t>:</a:t>
            </a:r>
          </a:p>
          <a:p>
            <a:pPr>
              <a:lnSpc>
                <a:spcPct val="105820"/>
              </a:lnSpc>
              <a:spcAft>
                <a:spcPts val="0"/>
              </a:spcAft>
            </a:pPr>
            <a:r>
              <a:rPr sz="630" i="0">
                <a:solidFill>
                  <a:srgbClr val="E6EDF3"/>
                </a:solidFill>
                <a:latin typeface="Inconsolata"/>
              </a:rPr>
              <a:t>    &lt;&lt;: *app</a:t>
            </a:r>
          </a:p>
          <a:p>
            <a:pPr>
              <a:lnSpc>
                <a:spcPct val="105820"/>
              </a:lnSpc>
              <a:spcAft>
                <a:spcPts val="0"/>
              </a:spcAft>
            </a:pPr>
            <a:r>
              <a:rPr sz="630" i="0">
                <a:solidFill>
                  <a:srgbClr val="E6EDF3"/>
                </a:solidFill>
                <a:latin typeface="Inconsolata"/>
              </a:rPr>
              <a:t>    </a:t>
            </a:r>
            <a:r>
              <a:rPr sz="630" i="0">
                <a:solidFill>
                  <a:srgbClr val="82B1FF"/>
                </a:solidFill>
                <a:latin typeface="Inconsolata"/>
              </a:rPr>
              <a:t>command</a:t>
            </a:r>
            <a:r>
              <a:rPr sz="630" i="0">
                <a:solidFill>
                  <a:srgbClr val="E6EDF3"/>
                </a:solidFill>
                <a:latin typeface="Inconsolata"/>
              </a:rPr>
              <a:t>: ["celery", "-A", "app.worker.celery_app", "worker", "--loglevel=info"]</a:t>
            </a:r>
          </a:p>
          <a:p>
            <a:pPr>
              <a:lnSpc>
                <a:spcPct val="105820"/>
              </a:lnSpc>
              <a:spcAft>
                <a:spcPts val="0"/>
              </a:spcAft>
            </a:pPr>
            <a:r>
              <a:rPr sz="630" i="0">
                <a:solidFill>
                  <a:srgbClr val="E6EDF3"/>
                </a:solidFill>
                <a:latin typeface="Inconsolata"/>
              </a:rPr>
              <a:t> </a:t>
            </a:r>
          </a:p>
          <a:p>
            <a:pPr>
              <a:lnSpc>
                <a:spcPct val="105820"/>
              </a:lnSpc>
              <a:spcAft>
                <a:spcPts val="0"/>
              </a:spcAft>
            </a:pPr>
            <a:r>
              <a:rPr sz="630" i="0">
                <a:solidFill>
                  <a:srgbClr val="E6EDF3"/>
                </a:solidFill>
                <a:latin typeface="Inconsolata"/>
              </a:rPr>
              <a:t>  </a:t>
            </a:r>
            <a:r>
              <a:rPr sz="630" i="0">
                <a:solidFill>
                  <a:srgbClr val="82B1FF"/>
                </a:solidFill>
                <a:latin typeface="Inconsolata"/>
              </a:rPr>
              <a:t>consumer</a:t>
            </a:r>
            <a:r>
              <a:rPr sz="630" i="0">
                <a:solidFill>
                  <a:srgbClr val="E6EDF3"/>
                </a:solidFill>
                <a:latin typeface="Inconsolata"/>
              </a:rPr>
              <a:t>:</a:t>
            </a:r>
          </a:p>
          <a:p>
            <a:pPr>
              <a:lnSpc>
                <a:spcPct val="105820"/>
              </a:lnSpc>
              <a:spcAft>
                <a:spcPts val="0"/>
              </a:spcAft>
            </a:pPr>
            <a:r>
              <a:rPr sz="630" i="0">
                <a:solidFill>
                  <a:srgbClr val="E6EDF3"/>
                </a:solidFill>
                <a:latin typeface="Inconsolata"/>
              </a:rPr>
              <a:t>    &lt;&lt;: *app</a:t>
            </a:r>
          </a:p>
          <a:p>
            <a:pPr>
              <a:lnSpc>
                <a:spcPct val="105820"/>
              </a:lnSpc>
              <a:spcAft>
                <a:spcPts val="0"/>
              </a:spcAft>
            </a:pPr>
            <a:r>
              <a:rPr sz="630" i="0">
                <a:solidFill>
                  <a:srgbClr val="E6EDF3"/>
                </a:solidFill>
                <a:latin typeface="Inconsolata"/>
              </a:rPr>
              <a:t>    </a:t>
            </a:r>
            <a:r>
              <a:rPr sz="630" i="0">
                <a:solidFill>
                  <a:srgbClr val="82B1FF"/>
                </a:solidFill>
                <a:latin typeface="Inconsolata"/>
              </a:rPr>
              <a:t>command</a:t>
            </a:r>
            <a:r>
              <a:rPr sz="630" i="0">
                <a:solidFill>
                  <a:srgbClr val="E6EDF3"/>
                </a:solidFill>
                <a:latin typeface="Inconsolata"/>
              </a:rPr>
              <a:t>: ["python", "-m", "app.consumers.notification_consumer"]</a:t>
            </a:r>
          </a:p>
        </p:txBody>
      </p:sp>
      <p:sp>
        <p:nvSpPr>
          <p:cNvPr id="29" name="Box 12"/>
          <p:cNvSpPr/>
          <p:nvPr/>
        </p:nvSpPr>
        <p:spPr>
          <a:xfrm>
            <a:off x="704088" y="1823720"/>
            <a:ext cx="5230368" cy="298704"/>
          </a:xfrm>
          <a:prstGeom prst="roundRect">
            <a:avLst>
              <a:gd name="adj" fmla="val 15306"/>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1854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230120"/>
            <a:ext cx="5230368" cy="298704"/>
          </a:xfrm>
          <a:prstGeom prst="roundRect">
            <a:avLst>
              <a:gd name="adj" fmla="val 15306"/>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22606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3754119"/>
            <a:ext cx="5230368" cy="705103"/>
          </a:xfrm>
          <a:prstGeom prst="roundRect">
            <a:avLst>
              <a:gd name="adj" fmla="val 6484"/>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815584" y="3987799"/>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Text 19"/>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7" name="Text 20"/>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Setting bersama untuk api, worker, consumer (</a:t>
            </a:r>
            <a:r>
              <a:rPr sz="900" b="0" i="0">
                <a:solidFill>
                  <a:srgbClr val="B5482A"/>
                </a:solidFill>
                <a:latin typeface="Inconsolata"/>
              </a:rPr>
              <a:t>x-app</a:t>
            </a:r>
            <a:r>
              <a:rPr sz="900" b="0" i="0">
                <a:solidFill>
                  <a:srgbClr val="434343"/>
                </a:solidFill>
                <a:latin typeface="Inter"/>
              </a:rPr>
              <a:t> + anchor </a:t>
            </a:r>
            <a:r>
              <a:rPr sz="900" b="0" i="0">
                <a:solidFill>
                  <a:srgbClr val="B5482A"/>
                </a:solidFill>
                <a:latin typeface="Inconsolata"/>
              </a:rPr>
              <a:t>&amp;app</a:t>
            </a:r>
            <a:r>
              <a:rPr sz="900" b="0" i="0">
                <a:solidFill>
                  <a:srgbClr val="434343"/>
                </a:solidFill>
                <a:latin typeface="Inter"/>
              </a:rPr>
              <a:t>)</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Alamat memakai nama service (contoh 03)</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Satu image, perintah berbeda</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Tambahkan postgres, redis, rabbitmq, jaeger dengan healthcheck</a:t>
            </a:r>
          </a:p>
        </p:txBody>
      </p:sp>
      <p:sp>
        <p:nvSpPr>
          <p:cNvPr id="38" name="Box 21"/>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Text 22"/>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40" name="Text 23"/>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JWT_SECRET dari file .env.</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5 dari 10</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Build Image dan Jalankan Compose</a:t>
            </a:r>
          </a:p>
        </p:txBody>
      </p:sp>
      <p:pic>
        <p:nvPicPr>
          <p:cNvPr id="22" name="Image 3" descr="s11-image.png"/>
          <p:cNvPicPr>
            <a:picLocks noChangeAspect="1"/>
          </p:cNvPicPr>
          <p:nvPr/>
        </p:nvPicPr>
        <p:blipFill>
          <a:blip r:embed="rId2"/>
          <a:stretch>
            <a:fillRect/>
          </a:stretch>
        </p:blipFill>
        <p:spPr>
          <a:xfrm>
            <a:off x="621792" y="1481328"/>
            <a:ext cx="3657600" cy="1473490"/>
          </a:xfrm>
          <a:prstGeom prst="rect">
            <a:avLst/>
          </a:prstGeom>
          <a:ln w="9525">
            <a:solidFill>
              <a:srgbClr val="D0D5DD"/>
            </a:solidFill>
          </a:ln>
        </p:spPr>
      </p:pic>
      <p:pic>
        <p:nvPicPr>
          <p:cNvPr id="23" name="Image 4" descr="s11-compose.png"/>
          <p:cNvPicPr>
            <a:picLocks noChangeAspect="1"/>
          </p:cNvPicPr>
          <p:nvPr/>
        </p:nvPicPr>
        <p:blipFill>
          <a:blip r:embed="rId3"/>
          <a:stretch>
            <a:fillRect/>
          </a:stretch>
        </p:blipFill>
        <p:spPr>
          <a:xfrm>
            <a:off x="4462272" y="1481328"/>
            <a:ext cx="4023359" cy="1781072"/>
          </a:xfrm>
          <a:prstGeom prst="rect">
            <a:avLst/>
          </a:prstGeom>
          <a:ln w="9525">
            <a:solidFill>
              <a:srgbClr val="D0D5DD"/>
            </a:solidFill>
          </a:ln>
        </p:spPr>
      </p:pic>
      <p:sp>
        <p:nvSpPr>
          <p:cNvPr id="24" name="Text 5"/>
          <p:cNvSpPr txBox="1"/>
          <p:nvPr/>
        </p:nvSpPr>
        <p:spPr>
          <a:xfrm>
            <a:off x="621792" y="3091978"/>
            <a:ext cx="3657600" cy="164592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Yang terlihat</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Image 375 MB, berjalan sebagai </a:t>
            </a:r>
            <a:r>
              <a:rPr sz="900" b="0" i="0">
                <a:solidFill>
                  <a:srgbClr val="B5482A"/>
                </a:solidFill>
                <a:latin typeface="Inconsolata"/>
              </a:rPr>
              <a:t>appuser</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/app</a:t>
            </a:r>
            <a:r>
              <a:rPr sz="900" b="0" i="0">
                <a:solidFill>
                  <a:srgbClr val="434343"/>
                </a:solidFill>
                <a:latin typeface="Inter"/>
              </a:rPr>
              <a:t> hanya berisi kode, tanpa </a:t>
            </a:r>
            <a:r>
              <a:rPr sz="900" b="0" i="0">
                <a:solidFill>
                  <a:srgbClr val="B5482A"/>
                </a:solidFill>
                <a:latin typeface="Inconsolata"/>
              </a:rPr>
              <a:t>.env</a:t>
            </a:r>
            <a:r>
              <a:rPr sz="900" b="0" i="0">
                <a:solidFill>
                  <a:srgbClr val="434343"/>
                </a:solidFill>
                <a:latin typeface="Inter"/>
              </a:rPr>
              <a:t> dan tests</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Semua service healthy, user dibuat lewat </a:t>
            </a:r>
            <a:r>
              <a:rPr sz="900" b="0" i="0">
                <a:solidFill>
                  <a:srgbClr val="B5482A"/>
                </a:solidFill>
                <a:latin typeface="Inconsolata"/>
              </a:rPr>
              <a:t>docker compose exec</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5 dari 10</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Coba Alur Order di dalam Container</a:t>
            </a:r>
          </a:p>
        </p:txBody>
      </p:sp>
      <p:pic>
        <p:nvPicPr>
          <p:cNvPr id="22" name="Image 3" descr="s11-compose-flow.png"/>
          <p:cNvPicPr>
            <a:picLocks noChangeAspect="1"/>
          </p:cNvPicPr>
          <p:nvPr/>
        </p:nvPicPr>
        <p:blipFill>
          <a:blip r:embed="rId2"/>
          <a:stretch>
            <a:fillRect/>
          </a:stretch>
        </p:blipFill>
        <p:spPr>
          <a:xfrm>
            <a:off x="621792" y="1481328"/>
            <a:ext cx="5486400" cy="1719072"/>
          </a:xfrm>
          <a:prstGeom prst="rect">
            <a:avLst/>
          </a:prstGeom>
          <a:ln w="9525">
            <a:solidFill>
              <a:srgbClr val="D0D5DD"/>
            </a:solidFill>
          </a:ln>
        </p:spPr>
      </p:pic>
      <p:sp>
        <p:nvSpPr>
          <p:cNvPr id="23" name="Text 4"/>
          <p:cNvSpPr txBox="1"/>
          <p:nvPr/>
        </p:nvSpPr>
        <p:spPr>
          <a:xfrm>
            <a:off x="6336792" y="1481328"/>
            <a:ext cx="2148839" cy="320040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Yang terlihat</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Order dan pembayaran lewat API di container</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Report dikerjakan worker Celery</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Notifikasi dikirim consumer dari event RabbitMQ</a:t>
            </a:r>
          </a:p>
          <a:p>
            <a:pPr algn="l">
              <a:lnSpc>
                <a:spcPct val="115000"/>
              </a:lnSpc>
              <a:spcAft>
                <a:spcPts val="0"/>
              </a:spcAft>
            </a:pPr>
            <a:endParaRPr sz="900" b="0" i="0">
              <a:solidFill>
                <a:srgbClr val="434343"/>
              </a:solidFill>
              <a:latin typeface="Inter"/>
            </a:endParaRPr>
          </a:p>
          <a:p>
            <a:pPr algn="l">
              <a:lnSpc>
                <a:spcPct val="115000"/>
              </a:lnSpc>
              <a:spcAft>
                <a:spcPts val="400"/>
              </a:spcAft>
            </a:pPr>
            <a:r>
              <a:rPr sz="900" b="0" i="0">
                <a:solidFill>
                  <a:srgbClr val="434343"/>
                </a:solidFill>
                <a:latin typeface="Inter"/>
              </a:rPr>
              <a:t>Semua komponen Sesi 1 sampai 10 berjalan dengan satu perintah.</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6 dari 10</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k8s/config.yaml: ConfigMap dan Secret</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k8s/config.yaml</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7143"/>
              </a:lnSpc>
              <a:spcAft>
                <a:spcPts val="0"/>
              </a:spcAft>
            </a:pPr>
            <a:r>
              <a:rPr sz="700" i="0">
                <a:solidFill>
                  <a:srgbClr val="82B1FF"/>
                </a:solidFill>
                <a:latin typeface="Inconsolata"/>
              </a:rPr>
              <a:t>kind</a:t>
            </a:r>
            <a:r>
              <a:rPr sz="700" i="0">
                <a:solidFill>
                  <a:srgbClr val="E6EDF3"/>
                </a:solidFill>
                <a:latin typeface="Inconsolata"/>
              </a:rPr>
              <a:t>: ConfigMap</a:t>
            </a:r>
          </a:p>
          <a:p>
            <a:pPr>
              <a:lnSpc>
                <a:spcPct val="107143"/>
              </a:lnSpc>
              <a:spcAft>
                <a:spcPts val="0"/>
              </a:spcAft>
            </a:pPr>
            <a:r>
              <a:rPr sz="700" i="0">
                <a:solidFill>
                  <a:srgbClr val="82B1FF"/>
                </a:solidFill>
                <a:latin typeface="Inconsolata"/>
              </a:rPr>
              <a:t>metadata</a:t>
            </a:r>
            <a:r>
              <a:rPr sz="700" i="0">
                <a:solidFill>
                  <a:srgbClr val="E6EDF3"/>
                </a:solidFill>
                <a:latin typeface="Inconsolata"/>
              </a:rPr>
              <a:t>:</a:t>
            </a:r>
          </a:p>
          <a:p>
            <a:pPr>
              <a:lnSpc>
                <a:spcPct val="107143"/>
              </a:lnSpc>
              <a:spcAft>
                <a:spcPts val="0"/>
              </a:spcAft>
            </a:pPr>
            <a:r>
              <a:rPr sz="700" i="0">
                <a:solidFill>
                  <a:srgbClr val="E6EDF3"/>
                </a:solidFill>
                <a:latin typeface="Inconsolata"/>
              </a:rPr>
              <a:t>  </a:t>
            </a:r>
            <a:r>
              <a:rPr sz="700" i="0">
                <a:solidFill>
                  <a:srgbClr val="82B1FF"/>
                </a:solidFill>
                <a:latin typeface="Inconsolata"/>
              </a:rPr>
              <a:t>name</a:t>
            </a:r>
            <a:r>
              <a:rPr sz="700" i="0">
                <a:solidFill>
                  <a:srgbClr val="E6EDF3"/>
                </a:solidFill>
                <a:latin typeface="Inconsolata"/>
              </a:rPr>
              <a:t>: order-api-config</a:t>
            </a:r>
          </a:p>
          <a:p>
            <a:pPr>
              <a:lnSpc>
                <a:spcPct val="107143"/>
              </a:lnSpc>
              <a:spcAft>
                <a:spcPts val="0"/>
              </a:spcAft>
            </a:pPr>
            <a:r>
              <a:rPr sz="700" i="0">
                <a:solidFill>
                  <a:srgbClr val="82B1FF"/>
                </a:solidFill>
                <a:latin typeface="Inconsolata"/>
              </a:rPr>
              <a:t>data</a:t>
            </a:r>
            <a:r>
              <a:rPr sz="700" i="0">
                <a:solidFill>
                  <a:srgbClr val="E6EDF3"/>
                </a:solidFill>
                <a:latin typeface="Inconsolata"/>
              </a:rPr>
              <a:t>:</a:t>
            </a:r>
          </a:p>
          <a:p>
            <a:pPr>
              <a:lnSpc>
                <a:spcPct val="107143"/>
              </a:lnSpc>
              <a:spcAft>
                <a:spcPts val="0"/>
              </a:spcAft>
            </a:pPr>
            <a:r>
              <a:rPr sz="700" i="0">
                <a:solidFill>
                  <a:srgbClr val="E6EDF3"/>
                </a:solidFill>
                <a:latin typeface="Inconsolata"/>
              </a:rPr>
              <a:t>  </a:t>
            </a:r>
            <a:r>
              <a:rPr sz="700" i="0">
                <a:solidFill>
                  <a:srgbClr val="82B1FF"/>
                </a:solidFill>
                <a:latin typeface="Inconsolata"/>
              </a:rPr>
              <a:t>ENV</a:t>
            </a:r>
            <a:r>
              <a:rPr sz="700" i="0">
                <a:solidFill>
                  <a:srgbClr val="E6EDF3"/>
                </a:solidFill>
                <a:latin typeface="Inconsolata"/>
              </a:rPr>
              <a:t>: production</a:t>
            </a:r>
          </a:p>
          <a:p>
            <a:pPr>
              <a:lnSpc>
                <a:spcPct val="107143"/>
              </a:lnSpc>
              <a:spcAft>
                <a:spcPts val="0"/>
              </a:spcAft>
            </a:pPr>
            <a:r>
              <a:rPr sz="700" i="0">
                <a:solidFill>
                  <a:srgbClr val="E6EDF3"/>
                </a:solidFill>
                <a:latin typeface="Inconsolata"/>
              </a:rPr>
              <a:t>  </a:t>
            </a:r>
            <a:r>
              <a:rPr sz="700" i="0">
                <a:solidFill>
                  <a:srgbClr val="82B1FF"/>
                </a:solidFill>
                <a:latin typeface="Inconsolata"/>
              </a:rPr>
              <a:t>LOG_LEVEL</a:t>
            </a:r>
            <a:r>
              <a:rPr sz="700" i="0">
                <a:solidFill>
                  <a:srgbClr val="E6EDF3"/>
                </a:solidFill>
                <a:latin typeface="Inconsolata"/>
              </a:rPr>
              <a:t>: INFO</a:t>
            </a:r>
          </a:p>
          <a:p>
            <a:pPr>
              <a:lnSpc>
                <a:spcPct val="107143"/>
              </a:lnSpc>
              <a:spcAft>
                <a:spcPts val="0"/>
              </a:spcAft>
            </a:pPr>
            <a:r>
              <a:rPr sz="700" i="0">
                <a:solidFill>
                  <a:srgbClr val="E6EDF3"/>
                </a:solidFill>
                <a:latin typeface="Inconsolata"/>
              </a:rPr>
              <a:t>  </a:t>
            </a:r>
            <a:r>
              <a:rPr sz="700" i="0">
                <a:solidFill>
                  <a:srgbClr val="82B1FF"/>
                </a:solidFill>
                <a:latin typeface="Inconsolata"/>
              </a:rPr>
              <a:t>TRACING_ENABLED</a:t>
            </a:r>
            <a:r>
              <a:rPr sz="700" i="0">
                <a:solidFill>
                  <a:srgbClr val="E6EDF3"/>
                </a:solidFill>
                <a:latin typeface="Inconsolata"/>
              </a:rPr>
              <a:t>: </a:t>
            </a:r>
            <a:r>
              <a:rPr sz="700" i="0">
                <a:solidFill>
                  <a:srgbClr val="A5D6A7"/>
                </a:solidFill>
                <a:latin typeface="Inconsolata"/>
              </a:rPr>
              <a:t>"0"</a:t>
            </a:r>
            <a:r>
              <a:rPr sz="700" i="0">
                <a:solidFill>
                  <a:srgbClr val="E6EDF3"/>
                </a:solidFill>
                <a:latin typeface="Inconsolata"/>
              </a:rPr>
              <a:t>                     </a:t>
            </a:r>
            <a:r>
              <a:rPr sz="700" i="1">
                <a:solidFill>
                  <a:srgbClr val="8B98A8"/>
                </a:solidFill>
                <a:latin typeface="Inconsolata"/>
              </a:rPr>
              <a:t># tidak ada Jaeger di cluster latihan</a:t>
            </a:r>
          </a:p>
          <a:p>
            <a:pPr>
              <a:lnSpc>
                <a:spcPct val="107143"/>
              </a:lnSpc>
              <a:spcAft>
                <a:spcPts val="0"/>
              </a:spcAft>
            </a:pPr>
            <a:r>
              <a:rPr sz="700" i="0">
                <a:solidFill>
                  <a:srgbClr val="E6EDF3"/>
                </a:solidFill>
                <a:latin typeface="Inconsolata"/>
              </a:rPr>
              <a:t>  </a:t>
            </a:r>
            <a:r>
              <a:rPr sz="700" i="0">
                <a:solidFill>
                  <a:srgbClr val="82B1FF"/>
                </a:solidFill>
                <a:latin typeface="Inconsolata"/>
              </a:rPr>
              <a:t>REDIS_URL</a:t>
            </a:r>
            <a:r>
              <a:rPr sz="700" i="0">
                <a:solidFill>
                  <a:srgbClr val="E6EDF3"/>
                </a:solidFill>
                <a:latin typeface="Inconsolata"/>
              </a:rPr>
              <a:t>: redis://redis:6379/2</a:t>
            </a:r>
          </a:p>
          <a:p>
            <a:pPr>
              <a:lnSpc>
                <a:spcPct val="107143"/>
              </a:lnSpc>
              <a:spcAft>
                <a:spcPts val="0"/>
              </a:spcAft>
            </a:pPr>
            <a:r>
              <a:rPr sz="700" i="0">
                <a:solidFill>
                  <a:srgbClr val="E6EDF3"/>
                </a:solidFill>
                <a:latin typeface="Inconsolata"/>
              </a:rPr>
              <a:t>...</a:t>
            </a:r>
          </a:p>
          <a:p>
            <a:pPr>
              <a:lnSpc>
                <a:spcPct val="107143"/>
              </a:lnSpc>
              <a:spcAft>
                <a:spcPts val="0"/>
              </a:spcAft>
            </a:pPr>
            <a:r>
              <a:rPr sz="700" i="0">
                <a:solidFill>
                  <a:srgbClr val="82B1FF"/>
                </a:solidFill>
                <a:latin typeface="Inconsolata"/>
              </a:rPr>
              <a:t>kind</a:t>
            </a:r>
            <a:r>
              <a:rPr sz="700" i="0">
                <a:solidFill>
                  <a:srgbClr val="E6EDF3"/>
                </a:solidFill>
                <a:latin typeface="Inconsolata"/>
              </a:rPr>
              <a:t>: Secret</a:t>
            </a:r>
          </a:p>
          <a:p>
            <a:pPr>
              <a:lnSpc>
                <a:spcPct val="107143"/>
              </a:lnSpc>
              <a:spcAft>
                <a:spcPts val="0"/>
              </a:spcAft>
            </a:pPr>
            <a:r>
              <a:rPr sz="700" i="0">
                <a:solidFill>
                  <a:srgbClr val="82B1FF"/>
                </a:solidFill>
                <a:latin typeface="Inconsolata"/>
              </a:rPr>
              <a:t>metadata</a:t>
            </a:r>
            <a:r>
              <a:rPr sz="700" i="0">
                <a:solidFill>
                  <a:srgbClr val="E6EDF3"/>
                </a:solidFill>
                <a:latin typeface="Inconsolata"/>
              </a:rPr>
              <a:t>:</a:t>
            </a:r>
          </a:p>
          <a:p>
            <a:pPr>
              <a:lnSpc>
                <a:spcPct val="107143"/>
              </a:lnSpc>
              <a:spcAft>
                <a:spcPts val="0"/>
              </a:spcAft>
            </a:pPr>
            <a:r>
              <a:rPr sz="700" i="0">
                <a:solidFill>
                  <a:srgbClr val="E6EDF3"/>
                </a:solidFill>
                <a:latin typeface="Inconsolata"/>
              </a:rPr>
              <a:t>  </a:t>
            </a:r>
            <a:r>
              <a:rPr sz="700" i="0">
                <a:solidFill>
                  <a:srgbClr val="82B1FF"/>
                </a:solidFill>
                <a:latin typeface="Inconsolata"/>
              </a:rPr>
              <a:t>name</a:t>
            </a:r>
            <a:r>
              <a:rPr sz="700" i="0">
                <a:solidFill>
                  <a:srgbClr val="E6EDF3"/>
                </a:solidFill>
                <a:latin typeface="Inconsolata"/>
              </a:rPr>
              <a:t>: order-api-secret</a:t>
            </a:r>
          </a:p>
          <a:p>
            <a:pPr>
              <a:lnSpc>
                <a:spcPct val="107143"/>
              </a:lnSpc>
              <a:spcAft>
                <a:spcPts val="0"/>
              </a:spcAft>
            </a:pPr>
            <a:r>
              <a:rPr sz="700" i="0">
                <a:solidFill>
                  <a:srgbClr val="82B1FF"/>
                </a:solidFill>
                <a:latin typeface="Inconsolata"/>
              </a:rPr>
              <a:t>type</a:t>
            </a:r>
            <a:r>
              <a:rPr sz="700" i="0">
                <a:solidFill>
                  <a:srgbClr val="E6EDF3"/>
                </a:solidFill>
                <a:latin typeface="Inconsolata"/>
              </a:rPr>
              <a:t>: Opaque</a:t>
            </a:r>
          </a:p>
          <a:p>
            <a:pPr>
              <a:lnSpc>
                <a:spcPct val="107143"/>
              </a:lnSpc>
              <a:spcAft>
                <a:spcPts val="0"/>
              </a:spcAft>
            </a:pPr>
            <a:r>
              <a:rPr sz="700" i="0">
                <a:solidFill>
                  <a:srgbClr val="82B1FF"/>
                </a:solidFill>
                <a:latin typeface="Inconsolata"/>
              </a:rPr>
              <a:t>stringData</a:t>
            </a:r>
            <a:r>
              <a:rPr sz="700" i="0">
                <a:solidFill>
                  <a:srgbClr val="E6EDF3"/>
                </a:solidFill>
                <a:latin typeface="Inconsolata"/>
              </a:rPr>
              <a:t>:</a:t>
            </a:r>
          </a:p>
          <a:p>
            <a:pPr>
              <a:lnSpc>
                <a:spcPct val="107143"/>
              </a:lnSpc>
              <a:spcAft>
                <a:spcPts val="0"/>
              </a:spcAft>
            </a:pPr>
            <a:r>
              <a:rPr sz="700" i="0">
                <a:solidFill>
                  <a:srgbClr val="E6EDF3"/>
                </a:solidFill>
                <a:latin typeface="Inconsolata"/>
              </a:rPr>
              <a:t>  </a:t>
            </a:r>
            <a:r>
              <a:rPr sz="700" i="0">
                <a:solidFill>
                  <a:srgbClr val="82B1FF"/>
                </a:solidFill>
                <a:latin typeface="Inconsolata"/>
              </a:rPr>
              <a:t>JWT_SECRET</a:t>
            </a:r>
            <a:r>
              <a:rPr sz="700" i="0">
                <a:solidFill>
                  <a:srgbClr val="E6EDF3"/>
                </a:solidFill>
                <a:latin typeface="Inconsolata"/>
              </a:rPr>
              <a:t>: latihan-ganti-dengan-secret-asli-minimal-32-karakter</a:t>
            </a:r>
          </a:p>
          <a:p>
            <a:pPr>
              <a:lnSpc>
                <a:spcPct val="107143"/>
              </a:lnSpc>
              <a:spcAft>
                <a:spcPts val="0"/>
              </a:spcAft>
            </a:pPr>
            <a:r>
              <a:rPr sz="700" i="0">
                <a:solidFill>
                  <a:srgbClr val="E6EDF3"/>
                </a:solidFill>
                <a:latin typeface="Inconsolata"/>
              </a:rPr>
              <a:t>  </a:t>
            </a:r>
            <a:r>
              <a:rPr sz="700" i="0">
                <a:solidFill>
                  <a:srgbClr val="82B1FF"/>
                </a:solidFill>
                <a:latin typeface="Inconsolata"/>
              </a:rPr>
              <a:t>DATABASE_URL</a:t>
            </a:r>
            <a:r>
              <a:rPr sz="700" i="0">
                <a:solidFill>
                  <a:srgbClr val="E6EDF3"/>
                </a:solidFill>
                <a:latin typeface="Inconsolata"/>
              </a:rPr>
              <a:t>: postgresql+psycopg://app:app@postgres:5432/orders</a:t>
            </a:r>
          </a:p>
          <a:p>
            <a:pPr>
              <a:lnSpc>
                <a:spcPct val="107143"/>
              </a:lnSpc>
              <a:spcAft>
                <a:spcPts val="0"/>
              </a:spcAft>
            </a:pPr>
            <a:r>
              <a:rPr sz="700" i="0">
                <a:solidFill>
                  <a:srgbClr val="E6EDF3"/>
                </a:solidFill>
                <a:latin typeface="Inconsolata"/>
              </a:rPr>
              <a:t>  </a:t>
            </a:r>
            <a:r>
              <a:rPr sz="700" i="0">
                <a:solidFill>
                  <a:srgbClr val="82B1FF"/>
                </a:solidFill>
                <a:latin typeface="Inconsolata"/>
              </a:rPr>
              <a:t>RABBITMQ_URL</a:t>
            </a:r>
            <a:r>
              <a:rPr sz="700" i="0">
                <a:solidFill>
                  <a:srgbClr val="E6EDF3"/>
                </a:solidFill>
                <a:latin typeface="Inconsolata"/>
              </a:rPr>
              <a:t>: amqp://guest:guest@rabbitmq:5672/</a:t>
            </a:r>
          </a:p>
        </p:txBody>
      </p:sp>
      <p:sp>
        <p:nvSpPr>
          <p:cNvPr id="29" name="Box 12"/>
          <p:cNvSpPr/>
          <p:nvPr/>
        </p:nvSpPr>
        <p:spPr>
          <a:xfrm>
            <a:off x="704088" y="1825371"/>
            <a:ext cx="5230368" cy="907542"/>
          </a:xfrm>
          <a:prstGeom prst="roundRect">
            <a:avLst>
              <a:gd name="adj" fmla="val 5037"/>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216027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854071"/>
            <a:ext cx="5230368" cy="907542"/>
          </a:xfrm>
          <a:prstGeom prst="roundRect">
            <a:avLst>
              <a:gd name="adj" fmla="val 5037"/>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318897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Text 17"/>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5" name="Text 18"/>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Config biasa: </a:t>
            </a:r>
            <a:r>
              <a:rPr sz="900" b="0" i="0">
                <a:solidFill>
                  <a:srgbClr val="B5482A"/>
                </a:solidFill>
                <a:latin typeface="Inconsolata"/>
              </a:rPr>
              <a:t>ENV=production</a:t>
            </a:r>
            <a:r>
              <a:rPr sz="900" b="0" i="0">
                <a:solidFill>
                  <a:srgbClr val="434343"/>
                </a:solidFill>
                <a:latin typeface="Inter"/>
              </a:rPr>
              <a:t> mematikan </a:t>
            </a:r>
            <a:r>
              <a:rPr sz="900" b="0" i="0">
                <a:solidFill>
                  <a:srgbClr val="B5482A"/>
                </a:solidFill>
                <a:latin typeface="Inconsolata"/>
              </a:rPr>
              <a:t>/docs</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Nilai rahasia di Secret (contoh 05)</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Secret ini hanya untuk latihan, di cluster asli dibuat dengan </a:t>
            </a:r>
            <a:r>
              <a:rPr sz="900" b="0" i="0">
                <a:solidFill>
                  <a:srgbClr val="B5482A"/>
                </a:solidFill>
                <a:latin typeface="Inconsolata"/>
              </a:rPr>
              <a:t>kubectl create secret</a:t>
            </a:r>
          </a:p>
        </p:txBody>
      </p:sp>
      <p:sp>
        <p:nvSpPr>
          <p:cNvPr id="36" name="Box 19"/>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Text 20"/>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38" name="Text 21"/>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Least privilege: Secret dibatasi RBAC.</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7 dari 10</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k8s/api.yaml: Deployment dengan probe</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k8s/api.yaml</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2564"/>
              </a:lnSpc>
              <a:spcAft>
                <a:spcPts val="0"/>
              </a:spcAft>
            </a:pPr>
            <a:r>
              <a:rPr sz="650" i="0">
                <a:solidFill>
                  <a:srgbClr val="82B1FF"/>
                </a:solidFill>
                <a:latin typeface="Inconsolata"/>
              </a:rPr>
              <a:t>spec</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82B1FF"/>
                </a:solidFill>
                <a:latin typeface="Inconsolata"/>
              </a:rPr>
              <a:t>replicas</a:t>
            </a:r>
            <a:r>
              <a:rPr sz="650" i="0">
                <a:solidFill>
                  <a:srgbClr val="E6EDF3"/>
                </a:solidFill>
                <a:latin typeface="Inconsolata"/>
              </a:rPr>
              <a:t>: </a:t>
            </a:r>
            <a:r>
              <a:rPr sz="650" i="0">
                <a:solidFill>
                  <a:srgbClr val="F9C97A"/>
                </a:solidFill>
                <a:latin typeface="Inconsolata"/>
              </a:rPr>
              <a:t>2</a:t>
            </a:r>
          </a:p>
          <a:p>
            <a:pPr>
              <a:lnSpc>
                <a:spcPct val="102564"/>
              </a:lnSpc>
              <a:spcAft>
                <a:spcPts val="0"/>
              </a:spcAft>
            </a:pP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82B1FF"/>
                </a:solidFill>
                <a:latin typeface="Inconsolata"/>
              </a:rPr>
              <a:t>securityContext</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82B1FF"/>
                </a:solidFill>
                <a:latin typeface="Inconsolata"/>
              </a:rPr>
              <a:t>runAsNonRoot</a:t>
            </a:r>
            <a:r>
              <a:rPr sz="650" i="0">
                <a:solidFill>
                  <a:srgbClr val="E6EDF3"/>
                </a:solidFill>
                <a:latin typeface="Inconsolata"/>
              </a:rPr>
              <a:t>: true                 </a:t>
            </a:r>
            <a:r>
              <a:rPr sz="650" i="1">
                <a:solidFill>
                  <a:srgbClr val="8B98A8"/>
                </a:solidFill>
                <a:latin typeface="Inconsolata"/>
              </a:rPr>
              <a:t># pod ditolak jika image berjalan sebagai root</a:t>
            </a:r>
          </a:p>
          <a:p>
            <a:pPr>
              <a:lnSpc>
                <a:spcPct val="102564"/>
              </a:lnSpc>
              <a:spcAft>
                <a:spcPts val="0"/>
              </a:spcAft>
            </a:pPr>
            <a:r>
              <a:rPr sz="650" i="0">
                <a:solidFill>
                  <a:srgbClr val="E6EDF3"/>
                </a:solidFill>
                <a:latin typeface="Inconsolata"/>
              </a:rPr>
              <a:t>      </a:t>
            </a:r>
            <a:r>
              <a:rPr sz="650" i="0">
                <a:solidFill>
                  <a:srgbClr val="82B1FF"/>
                </a:solidFill>
                <a:latin typeface="Inconsolata"/>
              </a:rPr>
              <a:t>containers</a:t>
            </a:r>
            <a:r>
              <a:rPr sz="650" i="0">
                <a:solidFill>
                  <a:srgbClr val="E6EDF3"/>
                </a:solidFill>
                <a:latin typeface="Inconsolata"/>
              </a:rPr>
              <a:t>:</a:t>
            </a:r>
          </a:p>
          <a:p>
            <a:pPr>
              <a:lnSpc>
                <a:spcPct val="102564"/>
              </a:lnSpc>
              <a:spcAft>
                <a:spcPts val="0"/>
              </a:spcAft>
            </a:pPr>
            <a:r>
              <a:rPr sz="650" i="0">
                <a:solidFill>
                  <a:srgbClr val="E6EDF3"/>
                </a:solidFill>
                <a:latin typeface="Inconsolata"/>
              </a:rPr>
              <a:t>        - </a:t>
            </a:r>
            <a:r>
              <a:rPr sz="650" i="0">
                <a:solidFill>
                  <a:srgbClr val="82B1FF"/>
                </a:solidFill>
                <a:latin typeface="Inconsolata"/>
              </a:rPr>
              <a:t>name</a:t>
            </a:r>
            <a:r>
              <a:rPr sz="650" i="0">
                <a:solidFill>
                  <a:srgbClr val="E6EDF3"/>
                </a:solidFill>
                <a:latin typeface="Inconsolata"/>
              </a:rPr>
              <a:t>: api</a:t>
            </a:r>
          </a:p>
          <a:p>
            <a:pPr>
              <a:lnSpc>
                <a:spcPct val="102564"/>
              </a:lnSpc>
              <a:spcAft>
                <a:spcPts val="0"/>
              </a:spcAft>
            </a:pPr>
            <a:r>
              <a:rPr sz="650" i="0">
                <a:solidFill>
                  <a:srgbClr val="E6EDF3"/>
                </a:solidFill>
                <a:latin typeface="Inconsolata"/>
              </a:rPr>
              <a:t>          </a:t>
            </a:r>
            <a:r>
              <a:rPr sz="650" i="0">
                <a:solidFill>
                  <a:srgbClr val="82B1FF"/>
                </a:solidFill>
                <a:latin typeface="Inconsolata"/>
              </a:rPr>
              <a:t>image</a:t>
            </a:r>
            <a:r>
              <a:rPr sz="650" i="0">
                <a:solidFill>
                  <a:srgbClr val="E6EDF3"/>
                </a:solidFill>
                <a:latin typeface="Inconsolata"/>
              </a:rPr>
              <a:t>: order-api:1.0</a:t>
            </a:r>
          </a:p>
          <a:p>
            <a:pPr>
              <a:lnSpc>
                <a:spcPct val="102564"/>
              </a:lnSpc>
              <a:spcAft>
                <a:spcPts val="0"/>
              </a:spcAft>
            </a:pP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82B1FF"/>
                </a:solidFill>
                <a:latin typeface="Inconsolata"/>
              </a:rPr>
              <a:t>envFrom</a:t>
            </a:r>
            <a:r>
              <a:rPr sz="650" i="0">
                <a:solidFill>
                  <a:srgbClr val="E6EDF3"/>
                </a:solidFill>
                <a:latin typeface="Inconsolata"/>
              </a:rPr>
              <a:t>:</a:t>
            </a:r>
          </a:p>
          <a:p>
            <a:pPr>
              <a:lnSpc>
                <a:spcPct val="102564"/>
              </a:lnSpc>
              <a:spcAft>
                <a:spcPts val="0"/>
              </a:spcAft>
            </a:pPr>
            <a:r>
              <a:rPr sz="650" i="0">
                <a:solidFill>
                  <a:srgbClr val="E6EDF3"/>
                </a:solidFill>
                <a:latin typeface="Inconsolata"/>
              </a:rPr>
              <a:t>            - </a:t>
            </a:r>
            <a:r>
              <a:rPr sz="650" i="0">
                <a:solidFill>
                  <a:srgbClr val="82B1FF"/>
                </a:solidFill>
                <a:latin typeface="Inconsolata"/>
              </a:rPr>
              <a:t>configMapRef</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82B1FF"/>
                </a:solidFill>
                <a:latin typeface="Inconsolata"/>
              </a:rPr>
              <a:t>name</a:t>
            </a:r>
            <a:r>
              <a:rPr sz="650" i="0">
                <a:solidFill>
                  <a:srgbClr val="E6EDF3"/>
                </a:solidFill>
                <a:latin typeface="Inconsolata"/>
              </a:rPr>
              <a:t>: order-api-config</a:t>
            </a:r>
          </a:p>
          <a:p>
            <a:pPr>
              <a:lnSpc>
                <a:spcPct val="102564"/>
              </a:lnSpc>
              <a:spcAft>
                <a:spcPts val="0"/>
              </a:spcAft>
            </a:pPr>
            <a:r>
              <a:rPr sz="650" i="0">
                <a:solidFill>
                  <a:srgbClr val="E6EDF3"/>
                </a:solidFill>
                <a:latin typeface="Inconsolata"/>
              </a:rPr>
              <a:t>            - </a:t>
            </a:r>
            <a:r>
              <a:rPr sz="650" i="0">
                <a:solidFill>
                  <a:srgbClr val="82B1FF"/>
                </a:solidFill>
                <a:latin typeface="Inconsolata"/>
              </a:rPr>
              <a:t>secretRef</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82B1FF"/>
                </a:solidFill>
                <a:latin typeface="Inconsolata"/>
              </a:rPr>
              <a:t>name</a:t>
            </a:r>
            <a:r>
              <a:rPr sz="650" i="0">
                <a:solidFill>
                  <a:srgbClr val="E6EDF3"/>
                </a:solidFill>
                <a:latin typeface="Inconsolata"/>
              </a:rPr>
              <a:t>: order-api-secret</a:t>
            </a:r>
          </a:p>
          <a:p>
            <a:pPr>
              <a:lnSpc>
                <a:spcPct val="102564"/>
              </a:lnSpc>
              <a:spcAft>
                <a:spcPts val="0"/>
              </a:spcAft>
            </a:pPr>
            <a:r>
              <a:rPr sz="650" i="0">
                <a:solidFill>
                  <a:srgbClr val="E6EDF3"/>
                </a:solidFill>
                <a:latin typeface="Inconsolata"/>
              </a:rPr>
              <a:t>          </a:t>
            </a:r>
            <a:r>
              <a:rPr sz="650" i="0">
                <a:solidFill>
                  <a:srgbClr val="82B1FF"/>
                </a:solidFill>
                <a:latin typeface="Inconsolata"/>
              </a:rPr>
              <a:t>readinessProbe</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82B1FF"/>
                </a:solidFill>
                <a:latin typeface="Inconsolata"/>
              </a:rPr>
              <a:t>httpGet</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82B1FF"/>
                </a:solidFill>
                <a:latin typeface="Inconsolata"/>
              </a:rPr>
              <a:t>path</a:t>
            </a:r>
            <a:r>
              <a:rPr sz="650" i="0">
                <a:solidFill>
                  <a:srgbClr val="E6EDF3"/>
                </a:solidFill>
                <a:latin typeface="Inconsolata"/>
              </a:rPr>
              <a:t>: /health/ready</a:t>
            </a:r>
          </a:p>
          <a:p>
            <a:pPr>
              <a:lnSpc>
                <a:spcPct val="102564"/>
              </a:lnSpc>
              <a:spcAft>
                <a:spcPts val="0"/>
              </a:spcAft>
            </a:pPr>
            <a:r>
              <a:rPr sz="650" i="0">
                <a:solidFill>
                  <a:srgbClr val="E6EDF3"/>
                </a:solidFill>
                <a:latin typeface="Inconsolata"/>
              </a:rPr>
              <a:t>              </a:t>
            </a:r>
            <a:r>
              <a:rPr sz="650" i="0">
                <a:solidFill>
                  <a:srgbClr val="82B1FF"/>
                </a:solidFill>
                <a:latin typeface="Inconsolata"/>
              </a:rPr>
              <a:t>port</a:t>
            </a:r>
            <a:r>
              <a:rPr sz="650" i="0">
                <a:solidFill>
                  <a:srgbClr val="E6EDF3"/>
                </a:solidFill>
                <a:latin typeface="Inconsolata"/>
              </a:rPr>
              <a:t>: </a:t>
            </a:r>
            <a:r>
              <a:rPr sz="650" i="0">
                <a:solidFill>
                  <a:srgbClr val="F9C97A"/>
                </a:solidFill>
                <a:latin typeface="Inconsolata"/>
              </a:rPr>
              <a:t>8000</a:t>
            </a:r>
          </a:p>
          <a:p>
            <a:pPr>
              <a:lnSpc>
                <a:spcPct val="102564"/>
              </a:lnSpc>
              <a:spcAft>
                <a:spcPts val="0"/>
              </a:spcAft>
            </a:pPr>
            <a:r>
              <a:rPr sz="650" i="0">
                <a:solidFill>
                  <a:srgbClr val="E6EDF3"/>
                </a:solidFill>
                <a:latin typeface="Inconsolata"/>
              </a:rPr>
              <a:t>            </a:t>
            </a:r>
            <a:r>
              <a:rPr sz="650" i="0">
                <a:solidFill>
                  <a:srgbClr val="82B1FF"/>
                </a:solidFill>
                <a:latin typeface="Inconsolata"/>
              </a:rPr>
              <a:t>periodSeconds</a:t>
            </a:r>
            <a:r>
              <a:rPr sz="650" i="0">
                <a:solidFill>
                  <a:srgbClr val="E6EDF3"/>
                </a:solidFill>
                <a:latin typeface="Inconsolata"/>
              </a:rPr>
              <a:t>: </a:t>
            </a:r>
            <a:r>
              <a:rPr sz="650" i="0">
                <a:solidFill>
                  <a:srgbClr val="F9C97A"/>
                </a:solidFill>
                <a:latin typeface="Inconsolata"/>
              </a:rPr>
              <a:t>5</a:t>
            </a:r>
          </a:p>
          <a:p>
            <a:pPr>
              <a:lnSpc>
                <a:spcPct val="102564"/>
              </a:lnSpc>
              <a:spcAft>
                <a:spcPts val="0"/>
              </a:spcAft>
            </a:pPr>
            <a:r>
              <a:rPr sz="650" i="0">
                <a:solidFill>
                  <a:srgbClr val="E6EDF3"/>
                </a:solidFill>
                <a:latin typeface="Inconsolata"/>
              </a:rPr>
              <a:t>          </a:t>
            </a:r>
            <a:r>
              <a:rPr sz="650" i="0">
                <a:solidFill>
                  <a:srgbClr val="82B1FF"/>
                </a:solidFill>
                <a:latin typeface="Inconsolata"/>
              </a:rPr>
              <a:t>livenessProbe</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82B1FF"/>
                </a:solidFill>
                <a:latin typeface="Inconsolata"/>
              </a:rPr>
              <a:t>httpGet</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82B1FF"/>
                </a:solidFill>
                <a:latin typeface="Inconsolata"/>
              </a:rPr>
              <a:t>path</a:t>
            </a:r>
            <a:r>
              <a:rPr sz="650" i="0">
                <a:solidFill>
                  <a:srgbClr val="E6EDF3"/>
                </a:solidFill>
                <a:latin typeface="Inconsolata"/>
              </a:rPr>
              <a:t>: /health/live</a:t>
            </a:r>
          </a:p>
          <a:p>
            <a:pPr>
              <a:lnSpc>
                <a:spcPct val="102564"/>
              </a:lnSpc>
              <a:spcAft>
                <a:spcPts val="0"/>
              </a:spcAft>
            </a:pPr>
            <a:r>
              <a:rPr sz="650" i="0">
                <a:solidFill>
                  <a:srgbClr val="E6EDF3"/>
                </a:solidFill>
                <a:latin typeface="Inconsolata"/>
              </a:rPr>
              <a:t>              </a:t>
            </a:r>
            <a:r>
              <a:rPr sz="650" i="0">
                <a:solidFill>
                  <a:srgbClr val="82B1FF"/>
                </a:solidFill>
                <a:latin typeface="Inconsolata"/>
              </a:rPr>
              <a:t>port</a:t>
            </a:r>
            <a:r>
              <a:rPr sz="650" i="0">
                <a:solidFill>
                  <a:srgbClr val="E6EDF3"/>
                </a:solidFill>
                <a:latin typeface="Inconsolata"/>
              </a:rPr>
              <a:t>: </a:t>
            </a:r>
            <a:r>
              <a:rPr sz="650" i="0">
                <a:solidFill>
                  <a:srgbClr val="F9C97A"/>
                </a:solidFill>
                <a:latin typeface="Inconsolata"/>
              </a:rPr>
              <a:t>8000</a:t>
            </a:r>
          </a:p>
        </p:txBody>
      </p:sp>
      <p:sp>
        <p:nvSpPr>
          <p:cNvPr id="29" name="Box 12"/>
          <p:cNvSpPr/>
          <p:nvPr/>
        </p:nvSpPr>
        <p:spPr>
          <a:xfrm>
            <a:off x="704088" y="1925320"/>
            <a:ext cx="523036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1854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230120"/>
            <a:ext cx="523036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704088" y="2738120"/>
            <a:ext cx="5230368" cy="501904"/>
          </a:xfrm>
          <a:prstGeom prst="roundRect">
            <a:avLst>
              <a:gd name="adj" fmla="val 9109"/>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3" name="Box 16"/>
          <p:cNvSpPr/>
          <p:nvPr/>
        </p:nvSpPr>
        <p:spPr>
          <a:xfrm>
            <a:off x="5815584" y="2870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4" name="Box 17"/>
          <p:cNvSpPr/>
          <p:nvPr/>
        </p:nvSpPr>
        <p:spPr>
          <a:xfrm>
            <a:off x="704088" y="3246120"/>
            <a:ext cx="5230368" cy="806703"/>
          </a:xfrm>
          <a:prstGeom prst="roundRect">
            <a:avLst>
              <a:gd name="adj" fmla="val 5667"/>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Box 18"/>
          <p:cNvSpPr/>
          <p:nvPr/>
        </p:nvSpPr>
        <p:spPr>
          <a:xfrm>
            <a:off x="5815584" y="35306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6" name="Box 19"/>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Text 20"/>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8" name="Text 21"/>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2 replica, ditolak jika berjalan sebagai root</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Config dan secret lewat </a:t>
            </a:r>
            <a:r>
              <a:rPr sz="900" b="0" i="0">
                <a:solidFill>
                  <a:srgbClr val="B5482A"/>
                </a:solidFill>
                <a:latin typeface="Inconsolata"/>
              </a:rPr>
              <a:t>envFrom</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Probe memakai endpoint health Sesi 9 (contoh 06)</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Tambahkan </a:t>
            </a:r>
            <a:r>
              <a:rPr sz="900" b="0" i="0">
                <a:solidFill>
                  <a:srgbClr val="B5482A"/>
                </a:solidFill>
                <a:latin typeface="Inconsolata"/>
              </a:rPr>
              <a:t>resources</a:t>
            </a:r>
            <a:r>
              <a:rPr sz="900" b="0" i="0">
                <a:solidFill>
                  <a:srgbClr val="434343"/>
                </a:solidFill>
                <a:latin typeface="Inter"/>
              </a:rPr>
              <a:t> dan Service port 80</a:t>
            </a:r>
          </a:p>
        </p:txBody>
      </p:sp>
      <p:sp>
        <p:nvSpPr>
          <p:cNvPr id="39" name="Box 22"/>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0" name="Text 23"/>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41" name="Text 24"/>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Pod baru menerima traffic setelah ready.</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8 dari 10</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k8s/workers.yaml dan dependencies.yaml</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k8s/workers.yaml</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7143"/>
              </a:lnSpc>
              <a:spcAft>
                <a:spcPts val="0"/>
              </a:spcAft>
            </a:pPr>
            <a:r>
              <a:rPr sz="700" i="0">
                <a:solidFill>
                  <a:srgbClr val="82B1FF"/>
                </a:solidFill>
                <a:latin typeface="Inconsolata"/>
              </a:rPr>
              <a:t>kind</a:t>
            </a:r>
            <a:r>
              <a:rPr sz="700" i="0">
                <a:solidFill>
                  <a:srgbClr val="E6EDF3"/>
                </a:solidFill>
                <a:latin typeface="Inconsolata"/>
              </a:rPr>
              <a:t>: Deployment</a:t>
            </a:r>
          </a:p>
          <a:p>
            <a:pPr>
              <a:lnSpc>
                <a:spcPct val="107143"/>
              </a:lnSpc>
              <a:spcAft>
                <a:spcPts val="0"/>
              </a:spcAft>
            </a:pPr>
            <a:r>
              <a:rPr sz="700" i="0">
                <a:solidFill>
                  <a:srgbClr val="82B1FF"/>
                </a:solidFill>
                <a:latin typeface="Inconsolata"/>
              </a:rPr>
              <a:t>metadata</a:t>
            </a:r>
            <a:r>
              <a:rPr sz="700" i="0">
                <a:solidFill>
                  <a:srgbClr val="E6EDF3"/>
                </a:solidFill>
                <a:latin typeface="Inconsolata"/>
              </a:rPr>
              <a:t>:</a:t>
            </a:r>
          </a:p>
          <a:p>
            <a:pPr>
              <a:lnSpc>
                <a:spcPct val="107143"/>
              </a:lnSpc>
              <a:spcAft>
                <a:spcPts val="0"/>
              </a:spcAft>
            </a:pPr>
            <a:r>
              <a:rPr sz="700" i="0">
                <a:solidFill>
                  <a:srgbClr val="E6EDF3"/>
                </a:solidFill>
                <a:latin typeface="Inconsolata"/>
              </a:rPr>
              <a:t>  </a:t>
            </a:r>
            <a:r>
              <a:rPr sz="700" i="0">
                <a:solidFill>
                  <a:srgbClr val="82B1FF"/>
                </a:solidFill>
                <a:latin typeface="Inconsolata"/>
              </a:rPr>
              <a:t>name</a:t>
            </a:r>
            <a:r>
              <a:rPr sz="700" i="0">
                <a:solidFill>
                  <a:srgbClr val="E6EDF3"/>
                </a:solidFill>
                <a:latin typeface="Inconsolata"/>
              </a:rPr>
              <a:t>: order-worker</a:t>
            </a:r>
          </a:p>
          <a:p>
            <a:pPr>
              <a:lnSpc>
                <a:spcPct val="107143"/>
              </a:lnSpc>
              <a:spcAft>
                <a:spcPts val="0"/>
              </a:spcAft>
            </a:pPr>
            <a:r>
              <a:rPr sz="700" i="0">
                <a:solidFill>
                  <a:srgbClr val="E6EDF3"/>
                </a:solidFill>
                <a:latin typeface="Inconsolata"/>
              </a:rPr>
              <a:t>...</a:t>
            </a:r>
          </a:p>
          <a:p>
            <a:pPr>
              <a:lnSpc>
                <a:spcPct val="107143"/>
              </a:lnSpc>
              <a:spcAft>
                <a:spcPts val="0"/>
              </a:spcAft>
            </a:pPr>
            <a:r>
              <a:rPr sz="700" i="0">
                <a:solidFill>
                  <a:srgbClr val="E6EDF3"/>
                </a:solidFill>
                <a:latin typeface="Inconsolata"/>
              </a:rPr>
              <a:t>        - </a:t>
            </a:r>
            <a:r>
              <a:rPr sz="700" i="0">
                <a:solidFill>
                  <a:srgbClr val="82B1FF"/>
                </a:solidFill>
                <a:latin typeface="Inconsolata"/>
              </a:rPr>
              <a:t>name</a:t>
            </a:r>
            <a:r>
              <a:rPr sz="700" i="0">
                <a:solidFill>
                  <a:srgbClr val="E6EDF3"/>
                </a:solidFill>
                <a:latin typeface="Inconsolata"/>
              </a:rPr>
              <a:t>: worker</a:t>
            </a:r>
          </a:p>
          <a:p>
            <a:pPr>
              <a:lnSpc>
                <a:spcPct val="107143"/>
              </a:lnSpc>
              <a:spcAft>
                <a:spcPts val="0"/>
              </a:spcAft>
            </a:pPr>
            <a:r>
              <a:rPr sz="700" i="0">
                <a:solidFill>
                  <a:srgbClr val="E6EDF3"/>
                </a:solidFill>
                <a:latin typeface="Inconsolata"/>
              </a:rPr>
              <a:t>          </a:t>
            </a:r>
            <a:r>
              <a:rPr sz="700" i="0">
                <a:solidFill>
                  <a:srgbClr val="82B1FF"/>
                </a:solidFill>
                <a:latin typeface="Inconsolata"/>
              </a:rPr>
              <a:t>image</a:t>
            </a:r>
            <a:r>
              <a:rPr sz="700" i="0">
                <a:solidFill>
                  <a:srgbClr val="E6EDF3"/>
                </a:solidFill>
                <a:latin typeface="Inconsolata"/>
              </a:rPr>
              <a:t>: order-api:1.0</a:t>
            </a:r>
          </a:p>
          <a:p>
            <a:pPr>
              <a:lnSpc>
                <a:spcPct val="107143"/>
              </a:lnSpc>
              <a:spcAft>
                <a:spcPts val="0"/>
              </a:spcAft>
            </a:pPr>
            <a:r>
              <a:rPr sz="700" i="0">
                <a:solidFill>
                  <a:srgbClr val="E6EDF3"/>
                </a:solidFill>
                <a:latin typeface="Inconsolata"/>
              </a:rPr>
              <a:t>          </a:t>
            </a:r>
            <a:r>
              <a:rPr sz="700" i="0">
                <a:solidFill>
                  <a:srgbClr val="82B1FF"/>
                </a:solidFill>
                <a:latin typeface="Inconsolata"/>
              </a:rPr>
              <a:t>imagePullPolicy</a:t>
            </a:r>
            <a:r>
              <a:rPr sz="700" i="0">
                <a:solidFill>
                  <a:srgbClr val="E6EDF3"/>
                </a:solidFill>
                <a:latin typeface="Inconsolata"/>
              </a:rPr>
              <a:t>: IfNotPresent</a:t>
            </a:r>
          </a:p>
          <a:p>
            <a:pPr>
              <a:lnSpc>
                <a:spcPct val="107143"/>
              </a:lnSpc>
              <a:spcAft>
                <a:spcPts val="0"/>
              </a:spcAft>
            </a:pPr>
            <a:r>
              <a:rPr sz="700" i="0">
                <a:solidFill>
                  <a:srgbClr val="E6EDF3"/>
                </a:solidFill>
                <a:latin typeface="Inconsolata"/>
              </a:rPr>
              <a:t>          </a:t>
            </a:r>
            <a:r>
              <a:rPr sz="700" i="0">
                <a:solidFill>
                  <a:srgbClr val="82B1FF"/>
                </a:solidFill>
                <a:latin typeface="Inconsolata"/>
              </a:rPr>
              <a:t>command</a:t>
            </a:r>
            <a:r>
              <a:rPr sz="700" i="0">
                <a:solidFill>
                  <a:srgbClr val="E6EDF3"/>
                </a:solidFill>
                <a:latin typeface="Inconsolata"/>
              </a:rPr>
              <a:t>: ["celery", "-A", "app.worker.celery_app", "worker", "--loglevel=info"]</a:t>
            </a:r>
          </a:p>
          <a:p>
            <a:pPr>
              <a:lnSpc>
                <a:spcPct val="107143"/>
              </a:lnSpc>
              <a:spcAft>
                <a:spcPts val="0"/>
              </a:spcAft>
            </a:pPr>
            <a:r>
              <a:rPr sz="700" i="0">
                <a:solidFill>
                  <a:srgbClr val="E6EDF3"/>
                </a:solidFill>
                <a:latin typeface="Inconsolata"/>
              </a:rPr>
              <a:t>...</a:t>
            </a:r>
          </a:p>
          <a:p>
            <a:pPr>
              <a:lnSpc>
                <a:spcPct val="107143"/>
              </a:lnSpc>
              <a:spcAft>
                <a:spcPts val="0"/>
              </a:spcAft>
            </a:pPr>
            <a:r>
              <a:rPr sz="700" i="0">
                <a:solidFill>
                  <a:srgbClr val="82B1FF"/>
                </a:solidFill>
                <a:latin typeface="Inconsolata"/>
              </a:rPr>
              <a:t>kind</a:t>
            </a:r>
            <a:r>
              <a:rPr sz="700" i="0">
                <a:solidFill>
                  <a:srgbClr val="E6EDF3"/>
                </a:solidFill>
                <a:latin typeface="Inconsolata"/>
              </a:rPr>
              <a:t>: Deployment</a:t>
            </a:r>
          </a:p>
          <a:p>
            <a:pPr>
              <a:lnSpc>
                <a:spcPct val="107143"/>
              </a:lnSpc>
              <a:spcAft>
                <a:spcPts val="0"/>
              </a:spcAft>
            </a:pPr>
            <a:r>
              <a:rPr sz="700" i="0">
                <a:solidFill>
                  <a:srgbClr val="82B1FF"/>
                </a:solidFill>
                <a:latin typeface="Inconsolata"/>
              </a:rPr>
              <a:t>metadata</a:t>
            </a:r>
            <a:r>
              <a:rPr sz="700" i="0">
                <a:solidFill>
                  <a:srgbClr val="E6EDF3"/>
                </a:solidFill>
                <a:latin typeface="Inconsolata"/>
              </a:rPr>
              <a:t>:</a:t>
            </a:r>
          </a:p>
          <a:p>
            <a:pPr>
              <a:lnSpc>
                <a:spcPct val="107143"/>
              </a:lnSpc>
              <a:spcAft>
                <a:spcPts val="0"/>
              </a:spcAft>
            </a:pPr>
            <a:r>
              <a:rPr sz="700" i="0">
                <a:solidFill>
                  <a:srgbClr val="E6EDF3"/>
                </a:solidFill>
                <a:latin typeface="Inconsolata"/>
              </a:rPr>
              <a:t>  </a:t>
            </a:r>
            <a:r>
              <a:rPr sz="700" i="0">
                <a:solidFill>
                  <a:srgbClr val="82B1FF"/>
                </a:solidFill>
                <a:latin typeface="Inconsolata"/>
              </a:rPr>
              <a:t>name</a:t>
            </a:r>
            <a:r>
              <a:rPr sz="700" i="0">
                <a:solidFill>
                  <a:srgbClr val="E6EDF3"/>
                </a:solidFill>
                <a:latin typeface="Inconsolata"/>
              </a:rPr>
              <a:t>: order-consumer</a:t>
            </a:r>
          </a:p>
          <a:p>
            <a:pPr>
              <a:lnSpc>
                <a:spcPct val="107143"/>
              </a:lnSpc>
              <a:spcAft>
                <a:spcPts val="0"/>
              </a:spcAft>
            </a:pPr>
            <a:r>
              <a:rPr sz="700" i="0">
                <a:solidFill>
                  <a:srgbClr val="E6EDF3"/>
                </a:solidFill>
                <a:latin typeface="Inconsolata"/>
              </a:rPr>
              <a:t>...</a:t>
            </a:r>
          </a:p>
          <a:p>
            <a:pPr>
              <a:lnSpc>
                <a:spcPct val="107143"/>
              </a:lnSpc>
              <a:spcAft>
                <a:spcPts val="0"/>
              </a:spcAft>
            </a:pPr>
            <a:r>
              <a:rPr sz="700" i="0">
                <a:solidFill>
                  <a:srgbClr val="E6EDF3"/>
                </a:solidFill>
                <a:latin typeface="Inconsolata"/>
              </a:rPr>
              <a:t>        - </a:t>
            </a:r>
            <a:r>
              <a:rPr sz="700" i="0">
                <a:solidFill>
                  <a:srgbClr val="82B1FF"/>
                </a:solidFill>
                <a:latin typeface="Inconsolata"/>
              </a:rPr>
              <a:t>name</a:t>
            </a:r>
            <a:r>
              <a:rPr sz="700" i="0">
                <a:solidFill>
                  <a:srgbClr val="E6EDF3"/>
                </a:solidFill>
                <a:latin typeface="Inconsolata"/>
              </a:rPr>
              <a:t>: consumer</a:t>
            </a:r>
          </a:p>
          <a:p>
            <a:pPr>
              <a:lnSpc>
                <a:spcPct val="107143"/>
              </a:lnSpc>
              <a:spcAft>
                <a:spcPts val="0"/>
              </a:spcAft>
            </a:pPr>
            <a:r>
              <a:rPr sz="700" i="0">
                <a:solidFill>
                  <a:srgbClr val="E6EDF3"/>
                </a:solidFill>
                <a:latin typeface="Inconsolata"/>
              </a:rPr>
              <a:t>          </a:t>
            </a:r>
            <a:r>
              <a:rPr sz="700" i="0">
                <a:solidFill>
                  <a:srgbClr val="82B1FF"/>
                </a:solidFill>
                <a:latin typeface="Inconsolata"/>
              </a:rPr>
              <a:t>image</a:t>
            </a:r>
            <a:r>
              <a:rPr sz="700" i="0">
                <a:solidFill>
                  <a:srgbClr val="E6EDF3"/>
                </a:solidFill>
                <a:latin typeface="Inconsolata"/>
              </a:rPr>
              <a:t>: order-api:1.0</a:t>
            </a:r>
          </a:p>
          <a:p>
            <a:pPr>
              <a:lnSpc>
                <a:spcPct val="107143"/>
              </a:lnSpc>
              <a:spcAft>
                <a:spcPts val="0"/>
              </a:spcAft>
            </a:pPr>
            <a:r>
              <a:rPr sz="700" i="0">
                <a:solidFill>
                  <a:srgbClr val="E6EDF3"/>
                </a:solidFill>
                <a:latin typeface="Inconsolata"/>
              </a:rPr>
              <a:t>          </a:t>
            </a:r>
            <a:r>
              <a:rPr sz="700" i="0">
                <a:solidFill>
                  <a:srgbClr val="82B1FF"/>
                </a:solidFill>
                <a:latin typeface="Inconsolata"/>
              </a:rPr>
              <a:t>imagePullPolicy</a:t>
            </a:r>
            <a:r>
              <a:rPr sz="700" i="0">
                <a:solidFill>
                  <a:srgbClr val="E6EDF3"/>
                </a:solidFill>
                <a:latin typeface="Inconsolata"/>
              </a:rPr>
              <a:t>: IfNotPresent</a:t>
            </a:r>
          </a:p>
          <a:p>
            <a:pPr>
              <a:lnSpc>
                <a:spcPct val="107143"/>
              </a:lnSpc>
              <a:spcAft>
                <a:spcPts val="0"/>
              </a:spcAft>
            </a:pPr>
            <a:r>
              <a:rPr sz="700" i="0">
                <a:solidFill>
                  <a:srgbClr val="E6EDF3"/>
                </a:solidFill>
                <a:latin typeface="Inconsolata"/>
              </a:rPr>
              <a:t>          </a:t>
            </a:r>
            <a:r>
              <a:rPr sz="700" i="0">
                <a:solidFill>
                  <a:srgbClr val="82B1FF"/>
                </a:solidFill>
                <a:latin typeface="Inconsolata"/>
              </a:rPr>
              <a:t>command</a:t>
            </a:r>
            <a:r>
              <a:rPr sz="700" i="0">
                <a:solidFill>
                  <a:srgbClr val="E6EDF3"/>
                </a:solidFill>
                <a:latin typeface="Inconsolata"/>
              </a:rPr>
              <a:t>: ["python", "-m", "app.consumers.notification_consumer"]</a:t>
            </a:r>
          </a:p>
        </p:txBody>
      </p:sp>
      <p:sp>
        <p:nvSpPr>
          <p:cNvPr id="29" name="Box 12"/>
          <p:cNvSpPr/>
          <p:nvPr/>
        </p:nvSpPr>
        <p:spPr>
          <a:xfrm>
            <a:off x="704088" y="2053971"/>
            <a:ext cx="5230368" cy="678942"/>
          </a:xfrm>
          <a:prstGeom prst="roundRect">
            <a:avLst>
              <a:gd name="adj" fmla="val 6734"/>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227457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3082671"/>
            <a:ext cx="5230368" cy="678942"/>
          </a:xfrm>
          <a:prstGeom prst="roundRect">
            <a:avLst>
              <a:gd name="adj" fmla="val 6734"/>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330327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Text 17"/>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5" name="Text 18"/>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Worker: image sama, perintah Celery</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Consumer: image sama, perintah consumer</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dependencies.yaml</a:t>
            </a:r>
            <a:r>
              <a:rPr sz="900" b="0" i="0">
                <a:solidFill>
                  <a:srgbClr val="434343"/>
                </a:solidFill>
                <a:latin typeface="Inter"/>
              </a:rPr>
              <a:t>: postgres, redis, rabbitmq untuk cluster latihan</a:t>
            </a:r>
          </a:p>
        </p:txBody>
      </p:sp>
      <p:sp>
        <p:nvSpPr>
          <p:cNvPr id="36" name="Box 19"/>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Text 20"/>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38" name="Text 21"/>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Worker dan consumer tanpa Service.</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9 dari 10</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ruff dan .github/workflows/ci.yml</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pyproject.toml  +  .github/workflows/ci.yml</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2564"/>
              </a:lnSpc>
              <a:spcAft>
                <a:spcPts val="0"/>
              </a:spcAft>
            </a:pPr>
            <a:r>
              <a:rPr sz="650" i="1">
                <a:solidFill>
                  <a:srgbClr val="8B98A8"/>
                </a:solidFill>
                <a:latin typeface="Inconsolata"/>
              </a:rPr>
              <a:t># pyproject.toml</a:t>
            </a:r>
          </a:p>
          <a:p>
            <a:pPr>
              <a:lnSpc>
                <a:spcPct val="102564"/>
              </a:lnSpc>
              <a:spcAft>
                <a:spcPts val="0"/>
              </a:spcAft>
            </a:pPr>
            <a:r>
              <a:rPr sz="650" i="0">
                <a:solidFill>
                  <a:srgbClr val="E6EDF3"/>
                </a:solidFill>
                <a:latin typeface="Inconsolata"/>
              </a:rPr>
              <a:t>[tool.ruff.lint]</a:t>
            </a:r>
          </a:p>
          <a:p>
            <a:pPr>
              <a:lnSpc>
                <a:spcPct val="102564"/>
              </a:lnSpc>
              <a:spcAft>
                <a:spcPts val="0"/>
              </a:spcAft>
            </a:pPr>
            <a:r>
              <a:rPr sz="650" i="0">
                <a:solidFill>
                  <a:srgbClr val="E6EDF3"/>
                </a:solidFill>
                <a:latin typeface="Inconsolata"/>
              </a:rPr>
              <a:t>select = ["E", "F", "I"]</a:t>
            </a:r>
          </a:p>
          <a:p>
            <a:pPr>
              <a:lnSpc>
                <a:spcPct val="102564"/>
              </a:lnSpc>
              <a:spcAft>
                <a:spcPts val="0"/>
              </a:spcAft>
            </a:pPr>
            <a:r>
              <a:rPr sz="650" i="0">
                <a:solidFill>
                  <a:srgbClr val="E6EDF3"/>
                </a:solidFill>
                <a:latin typeface="Inconsolata"/>
              </a:rPr>
              <a:t> </a:t>
            </a:r>
          </a:p>
          <a:p>
            <a:pPr>
              <a:lnSpc>
                <a:spcPct val="102564"/>
              </a:lnSpc>
              <a:spcAft>
                <a:spcPts val="0"/>
              </a:spcAft>
            </a:pPr>
            <a:r>
              <a:rPr sz="650" i="1">
                <a:solidFill>
                  <a:srgbClr val="8B98A8"/>
                </a:solidFill>
                <a:latin typeface="Inconsolata"/>
              </a:rPr>
              <a:t># .github/workflows/ci.yml</a:t>
            </a:r>
          </a:p>
          <a:p>
            <a:pPr>
              <a:lnSpc>
                <a:spcPct val="102564"/>
              </a:lnSpc>
              <a:spcAft>
                <a:spcPts val="0"/>
              </a:spcAft>
            </a:pPr>
            <a:r>
              <a:rPr sz="650" i="0">
                <a:solidFill>
                  <a:srgbClr val="E6EDF3"/>
                </a:solidFill>
                <a:latin typeface="Inconsolata"/>
              </a:rPr>
              <a:t>  </a:t>
            </a:r>
            <a:r>
              <a:rPr sz="650" i="0">
                <a:solidFill>
                  <a:srgbClr val="82B1FF"/>
                </a:solidFill>
                <a:latin typeface="Inconsolata"/>
              </a:rPr>
              <a:t>test</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82B1FF"/>
                </a:solidFill>
                <a:latin typeface="Inconsolata"/>
              </a:rPr>
              <a:t>needs</a:t>
            </a:r>
            <a:r>
              <a:rPr sz="650" i="0">
                <a:solidFill>
                  <a:srgbClr val="E6EDF3"/>
                </a:solidFill>
                <a:latin typeface="Inconsolata"/>
              </a:rPr>
              <a:t>: lint</a:t>
            </a:r>
          </a:p>
          <a:p>
            <a:pPr>
              <a:lnSpc>
                <a:spcPct val="102564"/>
              </a:lnSpc>
              <a:spcAft>
                <a:spcPts val="0"/>
              </a:spcAft>
            </a:pPr>
            <a:r>
              <a:rPr sz="650" i="0">
                <a:solidFill>
                  <a:srgbClr val="E6EDF3"/>
                </a:solidFill>
                <a:latin typeface="Inconsolata"/>
              </a:rPr>
              <a:t>...</a:t>
            </a:r>
          </a:p>
          <a:p>
            <a:pPr>
              <a:lnSpc>
                <a:spcPct val="102564"/>
              </a:lnSpc>
              <a:spcAft>
                <a:spcPts val="0"/>
              </a:spcAft>
            </a:pPr>
            <a:r>
              <a:rPr sz="650" i="0">
                <a:solidFill>
                  <a:srgbClr val="E6EDF3"/>
                </a:solidFill>
                <a:latin typeface="Inconsolata"/>
              </a:rPr>
              <a:t>      - </a:t>
            </a:r>
            <a:r>
              <a:rPr sz="650" i="0">
                <a:solidFill>
                  <a:srgbClr val="82B1FF"/>
                </a:solidFill>
                <a:latin typeface="Inconsolata"/>
              </a:rPr>
              <a:t>run</a:t>
            </a:r>
            <a:r>
              <a:rPr sz="650" i="0">
                <a:solidFill>
                  <a:srgbClr val="E6EDF3"/>
                </a:solidFill>
                <a:latin typeface="Inconsolata"/>
              </a:rPr>
              <a:t>: pip install -r requirements-dev.txt</a:t>
            </a:r>
          </a:p>
          <a:p>
            <a:pPr>
              <a:lnSpc>
                <a:spcPct val="102564"/>
              </a:lnSpc>
              <a:spcAft>
                <a:spcPts val="0"/>
              </a:spcAft>
            </a:pPr>
            <a:r>
              <a:rPr sz="650" i="0">
                <a:solidFill>
                  <a:srgbClr val="E6EDF3"/>
                </a:solidFill>
                <a:latin typeface="Inconsolata"/>
              </a:rPr>
              <a:t>      </a:t>
            </a:r>
            <a:r>
              <a:rPr sz="650" i="1">
                <a:solidFill>
                  <a:srgbClr val="8B98A8"/>
                </a:solidFill>
                <a:latin typeface="Inconsolata"/>
              </a:rPr>
              <a:t># test memakai SQLite dan fakeredis, jadi tidak butuh service tambahan</a:t>
            </a:r>
          </a:p>
          <a:p>
            <a:pPr>
              <a:lnSpc>
                <a:spcPct val="102564"/>
              </a:lnSpc>
              <a:spcAft>
                <a:spcPts val="0"/>
              </a:spcAft>
            </a:pPr>
            <a:r>
              <a:rPr sz="650" i="0">
                <a:solidFill>
                  <a:srgbClr val="E6EDF3"/>
                </a:solidFill>
                <a:latin typeface="Inconsolata"/>
              </a:rPr>
              <a:t>      - </a:t>
            </a:r>
            <a:r>
              <a:rPr sz="650" i="0">
                <a:solidFill>
                  <a:srgbClr val="82B1FF"/>
                </a:solidFill>
                <a:latin typeface="Inconsolata"/>
              </a:rPr>
              <a:t>run</a:t>
            </a:r>
            <a:r>
              <a:rPr sz="650" i="0">
                <a:solidFill>
                  <a:srgbClr val="E6EDF3"/>
                </a:solidFill>
                <a:latin typeface="Inconsolata"/>
              </a:rPr>
              <a:t>: pytest -q</a:t>
            </a:r>
          </a:p>
          <a:p>
            <a:pPr>
              <a:lnSpc>
                <a:spcPct val="102564"/>
              </a:lnSpc>
              <a:spcAft>
                <a:spcPts val="0"/>
              </a:spcAft>
            </a:pPr>
            <a:r>
              <a:rPr sz="650" i="0">
                <a:solidFill>
                  <a:srgbClr val="E6EDF3"/>
                </a:solidFill>
                <a:latin typeface="Inconsolata"/>
              </a:rPr>
              <a:t> </a:t>
            </a:r>
          </a:p>
          <a:p>
            <a:pPr>
              <a:lnSpc>
                <a:spcPct val="102564"/>
              </a:lnSpc>
              <a:spcAft>
                <a:spcPts val="0"/>
              </a:spcAft>
            </a:pPr>
            <a:r>
              <a:rPr sz="650" i="0">
                <a:solidFill>
                  <a:srgbClr val="E6EDF3"/>
                </a:solidFill>
                <a:latin typeface="Inconsolata"/>
              </a:rPr>
              <a:t>  </a:t>
            </a:r>
            <a:r>
              <a:rPr sz="650" i="0">
                <a:solidFill>
                  <a:srgbClr val="82B1FF"/>
                </a:solidFill>
                <a:latin typeface="Inconsolata"/>
              </a:rPr>
              <a:t>build-scan</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82B1FF"/>
                </a:solidFill>
                <a:latin typeface="Inconsolata"/>
              </a:rPr>
              <a:t>needs</a:t>
            </a:r>
            <a:r>
              <a:rPr sz="650" i="0">
                <a:solidFill>
                  <a:srgbClr val="E6EDF3"/>
                </a:solidFill>
                <a:latin typeface="Inconsolata"/>
              </a:rPr>
              <a:t>: test</a:t>
            </a:r>
          </a:p>
          <a:p>
            <a:pPr>
              <a:lnSpc>
                <a:spcPct val="102564"/>
              </a:lnSpc>
              <a:spcAft>
                <a:spcPts val="0"/>
              </a:spcAft>
            </a:pPr>
            <a:r>
              <a:rPr sz="650" i="0">
                <a:solidFill>
                  <a:srgbClr val="E6EDF3"/>
                </a:solidFill>
                <a:latin typeface="Inconsolata"/>
              </a:rPr>
              <a:t>...</a:t>
            </a:r>
          </a:p>
          <a:p>
            <a:pPr>
              <a:lnSpc>
                <a:spcPct val="102564"/>
              </a:lnSpc>
              <a:spcAft>
                <a:spcPts val="0"/>
              </a:spcAft>
            </a:pPr>
            <a:r>
              <a:rPr sz="650" i="0">
                <a:solidFill>
                  <a:srgbClr val="E6EDF3"/>
                </a:solidFill>
                <a:latin typeface="Inconsolata"/>
              </a:rPr>
              <a:t>      - </a:t>
            </a:r>
            <a:r>
              <a:rPr sz="650" i="0">
                <a:solidFill>
                  <a:srgbClr val="82B1FF"/>
                </a:solidFill>
                <a:latin typeface="Inconsolata"/>
              </a:rPr>
              <a:t>run</a:t>
            </a:r>
            <a:r>
              <a:rPr sz="650" i="0">
                <a:solidFill>
                  <a:srgbClr val="E6EDF3"/>
                </a:solidFill>
                <a:latin typeface="Inconsolata"/>
              </a:rPr>
              <a:t>: docker build -t order-api:${{ github.sha }} .</a:t>
            </a:r>
          </a:p>
          <a:p>
            <a:pPr>
              <a:lnSpc>
                <a:spcPct val="102564"/>
              </a:lnSpc>
              <a:spcAft>
                <a:spcPts val="0"/>
              </a:spcAft>
            </a:pP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82B1FF"/>
                </a:solidFill>
                <a:latin typeface="Inconsolata"/>
              </a:rPr>
              <a:t>publish</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82B1FF"/>
                </a:solidFill>
                <a:latin typeface="Inconsolata"/>
              </a:rPr>
              <a:t>needs</a:t>
            </a:r>
            <a:r>
              <a:rPr sz="650" i="0">
                <a:solidFill>
                  <a:srgbClr val="E6EDF3"/>
                </a:solidFill>
                <a:latin typeface="Inconsolata"/>
              </a:rPr>
              <a:t>: build-scan</a:t>
            </a:r>
          </a:p>
          <a:p>
            <a:pPr>
              <a:lnSpc>
                <a:spcPct val="102564"/>
              </a:lnSpc>
              <a:spcAft>
                <a:spcPts val="0"/>
              </a:spcAft>
            </a:pPr>
            <a:r>
              <a:rPr sz="650" i="0">
                <a:solidFill>
                  <a:srgbClr val="E6EDF3"/>
                </a:solidFill>
                <a:latin typeface="Inconsolata"/>
              </a:rPr>
              <a:t>    </a:t>
            </a:r>
            <a:r>
              <a:rPr sz="650" i="0">
                <a:solidFill>
                  <a:srgbClr val="82B1FF"/>
                </a:solidFill>
                <a:latin typeface="Inconsolata"/>
              </a:rPr>
              <a:t>if</a:t>
            </a:r>
            <a:r>
              <a:rPr sz="650" i="0">
                <a:solidFill>
                  <a:srgbClr val="E6EDF3"/>
                </a:solidFill>
                <a:latin typeface="Inconsolata"/>
              </a:rPr>
              <a:t>: github.ref == 'refs/heads/main'</a:t>
            </a:r>
          </a:p>
          <a:p>
            <a:pPr>
              <a:lnSpc>
                <a:spcPct val="102564"/>
              </a:lnSpc>
              <a:spcAft>
                <a:spcPts val="0"/>
              </a:spcAft>
            </a:pP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82B1FF"/>
                </a:solidFill>
                <a:latin typeface="Inconsolata"/>
              </a:rPr>
              <a:t>tags</a:t>
            </a:r>
            <a:r>
              <a:rPr sz="650" i="0">
                <a:solidFill>
                  <a:srgbClr val="E6EDF3"/>
                </a:solidFill>
                <a:latin typeface="Inconsolata"/>
              </a:rPr>
              <a:t>: |</a:t>
            </a:r>
          </a:p>
          <a:p>
            <a:pPr>
              <a:lnSpc>
                <a:spcPct val="102564"/>
              </a:lnSpc>
              <a:spcAft>
                <a:spcPts val="0"/>
              </a:spcAft>
            </a:pPr>
            <a:r>
              <a:rPr sz="650" i="0">
                <a:solidFill>
                  <a:srgbClr val="E6EDF3"/>
                </a:solidFill>
                <a:latin typeface="Inconsolata"/>
              </a:rPr>
              <a:t>            ghcr.io/${{ github.repository }}/order-api:${{ github.sha }}</a:t>
            </a:r>
          </a:p>
        </p:txBody>
      </p:sp>
      <p:sp>
        <p:nvSpPr>
          <p:cNvPr id="29" name="Box 12"/>
          <p:cNvSpPr/>
          <p:nvPr/>
        </p:nvSpPr>
        <p:spPr>
          <a:xfrm>
            <a:off x="704088" y="2026920"/>
            <a:ext cx="523036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19558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636520"/>
            <a:ext cx="5230368" cy="298704"/>
          </a:xfrm>
          <a:prstGeom prst="roundRect">
            <a:avLst>
              <a:gd name="adj" fmla="val 15306"/>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26670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3042920"/>
            <a:ext cx="5230368" cy="400304"/>
          </a:xfrm>
          <a:prstGeom prst="roundRect">
            <a:avLst>
              <a:gd name="adj" fmla="val 11421"/>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815584" y="3124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704088" y="3550920"/>
            <a:ext cx="5230368" cy="603503"/>
          </a:xfrm>
          <a:prstGeom prst="roundRect">
            <a:avLst>
              <a:gd name="adj" fmla="val 7575"/>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Box 19"/>
          <p:cNvSpPr/>
          <p:nvPr/>
        </p:nvSpPr>
        <p:spPr>
          <a:xfrm>
            <a:off x="5815584" y="37338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4</a:t>
            </a:r>
          </a:p>
        </p:txBody>
      </p:sp>
      <p:sp>
        <p:nvSpPr>
          <p:cNvPr id="37" name="Box 20"/>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8" name="Text 21"/>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9" name="Text 22"/>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Aturan lint ruff</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Test tanpa PostgreSQL dan Redis</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Build dan scan image (contoh 07)</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Publish ke ghcr.io, tag = commit sha</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Jalankan </a:t>
            </a:r>
            <a:r>
              <a:rPr sz="900" b="0" i="0">
                <a:solidFill>
                  <a:srgbClr val="B5482A"/>
                </a:solidFill>
                <a:latin typeface="Inconsolata"/>
              </a:rPr>
              <a:t>ruff check . --fix</a:t>
            </a:r>
            <a:r>
              <a:rPr sz="900" b="0" i="0">
                <a:solidFill>
                  <a:srgbClr val="434343"/>
                </a:solidFill>
                <a:latin typeface="Inter"/>
              </a:rPr>
              <a:t>, rapikan sisa temuannya</a:t>
            </a:r>
          </a:p>
        </p:txBody>
      </p:sp>
      <p:sp>
        <p:nvSpPr>
          <p:cNvPr id="40" name="Box 23"/>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Text 24"/>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42" name="Text 25"/>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Salin ke root repository project.</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10 dari 10</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Deploy ke Kubernetes</a:t>
            </a:r>
          </a:p>
        </p:txBody>
      </p:sp>
      <p:pic>
        <p:nvPicPr>
          <p:cNvPr id="22" name="Image 3" descr="s11-k8s-apply.png"/>
          <p:cNvPicPr>
            <a:picLocks noChangeAspect="1"/>
          </p:cNvPicPr>
          <p:nvPr/>
        </p:nvPicPr>
        <p:blipFill>
          <a:blip r:embed="rId2"/>
          <a:stretch>
            <a:fillRect/>
          </a:stretch>
        </p:blipFill>
        <p:spPr>
          <a:xfrm>
            <a:off x="621792" y="1481328"/>
            <a:ext cx="5027284" cy="3218688"/>
          </a:xfrm>
          <a:prstGeom prst="rect">
            <a:avLst/>
          </a:prstGeom>
          <a:ln w="9525">
            <a:solidFill>
              <a:srgbClr val="D0D5DD"/>
            </a:solidFill>
          </a:ln>
        </p:spPr>
      </p:pic>
      <p:sp>
        <p:nvSpPr>
          <p:cNvPr id="23" name="Text 4"/>
          <p:cNvSpPr txBox="1"/>
          <p:nvPr/>
        </p:nvSpPr>
        <p:spPr>
          <a:xfrm>
            <a:off x="5877676" y="1481328"/>
            <a:ext cx="2607955" cy="320040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Yang dikerjakan</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docker build -t order-api:1.0 .</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kind load docker-image order-api:1.0</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kubectl apply -f k8s/</a:t>
            </a:r>
          </a:p>
          <a:p>
            <a:pPr algn="l">
              <a:lnSpc>
                <a:spcPct val="115000"/>
              </a:lnSpc>
              <a:spcAft>
                <a:spcPts val="0"/>
              </a:spcAft>
            </a:pPr>
            <a:endParaRPr sz="900" b="0" i="0">
              <a:solidFill>
                <a:srgbClr val="B5482A"/>
              </a:solidFill>
              <a:latin typeface="Inconsolata"/>
            </a:endParaRPr>
          </a:p>
          <a:p>
            <a:pPr algn="l">
              <a:lnSpc>
                <a:spcPct val="115000"/>
              </a:lnSpc>
              <a:spcAft>
                <a:spcPts val="400"/>
              </a:spcAft>
            </a:pPr>
            <a:r>
              <a:rPr sz="900" b="0" i="0">
                <a:solidFill>
                  <a:srgbClr val="434343"/>
                </a:solidFill>
                <a:latin typeface="Inter"/>
              </a:rPr>
              <a:t>Semua pod Running. Consumer bisa restart beberapa kali sampai RabbitMQ siap.</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10 dari 10</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Cek API di Kubernetes dan Langkah CI</a:t>
            </a:r>
          </a:p>
        </p:txBody>
      </p:sp>
      <p:pic>
        <p:nvPicPr>
          <p:cNvPr id="22" name="Image 3" descr="s11-k8s-test.png"/>
          <p:cNvPicPr>
            <a:picLocks noChangeAspect="1"/>
          </p:cNvPicPr>
          <p:nvPr/>
        </p:nvPicPr>
        <p:blipFill>
          <a:blip r:embed="rId2"/>
          <a:stretch>
            <a:fillRect/>
          </a:stretch>
        </p:blipFill>
        <p:spPr>
          <a:xfrm>
            <a:off x="621792" y="1481328"/>
            <a:ext cx="5361709" cy="1197448"/>
          </a:xfrm>
          <a:prstGeom prst="rect">
            <a:avLst/>
          </a:prstGeom>
          <a:ln w="9525">
            <a:solidFill>
              <a:srgbClr val="D0D5DD"/>
            </a:solidFill>
          </a:ln>
        </p:spPr>
      </p:pic>
      <p:pic>
        <p:nvPicPr>
          <p:cNvPr id="23" name="Image 4" descr="s11-ci-local.png"/>
          <p:cNvPicPr>
            <a:picLocks noChangeAspect="1"/>
          </p:cNvPicPr>
          <p:nvPr/>
        </p:nvPicPr>
        <p:blipFill>
          <a:blip r:embed="rId3"/>
          <a:stretch>
            <a:fillRect/>
          </a:stretch>
        </p:blipFill>
        <p:spPr>
          <a:xfrm>
            <a:off x="621792" y="2788504"/>
            <a:ext cx="5361709" cy="1377835"/>
          </a:xfrm>
          <a:prstGeom prst="rect">
            <a:avLst/>
          </a:prstGeom>
          <a:ln w="9525">
            <a:solidFill>
              <a:srgbClr val="D0D5DD"/>
            </a:solidFill>
          </a:ln>
        </p:spPr>
      </p:pic>
      <p:sp>
        <p:nvSpPr>
          <p:cNvPr id="24" name="Text 5"/>
          <p:cNvSpPr txBox="1"/>
          <p:nvPr/>
        </p:nvSpPr>
        <p:spPr>
          <a:xfrm>
            <a:off x="6212101" y="1481328"/>
            <a:ext cx="2273530" cy="320040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Yang terlihat</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User dibuat lewat </a:t>
            </a:r>
            <a:r>
              <a:rPr sz="900" b="0" i="0">
                <a:solidFill>
                  <a:srgbClr val="B5482A"/>
                </a:solidFill>
                <a:latin typeface="Inconsolata"/>
              </a:rPr>
              <a:t>kubectl exec</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Readiness ok, login lewat Service berhasil</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/docs</a:t>
            </a:r>
            <a:r>
              <a:rPr sz="900" b="0" i="0">
                <a:solidFill>
                  <a:srgbClr val="434343"/>
                </a:solidFill>
                <a:latin typeface="Inter"/>
              </a:rPr>
              <a:t> 404 karena </a:t>
            </a:r>
            <a:r>
              <a:rPr sz="900" b="0" i="0">
                <a:solidFill>
                  <a:srgbClr val="B5482A"/>
                </a:solidFill>
                <a:latin typeface="Inconsolata"/>
              </a:rPr>
              <a:t>ENV=production</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ruff dan pytest hijau, siap untuk CI</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Cek Kriteria Selesai</a:t>
            </a:r>
          </a:p>
        </p:txBody>
      </p:sp>
      <p:graphicFrame>
        <p:nvGraphicFramePr>
          <p:cNvPr id="22" name="Table 3"/>
          <p:cNvGraphicFramePr>
            <a:graphicFrameLocks noGrp="1"/>
          </p:cNvGraphicFramePr>
          <p:nvPr/>
        </p:nvGraphicFramePr>
        <p:xfrm>
          <a:off x="621792" y="1481328"/>
          <a:ext cx="7863840" cy="2880360"/>
        </p:xfrm>
        <a:graphic>
          <a:graphicData uri="http://schemas.openxmlformats.org/drawingml/2006/table">
            <a:tbl>
              <a:tblPr firstRow="1" bandRow="1"/>
              <a:tblGrid>
                <a:gridCol w="292608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tblGrid>
              <a:tr h="411480">
                <a:tc>
                  <a:txBody>
                    <a:bodyPr/>
                    <a:lstStyle/>
                    <a:p>
                      <a:pPr algn="l">
                        <a:lnSpc>
                          <a:spcPct val="100000"/>
                        </a:lnSpc>
                        <a:spcAft>
                          <a:spcPts val="0"/>
                        </a:spcAft>
                      </a:pPr>
                      <a:r>
                        <a:rPr sz="900" b="1" i="0">
                          <a:solidFill>
                            <a:srgbClr val="FFFFFF"/>
                          </a:solidFill>
                          <a:latin typeface="Inter"/>
                        </a:rPr>
                        <a:t>Kriteria</a:t>
                      </a:r>
                    </a:p>
                  </a:txBody>
                  <a:tcPr marL="73152" marR="73152" marT="36576" marB="36576" anchor="ctr">
                    <a:solidFill>
                      <a:srgbClr val="1C4587"/>
                    </a:solidFill>
                  </a:tcPr>
                </a:tc>
                <a:tc>
                  <a:txBody>
                    <a:bodyPr/>
                    <a:lstStyle/>
                    <a:p>
                      <a:pPr algn="l">
                        <a:lnSpc>
                          <a:spcPct val="100000"/>
                        </a:lnSpc>
                        <a:spcAft>
                          <a:spcPts val="0"/>
                        </a:spcAft>
                      </a:pPr>
                      <a:r>
                        <a:rPr sz="900" b="1" i="0">
                          <a:solidFill>
                            <a:srgbClr val="FFFFFF"/>
                          </a:solidFill>
                          <a:latin typeface="Inter"/>
                        </a:rPr>
                        <a:t>Cara mengecek</a:t>
                      </a:r>
                    </a:p>
                  </a:txBody>
                  <a:tcPr marL="73152" marR="73152" marT="36576" marB="36576" anchor="ctr">
                    <a:solidFill>
                      <a:srgbClr val="1C4587"/>
                    </a:solidFill>
                  </a:tcPr>
                </a:tc>
                <a:extLst>
                  <a:ext uri="{0D108BD9-81ED-4DB2-BD59-A6C34878D82A}">
                    <a16:rowId xmlns:a16="http://schemas.microsoft.com/office/drawing/2014/main" val="10000"/>
                  </a:ext>
                </a:extLst>
              </a:tr>
              <a:tr h="411480">
                <a:tc>
                  <a:txBody>
                    <a:bodyPr/>
                    <a:lstStyle/>
                    <a:p>
                      <a:pPr algn="l">
                        <a:lnSpc>
                          <a:spcPct val="100000"/>
                        </a:lnSpc>
                        <a:spcAft>
                          <a:spcPts val="0"/>
                        </a:spcAft>
                      </a:pPr>
                      <a:r>
                        <a:rPr sz="900" b="1" i="0">
                          <a:solidFill>
                            <a:srgbClr val="1C4587"/>
                          </a:solidFill>
                          <a:latin typeface="Inter"/>
                        </a:rPr>
                        <a:t>Image tanpa root, .env, dan tests</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docker run --rm order-api:1.0 sh -c "whoami; ls -a /app"</a:t>
                      </a:r>
                    </a:p>
                  </a:txBody>
                  <a:tcPr marL="73152" marR="73152" marT="36576" marB="36576" anchor="ctr">
                    <a:solidFill>
                      <a:srgbClr val="FFFFFF"/>
                    </a:solidFill>
                  </a:tcPr>
                </a:tc>
                <a:extLst>
                  <a:ext uri="{0D108BD9-81ED-4DB2-BD59-A6C34878D82A}">
                    <a16:rowId xmlns:a16="http://schemas.microsoft.com/office/drawing/2014/main" val="10001"/>
                  </a:ext>
                </a:extLst>
              </a:tr>
              <a:tr h="411480">
                <a:tc>
                  <a:txBody>
                    <a:bodyPr/>
                    <a:lstStyle/>
                    <a:p>
                      <a:pPr algn="l">
                        <a:lnSpc>
                          <a:spcPct val="100000"/>
                        </a:lnSpc>
                        <a:spcAft>
                          <a:spcPts val="0"/>
                        </a:spcAft>
                      </a:pPr>
                      <a:r>
                        <a:rPr sz="900" b="1" i="0">
                          <a:solidFill>
                            <a:srgbClr val="1C4587"/>
                          </a:solidFill>
                          <a:latin typeface="Inter"/>
                        </a:rPr>
                        <a:t>Compose: semua service healthy</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docker compose ps</a:t>
                      </a:r>
                    </a:p>
                  </a:txBody>
                  <a:tcPr marL="73152" marR="73152" marT="36576" marB="36576" anchor="ctr">
                    <a:solidFill>
                      <a:srgbClr val="F3F4F6"/>
                    </a:solidFill>
                  </a:tcPr>
                </a:tc>
                <a:extLst>
                  <a:ext uri="{0D108BD9-81ED-4DB2-BD59-A6C34878D82A}">
                    <a16:rowId xmlns:a16="http://schemas.microsoft.com/office/drawing/2014/main" val="10002"/>
                  </a:ext>
                </a:extLst>
              </a:tr>
              <a:tr h="411480">
                <a:tc>
                  <a:txBody>
                    <a:bodyPr/>
                    <a:lstStyle/>
                    <a:p>
                      <a:pPr algn="l">
                        <a:lnSpc>
                          <a:spcPct val="100000"/>
                        </a:lnSpc>
                        <a:spcAft>
                          <a:spcPts val="0"/>
                        </a:spcAft>
                      </a:pPr>
                      <a:r>
                        <a:rPr sz="900" b="1" i="0">
                          <a:solidFill>
                            <a:srgbClr val="1C4587"/>
                          </a:solidFill>
                          <a:latin typeface="Inter"/>
                        </a:rPr>
                        <a:t>Login, order, report di container</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Swagger /docs atau curl, lalu docker compose logs worker consumer</a:t>
                      </a:r>
                    </a:p>
                  </a:txBody>
                  <a:tcPr marL="73152" marR="73152" marT="36576" marB="36576" anchor="ctr">
                    <a:solidFill>
                      <a:srgbClr val="FFFFFF"/>
                    </a:solidFill>
                  </a:tcPr>
                </a:tc>
                <a:extLst>
                  <a:ext uri="{0D108BD9-81ED-4DB2-BD59-A6C34878D82A}">
                    <a16:rowId xmlns:a16="http://schemas.microsoft.com/office/drawing/2014/main" val="10003"/>
                  </a:ext>
                </a:extLst>
              </a:tr>
              <a:tr h="411480">
                <a:tc>
                  <a:txBody>
                    <a:bodyPr/>
                    <a:lstStyle/>
                    <a:p>
                      <a:pPr algn="l">
                        <a:lnSpc>
                          <a:spcPct val="100000"/>
                        </a:lnSpc>
                        <a:spcAft>
                          <a:spcPts val="0"/>
                        </a:spcAft>
                      </a:pPr>
                      <a:r>
                        <a:rPr sz="900" b="1" i="0">
                          <a:solidFill>
                            <a:srgbClr val="1C4587"/>
                          </a:solidFill>
                          <a:latin typeface="Inter"/>
                        </a:rPr>
                        <a:t>2 pod API Ready di Kubernetes</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kubectl get pods</a:t>
                      </a:r>
                    </a:p>
                  </a:txBody>
                  <a:tcPr marL="73152" marR="73152" marT="36576" marB="36576" anchor="ctr">
                    <a:solidFill>
                      <a:srgbClr val="F3F4F6"/>
                    </a:solidFill>
                  </a:tcPr>
                </a:tc>
                <a:extLst>
                  <a:ext uri="{0D108BD9-81ED-4DB2-BD59-A6C34878D82A}">
                    <a16:rowId xmlns:a16="http://schemas.microsoft.com/office/drawing/2014/main" val="10004"/>
                  </a:ext>
                </a:extLst>
              </a:tr>
              <a:tr h="411480">
                <a:tc>
                  <a:txBody>
                    <a:bodyPr/>
                    <a:lstStyle/>
                    <a:p>
                      <a:pPr algn="l">
                        <a:lnSpc>
                          <a:spcPct val="100000"/>
                        </a:lnSpc>
                        <a:spcAft>
                          <a:spcPts val="0"/>
                        </a:spcAft>
                      </a:pPr>
                      <a:r>
                        <a:rPr sz="900" b="1" i="0">
                          <a:solidFill>
                            <a:srgbClr val="1C4587"/>
                          </a:solidFill>
                          <a:latin typeface="Inter"/>
                        </a:rPr>
                        <a:t>Workflow CI lengkap</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Push ke GitHub, buka tab Actions</a:t>
                      </a:r>
                    </a:p>
                  </a:txBody>
                  <a:tcPr marL="73152" marR="73152" marT="36576" marB="36576" anchor="ctr">
                    <a:solidFill>
                      <a:srgbClr val="FFFFFF"/>
                    </a:solidFill>
                  </a:tcPr>
                </a:tc>
                <a:extLst>
                  <a:ext uri="{0D108BD9-81ED-4DB2-BD59-A6C34878D82A}">
                    <a16:rowId xmlns:a16="http://schemas.microsoft.com/office/drawing/2014/main" val="10005"/>
                  </a:ext>
                </a:extLst>
              </a:tr>
              <a:tr h="411480">
                <a:tc>
                  <a:txBody>
                    <a:bodyPr/>
                    <a:lstStyle/>
                    <a:p>
                      <a:pPr algn="l">
                        <a:lnSpc>
                          <a:spcPct val="100000"/>
                        </a:lnSpc>
                        <a:spcAft>
                          <a:spcPts val="0"/>
                        </a:spcAft>
                      </a:pPr>
                      <a:r>
                        <a:rPr sz="900" b="1" i="0">
                          <a:solidFill>
                            <a:srgbClr val="1C4587"/>
                          </a:solidFill>
                          <a:latin typeface="Inter"/>
                        </a:rPr>
                        <a:t>ruff dan pytest hijau</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ruff check . dan pytest -q</a:t>
                      </a:r>
                    </a:p>
                  </a:txBody>
                  <a:tcPr marL="73152" marR="73152" marT="36576" marB="36576" anchor="ctr">
                    <a:solidFill>
                      <a:srgbClr val="F3F4F6"/>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Alur Kode sampai Berjalan di Cluster</a:t>
            </a:r>
          </a:p>
        </p:txBody>
      </p:sp>
      <p:sp>
        <p:nvSpPr>
          <p:cNvPr id="22" name="CodeTab 4"/>
          <p:cNvSpPr/>
          <p:nvPr/>
        </p:nvSpPr>
        <p:spPr>
          <a:xfrm>
            <a:off x="621792" y="1481328"/>
            <a:ext cx="525780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61772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latihan/: ci.yml → Dockerfile → k8s/api.yaml</a:t>
            </a:r>
          </a:p>
        </p:txBody>
      </p:sp>
      <p:sp>
        <p:nvSpPr>
          <p:cNvPr id="27" name="CodeBg 10"/>
          <p:cNvSpPr/>
          <p:nvPr/>
        </p:nvSpPr>
        <p:spPr>
          <a:xfrm>
            <a:off x="621792" y="1719072"/>
            <a:ext cx="525780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257800" cy="2980944"/>
          </a:xfrm>
          <a:prstGeom prst="rect">
            <a:avLst/>
          </a:prstGeom>
          <a:noFill/>
        </p:spPr>
        <p:txBody>
          <a:bodyPr wrap="none" lIns="146304" tIns="91440" rIns="146304" bIns="54864">
            <a:spAutoFit/>
          </a:bodyPr>
          <a:lstStyle/>
          <a:p>
            <a:pPr>
              <a:lnSpc>
                <a:spcPct val="110294"/>
              </a:lnSpc>
              <a:spcAft>
                <a:spcPts val="0"/>
              </a:spcAft>
            </a:pPr>
            <a:r>
              <a:rPr sz="680" i="1">
                <a:solidFill>
                  <a:srgbClr val="8B98A8"/>
                </a:solidFill>
                <a:latin typeface="Inconsolata"/>
              </a:rPr>
              <a:t># .github/workflows/ci.yml</a:t>
            </a:r>
          </a:p>
          <a:p>
            <a:pPr>
              <a:lnSpc>
                <a:spcPct val="110294"/>
              </a:lnSpc>
              <a:spcAft>
                <a:spcPts val="0"/>
              </a:spcAft>
            </a:pPr>
            <a:r>
              <a:rPr sz="680" i="0">
                <a:solidFill>
                  <a:srgbClr val="E6EDF3"/>
                </a:solidFill>
                <a:latin typeface="Inconsolata"/>
              </a:rPr>
              <a:t>on:</a:t>
            </a:r>
          </a:p>
          <a:p>
            <a:pPr>
              <a:lnSpc>
                <a:spcPct val="110294"/>
              </a:lnSpc>
              <a:spcAft>
                <a:spcPts val="0"/>
              </a:spcAft>
            </a:pPr>
            <a:r>
              <a:rPr sz="680" i="0">
                <a:solidFill>
                  <a:srgbClr val="E6EDF3"/>
                </a:solidFill>
                <a:latin typeface="Inconsolata"/>
              </a:rPr>
              <a:t>  pull_request:</a:t>
            </a:r>
          </a:p>
          <a:p>
            <a:pPr>
              <a:lnSpc>
                <a:spcPct val="110294"/>
              </a:lnSpc>
              <a:spcAft>
                <a:spcPts val="0"/>
              </a:spcAft>
            </a:pPr>
            <a:r>
              <a:rPr sz="680" i="0">
                <a:solidFill>
                  <a:srgbClr val="E6EDF3"/>
                </a:solidFill>
                <a:latin typeface="Inconsolata"/>
              </a:rPr>
              <a:t>...</a:t>
            </a:r>
          </a:p>
          <a:p>
            <a:pPr>
              <a:lnSpc>
                <a:spcPct val="110294"/>
              </a:lnSpc>
              <a:spcAft>
                <a:spcPts val="0"/>
              </a:spcAft>
            </a:pPr>
            <a:r>
              <a:rPr sz="680" i="0">
                <a:solidFill>
                  <a:srgbClr val="E6EDF3"/>
                </a:solidFill>
                <a:latin typeface="Inconsolata"/>
              </a:rPr>
              <a:t>      - run: ruff check .</a:t>
            </a:r>
          </a:p>
          <a:p>
            <a:pPr>
              <a:lnSpc>
                <a:spcPct val="110294"/>
              </a:lnSpc>
              <a:spcAft>
                <a:spcPts val="0"/>
              </a:spcAft>
            </a:pPr>
            <a:r>
              <a:rPr sz="680" i="0">
                <a:solidFill>
                  <a:srgbClr val="E6EDF3"/>
                </a:solidFill>
                <a:latin typeface="Inconsolata"/>
              </a:rPr>
              <a:t>...</a:t>
            </a:r>
          </a:p>
          <a:p>
            <a:pPr>
              <a:lnSpc>
                <a:spcPct val="110294"/>
              </a:lnSpc>
              <a:spcAft>
                <a:spcPts val="0"/>
              </a:spcAft>
            </a:pPr>
            <a:r>
              <a:rPr sz="680" i="0">
                <a:solidFill>
                  <a:srgbClr val="E6EDF3"/>
                </a:solidFill>
                <a:latin typeface="Inconsolata"/>
              </a:rPr>
              <a:t>      - run: pytest -q</a:t>
            </a:r>
          </a:p>
          <a:p>
            <a:pPr>
              <a:lnSpc>
                <a:spcPct val="110294"/>
              </a:lnSpc>
              <a:spcAft>
                <a:spcPts val="0"/>
              </a:spcAft>
            </a:pPr>
            <a:r>
              <a:rPr sz="680" i="0">
                <a:solidFill>
                  <a:srgbClr val="E6EDF3"/>
                </a:solidFill>
                <a:latin typeface="Inconsolata"/>
              </a:rPr>
              <a:t>...</a:t>
            </a:r>
          </a:p>
          <a:p>
            <a:pPr>
              <a:lnSpc>
                <a:spcPct val="110294"/>
              </a:lnSpc>
              <a:spcAft>
                <a:spcPts val="0"/>
              </a:spcAft>
            </a:pPr>
            <a:r>
              <a:rPr sz="680" i="0">
                <a:solidFill>
                  <a:srgbClr val="E6EDF3"/>
                </a:solidFill>
                <a:latin typeface="Inconsolata"/>
              </a:rPr>
              <a:t>      - run: docker build -t order-api:${{ github.sha }} .</a:t>
            </a:r>
          </a:p>
          <a:p>
            <a:pPr>
              <a:lnSpc>
                <a:spcPct val="110294"/>
              </a:lnSpc>
              <a:spcAft>
                <a:spcPts val="0"/>
              </a:spcAft>
            </a:pPr>
            <a:r>
              <a:rPr sz="680" i="0">
                <a:solidFill>
                  <a:srgbClr val="E6EDF3"/>
                </a:solidFill>
                <a:latin typeface="Inconsolata"/>
              </a:rPr>
              <a:t>...</a:t>
            </a:r>
          </a:p>
          <a:p>
            <a:pPr>
              <a:lnSpc>
                <a:spcPct val="110294"/>
              </a:lnSpc>
              <a:spcAft>
                <a:spcPts val="0"/>
              </a:spcAft>
            </a:pPr>
            <a:r>
              <a:rPr sz="680" i="0">
                <a:solidFill>
                  <a:srgbClr val="E6EDF3"/>
                </a:solidFill>
                <a:latin typeface="Inconsolata"/>
              </a:rPr>
              <a:t>          image-ref: order-api:${{ github.sha }}</a:t>
            </a:r>
          </a:p>
          <a:p>
            <a:pPr>
              <a:lnSpc>
                <a:spcPct val="110294"/>
              </a:lnSpc>
              <a:spcAft>
                <a:spcPts val="0"/>
              </a:spcAft>
            </a:pPr>
            <a:r>
              <a:rPr sz="680" i="0">
                <a:solidFill>
                  <a:srgbClr val="E6EDF3"/>
                </a:solidFill>
                <a:latin typeface="Inconsolata"/>
              </a:rPr>
              <a:t>...</a:t>
            </a:r>
          </a:p>
          <a:p>
            <a:pPr>
              <a:lnSpc>
                <a:spcPct val="110294"/>
              </a:lnSpc>
              <a:spcAft>
                <a:spcPts val="0"/>
              </a:spcAft>
            </a:pPr>
            <a:r>
              <a:rPr sz="680" i="0">
                <a:solidFill>
                  <a:srgbClr val="E6EDF3"/>
                </a:solidFill>
                <a:latin typeface="Inconsolata"/>
              </a:rPr>
              <a:t>            ghcr.io/${{ github.repository }}/order-api:${{ github.sha }}</a:t>
            </a:r>
          </a:p>
          <a:p>
            <a:pPr>
              <a:lnSpc>
                <a:spcPct val="110294"/>
              </a:lnSpc>
              <a:spcAft>
                <a:spcPts val="0"/>
              </a:spcAft>
            </a:pPr>
            <a:r>
              <a:rPr sz="680" i="0">
                <a:solidFill>
                  <a:srgbClr val="E6EDF3"/>
                </a:solidFill>
                <a:latin typeface="Inconsolata"/>
              </a:rPr>
              <a:t> </a:t>
            </a:r>
          </a:p>
          <a:p>
            <a:pPr>
              <a:lnSpc>
                <a:spcPct val="110294"/>
              </a:lnSpc>
              <a:spcAft>
                <a:spcPts val="0"/>
              </a:spcAft>
            </a:pPr>
            <a:r>
              <a:rPr sz="680" i="1">
                <a:solidFill>
                  <a:srgbClr val="8B98A8"/>
                </a:solidFill>
                <a:latin typeface="Inconsolata"/>
              </a:rPr>
              <a:t># k8s/api.yaml</a:t>
            </a:r>
          </a:p>
          <a:p>
            <a:pPr>
              <a:lnSpc>
                <a:spcPct val="110294"/>
              </a:lnSpc>
              <a:spcAft>
                <a:spcPts val="0"/>
              </a:spcAft>
            </a:pPr>
            <a:r>
              <a:rPr sz="680" i="0">
                <a:solidFill>
                  <a:srgbClr val="E6EDF3"/>
                </a:solidFill>
                <a:latin typeface="Inconsolata"/>
              </a:rPr>
              <a:t>          image: order-api:</a:t>
            </a:r>
            <a:r>
              <a:rPr sz="680" i="0">
                <a:solidFill>
                  <a:srgbClr val="F9C97A"/>
                </a:solidFill>
                <a:latin typeface="Inconsolata"/>
              </a:rPr>
              <a:t>1</a:t>
            </a:r>
            <a:r>
              <a:rPr sz="680" i="0">
                <a:solidFill>
                  <a:srgbClr val="E6EDF3"/>
                </a:solidFill>
                <a:latin typeface="Inconsolata"/>
              </a:rPr>
              <a:t>.</a:t>
            </a:r>
            <a:r>
              <a:rPr sz="680" i="0">
                <a:solidFill>
                  <a:srgbClr val="F9C97A"/>
                </a:solidFill>
                <a:latin typeface="Inconsolata"/>
              </a:rPr>
              <a:t>0</a:t>
            </a:r>
          </a:p>
          <a:p>
            <a:pPr>
              <a:lnSpc>
                <a:spcPct val="110294"/>
              </a:lnSpc>
              <a:spcAft>
                <a:spcPts val="0"/>
              </a:spcAft>
            </a:pPr>
            <a:r>
              <a:rPr sz="680" i="0">
                <a:solidFill>
                  <a:srgbClr val="E6EDF3"/>
                </a:solidFill>
                <a:latin typeface="Inconsolata"/>
              </a:rPr>
              <a:t>          readinessProbe:</a:t>
            </a:r>
          </a:p>
        </p:txBody>
      </p:sp>
      <p:sp>
        <p:nvSpPr>
          <p:cNvPr id="29" name="Box 12"/>
          <p:cNvSpPr/>
          <p:nvPr/>
        </p:nvSpPr>
        <p:spPr>
          <a:xfrm>
            <a:off x="704088" y="2053971"/>
            <a:ext cx="5093208" cy="107442"/>
          </a:xfrm>
          <a:prstGeom prst="roundRect">
            <a:avLst>
              <a:gd name="adj" fmla="val 42553"/>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678424" y="198882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282571"/>
            <a:ext cx="5093208" cy="107442"/>
          </a:xfrm>
          <a:prstGeom prst="roundRect">
            <a:avLst>
              <a:gd name="adj" fmla="val 42553"/>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678424" y="221742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2739771"/>
            <a:ext cx="5093208" cy="107442"/>
          </a:xfrm>
          <a:prstGeom prst="roundRect">
            <a:avLst>
              <a:gd name="adj" fmla="val 42553"/>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678424" y="267462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704088" y="2968371"/>
            <a:ext cx="5093208" cy="107442"/>
          </a:xfrm>
          <a:prstGeom prst="roundRect">
            <a:avLst>
              <a:gd name="adj" fmla="val 42553"/>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Box 19"/>
          <p:cNvSpPr/>
          <p:nvPr/>
        </p:nvSpPr>
        <p:spPr>
          <a:xfrm>
            <a:off x="5678424" y="290322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4</a:t>
            </a:r>
          </a:p>
        </p:txBody>
      </p:sp>
      <p:sp>
        <p:nvSpPr>
          <p:cNvPr id="37" name="Box 20"/>
          <p:cNvSpPr/>
          <p:nvPr/>
        </p:nvSpPr>
        <p:spPr>
          <a:xfrm>
            <a:off x="704088" y="3196971"/>
            <a:ext cx="5093208" cy="107442"/>
          </a:xfrm>
          <a:prstGeom prst="roundRect">
            <a:avLst>
              <a:gd name="adj" fmla="val 42553"/>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8" name="Box 21"/>
          <p:cNvSpPr/>
          <p:nvPr/>
        </p:nvSpPr>
        <p:spPr>
          <a:xfrm>
            <a:off x="5678424" y="313182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5</a:t>
            </a:r>
          </a:p>
        </p:txBody>
      </p:sp>
      <p:sp>
        <p:nvSpPr>
          <p:cNvPr id="39" name="Box 22"/>
          <p:cNvSpPr/>
          <p:nvPr/>
        </p:nvSpPr>
        <p:spPr>
          <a:xfrm>
            <a:off x="704088" y="3539871"/>
            <a:ext cx="5093208" cy="107442"/>
          </a:xfrm>
          <a:prstGeom prst="roundRect">
            <a:avLst>
              <a:gd name="adj" fmla="val 42553"/>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0" name="Box 23"/>
          <p:cNvSpPr/>
          <p:nvPr/>
        </p:nvSpPr>
        <p:spPr>
          <a:xfrm>
            <a:off x="5678424" y="347472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6</a:t>
            </a:r>
          </a:p>
        </p:txBody>
      </p:sp>
      <p:sp>
        <p:nvSpPr>
          <p:cNvPr id="41" name="Box 24"/>
          <p:cNvSpPr/>
          <p:nvPr/>
        </p:nvSpPr>
        <p:spPr>
          <a:xfrm>
            <a:off x="6062472" y="1499616"/>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1</a:t>
            </a:r>
          </a:p>
        </p:txBody>
      </p:sp>
      <p:sp>
        <p:nvSpPr>
          <p:cNvPr id="42" name="Text 25"/>
          <p:cNvSpPr txBox="1"/>
          <p:nvPr/>
        </p:nvSpPr>
        <p:spPr>
          <a:xfrm>
            <a:off x="6391656" y="1463040"/>
            <a:ext cx="2093975" cy="536448"/>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Developer membuka pull request, workflow CI berjalan</a:t>
            </a:r>
          </a:p>
        </p:txBody>
      </p:sp>
      <p:sp>
        <p:nvSpPr>
          <p:cNvPr id="43" name="Box 26"/>
          <p:cNvSpPr/>
          <p:nvPr/>
        </p:nvSpPr>
        <p:spPr>
          <a:xfrm>
            <a:off x="6062472" y="2036064"/>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2</a:t>
            </a:r>
          </a:p>
        </p:txBody>
      </p:sp>
      <p:sp>
        <p:nvSpPr>
          <p:cNvPr id="44" name="Text 27"/>
          <p:cNvSpPr txBox="1"/>
          <p:nvPr/>
        </p:nvSpPr>
        <p:spPr>
          <a:xfrm>
            <a:off x="6391656" y="1999488"/>
            <a:ext cx="2093975" cy="536448"/>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Lint dan test. Gagal = pull request merah, tidak di-merge</a:t>
            </a:r>
          </a:p>
        </p:txBody>
      </p:sp>
      <p:sp>
        <p:nvSpPr>
          <p:cNvPr id="45" name="Box 28"/>
          <p:cNvSpPr/>
          <p:nvPr/>
        </p:nvSpPr>
        <p:spPr>
          <a:xfrm>
            <a:off x="6062472" y="2572512"/>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3</a:t>
            </a:r>
          </a:p>
        </p:txBody>
      </p:sp>
      <p:sp>
        <p:nvSpPr>
          <p:cNvPr id="46" name="Text 29"/>
          <p:cNvSpPr txBox="1"/>
          <p:nvPr/>
        </p:nvSpPr>
        <p:spPr>
          <a:xfrm>
            <a:off x="6391656" y="2535936"/>
            <a:ext cx="2093975" cy="536448"/>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Image dibuat dari Dockerfile multi-stage</a:t>
            </a:r>
          </a:p>
        </p:txBody>
      </p:sp>
      <p:sp>
        <p:nvSpPr>
          <p:cNvPr id="47" name="Box 30"/>
          <p:cNvSpPr/>
          <p:nvPr/>
        </p:nvSpPr>
        <p:spPr>
          <a:xfrm>
            <a:off x="6062472" y="3108960"/>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4</a:t>
            </a:r>
          </a:p>
        </p:txBody>
      </p:sp>
      <p:sp>
        <p:nvSpPr>
          <p:cNvPr id="48" name="Text 31"/>
          <p:cNvSpPr txBox="1"/>
          <p:nvPr/>
        </p:nvSpPr>
        <p:spPr>
          <a:xfrm>
            <a:off x="6391656" y="3072384"/>
            <a:ext cx="2093975" cy="536448"/>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Trivy memindai image, celah HIGH/CRITICAL = gagal</a:t>
            </a:r>
          </a:p>
        </p:txBody>
      </p:sp>
      <p:sp>
        <p:nvSpPr>
          <p:cNvPr id="49" name="Box 32"/>
          <p:cNvSpPr/>
          <p:nvPr/>
        </p:nvSpPr>
        <p:spPr>
          <a:xfrm>
            <a:off x="6062472" y="3645408"/>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5</a:t>
            </a:r>
          </a:p>
        </p:txBody>
      </p:sp>
      <p:sp>
        <p:nvSpPr>
          <p:cNvPr id="50" name="Text 33"/>
          <p:cNvSpPr txBox="1"/>
          <p:nvPr/>
        </p:nvSpPr>
        <p:spPr>
          <a:xfrm>
            <a:off x="6391656" y="3608832"/>
            <a:ext cx="2093975" cy="536448"/>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Setelah merge ke main, image di-push ke registry</a:t>
            </a:r>
          </a:p>
        </p:txBody>
      </p:sp>
      <p:sp>
        <p:nvSpPr>
          <p:cNvPr id="51" name="Box 34"/>
          <p:cNvSpPr/>
          <p:nvPr/>
        </p:nvSpPr>
        <p:spPr>
          <a:xfrm>
            <a:off x="6062472" y="4181856"/>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6</a:t>
            </a:r>
          </a:p>
        </p:txBody>
      </p:sp>
      <p:sp>
        <p:nvSpPr>
          <p:cNvPr id="52" name="Text 35"/>
          <p:cNvSpPr txBox="1"/>
          <p:nvPr/>
        </p:nvSpPr>
        <p:spPr>
          <a:xfrm>
            <a:off x="6391656" y="4145280"/>
            <a:ext cx="2093975" cy="536448"/>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Kubernetes menjalankan image itu, pod menerima traffic setelah readiness ok</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Penutup</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Rangkuman</a:t>
            </a:r>
          </a:p>
        </p:txBody>
      </p:sp>
      <p:sp>
        <p:nvSpPr>
          <p:cNvPr id="22" name="Box 3"/>
          <p:cNvSpPr/>
          <p:nvPr/>
        </p:nvSpPr>
        <p:spPr>
          <a:xfrm>
            <a:off x="621792" y="155448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Text 4"/>
          <p:cNvSpPr txBox="1"/>
          <p:nvPr/>
        </p:nvSpPr>
        <p:spPr>
          <a:xfrm>
            <a:off x="758952" y="164592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Dockerfile</a:t>
            </a:r>
          </a:p>
        </p:txBody>
      </p:sp>
      <p:sp>
        <p:nvSpPr>
          <p:cNvPr id="24" name="Text 5"/>
          <p:cNvSpPr txBox="1"/>
          <p:nvPr/>
        </p:nvSpPr>
        <p:spPr>
          <a:xfrm>
            <a:off x="758952" y="196596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requirements terlebih dahulu, .dockerignore, user biasa</a:t>
            </a:r>
          </a:p>
        </p:txBody>
      </p:sp>
      <p:sp>
        <p:nvSpPr>
          <p:cNvPr id="25" name="Box 6"/>
          <p:cNvSpPr/>
          <p:nvPr/>
        </p:nvSpPr>
        <p:spPr>
          <a:xfrm>
            <a:off x="3291840" y="155448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6" name="Text 7"/>
          <p:cNvSpPr txBox="1"/>
          <p:nvPr/>
        </p:nvSpPr>
        <p:spPr>
          <a:xfrm>
            <a:off x="3429000" y="164592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Multi-stage</a:t>
            </a:r>
          </a:p>
        </p:txBody>
      </p:sp>
      <p:sp>
        <p:nvSpPr>
          <p:cNvPr id="27" name="Text 8"/>
          <p:cNvSpPr txBox="1"/>
          <p:nvPr/>
        </p:nvSpPr>
        <p:spPr>
          <a:xfrm>
            <a:off x="3429000" y="196596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Compiler hanya di stage builder, image akhir kecil</a:t>
            </a:r>
          </a:p>
        </p:txBody>
      </p:sp>
      <p:sp>
        <p:nvSpPr>
          <p:cNvPr id="28" name="Box 9"/>
          <p:cNvSpPr/>
          <p:nvPr/>
        </p:nvSpPr>
        <p:spPr>
          <a:xfrm>
            <a:off x="5961888" y="155448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Text 10"/>
          <p:cNvSpPr txBox="1"/>
          <p:nvPr/>
        </p:nvSpPr>
        <p:spPr>
          <a:xfrm>
            <a:off x="6099048" y="164592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Compose</a:t>
            </a:r>
          </a:p>
        </p:txBody>
      </p:sp>
      <p:sp>
        <p:nvSpPr>
          <p:cNvPr id="30" name="Text 11"/>
          <p:cNvSpPr txBox="1"/>
          <p:nvPr/>
        </p:nvSpPr>
        <p:spPr>
          <a:xfrm>
            <a:off x="6099048" y="196596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Satu file untuk seluruh stack, healthcheck menentukan urutan</a:t>
            </a:r>
          </a:p>
        </p:txBody>
      </p:sp>
      <p:sp>
        <p:nvSpPr>
          <p:cNvPr id="31" name="Box 12"/>
          <p:cNvSpPr/>
          <p:nvPr/>
        </p:nvSpPr>
        <p:spPr>
          <a:xfrm>
            <a:off x="621792" y="310896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Text 13"/>
          <p:cNvSpPr txBox="1"/>
          <p:nvPr/>
        </p:nvSpPr>
        <p:spPr>
          <a:xfrm>
            <a:off x="758952" y="320040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Deployment &amp; Service</a:t>
            </a:r>
          </a:p>
        </p:txBody>
      </p:sp>
      <p:sp>
        <p:nvSpPr>
          <p:cNvPr id="33" name="Text 14"/>
          <p:cNvSpPr txBox="1"/>
          <p:nvPr/>
        </p:nvSpPr>
        <p:spPr>
          <a:xfrm>
            <a:off x="758952" y="352044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Pod dijaga Deployment, satu alamat lewat Service</a:t>
            </a:r>
          </a:p>
        </p:txBody>
      </p:sp>
      <p:sp>
        <p:nvSpPr>
          <p:cNvPr id="34" name="Box 15"/>
          <p:cNvSpPr/>
          <p:nvPr/>
        </p:nvSpPr>
        <p:spPr>
          <a:xfrm>
            <a:off x="3291840" y="310896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Text 16"/>
          <p:cNvSpPr txBox="1"/>
          <p:nvPr/>
        </p:nvSpPr>
        <p:spPr>
          <a:xfrm>
            <a:off x="3429000" y="320040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Config &amp; Probes</a:t>
            </a:r>
          </a:p>
        </p:txBody>
      </p:sp>
      <p:sp>
        <p:nvSpPr>
          <p:cNvPr id="36" name="Text 17"/>
          <p:cNvSpPr txBox="1"/>
          <p:nvPr/>
        </p:nvSpPr>
        <p:spPr>
          <a:xfrm>
            <a:off x="3429000" y="352044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ConfigMap, Secret, readiness, dan liveness</a:t>
            </a:r>
          </a:p>
        </p:txBody>
      </p:sp>
      <p:sp>
        <p:nvSpPr>
          <p:cNvPr id="37" name="Box 18"/>
          <p:cNvSpPr/>
          <p:nvPr/>
        </p:nvSpPr>
        <p:spPr>
          <a:xfrm>
            <a:off x="5961888" y="310896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8" name="Text 19"/>
          <p:cNvSpPr txBox="1"/>
          <p:nvPr/>
        </p:nvSpPr>
        <p:spPr>
          <a:xfrm>
            <a:off x="6099048" y="320040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CI/CD</a:t>
            </a:r>
          </a:p>
        </p:txBody>
      </p:sp>
      <p:sp>
        <p:nvSpPr>
          <p:cNvPr id="39" name="Text 20"/>
          <p:cNvSpPr txBox="1"/>
          <p:nvPr/>
        </p:nvSpPr>
        <p:spPr>
          <a:xfrm>
            <a:off x="6099048" y="352044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Lint, test, build, scan di setiap pull request</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253" name="Google Shape;253;g2907dbd8723_0_0"/>
          <p:cNvPicPr preferRelativeResize="0"/>
          <p:nvPr/>
        </p:nvPicPr>
        <p:blipFill rotWithShape="1">
          <a:blip r:embed="rId3">
            <a:alphaModFix/>
          </a:blip>
          <a:srcRect/>
          <a:stretch/>
        </p:blipFill>
        <p:spPr>
          <a:xfrm>
            <a:off x="2843401" y="4399825"/>
            <a:ext cx="244986" cy="201168"/>
          </a:xfrm>
          <a:prstGeom prst="rect">
            <a:avLst/>
          </a:prstGeom>
          <a:noFill/>
          <a:ln>
            <a:noFill/>
          </a:ln>
        </p:spPr>
      </p:pic>
      <p:sp>
        <p:nvSpPr>
          <p:cNvPr id="254" name="Google Shape;254;g2907dbd8723_0_0"/>
          <p:cNvSpPr txBox="1"/>
          <p:nvPr/>
        </p:nvSpPr>
        <p:spPr>
          <a:xfrm>
            <a:off x="843350" y="1097280"/>
            <a:ext cx="4977000" cy="6348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rgbClr val="000000"/>
              </a:buClr>
              <a:buSzPts val="7200"/>
              <a:buFont typeface="Arial"/>
              <a:buNone/>
            </a:pPr>
            <a:r>
              <a:rPr lang="en" sz="3000" b="0" i="0" u="none" strike="noStrike" cap="none">
                <a:solidFill>
                  <a:srgbClr val="FFFFFF"/>
                </a:solidFill>
                <a:latin typeface="Work Sans ExtraBold"/>
                <a:ea typeface="Work Sans ExtraBold"/>
                <a:cs typeface="Work Sans ExtraBold"/>
                <a:sym typeface="Work Sans ExtraBold"/>
              </a:rPr>
              <a:t>Source Code</a:t>
            </a:r>
            <a:endParaRPr sz="3000" b="0" i="0" u="none" strike="noStrike" cap="none">
              <a:solidFill>
                <a:srgbClr val="FFFFFF"/>
              </a:solidFill>
              <a:latin typeface="Work Sans ExtraBold"/>
              <a:ea typeface="Work Sans ExtraBold"/>
              <a:cs typeface="Work Sans ExtraBold"/>
              <a:sym typeface="Work Sans ExtraBold"/>
            </a:endParaRPr>
          </a:p>
        </p:txBody>
      </p:sp>
      <p:sp>
        <p:nvSpPr>
          <p:cNvPr id="255" name="Google Shape;255;g2907dbd8723_0_0"/>
          <p:cNvSpPr txBox="1"/>
          <p:nvPr/>
        </p:nvSpPr>
        <p:spPr>
          <a:xfrm>
            <a:off x="1230650" y="1934520"/>
            <a:ext cx="1920240" cy="451500"/>
          </a:xfrm>
          <a:prstGeom prst="rect">
            <a:avLst/>
          </a:prstGeom>
          <a:noFill/>
          <a:ln>
            <a:noFill/>
          </a:ln>
        </p:spPr>
        <p:txBody>
          <a:bodyPr spcFirstLastPara="1" wrap="non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1300" b="1" i="0" u="none" strike="noStrike" cap="none">
                <a:solidFill>
                  <a:srgbClr val="FFFFFF"/>
                </a:solidFill>
                <a:latin typeface="Inter"/>
                <a:ea typeface="Inter"/>
                <a:cs typeface="Inter"/>
                <a:sym typeface="Inter"/>
              </a:rPr>
              <a:t>Sesi 11</a:t>
            </a:r>
            <a:endParaRPr sz="1500" b="0" i="1" u="none" strike="noStrike" cap="none">
              <a:solidFill>
                <a:srgbClr val="000000"/>
              </a:solidFill>
              <a:latin typeface="Inter"/>
              <a:ea typeface="Inter"/>
              <a:cs typeface="Inter"/>
              <a:sym typeface="Inter"/>
            </a:endParaRPr>
          </a:p>
        </p:txBody>
      </p:sp>
      <p:sp>
        <p:nvSpPr>
          <p:cNvPr id="256" name="Google Shape;256;g2907dbd8723_0_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80</a:t>
            </a:fld>
            <a:endParaRPr/>
          </a:p>
        </p:txBody>
      </p:sp>
      <p:pic>
        <p:nvPicPr>
          <p:cNvPr id="257" name="Google Shape;257;g2907dbd8723_0_0"/>
          <p:cNvPicPr preferRelativeResize="0"/>
          <p:nvPr/>
        </p:nvPicPr>
        <p:blipFill rotWithShape="1">
          <a:blip r:embed="rId4">
            <a:alphaModFix/>
          </a:blip>
          <a:srcRect/>
          <a:stretch/>
        </p:blipFill>
        <p:spPr>
          <a:xfrm>
            <a:off x="4654775" y="4399825"/>
            <a:ext cx="284713" cy="201168"/>
          </a:xfrm>
          <a:prstGeom prst="rect">
            <a:avLst/>
          </a:prstGeom>
          <a:noFill/>
          <a:ln>
            <a:noFill/>
          </a:ln>
        </p:spPr>
      </p:pic>
      <p:pic>
        <p:nvPicPr>
          <p:cNvPr id="258" name="Google Shape;258;g2907dbd8723_0_0"/>
          <p:cNvPicPr preferRelativeResize="0"/>
          <p:nvPr/>
        </p:nvPicPr>
        <p:blipFill rotWithShape="1">
          <a:blip r:embed="rId5">
            <a:alphaModFix/>
          </a:blip>
          <a:srcRect/>
          <a:stretch/>
        </p:blipFill>
        <p:spPr>
          <a:xfrm>
            <a:off x="6505899" y="4399825"/>
            <a:ext cx="198637" cy="201168"/>
          </a:xfrm>
          <a:prstGeom prst="rect">
            <a:avLst/>
          </a:prstGeom>
          <a:noFill/>
          <a:ln>
            <a:noFill/>
          </a:ln>
        </p:spPr>
      </p:pic>
      <p:pic>
        <p:nvPicPr>
          <p:cNvPr id="259" name="Google Shape;259;g2907dbd8723_0_0"/>
          <p:cNvPicPr preferRelativeResize="0"/>
          <p:nvPr/>
        </p:nvPicPr>
        <p:blipFill rotWithShape="1">
          <a:blip r:embed="rId6">
            <a:alphaModFix/>
          </a:blip>
          <a:srcRect/>
          <a:stretch/>
        </p:blipFill>
        <p:spPr>
          <a:xfrm>
            <a:off x="1028695" y="4399825"/>
            <a:ext cx="201948" cy="201168"/>
          </a:xfrm>
          <a:prstGeom prst="rect">
            <a:avLst/>
          </a:prstGeom>
          <a:noFill/>
          <a:ln>
            <a:noFill/>
          </a:ln>
        </p:spPr>
      </p:pic>
      <p:sp>
        <p:nvSpPr>
          <p:cNvPr id="260" name="Google Shape;260;g2907dbd8723_0_0"/>
          <p:cNvSpPr txBox="1"/>
          <p:nvPr/>
        </p:nvSpPr>
        <p:spPr>
          <a:xfrm>
            <a:off x="1230650" y="4338863"/>
            <a:ext cx="8889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Inter"/>
                <a:ea typeface="Inter"/>
                <a:cs typeface="Inter"/>
                <a:sym typeface="Inter"/>
              </a:rPr>
              <a:t>Hacktiv8id</a:t>
            </a:r>
            <a:endParaRPr sz="900" b="0" i="0" u="none" strike="noStrike" cap="none">
              <a:solidFill>
                <a:srgbClr val="000000"/>
              </a:solidFill>
              <a:latin typeface="Arial"/>
              <a:ea typeface="Arial"/>
              <a:cs typeface="Arial"/>
              <a:sym typeface="Arial"/>
            </a:endParaRPr>
          </a:p>
        </p:txBody>
      </p:sp>
      <p:sp>
        <p:nvSpPr>
          <p:cNvPr id="261" name="Google Shape;261;g2907dbd8723_0_0"/>
          <p:cNvSpPr txBox="1"/>
          <p:nvPr/>
        </p:nvSpPr>
        <p:spPr>
          <a:xfrm>
            <a:off x="3088375" y="4338863"/>
            <a:ext cx="8889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Inter"/>
                <a:ea typeface="Inter"/>
                <a:cs typeface="Inter"/>
                <a:sym typeface="Inter"/>
              </a:rPr>
              <a:t>Hacktiv8id</a:t>
            </a:r>
            <a:endParaRPr sz="900" b="0" i="0" u="none" strike="noStrike" cap="none">
              <a:solidFill>
                <a:srgbClr val="000000"/>
              </a:solidFill>
              <a:latin typeface="Arial"/>
              <a:ea typeface="Arial"/>
              <a:cs typeface="Arial"/>
              <a:sym typeface="Arial"/>
            </a:endParaRPr>
          </a:p>
        </p:txBody>
      </p:sp>
      <p:sp>
        <p:nvSpPr>
          <p:cNvPr id="262" name="Google Shape;262;g2907dbd8723_0_0"/>
          <p:cNvSpPr txBox="1"/>
          <p:nvPr/>
        </p:nvSpPr>
        <p:spPr>
          <a:xfrm>
            <a:off x="4946100" y="4338863"/>
            <a:ext cx="8889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Inter"/>
                <a:ea typeface="Inter"/>
                <a:cs typeface="Inter"/>
                <a:sym typeface="Inter"/>
              </a:rPr>
              <a:t>Hacktiv8</a:t>
            </a:r>
            <a:endParaRPr sz="900" b="0" i="0" u="none" strike="noStrike" cap="none">
              <a:solidFill>
                <a:srgbClr val="000000"/>
              </a:solidFill>
              <a:latin typeface="Arial"/>
              <a:ea typeface="Arial"/>
              <a:cs typeface="Arial"/>
              <a:sym typeface="Arial"/>
            </a:endParaRPr>
          </a:p>
        </p:txBody>
      </p:sp>
      <p:sp>
        <p:nvSpPr>
          <p:cNvPr id="263" name="Google Shape;263;g2907dbd8723_0_0"/>
          <p:cNvSpPr txBox="1"/>
          <p:nvPr/>
        </p:nvSpPr>
        <p:spPr>
          <a:xfrm>
            <a:off x="6704525" y="4338875"/>
            <a:ext cx="14235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Inter"/>
                <a:ea typeface="Inter"/>
                <a:cs typeface="Inter"/>
                <a:sym typeface="Inter"/>
              </a:rPr>
              <a:t>Hacktiv8 Indonesia</a:t>
            </a:r>
            <a:endParaRPr sz="900" b="0" i="0" u="none" strike="noStrike" cap="none">
              <a:solidFill>
                <a:srgbClr val="000000"/>
              </a:solidFill>
              <a:latin typeface="Arial"/>
              <a:ea typeface="Arial"/>
              <a:cs typeface="Arial"/>
              <a:sym typeface="Arial"/>
            </a:endParaRPr>
          </a:p>
        </p:txBody>
      </p:sp>
      <p:cxnSp>
        <p:nvCxnSpPr>
          <p:cNvPr id="264" name="Google Shape;264;g2907dbd8723_0_0"/>
          <p:cNvCxnSpPr/>
          <p:nvPr/>
        </p:nvCxnSpPr>
        <p:spPr>
          <a:xfrm>
            <a:off x="3063240" y="2160270"/>
            <a:ext cx="914400" cy="9600"/>
          </a:xfrm>
          <a:prstGeom prst="straightConnector1">
            <a:avLst/>
          </a:prstGeom>
          <a:noFill/>
          <a:ln w="19050" cap="flat" cmpd="sng">
            <a:solidFill>
              <a:srgbClr val="FFF5D8"/>
            </a:solidFill>
            <a:prstDash val="solid"/>
            <a:round/>
            <a:headEnd type="none" w="sm" len="sm"/>
            <a:tailEnd type="none" w="sm" len="sm"/>
          </a:ln>
        </p:spPr>
      </p:cxnSp>
      <p:sp>
        <p:nvSpPr>
          <p:cNvPr id="265" name="Google Shape;265;g2907dbd8723_0_0">
            <a:hlinkClick r:id="rId7"/>
          </p:cNvPr>
          <p:cNvSpPr txBox="1"/>
          <p:nvPr/>
        </p:nvSpPr>
        <p:spPr>
          <a:xfrm>
            <a:off x="4206240" y="1934520"/>
            <a:ext cx="4023360" cy="451500"/>
          </a:xfrm>
          <a:prstGeom prst="rect">
            <a:avLst/>
          </a:prstGeom>
          <a:noFill/>
          <a:ln>
            <a:noFill/>
          </a:ln>
        </p:spPr>
        <p:txBody>
          <a:bodyPr spcFirstLastPara="1" wrap="non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1200" b="0" i="1" u="sng" strike="noStrike" cap="none">
                <a:solidFill>
                  <a:schemeClr val="hlink"/>
                </a:solidFill>
                <a:latin typeface="Inter"/>
                <a:ea typeface="Inter"/>
                <a:cs typeface="Inter"/>
                <a:sym typeface="Inter"/>
                <a:hlinkClick r:id="rId8"/>
              </a:rPr>
              <a:t>github.com/bagusedghar/fastapi-intermediate</a:t>
            </a:r>
            <a:endParaRPr sz="1500" b="0" i="1" u="sng" strike="noStrike" cap="none">
              <a:solidFill>
                <a:schemeClr val="lt1"/>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8544</Words>
  <Application>Microsoft Office PowerPoint</Application>
  <PresentationFormat>On-screen Show (16:9)</PresentationFormat>
  <Paragraphs>1517</Paragraphs>
  <Slides>80</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80</vt:i4>
      </vt:variant>
    </vt:vector>
  </HeadingPairs>
  <TitlesOfParts>
    <vt:vector size="86" baseType="lpstr">
      <vt:lpstr>Arial</vt:lpstr>
      <vt:lpstr>Work Sans ExtraBold</vt:lpstr>
      <vt:lpstr>Inconsolata</vt:lpstr>
      <vt:lpstr>Inter</vt:lpstr>
      <vt:lpstr>Work Sans Medium</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Bagus Edghar</cp:lastModifiedBy>
  <cp:revision>1</cp:revision>
  <dcterms:modified xsi:type="dcterms:W3CDTF">2026-10-30T00:11:15Z</dcterms:modified>
</cp:coreProperties>
</file>