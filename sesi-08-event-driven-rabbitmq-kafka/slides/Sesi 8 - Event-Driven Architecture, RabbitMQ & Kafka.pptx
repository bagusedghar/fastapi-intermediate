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17"/>
    <p:sldId id="286" r:id="rId16"/>
    <p:sldId id="287" r:id="rId15"/>
    <p:sldId id="288" r:id="rId14"/>
    <p:sldId id="289" r:id="rId13"/>
    <p:sldId id="290" r:id="rId12"/>
    <p:sldId id="291" r:id="rId11"/>
    <p:sldId id="292" r:id="rId10"/>
    <p:sldId id="293" r:id="rId9"/>
    <p:sldId id="294" r:id="rId8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276" r:id="rId26"/>
  </p:sldIdLst>
  <p:sldSz cy="5143500" cx="9144000"/>
  <p:notesSz cx="6858000" cy="9144000"/>
  <p:embeddedFontLst>
    <p:embeddedFont>
      <p:font typeface="Inter"/>
      <p:regular r:id="rId27"/>
      <p:bold r:id="rId28"/>
    </p:embeddedFont>
    <p:embeddedFont>
      <p:font typeface="Work Sans Medium"/>
      <p:regular r:id="rId29"/>
      <p:bold r:id="rId30"/>
      <p:italic r:id="rId31"/>
      <p:boldItalic r:id="rId32"/>
    </p:embeddedFont>
    <p:embeddedFont>
      <p:font typeface="Work Sa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suxx245f/qKiEmR3PX6YRe0tI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6.xml"/><Relationship Id="rId13" Type="http://schemas.openxmlformats.org/officeDocument/2006/relationships/slide" Target="slides/slide15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30.xml"/><Relationship Id="rId27" Type="http://schemas.openxmlformats.org/officeDocument/2006/relationships/font" Target="fonts/Inter-regular.fntdata"/><Relationship Id="rId28" Type="http://schemas.openxmlformats.org/officeDocument/2006/relationships/font" Target="fonts/Inter-bold.fntdata"/><Relationship Id="rId29" Type="http://schemas.openxmlformats.org/officeDocument/2006/relationships/font" Target="fonts/WorkSansMedium-regular.fntdata"/><Relationship Id="rId30" Type="http://schemas.openxmlformats.org/officeDocument/2006/relationships/font" Target="fonts/WorkSansMedium-bold.fntdata"/><Relationship Id="rId31" Type="http://schemas.openxmlformats.org/officeDocument/2006/relationships/font" Target="fonts/WorkSansMedium-italic.fntdata"/><Relationship Id="rId32" Type="http://schemas.openxmlformats.org/officeDocument/2006/relationships/font" Target="fonts/WorkSansMedium-boldItalic.fntdata"/><Relationship Id="rId33" Type="http://schemas.openxmlformats.org/officeDocument/2006/relationships/font" Target="fonts/WorkSansExtraBold-bold.fntdata"/><Relationship Id="rId34" Type="http://schemas.openxmlformats.org/officeDocument/2006/relationships/font" Target="fonts/WorkSansExtraBold-boldItalic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42ffe4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442ffe4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Peserta hands-on, jawaban sudah ada di folder after/.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7dbd87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907dbd87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15150"/>
            <a:ext cx="9190446" cy="51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206026" cy="51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 1">
  <p:cSld name="TITLE_2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2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7175"/>
            <a:ext cx="9204623" cy="5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350" y="-6375"/>
            <a:ext cx="9160668" cy="51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" name="Google Shape;51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59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0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 b="34000" l="0" r="0" t="31469"/>
          <a:stretch/>
        </p:blipFill>
        <p:spPr>
          <a:xfrm>
            <a:off x="134750" y="4589275"/>
            <a:ext cx="1410576" cy="34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colab.research.google.com/github/FTDS-learning-materials/phase-2/blob/master/w2/P2W2D1PM%20-%20Data%20Ethics%20&amp;%20Data%20Validation.ipynb" TargetMode="External"/><Relationship Id="rId8" Type="http://schemas.openxmlformats.org/officeDocument/2006/relationships/hyperlink" Target="https://github.com/bagusedghar/fastapi-intermediate/tree/main/sesi-08-event-driven-rabbitmq-kafk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63050" y="2010750"/>
            <a:ext cx="82581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>
                <a:solidFill>
                  <a:srgbClr val="F0663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Event-Driven Architecture, RabbitMQ &amp; Kafka</a:t>
            </a:r>
            <a:endParaRPr b="0" i="0" sz="3500" u="none" cap="none" strike="noStrike">
              <a:solidFill>
                <a:srgbClr val="F0663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63050" y="3157225"/>
            <a:ext cx="731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Intermediate Backend Developer with FastAPI  -  Sesi 8</a:t>
            </a:r>
            <a:endParaRPr b="0" i="0" sz="1500" u="none" cap="none" strike="noStrike">
              <a:solidFill>
                <a:schemeClr val="dk2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42ffe4c8e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g2442ffe4c8e_0_0"/>
          <p:cNvSpPr txBox="1"/>
          <p:nvPr/>
        </p:nvSpPr>
        <p:spPr>
          <a:xfrm>
            <a:off x="310675" y="249275"/>
            <a:ext cx="4456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1D3D7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Contents</a:t>
            </a:r>
            <a:endParaRPr b="0" i="0" sz="2300" u="none" cap="none" strike="noStrike">
              <a:solidFill>
                <a:srgbClr val="1D3D7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93" name="Text 1"/>
          <p:cNvSpPr txBox="1"/>
          <p:nvPr/>
        </p:nvSpPr>
        <p:spPr>
          <a:xfrm>
            <a:off x="548640" y="1143000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Event-Driven Architecture</a:t>
            </a:r>
          </a:p>
        </p:txBody>
      </p:sp>
      <p:cxnSp>
        <p:nvCxnSpPr>
          <p:cNvPr id="94" name="Arrow 2"/>
          <p:cNvCxnSpPr/>
          <p:nvPr/>
        </p:nvCxnSpPr>
        <p:spPr>
          <a:xfrm>
            <a:off x="6318504" y="1325880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 3"/>
          <p:cNvSpPr txBox="1"/>
          <p:nvPr/>
        </p:nvSpPr>
        <p:spPr>
          <a:xfrm>
            <a:off x="8266175" y="1143000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06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48640" y="1527048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RabbitMQ</a:t>
            </a:r>
          </a:p>
        </p:txBody>
      </p:sp>
      <p:cxnSp>
        <p:nvCxnSpPr>
          <p:cNvPr id="97" name="Arrow 5"/>
          <p:cNvCxnSpPr/>
          <p:nvPr/>
        </p:nvCxnSpPr>
        <p:spPr>
          <a:xfrm>
            <a:off x="6318504" y="1709928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 6"/>
          <p:cNvSpPr txBox="1"/>
          <p:nvPr/>
        </p:nvSpPr>
        <p:spPr>
          <a:xfrm>
            <a:off x="8266175" y="1527048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11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548640" y="1911095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Apache Kafka</a:t>
            </a:r>
          </a:p>
        </p:txBody>
      </p:sp>
      <p:cxnSp>
        <p:nvCxnSpPr>
          <p:cNvPr id="100" name="Arrow 8"/>
          <p:cNvCxnSpPr/>
          <p:nvPr/>
        </p:nvCxnSpPr>
        <p:spPr>
          <a:xfrm>
            <a:off x="6318504" y="2093976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9"/>
          <p:cNvSpPr txBox="1"/>
          <p:nvPr/>
        </p:nvSpPr>
        <p:spPr>
          <a:xfrm>
            <a:off x="8266175" y="1911095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Sesi 8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Learning Outcome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Box 4"/>
          <p:cNvSpPr/>
          <p:nvPr/>
        </p:nvSpPr>
        <p:spPr>
          <a:xfrm>
            <a:off x="758952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1170432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Sync vs async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Menentukan kapan menggunakan synchronous API call vs asynchronous message-based integration.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Box 8"/>
          <p:cNvSpPr/>
          <p:nvPr/>
        </p:nvSpPr>
        <p:spPr>
          <a:xfrm>
            <a:off x="3429000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840480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RabbitMQ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3429000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Membangun event producer dan consumer sederhana dengan RabbitMQ, acknowledgement, dan failure handling.</a:t>
            </a:r>
          </a:p>
        </p:txBody>
      </p:sp>
      <p:sp>
        <p:nvSpPr>
          <p:cNvPr id="30" name="Box 11"/>
          <p:cNvSpPr/>
          <p:nvPr/>
        </p:nvSpPr>
        <p:spPr>
          <a:xfrm>
            <a:off x="5961888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Box 12"/>
          <p:cNvSpPr/>
          <p:nvPr/>
        </p:nvSpPr>
        <p:spPr>
          <a:xfrm>
            <a:off x="6099048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510527" y="1709928"/>
            <a:ext cx="1883664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Kafka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6099048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Menjelaskan konsep dasar Kafka serta perbedaan karakteristik penggunaan Kafka dan RabbitMQ.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Titik Awal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Hasil Sesi 7: OrderService Menyuruh Kirim Notifikasi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2062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5661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hasil Sesi 7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2062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2062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app/application/order_service.py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items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with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uow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uow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f"Order #{order.id} ..."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app/worker/notifier.py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class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QueuedNotifier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send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C3A6FF"/>
                </a:solidFill>
                <a:latin typeface="Consolas"/>
              </a:rPr>
              <a:t>self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message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-</a:t>
            </a:r>
            <a:r>
              <a:rPr sz="850" i="0">
                <a:solidFill>
                  <a:srgbClr val="E6EDF3"/>
                </a:solidFill>
                <a:latin typeface="Consolas"/>
              </a:rPr>
              <a:t>&gt;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None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send_notification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delay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key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to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message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4983480" y="1536192"/>
            <a:ext cx="3502152" cy="3127248"/>
          </a:xfrm>
          <a:prstGeom prst="roundRect">
            <a:avLst>
              <a:gd name="adj" fmla="val 3508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5120640" y="1627632"/>
            <a:ext cx="32278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5120640" y="1947672"/>
            <a:ext cx="32278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OrderService yang menentukan apa saja yang terjadi setelah order dibuat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Butuh poin loyalty atau analytics = OrderService diubah lagi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job Celery hanya untuk satu penerima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Job yang gagal permanen cuma tercatat di log, tidak bisa dicek lalu dikirim ulang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Event-Driven Architecture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Kapan memanggil langsung, kapan cukup mengumumkan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Sync vs Async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Synchronous Call vs Asynchronous Message</a:t>
            </a:r>
          </a:p>
        </p:txBody>
      </p:sp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621792" y="1554480"/>
          <a:ext cx="7863840" cy="2852928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3063240"/>
                <a:gridCol w="306324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570"/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Inter"/>
                        </a:rPr>
                        <a:t>Synchronous (HTTP call)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Inter"/>
                        </a:rPr>
                        <a:t>Asynchronous (message)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Cara kerja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Panggil lalu tunggu jawabannya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Kirim pesan, lanjut tanpa menunggu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Penerima sedang mati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Pemanggil ikut gagal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Pesan menunggu di antrean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Waktu response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Jumlah waktu semua panggilan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Hanya pekerjaan utama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Hasilnya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Langsung terlihat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Sedikit tertunda (eventual consistency)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Pakai untuk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Butuh jawaban sekarang: cek stok, pembayaran, login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Cukup tahu belakangan: email, poin, analytics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Event-Driven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Event-Driven Architecture?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Service mengumumkan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event</a:t>
            </a:r>
            <a:r>
              <a:rPr sz="1050" i="0" b="0">
                <a:solidFill>
                  <a:srgbClr val="434343"/>
                </a:solidFill>
                <a:latin typeface="Inter"/>
              </a:rPr>
              <a:t>, yaitu fakta yang sudah terjadi (misalnya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order.placed</a:t>
            </a:r>
            <a:r>
              <a:rPr sz="1050" i="0" b="0">
                <a:solidFill>
                  <a:srgbClr val="434343"/>
                </a:solidFill>
                <a:latin typeface="Inter"/>
              </a:rPr>
              <a:t>), ke message broker. Service lain yang butuh mendengarkan event itu lalu bereaksi sendiri.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Producer tidak perlu tahu siapa consumer-nya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Consumer mati, producer tetap jalan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Lonjakan traffic ditampung dulu di antrean</a:t>
            </a:r>
          </a:p>
        </p:txBody>
      </p:sp>
      <p:sp>
        <p:nvSpPr>
          <p:cNvPr id="23" name="Box 4"/>
          <p:cNvSpPr/>
          <p:nvPr/>
        </p:nvSpPr>
        <p:spPr>
          <a:xfrm>
            <a:off x="4892040" y="160020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Order API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(producer)</a:t>
            </a:r>
          </a:p>
        </p:txBody>
      </p:sp>
      <p:cxnSp>
        <p:nvCxnSpPr>
          <p:cNvPr id="24" name="Arrow 5"/>
          <p:cNvCxnSpPr/>
          <p:nvPr/>
        </p:nvCxnSpPr>
        <p:spPr>
          <a:xfrm>
            <a:off x="5943600" y="1874519"/>
            <a:ext cx="320040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 6"/>
          <p:cNvSpPr txBox="1"/>
          <p:nvPr/>
        </p:nvSpPr>
        <p:spPr>
          <a:xfrm>
            <a:off x="5897880" y="137160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i="0" b="0">
                <a:solidFill>
                  <a:srgbClr val="7A7A7A"/>
                </a:solidFill>
                <a:latin typeface="Inter"/>
              </a:rPr>
              <a:t>event</a:t>
            </a:r>
          </a:p>
        </p:txBody>
      </p:sp>
      <p:sp>
        <p:nvSpPr>
          <p:cNvPr id="26" name="Box 7"/>
          <p:cNvSpPr/>
          <p:nvPr/>
        </p:nvSpPr>
        <p:spPr>
          <a:xfrm>
            <a:off x="6263640" y="160020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Broker</a:t>
            </a:r>
          </a:p>
        </p:txBody>
      </p:sp>
      <p:cxnSp>
        <p:nvCxnSpPr>
          <p:cNvPr id="27" name="Arrow 8"/>
          <p:cNvCxnSpPr/>
          <p:nvPr/>
        </p:nvCxnSpPr>
        <p:spPr>
          <a:xfrm flipV="1">
            <a:off x="7178040" y="1645920"/>
            <a:ext cx="320039" cy="228599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7498079" y="1463040"/>
            <a:ext cx="987552" cy="36576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email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7178040" y="1874519"/>
            <a:ext cx="320039" cy="274321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7498079" y="1965960"/>
            <a:ext cx="987552" cy="36576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points</a:t>
            </a:r>
          </a:p>
        </p:txBody>
      </p:sp>
      <p:cxnSp>
        <p:nvCxnSpPr>
          <p:cNvPr id="31" name="Arrow 12"/>
          <p:cNvCxnSpPr/>
          <p:nvPr/>
        </p:nvCxnSpPr>
        <p:spPr>
          <a:xfrm>
            <a:off x="7178040" y="1874519"/>
            <a:ext cx="320039" cy="777241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x 13"/>
          <p:cNvSpPr/>
          <p:nvPr/>
        </p:nvSpPr>
        <p:spPr>
          <a:xfrm>
            <a:off x="7498079" y="2468880"/>
            <a:ext cx="987552" cy="36576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analytics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498079" y="2971800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i="0" b="0">
                <a:solidFill>
                  <a:srgbClr val="7A7A7A"/>
                </a:solidFill>
                <a:latin typeface="Inter"/>
              </a:rPr>
              <a:t>consumer</a:t>
            </a:r>
          </a:p>
        </p:txBody>
      </p:sp>
      <p:sp>
        <p:nvSpPr>
          <p:cNvPr id="34" name="Text 15"/>
          <p:cNvSpPr txBox="1"/>
          <p:nvPr/>
        </p:nvSpPr>
        <p:spPr>
          <a:xfrm>
            <a:off x="4892040" y="3429000"/>
            <a:ext cx="359359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Command: "kirim email ke budi" (menyuruh, tahu penerimanya).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Event: "order #12 dibuat" (mengumumkan, siapa pun boleh bereaksi).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Sync vs Async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Semua Dipanggil Langsung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01-sync-vs-async/before.py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reserve_stock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harus sync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  [order] order #{order['id']} disimpan"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send_email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0.8 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add_points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0.3 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update_analytics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service mati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[order] order #1 disimpan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[email] order #1 terkirim ke budi@mail.com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[points] +90 poin untuk budi@mail.com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Response: 500 Internal Server 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Waktu response: 1151 ms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Waktu response = jumlah semua layanan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Analytics mati, request ikut error padahal order sudah tersimpan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Layanan baru = place_order diubah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Sync vs Async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Producer-Consumer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01-sync-vs-async/after.py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place_order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producer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reserve_stock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C3A6FF"/>
                </a:solidFill>
                <a:latin typeface="Consolas"/>
              </a:rPr>
              <a:t>print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f"  [order] order #{order['id']} disimpan"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umumkan event, tidak menunggu siapa pun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events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put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{</a:t>
            </a:r>
            <a:r>
              <a:rPr sz="950" i="0">
                <a:solidFill>
                  <a:srgbClr val="A5D6A7"/>
                </a:solidFill>
                <a:latin typeface="Consolas"/>
              </a:rPr>
              <a:t>"type"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"order.placed"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*</a:t>
            </a:r>
            <a:r>
              <a:rPr sz="950" i="0">
                <a:solidFill>
                  <a:srgbClr val="E6EDF3"/>
                </a:solidFill>
                <a:latin typeface="Consolas"/>
              </a:rPr>
              <a:t>*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consumer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while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True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event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events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get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for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handler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in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HANDLERS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try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handler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event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ConnectionError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as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exc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Response: 201 Created, 50 ms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Cek stok tetap sync, sisanya async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Analytics mati tidak membuat order gagal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Layanan baru cukup ditambah di consumer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Di produksi, antreannya message broker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02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RabbitMQ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Exchange, queue, ack/nack, dead letter queue, dan idempotent consumer.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Exchange &amp; Queue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Exchange, Queue, dan Binding?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Producer mengirim pesan ke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exchange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dengan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routing key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 Exchange meneruskan pesan ke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queue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yang cocok dengan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binding</a:t>
            </a:r>
            <a:r>
              <a:rPr sz="1050" i="0" b="0">
                <a:solidFill>
                  <a:srgbClr val="434343"/>
                </a:solidFill>
                <a:latin typeface="Inter"/>
              </a:rPr>
              <a:t>-nya. Queue menyimpan pesan sampai diambil consumer.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Producer cukup tahu nama exchange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Satu event bisa masuk ke banyak queue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Setiap consumer memilih event yang dia mau</a:t>
            </a:r>
          </a:p>
        </p:txBody>
      </p:sp>
      <p:sp>
        <p:nvSpPr>
          <p:cNvPr id="23" name="Box 4"/>
          <p:cNvSpPr/>
          <p:nvPr/>
        </p:nvSpPr>
        <p:spPr>
          <a:xfrm>
            <a:off x="4892040" y="2148840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Producer</a:t>
            </a:r>
          </a:p>
        </p:txBody>
      </p:sp>
      <p:cxnSp>
        <p:nvCxnSpPr>
          <p:cNvPr id="24" name="Arrow 5"/>
          <p:cNvCxnSpPr/>
          <p:nvPr/>
        </p:nvCxnSpPr>
        <p:spPr>
          <a:xfrm>
            <a:off x="5806440" y="2423160"/>
            <a:ext cx="320040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 6"/>
          <p:cNvSpPr/>
          <p:nvPr/>
        </p:nvSpPr>
        <p:spPr>
          <a:xfrm>
            <a:off x="6126480" y="205740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exchange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orders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(topic)</a:t>
            </a:r>
          </a:p>
        </p:txBody>
      </p:sp>
      <p:cxnSp>
        <p:nvCxnSpPr>
          <p:cNvPr id="26" name="Arrow 7"/>
          <p:cNvCxnSpPr/>
          <p:nvPr/>
        </p:nvCxnSpPr>
        <p:spPr>
          <a:xfrm flipV="1">
            <a:off x="7040880" y="1755648"/>
            <a:ext cx="457199" cy="667512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 8"/>
          <p:cNvSpPr/>
          <p:nvPr/>
        </p:nvSpPr>
        <p:spPr>
          <a:xfrm>
            <a:off x="7498079" y="1554480"/>
            <a:ext cx="987552" cy="402336"/>
          </a:xfrm>
          <a:prstGeom prst="roundRect">
            <a:avLst>
              <a:gd name="adj" fmla="val 27272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email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7498079" y="1956816"/>
            <a:ext cx="9875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order.*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7040880" y="2423160"/>
            <a:ext cx="457199" cy="1828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ox 11"/>
          <p:cNvSpPr/>
          <p:nvPr/>
        </p:nvSpPr>
        <p:spPr>
          <a:xfrm>
            <a:off x="7498079" y="2240280"/>
            <a:ext cx="987552" cy="402336"/>
          </a:xfrm>
          <a:prstGeom prst="roundRect">
            <a:avLst>
              <a:gd name="adj" fmla="val 27272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points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7498079" y="2642616"/>
            <a:ext cx="9875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order.paid</a:t>
            </a:r>
          </a:p>
        </p:txBody>
      </p:sp>
      <p:cxnSp>
        <p:nvCxnSpPr>
          <p:cNvPr id="32" name="Arrow 13"/>
          <p:cNvCxnSpPr/>
          <p:nvPr/>
        </p:nvCxnSpPr>
        <p:spPr>
          <a:xfrm>
            <a:off x="7040880" y="2423160"/>
            <a:ext cx="457199" cy="704088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Box 14"/>
          <p:cNvSpPr/>
          <p:nvPr/>
        </p:nvSpPr>
        <p:spPr>
          <a:xfrm>
            <a:off x="7498079" y="2926080"/>
            <a:ext cx="987552" cy="402336"/>
          </a:xfrm>
          <a:prstGeom prst="roundRect">
            <a:avLst>
              <a:gd name="adj" fmla="val 27272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1C4587"/>
                </a:solidFill>
                <a:latin typeface="Inter"/>
              </a:rPr>
              <a:t>analytics</a:t>
            </a:r>
          </a:p>
        </p:txBody>
      </p:sp>
      <p:sp>
        <p:nvSpPr>
          <p:cNvPr id="34" name="Text 15"/>
          <p:cNvSpPr txBox="1"/>
          <p:nvPr/>
        </p:nvSpPr>
        <p:spPr>
          <a:xfrm>
            <a:off x="7498079" y="3328416"/>
            <a:ext cx="987552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#</a:t>
            </a:r>
          </a:p>
        </p:txBody>
      </p:sp>
      <p:sp>
        <p:nvSpPr>
          <p:cNvPr id="35" name="Text 16"/>
          <p:cNvSpPr txBox="1"/>
          <p:nvPr/>
        </p:nvSpPr>
        <p:spPr>
          <a:xfrm>
            <a:off x="4892040" y="3657600"/>
            <a:ext cx="359359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Routing key </a:t>
            </a:r>
            <a:r>
              <a:rPr sz="900" i="0" b="0">
                <a:solidFill>
                  <a:srgbClr val="B5482A"/>
                </a:solidFill>
                <a:latin typeface="Consolas"/>
              </a:rPr>
              <a:t>order.paid</a:t>
            </a:r>
            <a:r>
              <a:rPr sz="900" i="0" b="0">
                <a:solidFill>
                  <a:srgbClr val="7A7A7A"/>
                </a:solidFill>
                <a:latin typeface="Inter"/>
              </a:rPr>
              <a:t> masuk ke email, points, dan analytics. </a:t>
            </a:r>
            <a:r>
              <a:rPr sz="900" i="0" b="0">
                <a:solidFill>
                  <a:srgbClr val="B5482A"/>
                </a:solidFill>
                <a:latin typeface="Consolas"/>
              </a:rPr>
              <a:t>*</a:t>
            </a:r>
            <a:r>
              <a:rPr sz="900" i="0" b="0">
                <a:solidFill>
                  <a:srgbClr val="7A7A7A"/>
                </a:solidFill>
                <a:latin typeface="Inter"/>
              </a:rPr>
              <a:t> = tepat satu kata, </a:t>
            </a:r>
            <a:r>
              <a:rPr sz="900" i="0" b="0">
                <a:solidFill>
                  <a:srgbClr val="B5482A"/>
                </a:solidFill>
                <a:latin typeface="Consolas"/>
              </a:rPr>
              <a:t>#</a:t>
            </a:r>
            <a:r>
              <a:rPr sz="900" i="0" b="0">
                <a:solidFill>
                  <a:srgbClr val="7A7A7A"/>
                </a:solidFill>
                <a:latin typeface="Inter"/>
              </a:rPr>
              <a:t> = nol kata atau lebih.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Exchange &amp; Queue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Producer Kirim ke Setiap Queue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02-exchange-queue/before.py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7FDBCA"/>
                </a:solidFill>
                <a:latin typeface="Consolas"/>
              </a:rPr>
              <a:t>QUEUES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"points"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consumer baru = tambah di sini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publish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event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dict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queue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QUEUES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queue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"points"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and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event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A5D6A7"/>
                </a:solidFill>
                <a:latin typeface="Consolas"/>
              </a:rPr>
              <a:t>"type"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!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"order.paid"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continue</a:t>
            </a: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aturan consumer, ditulis di producer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basic_publish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exchange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A5D6A7"/>
                </a:solidFill>
                <a:latin typeface="Consolas"/>
              </a:rPr>
              <a:t>""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routing_key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queue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 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body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json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dumps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event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Queue email    : 2 pesan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Queue points   : 1 pesan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Producer harus tahu semua consumer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Aturan "points hanya order.paid" ada di producer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Tim analytics butuh event = kode producer diubah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Exchange &amp; Queue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Topic Exchange + Binding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02-exchange-queue/after.py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7FDBCA"/>
                </a:solidFill>
                <a:latin typeface="Consolas"/>
              </a:rPr>
              <a:t>BINDINGS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"order.*"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"points"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"order.paid"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"analytics"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"#"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exchange_declare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exchange_type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A5D6A7"/>
                </a:solidFill>
                <a:latin typeface="Consolas"/>
              </a:rPr>
              <a:t>"topic"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durable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FF8E6E"/>
                </a:solidFill>
                <a:latin typeface="Consolas"/>
              </a:rPr>
              <a:t>True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for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queue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pattern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in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BINDINGS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items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queue_declare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queue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durable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FF8E6E"/>
                </a:solidFill>
                <a:latin typeface="Consolas"/>
              </a:rPr>
              <a:t>True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queue_bind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queue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routing_key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pattern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publish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dict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basic_publish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exchange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routing_key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"type"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Queue email     (order.*   ): 2 pesan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Queue points    (order.paid): 1 pesan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Queue analytics (#         ): 2 pesan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Producer cuma kirim ke exchange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orders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Consumer baru = queue + binding baru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durable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+ pesan persistent: tetap ada setelah RabbitMQ restart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Ack &amp; Nack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Ack dan Nack?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Cara consumer memberi tahu RabbitMQ hasil pemrosesan pesan.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Ack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= selesai, pesan boleh dihapus.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Nack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= gagal, pesan dikembalikan ke queue atau dibuang ke dead letter queue.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Pesan tidak hilang saat consumer crash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Consumer menentukan kapan pesan dianggap selesai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Pesan gagal bisa diarahkan ke tempat lain</a:t>
            </a:r>
          </a:p>
        </p:txBody>
      </p:sp>
      <p:graphicFrame>
        <p:nvGraphicFramePr>
          <p:cNvPr id="23" name="Table 4"/>
          <p:cNvGraphicFramePr>
            <a:graphicFrameLocks noGrp="1"/>
          </p:cNvGraphicFramePr>
          <p:nvPr/>
        </p:nvGraphicFramePr>
        <p:xfrm>
          <a:off x="4892040" y="1554480"/>
          <a:ext cx="3593592" cy="246888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76479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FFFFFF"/>
                          </a:solidFill>
                          <a:latin typeface="Inter"/>
                        </a:rPr>
                        <a:t>Perintah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FFFFFF"/>
                          </a:solidFill>
                          <a:latin typeface="Inter"/>
                        </a:rPr>
                        <a:t>Artinya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basic_ack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Selesai, hapus dari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basic_nack(requeue=True)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Gagal, kembalikan ke queue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basic_nack(requeue=False)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Gagal, buang / ke DLQ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auto_ack=True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Dianggap selesai begitu dikirim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prefetch_count=1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Maks. 1 pesan belum di-ack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Ack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auto_ack=True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03-ack/before.py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run_consumer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crash_on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E6EDF3"/>
                </a:solidFill>
                <a:latin typeface="Consolas"/>
              </a:rPr>
              <a:t>&gt;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for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properties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body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in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consume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auto_ack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F8E6E"/>
                </a:solidFill>
                <a:latin typeface="Consolas"/>
              </a:rPr>
              <a:t>True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inactivity_timeout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send_email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json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loads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body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crash_on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processed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+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Pesan di queue: 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email order #1 terkirim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CRASH: worker crash saat memproses order #2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Sisa di queue setelah crash: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Consumer dijalankan ulang: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  0 pesan diproses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dihapus begitu dikirim ke consumer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Crash di order #2: order #2 dan #3 hilang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Customer tidak pernah dapat email, tanpa ada error yang tercatat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Ack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Ack Manual + prefetch_count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03-ack/after.py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run_consumer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crash_on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F8E6E"/>
                </a:solidFill>
                <a:latin typeface="Consolas"/>
              </a:rPr>
              <a:t>None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basic_qos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prefetch_count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properties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body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consume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90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auto_ack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F8E6E"/>
                </a:solidFill>
                <a:latin typeface="Consolas"/>
              </a:rPr>
              <a:t>False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inactivity_timeout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send_email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json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loads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body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crash_on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pekerjaan selesai, baru pesan boleh dihapus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basic_ack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processed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+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CRASH: worker crash saat memproses order #2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Sisa di queue setelah crash: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Consumer dijalankan ulang: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(pesan ini pernah dikirim sebelumnya)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email order #2 terkirim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  email order #3 terkirim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Belum di-ack = belum dihapus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Crash: pesan kembali ke queue (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redelivered</a:t>
            </a:r>
            <a:r>
              <a:rPr sz="1000" i="0" b="0">
                <a:solidFill>
                  <a:srgbClr val="434343"/>
                </a:solidFill>
                <a:latin typeface="Inter"/>
              </a:rPr>
              <a:t>)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prefetch_count=1</a:t>
            </a:r>
            <a:r>
              <a:rPr sz="1000" i="0" b="0">
                <a:solidFill>
                  <a:srgbClr val="434343"/>
                </a:solidFill>
                <a:latin typeface="Inter"/>
              </a:rPr>
              <a:t>: pesan lain tetap di queue untuk consumer lain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Nack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Semua Error di-Requeue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04-nack-dead-letter/before.py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handle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body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try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send_email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json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loads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body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basic_ack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EmailServerDown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kembalikan ke queue, coba lagi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basic_nack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requeue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FF8E6E"/>
                </a:solidFill>
                <a:latin typeface="Consolas"/>
              </a:rPr>
              <a:t>True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queue: order #1 (customer kosong), order #2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Order #1: diproses 12,763 kali     (dalam 3 detik)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1">
                <a:solidFill>
                  <a:srgbClr val="8B98A8"/>
                </a:solidFill>
                <a:latin typeface="Consolas"/>
              </a:rPr>
              <a:t># Order #2: diproses 0 kali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rusak tidak akan pernah berhasil, berputar terus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#2 di belakangnya ikut tertahan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Server email yang gangguan langsung dihantam lagi tanpa jeda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Dead Letter Queue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Dead Letter Queue?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Queue penampungan untuk pesan yang gagal diproses: pesan rusak, atau gangguan yang tetap gagal setelah beberapa kali retry. Pesan dipindah ke sana lewat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nack(requeue=False)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Queue utama tidak macet karena satu pesan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Pesan gagal tidak hilang, bisa dicek lalu dikirim ulang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Retry diberi jeda, supaya server yang gangguan sempat pulih</a:t>
            </a:r>
          </a:p>
        </p:txBody>
      </p:sp>
      <p:sp>
        <p:nvSpPr>
          <p:cNvPr id="23" name="Box 4"/>
          <p:cNvSpPr/>
          <p:nvPr/>
        </p:nvSpPr>
        <p:spPr>
          <a:xfrm>
            <a:off x="4892040" y="1600200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email</a:t>
            </a:r>
          </a:p>
        </p:txBody>
      </p:sp>
      <p:sp>
        <p:nvSpPr>
          <p:cNvPr id="24" name="Box 5"/>
          <p:cNvSpPr/>
          <p:nvPr/>
        </p:nvSpPr>
        <p:spPr>
          <a:xfrm>
            <a:off x="7388352" y="1600200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email.dlq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5989320" y="1847088"/>
            <a:ext cx="1399032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7"/>
          <p:cNvSpPr txBox="1"/>
          <p:nvPr/>
        </p:nvSpPr>
        <p:spPr>
          <a:xfrm>
            <a:off x="5989320" y="1371600"/>
            <a:ext cx="139903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rusak / lewat batas</a:t>
            </a:r>
          </a:p>
        </p:txBody>
      </p:sp>
      <p:sp>
        <p:nvSpPr>
          <p:cNvPr id="27" name="Box 8"/>
          <p:cNvSpPr/>
          <p:nvPr/>
        </p:nvSpPr>
        <p:spPr>
          <a:xfrm>
            <a:off x="4892040" y="2834640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email.retry</a:t>
            </a:r>
          </a:p>
        </p:txBody>
      </p:sp>
      <p:cxnSp>
        <p:nvCxnSpPr>
          <p:cNvPr id="28" name="Arrow 9"/>
          <p:cNvCxnSpPr/>
          <p:nvPr/>
        </p:nvCxnSpPr>
        <p:spPr>
          <a:xfrm>
            <a:off x="5257800" y="2103120"/>
            <a:ext cx="0" cy="7315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10"/>
          <p:cNvSpPr txBox="1"/>
          <p:nvPr/>
        </p:nvSpPr>
        <p:spPr>
          <a:xfrm>
            <a:off x="5760720" y="22402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gagal sementara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+ expiration (jeda)</a:t>
            </a:r>
          </a:p>
        </p:txBody>
      </p:sp>
      <p:cxnSp>
        <p:nvCxnSpPr>
          <p:cNvPr id="30" name="Arrow 11"/>
          <p:cNvCxnSpPr/>
          <p:nvPr/>
        </p:nvCxnSpPr>
        <p:spPr>
          <a:xfrm flipV="1">
            <a:off x="5623560" y="2103120"/>
            <a:ext cx="0" cy="731520"/>
          </a:xfrm>
          <a:prstGeom prst="line">
            <a:avLst/>
          </a:prstGeom>
          <a:ln w="1905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 12"/>
          <p:cNvSpPr txBox="1"/>
          <p:nvPr/>
        </p:nvSpPr>
        <p:spPr>
          <a:xfrm>
            <a:off x="5989320" y="28803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kedaluwarsa, kembali ke email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(0.5 s, 1 s, 2 s)</a:t>
            </a:r>
          </a:p>
        </p:txBody>
      </p:sp>
      <p:sp>
        <p:nvSpPr>
          <p:cNvPr id="32" name="CodeBg 14"/>
          <p:cNvSpPr/>
          <p:nvPr/>
        </p:nvSpPr>
        <p:spPr>
          <a:xfrm>
            <a:off x="4892040" y="352044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3" name="Code 15"/>
          <p:cNvSpPr txBox="1"/>
          <p:nvPr/>
        </p:nvSpPr>
        <p:spPr>
          <a:xfrm>
            <a:off x="4892040" y="3520440"/>
            <a:ext cx="3593592" cy="914400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750" i="0">
                <a:solidFill>
                  <a:srgbClr val="E6EDF3"/>
                </a:solidFill>
                <a:latin typeface="Consolas"/>
              </a:rPr>
              <a:t>.</a:t>
            </a:r>
            <a:r>
              <a:rPr sz="750" i="0">
                <a:solidFill>
                  <a:srgbClr val="E6EDF3"/>
                </a:solidFill>
                <a:latin typeface="Consolas"/>
              </a:rPr>
              <a:t>queue_declare</a:t>
            </a:r>
            <a:r>
              <a:rPr sz="750" i="0">
                <a:solidFill>
                  <a:srgbClr val="E6EDF3"/>
                </a:solidFill>
                <a:latin typeface="Consolas"/>
              </a:rPr>
              <a:t>(</a:t>
            </a:r>
            <a:r>
              <a:rPr sz="75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750" i="0">
                <a:solidFill>
                  <a:srgbClr val="E6EDF3"/>
                </a:solidFill>
                <a:latin typeface="Consolas"/>
              </a:rPr>
              <a:t>,</a:t>
            </a:r>
            <a:r>
              <a:rPr sz="750" i="0">
                <a:solidFill>
                  <a:srgbClr val="E6EDF3"/>
                </a:solidFill>
                <a:latin typeface="Consolas"/>
              </a:rPr>
              <a:t> </a:t>
            </a:r>
            <a:r>
              <a:rPr sz="750" i="0">
                <a:solidFill>
                  <a:srgbClr val="E6EDF3"/>
                </a:solidFill>
                <a:latin typeface="Consolas"/>
              </a:rPr>
              <a:t>durable</a:t>
            </a:r>
            <a:r>
              <a:rPr sz="750" i="0">
                <a:solidFill>
                  <a:srgbClr val="E6EDF3"/>
                </a:solidFill>
                <a:latin typeface="Consolas"/>
              </a:rPr>
              <a:t>=</a:t>
            </a:r>
            <a:r>
              <a:rPr sz="750" i="0">
                <a:solidFill>
                  <a:srgbClr val="FF8E6E"/>
                </a:solidFill>
                <a:latin typeface="Consolas"/>
              </a:rPr>
              <a:t>True</a:t>
            </a:r>
            <a:r>
              <a:rPr sz="750" i="0">
                <a:solidFill>
                  <a:srgbClr val="E6EDF3"/>
                </a:solidFill>
                <a:latin typeface="Consolas"/>
              </a:rPr>
              <a:t>,</a:t>
            </a:r>
            <a:r>
              <a:rPr sz="750" i="0">
                <a:solidFill>
                  <a:srgbClr val="E6EDF3"/>
                </a:solidFill>
                <a:latin typeface="Consolas"/>
              </a:rPr>
              <a:t> </a:t>
            </a:r>
            <a:r>
              <a:rPr sz="750" i="0">
                <a:solidFill>
                  <a:srgbClr val="E6EDF3"/>
                </a:solidFill>
                <a:latin typeface="Consolas"/>
              </a:rPr>
              <a:t>arguments</a:t>
            </a:r>
            <a:r>
              <a:rPr sz="750" i="0">
                <a:solidFill>
                  <a:srgbClr val="E6EDF3"/>
                </a:solidFill>
                <a:latin typeface="Consolas"/>
              </a:rPr>
              <a:t>=</a:t>
            </a:r>
            <a:r>
              <a:rPr sz="750" i="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i="0">
                <a:solidFill>
                  <a:srgbClr val="E6EDF3"/>
                </a:solidFill>
                <a:latin typeface="Consolas"/>
              </a:rPr>
              <a:t>    </a:t>
            </a:r>
            <a:r>
              <a:rPr sz="750" i="0">
                <a:solidFill>
                  <a:srgbClr val="A5D6A7"/>
                </a:solidFill>
                <a:latin typeface="Consolas"/>
              </a:rPr>
              <a:t>"x-dead-letter-exchange"</a:t>
            </a:r>
            <a:r>
              <a:rPr sz="750" i="0">
                <a:solidFill>
                  <a:srgbClr val="E6EDF3"/>
                </a:solidFill>
                <a:latin typeface="Consolas"/>
              </a:rPr>
              <a:t>:</a:t>
            </a:r>
            <a:r>
              <a:rPr sz="750" i="0">
                <a:solidFill>
                  <a:srgbClr val="E6EDF3"/>
                </a:solidFill>
                <a:latin typeface="Consolas"/>
              </a:rPr>
              <a:t> </a:t>
            </a:r>
            <a:r>
              <a:rPr sz="750" i="0">
                <a:solidFill>
                  <a:srgbClr val="A5D6A7"/>
                </a:solidFill>
                <a:latin typeface="Consolas"/>
              </a:rPr>
              <a:t>""</a:t>
            </a:r>
            <a:r>
              <a:rPr sz="7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i="0">
                <a:solidFill>
                  <a:srgbClr val="E6EDF3"/>
                </a:solidFill>
                <a:latin typeface="Consolas"/>
              </a:rPr>
              <a:t>    </a:t>
            </a:r>
            <a:r>
              <a:rPr sz="750" i="0">
                <a:solidFill>
                  <a:srgbClr val="A5D6A7"/>
                </a:solidFill>
                <a:latin typeface="Consolas"/>
              </a:rPr>
              <a:t>"x-dead-letter-routing-key"</a:t>
            </a:r>
            <a:r>
              <a:rPr sz="750" i="0">
                <a:solidFill>
                  <a:srgbClr val="E6EDF3"/>
                </a:solidFill>
                <a:latin typeface="Consolas"/>
              </a:rPr>
              <a:t>:</a:t>
            </a:r>
            <a:r>
              <a:rPr sz="750" i="0">
                <a:solidFill>
                  <a:srgbClr val="E6EDF3"/>
                </a:solidFill>
                <a:latin typeface="Consolas"/>
              </a:rPr>
              <a:t> </a:t>
            </a:r>
            <a:r>
              <a:rPr sz="750" i="0">
                <a:solidFill>
                  <a:srgbClr val="A5D6A7"/>
                </a:solidFill>
                <a:latin typeface="Consolas"/>
              </a:rPr>
              <a:t>"email.dlq"</a:t>
            </a:r>
            <a:r>
              <a:rPr sz="750" i="0">
                <a:solidFill>
                  <a:srgbClr val="E6EDF3"/>
                </a:solidFill>
                <a:latin typeface="Consolas"/>
              </a:rPr>
              <a:t>}</a:t>
            </a:r>
            <a:r>
              <a:rPr sz="7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Nack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Retry dengan Jeda + DLQ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04-nack-dead-letter/after.py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handle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properties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body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retries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properties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headers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or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get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"x-retries"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0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try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send_email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json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loads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body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as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pesan rusak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basic_nack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requeue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FF8E6E"/>
                </a:solidFill>
                <a:latin typeface="Consolas"/>
              </a:rPr>
              <a:t>False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EmailServerDown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as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exc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if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retries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&gt;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MAX_RETRIES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basic_nack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requeue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FF8E6E"/>
                </a:solidFill>
                <a:latin typeface="Consolas"/>
              </a:rPr>
              <a:t>False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return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delay_ms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500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2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*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retries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props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pika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7FDBCA"/>
                </a:solidFill>
                <a:latin typeface="Consolas"/>
              </a:rPr>
              <a:t>BasicProperties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headers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"x-retries"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retries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+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1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    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expiration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C3A6FF"/>
                </a:solidFill>
                <a:latin typeface="Consolas"/>
              </a:rPr>
              <a:t>str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delay_ms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basic_publish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"email.retry"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body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props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rusak langsung ke DLQ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Gangguan sementara: retry 0.5 s, 1 s, 2 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#1: 1 kali lalu DLQ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#2: berhasil di percobaan ke-3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Idempotent Consumer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Idempotent Consumer?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Consumer yang hasilnya tetap sama walaupun pesan yang sama diproses lebih dari sekali. Caranya: setiap event punya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event_id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unik, dan consumer mencatat event yang sudah diproses.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Ack manual menjamin pesan tidak hilang, tapi pesan bisa datang dua kali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Mencegah email, poin, atau pembayaran dobel</a:t>
            </a:r>
          </a:p>
        </p:txBody>
      </p:sp>
      <p:graphicFrame>
        <p:nvGraphicFramePr>
          <p:cNvPr id="23" name="Table 4"/>
          <p:cNvGraphicFramePr>
            <a:graphicFrameLocks noGrp="1"/>
          </p:cNvGraphicFramePr>
          <p:nvPr/>
        </p:nvGraphicFramePr>
        <p:xfrm>
          <a:off x="4892040" y="1554480"/>
          <a:ext cx="3593592" cy="201168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1280160"/>
                <a:gridCol w="1170432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FFFFFF"/>
                          </a:solidFill>
                          <a:latin typeface="Inter"/>
                        </a:rPr>
                        <a:t>Jaminan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FFFFFF"/>
                          </a:solidFill>
                          <a:latin typeface="Inter"/>
                        </a:rPr>
                        <a:t>Caranya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FFFFFF"/>
                          </a:solidFill>
                          <a:latin typeface="Inter"/>
                        </a:rPr>
                        <a:t>Risiko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At-most-once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auto_ack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Pesan bisa hilang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At-least-once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ack manual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Pesan bisa dobel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1">
                          <a:solidFill>
                            <a:srgbClr val="1C4587"/>
                          </a:solidFill>
                          <a:latin typeface="Inter"/>
                        </a:rPr>
                        <a:t>Effectively once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ack manual + idempotent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i="0" b="0">
                          <a:solidFill>
                            <a:srgbClr val="434343"/>
                          </a:solidFill>
                          <a:latin typeface="Inter"/>
                        </a:rPr>
                        <a:t>Perlu catatan event_id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Idempotent Consumer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Pesan Dobel = Poin Dobel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05-idempotent-consumer/before.py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7FDBCA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"UPDATE points SET total = total + ? WHERE customer = ?"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with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"points"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  +{event['points']} poin untuk {event['customer']}"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di run_consumer():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json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loads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body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if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crash_before_ack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raise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RuntimeError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"worker crash sebelum ack"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basic_ack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method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delivery_tag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+90 poin untuk budi@mail.com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CRASH: worker crash sebelum 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dijalankan ulang: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+90 poin untuk budi@mail.com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Total poin budi@mail.com: 180 (seharusnya 90)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Poin sudah ditambah, ack belum terkirim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dikirim ulang, poin ditambah lagi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Bisa terjadi juga saat producer retry publish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Idempotent Consumer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Catat event_id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05-idempotent-consumer/after.py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"CREATE TABLE processed_events (event_id TEXT PRIMARY KEY)"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def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82B1FF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try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FF8E6E"/>
                </a:solidFill>
                <a:latin typeface="Consolas"/>
              </a:rPr>
              <a:t>with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           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satu transaksi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"INSERT INTO processed_events VALUES (?)"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"event_id"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850" i="0">
                <a:solidFill>
                  <a:srgbClr val="E6EDF3"/>
                </a:solidFill>
                <a:latin typeface="Consolas"/>
              </a:rPr>
              <a:t>db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execute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ADD_POINTS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"points"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A5D6A7"/>
                </a:solidFill>
                <a:latin typeface="Consolas"/>
              </a:rPr>
              <a:t>"customer"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  +{event['points']} poin untuk {event['customer']}"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FF8E6E"/>
                </a:solidFill>
                <a:latin typeface="Consolas"/>
              </a:rPr>
              <a:t>except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sqlite3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7FDBCA"/>
                </a:solidFill>
                <a:latin typeface="Consolas"/>
              </a:rPr>
              <a:t>IntegrityError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  event {event['event_id'][:8]} sudah diproses, skip"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dijalankan ulang: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event d0f1c505 sudah diproses, skip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Total poin budi@mail.com: 90 (seharusnya 90)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event_id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primary key, tidak bisa dobel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Catat event + tambah poin dalam satu transaksi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datang berapa kali pun, poin tetap 90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03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Apache Kafka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Topic, partition, consumer group, dan offset.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Kafka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Kafka?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84048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Platform event streaming yang menyimpan event seperti log: hanya ditambah di belakang dan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tidak dihapus setelah dibaca</a:t>
            </a:r>
            <a:r>
              <a:rPr sz="1050" i="0" b="0">
                <a:solidFill>
                  <a:srgbClr val="434343"/>
                </a:solidFill>
                <a:latin typeface="Inter"/>
              </a:rPr>
              <a:t>. Event baru hilang setelah masa simpan (retention) habis.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1">
                <a:solidFill>
                  <a:srgbClr val="434343"/>
                </a:solidFill>
                <a:latin typeface="Inter"/>
              </a:rPr>
              <a:t>Topic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nama log-nya, misalnya 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orders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1">
                <a:solidFill>
                  <a:srgbClr val="434343"/>
                </a:solidFill>
                <a:latin typeface="Inter"/>
              </a:rPr>
              <a:t>Partition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topic dipecah supaya bisa dibaca paralel. Key sama = partition sama = urut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1">
                <a:solidFill>
                  <a:srgbClr val="434343"/>
                </a:solidFill>
                <a:latin typeface="Inter"/>
              </a:rPr>
              <a:t>Offset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nomor urut event di partition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1">
                <a:solidFill>
                  <a:srgbClr val="434343"/>
                </a:solidFill>
                <a:latin typeface="Inter"/>
              </a:rPr>
              <a:t>Consumer group</a:t>
            </a:r>
            <a:r>
              <a:rPr sz="1050" i="0" b="0">
                <a:solidFill>
                  <a:srgbClr val="434343"/>
                </a:solidFill>
                <a:latin typeface="Inter"/>
              </a:rPr>
              <a:t>: satu tim pembaca, offset-nya dicatat sendiri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4892040" y="1463040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topic orders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4892040" y="1828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partition 0</a:t>
            </a:r>
          </a:p>
        </p:txBody>
      </p:sp>
      <p:sp>
        <p:nvSpPr>
          <p:cNvPr id="25" name="Box 6"/>
          <p:cNvSpPr/>
          <p:nvPr/>
        </p:nvSpPr>
        <p:spPr>
          <a:xfrm>
            <a:off x="5669280" y="178308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0</a:t>
            </a:r>
          </a:p>
        </p:txBody>
      </p:sp>
      <p:sp>
        <p:nvSpPr>
          <p:cNvPr id="26" name="Box 7"/>
          <p:cNvSpPr/>
          <p:nvPr/>
        </p:nvSpPr>
        <p:spPr>
          <a:xfrm>
            <a:off x="6053328" y="178308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1</a:t>
            </a:r>
          </a:p>
        </p:txBody>
      </p:sp>
      <p:sp>
        <p:nvSpPr>
          <p:cNvPr id="27" name="Box 8"/>
          <p:cNvSpPr/>
          <p:nvPr/>
        </p:nvSpPr>
        <p:spPr>
          <a:xfrm>
            <a:off x="6437376" y="178308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2</a:t>
            </a:r>
          </a:p>
        </p:txBody>
      </p:sp>
      <p:sp>
        <p:nvSpPr>
          <p:cNvPr id="28" name="Box 9"/>
          <p:cNvSpPr/>
          <p:nvPr/>
        </p:nvSpPr>
        <p:spPr>
          <a:xfrm>
            <a:off x="6821424" y="178308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3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4892040" y="23317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partition 1</a:t>
            </a:r>
          </a:p>
        </p:txBody>
      </p:sp>
      <p:sp>
        <p:nvSpPr>
          <p:cNvPr id="30" name="Box 11"/>
          <p:cNvSpPr/>
          <p:nvPr/>
        </p:nvSpPr>
        <p:spPr>
          <a:xfrm>
            <a:off x="5669280" y="228600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0</a:t>
            </a:r>
          </a:p>
        </p:txBody>
      </p:sp>
      <p:sp>
        <p:nvSpPr>
          <p:cNvPr id="31" name="Box 12"/>
          <p:cNvSpPr/>
          <p:nvPr/>
        </p:nvSpPr>
        <p:spPr>
          <a:xfrm>
            <a:off x="6053328" y="228600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1</a:t>
            </a:r>
          </a:p>
        </p:txBody>
      </p:sp>
      <p:sp>
        <p:nvSpPr>
          <p:cNvPr id="32" name="Box 13"/>
          <p:cNvSpPr/>
          <p:nvPr/>
        </p:nvSpPr>
        <p:spPr>
          <a:xfrm>
            <a:off x="6437376" y="228600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2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4892040" y="2834639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7A7A7A"/>
                </a:solidFill>
                <a:latin typeface="Inter"/>
              </a:rPr>
              <a:t>partition 2</a:t>
            </a:r>
          </a:p>
        </p:txBody>
      </p:sp>
      <p:sp>
        <p:nvSpPr>
          <p:cNvPr id="34" name="Box 15"/>
          <p:cNvSpPr/>
          <p:nvPr/>
        </p:nvSpPr>
        <p:spPr>
          <a:xfrm>
            <a:off x="5669280" y="278892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0</a:t>
            </a:r>
          </a:p>
        </p:txBody>
      </p:sp>
      <p:sp>
        <p:nvSpPr>
          <p:cNvPr id="35" name="Box 16"/>
          <p:cNvSpPr/>
          <p:nvPr/>
        </p:nvSpPr>
        <p:spPr>
          <a:xfrm>
            <a:off x="6053328" y="2788920"/>
            <a:ext cx="347472" cy="347472"/>
          </a:xfrm>
          <a:prstGeom prst="roundRect">
            <a:avLst>
              <a:gd name="adj" fmla="val 31578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00" i="0" b="1">
                <a:solidFill>
                  <a:srgbClr val="1C4587"/>
                </a:solidFill>
                <a:latin typeface="Inter"/>
              </a:rPr>
              <a:t>1</a:t>
            </a:r>
          </a:p>
        </p:txBody>
      </p:sp>
      <p:sp>
        <p:nvSpPr>
          <p:cNvPr id="36" name="Box 17"/>
          <p:cNvSpPr/>
          <p:nvPr/>
        </p:nvSpPr>
        <p:spPr>
          <a:xfrm>
            <a:off x="7498079" y="1783080"/>
            <a:ext cx="987552" cy="548640"/>
          </a:xfrm>
          <a:prstGeom prst="roundRect">
            <a:avLst>
              <a:gd name="adj" fmla="val 20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group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email</a:t>
            </a:r>
          </a:p>
        </p:txBody>
      </p:sp>
      <p:sp>
        <p:nvSpPr>
          <p:cNvPr id="37" name="Box 18"/>
          <p:cNvSpPr/>
          <p:nvPr/>
        </p:nvSpPr>
        <p:spPr>
          <a:xfrm>
            <a:off x="7498079" y="2606040"/>
            <a:ext cx="987552" cy="548640"/>
          </a:xfrm>
          <a:prstGeom prst="roundRect">
            <a:avLst>
              <a:gd name="adj" fmla="val 20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group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i="0" b="1">
                <a:solidFill>
                  <a:srgbClr val="FFFFFF"/>
                </a:solidFill>
                <a:latin typeface="Inter"/>
              </a:rPr>
              <a:t>analytics</a:t>
            </a:r>
          </a:p>
        </p:txBody>
      </p:sp>
      <p:sp>
        <p:nvSpPr>
          <p:cNvPr id="38" name="Text 19"/>
          <p:cNvSpPr txBox="1"/>
          <p:nvPr/>
        </p:nvSpPr>
        <p:spPr>
          <a:xfrm>
            <a:off x="4892040" y="3337560"/>
            <a:ext cx="3593592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Setiap group membaca semua event dan mencatat offset-nya sendiri. Dalam satu group, satu partition dibaca oleh satu consumer, jadi consumer bisa ditambah sampai sebanyak jumlah partition.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Kafka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RabbitMQ, Event Hilang Setelah di-Ack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06-kafka-basics/before.py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declare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"email"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FF8E6E"/>
                </a:solidFill>
                <a:latin typeface="Consolas"/>
              </a:rPr>
              <a:t>for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in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C3A6FF"/>
                </a:solidFill>
                <a:latin typeface="Consolas"/>
              </a:rPr>
              <a:t>range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F9C97A"/>
                </a:solidFill>
                <a:latin typeface="Consolas"/>
              </a:rPr>
              <a:t>1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9C97A"/>
                </a:solidFill>
                <a:latin typeface="Consolas"/>
              </a:rPr>
              <a:t>7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"type"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"order.placed"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"order_id"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basic_publish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"orders"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"order.placed"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json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dumps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f"Consumer email           : {consume(channel, 'email')} event"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f"Consumer email baca ulang: {consume(channel, 'email')} event"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declare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channel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"analytics"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tim analytics baru bergabung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C3A6FF"/>
                </a:solidFill>
                <a:latin typeface="Consolas"/>
              </a:rPr>
              <a:t>print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A5D6A7"/>
                </a:solidFill>
                <a:latin typeface="Consolas"/>
              </a:rPr>
              <a:t>f"Consumer analytics (baru): {consume(channel, 'analytics')} event"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email           : 6 event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email baca ulang: 0 event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analytics (baru): 0 event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Event dihapus setelah di-ack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Consumer baru tidak bisa membaca event lama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Ada bug di consumer, event kemarin tidak bisa diproses ulang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Kafka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Topic, Partition, Consumer Group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06-kafka-basics/after.py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key menentukan partition: customer sama = partition sama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producer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produce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7FDBCA"/>
                </a:solidFill>
                <a:latin typeface="Consolas"/>
              </a:rPr>
              <a:t>TOPIC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key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value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json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dumps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event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consumer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=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Consumer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{</a:t>
            </a:r>
            <a:r>
              <a:rPr sz="850" i="0">
                <a:solidFill>
                  <a:srgbClr val="A5D6A7"/>
                </a:solidFill>
                <a:latin typeface="Consolas"/>
              </a:rPr>
              <a:t>"bootstrap.servers"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7FDBCA"/>
                </a:solidFill>
                <a:latin typeface="Consolas"/>
              </a:rPr>
              <a:t>BOOTSTRAP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"group.id"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E6EDF3"/>
                </a:solidFill>
                <a:latin typeface="Consolas"/>
              </a:rPr>
              <a:t>group_id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"auto.offset.reset"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A5D6A7"/>
                </a:solidFill>
                <a:latin typeface="Consolas"/>
              </a:rPr>
              <a:t>"earliest"</a:t>
            </a:r>
            <a:r>
              <a:rPr sz="85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  </a:t>
            </a:r>
            <a:r>
              <a:rPr sz="850" i="0">
                <a:solidFill>
                  <a:srgbClr val="A5D6A7"/>
                </a:solidFill>
                <a:latin typeface="Consolas"/>
              </a:rPr>
              <a:t>"enable.auto.commit"</a:t>
            </a:r>
            <a:r>
              <a:rPr sz="850" i="0">
                <a:solidFill>
                  <a:srgbClr val="E6EDF3"/>
                </a:solidFill>
                <a:latin typeface="Consolas"/>
              </a:rPr>
              <a:t>:</a:t>
            </a: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  <a:r>
              <a:rPr sz="850" i="0">
                <a:solidFill>
                  <a:srgbClr val="FF8E6E"/>
                </a:solidFill>
                <a:latin typeface="Consolas"/>
              </a:rPr>
              <a:t>False</a:t>
            </a:r>
            <a:r>
              <a:rPr sz="850" i="0">
                <a:solidFill>
                  <a:srgbClr val="E6EDF3"/>
                </a:solidFill>
                <a:latin typeface="Consolas"/>
              </a:rPr>
              <a:t>}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consumer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subscribe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[</a:t>
            </a:r>
            <a:r>
              <a:rPr sz="850" i="0">
                <a:solidFill>
                  <a:srgbClr val="7FDBCA"/>
                </a:solidFill>
                <a:latin typeface="Consolas"/>
              </a:rPr>
              <a:t>TOPIC</a:t>
            </a:r>
            <a:r>
              <a:rPr sz="850" i="0">
                <a:solidFill>
                  <a:srgbClr val="E6EDF3"/>
                </a:solidFill>
                <a:latin typeface="Consolas"/>
              </a:rPr>
              <a:t>]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consumer</a:t>
            </a:r>
            <a:r>
              <a:rPr sz="850" i="0">
                <a:solidFill>
                  <a:srgbClr val="E6EDF3"/>
                </a:solidFill>
                <a:latin typeface="Consolas"/>
              </a:rPr>
              <a:t>.</a:t>
            </a:r>
            <a:r>
              <a:rPr sz="850" i="0">
                <a:solidFill>
                  <a:srgbClr val="E6EDF3"/>
                </a:solidFill>
                <a:latin typeface="Consolas"/>
              </a:rPr>
              <a:t>commit</a:t>
            </a:r>
            <a:r>
              <a:rPr sz="850" i="0">
                <a:solidFill>
                  <a:srgbClr val="E6EDF3"/>
                </a:solidFill>
                <a:latin typeface="Consolas"/>
              </a:rPr>
              <a:t>(</a:t>
            </a:r>
            <a:r>
              <a:rPr sz="850" i="0">
                <a:solidFill>
                  <a:srgbClr val="E6EDF3"/>
                </a:solidFill>
                <a:latin typeface="Consolas"/>
              </a:rPr>
              <a:t>msg</a:t>
            </a:r>
            <a:r>
              <a:rPr sz="850" i="0">
                <a:solidFill>
                  <a:srgbClr val="E6EDF3"/>
                </a:solidFill>
                <a:latin typeface="Consolas"/>
              </a:rPr>
              <a:t>)</a:t>
            </a:r>
            <a:r>
              <a:rPr sz="850" i="0">
                <a:solidFill>
                  <a:srgbClr val="E6EDF3"/>
                </a:solidFill>
                <a:latin typeface="Consolas"/>
              </a:rPr>
              <a:t>         </a:t>
            </a:r>
            <a:r>
              <a:rPr sz="850" i="1">
                <a:solidFill>
                  <a:srgbClr val="8B98A8"/>
                </a:solidFill>
                <a:latin typeface="Consolas"/>
              </a:rPr>
              <a:t># catat: group ini sudah baca sampai sini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group email           : 6 event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partition 0, offset 0,1: #2 ani, #5 ani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partition 1, offset 0,1,2: #1 budi, #3 budi, #6 budi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  partition 2, offset 0: #4 siti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group email baca ulang: 0 event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1">
                <a:solidFill>
                  <a:srgbClr val="8B98A8"/>
                </a:solidFill>
                <a:latin typeface="Consolas"/>
              </a:rPr>
              <a:t># Consumer group analytics (baru): 6 event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budi selalu di partition 1, urutannya terjaga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Group email lanjut dari offset terakhir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Group baru membaca dari offset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RabbitMQ vs Kafka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Kapan RabbitMQ atau Kafka?</a:t>
            </a:r>
          </a:p>
        </p:txBody>
      </p:sp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621792" y="1554480"/>
          <a:ext cx="7863840" cy="3072384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3154680"/>
                <a:gridCol w="31546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540"/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RabbitMQ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FFFFFF"/>
                          </a:solidFill>
                          <a:latin typeface="Inter"/>
                        </a:rPr>
                        <a:t>Kafka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Message queue: antrean pekerjaan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Event streaming: log event yang disimpan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Setelah dibaca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Dihapus setelah ack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Tetap ada sampai retention habis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Routing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Fleksibel: exchange, binding, routing key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Per topic, consumer memilih topic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Urutan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Per queue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Per partition (key sama = urut)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Baca ulang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Tidak bisa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Bisa: consumer group baru atau geser offset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Retry &amp; DLQ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Bawaan (nack, dead letter exchange)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Dibuat sendiri (topic retry / DLQ)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1">
                          <a:solidFill>
                            <a:srgbClr val="1C4587"/>
                          </a:solidFill>
                          <a:latin typeface="Inter"/>
                        </a:rPr>
                        <a:t>Cocok untuk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Job &amp; notifikasi, workflow antar 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i="0" b="0">
                          <a:solidFill>
                            <a:srgbClr val="434343"/>
                          </a:solidFill>
                          <a:latin typeface="Inter"/>
                        </a:rPr>
                        <a:t>Event bervolume besar, analytics, banyak consumer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Hands-on  ·  mulai dari 07-event-driven-orders/before/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Publish/Consume Event dengan RabbitMQ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36192"/>
            <a:ext cx="4160520" cy="3127248"/>
          </a:xfrm>
          <a:prstGeom prst="roundRect">
            <a:avLst>
              <a:gd name="adj" fmla="val 3508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27632"/>
            <a:ext cx="38862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Kriteria selesai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47672"/>
            <a:ext cx="3886200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B5482A"/>
                </a:solidFill>
                <a:latin typeface="Consolas"/>
              </a:rPr>
              <a:t>OrderService</a:t>
            </a:r>
            <a:r>
              <a:rPr sz="950" i="0" b="0">
                <a:solidFill>
                  <a:srgbClr val="434343"/>
                </a:solidFill>
                <a:latin typeface="Inter"/>
              </a:rPr>
              <a:t> publish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order.placed</a:t>
            </a:r>
            <a:r>
              <a:rPr sz="950" i="0" b="0">
                <a:solidFill>
                  <a:srgbClr val="434343"/>
                </a:solidFill>
                <a:latin typeface="Inter"/>
              </a:rPr>
              <a:t>,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order.paid</a:t>
            </a:r>
            <a:r>
              <a:rPr sz="950" i="0" b="0">
                <a:solidFill>
                  <a:srgbClr val="434343"/>
                </a:solidFill>
                <a:latin typeface="Inter"/>
              </a:rPr>
              <a:t>,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order.cancelled</a:t>
            </a:r>
            <a:r>
              <a:rPr sz="950" i="0" b="0">
                <a:solidFill>
                  <a:srgbClr val="434343"/>
                </a:solidFill>
                <a:latin typeface="Inter"/>
              </a:rPr>
              <a:t> setelah commit, lewat port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EventPublisher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Exchange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orders</a:t>
            </a:r>
            <a:r>
              <a:rPr sz="950" i="0" b="0">
                <a:solidFill>
                  <a:srgbClr val="434343"/>
                </a:solidFill>
                <a:latin typeface="Inter"/>
              </a:rPr>
              <a:t> (topic), queue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notifications</a:t>
            </a:r>
            <a:r>
              <a:rPr sz="950" i="0" b="0">
                <a:solidFill>
                  <a:srgbClr val="434343"/>
                </a:solidFill>
                <a:latin typeface="Inter"/>
              </a:rPr>
              <a:t> di-bind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order.*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Consumer: ack manual,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prefetch_count=1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Retry dengan jeda, pesan rusak / lewat batas ke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notifications.dlq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Event dobel tidak membuat notifikasi dobel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B5482A"/>
                </a:solidFill>
                <a:latin typeface="Consolas"/>
              </a:rPr>
              <a:t>pytest</a:t>
            </a:r>
            <a:r>
              <a:rPr sz="950" i="0" b="0">
                <a:solidFill>
                  <a:srgbClr val="434343"/>
                </a:solidFill>
                <a:latin typeface="Inter"/>
              </a:rPr>
              <a:t> hijau tanpa RabbitMQ</a:t>
            </a:r>
          </a:p>
        </p:txBody>
      </p:sp>
      <p:sp>
        <p:nvSpPr>
          <p:cNvPr id="25" name="CodeTab 7"/>
          <p:cNvSpPr/>
          <p:nvPr/>
        </p:nvSpPr>
        <p:spPr>
          <a:xfrm>
            <a:off x="4937760" y="1536192"/>
            <a:ext cx="354787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Dot 8"/>
          <p:cNvSpPr/>
          <p:nvPr/>
        </p:nvSpPr>
        <p:spPr>
          <a:xfrm>
            <a:off x="5047488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 9"/>
          <p:cNvSpPr/>
          <p:nvPr/>
        </p:nvSpPr>
        <p:spPr>
          <a:xfrm>
            <a:off x="5184648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 10"/>
          <p:cNvSpPr/>
          <p:nvPr/>
        </p:nvSpPr>
        <p:spPr>
          <a:xfrm>
            <a:off x="5321808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 11"/>
          <p:cNvSpPr txBox="1"/>
          <p:nvPr/>
        </p:nvSpPr>
        <p:spPr>
          <a:xfrm>
            <a:off x="5486400" y="1545336"/>
            <a:ext cx="2907791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target struktur</a:t>
            </a:r>
          </a:p>
        </p:txBody>
      </p:sp>
      <p:sp>
        <p:nvSpPr>
          <p:cNvPr id="30" name="CodeBg 13"/>
          <p:cNvSpPr/>
          <p:nvPr/>
        </p:nvSpPr>
        <p:spPr>
          <a:xfrm>
            <a:off x="4937760" y="1773936"/>
            <a:ext cx="3547872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Code 14"/>
          <p:cNvSpPr txBox="1"/>
          <p:nvPr/>
        </p:nvSpPr>
        <p:spPr>
          <a:xfrm>
            <a:off x="4937760" y="1773936"/>
            <a:ext cx="3547872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application/     events.py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ports.py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order_service.py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notification_service.py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infrastructure/  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             rabbitmq.py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consumers/       notification_consumer.py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api/             dependencies.py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worker/          tasks.py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after/tests/       test_notification_consumer.py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Penutup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Rangkuman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Sync vs Async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Sync kalau butuh jawaban sekarang, event kalau cukup tahu belakangan</a:t>
            </a:r>
          </a:p>
        </p:txBody>
      </p:sp>
      <p:sp>
        <p:nvSpPr>
          <p:cNvPr id="25" name="Box 6"/>
          <p:cNvSpPr/>
          <p:nvPr/>
        </p:nvSpPr>
        <p:spPr>
          <a:xfrm>
            <a:off x="3291840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Text 7"/>
          <p:cNvSpPr txBox="1"/>
          <p:nvPr/>
        </p:nvSpPr>
        <p:spPr>
          <a:xfrm>
            <a:off x="3429000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Exchange &amp; Binding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3429000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Producer kirim ke exchange, consumer memilih event lewat binding</a:t>
            </a:r>
          </a:p>
        </p:txBody>
      </p:sp>
      <p:sp>
        <p:nvSpPr>
          <p:cNvPr id="28" name="Box 9"/>
          <p:cNvSpPr/>
          <p:nvPr/>
        </p:nvSpPr>
        <p:spPr>
          <a:xfrm>
            <a:off x="5961888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9" name="Text 10"/>
          <p:cNvSpPr txBox="1"/>
          <p:nvPr/>
        </p:nvSpPr>
        <p:spPr>
          <a:xfrm>
            <a:off x="6099048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Ack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6099048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Ack setelah pekerjaan selesai, prefetch_count untuk membatasi</a:t>
            </a:r>
          </a:p>
        </p:txBody>
      </p:sp>
      <p:sp>
        <p:nvSpPr>
          <p:cNvPr id="31" name="Box 12"/>
          <p:cNvSpPr/>
          <p:nvPr/>
        </p:nvSpPr>
        <p:spPr>
          <a:xfrm>
            <a:off x="621792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2" name="Text 13"/>
          <p:cNvSpPr txBox="1"/>
          <p:nvPr/>
        </p:nvSpPr>
        <p:spPr>
          <a:xfrm>
            <a:off x="758952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Nack &amp; DLQ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58952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Retry dengan jeda, pesan rusak dan gagal permanen ke DLQ</a:t>
            </a:r>
          </a:p>
        </p:txBody>
      </p:sp>
      <p:sp>
        <p:nvSpPr>
          <p:cNvPr id="34" name="Box 15"/>
          <p:cNvSpPr/>
          <p:nvPr/>
        </p:nvSpPr>
        <p:spPr>
          <a:xfrm>
            <a:off x="3291840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5" name="Text 16"/>
          <p:cNvSpPr txBox="1"/>
          <p:nvPr/>
        </p:nvSpPr>
        <p:spPr>
          <a:xfrm>
            <a:off x="3429000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Idempotent Consumer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3429000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Catat event_id, pesan dobel tidak diproses dua kali</a:t>
            </a:r>
          </a:p>
        </p:txBody>
      </p:sp>
      <p:sp>
        <p:nvSpPr>
          <p:cNvPr id="37" name="Box 18"/>
          <p:cNvSpPr/>
          <p:nvPr/>
        </p:nvSpPr>
        <p:spPr>
          <a:xfrm>
            <a:off x="5961888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 19"/>
          <p:cNvSpPr txBox="1"/>
          <p:nvPr/>
        </p:nvSpPr>
        <p:spPr>
          <a:xfrm>
            <a:off x="6099048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Kafka</a:t>
            </a:r>
          </a:p>
        </p:txBody>
      </p:sp>
      <p:sp>
        <p:nvSpPr>
          <p:cNvPr id="39" name="Text 20"/>
          <p:cNvSpPr txBox="1"/>
          <p:nvPr/>
        </p:nvSpPr>
        <p:spPr>
          <a:xfrm>
            <a:off x="6099048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Log event yang bisa dibaca ulang, urut per partition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907dbd872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401" y="4399825"/>
            <a:ext cx="24498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907dbd8723_0_0"/>
          <p:cNvSpPr txBox="1"/>
          <p:nvPr/>
        </p:nvSpPr>
        <p:spPr>
          <a:xfrm>
            <a:off x="843350" y="1097280"/>
            <a:ext cx="4977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Source Code</a:t>
            </a:r>
            <a:endParaRPr b="0" i="0" sz="3000" u="none" cap="none" strike="noStrike">
              <a:solidFill>
                <a:srgbClr val="FFFFF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255" name="Google Shape;255;g2907dbd8723_0_0"/>
          <p:cNvSpPr txBox="1"/>
          <p:nvPr/>
        </p:nvSpPr>
        <p:spPr>
          <a:xfrm>
            <a:off x="1230650" y="1934520"/>
            <a:ext cx="192024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Sesi 8</a:t>
            </a:r>
            <a:endParaRPr b="0" i="1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g2907dbd872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907dbd87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775" y="4399825"/>
            <a:ext cx="284713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07dbd872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899" y="4399825"/>
            <a:ext cx="198637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907dbd872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695" y="4399825"/>
            <a:ext cx="20194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907dbd8723_0_0"/>
          <p:cNvSpPr txBox="1"/>
          <p:nvPr/>
        </p:nvSpPr>
        <p:spPr>
          <a:xfrm>
            <a:off x="123065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07dbd8723_0_0"/>
          <p:cNvSpPr txBox="1"/>
          <p:nvPr/>
        </p:nvSpPr>
        <p:spPr>
          <a:xfrm>
            <a:off x="3088375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07dbd8723_0_0"/>
          <p:cNvSpPr txBox="1"/>
          <p:nvPr/>
        </p:nvSpPr>
        <p:spPr>
          <a:xfrm>
            <a:off x="494610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907dbd8723_0_0"/>
          <p:cNvSpPr txBox="1"/>
          <p:nvPr/>
        </p:nvSpPr>
        <p:spPr>
          <a:xfrm>
            <a:off x="6704525" y="4338875"/>
            <a:ext cx="14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 Indonesia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2907dbd8723_0_0"/>
          <p:cNvCxnSpPr/>
          <p:nvPr/>
        </p:nvCxnSpPr>
        <p:spPr>
          <a:xfrm>
            <a:off x="3063240" y="2160270"/>
            <a:ext cx="914400" cy="9600"/>
          </a:xfrm>
          <a:prstGeom prst="straightConnector1">
            <a:avLst/>
          </a:prstGeom>
          <a:noFill/>
          <a:ln cap="flat" cmpd="sng" w="19050">
            <a:solidFill>
              <a:srgbClr val="FFF5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2907dbd8723_0_0">
            <a:hlinkClick r:id="rId7"/>
          </p:cNvPr>
          <p:cNvSpPr txBox="1"/>
          <p:nvPr/>
        </p:nvSpPr>
        <p:spPr>
          <a:xfrm>
            <a:off x="4206240" y="1934520"/>
            <a:ext cx="402336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github.com/bagusedghar/fastapi-intermediate</a:t>
            </a:r>
            <a:endParaRPr b="0" i="1" sz="1500" u="sng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