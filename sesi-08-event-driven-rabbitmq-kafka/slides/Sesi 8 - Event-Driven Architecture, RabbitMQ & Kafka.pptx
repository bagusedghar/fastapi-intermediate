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48" r:id="rId1"/>
  </p:sldMasterIdLst>
  <p:notesMasterIdLst>
    <p:notesMasterId r:id="rId79"/>
  </p:notesMasterIdLst>
  <p:sldIdLst>
    <p:sldId id="256" r:id="rId2"/>
    <p:sldId id="257" r:id="rId3"/>
    <p:sldId id="277" r:id="rId4"/>
    <p:sldId id="278" r:id="rId5"/>
    <p:sldId id="279" r:id="rId6"/>
    <p:sldId id="280" r:id="rId7"/>
    <p:sldId id="281" r:id="rId8"/>
    <p:sldId id="282" r:id="rId9"/>
    <p:sldId id="283" r:id="rId10"/>
    <p:sldId id="284" r:id="rId11"/>
    <p:sldId id="285" r:id="rId12"/>
    <p:sldId id="286" r:id="rId13"/>
    <p:sldId id="287" r:id="rId14"/>
    <p:sldId id="288" r:id="rId15"/>
    <p:sldId id="289" r:id="rId16"/>
    <p:sldId id="290" r:id="rId17"/>
    <p:sldId id="291" r:id="rId18"/>
    <p:sldId id="292" r:id="rId19"/>
    <p:sldId id="293" r:id="rId20"/>
    <p:sldId id="294" r:id="rId21"/>
    <p:sldId id="295" r:id="rId22"/>
    <p:sldId id="296" r:id="rId23"/>
    <p:sldId id="297" r:id="rId24"/>
    <p:sldId id="298" r:id="rId25"/>
    <p:sldId id="299" r:id="rId26"/>
    <p:sldId id="300" r:id="rId27"/>
    <p:sldId id="301" r:id="rId28"/>
    <p:sldId id="302" r:id="rId29"/>
    <p:sldId id="303" r:id="rId30"/>
    <p:sldId id="304" r:id="rId31"/>
    <p:sldId id="305" r:id="rId32"/>
    <p:sldId id="306" r:id="rId33"/>
    <p:sldId id="307" r:id="rId34"/>
    <p:sldId id="308" r:id="rId35"/>
    <p:sldId id="309" r:id="rId36"/>
    <p:sldId id="310" r:id="rId37"/>
    <p:sldId id="311" r:id="rId38"/>
    <p:sldId id="312" r:id="rId39"/>
    <p:sldId id="313" r:id="rId40"/>
    <p:sldId id="314" r:id="rId41"/>
    <p:sldId id="315" r:id="rId42"/>
    <p:sldId id="316" r:id="rId43"/>
    <p:sldId id="317" r:id="rId44"/>
    <p:sldId id="318" r:id="rId45"/>
    <p:sldId id="319" r:id="rId46"/>
    <p:sldId id="320" r:id="rId47"/>
    <p:sldId id="321" r:id="rId48"/>
    <p:sldId id="322" r:id="rId49"/>
    <p:sldId id="323" r:id="rId50"/>
    <p:sldId id="324" r:id="rId51"/>
    <p:sldId id="325" r:id="rId52"/>
    <p:sldId id="326" r:id="rId53"/>
    <p:sldId id="327" r:id="rId54"/>
    <p:sldId id="328" r:id="rId55"/>
    <p:sldId id="329" r:id="rId56"/>
    <p:sldId id="330" r:id="rId57"/>
    <p:sldId id="331" r:id="rId58"/>
    <p:sldId id="332" r:id="rId59"/>
    <p:sldId id="333" r:id="rId60"/>
    <p:sldId id="334" r:id="rId61"/>
    <p:sldId id="335" r:id="rId62"/>
    <p:sldId id="336" r:id="rId63"/>
    <p:sldId id="337" r:id="rId64"/>
    <p:sldId id="338" r:id="rId65"/>
    <p:sldId id="339" r:id="rId66"/>
    <p:sldId id="340" r:id="rId67"/>
    <p:sldId id="341" r:id="rId68"/>
    <p:sldId id="342" r:id="rId69"/>
    <p:sldId id="343" r:id="rId70"/>
    <p:sldId id="344" r:id="rId71"/>
    <p:sldId id="345" r:id="rId72"/>
    <p:sldId id="346" r:id="rId73"/>
    <p:sldId id="347" r:id="rId74"/>
    <p:sldId id="348" r:id="rId75"/>
    <p:sldId id="349" r:id="rId76"/>
    <p:sldId id="350" r:id="rId77"/>
    <p:sldId id="276" r:id="rId78"/>
  </p:sldIdLst>
  <p:sldSz cx="9144000" cy="5143500" type="screen16x9"/>
  <p:notesSz cx="6858000" cy="9144000"/>
  <p:embeddedFontLst>
    <p:embeddedFont>
      <p:font typeface="Inconsolata" pitchFamily="1" charset="0"/>
      <p:regular r:id="rId80"/>
      <p:bold r:id="rId81"/>
    </p:embeddedFont>
    <p:embeddedFont>
      <p:font typeface="Inter" panose="02000503000000020004" pitchFamily="2" charset="0"/>
      <p:regular r:id="rId82"/>
      <p:bold r:id="rId83"/>
      <p:italic r:id="rId84"/>
      <p:boldItalic r:id="rId85"/>
    </p:embeddedFont>
    <p:embeddedFont>
      <p:font typeface="Work Sans ExtraBold" pitchFamily="2" charset="0"/>
      <p:bold r:id="rId86"/>
    </p:embeddedFont>
    <p:embeddedFont>
      <p:font typeface="Work Sans Medium" pitchFamily="2" charset="0"/>
      <p:regular r:id="rId8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88" roundtripDataSignature="AMtx7misuxx245f/qKiEmR3PX6YRe0tIP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3" d="100"/>
          <a:sy n="103" d="100"/>
        </p:scale>
        <p:origin x="874" y="7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5.fntdata"/><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font" Target="fonts/font1.fntdata"/><Relationship Id="rId85" Type="http://schemas.openxmlformats.org/officeDocument/2006/relationships/font" Target="fonts/font6.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font" Target="fonts/font4.fntdata"/><Relationship Id="rId88" Type="http://customschemas.google.com/relationships/presentationmetadata" Target="metadata"/><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font" Target="fonts/font2.fntdata"/><Relationship Id="rId86"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8.fntdata"/><Relationship Id="rId61" Type="http://schemas.openxmlformats.org/officeDocument/2006/relationships/slide" Target="slides/slide60.xml"/><Relationship Id="rId82" Type="http://schemas.openxmlformats.org/officeDocument/2006/relationships/font" Target="fonts/font3.fntdata"/><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2" name="Google Shape;82;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g2442ffe4c8e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9" name="Google Shape;89;g2442ffe4c8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Peserta mengerjakan hands-on bersama mentor.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g2907dbd8723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1" name="Google Shape;251;g2907dbd8723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pic>
        <p:nvPicPr>
          <p:cNvPr id="10" name="Google Shape;10;p19"/>
          <p:cNvPicPr preferRelativeResize="0"/>
          <p:nvPr/>
        </p:nvPicPr>
        <p:blipFill rotWithShape="1">
          <a:blip r:embed="rId2">
            <a:alphaModFix/>
          </a:blip>
          <a:srcRect/>
          <a:stretch/>
        </p:blipFill>
        <p:spPr>
          <a:xfrm>
            <a:off x="-7200" y="-15150"/>
            <a:ext cx="9190446" cy="5169626"/>
          </a:xfrm>
          <a:prstGeom prst="rect">
            <a:avLst/>
          </a:prstGeom>
          <a:noFill/>
          <a:ln>
            <a:noFill/>
          </a:ln>
        </p:spPr>
      </p:pic>
      <p:sp>
        <p:nvSpPr>
          <p:cNvPr id="11" name="Google Shape;11;p1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12" name="Google Shape;12;p19"/>
          <p:cNvPicPr preferRelativeResize="0"/>
          <p:nvPr/>
        </p:nvPicPr>
        <p:blipFill rotWithShape="1">
          <a:blip r:embed="rId3">
            <a:alphaModFix/>
          </a:blip>
          <a:srcRect/>
          <a:stretch/>
        </p:blipFill>
        <p:spPr>
          <a:xfrm>
            <a:off x="7768176" y="286450"/>
            <a:ext cx="1080001" cy="24735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pic>
        <p:nvPicPr>
          <p:cNvPr id="14" name="Google Shape;14;p23"/>
          <p:cNvPicPr preferRelativeResize="0"/>
          <p:nvPr/>
        </p:nvPicPr>
        <p:blipFill rotWithShape="1">
          <a:blip r:embed="rId2">
            <a:alphaModFix/>
          </a:blip>
          <a:srcRect/>
          <a:stretch/>
        </p:blipFill>
        <p:spPr>
          <a:xfrm>
            <a:off x="0" y="-1"/>
            <a:ext cx="9144003" cy="5143504"/>
          </a:xfrm>
          <a:prstGeom prst="rect">
            <a:avLst/>
          </a:prstGeom>
          <a:noFill/>
          <a:ln>
            <a:noFill/>
          </a:ln>
        </p:spPr>
      </p:pic>
      <p:sp>
        <p:nvSpPr>
          <p:cNvPr id="15" name="Google Shape;15;p2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16" name="Google Shape;16;p23"/>
          <p:cNvPicPr preferRelativeResize="0"/>
          <p:nvPr/>
        </p:nvPicPr>
        <p:blipFill rotWithShape="1">
          <a:blip r:embed="rId3">
            <a:alphaModFix/>
          </a:blip>
          <a:srcRect/>
          <a:stretch/>
        </p:blipFill>
        <p:spPr>
          <a:xfrm>
            <a:off x="7768176" y="286450"/>
            <a:ext cx="1080001" cy="24735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1">
  <p:cSld name="SECTION_HEADER_3">
    <p:spTree>
      <p:nvGrpSpPr>
        <p:cNvPr id="1" name="Shape 17"/>
        <p:cNvGrpSpPr/>
        <p:nvPr/>
      </p:nvGrpSpPr>
      <p:grpSpPr>
        <a:xfrm>
          <a:off x="0" y="0"/>
          <a:ext cx="0" cy="0"/>
          <a:chOff x="0" y="0"/>
          <a:chExt cx="0" cy="0"/>
        </a:xfrm>
      </p:grpSpPr>
      <p:pic>
        <p:nvPicPr>
          <p:cNvPr id="18" name="Google Shape;18;p62"/>
          <p:cNvPicPr preferRelativeResize="0"/>
          <p:nvPr/>
        </p:nvPicPr>
        <p:blipFill rotWithShape="1">
          <a:blip r:embed="rId2">
            <a:alphaModFix/>
          </a:blip>
          <a:srcRect/>
          <a:stretch/>
        </p:blipFill>
        <p:spPr>
          <a:xfrm>
            <a:off x="0" y="-1"/>
            <a:ext cx="9206026" cy="5178401"/>
          </a:xfrm>
          <a:prstGeom prst="rect">
            <a:avLst/>
          </a:prstGeom>
          <a:noFill/>
          <a:ln>
            <a:noFill/>
          </a:ln>
        </p:spPr>
      </p:pic>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20" name="Google Shape;20;p62"/>
          <p:cNvPicPr preferRelativeResize="0"/>
          <p:nvPr/>
        </p:nvPicPr>
        <p:blipFill rotWithShape="1">
          <a:blip r:embed="rId3">
            <a:alphaModFix/>
          </a:blip>
          <a:srcRect/>
          <a:stretch/>
        </p:blipFill>
        <p:spPr>
          <a:xfrm>
            <a:off x="7768176" y="286450"/>
            <a:ext cx="1080001" cy="24735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slide 2 1 1">
  <p:cSld name="TITLE_2_1_1">
    <p:spTree>
      <p:nvGrpSpPr>
        <p:cNvPr id="1" name="Shape 21"/>
        <p:cNvGrpSpPr/>
        <p:nvPr/>
      </p:nvGrpSpPr>
      <p:grpSpPr>
        <a:xfrm>
          <a:off x="0" y="0"/>
          <a:ext cx="0" cy="0"/>
          <a:chOff x="0" y="0"/>
          <a:chExt cx="0" cy="0"/>
        </a:xfrm>
      </p:grpSpPr>
      <p:sp>
        <p:nvSpPr>
          <p:cNvPr id="22" name="Google Shape;22;p4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23" name="Google Shape;23;p49"/>
          <p:cNvPicPr preferRelativeResize="0"/>
          <p:nvPr/>
        </p:nvPicPr>
        <p:blipFill rotWithShape="1">
          <a:blip r:embed="rId2">
            <a:alphaModFix/>
          </a:blip>
          <a:srcRect l="-11869" r="-10498"/>
          <a:stretch/>
        </p:blipFill>
        <p:spPr>
          <a:xfrm>
            <a:off x="7614450" y="286450"/>
            <a:ext cx="1372051" cy="247350"/>
          </a:xfrm>
          <a:prstGeom prst="rect">
            <a:avLst/>
          </a:prstGeom>
          <a:noFill/>
          <a:ln>
            <a:noFill/>
          </a:ln>
        </p:spPr>
      </p:pic>
      <p:pic>
        <p:nvPicPr>
          <p:cNvPr id="24" name="Google Shape;24;p49"/>
          <p:cNvPicPr preferRelativeResize="0"/>
          <p:nvPr/>
        </p:nvPicPr>
        <p:blipFill rotWithShape="1">
          <a:blip r:embed="rId3">
            <a:alphaModFix/>
          </a:blip>
          <a:srcRect/>
          <a:stretch/>
        </p:blipFill>
        <p:spPr>
          <a:xfrm>
            <a:off x="0" y="0"/>
            <a:ext cx="9143992" cy="514350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3">
  <p:cSld name="SECTION_HEADER_4">
    <p:spTree>
      <p:nvGrpSpPr>
        <p:cNvPr id="1" name="Shape 25"/>
        <p:cNvGrpSpPr/>
        <p:nvPr/>
      </p:nvGrpSpPr>
      <p:grpSpPr>
        <a:xfrm>
          <a:off x="0" y="0"/>
          <a:ext cx="0" cy="0"/>
          <a:chOff x="0" y="0"/>
          <a:chExt cx="0" cy="0"/>
        </a:xfrm>
      </p:grpSpPr>
      <p:pic>
        <p:nvPicPr>
          <p:cNvPr id="26" name="Google Shape;26;p20"/>
          <p:cNvPicPr preferRelativeResize="0"/>
          <p:nvPr/>
        </p:nvPicPr>
        <p:blipFill rotWithShape="1">
          <a:blip r:embed="rId2">
            <a:alphaModFix/>
          </a:blip>
          <a:srcRect/>
          <a:stretch/>
        </p:blipFill>
        <p:spPr>
          <a:xfrm>
            <a:off x="0" y="-1"/>
            <a:ext cx="9143992" cy="5143501"/>
          </a:xfrm>
          <a:prstGeom prst="rect">
            <a:avLst/>
          </a:prstGeom>
          <a:noFill/>
          <a:ln>
            <a:noFill/>
          </a:ln>
        </p:spPr>
      </p:pic>
      <p:sp>
        <p:nvSpPr>
          <p:cNvPr id="27" name="Google Shape;27;p2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28" name="Google Shape;28;p20"/>
          <p:cNvPicPr preferRelativeResize="0"/>
          <p:nvPr/>
        </p:nvPicPr>
        <p:blipFill rotWithShape="1">
          <a:blip r:embed="rId3">
            <a:alphaModFix/>
          </a:blip>
          <a:srcRect/>
          <a:stretch/>
        </p:blipFill>
        <p:spPr>
          <a:xfrm>
            <a:off x="7768176" y="286450"/>
            <a:ext cx="1080001" cy="24735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slide 2 1">
  <p:cSld name="TITLE_2_1">
    <p:spTree>
      <p:nvGrpSpPr>
        <p:cNvPr id="1" name="Shape 29"/>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31" name="Google Shape;31;p21"/>
          <p:cNvPicPr preferRelativeResize="0"/>
          <p:nvPr/>
        </p:nvPicPr>
        <p:blipFill rotWithShape="1">
          <a:blip r:embed="rId2">
            <a:alphaModFix/>
          </a:blip>
          <a:srcRect/>
          <a:stretch/>
        </p:blipFill>
        <p:spPr>
          <a:xfrm>
            <a:off x="-7200" y="-7175"/>
            <a:ext cx="9204623" cy="5177601"/>
          </a:xfrm>
          <a:prstGeom prst="rect">
            <a:avLst/>
          </a:prstGeom>
          <a:noFill/>
          <a:ln>
            <a:noFill/>
          </a:ln>
        </p:spPr>
      </p:pic>
      <p:pic>
        <p:nvPicPr>
          <p:cNvPr id="32" name="Google Shape;32;p21"/>
          <p:cNvPicPr preferRelativeResize="0"/>
          <p:nvPr/>
        </p:nvPicPr>
        <p:blipFill rotWithShape="1">
          <a:blip r:embed="rId3">
            <a:alphaModFix/>
          </a:blip>
          <a:srcRect l="-11869" r="-10498"/>
          <a:stretch/>
        </p:blipFill>
        <p:spPr>
          <a:xfrm>
            <a:off x="7614450" y="286450"/>
            <a:ext cx="1372051" cy="24735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slide 2">
  <p:cSld name="TITLE_2">
    <p:spTree>
      <p:nvGrpSpPr>
        <p:cNvPr id="1" name="Shape 33"/>
        <p:cNvGrpSpPr/>
        <p:nvPr/>
      </p:nvGrpSpPr>
      <p:grpSpPr>
        <a:xfrm>
          <a:off x="0" y="0"/>
          <a:ext cx="0" cy="0"/>
          <a:chOff x="0" y="0"/>
          <a:chExt cx="0" cy="0"/>
        </a:xfrm>
      </p:grpSpPr>
      <p:pic>
        <p:nvPicPr>
          <p:cNvPr id="34" name="Google Shape;34;p22"/>
          <p:cNvPicPr preferRelativeResize="0"/>
          <p:nvPr/>
        </p:nvPicPr>
        <p:blipFill rotWithShape="1">
          <a:blip r:embed="rId2">
            <a:alphaModFix/>
          </a:blip>
          <a:srcRect/>
          <a:stretch/>
        </p:blipFill>
        <p:spPr>
          <a:xfrm>
            <a:off x="-14350" y="-6375"/>
            <a:ext cx="9160668" cy="5152876"/>
          </a:xfrm>
          <a:prstGeom prst="rect">
            <a:avLst/>
          </a:prstGeom>
          <a:noFill/>
          <a:ln>
            <a:noFill/>
          </a:ln>
        </p:spPr>
      </p:pic>
      <p:sp>
        <p:nvSpPr>
          <p:cNvPr id="35" name="Google Shape;35;p2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36" name="Google Shape;36;p22"/>
          <p:cNvPicPr preferRelativeResize="0"/>
          <p:nvPr/>
        </p:nvPicPr>
        <p:blipFill rotWithShape="1">
          <a:blip r:embed="rId3">
            <a:alphaModFix/>
          </a:blip>
          <a:srcRect l="-11869" r="-10498"/>
          <a:stretch/>
        </p:blipFill>
        <p:spPr>
          <a:xfrm>
            <a:off x="7614450" y="286450"/>
            <a:ext cx="1372051" cy="24735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7"/>
        <p:cNvGrpSpPr/>
        <p:nvPr/>
      </p:nvGrpSpPr>
      <p:grpSpPr>
        <a:xfrm>
          <a:off x="0" y="0"/>
          <a:ext cx="0" cy="0"/>
          <a:chOff x="0" y="0"/>
          <a:chExt cx="0" cy="0"/>
        </a:xfrm>
      </p:grpSpPr>
      <p:sp>
        <p:nvSpPr>
          <p:cNvPr id="38" name="Google Shape;38;p50"/>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9" name="Google Shape;39;p50"/>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5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41"/>
        <p:cNvGrpSpPr/>
        <p:nvPr/>
      </p:nvGrpSpPr>
      <p:grpSpPr>
        <a:xfrm>
          <a:off x="0" y="0"/>
          <a:ext cx="0" cy="0"/>
          <a:chOff x="0" y="0"/>
          <a:chExt cx="0" cy="0"/>
        </a:xfrm>
      </p:grpSpPr>
      <p:sp>
        <p:nvSpPr>
          <p:cNvPr id="42" name="Google Shape;42;p5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43" name="Google Shape;43;p51"/>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44" name="Google Shape;44;p51"/>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45" name="Google Shape;45;p5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6"/>
        <p:cNvGrpSpPr/>
        <p:nvPr/>
      </p:nvGrpSpPr>
      <p:grpSpPr>
        <a:xfrm>
          <a:off x="0" y="0"/>
          <a:ext cx="0" cy="0"/>
          <a:chOff x="0" y="0"/>
          <a:chExt cx="0" cy="0"/>
        </a:xfrm>
      </p:grpSpPr>
      <p:sp>
        <p:nvSpPr>
          <p:cNvPr id="47" name="Google Shape;47;p52"/>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48" name="Google Shape;48;p5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9"/>
        <p:cNvGrpSpPr/>
        <p:nvPr/>
      </p:nvGrpSpPr>
      <p:grpSpPr>
        <a:xfrm>
          <a:off x="0" y="0"/>
          <a:ext cx="0" cy="0"/>
          <a:chOff x="0" y="0"/>
          <a:chExt cx="0" cy="0"/>
        </a:xfrm>
      </p:grpSpPr>
      <p:sp>
        <p:nvSpPr>
          <p:cNvPr id="50" name="Google Shape;50;p53"/>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51" name="Google Shape;51;p53"/>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52" name="Google Shape;52;p5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53"/>
        <p:cNvGrpSpPr/>
        <p:nvPr/>
      </p:nvGrpSpPr>
      <p:grpSpPr>
        <a:xfrm>
          <a:off x="0" y="0"/>
          <a:ext cx="0" cy="0"/>
          <a:chOff x="0" y="0"/>
          <a:chExt cx="0" cy="0"/>
        </a:xfrm>
      </p:grpSpPr>
      <p:sp>
        <p:nvSpPr>
          <p:cNvPr id="54" name="Google Shape;54;p54"/>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55" name="Google Shape;55;p5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6"/>
        <p:cNvGrpSpPr/>
        <p:nvPr/>
      </p:nvGrpSpPr>
      <p:grpSpPr>
        <a:xfrm>
          <a:off x="0" y="0"/>
          <a:ext cx="0" cy="0"/>
          <a:chOff x="0" y="0"/>
          <a:chExt cx="0" cy="0"/>
        </a:xfrm>
      </p:grpSpPr>
      <p:sp>
        <p:nvSpPr>
          <p:cNvPr id="57" name="Google Shape;57;p55"/>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 name="Google Shape;58;p55"/>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59" name="Google Shape;59;p55"/>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60" name="Google Shape;60;p55"/>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61" name="Google Shape;61;p5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62"/>
        <p:cNvGrpSpPr/>
        <p:nvPr/>
      </p:nvGrpSpPr>
      <p:grpSpPr>
        <a:xfrm>
          <a:off x="0" y="0"/>
          <a:ext cx="0" cy="0"/>
          <a:chOff x="0" y="0"/>
          <a:chExt cx="0" cy="0"/>
        </a:xfrm>
      </p:grpSpPr>
      <p:sp>
        <p:nvSpPr>
          <p:cNvPr id="63" name="Google Shape;63;p56"/>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64" name="Google Shape;64;p5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65"/>
        <p:cNvGrpSpPr/>
        <p:nvPr/>
      </p:nvGrpSpPr>
      <p:grpSpPr>
        <a:xfrm>
          <a:off x="0" y="0"/>
          <a:ext cx="0" cy="0"/>
          <a:chOff x="0" y="0"/>
          <a:chExt cx="0" cy="0"/>
        </a:xfrm>
      </p:grpSpPr>
      <p:sp>
        <p:nvSpPr>
          <p:cNvPr id="66" name="Google Shape;66;p57"/>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67" name="Google Shape;67;p57"/>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68" name="Google Shape;68;p5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9"/>
        <p:cNvGrpSpPr/>
        <p:nvPr/>
      </p:nvGrpSpPr>
      <p:grpSpPr>
        <a:xfrm>
          <a:off x="0" y="0"/>
          <a:ext cx="0" cy="0"/>
          <a:chOff x="0" y="0"/>
          <a:chExt cx="0" cy="0"/>
        </a:xfrm>
      </p:grpSpPr>
      <p:sp>
        <p:nvSpPr>
          <p:cNvPr id="70" name="Google Shape;70;p5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slide 1">
  <p:cSld name="TITLE_1">
    <p:spTree>
      <p:nvGrpSpPr>
        <p:cNvPr id="1" name="Shape 71"/>
        <p:cNvGrpSpPr/>
        <p:nvPr/>
      </p:nvGrpSpPr>
      <p:grpSpPr>
        <a:xfrm>
          <a:off x="0" y="0"/>
          <a:ext cx="0" cy="0"/>
          <a:chOff x="0" y="0"/>
          <a:chExt cx="0" cy="0"/>
        </a:xfrm>
      </p:grpSpPr>
      <p:sp>
        <p:nvSpPr>
          <p:cNvPr id="72" name="Google Shape;72;p5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cxnSp>
        <p:nvCxnSpPr>
          <p:cNvPr id="73" name="Google Shape;73;p59"/>
          <p:cNvCxnSpPr/>
          <p:nvPr/>
        </p:nvCxnSpPr>
        <p:spPr>
          <a:xfrm>
            <a:off x="2740288" y="3545850"/>
            <a:ext cx="3824400" cy="0"/>
          </a:xfrm>
          <a:prstGeom prst="straightConnector1">
            <a:avLst/>
          </a:prstGeom>
          <a:noFill/>
          <a:ln w="9525" cap="flat" cmpd="sng">
            <a:solidFill>
              <a:srgbClr val="FFFFFF"/>
            </a:solidFill>
            <a:prstDash val="solid"/>
            <a:round/>
            <a:headEnd type="none" w="sm" len="sm"/>
            <a:tailEnd type="none" w="sm" len="sm"/>
          </a:ln>
        </p:spPr>
      </p:cxn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slide 1 1">
  <p:cSld name="TITLE_1_1">
    <p:spTree>
      <p:nvGrpSpPr>
        <p:cNvPr id="1" name="Shape 74"/>
        <p:cNvGrpSpPr/>
        <p:nvPr/>
      </p:nvGrpSpPr>
      <p:grpSpPr>
        <a:xfrm>
          <a:off x="0" y="0"/>
          <a:ext cx="0" cy="0"/>
          <a:chOff x="0" y="0"/>
          <a:chExt cx="0" cy="0"/>
        </a:xfrm>
      </p:grpSpPr>
      <p:sp>
        <p:nvSpPr>
          <p:cNvPr id="75" name="Google Shape;75;p6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cxnSp>
        <p:nvCxnSpPr>
          <p:cNvPr id="76" name="Google Shape;76;p60"/>
          <p:cNvCxnSpPr/>
          <p:nvPr/>
        </p:nvCxnSpPr>
        <p:spPr>
          <a:xfrm>
            <a:off x="2740288" y="3545850"/>
            <a:ext cx="3824400" cy="0"/>
          </a:xfrm>
          <a:prstGeom prst="straightConnector1">
            <a:avLst/>
          </a:prstGeom>
          <a:noFill/>
          <a:ln w="9525" cap="flat" cmpd="sng">
            <a:solidFill>
              <a:srgbClr val="FFFFFF"/>
            </a:solidFill>
            <a:prstDash val="solid"/>
            <a:round/>
            <a:headEnd type="none" w="sm" len="sm"/>
            <a:tailEnd type="none" w="sm" len="sm"/>
          </a:ln>
        </p:spPr>
      </p:cxn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header 2">
  <p:cSld name="SECTION_HEADER_2">
    <p:spTree>
      <p:nvGrpSpPr>
        <p:cNvPr id="1" name="Shape 77"/>
        <p:cNvGrpSpPr/>
        <p:nvPr/>
      </p:nvGrpSpPr>
      <p:grpSpPr>
        <a:xfrm>
          <a:off x="0" y="0"/>
          <a:ext cx="0" cy="0"/>
          <a:chOff x="0" y="0"/>
          <a:chExt cx="0" cy="0"/>
        </a:xfrm>
      </p:grpSpPr>
      <p:sp>
        <p:nvSpPr>
          <p:cNvPr id="78" name="Google Shape;78;p61"/>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pic>
        <p:nvPicPr>
          <p:cNvPr id="79" name="Google Shape;79;p61"/>
          <p:cNvPicPr preferRelativeResize="0"/>
          <p:nvPr/>
        </p:nvPicPr>
        <p:blipFill rotWithShape="1">
          <a:blip r:embed="rId2">
            <a:alphaModFix/>
          </a:blip>
          <a:srcRect t="31469" b="34000"/>
          <a:stretch/>
        </p:blipFill>
        <p:spPr>
          <a:xfrm>
            <a:off x="134750" y="4589275"/>
            <a:ext cx="1410576" cy="344348"/>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8"/>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8" Type="http://schemas.openxmlformats.org/officeDocument/2006/relationships/hyperlink" Target="https://github.com/bagusedghar/fastapi-intermediate/tree/main/sesi-08-event-driven-rabbitmq-kafka" TargetMode="External"/><Relationship Id="rId3" Type="http://schemas.openxmlformats.org/officeDocument/2006/relationships/image" Target="../media/image29.png"/><Relationship Id="rId7" Type="http://schemas.openxmlformats.org/officeDocument/2006/relationships/hyperlink" Target="https://colab.research.google.com/github/FTDS-learning-materials/phase-2/blob/master/w2/P2W2D1PM%20-%20Data%20Ethics%20&amp;%20Data%20Validation.ipynb" TargetMode="External"/><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p>
            <a:pPr marL="0" lvl="0" indent="0" algn="r" rtl="0">
              <a:lnSpc>
                <a:spcPct val="100000"/>
              </a:lnSpc>
              <a:spcBef>
                <a:spcPts val="0"/>
              </a:spcBef>
              <a:spcAft>
                <a:spcPts val="0"/>
              </a:spcAft>
              <a:buSzPts val="1000"/>
              <a:buNone/>
            </a:pPr>
            <a:fld id="{00000000-1234-1234-1234-123412341234}" type="slidenum">
              <a:rPr lang="en"/>
              <a:t>1</a:t>
            </a:fld>
            <a:endParaRPr/>
          </a:p>
        </p:txBody>
      </p:sp>
      <p:sp>
        <p:nvSpPr>
          <p:cNvPr id="85" name="Google Shape;85;p5"/>
          <p:cNvSpPr txBox="1"/>
          <p:nvPr/>
        </p:nvSpPr>
        <p:spPr>
          <a:xfrm>
            <a:off x="763050" y="2010750"/>
            <a:ext cx="8258100" cy="11034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3500"/>
              <a:buFont typeface="Arial"/>
              <a:buNone/>
            </a:pPr>
            <a:r>
              <a:rPr lang="en" sz="3500">
                <a:solidFill>
                  <a:srgbClr val="F06634"/>
                </a:solidFill>
                <a:latin typeface="Work Sans ExtraBold"/>
                <a:ea typeface="Work Sans ExtraBold"/>
                <a:cs typeface="Work Sans ExtraBold"/>
                <a:sym typeface="Work Sans ExtraBold"/>
              </a:rPr>
              <a:t>Event-Driven Architecture, RabbitMQ &amp; Kafka</a:t>
            </a:r>
            <a:endParaRPr sz="3500" b="0" i="0" u="none" strike="noStrike" cap="none">
              <a:solidFill>
                <a:srgbClr val="F06634"/>
              </a:solidFill>
              <a:latin typeface="Work Sans ExtraBold"/>
              <a:ea typeface="Work Sans ExtraBold"/>
              <a:cs typeface="Work Sans ExtraBold"/>
              <a:sym typeface="Work Sans ExtraBold"/>
            </a:endParaRPr>
          </a:p>
        </p:txBody>
      </p:sp>
      <p:sp>
        <p:nvSpPr>
          <p:cNvPr id="86" name="Google Shape;86;p5"/>
          <p:cNvSpPr txBox="1"/>
          <p:nvPr/>
        </p:nvSpPr>
        <p:spPr>
          <a:xfrm>
            <a:off x="763050" y="3157225"/>
            <a:ext cx="7315200" cy="5313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1500"/>
              <a:buFont typeface="Arial"/>
              <a:buNone/>
            </a:pPr>
            <a:r>
              <a:rPr lang="en" sz="1500" b="0" i="0" u="none" strike="noStrike" cap="none">
                <a:solidFill>
                  <a:schemeClr val="dk2"/>
                </a:solidFill>
                <a:latin typeface="Work Sans Medium"/>
                <a:ea typeface="Work Sans Medium"/>
                <a:cs typeface="Work Sans Medium"/>
                <a:sym typeface="Work Sans Medium"/>
              </a:rPr>
              <a:t>Intermediate Backend Developer with FastAPI  -  Sesi 8</a:t>
            </a:r>
            <a:endParaRPr sz="1500" b="0" i="0" u="none" strike="noStrike" cap="none">
              <a:solidFill>
                <a:schemeClr val="dk2"/>
              </a:solidFill>
              <a:latin typeface="Work Sans Medium"/>
              <a:ea typeface="Work Sans Medium"/>
              <a:cs typeface="Work Sans Medium"/>
              <a:sym typeface="Work Sans Medium"/>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1" name="Google Shape;91;g2442ffe4c8e_0_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
              <a:t>2</a:t>
            </a:fld>
            <a:endParaRPr/>
          </a:p>
        </p:txBody>
      </p:sp>
      <p:sp>
        <p:nvSpPr>
          <p:cNvPr id="92" name="Google Shape;92;g2442ffe4c8e_0_0"/>
          <p:cNvSpPr txBox="1"/>
          <p:nvPr/>
        </p:nvSpPr>
        <p:spPr>
          <a:xfrm>
            <a:off x="310675" y="249275"/>
            <a:ext cx="4456800" cy="484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300"/>
              <a:buFont typeface="Arial"/>
              <a:buNone/>
            </a:pPr>
            <a:r>
              <a:rPr lang="en" sz="2300" b="0" i="0" u="none" strike="noStrike" cap="none">
                <a:solidFill>
                  <a:srgbClr val="1D3D70"/>
                </a:solidFill>
                <a:latin typeface="Work Sans ExtraBold"/>
                <a:ea typeface="Work Sans ExtraBold"/>
                <a:cs typeface="Work Sans ExtraBold"/>
                <a:sym typeface="Work Sans ExtraBold"/>
              </a:rPr>
              <a:t>Contents</a:t>
            </a:r>
            <a:endParaRPr sz="2300" b="0" i="0" u="none" strike="noStrike" cap="none">
              <a:solidFill>
                <a:srgbClr val="1D3D70"/>
              </a:solidFill>
              <a:latin typeface="Work Sans ExtraBold"/>
              <a:ea typeface="Work Sans ExtraBold"/>
              <a:cs typeface="Work Sans ExtraBold"/>
              <a:sym typeface="Work Sans ExtraBold"/>
            </a:endParaRPr>
          </a:p>
        </p:txBody>
      </p:sp>
      <p:sp>
        <p:nvSpPr>
          <p:cNvPr id="93" name="Text 1"/>
          <p:cNvSpPr txBox="1"/>
          <p:nvPr/>
        </p:nvSpPr>
        <p:spPr>
          <a:xfrm>
            <a:off x="548640" y="1143000"/>
            <a:ext cx="5669280" cy="292608"/>
          </a:xfrm>
          <a:prstGeom prst="rect">
            <a:avLst/>
          </a:prstGeom>
          <a:noFill/>
        </p:spPr>
        <p:txBody>
          <a:bodyPr wrap="square" lIns="45720" rIns="45720" anchor="ctr">
            <a:spAutoFit/>
          </a:bodyPr>
          <a:lstStyle/>
          <a:p>
            <a:pPr algn="r">
              <a:lnSpc>
                <a:spcPct val="115000"/>
              </a:lnSpc>
              <a:spcAft>
                <a:spcPts val="400"/>
              </a:spcAft>
            </a:pPr>
            <a:r>
              <a:rPr sz="1000" b="0" i="0">
                <a:solidFill>
                  <a:srgbClr val="434343"/>
                </a:solidFill>
                <a:latin typeface="Inter"/>
              </a:rPr>
              <a:t>Event-Driven Architecture</a:t>
            </a:r>
          </a:p>
        </p:txBody>
      </p:sp>
      <p:cxnSp>
        <p:nvCxnSpPr>
          <p:cNvPr id="94" name="Arrow 2"/>
          <p:cNvCxnSpPr/>
          <p:nvPr/>
        </p:nvCxnSpPr>
        <p:spPr>
          <a:xfrm>
            <a:off x="6318504" y="1325880"/>
            <a:ext cx="1947671" cy="0"/>
          </a:xfrm>
          <a:prstGeom prst="line">
            <a:avLst/>
          </a:prstGeom>
          <a:ln w="12700">
            <a:solidFill>
              <a:srgbClr val="1C4587"/>
            </a:solidFill>
          </a:ln>
        </p:spPr>
        <p:style>
          <a:lnRef idx="2">
            <a:schemeClr val="accent1"/>
          </a:lnRef>
          <a:fillRef idx="0">
            <a:schemeClr val="accent1"/>
          </a:fillRef>
          <a:effectRef idx="1">
            <a:schemeClr val="accent1"/>
          </a:effectRef>
          <a:fontRef idx="minor">
            <a:schemeClr val="tx1"/>
          </a:fontRef>
        </p:style>
      </p:cxnSp>
      <p:sp>
        <p:nvSpPr>
          <p:cNvPr id="95" name="Text 3"/>
          <p:cNvSpPr txBox="1"/>
          <p:nvPr/>
        </p:nvSpPr>
        <p:spPr>
          <a:xfrm>
            <a:off x="8266175" y="1143000"/>
            <a:ext cx="548640" cy="292608"/>
          </a:xfrm>
          <a:prstGeom prst="rect">
            <a:avLst/>
          </a:prstGeom>
          <a:noFill/>
        </p:spPr>
        <p:txBody>
          <a:bodyPr wrap="square" lIns="45720" rIns="45720" anchor="ctr">
            <a:spAutoFit/>
          </a:bodyPr>
          <a:lstStyle/>
          <a:p>
            <a:pPr algn="l">
              <a:lnSpc>
                <a:spcPct val="115000"/>
              </a:lnSpc>
              <a:spcAft>
                <a:spcPts val="400"/>
              </a:spcAft>
            </a:pPr>
            <a:r>
              <a:rPr sz="1000" b="1" i="1">
                <a:solidFill>
                  <a:srgbClr val="E0764F"/>
                </a:solidFill>
                <a:latin typeface="Inter"/>
              </a:rPr>
              <a:t>09</a:t>
            </a:r>
          </a:p>
        </p:txBody>
      </p:sp>
      <p:sp>
        <p:nvSpPr>
          <p:cNvPr id="96" name="Text 4"/>
          <p:cNvSpPr txBox="1"/>
          <p:nvPr/>
        </p:nvSpPr>
        <p:spPr>
          <a:xfrm>
            <a:off x="548640" y="1527048"/>
            <a:ext cx="5669280" cy="292608"/>
          </a:xfrm>
          <a:prstGeom prst="rect">
            <a:avLst/>
          </a:prstGeom>
          <a:noFill/>
        </p:spPr>
        <p:txBody>
          <a:bodyPr wrap="square" lIns="45720" rIns="45720" anchor="ctr">
            <a:spAutoFit/>
          </a:bodyPr>
          <a:lstStyle/>
          <a:p>
            <a:pPr algn="r">
              <a:lnSpc>
                <a:spcPct val="115000"/>
              </a:lnSpc>
              <a:spcAft>
                <a:spcPts val="400"/>
              </a:spcAft>
            </a:pPr>
            <a:r>
              <a:rPr sz="1000" b="0" i="0">
                <a:solidFill>
                  <a:srgbClr val="434343"/>
                </a:solidFill>
                <a:latin typeface="Inter"/>
              </a:rPr>
              <a:t>RabbitMQ</a:t>
            </a:r>
          </a:p>
        </p:txBody>
      </p:sp>
      <p:cxnSp>
        <p:nvCxnSpPr>
          <p:cNvPr id="97" name="Arrow 5"/>
          <p:cNvCxnSpPr/>
          <p:nvPr/>
        </p:nvCxnSpPr>
        <p:spPr>
          <a:xfrm>
            <a:off x="6318504" y="1709928"/>
            <a:ext cx="1947671" cy="0"/>
          </a:xfrm>
          <a:prstGeom prst="line">
            <a:avLst/>
          </a:prstGeom>
          <a:ln w="12700">
            <a:solidFill>
              <a:srgbClr val="1C4587"/>
            </a:solidFill>
          </a:ln>
        </p:spPr>
        <p:style>
          <a:lnRef idx="2">
            <a:schemeClr val="accent1"/>
          </a:lnRef>
          <a:fillRef idx="0">
            <a:schemeClr val="accent1"/>
          </a:fillRef>
          <a:effectRef idx="1">
            <a:schemeClr val="accent1"/>
          </a:effectRef>
          <a:fontRef idx="minor">
            <a:schemeClr val="tx1"/>
          </a:fontRef>
        </p:style>
      </p:cxnSp>
      <p:sp>
        <p:nvSpPr>
          <p:cNvPr id="98" name="Text 6"/>
          <p:cNvSpPr txBox="1"/>
          <p:nvPr/>
        </p:nvSpPr>
        <p:spPr>
          <a:xfrm>
            <a:off x="8266175" y="1527048"/>
            <a:ext cx="548640" cy="292608"/>
          </a:xfrm>
          <a:prstGeom prst="rect">
            <a:avLst/>
          </a:prstGeom>
          <a:noFill/>
        </p:spPr>
        <p:txBody>
          <a:bodyPr wrap="square" lIns="45720" rIns="45720" anchor="ctr">
            <a:spAutoFit/>
          </a:bodyPr>
          <a:lstStyle/>
          <a:p>
            <a:pPr algn="l">
              <a:lnSpc>
                <a:spcPct val="115000"/>
              </a:lnSpc>
              <a:spcAft>
                <a:spcPts val="400"/>
              </a:spcAft>
            </a:pPr>
            <a:r>
              <a:rPr sz="1000" b="1" i="1">
                <a:solidFill>
                  <a:srgbClr val="E0764F"/>
                </a:solidFill>
                <a:latin typeface="Inter"/>
              </a:rPr>
              <a:t>17</a:t>
            </a:r>
          </a:p>
        </p:txBody>
      </p:sp>
      <p:sp>
        <p:nvSpPr>
          <p:cNvPr id="99" name="Text 7"/>
          <p:cNvSpPr txBox="1"/>
          <p:nvPr/>
        </p:nvSpPr>
        <p:spPr>
          <a:xfrm>
            <a:off x="548640" y="1911095"/>
            <a:ext cx="5669280" cy="292608"/>
          </a:xfrm>
          <a:prstGeom prst="rect">
            <a:avLst/>
          </a:prstGeom>
          <a:noFill/>
        </p:spPr>
        <p:txBody>
          <a:bodyPr wrap="square" lIns="45720" rIns="45720" anchor="ctr">
            <a:spAutoFit/>
          </a:bodyPr>
          <a:lstStyle/>
          <a:p>
            <a:pPr algn="r">
              <a:lnSpc>
                <a:spcPct val="115000"/>
              </a:lnSpc>
              <a:spcAft>
                <a:spcPts val="400"/>
              </a:spcAft>
            </a:pPr>
            <a:r>
              <a:rPr sz="1000" b="0" i="0">
                <a:solidFill>
                  <a:srgbClr val="434343"/>
                </a:solidFill>
                <a:latin typeface="Inter"/>
              </a:rPr>
              <a:t>Apache Kafka</a:t>
            </a:r>
          </a:p>
        </p:txBody>
      </p:sp>
      <p:cxnSp>
        <p:nvCxnSpPr>
          <p:cNvPr id="100" name="Arrow 8"/>
          <p:cNvCxnSpPr/>
          <p:nvPr/>
        </p:nvCxnSpPr>
        <p:spPr>
          <a:xfrm>
            <a:off x="6318504" y="2093976"/>
            <a:ext cx="1947671" cy="0"/>
          </a:xfrm>
          <a:prstGeom prst="line">
            <a:avLst/>
          </a:prstGeom>
          <a:ln w="12700">
            <a:solidFill>
              <a:srgbClr val="1C4587"/>
            </a:solidFill>
          </a:ln>
        </p:spPr>
        <p:style>
          <a:lnRef idx="2">
            <a:schemeClr val="accent1"/>
          </a:lnRef>
          <a:fillRef idx="0">
            <a:schemeClr val="accent1"/>
          </a:fillRef>
          <a:effectRef idx="1">
            <a:schemeClr val="accent1"/>
          </a:effectRef>
          <a:fontRef idx="minor">
            <a:schemeClr val="tx1"/>
          </a:fontRef>
        </p:style>
      </p:cxnSp>
      <p:sp>
        <p:nvSpPr>
          <p:cNvPr id="101" name="Text 9"/>
          <p:cNvSpPr txBox="1"/>
          <p:nvPr/>
        </p:nvSpPr>
        <p:spPr>
          <a:xfrm>
            <a:off x="8266175" y="1911095"/>
            <a:ext cx="548640" cy="292608"/>
          </a:xfrm>
          <a:prstGeom prst="rect">
            <a:avLst/>
          </a:prstGeom>
          <a:noFill/>
        </p:spPr>
        <p:txBody>
          <a:bodyPr wrap="square" lIns="45720" rIns="45720" anchor="ctr">
            <a:spAutoFit/>
          </a:bodyPr>
          <a:lstStyle/>
          <a:p>
            <a:pPr algn="l">
              <a:lnSpc>
                <a:spcPct val="115000"/>
              </a:lnSpc>
              <a:spcAft>
                <a:spcPts val="400"/>
              </a:spcAft>
            </a:pPr>
            <a:r>
              <a:rPr sz="1000" b="1" i="1">
                <a:solidFill>
                  <a:srgbClr val="E0764F"/>
                </a:solidFill>
                <a:latin typeface="Inter"/>
              </a:rPr>
              <a:t>48</a:t>
            </a:r>
          </a:p>
        </p:txBody>
      </p:sp>
      <p:sp>
        <p:nvSpPr>
          <p:cNvPr id="102" name="Text 10"/>
          <p:cNvSpPr txBox="1"/>
          <p:nvPr/>
        </p:nvSpPr>
        <p:spPr>
          <a:xfrm>
            <a:off x="548640" y="2295144"/>
            <a:ext cx="5669280" cy="292608"/>
          </a:xfrm>
          <a:prstGeom prst="rect">
            <a:avLst/>
          </a:prstGeom>
          <a:noFill/>
        </p:spPr>
        <p:txBody>
          <a:bodyPr wrap="square" lIns="45720" rIns="45720" anchor="ctr">
            <a:spAutoFit/>
          </a:bodyPr>
          <a:lstStyle/>
          <a:p>
            <a:pPr algn="r">
              <a:lnSpc>
                <a:spcPct val="115000"/>
              </a:lnSpc>
              <a:spcAft>
                <a:spcPts val="400"/>
              </a:spcAft>
            </a:pPr>
            <a:r>
              <a:rPr sz="1000" b="0" i="0">
                <a:solidFill>
                  <a:srgbClr val="434343"/>
                </a:solidFill>
                <a:latin typeface="Inter"/>
              </a:rPr>
              <a:t>Hands-on: Event Order dengan RabbitMQ</a:t>
            </a:r>
          </a:p>
        </p:txBody>
      </p:sp>
      <p:cxnSp>
        <p:nvCxnSpPr>
          <p:cNvPr id="103" name="Arrow 11"/>
          <p:cNvCxnSpPr/>
          <p:nvPr/>
        </p:nvCxnSpPr>
        <p:spPr>
          <a:xfrm>
            <a:off x="6318504" y="2478024"/>
            <a:ext cx="1947671" cy="0"/>
          </a:xfrm>
          <a:prstGeom prst="line">
            <a:avLst/>
          </a:prstGeom>
          <a:ln w="12700">
            <a:solidFill>
              <a:srgbClr val="1C4587"/>
            </a:solidFill>
          </a:ln>
        </p:spPr>
        <p:style>
          <a:lnRef idx="2">
            <a:schemeClr val="accent1"/>
          </a:lnRef>
          <a:fillRef idx="0">
            <a:schemeClr val="accent1"/>
          </a:fillRef>
          <a:effectRef idx="1">
            <a:schemeClr val="accent1"/>
          </a:effectRef>
          <a:fontRef idx="minor">
            <a:schemeClr val="tx1"/>
          </a:fontRef>
        </p:style>
      </p:cxnSp>
      <p:sp>
        <p:nvSpPr>
          <p:cNvPr id="104" name="Text 12"/>
          <p:cNvSpPr txBox="1"/>
          <p:nvPr/>
        </p:nvSpPr>
        <p:spPr>
          <a:xfrm>
            <a:off x="8266175" y="2295144"/>
            <a:ext cx="548640" cy="292608"/>
          </a:xfrm>
          <a:prstGeom prst="rect">
            <a:avLst/>
          </a:prstGeom>
          <a:noFill/>
        </p:spPr>
        <p:txBody>
          <a:bodyPr wrap="square" lIns="45720" rIns="45720" anchor="ctr">
            <a:spAutoFit/>
          </a:bodyPr>
          <a:lstStyle/>
          <a:p>
            <a:pPr algn="l">
              <a:lnSpc>
                <a:spcPct val="115000"/>
              </a:lnSpc>
              <a:spcAft>
                <a:spcPts val="400"/>
              </a:spcAft>
            </a:pPr>
            <a:r>
              <a:rPr sz="1000" b="1" i="1">
                <a:solidFill>
                  <a:srgbClr val="E0764F"/>
                </a:solidFill>
                <a:latin typeface="Inter"/>
              </a:rPr>
              <a:t>57</a:t>
            </a:r>
          </a:p>
        </p:txBody>
      </p:sp>
      <p:sp>
        <p:nvSpPr>
          <p:cNvPr id="105" name="Text 13"/>
          <p:cNvSpPr txBox="1"/>
          <p:nvPr/>
        </p:nvSpPr>
        <p:spPr>
          <a:xfrm>
            <a:off x="548640" y="2679191"/>
            <a:ext cx="5669280" cy="292608"/>
          </a:xfrm>
          <a:prstGeom prst="rect">
            <a:avLst/>
          </a:prstGeom>
          <a:noFill/>
        </p:spPr>
        <p:txBody>
          <a:bodyPr wrap="square" lIns="45720" rIns="45720" anchor="ctr">
            <a:spAutoFit/>
          </a:bodyPr>
          <a:lstStyle/>
          <a:p>
            <a:pPr algn="r">
              <a:lnSpc>
                <a:spcPct val="115000"/>
              </a:lnSpc>
              <a:spcAft>
                <a:spcPts val="400"/>
              </a:spcAft>
            </a:pPr>
            <a:r>
              <a:rPr sz="1000" b="0" i="0">
                <a:solidFill>
                  <a:srgbClr val="434343"/>
                </a:solidFill>
                <a:latin typeface="Inter"/>
              </a:rPr>
              <a:t>Studi Kasus: Poin Loyalty</a:t>
            </a:r>
          </a:p>
        </p:txBody>
      </p:sp>
      <p:cxnSp>
        <p:nvCxnSpPr>
          <p:cNvPr id="106" name="Arrow 14"/>
          <p:cNvCxnSpPr/>
          <p:nvPr/>
        </p:nvCxnSpPr>
        <p:spPr>
          <a:xfrm>
            <a:off x="6318504" y="2862072"/>
            <a:ext cx="1947671" cy="0"/>
          </a:xfrm>
          <a:prstGeom prst="line">
            <a:avLst/>
          </a:prstGeom>
          <a:ln w="12700">
            <a:solidFill>
              <a:srgbClr val="1C4587"/>
            </a:solidFill>
          </a:ln>
        </p:spPr>
        <p:style>
          <a:lnRef idx="2">
            <a:schemeClr val="accent1"/>
          </a:lnRef>
          <a:fillRef idx="0">
            <a:schemeClr val="accent1"/>
          </a:fillRef>
          <a:effectRef idx="1">
            <a:schemeClr val="accent1"/>
          </a:effectRef>
          <a:fontRef idx="minor">
            <a:schemeClr val="tx1"/>
          </a:fontRef>
        </p:style>
      </p:cxnSp>
      <p:sp>
        <p:nvSpPr>
          <p:cNvPr id="107" name="Text 15"/>
          <p:cNvSpPr txBox="1"/>
          <p:nvPr/>
        </p:nvSpPr>
        <p:spPr>
          <a:xfrm>
            <a:off x="8266175" y="2679191"/>
            <a:ext cx="548640" cy="292608"/>
          </a:xfrm>
          <a:prstGeom prst="rect">
            <a:avLst/>
          </a:prstGeom>
          <a:noFill/>
        </p:spPr>
        <p:txBody>
          <a:bodyPr wrap="square" lIns="45720" rIns="45720" anchor="ctr">
            <a:spAutoFit/>
          </a:bodyPr>
          <a:lstStyle/>
          <a:p>
            <a:pPr algn="l">
              <a:lnSpc>
                <a:spcPct val="115000"/>
              </a:lnSpc>
              <a:spcAft>
                <a:spcPts val="400"/>
              </a:spcAft>
            </a:pPr>
            <a:r>
              <a:rPr sz="1000" b="1" i="1">
                <a:solidFill>
                  <a:srgbClr val="E0764F"/>
                </a:solidFill>
                <a:latin typeface="Inter"/>
              </a:rPr>
              <a:t>72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Sesi 8</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Learning Outcome</a:t>
            </a:r>
          </a:p>
        </p:txBody>
      </p:sp>
      <p:sp>
        <p:nvSpPr>
          <p:cNvPr id="22" name="Box 3"/>
          <p:cNvSpPr/>
          <p:nvPr/>
        </p:nvSpPr>
        <p:spPr>
          <a:xfrm>
            <a:off x="621792" y="1600200"/>
            <a:ext cx="2523744" cy="2011680"/>
          </a:xfrm>
          <a:prstGeom prst="roundRect">
            <a:avLst>
              <a:gd name="adj" fmla="val 5454"/>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Box 4"/>
          <p:cNvSpPr/>
          <p:nvPr/>
        </p:nvSpPr>
        <p:spPr>
          <a:xfrm>
            <a:off x="758952" y="1737360"/>
            <a:ext cx="329184" cy="32918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1100" b="1" i="0">
                <a:solidFill>
                  <a:srgbClr val="FFFFFF"/>
                </a:solidFill>
                <a:latin typeface="Inter"/>
              </a:rPr>
              <a:t>1</a:t>
            </a:r>
          </a:p>
        </p:txBody>
      </p:sp>
      <p:sp>
        <p:nvSpPr>
          <p:cNvPr id="24" name="Text 5"/>
          <p:cNvSpPr txBox="1"/>
          <p:nvPr/>
        </p:nvSpPr>
        <p:spPr>
          <a:xfrm>
            <a:off x="1170432" y="1709928"/>
            <a:ext cx="1883663" cy="384048"/>
          </a:xfrm>
          <a:prstGeom prst="rect">
            <a:avLst/>
          </a:prstGeom>
          <a:noFill/>
        </p:spPr>
        <p:txBody>
          <a:bodyPr wrap="square" lIns="45720" rIns="45720" anchor="ctr">
            <a:spAutoFit/>
          </a:bodyPr>
          <a:lstStyle/>
          <a:p>
            <a:pPr algn="l">
              <a:lnSpc>
                <a:spcPct val="115000"/>
              </a:lnSpc>
              <a:spcAft>
                <a:spcPts val="400"/>
              </a:spcAft>
            </a:pPr>
            <a:r>
              <a:rPr sz="1200" b="1" i="0">
                <a:solidFill>
                  <a:srgbClr val="1C4587"/>
                </a:solidFill>
                <a:latin typeface="Inter"/>
              </a:rPr>
              <a:t>Sync vs async</a:t>
            </a:r>
          </a:p>
        </p:txBody>
      </p:sp>
      <p:sp>
        <p:nvSpPr>
          <p:cNvPr id="25" name="Text 6"/>
          <p:cNvSpPr txBox="1"/>
          <p:nvPr/>
        </p:nvSpPr>
        <p:spPr>
          <a:xfrm>
            <a:off x="758952" y="2148840"/>
            <a:ext cx="2249424" cy="1371600"/>
          </a:xfrm>
          <a:prstGeom prst="rect">
            <a:avLst/>
          </a:prstGeom>
          <a:noFill/>
        </p:spPr>
        <p:txBody>
          <a:bodyPr wrap="square" lIns="45720" rIns="45720" anchor="t">
            <a:spAutoFit/>
          </a:bodyPr>
          <a:lstStyle/>
          <a:p>
            <a:pPr algn="l">
              <a:lnSpc>
                <a:spcPct val="115000"/>
              </a:lnSpc>
              <a:spcAft>
                <a:spcPts val="400"/>
              </a:spcAft>
            </a:pPr>
            <a:r>
              <a:rPr sz="1050" b="0" i="0">
                <a:solidFill>
                  <a:srgbClr val="434343"/>
                </a:solidFill>
                <a:latin typeface="Inter"/>
              </a:rPr>
              <a:t>Menentukan kapan menggunakan synchronous API call vs asynchronous message-based integration.</a:t>
            </a:r>
          </a:p>
        </p:txBody>
      </p:sp>
      <p:sp>
        <p:nvSpPr>
          <p:cNvPr id="26" name="Box 7"/>
          <p:cNvSpPr/>
          <p:nvPr/>
        </p:nvSpPr>
        <p:spPr>
          <a:xfrm>
            <a:off x="3291840" y="1600200"/>
            <a:ext cx="2523744" cy="2011680"/>
          </a:xfrm>
          <a:prstGeom prst="roundRect">
            <a:avLst>
              <a:gd name="adj" fmla="val 5454"/>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7" name="Box 8"/>
          <p:cNvSpPr/>
          <p:nvPr/>
        </p:nvSpPr>
        <p:spPr>
          <a:xfrm>
            <a:off x="3429000" y="1737360"/>
            <a:ext cx="329184" cy="32918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1100" b="1" i="0">
                <a:solidFill>
                  <a:srgbClr val="FFFFFF"/>
                </a:solidFill>
                <a:latin typeface="Inter"/>
              </a:rPr>
              <a:t>2</a:t>
            </a:r>
          </a:p>
        </p:txBody>
      </p:sp>
      <p:sp>
        <p:nvSpPr>
          <p:cNvPr id="28" name="Text 9"/>
          <p:cNvSpPr txBox="1"/>
          <p:nvPr/>
        </p:nvSpPr>
        <p:spPr>
          <a:xfrm>
            <a:off x="3840480" y="1709928"/>
            <a:ext cx="1883663" cy="384048"/>
          </a:xfrm>
          <a:prstGeom prst="rect">
            <a:avLst/>
          </a:prstGeom>
          <a:noFill/>
        </p:spPr>
        <p:txBody>
          <a:bodyPr wrap="square" lIns="45720" rIns="45720" anchor="ctr">
            <a:spAutoFit/>
          </a:bodyPr>
          <a:lstStyle/>
          <a:p>
            <a:pPr algn="l">
              <a:lnSpc>
                <a:spcPct val="115000"/>
              </a:lnSpc>
              <a:spcAft>
                <a:spcPts val="400"/>
              </a:spcAft>
            </a:pPr>
            <a:r>
              <a:rPr sz="1200" b="1" i="0">
                <a:solidFill>
                  <a:srgbClr val="1C4587"/>
                </a:solidFill>
                <a:latin typeface="Inter"/>
              </a:rPr>
              <a:t>RabbitMQ</a:t>
            </a:r>
          </a:p>
        </p:txBody>
      </p:sp>
      <p:sp>
        <p:nvSpPr>
          <p:cNvPr id="29" name="Text 10"/>
          <p:cNvSpPr txBox="1"/>
          <p:nvPr/>
        </p:nvSpPr>
        <p:spPr>
          <a:xfrm>
            <a:off x="3429000" y="2148840"/>
            <a:ext cx="2249424" cy="1371600"/>
          </a:xfrm>
          <a:prstGeom prst="rect">
            <a:avLst/>
          </a:prstGeom>
          <a:noFill/>
        </p:spPr>
        <p:txBody>
          <a:bodyPr wrap="square" lIns="45720" rIns="45720" anchor="t">
            <a:spAutoFit/>
          </a:bodyPr>
          <a:lstStyle/>
          <a:p>
            <a:pPr algn="l">
              <a:lnSpc>
                <a:spcPct val="115000"/>
              </a:lnSpc>
              <a:spcAft>
                <a:spcPts val="400"/>
              </a:spcAft>
            </a:pPr>
            <a:r>
              <a:rPr sz="1050" b="0" i="0">
                <a:solidFill>
                  <a:srgbClr val="434343"/>
                </a:solidFill>
                <a:latin typeface="Inter"/>
              </a:rPr>
              <a:t>Membangun event producer dan consumer sederhana dengan RabbitMQ, acknowledgement, dan failure handling.</a:t>
            </a:r>
          </a:p>
        </p:txBody>
      </p:sp>
      <p:sp>
        <p:nvSpPr>
          <p:cNvPr id="30" name="Box 11"/>
          <p:cNvSpPr/>
          <p:nvPr/>
        </p:nvSpPr>
        <p:spPr>
          <a:xfrm>
            <a:off x="5961888" y="1600200"/>
            <a:ext cx="2523744" cy="2011680"/>
          </a:xfrm>
          <a:prstGeom prst="roundRect">
            <a:avLst>
              <a:gd name="adj" fmla="val 545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Box 12"/>
          <p:cNvSpPr/>
          <p:nvPr/>
        </p:nvSpPr>
        <p:spPr>
          <a:xfrm>
            <a:off x="6099048" y="1737360"/>
            <a:ext cx="329184" cy="32918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1100" b="1" i="0">
                <a:solidFill>
                  <a:srgbClr val="FFFFFF"/>
                </a:solidFill>
                <a:latin typeface="Inter"/>
              </a:rPr>
              <a:t>3</a:t>
            </a:r>
          </a:p>
        </p:txBody>
      </p:sp>
      <p:sp>
        <p:nvSpPr>
          <p:cNvPr id="32" name="Text 13"/>
          <p:cNvSpPr txBox="1"/>
          <p:nvPr/>
        </p:nvSpPr>
        <p:spPr>
          <a:xfrm>
            <a:off x="6510527" y="1709928"/>
            <a:ext cx="1883664" cy="384048"/>
          </a:xfrm>
          <a:prstGeom prst="rect">
            <a:avLst/>
          </a:prstGeom>
          <a:noFill/>
        </p:spPr>
        <p:txBody>
          <a:bodyPr wrap="square" lIns="45720" rIns="45720" anchor="ctr">
            <a:spAutoFit/>
          </a:bodyPr>
          <a:lstStyle/>
          <a:p>
            <a:pPr algn="l">
              <a:lnSpc>
                <a:spcPct val="115000"/>
              </a:lnSpc>
              <a:spcAft>
                <a:spcPts val="400"/>
              </a:spcAft>
            </a:pPr>
            <a:r>
              <a:rPr sz="1200" b="1" i="0">
                <a:solidFill>
                  <a:srgbClr val="1C4587"/>
                </a:solidFill>
                <a:latin typeface="Inter"/>
              </a:rPr>
              <a:t>Kafka</a:t>
            </a:r>
          </a:p>
        </p:txBody>
      </p:sp>
      <p:sp>
        <p:nvSpPr>
          <p:cNvPr id="33" name="Text 14"/>
          <p:cNvSpPr txBox="1"/>
          <p:nvPr/>
        </p:nvSpPr>
        <p:spPr>
          <a:xfrm>
            <a:off x="6099048" y="2148840"/>
            <a:ext cx="2249424" cy="1371600"/>
          </a:xfrm>
          <a:prstGeom prst="rect">
            <a:avLst/>
          </a:prstGeom>
          <a:noFill/>
        </p:spPr>
        <p:txBody>
          <a:bodyPr wrap="square" lIns="45720" rIns="45720" anchor="t">
            <a:spAutoFit/>
          </a:bodyPr>
          <a:lstStyle/>
          <a:p>
            <a:pPr algn="l">
              <a:lnSpc>
                <a:spcPct val="115000"/>
              </a:lnSpc>
              <a:spcAft>
                <a:spcPts val="400"/>
              </a:spcAft>
            </a:pPr>
            <a:r>
              <a:rPr sz="1050" b="0" i="0">
                <a:solidFill>
                  <a:srgbClr val="434343"/>
                </a:solidFill>
                <a:latin typeface="Inter"/>
              </a:rPr>
              <a:t>Menjelaskan konsep dasar Kafka serta perbedaan karakteristik penggunaan Kafka dan RabbitMQ.</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Tema Training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Order Management API</a:t>
            </a:r>
          </a:p>
        </p:txBody>
      </p:sp>
      <p:sp>
        <p:nvSpPr>
          <p:cNvPr id="22" name="Text 3"/>
          <p:cNvSpPr txBox="1"/>
          <p:nvPr/>
        </p:nvSpPr>
        <p:spPr>
          <a:xfrm>
            <a:off x="621792" y="1481328"/>
            <a:ext cx="4297680" cy="324612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Pada training ini, kita akan memakai satu tema yang sama dari awal sampai akhir, yaitu </a:t>
            </a:r>
            <a:r>
              <a:rPr sz="1000" b="1" i="0">
                <a:solidFill>
                  <a:srgbClr val="434343"/>
                </a:solidFill>
                <a:latin typeface="Inter"/>
              </a:rPr>
              <a:t>Order Management API</a:t>
            </a:r>
            <a:r>
              <a:rPr sz="1000" b="0" i="0">
                <a:solidFill>
                  <a:srgbClr val="434343"/>
                </a:solidFill>
                <a:latin typeface="Inter"/>
              </a:rPr>
              <a:t>: API sederhana untuk menerima order, menghitung diskon, menyimpan data order, dan mengirim notifikasi ke customer.</a:t>
            </a:r>
          </a:p>
          <a:p>
            <a:pPr algn="l">
              <a:lnSpc>
                <a:spcPct val="115000"/>
              </a:lnSpc>
              <a:spcAft>
                <a:spcPts val="0"/>
              </a:spcAft>
            </a:pPr>
            <a:endParaRPr sz="1000" b="0" i="0">
              <a:solidFill>
                <a:srgbClr val="434343"/>
              </a:solidFill>
              <a:latin typeface="Inter"/>
            </a:endParaRPr>
          </a:p>
          <a:p>
            <a:pPr algn="l">
              <a:lnSpc>
                <a:spcPct val="115000"/>
              </a:lnSpc>
              <a:spcAft>
                <a:spcPts val="400"/>
              </a:spcAft>
            </a:pPr>
            <a:r>
              <a:rPr sz="1000" b="0" i="0">
                <a:solidFill>
                  <a:srgbClr val="434343"/>
                </a:solidFill>
                <a:latin typeface="Inter"/>
              </a:rPr>
              <a:t>Aplikasi ini kita kembangkan sedikit demi sedikit di setiap sesi. Di Sesi 1 kita mulai dari kode yang masih ditulis di satu file, lalu merapikannya. Hasil akhir setiap sesi menjadi titik awal sesi berikutnya, sampai di Sesi 12 menjadi Order API yang siap production.</a:t>
            </a:r>
          </a:p>
          <a:p>
            <a:pPr algn="l">
              <a:lnSpc>
                <a:spcPct val="115000"/>
              </a:lnSpc>
              <a:spcAft>
                <a:spcPts val="0"/>
              </a:spcAft>
            </a:pPr>
            <a:endParaRPr sz="1000" b="0" i="0">
              <a:solidFill>
                <a:srgbClr val="434343"/>
              </a:solidFill>
              <a:latin typeface="Inter"/>
            </a:endParaRPr>
          </a:p>
          <a:p>
            <a:pPr algn="l">
              <a:lnSpc>
                <a:spcPct val="115000"/>
              </a:lnSpc>
              <a:spcAft>
                <a:spcPts val="400"/>
              </a:spcAft>
            </a:pPr>
            <a:r>
              <a:rPr sz="1000" b="0" i="0">
                <a:solidFill>
                  <a:srgbClr val="434343"/>
                </a:solidFill>
                <a:latin typeface="Inter"/>
              </a:rPr>
              <a:t>Di Sesi 8 (RabbitMQ &amp; Kafka): event order, consumer notifikasi yang retry-safe.</a:t>
            </a:r>
          </a:p>
        </p:txBody>
      </p:sp>
      <p:sp>
        <p:nvSpPr>
          <p:cNvPr id="23" name="Box 4"/>
          <p:cNvSpPr/>
          <p:nvPr/>
        </p:nvSpPr>
        <p:spPr>
          <a:xfrm>
            <a:off x="5120640" y="1600200"/>
            <a:ext cx="1828800" cy="402336"/>
          </a:xfrm>
          <a:prstGeom prst="roundRect">
            <a:avLst>
              <a:gd name="adj" fmla="val 27272"/>
            </a:avLst>
          </a:prstGeom>
          <a:solidFill>
            <a:srgbClr val="1C458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FFFFFF"/>
                </a:solidFill>
                <a:latin typeface="Inter"/>
              </a:rPr>
              <a:t>Terima order</a:t>
            </a:r>
          </a:p>
        </p:txBody>
      </p:sp>
      <p:sp>
        <p:nvSpPr>
          <p:cNvPr id="24" name="Box 5"/>
          <p:cNvSpPr/>
          <p:nvPr/>
        </p:nvSpPr>
        <p:spPr>
          <a:xfrm>
            <a:off x="5120640" y="2167128"/>
            <a:ext cx="1828800" cy="402336"/>
          </a:xfrm>
          <a:prstGeom prst="roundRect">
            <a:avLst>
              <a:gd name="adj" fmla="val 27272"/>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1C4587"/>
                </a:solidFill>
                <a:latin typeface="Inter"/>
              </a:rPr>
              <a:t>Hitung diskon</a:t>
            </a:r>
          </a:p>
        </p:txBody>
      </p:sp>
      <p:cxnSp>
        <p:nvCxnSpPr>
          <p:cNvPr id="25" name="Arrow 6"/>
          <p:cNvCxnSpPr/>
          <p:nvPr/>
        </p:nvCxnSpPr>
        <p:spPr>
          <a:xfrm>
            <a:off x="6035040" y="2002536"/>
            <a:ext cx="0" cy="164592"/>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Box 7"/>
          <p:cNvSpPr/>
          <p:nvPr/>
        </p:nvSpPr>
        <p:spPr>
          <a:xfrm>
            <a:off x="5120640" y="2734056"/>
            <a:ext cx="1828800" cy="402336"/>
          </a:xfrm>
          <a:prstGeom prst="roundRect">
            <a:avLst>
              <a:gd name="adj" fmla="val 27272"/>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1C4587"/>
                </a:solidFill>
                <a:latin typeface="Inter"/>
              </a:rPr>
              <a:t>Simpan ke database</a:t>
            </a:r>
          </a:p>
        </p:txBody>
      </p:sp>
      <p:cxnSp>
        <p:nvCxnSpPr>
          <p:cNvPr id="27" name="Arrow 8"/>
          <p:cNvCxnSpPr/>
          <p:nvPr/>
        </p:nvCxnSpPr>
        <p:spPr>
          <a:xfrm>
            <a:off x="6035040" y="2569464"/>
            <a:ext cx="0" cy="164592"/>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Box 9"/>
          <p:cNvSpPr/>
          <p:nvPr/>
        </p:nvSpPr>
        <p:spPr>
          <a:xfrm>
            <a:off x="5120640" y="3300984"/>
            <a:ext cx="1828800" cy="402336"/>
          </a:xfrm>
          <a:prstGeom prst="roundRect">
            <a:avLst>
              <a:gd name="adj" fmla="val 27272"/>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1C4587"/>
                </a:solidFill>
                <a:latin typeface="Inter"/>
              </a:rPr>
              <a:t>Kirim notifikasi</a:t>
            </a:r>
          </a:p>
        </p:txBody>
      </p:sp>
      <p:cxnSp>
        <p:nvCxnSpPr>
          <p:cNvPr id="29" name="Arrow 10"/>
          <p:cNvCxnSpPr/>
          <p:nvPr/>
        </p:nvCxnSpPr>
        <p:spPr>
          <a:xfrm>
            <a:off x="6035040" y="3136391"/>
            <a:ext cx="0" cy="164593"/>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 11"/>
          <p:cNvSpPr txBox="1"/>
          <p:nvPr/>
        </p:nvSpPr>
        <p:spPr>
          <a:xfrm>
            <a:off x="7086600" y="1600200"/>
            <a:ext cx="1417320" cy="2103120"/>
          </a:xfrm>
          <a:prstGeom prst="rect">
            <a:avLst/>
          </a:prstGeom>
          <a:noFill/>
        </p:spPr>
        <p:txBody>
          <a:bodyPr wrap="square" lIns="45720" rIns="45720" anchor="t">
            <a:spAutoFit/>
          </a:bodyPr>
          <a:lstStyle/>
          <a:p>
            <a:pPr algn="l">
              <a:lnSpc>
                <a:spcPct val="115000"/>
              </a:lnSpc>
              <a:spcAft>
                <a:spcPts val="400"/>
              </a:spcAft>
            </a:pPr>
            <a:r>
              <a:rPr sz="900" b="1" i="0">
                <a:solidFill>
                  <a:srgbClr val="7A7A7A"/>
                </a:solidFill>
                <a:latin typeface="Inter"/>
              </a:rPr>
              <a:t>Aturan diskon</a:t>
            </a:r>
          </a:p>
          <a:p>
            <a:pPr algn="l">
              <a:lnSpc>
                <a:spcPct val="115000"/>
              </a:lnSpc>
              <a:spcAft>
                <a:spcPts val="400"/>
              </a:spcAft>
            </a:pPr>
            <a:r>
              <a:rPr sz="900" b="0" i="0">
                <a:solidFill>
                  <a:srgbClr val="7A7A7A"/>
                </a:solidFill>
                <a:latin typeface="Inter"/>
              </a:rPr>
              <a:t>regular: 0%</a:t>
            </a:r>
          </a:p>
          <a:p>
            <a:pPr algn="l">
              <a:lnSpc>
                <a:spcPct val="115000"/>
              </a:lnSpc>
              <a:spcAft>
                <a:spcPts val="400"/>
              </a:spcAft>
            </a:pPr>
            <a:r>
              <a:rPr sz="900" b="0" i="0">
                <a:solidFill>
                  <a:srgbClr val="7A7A7A"/>
                </a:solidFill>
                <a:latin typeface="Inter"/>
              </a:rPr>
              <a:t>member: 5%</a:t>
            </a:r>
          </a:p>
          <a:p>
            <a:pPr algn="l">
              <a:lnSpc>
                <a:spcPct val="115000"/>
              </a:lnSpc>
              <a:spcAft>
                <a:spcPts val="400"/>
              </a:spcAft>
            </a:pPr>
            <a:r>
              <a:rPr sz="900" b="0" i="0">
                <a:solidFill>
                  <a:srgbClr val="7A7A7A"/>
                </a:solidFill>
                <a:latin typeface="Inter"/>
              </a:rPr>
              <a:t>vip: 10%</a:t>
            </a:r>
          </a:p>
          <a:p>
            <a:pPr algn="l">
              <a:lnSpc>
                <a:spcPct val="115000"/>
              </a:lnSpc>
              <a:spcAft>
                <a:spcPts val="0"/>
              </a:spcAft>
            </a:pPr>
            <a:endParaRPr sz="900" b="0" i="0">
              <a:solidFill>
                <a:srgbClr val="7A7A7A"/>
              </a:solidFill>
              <a:latin typeface="Inter"/>
            </a:endParaRPr>
          </a:p>
          <a:p>
            <a:pPr algn="l">
              <a:lnSpc>
                <a:spcPct val="115000"/>
              </a:lnSpc>
              <a:spcAft>
                <a:spcPts val="400"/>
              </a:spcAft>
            </a:pPr>
            <a:r>
              <a:rPr sz="900" b="1" i="0">
                <a:solidFill>
                  <a:srgbClr val="7A7A7A"/>
                </a:solidFill>
                <a:latin typeface="Inter"/>
              </a:rPr>
              <a:t>Notifikasi</a:t>
            </a:r>
          </a:p>
          <a:p>
            <a:pPr algn="l">
              <a:lnSpc>
                <a:spcPct val="115000"/>
              </a:lnSpc>
              <a:spcAft>
                <a:spcPts val="400"/>
              </a:spcAft>
            </a:pPr>
            <a:r>
              <a:rPr sz="900" b="0" i="0">
                <a:solidFill>
                  <a:srgbClr val="7A7A7A"/>
                </a:solidFill>
                <a:latin typeface="Inter"/>
              </a:rPr>
              <a:t>email atau SMS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Tema Training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Tahapan Pengembangan Order API</a:t>
            </a:r>
          </a:p>
        </p:txBody>
      </p:sp>
      <p:graphicFrame>
        <p:nvGraphicFramePr>
          <p:cNvPr id="22" name="Table 3"/>
          <p:cNvGraphicFramePr>
            <a:graphicFrameLocks noGrp="1"/>
          </p:cNvGraphicFramePr>
          <p:nvPr/>
        </p:nvGraphicFramePr>
        <p:xfrm>
          <a:off x="621792" y="1463040"/>
          <a:ext cx="7863840" cy="3031236"/>
        </p:xfrm>
        <a:graphic>
          <a:graphicData uri="http://schemas.openxmlformats.org/drawingml/2006/table">
            <a:tbl>
              <a:tblPr firstRow="1" bandRow="1"/>
              <a:tblGrid>
                <a:gridCol w="96012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233172">
                <a:tc>
                  <a:txBody>
                    <a:bodyPr/>
                    <a:lstStyle/>
                    <a:p>
                      <a:pPr algn="l">
                        <a:lnSpc>
                          <a:spcPct val="100000"/>
                        </a:lnSpc>
                        <a:spcAft>
                          <a:spcPts val="0"/>
                        </a:spcAft>
                      </a:pPr>
                      <a:r>
                        <a:rPr sz="800" b="1" i="0">
                          <a:solidFill>
                            <a:srgbClr val="FFFFFF"/>
                          </a:solidFill>
                          <a:latin typeface="Inter"/>
                        </a:rPr>
                        <a:t>Sesi</a:t>
                      </a:r>
                    </a:p>
                  </a:txBody>
                  <a:tcPr marL="73152" marR="73152" marT="36576" marB="36576" anchor="ctr">
                    <a:solidFill>
                      <a:srgbClr val="1C4587"/>
                    </a:solidFill>
                  </a:tcPr>
                </a:tc>
                <a:tc>
                  <a:txBody>
                    <a:bodyPr/>
                    <a:lstStyle/>
                    <a:p>
                      <a:pPr algn="l">
                        <a:lnSpc>
                          <a:spcPct val="100000"/>
                        </a:lnSpc>
                        <a:spcAft>
                          <a:spcPts val="0"/>
                        </a:spcAft>
                      </a:pPr>
                      <a:r>
                        <a:rPr sz="800" b="1" i="0">
                          <a:solidFill>
                            <a:srgbClr val="FFFFFF"/>
                          </a:solidFill>
                          <a:latin typeface="Inter"/>
                        </a:rPr>
                        <a:t>Topik</a:t>
                      </a:r>
                    </a:p>
                  </a:txBody>
                  <a:tcPr marL="73152" marR="73152" marT="36576" marB="36576" anchor="ctr">
                    <a:solidFill>
                      <a:srgbClr val="1C4587"/>
                    </a:solidFill>
                  </a:tcPr>
                </a:tc>
                <a:tc>
                  <a:txBody>
                    <a:bodyPr/>
                    <a:lstStyle/>
                    <a:p>
                      <a:pPr algn="l">
                        <a:lnSpc>
                          <a:spcPct val="100000"/>
                        </a:lnSpc>
                        <a:spcAft>
                          <a:spcPts val="0"/>
                        </a:spcAft>
                      </a:pPr>
                      <a:r>
                        <a:rPr sz="800" b="1" i="0">
                          <a:solidFill>
                            <a:srgbClr val="FFFFFF"/>
                          </a:solidFill>
                          <a:latin typeface="Inter"/>
                        </a:rPr>
                        <a:t>Yang ditambahkan ke Order API</a:t>
                      </a:r>
                    </a:p>
                  </a:txBody>
                  <a:tcPr marL="73152" marR="73152" marT="36576" marB="36576" anchor="ctr">
                    <a:solidFill>
                      <a:srgbClr val="1C4587"/>
                    </a:solidFill>
                  </a:tcPr>
                </a:tc>
                <a:extLst>
                  <a:ext uri="{0D108BD9-81ED-4DB2-BD59-A6C34878D82A}">
                    <a16:rowId xmlns:a16="http://schemas.microsoft.com/office/drawing/2014/main" val="10000"/>
                  </a:ext>
                </a:extLst>
              </a:tr>
              <a:tr h="233172">
                <a:tc>
                  <a:txBody>
                    <a:bodyPr/>
                    <a:lstStyle/>
                    <a:p>
                      <a:pPr algn="l">
                        <a:lnSpc>
                          <a:spcPct val="100000"/>
                        </a:lnSpc>
                        <a:spcAft>
                          <a:spcPts val="0"/>
                        </a:spcAft>
                      </a:pPr>
                      <a:r>
                        <a:rPr sz="800" b="1" i="0">
                          <a:solidFill>
                            <a:srgbClr val="1C4587"/>
                          </a:solidFill>
                          <a:latin typeface="Inter"/>
                        </a:rPr>
                        <a:t>1</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Design Patterns</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Kode didalam satu file diperbaiki: Factory, Singleton, Strategy, Repository, Service Layer</a:t>
                      </a:r>
                    </a:p>
                  </a:txBody>
                  <a:tcPr marL="73152" marR="73152" marT="36576" marB="36576" anchor="ctr">
                    <a:solidFill>
                      <a:srgbClr val="FFFFFF"/>
                    </a:solidFill>
                  </a:tcPr>
                </a:tc>
                <a:extLst>
                  <a:ext uri="{0D108BD9-81ED-4DB2-BD59-A6C34878D82A}">
                    <a16:rowId xmlns:a16="http://schemas.microsoft.com/office/drawing/2014/main" val="10001"/>
                  </a:ext>
                </a:extLst>
              </a:tr>
              <a:tr h="233172">
                <a:tc>
                  <a:txBody>
                    <a:bodyPr/>
                    <a:lstStyle/>
                    <a:p>
                      <a:pPr algn="l">
                        <a:lnSpc>
                          <a:spcPct val="100000"/>
                        </a:lnSpc>
                        <a:spcAft>
                          <a:spcPts val="0"/>
                        </a:spcAft>
                      </a:pPr>
                      <a:r>
                        <a:rPr sz="800" b="1" i="0">
                          <a:solidFill>
                            <a:srgbClr val="1C4587"/>
                          </a:solidFill>
                          <a:latin typeface="Inter"/>
                        </a:rPr>
                        <a:t>2</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SOLID &amp; Clean Architecture</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Dipisah per layer: domain, application, infrastructure, api</a:t>
                      </a:r>
                    </a:p>
                  </a:txBody>
                  <a:tcPr marL="73152" marR="73152" marT="36576" marB="36576" anchor="ctr">
                    <a:solidFill>
                      <a:srgbClr val="F3F4F6"/>
                    </a:solidFill>
                  </a:tcPr>
                </a:tc>
                <a:extLst>
                  <a:ext uri="{0D108BD9-81ED-4DB2-BD59-A6C34878D82A}">
                    <a16:rowId xmlns:a16="http://schemas.microsoft.com/office/drawing/2014/main" val="10002"/>
                  </a:ext>
                </a:extLst>
              </a:tr>
              <a:tr h="233172">
                <a:tc>
                  <a:txBody>
                    <a:bodyPr/>
                    <a:lstStyle/>
                    <a:p>
                      <a:pPr algn="l">
                        <a:lnSpc>
                          <a:spcPct val="100000"/>
                        </a:lnSpc>
                        <a:spcAft>
                          <a:spcPts val="0"/>
                        </a:spcAft>
                      </a:pPr>
                      <a:r>
                        <a:rPr sz="800" b="1" i="0">
                          <a:solidFill>
                            <a:srgbClr val="1C4587"/>
                          </a:solidFill>
                          <a:latin typeface="Inter"/>
                        </a:rPr>
                        <a:t>3</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Domain-Driven Design</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Order jadi aggregate, Money value object, aturan bayar &amp; batal</a:t>
                      </a:r>
                    </a:p>
                  </a:txBody>
                  <a:tcPr marL="73152" marR="73152" marT="36576" marB="36576" anchor="ctr">
                    <a:solidFill>
                      <a:srgbClr val="FFFFFF"/>
                    </a:solidFill>
                  </a:tcPr>
                </a:tc>
                <a:extLst>
                  <a:ext uri="{0D108BD9-81ED-4DB2-BD59-A6C34878D82A}">
                    <a16:rowId xmlns:a16="http://schemas.microsoft.com/office/drawing/2014/main" val="10003"/>
                  </a:ext>
                </a:extLst>
              </a:tr>
              <a:tr h="233172">
                <a:tc>
                  <a:txBody>
                    <a:bodyPr/>
                    <a:lstStyle/>
                    <a:p>
                      <a:pPr algn="l">
                        <a:lnSpc>
                          <a:spcPct val="100000"/>
                        </a:lnSpc>
                        <a:spcAft>
                          <a:spcPts val="0"/>
                        </a:spcAft>
                      </a:pPr>
                      <a:r>
                        <a:rPr sz="800" b="1" i="0">
                          <a:solidFill>
                            <a:srgbClr val="1C4587"/>
                          </a:solidFill>
                          <a:latin typeface="Inter"/>
                        </a:rPr>
                        <a:t>4</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Modular FastAPI &amp; ORM</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Router per modul, SQLAlchemy, Unit of Work, format error</a:t>
                      </a:r>
                    </a:p>
                  </a:txBody>
                  <a:tcPr marL="73152" marR="73152" marT="36576" marB="36576" anchor="ctr">
                    <a:solidFill>
                      <a:srgbClr val="F3F4F6"/>
                    </a:solidFill>
                  </a:tcPr>
                </a:tc>
                <a:extLst>
                  <a:ext uri="{0D108BD9-81ED-4DB2-BD59-A6C34878D82A}">
                    <a16:rowId xmlns:a16="http://schemas.microsoft.com/office/drawing/2014/main" val="10004"/>
                  </a:ext>
                </a:extLst>
              </a:tr>
              <a:tr h="233172">
                <a:tc>
                  <a:txBody>
                    <a:bodyPr/>
                    <a:lstStyle/>
                    <a:p>
                      <a:pPr algn="l">
                        <a:lnSpc>
                          <a:spcPct val="100000"/>
                        </a:lnSpc>
                        <a:spcAft>
                          <a:spcPts val="0"/>
                        </a:spcAft>
                      </a:pPr>
                      <a:r>
                        <a:rPr sz="800" b="1" i="0">
                          <a:solidFill>
                            <a:srgbClr val="1C4587"/>
                          </a:solidFill>
                          <a:latin typeface="Inter"/>
                        </a:rPr>
                        <a:t>5</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Celery &amp; Redis</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Notifikasi dan report dikerjakan di background job</a:t>
                      </a:r>
                    </a:p>
                  </a:txBody>
                  <a:tcPr marL="73152" marR="73152" marT="36576" marB="36576" anchor="ctr">
                    <a:solidFill>
                      <a:srgbClr val="FFFFFF"/>
                    </a:solidFill>
                  </a:tcPr>
                </a:tc>
                <a:extLst>
                  <a:ext uri="{0D108BD9-81ED-4DB2-BD59-A6C34878D82A}">
                    <a16:rowId xmlns:a16="http://schemas.microsoft.com/office/drawing/2014/main" val="10005"/>
                  </a:ext>
                </a:extLst>
              </a:tr>
              <a:tr h="233172">
                <a:tc>
                  <a:txBody>
                    <a:bodyPr/>
                    <a:lstStyle/>
                    <a:p>
                      <a:pPr algn="l">
                        <a:lnSpc>
                          <a:spcPct val="100000"/>
                        </a:lnSpc>
                        <a:spcAft>
                          <a:spcPts val="0"/>
                        </a:spcAft>
                      </a:pPr>
                      <a:r>
                        <a:rPr sz="800" b="1" i="0">
                          <a:solidFill>
                            <a:srgbClr val="1C4587"/>
                          </a:solidFill>
                          <a:latin typeface="Inter"/>
                        </a:rPr>
                        <a:t>6</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Caching &amp; Rate Limiting</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Data produk di-cache di Redis, request dibatasi</a:t>
                      </a:r>
                    </a:p>
                  </a:txBody>
                  <a:tcPr marL="73152" marR="73152" marT="36576" marB="36576" anchor="ctr">
                    <a:solidFill>
                      <a:srgbClr val="F3F4F6"/>
                    </a:solidFill>
                  </a:tcPr>
                </a:tc>
                <a:extLst>
                  <a:ext uri="{0D108BD9-81ED-4DB2-BD59-A6C34878D82A}">
                    <a16:rowId xmlns:a16="http://schemas.microsoft.com/office/drawing/2014/main" val="10006"/>
                  </a:ext>
                </a:extLst>
              </a:tr>
              <a:tr h="233172">
                <a:tc>
                  <a:txBody>
                    <a:bodyPr/>
                    <a:lstStyle/>
                    <a:p>
                      <a:pPr algn="l">
                        <a:lnSpc>
                          <a:spcPct val="100000"/>
                        </a:lnSpc>
                        <a:spcAft>
                          <a:spcPts val="0"/>
                        </a:spcAft>
                      </a:pPr>
                      <a:r>
                        <a:rPr sz="800" b="1" i="0">
                          <a:solidFill>
                            <a:srgbClr val="1C4587"/>
                          </a:solidFill>
                          <a:latin typeface="Inter"/>
                        </a:rPr>
                        <a:t>7</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Database Optimization</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PostgreSQL, index, tanpa N+1, pagination</a:t>
                      </a:r>
                    </a:p>
                  </a:txBody>
                  <a:tcPr marL="73152" marR="73152" marT="36576" marB="36576" anchor="ctr">
                    <a:solidFill>
                      <a:srgbClr val="FFFFFF"/>
                    </a:solidFill>
                  </a:tcPr>
                </a:tc>
                <a:extLst>
                  <a:ext uri="{0D108BD9-81ED-4DB2-BD59-A6C34878D82A}">
                    <a16:rowId xmlns:a16="http://schemas.microsoft.com/office/drawing/2014/main" val="10007"/>
                  </a:ext>
                </a:extLst>
              </a:tr>
              <a:tr h="233172">
                <a:tc>
                  <a:txBody>
                    <a:bodyPr/>
                    <a:lstStyle/>
                    <a:p>
                      <a:pPr algn="l">
                        <a:lnSpc>
                          <a:spcPct val="100000"/>
                        </a:lnSpc>
                        <a:spcAft>
                          <a:spcPts val="0"/>
                        </a:spcAft>
                      </a:pPr>
                      <a:r>
                        <a:rPr sz="800" b="1" i="0">
                          <a:solidFill>
                            <a:srgbClr val="1C4587"/>
                          </a:solidFill>
                          <a:latin typeface="Inter"/>
                        </a:rPr>
                        <a:t>8  (sesi ini)</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RabbitMQ &amp; Kafka</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Event order, consumer notifikasi yang retry-safe</a:t>
                      </a:r>
                    </a:p>
                  </a:txBody>
                  <a:tcPr marL="73152" marR="73152" marT="36576" marB="36576" anchor="ctr">
                    <a:solidFill>
                      <a:srgbClr val="F3F4F6"/>
                    </a:solidFill>
                  </a:tcPr>
                </a:tc>
                <a:extLst>
                  <a:ext uri="{0D108BD9-81ED-4DB2-BD59-A6C34878D82A}">
                    <a16:rowId xmlns:a16="http://schemas.microsoft.com/office/drawing/2014/main" val="10008"/>
                  </a:ext>
                </a:extLst>
              </a:tr>
              <a:tr h="233172">
                <a:tc>
                  <a:txBody>
                    <a:bodyPr/>
                    <a:lstStyle/>
                    <a:p>
                      <a:pPr algn="l">
                        <a:lnSpc>
                          <a:spcPct val="100000"/>
                        </a:lnSpc>
                        <a:spcAft>
                          <a:spcPts val="0"/>
                        </a:spcAft>
                      </a:pPr>
                      <a:r>
                        <a:rPr sz="800" b="1" i="0">
                          <a:solidFill>
                            <a:srgbClr val="1C4587"/>
                          </a:solidFill>
                          <a:latin typeface="Inter"/>
                        </a:rPr>
                        <a:t>9</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Observability</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Log terstruktur, metrics, dan tracing</a:t>
                      </a:r>
                    </a:p>
                  </a:txBody>
                  <a:tcPr marL="73152" marR="73152" marT="36576" marB="36576" anchor="ctr">
                    <a:solidFill>
                      <a:srgbClr val="FFFFFF"/>
                    </a:solidFill>
                  </a:tcPr>
                </a:tc>
                <a:extLst>
                  <a:ext uri="{0D108BD9-81ED-4DB2-BD59-A6C34878D82A}">
                    <a16:rowId xmlns:a16="http://schemas.microsoft.com/office/drawing/2014/main" val="10009"/>
                  </a:ext>
                </a:extLst>
              </a:tr>
              <a:tr h="233172">
                <a:tc>
                  <a:txBody>
                    <a:bodyPr/>
                    <a:lstStyle/>
                    <a:p>
                      <a:pPr algn="l">
                        <a:lnSpc>
                          <a:spcPct val="100000"/>
                        </a:lnSpc>
                        <a:spcAft>
                          <a:spcPts val="0"/>
                        </a:spcAft>
                      </a:pPr>
                      <a:r>
                        <a:rPr sz="800" b="1" i="0">
                          <a:solidFill>
                            <a:srgbClr val="1C4587"/>
                          </a:solidFill>
                          <a:latin typeface="Inter"/>
                        </a:rPr>
                        <a:t>10</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API Security</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Login OAuth2/JWT, hak akses per role</a:t>
                      </a:r>
                    </a:p>
                  </a:txBody>
                  <a:tcPr marL="73152" marR="73152" marT="36576" marB="36576" anchor="ctr">
                    <a:solidFill>
                      <a:srgbClr val="F3F4F6"/>
                    </a:solidFill>
                  </a:tcPr>
                </a:tc>
                <a:extLst>
                  <a:ext uri="{0D108BD9-81ED-4DB2-BD59-A6C34878D82A}">
                    <a16:rowId xmlns:a16="http://schemas.microsoft.com/office/drawing/2014/main" val="10010"/>
                  </a:ext>
                </a:extLst>
              </a:tr>
              <a:tr h="233172">
                <a:tc>
                  <a:txBody>
                    <a:bodyPr/>
                    <a:lstStyle/>
                    <a:p>
                      <a:pPr algn="l">
                        <a:lnSpc>
                          <a:spcPct val="100000"/>
                        </a:lnSpc>
                        <a:spcAft>
                          <a:spcPts val="0"/>
                        </a:spcAft>
                      </a:pPr>
                      <a:r>
                        <a:rPr sz="800" b="1" i="0">
                          <a:solidFill>
                            <a:srgbClr val="1C4587"/>
                          </a:solidFill>
                          <a:latin typeface="Inter"/>
                        </a:rPr>
                        <a:t>11</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Docker &amp; CI/CD</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Docker image, Compose, dan pipeline otomatis</a:t>
                      </a:r>
                    </a:p>
                  </a:txBody>
                  <a:tcPr marL="73152" marR="73152" marT="36576" marB="36576" anchor="ctr">
                    <a:solidFill>
                      <a:srgbClr val="FFFFFF"/>
                    </a:solidFill>
                  </a:tcPr>
                </a:tc>
                <a:extLst>
                  <a:ext uri="{0D108BD9-81ED-4DB2-BD59-A6C34878D82A}">
                    <a16:rowId xmlns:a16="http://schemas.microsoft.com/office/drawing/2014/main" val="10011"/>
                  </a:ext>
                </a:extLst>
              </a:tr>
              <a:tr h="233172">
                <a:tc>
                  <a:txBody>
                    <a:bodyPr/>
                    <a:lstStyle/>
                    <a:p>
                      <a:pPr algn="l">
                        <a:lnSpc>
                          <a:spcPct val="100000"/>
                        </a:lnSpc>
                        <a:spcAft>
                          <a:spcPts val="0"/>
                        </a:spcAft>
                      </a:pPr>
                      <a:r>
                        <a:rPr sz="800" b="1" i="0">
                          <a:solidFill>
                            <a:srgbClr val="1C4587"/>
                          </a:solidFill>
                          <a:latin typeface="Inter"/>
                        </a:rPr>
                        <a:t>12</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Final Project</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Order API yang siap production</a:t>
                      </a:r>
                    </a:p>
                  </a:txBody>
                  <a:tcPr marL="73152" marR="73152" marT="36576" marB="36576" anchor="ctr">
                    <a:solidFill>
                      <a:srgbClr val="F3F4F6"/>
                    </a:solidFill>
                  </a:tcPr>
                </a:tc>
                <a:extLst>
                  <a:ext uri="{0D108BD9-81ED-4DB2-BD59-A6C34878D82A}">
                    <a16:rowId xmlns:a16="http://schemas.microsoft.com/office/drawing/2014/main" val="10012"/>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Pengantar</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Fitur Broker, Library, dan Pattern di Sesi Ini</a:t>
            </a:r>
          </a:p>
        </p:txBody>
      </p:sp>
      <p:graphicFrame>
        <p:nvGraphicFramePr>
          <p:cNvPr id="22" name="Table 3"/>
          <p:cNvGraphicFramePr>
            <a:graphicFrameLocks noGrp="1"/>
          </p:cNvGraphicFramePr>
          <p:nvPr/>
        </p:nvGraphicFramePr>
        <p:xfrm>
          <a:off x="621792" y="1481328"/>
          <a:ext cx="7863840" cy="2633472"/>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329184">
                <a:tc>
                  <a:txBody>
                    <a:bodyPr/>
                    <a:lstStyle/>
                    <a:p>
                      <a:pPr algn="l">
                        <a:lnSpc>
                          <a:spcPct val="100000"/>
                        </a:lnSpc>
                        <a:spcAft>
                          <a:spcPts val="0"/>
                        </a:spcAft>
                      </a:pPr>
                      <a:r>
                        <a:rPr sz="950" b="1" i="0">
                          <a:solidFill>
                            <a:srgbClr val="FFFFFF"/>
                          </a:solidFill>
                          <a:latin typeface="Inter"/>
                        </a:rPr>
                        <a:t>Topik</a:t>
                      </a:r>
                    </a:p>
                  </a:txBody>
                  <a:tcPr marL="73152" marR="73152" marT="36576" marB="36576" anchor="ctr">
                    <a:solidFill>
                      <a:srgbClr val="1C4587"/>
                    </a:solidFill>
                  </a:tcPr>
                </a:tc>
                <a:tc>
                  <a:txBody>
                    <a:bodyPr/>
                    <a:lstStyle/>
                    <a:p>
                      <a:pPr algn="l">
                        <a:lnSpc>
                          <a:spcPct val="100000"/>
                        </a:lnSpc>
                        <a:spcAft>
                          <a:spcPts val="0"/>
                        </a:spcAft>
                      </a:pPr>
                      <a:r>
                        <a:rPr sz="950" b="1" i="0">
                          <a:solidFill>
                            <a:srgbClr val="FFFFFF"/>
                          </a:solidFill>
                          <a:latin typeface="Inter"/>
                        </a:rPr>
                        <a:t>Jenisnya</a:t>
                      </a:r>
                    </a:p>
                  </a:txBody>
                  <a:tcPr marL="73152" marR="73152" marT="36576" marB="36576" anchor="ctr">
                    <a:solidFill>
                      <a:srgbClr val="1C4587"/>
                    </a:solidFill>
                  </a:tcPr>
                </a:tc>
                <a:tc>
                  <a:txBody>
                    <a:bodyPr/>
                    <a:lstStyle/>
                    <a:p>
                      <a:pPr algn="l">
                        <a:lnSpc>
                          <a:spcPct val="100000"/>
                        </a:lnSpc>
                        <a:spcAft>
                          <a:spcPts val="0"/>
                        </a:spcAft>
                      </a:pPr>
                      <a:r>
                        <a:rPr sz="950" b="1" i="0">
                          <a:solidFill>
                            <a:srgbClr val="FFFFFF"/>
                          </a:solidFill>
                          <a:latin typeface="Inter"/>
                        </a:rPr>
                        <a:t>Disediakan oleh</a:t>
                      </a:r>
                    </a:p>
                  </a:txBody>
                  <a:tcPr marL="73152" marR="73152" marT="36576" marB="36576" anchor="ctr">
                    <a:solidFill>
                      <a:srgbClr val="1C4587"/>
                    </a:solidFill>
                  </a:tcPr>
                </a:tc>
                <a:extLst>
                  <a:ext uri="{0D108BD9-81ED-4DB2-BD59-A6C34878D82A}">
                    <a16:rowId xmlns:a16="http://schemas.microsoft.com/office/drawing/2014/main" val="10000"/>
                  </a:ext>
                </a:extLst>
              </a:tr>
              <a:tr h="329184">
                <a:tc>
                  <a:txBody>
                    <a:bodyPr/>
                    <a:lstStyle/>
                    <a:p>
                      <a:pPr algn="l">
                        <a:lnSpc>
                          <a:spcPct val="100000"/>
                        </a:lnSpc>
                        <a:spcAft>
                          <a:spcPts val="0"/>
                        </a:spcAft>
                      </a:pPr>
                      <a:r>
                        <a:rPr sz="950" b="1" i="0">
                          <a:solidFill>
                            <a:srgbClr val="1C4587"/>
                          </a:solidFill>
                          <a:latin typeface="Inter"/>
                        </a:rPr>
                        <a:t>Producer dan consumer</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Design pattern</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Ditulis sendiri, contoh awal dengan queue.Queue</a:t>
                      </a:r>
                    </a:p>
                  </a:txBody>
                  <a:tcPr marL="73152" marR="73152" marT="36576" marB="36576" anchor="ctr">
                    <a:solidFill>
                      <a:srgbClr val="FFFFFF"/>
                    </a:solidFill>
                  </a:tcPr>
                </a:tc>
                <a:extLst>
                  <a:ext uri="{0D108BD9-81ED-4DB2-BD59-A6C34878D82A}">
                    <a16:rowId xmlns:a16="http://schemas.microsoft.com/office/drawing/2014/main" val="10001"/>
                  </a:ext>
                </a:extLst>
              </a:tr>
              <a:tr h="329184">
                <a:tc>
                  <a:txBody>
                    <a:bodyPr/>
                    <a:lstStyle/>
                    <a:p>
                      <a:pPr algn="l">
                        <a:lnSpc>
                          <a:spcPct val="100000"/>
                        </a:lnSpc>
                        <a:spcAft>
                          <a:spcPts val="0"/>
                        </a:spcAft>
                      </a:pPr>
                      <a:r>
                        <a:rPr sz="950" b="1" i="0">
                          <a:solidFill>
                            <a:srgbClr val="1C4587"/>
                          </a:solidFill>
                          <a:latin typeface="Inter"/>
                        </a:rPr>
                        <a:t>Exchange, queue, binding</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Fitur broker</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RabbitMQ, dipanggil lewat library pika</a:t>
                      </a:r>
                    </a:p>
                  </a:txBody>
                  <a:tcPr marL="73152" marR="73152" marT="36576" marB="36576" anchor="ctr">
                    <a:solidFill>
                      <a:srgbClr val="F3F4F6"/>
                    </a:solidFill>
                  </a:tcPr>
                </a:tc>
                <a:extLst>
                  <a:ext uri="{0D108BD9-81ED-4DB2-BD59-A6C34878D82A}">
                    <a16:rowId xmlns:a16="http://schemas.microsoft.com/office/drawing/2014/main" val="10002"/>
                  </a:ext>
                </a:extLst>
              </a:tr>
              <a:tr h="329184">
                <a:tc>
                  <a:txBody>
                    <a:bodyPr/>
                    <a:lstStyle/>
                    <a:p>
                      <a:pPr algn="l">
                        <a:lnSpc>
                          <a:spcPct val="100000"/>
                        </a:lnSpc>
                        <a:spcAft>
                          <a:spcPts val="0"/>
                        </a:spcAft>
                      </a:pPr>
                      <a:r>
                        <a:rPr sz="950" b="1" i="0">
                          <a:solidFill>
                            <a:srgbClr val="1C4587"/>
                          </a:solidFill>
                          <a:latin typeface="Inter"/>
                        </a:rPr>
                        <a:t>Ack, nack, prefetch</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Fitur broker</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RabbitMQ: basic_ack, basic_nack, basic_qos</a:t>
                      </a:r>
                    </a:p>
                  </a:txBody>
                  <a:tcPr marL="73152" marR="73152" marT="36576" marB="36576" anchor="ctr">
                    <a:solidFill>
                      <a:srgbClr val="FFFFFF"/>
                    </a:solidFill>
                  </a:tcPr>
                </a:tc>
                <a:extLst>
                  <a:ext uri="{0D108BD9-81ED-4DB2-BD59-A6C34878D82A}">
                    <a16:rowId xmlns:a16="http://schemas.microsoft.com/office/drawing/2014/main" val="10003"/>
                  </a:ext>
                </a:extLst>
              </a:tr>
              <a:tr h="329184">
                <a:tc>
                  <a:txBody>
                    <a:bodyPr/>
                    <a:lstStyle/>
                    <a:p>
                      <a:pPr algn="l">
                        <a:lnSpc>
                          <a:spcPct val="100000"/>
                        </a:lnSpc>
                        <a:spcAft>
                          <a:spcPts val="0"/>
                        </a:spcAft>
                      </a:pPr>
                      <a:r>
                        <a:rPr sz="950" b="1" i="0">
                          <a:solidFill>
                            <a:srgbClr val="1C4587"/>
                          </a:solidFill>
                          <a:latin typeface="Inter"/>
                        </a:rPr>
                        <a:t>Retry dan dead letter queue</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Fitur broker</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RabbitMQ: expiration dan x-dead-letter-*</a:t>
                      </a:r>
                    </a:p>
                  </a:txBody>
                  <a:tcPr marL="73152" marR="73152" marT="36576" marB="36576" anchor="ctr">
                    <a:solidFill>
                      <a:srgbClr val="F3F4F6"/>
                    </a:solidFill>
                  </a:tcPr>
                </a:tc>
                <a:extLst>
                  <a:ext uri="{0D108BD9-81ED-4DB2-BD59-A6C34878D82A}">
                    <a16:rowId xmlns:a16="http://schemas.microsoft.com/office/drawing/2014/main" val="10004"/>
                  </a:ext>
                </a:extLst>
              </a:tr>
              <a:tr h="329184">
                <a:tc>
                  <a:txBody>
                    <a:bodyPr/>
                    <a:lstStyle/>
                    <a:p>
                      <a:pPr algn="l">
                        <a:lnSpc>
                          <a:spcPct val="100000"/>
                        </a:lnSpc>
                        <a:spcAft>
                          <a:spcPts val="0"/>
                        </a:spcAft>
                      </a:pPr>
                      <a:r>
                        <a:rPr sz="950" b="1" i="0">
                          <a:solidFill>
                            <a:srgbClr val="1C4587"/>
                          </a:solidFill>
                          <a:latin typeface="Inter"/>
                        </a:rPr>
                        <a:t>Idempotent consumer</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Design pattern</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Ditulis sendiri: event_id dicatat di database</a:t>
                      </a:r>
                    </a:p>
                  </a:txBody>
                  <a:tcPr marL="73152" marR="73152" marT="36576" marB="36576" anchor="ctr">
                    <a:solidFill>
                      <a:srgbClr val="FFFFFF"/>
                    </a:solidFill>
                  </a:tcPr>
                </a:tc>
                <a:extLst>
                  <a:ext uri="{0D108BD9-81ED-4DB2-BD59-A6C34878D82A}">
                    <a16:rowId xmlns:a16="http://schemas.microsoft.com/office/drawing/2014/main" val="10005"/>
                  </a:ext>
                </a:extLst>
              </a:tr>
              <a:tr h="329184">
                <a:tc>
                  <a:txBody>
                    <a:bodyPr/>
                    <a:lstStyle/>
                    <a:p>
                      <a:pPr algn="l">
                        <a:lnSpc>
                          <a:spcPct val="100000"/>
                        </a:lnSpc>
                        <a:spcAft>
                          <a:spcPts val="0"/>
                        </a:spcAft>
                      </a:pPr>
                      <a:r>
                        <a:rPr sz="950" b="1" i="0">
                          <a:solidFill>
                            <a:srgbClr val="1C4587"/>
                          </a:solidFill>
                          <a:latin typeface="Inter"/>
                        </a:rPr>
                        <a:t>Topic, partition, offset</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Fitur broker</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Kafka, dipanggil lewat library confluent-kafka</a:t>
                      </a:r>
                    </a:p>
                  </a:txBody>
                  <a:tcPr marL="73152" marR="73152" marT="36576" marB="36576" anchor="ctr">
                    <a:solidFill>
                      <a:srgbClr val="F3F4F6"/>
                    </a:solidFill>
                  </a:tcPr>
                </a:tc>
                <a:extLst>
                  <a:ext uri="{0D108BD9-81ED-4DB2-BD59-A6C34878D82A}">
                    <a16:rowId xmlns:a16="http://schemas.microsoft.com/office/drawing/2014/main" val="10006"/>
                  </a:ext>
                </a:extLst>
              </a:tr>
              <a:tr h="329184">
                <a:tc>
                  <a:txBody>
                    <a:bodyPr/>
                    <a:lstStyle/>
                    <a:p>
                      <a:pPr algn="l">
                        <a:lnSpc>
                          <a:spcPct val="100000"/>
                        </a:lnSpc>
                        <a:spcAft>
                          <a:spcPts val="0"/>
                        </a:spcAft>
                      </a:pPr>
                      <a:r>
                        <a:rPr sz="950" b="1" i="0">
                          <a:solidFill>
                            <a:srgbClr val="1C4587"/>
                          </a:solidFill>
                          <a:latin typeface="Inter"/>
                        </a:rPr>
                        <a:t>RabbitMQ dan Kafka</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Software terpisah</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Dijalankan dengan Docker</a:t>
                      </a:r>
                    </a:p>
                  </a:txBody>
                  <a:tcPr marL="73152" marR="73152" marT="36576" marB="36576" anchor="ctr">
                    <a:solidFill>
                      <a:srgbClr val="FFFFFF"/>
                    </a:solidFill>
                  </a:tcPr>
                </a:tc>
                <a:extLst>
                  <a:ext uri="{0D108BD9-81ED-4DB2-BD59-A6C34878D82A}">
                    <a16:rowId xmlns:a16="http://schemas.microsoft.com/office/drawing/2014/main" val="10007"/>
                  </a:ext>
                </a:extLst>
              </a:tr>
            </a:tbl>
          </a:graphicData>
        </a:graphic>
      </p:graphicFrame>
      <p:sp>
        <p:nvSpPr>
          <p:cNvPr id="23" name="Text 4"/>
          <p:cNvSpPr txBox="1"/>
          <p:nvPr/>
        </p:nvSpPr>
        <p:spPr>
          <a:xfrm>
            <a:off x="621792" y="4526280"/>
            <a:ext cx="7863840" cy="274320"/>
          </a:xfrm>
          <a:prstGeom prst="rect">
            <a:avLst/>
          </a:prstGeom>
          <a:noFill/>
        </p:spPr>
        <p:txBody>
          <a:bodyPr wrap="square" lIns="45720" rIns="45720" anchor="t">
            <a:spAutoFit/>
          </a:bodyPr>
          <a:lstStyle/>
          <a:p>
            <a:pPr algn="l">
              <a:lnSpc>
                <a:spcPct val="115000"/>
              </a:lnSpc>
              <a:spcAft>
                <a:spcPts val="400"/>
              </a:spcAft>
            </a:pPr>
            <a:r>
              <a:rPr sz="950" b="0" i="0">
                <a:solidFill>
                  <a:srgbClr val="1C4587"/>
                </a:solidFill>
                <a:latin typeface="Inter"/>
              </a:rPr>
              <a:t>Bagian 1 membedakan sync dan async. Bagian 2 membahas RabbitMQ, dan bagian 3 membahas Kafka.</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Pengantar</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RabbitMQ dan Kafka</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terminal</a:t>
            </a:r>
          </a:p>
        </p:txBody>
      </p:sp>
      <p:sp>
        <p:nvSpPr>
          <p:cNvPr id="27" name="CodeBg 10"/>
          <p:cNvSpPr/>
          <p:nvPr/>
        </p:nvSpPr>
        <p:spPr>
          <a:xfrm>
            <a:off x="621792" y="1719072"/>
            <a:ext cx="4297680" cy="1179576"/>
          </a:xfrm>
          <a:prstGeom prst="roundRect">
            <a:avLst>
              <a:gd name="adj" fmla="val 1550"/>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1179576"/>
          </a:xfrm>
          <a:prstGeom prst="rect">
            <a:avLst/>
          </a:prstGeom>
          <a:noFill/>
        </p:spPr>
        <p:txBody>
          <a:bodyPr wrap="none" lIns="146304" tIns="91440" rIns="146304" bIns="54864">
            <a:spAutoFit/>
          </a:bodyPr>
          <a:lstStyle/>
          <a:p>
            <a:pPr>
              <a:lnSpc>
                <a:spcPct val="111111"/>
              </a:lnSpc>
              <a:spcAft>
                <a:spcPts val="0"/>
              </a:spcAft>
            </a:pPr>
            <a:r>
              <a:rPr sz="900" i="1">
                <a:solidFill>
                  <a:srgbClr val="8B98A8"/>
                </a:solidFill>
                <a:latin typeface="Inconsolata"/>
              </a:rPr>
              <a:t># dari folder sesi-08</a:t>
            </a:r>
          </a:p>
          <a:p>
            <a:pPr>
              <a:lnSpc>
                <a:spcPct val="111111"/>
              </a:lnSpc>
              <a:spcAft>
                <a:spcPts val="0"/>
              </a:spcAft>
            </a:pPr>
            <a:r>
              <a:rPr sz="900" i="0">
                <a:solidFill>
                  <a:srgbClr val="82B1FF"/>
                </a:solidFill>
                <a:latin typeface="Inconsolata"/>
              </a:rPr>
              <a:t>$ docker compose up -d</a:t>
            </a:r>
          </a:p>
          <a:p>
            <a:pPr>
              <a:lnSpc>
                <a:spcPct val="111111"/>
              </a:lnSpc>
              <a:spcAft>
                <a:spcPts val="0"/>
              </a:spcAft>
            </a:pPr>
            <a:r>
              <a:rPr sz="900" i="1">
                <a:solidFill>
                  <a:srgbClr val="8B98A8"/>
                </a:solidFill>
                <a:latin typeface="Inconsolata"/>
              </a:rPr>
              <a:t># dashboard RabbitMQ:</a:t>
            </a:r>
          </a:p>
          <a:p>
            <a:pPr>
              <a:lnSpc>
                <a:spcPct val="111111"/>
              </a:lnSpc>
              <a:spcAft>
                <a:spcPts val="0"/>
              </a:spcAft>
            </a:pPr>
            <a:r>
              <a:rPr sz="900" i="1">
                <a:solidFill>
                  <a:srgbClr val="8B98A8"/>
                </a:solidFill>
                <a:latin typeface="Inconsolata"/>
              </a:rPr>
              <a:t>#   http://localhost:15672  (guest / guest)</a:t>
            </a:r>
          </a:p>
        </p:txBody>
      </p:sp>
      <p:graphicFrame>
        <p:nvGraphicFramePr>
          <p:cNvPr id="29" name="Table 12"/>
          <p:cNvGraphicFramePr>
            <a:graphicFrameLocks noGrp="1"/>
          </p:cNvGraphicFramePr>
          <p:nvPr/>
        </p:nvGraphicFramePr>
        <p:xfrm>
          <a:off x="5074920" y="1481328"/>
          <a:ext cx="3410712" cy="1920240"/>
        </p:xfrm>
        <a:graphic>
          <a:graphicData uri="http://schemas.openxmlformats.org/drawingml/2006/table">
            <a:tbl>
              <a:tblPr firstRow="1" bandRow="1"/>
              <a:tblGrid>
                <a:gridCol w="10058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490472">
                  <a:extLst>
                    <a:ext uri="{9D8B030D-6E8A-4147-A177-3AD203B41FA5}">
                      <a16:colId xmlns:a16="http://schemas.microsoft.com/office/drawing/2014/main" val="20002"/>
                    </a:ext>
                  </a:extLst>
                </a:gridCol>
              </a:tblGrid>
              <a:tr h="384048">
                <a:tc>
                  <a:txBody>
                    <a:bodyPr/>
                    <a:lstStyle/>
                    <a:p>
                      <a:pPr algn="l">
                        <a:lnSpc>
                          <a:spcPct val="100000"/>
                        </a:lnSpc>
                        <a:spcAft>
                          <a:spcPts val="0"/>
                        </a:spcAft>
                      </a:pPr>
                      <a:r>
                        <a:rPr sz="900" b="1" i="0">
                          <a:solidFill>
                            <a:srgbClr val="FFFFFF"/>
                          </a:solidFill>
                          <a:latin typeface="Inter"/>
                        </a:rPr>
                        <a:t>Service</a:t>
                      </a:r>
                    </a:p>
                  </a:txBody>
                  <a:tcPr marL="73152" marR="73152" marT="36576" marB="36576" anchor="ctr">
                    <a:solidFill>
                      <a:srgbClr val="1C4587"/>
                    </a:solidFill>
                  </a:tcPr>
                </a:tc>
                <a:tc>
                  <a:txBody>
                    <a:bodyPr/>
                    <a:lstStyle/>
                    <a:p>
                      <a:pPr algn="l">
                        <a:lnSpc>
                          <a:spcPct val="100000"/>
                        </a:lnSpc>
                        <a:spcAft>
                          <a:spcPts val="0"/>
                        </a:spcAft>
                      </a:pPr>
                      <a:r>
                        <a:rPr sz="900" b="1" i="0">
                          <a:solidFill>
                            <a:srgbClr val="FFFFFF"/>
                          </a:solidFill>
                          <a:latin typeface="Inter"/>
                        </a:rPr>
                        <a:t>Port</a:t>
                      </a:r>
                    </a:p>
                  </a:txBody>
                  <a:tcPr marL="73152" marR="73152" marT="36576" marB="36576" anchor="ctr">
                    <a:solidFill>
                      <a:srgbClr val="1C4587"/>
                    </a:solidFill>
                  </a:tcPr>
                </a:tc>
                <a:tc>
                  <a:txBody>
                    <a:bodyPr/>
                    <a:lstStyle/>
                    <a:p>
                      <a:pPr algn="l">
                        <a:lnSpc>
                          <a:spcPct val="100000"/>
                        </a:lnSpc>
                        <a:spcAft>
                          <a:spcPts val="0"/>
                        </a:spcAft>
                      </a:pPr>
                      <a:r>
                        <a:rPr sz="900" b="1" i="0">
                          <a:solidFill>
                            <a:srgbClr val="FFFFFF"/>
                          </a:solidFill>
                          <a:latin typeface="Inter"/>
                        </a:rPr>
                        <a:t>Dipakai di</a:t>
                      </a:r>
                    </a:p>
                  </a:txBody>
                  <a:tcPr marL="73152" marR="73152" marT="36576" marB="36576" anchor="ctr">
                    <a:solidFill>
                      <a:srgbClr val="1C4587"/>
                    </a:solidFill>
                  </a:tcPr>
                </a:tc>
                <a:extLst>
                  <a:ext uri="{0D108BD9-81ED-4DB2-BD59-A6C34878D82A}">
                    <a16:rowId xmlns:a16="http://schemas.microsoft.com/office/drawing/2014/main" val="10000"/>
                  </a:ext>
                </a:extLst>
              </a:tr>
              <a:tr h="384048">
                <a:tc>
                  <a:txBody>
                    <a:bodyPr/>
                    <a:lstStyle/>
                    <a:p>
                      <a:pPr algn="l">
                        <a:lnSpc>
                          <a:spcPct val="100000"/>
                        </a:lnSpc>
                        <a:spcAft>
                          <a:spcPts val="0"/>
                        </a:spcAft>
                      </a:pPr>
                      <a:r>
                        <a:rPr sz="900" b="1" i="0">
                          <a:solidFill>
                            <a:srgbClr val="1C4587"/>
                          </a:solidFill>
                          <a:latin typeface="Inter"/>
                        </a:rPr>
                        <a:t>RabbitMQ</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5672, 15672</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Contoh 02-05, hands-on</a:t>
                      </a:r>
                    </a:p>
                  </a:txBody>
                  <a:tcPr marL="73152" marR="73152" marT="36576" marB="36576" anchor="ctr">
                    <a:solidFill>
                      <a:srgbClr val="FFFFFF"/>
                    </a:solidFill>
                  </a:tcPr>
                </a:tc>
                <a:extLst>
                  <a:ext uri="{0D108BD9-81ED-4DB2-BD59-A6C34878D82A}">
                    <a16:rowId xmlns:a16="http://schemas.microsoft.com/office/drawing/2014/main" val="10001"/>
                  </a:ext>
                </a:extLst>
              </a:tr>
              <a:tr h="384048">
                <a:tc>
                  <a:txBody>
                    <a:bodyPr/>
                    <a:lstStyle/>
                    <a:p>
                      <a:pPr algn="l">
                        <a:lnSpc>
                          <a:spcPct val="100000"/>
                        </a:lnSpc>
                        <a:spcAft>
                          <a:spcPts val="0"/>
                        </a:spcAft>
                      </a:pPr>
                      <a:r>
                        <a:rPr sz="900" b="1" i="0">
                          <a:solidFill>
                            <a:srgbClr val="1C4587"/>
                          </a:solidFill>
                          <a:latin typeface="Inter"/>
                        </a:rPr>
                        <a:t>Kafka</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9092</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Contoh 06</a:t>
                      </a:r>
                    </a:p>
                  </a:txBody>
                  <a:tcPr marL="73152" marR="73152" marT="36576" marB="36576" anchor="ctr">
                    <a:solidFill>
                      <a:srgbClr val="F3F4F6"/>
                    </a:solidFill>
                  </a:tcPr>
                </a:tc>
                <a:extLst>
                  <a:ext uri="{0D108BD9-81ED-4DB2-BD59-A6C34878D82A}">
                    <a16:rowId xmlns:a16="http://schemas.microsoft.com/office/drawing/2014/main" val="10002"/>
                  </a:ext>
                </a:extLst>
              </a:tr>
              <a:tr h="384048">
                <a:tc>
                  <a:txBody>
                    <a:bodyPr/>
                    <a:lstStyle/>
                    <a:p>
                      <a:pPr algn="l">
                        <a:lnSpc>
                          <a:spcPct val="100000"/>
                        </a:lnSpc>
                        <a:spcAft>
                          <a:spcPts val="0"/>
                        </a:spcAft>
                      </a:pPr>
                      <a:r>
                        <a:rPr sz="900" b="1" i="0">
                          <a:solidFill>
                            <a:srgbClr val="1C4587"/>
                          </a:solidFill>
                          <a:latin typeface="Inter"/>
                        </a:rPr>
                        <a:t>PostgreSQL</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5432</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Hands-on</a:t>
                      </a:r>
                    </a:p>
                  </a:txBody>
                  <a:tcPr marL="73152" marR="73152" marT="36576" marB="36576" anchor="ctr">
                    <a:solidFill>
                      <a:srgbClr val="FFFFFF"/>
                    </a:solidFill>
                  </a:tcPr>
                </a:tc>
                <a:extLst>
                  <a:ext uri="{0D108BD9-81ED-4DB2-BD59-A6C34878D82A}">
                    <a16:rowId xmlns:a16="http://schemas.microsoft.com/office/drawing/2014/main" val="10003"/>
                  </a:ext>
                </a:extLst>
              </a:tr>
              <a:tr h="384048">
                <a:tc>
                  <a:txBody>
                    <a:bodyPr/>
                    <a:lstStyle/>
                    <a:p>
                      <a:pPr algn="l">
                        <a:lnSpc>
                          <a:spcPct val="100000"/>
                        </a:lnSpc>
                        <a:spcAft>
                          <a:spcPts val="0"/>
                        </a:spcAft>
                      </a:pPr>
                      <a:r>
                        <a:rPr sz="900" b="1" i="0">
                          <a:solidFill>
                            <a:srgbClr val="1C4587"/>
                          </a:solidFill>
                          <a:latin typeface="Inter"/>
                        </a:rPr>
                        <a:t>Redis</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6379</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Hands-on</a:t>
                      </a:r>
                    </a:p>
                  </a:txBody>
                  <a:tcPr marL="73152" marR="73152" marT="36576" marB="36576" anchor="ctr">
                    <a:solidFill>
                      <a:srgbClr val="F3F4F6"/>
                    </a:solidFill>
                  </a:tcPr>
                </a:tc>
                <a:extLst>
                  <a:ext uri="{0D108BD9-81ED-4DB2-BD59-A6C34878D82A}">
                    <a16:rowId xmlns:a16="http://schemas.microsoft.com/office/drawing/2014/main" val="10004"/>
                  </a:ext>
                </a:extLst>
              </a:tr>
            </a:tbl>
          </a:graphicData>
        </a:graphic>
      </p:graphicFrame>
      <p:sp>
        <p:nvSpPr>
          <p:cNvPr id="30" name="Text 13"/>
          <p:cNvSpPr txBox="1"/>
          <p:nvPr/>
        </p:nvSpPr>
        <p:spPr>
          <a:xfrm>
            <a:off x="621792" y="3063240"/>
            <a:ext cx="4297680" cy="164592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Kenapa perlu broker?</a:t>
            </a:r>
          </a:p>
          <a:p>
            <a:pPr algn="l">
              <a:lnSpc>
                <a:spcPct val="115000"/>
              </a:lnSpc>
              <a:spcAft>
                <a:spcPts val="400"/>
              </a:spcAft>
            </a:pPr>
            <a:r>
              <a:rPr sz="950" b="0" i="0">
                <a:solidFill>
                  <a:srgbClr val="434343"/>
                </a:solidFill>
                <a:latin typeface="Inter"/>
              </a:rPr>
              <a:t>Broker adalah server terpisah yang menyimpan pesan sampai consumer mengambilnya. Pesan tetap ada walaupun aplikasi restart.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8</a:t>
            </a:fld>
            <a:endParaRPr/>
          </a:p>
        </p:txBody>
      </p:sp>
      <p:sp>
        <p:nvSpPr>
          <p:cNvPr id="31" name="Text 1"/>
          <p:cNvSpPr txBox="1"/>
          <p:nvPr/>
        </p:nvSpPr>
        <p:spPr>
          <a:xfrm>
            <a:off x="822960" y="1600200"/>
            <a:ext cx="7315200" cy="365760"/>
          </a:xfrm>
          <a:prstGeom prst="rect">
            <a:avLst/>
          </a:prstGeom>
          <a:noFill/>
        </p:spPr>
        <p:txBody>
          <a:bodyPr wrap="square" lIns="45720" rIns="45720" anchor="t">
            <a:spAutoFit/>
          </a:bodyPr>
          <a:lstStyle/>
          <a:p>
            <a:pPr algn="l">
              <a:lnSpc>
                <a:spcPct val="115000"/>
              </a:lnSpc>
              <a:spcAft>
                <a:spcPts val="400"/>
              </a:spcAft>
            </a:pPr>
            <a:r>
              <a:rPr sz="1400" b="0" i="0">
                <a:solidFill>
                  <a:srgbClr val="CFE0FA"/>
                </a:solidFill>
                <a:latin typeface="Inter"/>
              </a:rPr>
              <a:t>Bagian 01</a:t>
            </a:r>
          </a:p>
        </p:txBody>
      </p:sp>
      <p:sp>
        <p:nvSpPr>
          <p:cNvPr id="32" name="Text 2"/>
          <p:cNvSpPr txBox="1"/>
          <p:nvPr/>
        </p:nvSpPr>
        <p:spPr>
          <a:xfrm>
            <a:off x="822960" y="1920240"/>
            <a:ext cx="7315200" cy="822960"/>
          </a:xfrm>
          <a:prstGeom prst="rect">
            <a:avLst/>
          </a:prstGeom>
          <a:noFill/>
        </p:spPr>
        <p:txBody>
          <a:bodyPr wrap="square" lIns="45720" rIns="45720" anchor="t">
            <a:spAutoFit/>
          </a:bodyPr>
          <a:lstStyle/>
          <a:p>
            <a:pPr algn="l">
              <a:lnSpc>
                <a:spcPct val="115000"/>
              </a:lnSpc>
              <a:spcAft>
                <a:spcPts val="400"/>
              </a:spcAft>
            </a:pPr>
            <a:r>
              <a:rPr sz="3000" b="0" i="0">
                <a:solidFill>
                  <a:srgbClr val="FFFFFF"/>
                </a:solidFill>
                <a:latin typeface="Work Sans ExtraBold"/>
              </a:rPr>
              <a:t>Event-Driven Architecture</a:t>
            </a:r>
          </a:p>
        </p:txBody>
      </p:sp>
      <p:sp>
        <p:nvSpPr>
          <p:cNvPr id="33" name="Text 3"/>
          <p:cNvSpPr txBox="1"/>
          <p:nvPr/>
        </p:nvSpPr>
        <p:spPr>
          <a:xfrm>
            <a:off x="822960" y="2743200"/>
            <a:ext cx="6583680" cy="731520"/>
          </a:xfrm>
          <a:prstGeom prst="rect">
            <a:avLst/>
          </a:prstGeom>
          <a:noFill/>
        </p:spPr>
        <p:txBody>
          <a:bodyPr wrap="square" lIns="45720" rIns="45720" anchor="t">
            <a:spAutoFit/>
          </a:bodyPr>
          <a:lstStyle/>
          <a:p>
            <a:pPr algn="l">
              <a:lnSpc>
                <a:spcPct val="115000"/>
              </a:lnSpc>
              <a:spcAft>
                <a:spcPts val="400"/>
              </a:spcAft>
            </a:pPr>
            <a:r>
              <a:rPr sz="1200" b="0" i="0">
                <a:solidFill>
                  <a:srgbClr val="E3ECFA"/>
                </a:solidFill>
                <a:latin typeface="Inter"/>
              </a:rPr>
              <a:t>Kapan memanggil langsung, kapan cukup mengirim event.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Event-Driven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Event-Driven Architecture?</a:t>
            </a:r>
          </a:p>
        </p:txBody>
      </p:sp>
      <p:sp>
        <p:nvSpPr>
          <p:cNvPr id="22" name="Text 3"/>
          <p:cNvSpPr txBox="1"/>
          <p:nvPr/>
        </p:nvSpPr>
        <p:spPr>
          <a:xfrm>
            <a:off x="621792" y="1481328"/>
            <a:ext cx="3520440" cy="1964769"/>
          </a:xfrm>
          <a:prstGeom prst="rect">
            <a:avLst/>
          </a:prstGeom>
          <a:noFill/>
        </p:spPr>
        <p:txBody>
          <a:bodyPr wrap="square" lIns="45720" rIns="45720" anchor="t">
            <a:spAutoFit/>
          </a:bodyPr>
          <a:lstStyle/>
          <a:p>
            <a:pPr algn="l">
              <a:lnSpc>
                <a:spcPct val="115000"/>
              </a:lnSpc>
              <a:spcAft>
                <a:spcPts val="400"/>
              </a:spcAft>
            </a:pPr>
            <a:r>
              <a:rPr sz="1000" b="1" i="0" dirty="0">
                <a:solidFill>
                  <a:srgbClr val="1C4587"/>
                </a:solidFill>
                <a:latin typeface="Inter"/>
              </a:rPr>
              <a:t>Event-driven architecture </a:t>
            </a:r>
            <a:r>
              <a:rPr sz="1000" b="1" i="0" dirty="0" err="1">
                <a:solidFill>
                  <a:srgbClr val="1C4587"/>
                </a:solidFill>
                <a:latin typeface="Inter"/>
              </a:rPr>
              <a:t>adalah</a:t>
            </a:r>
            <a:endParaRPr sz="1000" b="1" i="0" dirty="0">
              <a:solidFill>
                <a:srgbClr val="1C4587"/>
              </a:solidFill>
              <a:latin typeface="Inter"/>
            </a:endParaRPr>
          </a:p>
          <a:p>
            <a:pPr algn="l">
              <a:lnSpc>
                <a:spcPct val="115000"/>
              </a:lnSpc>
              <a:spcAft>
                <a:spcPts val="400"/>
              </a:spcAft>
            </a:pPr>
            <a:r>
              <a:rPr sz="900" b="0" i="0" dirty="0" err="1">
                <a:solidFill>
                  <a:srgbClr val="434343"/>
                </a:solidFill>
                <a:latin typeface="Inter"/>
              </a:rPr>
              <a:t>Arsitektur</a:t>
            </a:r>
            <a:r>
              <a:rPr sz="900" b="0" i="0" dirty="0">
                <a:solidFill>
                  <a:srgbClr val="434343"/>
                </a:solidFill>
                <a:latin typeface="Inter"/>
              </a:rPr>
              <a:t> di mana </a:t>
            </a:r>
            <a:r>
              <a:rPr sz="900" b="0" i="0" dirty="0" err="1">
                <a:solidFill>
                  <a:srgbClr val="434343"/>
                </a:solidFill>
                <a:latin typeface="Inter"/>
              </a:rPr>
              <a:t>sebuah</a:t>
            </a:r>
            <a:r>
              <a:rPr sz="900" b="0" i="0" dirty="0">
                <a:solidFill>
                  <a:srgbClr val="434343"/>
                </a:solidFill>
                <a:latin typeface="Inter"/>
              </a:rPr>
              <a:t> service </a:t>
            </a:r>
            <a:r>
              <a:rPr sz="900" b="1" i="0" dirty="0" err="1">
                <a:solidFill>
                  <a:srgbClr val="434343"/>
                </a:solidFill>
                <a:latin typeface="Inter"/>
              </a:rPr>
              <a:t>mengirim</a:t>
            </a:r>
            <a:r>
              <a:rPr sz="900" b="1" i="0" dirty="0">
                <a:solidFill>
                  <a:srgbClr val="434343"/>
                </a:solidFill>
                <a:latin typeface="Inter"/>
              </a:rPr>
              <a:t> event</a:t>
            </a:r>
            <a:r>
              <a:rPr sz="900" b="0" i="0" dirty="0">
                <a:solidFill>
                  <a:srgbClr val="434343"/>
                </a:solidFill>
                <a:latin typeface="Inter"/>
              </a:rPr>
              <a:t> </a:t>
            </a:r>
            <a:r>
              <a:rPr sz="900" b="0" i="0" dirty="0" err="1">
                <a:solidFill>
                  <a:srgbClr val="434343"/>
                </a:solidFill>
                <a:latin typeface="Inter"/>
              </a:rPr>
              <a:t>ke</a:t>
            </a:r>
            <a:r>
              <a:rPr sz="900" b="0" i="0" dirty="0">
                <a:solidFill>
                  <a:srgbClr val="434343"/>
                </a:solidFill>
                <a:latin typeface="Inter"/>
              </a:rPr>
              <a:t> message broker, </a:t>
            </a:r>
            <a:r>
              <a:rPr sz="900" b="0" i="0" dirty="0" err="1">
                <a:solidFill>
                  <a:srgbClr val="434343"/>
                </a:solidFill>
                <a:latin typeface="Inter"/>
              </a:rPr>
              <a:t>lalu</a:t>
            </a:r>
            <a:r>
              <a:rPr sz="900" b="0" i="0" dirty="0">
                <a:solidFill>
                  <a:srgbClr val="434343"/>
                </a:solidFill>
                <a:latin typeface="Inter"/>
              </a:rPr>
              <a:t> service lain yang </a:t>
            </a:r>
            <a:r>
              <a:rPr sz="900" b="0" i="0" dirty="0" err="1">
                <a:solidFill>
                  <a:srgbClr val="434343"/>
                </a:solidFill>
                <a:latin typeface="Inter"/>
              </a:rPr>
              <a:t>membutuhkan</a:t>
            </a:r>
            <a:r>
              <a:rPr sz="900" b="0" i="0" dirty="0">
                <a:solidFill>
                  <a:srgbClr val="434343"/>
                </a:solidFill>
                <a:latin typeface="Inter"/>
              </a:rPr>
              <a:t> </a:t>
            </a:r>
            <a:r>
              <a:rPr sz="900" b="1" i="0" dirty="0" err="1">
                <a:solidFill>
                  <a:srgbClr val="434343"/>
                </a:solidFill>
                <a:latin typeface="Inter"/>
              </a:rPr>
              <a:t>bereaksi</a:t>
            </a:r>
            <a:r>
              <a:rPr sz="900" b="0" i="0" dirty="0">
                <a:solidFill>
                  <a:srgbClr val="434343"/>
                </a:solidFill>
                <a:latin typeface="Inter"/>
              </a:rPr>
              <a:t> </a:t>
            </a:r>
            <a:r>
              <a:rPr sz="900" b="0" i="0" dirty="0" err="1">
                <a:solidFill>
                  <a:srgbClr val="434343"/>
                </a:solidFill>
                <a:latin typeface="Inter"/>
              </a:rPr>
              <a:t>terhadap</a:t>
            </a:r>
            <a:r>
              <a:rPr sz="900" b="0" i="0" dirty="0">
                <a:solidFill>
                  <a:srgbClr val="434343"/>
                </a:solidFill>
                <a:latin typeface="Inter"/>
              </a:rPr>
              <a:t> event </a:t>
            </a:r>
            <a:r>
              <a:rPr sz="900" b="0" i="0" dirty="0" err="1">
                <a:solidFill>
                  <a:srgbClr val="434343"/>
                </a:solidFill>
                <a:latin typeface="Inter"/>
              </a:rPr>
              <a:t>itu</a:t>
            </a:r>
            <a:r>
              <a:rPr sz="900" b="0" i="0" dirty="0">
                <a:solidFill>
                  <a:srgbClr val="434343"/>
                </a:solidFill>
                <a:latin typeface="Inter"/>
              </a:rPr>
              <a:t>. </a:t>
            </a:r>
            <a:r>
              <a:rPr sz="900" b="0" i="0" dirty="0" err="1">
                <a:solidFill>
                  <a:srgbClr val="434343"/>
                </a:solidFill>
                <a:latin typeface="Inter"/>
              </a:rPr>
              <a:t>Pengirimnya</a:t>
            </a:r>
            <a:r>
              <a:rPr sz="900" b="0" i="0" dirty="0">
                <a:solidFill>
                  <a:srgbClr val="434343"/>
                </a:solidFill>
                <a:latin typeface="Inter"/>
              </a:rPr>
              <a:t> </a:t>
            </a:r>
            <a:r>
              <a:rPr sz="900" b="0" i="0" dirty="0" err="1">
                <a:solidFill>
                  <a:srgbClr val="434343"/>
                </a:solidFill>
                <a:latin typeface="Inter"/>
              </a:rPr>
              <a:t>disebut</a:t>
            </a:r>
            <a:r>
              <a:rPr sz="900" b="0" i="0" dirty="0">
                <a:solidFill>
                  <a:srgbClr val="434343"/>
                </a:solidFill>
                <a:latin typeface="Inter"/>
              </a:rPr>
              <a:t> </a:t>
            </a:r>
            <a:r>
              <a:rPr sz="900" b="1" i="0" dirty="0">
                <a:solidFill>
                  <a:srgbClr val="434343"/>
                </a:solidFill>
                <a:latin typeface="Inter"/>
              </a:rPr>
              <a:t>producer</a:t>
            </a:r>
            <a:r>
              <a:rPr sz="900" b="0" i="0" dirty="0">
                <a:solidFill>
                  <a:srgbClr val="434343"/>
                </a:solidFill>
                <a:latin typeface="Inter"/>
              </a:rPr>
              <a:t>, </a:t>
            </a:r>
            <a:r>
              <a:rPr sz="900" b="0" i="0" dirty="0" err="1">
                <a:solidFill>
                  <a:srgbClr val="434343"/>
                </a:solidFill>
                <a:latin typeface="Inter"/>
              </a:rPr>
              <a:t>penerimanya</a:t>
            </a:r>
            <a:r>
              <a:rPr sz="900" b="0" i="0" dirty="0">
                <a:solidFill>
                  <a:srgbClr val="434343"/>
                </a:solidFill>
                <a:latin typeface="Inter"/>
              </a:rPr>
              <a:t> </a:t>
            </a:r>
            <a:r>
              <a:rPr sz="900" b="0" i="0" dirty="0" err="1">
                <a:solidFill>
                  <a:srgbClr val="434343"/>
                </a:solidFill>
                <a:latin typeface="Inter"/>
              </a:rPr>
              <a:t>disebut</a:t>
            </a:r>
            <a:r>
              <a:rPr sz="900" b="0" i="0" dirty="0">
                <a:solidFill>
                  <a:srgbClr val="434343"/>
                </a:solidFill>
                <a:latin typeface="Inter"/>
              </a:rPr>
              <a:t> </a:t>
            </a:r>
            <a:r>
              <a:rPr sz="900" b="1" i="0" dirty="0">
                <a:solidFill>
                  <a:srgbClr val="434343"/>
                </a:solidFill>
                <a:latin typeface="Inter"/>
              </a:rPr>
              <a:t>consumer</a:t>
            </a:r>
            <a:r>
              <a:rPr sz="900" b="0" i="0" dirty="0">
                <a:solidFill>
                  <a:srgbClr val="434343"/>
                </a:solidFill>
                <a:latin typeface="Inter"/>
              </a:rPr>
              <a:t>.</a:t>
            </a:r>
          </a:p>
          <a:p>
            <a:pPr algn="l">
              <a:lnSpc>
                <a:spcPct val="115000"/>
              </a:lnSpc>
              <a:spcAft>
                <a:spcPts val="400"/>
              </a:spcAft>
            </a:pPr>
            <a:r>
              <a:rPr sz="1000" b="1" i="0" dirty="0" err="1">
                <a:solidFill>
                  <a:srgbClr val="1C4587"/>
                </a:solidFill>
                <a:latin typeface="Inter"/>
              </a:rPr>
              <a:t>Untuk</a:t>
            </a:r>
            <a:r>
              <a:rPr sz="1000" b="1" i="0" dirty="0">
                <a:solidFill>
                  <a:srgbClr val="1C4587"/>
                </a:solidFill>
                <a:latin typeface="Inter"/>
              </a:rPr>
              <a:t> </a:t>
            </a:r>
            <a:r>
              <a:rPr sz="1000" b="1" i="0" dirty="0" err="1">
                <a:solidFill>
                  <a:srgbClr val="1C4587"/>
                </a:solidFill>
                <a:latin typeface="Inter"/>
              </a:rPr>
              <a:t>apa</a:t>
            </a:r>
            <a:endParaRPr sz="1000" b="1" i="0" dirty="0">
              <a:solidFill>
                <a:srgbClr val="1C4587"/>
              </a:solidFill>
              <a:latin typeface="Inter"/>
            </a:endParaRPr>
          </a:p>
          <a:p>
            <a:pPr marL="182880" indent="-182880" algn="l">
              <a:lnSpc>
                <a:spcPct val="115000"/>
              </a:lnSpc>
              <a:spcAft>
                <a:spcPts val="400"/>
              </a:spcAft>
              <a:buClr>
                <a:srgbClr val="E0764F"/>
              </a:buClr>
              <a:buSzPct val="100000"/>
              <a:buFont typeface="Arial"/>
              <a:buChar char="•"/>
            </a:pPr>
            <a:r>
              <a:rPr sz="900" b="0" i="0" dirty="0" err="1">
                <a:solidFill>
                  <a:srgbClr val="434343"/>
                </a:solidFill>
                <a:latin typeface="Inter"/>
              </a:rPr>
              <a:t>Mempercepat</a:t>
            </a:r>
            <a:r>
              <a:rPr sz="900" b="0" i="0" dirty="0">
                <a:solidFill>
                  <a:srgbClr val="434343"/>
                </a:solidFill>
                <a:latin typeface="Inter"/>
              </a:rPr>
              <a:t> response, </a:t>
            </a:r>
            <a:r>
              <a:rPr sz="900" b="0" i="0" dirty="0" err="1">
                <a:solidFill>
                  <a:srgbClr val="434343"/>
                </a:solidFill>
                <a:latin typeface="Inter"/>
              </a:rPr>
              <a:t>karena</a:t>
            </a:r>
            <a:r>
              <a:rPr sz="900" b="0" i="0" dirty="0">
                <a:solidFill>
                  <a:srgbClr val="434343"/>
                </a:solidFill>
                <a:latin typeface="Inter"/>
              </a:rPr>
              <a:t> producer </a:t>
            </a:r>
            <a:r>
              <a:rPr sz="900" b="0" i="0" dirty="0" err="1">
                <a:solidFill>
                  <a:srgbClr val="434343"/>
                </a:solidFill>
                <a:latin typeface="Inter"/>
              </a:rPr>
              <a:t>tidak</a:t>
            </a:r>
            <a:r>
              <a:rPr sz="900" b="0" i="0" dirty="0">
                <a:solidFill>
                  <a:srgbClr val="434343"/>
                </a:solidFill>
                <a:latin typeface="Inter"/>
              </a:rPr>
              <a:t> </a:t>
            </a:r>
            <a:r>
              <a:rPr sz="900" b="0" i="0" dirty="0" err="1">
                <a:solidFill>
                  <a:srgbClr val="434343"/>
                </a:solidFill>
                <a:latin typeface="Inter"/>
              </a:rPr>
              <a:t>menunggu</a:t>
            </a:r>
            <a:r>
              <a:rPr sz="900" b="0" i="0" dirty="0">
                <a:solidFill>
                  <a:srgbClr val="434343"/>
                </a:solidFill>
                <a:latin typeface="Inter"/>
              </a:rPr>
              <a:t> consumer</a:t>
            </a:r>
          </a:p>
          <a:p>
            <a:pPr marL="182880" indent="-182880" algn="l">
              <a:lnSpc>
                <a:spcPct val="115000"/>
              </a:lnSpc>
              <a:spcAft>
                <a:spcPts val="400"/>
              </a:spcAft>
              <a:buClr>
                <a:srgbClr val="E0764F"/>
              </a:buClr>
              <a:buSzPct val="100000"/>
              <a:buFont typeface="Arial"/>
              <a:buChar char="•"/>
            </a:pPr>
            <a:r>
              <a:rPr sz="900" b="0" i="0" dirty="0" err="1">
                <a:solidFill>
                  <a:srgbClr val="434343"/>
                </a:solidFill>
                <a:latin typeface="Inter"/>
              </a:rPr>
              <a:t>Mencegah</a:t>
            </a:r>
            <a:r>
              <a:rPr sz="900" b="0" i="0" dirty="0">
                <a:solidFill>
                  <a:srgbClr val="434343"/>
                </a:solidFill>
                <a:latin typeface="Inter"/>
              </a:rPr>
              <a:t> </a:t>
            </a:r>
            <a:r>
              <a:rPr sz="900" b="0" i="0" dirty="0" err="1">
                <a:solidFill>
                  <a:srgbClr val="434343"/>
                </a:solidFill>
                <a:latin typeface="Inter"/>
              </a:rPr>
              <a:t>satu</a:t>
            </a:r>
            <a:r>
              <a:rPr sz="900" b="0" i="0" dirty="0">
                <a:solidFill>
                  <a:srgbClr val="434343"/>
                </a:solidFill>
                <a:latin typeface="Inter"/>
              </a:rPr>
              <a:t> service yang </a:t>
            </a:r>
            <a:r>
              <a:rPr sz="900" b="0" i="0" dirty="0" err="1">
                <a:solidFill>
                  <a:srgbClr val="434343"/>
                </a:solidFill>
                <a:latin typeface="Inter"/>
              </a:rPr>
              <a:t>mati</a:t>
            </a:r>
            <a:r>
              <a:rPr sz="900" b="0" i="0" dirty="0">
                <a:solidFill>
                  <a:srgbClr val="434343"/>
                </a:solidFill>
                <a:latin typeface="Inter"/>
              </a:rPr>
              <a:t> </a:t>
            </a:r>
            <a:r>
              <a:rPr sz="900" b="0" i="0" dirty="0" err="1">
                <a:solidFill>
                  <a:srgbClr val="434343"/>
                </a:solidFill>
                <a:latin typeface="Inter"/>
              </a:rPr>
              <a:t>membuat</a:t>
            </a:r>
            <a:r>
              <a:rPr sz="900" b="0" i="0" dirty="0">
                <a:solidFill>
                  <a:srgbClr val="434343"/>
                </a:solidFill>
                <a:latin typeface="Inter"/>
              </a:rPr>
              <a:t> request </a:t>
            </a:r>
            <a:r>
              <a:rPr sz="900" b="0" i="0" dirty="0" err="1">
                <a:solidFill>
                  <a:srgbClr val="434343"/>
                </a:solidFill>
                <a:latin typeface="Inter"/>
              </a:rPr>
              <a:t>gagal</a:t>
            </a:r>
            <a:endParaRPr sz="900" b="0" i="0" dirty="0">
              <a:solidFill>
                <a:srgbClr val="434343"/>
              </a:solidFill>
              <a:latin typeface="Inter"/>
            </a:endParaRPr>
          </a:p>
          <a:p>
            <a:pPr marL="182880" indent="-182880" algn="l">
              <a:lnSpc>
                <a:spcPct val="115000"/>
              </a:lnSpc>
              <a:spcAft>
                <a:spcPts val="400"/>
              </a:spcAft>
              <a:buClr>
                <a:srgbClr val="E0764F"/>
              </a:buClr>
              <a:buSzPct val="100000"/>
              <a:buFont typeface="Arial"/>
              <a:buChar char="•"/>
            </a:pPr>
            <a:r>
              <a:rPr sz="900" b="0" i="0" dirty="0" err="1">
                <a:solidFill>
                  <a:srgbClr val="434343"/>
                </a:solidFill>
                <a:latin typeface="Inter"/>
              </a:rPr>
              <a:t>Menambah</a:t>
            </a:r>
            <a:r>
              <a:rPr sz="900" b="0" i="0" dirty="0">
                <a:solidFill>
                  <a:srgbClr val="434343"/>
                </a:solidFill>
                <a:latin typeface="Inter"/>
              </a:rPr>
              <a:t> consumer </a:t>
            </a:r>
            <a:r>
              <a:rPr sz="900" b="0" i="0" dirty="0" err="1">
                <a:solidFill>
                  <a:srgbClr val="434343"/>
                </a:solidFill>
                <a:latin typeface="Inter"/>
              </a:rPr>
              <a:t>baru</a:t>
            </a:r>
            <a:r>
              <a:rPr sz="900" b="0" i="0" dirty="0">
                <a:solidFill>
                  <a:srgbClr val="434343"/>
                </a:solidFill>
                <a:latin typeface="Inter"/>
              </a:rPr>
              <a:t> </a:t>
            </a:r>
            <a:r>
              <a:rPr sz="900" b="0" i="0" dirty="0" err="1">
                <a:solidFill>
                  <a:srgbClr val="434343"/>
                </a:solidFill>
                <a:latin typeface="Inter"/>
              </a:rPr>
              <a:t>tanpa</a:t>
            </a:r>
            <a:r>
              <a:rPr sz="900" b="0" i="0" dirty="0">
                <a:solidFill>
                  <a:srgbClr val="434343"/>
                </a:solidFill>
                <a:latin typeface="Inter"/>
              </a:rPr>
              <a:t> </a:t>
            </a:r>
            <a:r>
              <a:rPr sz="900" b="0" i="0" dirty="0" err="1">
                <a:solidFill>
                  <a:srgbClr val="434343"/>
                </a:solidFill>
                <a:latin typeface="Inter"/>
              </a:rPr>
              <a:t>mengubah</a:t>
            </a:r>
            <a:r>
              <a:rPr sz="900" b="0" i="0" dirty="0">
                <a:solidFill>
                  <a:srgbClr val="434343"/>
                </a:solidFill>
                <a:latin typeface="Inter"/>
              </a:rPr>
              <a:t> producer</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semua dipanggil langsung: 01-sync-vs-async/before.py</a:t>
            </a:r>
          </a:p>
        </p:txBody>
      </p:sp>
      <p:sp>
        <p:nvSpPr>
          <p:cNvPr id="28" name="CodeBg 11"/>
          <p:cNvSpPr/>
          <p:nvPr/>
        </p:nvSpPr>
        <p:spPr>
          <a:xfrm>
            <a:off x="4297680" y="1719072"/>
            <a:ext cx="4187951" cy="1453896"/>
          </a:xfrm>
          <a:prstGeom prst="roundRect">
            <a:avLst>
              <a:gd name="adj" fmla="val 1257"/>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1453896"/>
          </a:xfrm>
          <a:prstGeom prst="rect">
            <a:avLst/>
          </a:prstGeom>
          <a:noFill/>
        </p:spPr>
        <p:txBody>
          <a:bodyPr wrap="none" lIns="146304" tIns="91440" rIns="146304" bIns="54864">
            <a:spAutoFit/>
          </a:bodyPr>
          <a:lstStyle/>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place_order</a:t>
            </a:r>
            <a:r>
              <a:rPr sz="850" i="0">
                <a:solidFill>
                  <a:srgbClr val="E6EDF3"/>
                </a:solidFill>
                <a:latin typeface="Inconsolata"/>
              </a:rPr>
              <a:t>(order):</a:t>
            </a:r>
          </a:p>
          <a:p>
            <a:pPr>
              <a:lnSpc>
                <a:spcPct val="107843"/>
              </a:lnSpc>
              <a:spcAft>
                <a:spcPts val="0"/>
              </a:spcAft>
            </a:pPr>
            <a:r>
              <a:rPr sz="850" i="0">
                <a:solidFill>
                  <a:srgbClr val="E6EDF3"/>
                </a:solidFill>
                <a:latin typeface="Inconsolata"/>
              </a:rPr>
              <a:t>    reserve_stock(order)               </a:t>
            </a:r>
            <a:r>
              <a:rPr sz="850" i="1">
                <a:solidFill>
                  <a:srgbClr val="8B98A8"/>
                </a:solidFill>
                <a:latin typeface="Inconsolata"/>
              </a:rPr>
              <a:t># harus sync</a:t>
            </a:r>
          </a:p>
          <a:p>
            <a:pPr>
              <a:lnSpc>
                <a:spcPct val="107843"/>
              </a:lnSpc>
              <a:spcAft>
                <a:spcPts val="0"/>
              </a:spcAft>
            </a:pPr>
            <a:r>
              <a:rPr sz="850" i="0">
                <a:solidFill>
                  <a:srgbClr val="E6EDF3"/>
                </a:solidFill>
                <a:latin typeface="Inconsolata"/>
              </a:rPr>
              <a:t>    </a:t>
            </a:r>
            <a:r>
              <a:rPr sz="850" i="0">
                <a:solidFill>
                  <a:srgbClr val="C3A6FF"/>
                </a:solidFill>
                <a:latin typeface="Inconsolata"/>
              </a:rPr>
              <a:t>print</a:t>
            </a:r>
            <a:r>
              <a:rPr sz="850" i="0">
                <a:solidFill>
                  <a:srgbClr val="E6EDF3"/>
                </a:solidFill>
                <a:latin typeface="Inconsolata"/>
              </a:rPr>
              <a:t>(</a:t>
            </a:r>
            <a:r>
              <a:rPr sz="850" i="0">
                <a:solidFill>
                  <a:srgbClr val="A5D6A7"/>
                </a:solidFill>
                <a:latin typeface="Inconsolata"/>
              </a:rPr>
              <a:t>f"  [order] order #{order['id']} disimpan"</a:t>
            </a:r>
            <a:r>
              <a:rPr sz="850" i="0">
                <a:solidFill>
                  <a:srgbClr val="E6EDF3"/>
                </a:solidFill>
                <a:latin typeface="Inconsolata"/>
              </a:rPr>
              <a:t>)</a:t>
            </a:r>
          </a:p>
          <a:p>
            <a:pPr>
              <a:lnSpc>
                <a:spcPct val="107843"/>
              </a:lnSpc>
              <a:spcAft>
                <a:spcPts val="0"/>
              </a:spcAft>
            </a:pPr>
            <a:r>
              <a:rPr sz="850" i="0">
                <a:solidFill>
                  <a:srgbClr val="E6EDF3"/>
                </a:solidFill>
                <a:latin typeface="Inconsolata"/>
              </a:rPr>
              <a:t>    send_email(order)                  </a:t>
            </a:r>
            <a:r>
              <a:rPr sz="850" i="1">
                <a:solidFill>
                  <a:srgbClr val="8B98A8"/>
                </a:solidFill>
                <a:latin typeface="Inconsolata"/>
              </a:rPr>
              <a:t># 0.8 s</a:t>
            </a:r>
          </a:p>
          <a:p>
            <a:pPr>
              <a:lnSpc>
                <a:spcPct val="107843"/>
              </a:lnSpc>
              <a:spcAft>
                <a:spcPts val="0"/>
              </a:spcAft>
            </a:pPr>
            <a:r>
              <a:rPr sz="850" i="0">
                <a:solidFill>
                  <a:srgbClr val="E6EDF3"/>
                </a:solidFill>
                <a:latin typeface="Inconsolata"/>
              </a:rPr>
              <a:t>    add_points(order)                  </a:t>
            </a:r>
            <a:r>
              <a:rPr sz="850" i="1">
                <a:solidFill>
                  <a:srgbClr val="8B98A8"/>
                </a:solidFill>
                <a:latin typeface="Inconsolata"/>
              </a:rPr>
              <a:t># 0.3 s</a:t>
            </a:r>
          </a:p>
          <a:p>
            <a:pPr>
              <a:lnSpc>
                <a:spcPct val="107843"/>
              </a:lnSpc>
              <a:spcAft>
                <a:spcPts val="0"/>
              </a:spcAft>
            </a:pPr>
            <a:r>
              <a:rPr sz="850" i="0">
                <a:solidFill>
                  <a:srgbClr val="E6EDF3"/>
                </a:solidFill>
                <a:latin typeface="Inconsolata"/>
              </a:rPr>
              <a:t>    update_analytics(order)            </a:t>
            </a:r>
            <a:r>
              <a:rPr sz="850" i="1">
                <a:solidFill>
                  <a:srgbClr val="8B98A8"/>
                </a:solidFill>
                <a:latin typeface="Inconsolata"/>
              </a:rPr>
              <a:t># service mati</a:t>
            </a:r>
          </a:p>
        </p:txBody>
      </p:sp>
      <p:sp>
        <p:nvSpPr>
          <p:cNvPr id="30" name="Box 13"/>
          <p:cNvSpPr/>
          <p:nvPr/>
        </p:nvSpPr>
        <p:spPr>
          <a:xfrm>
            <a:off x="4379976" y="2247773"/>
            <a:ext cx="4023359" cy="410718"/>
          </a:xfrm>
          <a:prstGeom prst="roundRect">
            <a:avLst>
              <a:gd name="adj" fmla="val 11131"/>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CodeTab 15"/>
          <p:cNvSpPr/>
          <p:nvPr/>
        </p:nvSpPr>
        <p:spPr>
          <a:xfrm>
            <a:off x="4297680" y="326440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Dot 16"/>
          <p:cNvSpPr/>
          <p:nvPr/>
        </p:nvSpPr>
        <p:spPr>
          <a:xfrm>
            <a:off x="4407408" y="334213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Dot 17"/>
          <p:cNvSpPr/>
          <p:nvPr/>
        </p:nvSpPr>
        <p:spPr>
          <a:xfrm>
            <a:off x="4544568" y="334213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681728" y="334213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 19"/>
          <p:cNvSpPr txBox="1"/>
          <p:nvPr/>
        </p:nvSpPr>
        <p:spPr>
          <a:xfrm>
            <a:off x="4846320" y="327355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producer-consumer: 01-sync-vs-async/after.py</a:t>
            </a:r>
          </a:p>
        </p:txBody>
      </p:sp>
      <p:sp>
        <p:nvSpPr>
          <p:cNvPr id="36" name="CodeBg 21"/>
          <p:cNvSpPr/>
          <p:nvPr/>
        </p:nvSpPr>
        <p:spPr>
          <a:xfrm>
            <a:off x="4297680" y="3502152"/>
            <a:ext cx="4187951" cy="1197864"/>
          </a:xfrm>
          <a:prstGeom prst="roundRect">
            <a:avLst>
              <a:gd name="adj" fmla="val 1526"/>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Code 22"/>
          <p:cNvSpPr txBox="1"/>
          <p:nvPr/>
        </p:nvSpPr>
        <p:spPr>
          <a:xfrm>
            <a:off x="4297680" y="3502152"/>
            <a:ext cx="4187951" cy="1197864"/>
          </a:xfrm>
          <a:prstGeom prst="rect">
            <a:avLst/>
          </a:prstGeom>
          <a:noFill/>
        </p:spPr>
        <p:txBody>
          <a:bodyPr wrap="none" lIns="146304" tIns="91440" rIns="146304" bIns="54864">
            <a:spAutoFit/>
          </a:bodyPr>
          <a:lstStyle/>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place_order</a:t>
            </a:r>
            <a:r>
              <a:rPr sz="850" i="0">
                <a:solidFill>
                  <a:srgbClr val="E6EDF3"/>
                </a:solidFill>
                <a:latin typeface="Inconsolata"/>
              </a:rPr>
              <a:t>(order):                       </a:t>
            </a:r>
            <a:r>
              <a:rPr sz="850" i="1">
                <a:solidFill>
                  <a:srgbClr val="8B98A8"/>
                </a:solidFill>
                <a:latin typeface="Inconsolata"/>
              </a:rPr>
              <a:t># producer</a:t>
            </a:r>
          </a:p>
          <a:p>
            <a:pPr>
              <a:lnSpc>
                <a:spcPct val="107843"/>
              </a:lnSpc>
              <a:spcAft>
                <a:spcPts val="0"/>
              </a:spcAft>
            </a:pPr>
            <a:r>
              <a:rPr sz="850" i="0">
                <a:solidFill>
                  <a:srgbClr val="E6EDF3"/>
                </a:solidFill>
                <a:latin typeface="Inconsolata"/>
              </a:rPr>
              <a:t>    reserve_stock(order)</a:t>
            </a:r>
          </a:p>
          <a:p>
            <a:pPr>
              <a:lnSpc>
                <a:spcPct val="107843"/>
              </a:lnSpc>
              <a:spcAft>
                <a:spcPts val="0"/>
              </a:spcAft>
            </a:pPr>
            <a:r>
              <a:rPr sz="850" i="0">
                <a:solidFill>
                  <a:srgbClr val="E6EDF3"/>
                </a:solidFill>
                <a:latin typeface="Inconsolata"/>
              </a:rPr>
              <a:t>    </a:t>
            </a:r>
            <a:r>
              <a:rPr sz="850" i="0">
                <a:solidFill>
                  <a:srgbClr val="C3A6FF"/>
                </a:solidFill>
                <a:latin typeface="Inconsolata"/>
              </a:rPr>
              <a:t>print</a:t>
            </a:r>
            <a:r>
              <a:rPr sz="850" i="0">
                <a:solidFill>
                  <a:srgbClr val="E6EDF3"/>
                </a:solidFill>
                <a:latin typeface="Inconsolata"/>
              </a:rPr>
              <a:t>(</a:t>
            </a:r>
            <a:r>
              <a:rPr sz="850" i="0">
                <a:solidFill>
                  <a:srgbClr val="A5D6A7"/>
                </a:solidFill>
                <a:latin typeface="Inconsolata"/>
              </a:rPr>
              <a:t>f"  [order] order #{order['id']} disimpan"</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1">
                <a:solidFill>
                  <a:srgbClr val="8B98A8"/>
                </a:solidFill>
                <a:latin typeface="Inconsolata"/>
              </a:rPr>
              <a:t># kirim event ke queue, tidak menunggu siapa pun</a:t>
            </a:r>
          </a:p>
          <a:p>
            <a:pPr>
              <a:lnSpc>
                <a:spcPct val="107843"/>
              </a:lnSpc>
              <a:spcAft>
                <a:spcPts val="0"/>
              </a:spcAft>
            </a:pPr>
            <a:r>
              <a:rPr sz="850" i="0">
                <a:solidFill>
                  <a:srgbClr val="E6EDF3"/>
                </a:solidFill>
                <a:latin typeface="Inconsolata"/>
              </a:rPr>
              <a:t>    events.put({</a:t>
            </a:r>
            <a:r>
              <a:rPr sz="850" i="0">
                <a:solidFill>
                  <a:srgbClr val="A5D6A7"/>
                </a:solidFill>
                <a:latin typeface="Inconsolata"/>
              </a:rPr>
              <a:t>"type"</a:t>
            </a:r>
            <a:r>
              <a:rPr sz="850" i="0">
                <a:solidFill>
                  <a:srgbClr val="E6EDF3"/>
                </a:solidFill>
                <a:latin typeface="Inconsolata"/>
              </a:rPr>
              <a:t>: </a:t>
            </a:r>
            <a:r>
              <a:rPr sz="850" i="0">
                <a:solidFill>
                  <a:srgbClr val="A5D6A7"/>
                </a:solidFill>
                <a:latin typeface="Inconsolata"/>
              </a:rPr>
              <a:t>"order.placed"</a:t>
            </a:r>
            <a:r>
              <a:rPr sz="850" i="0">
                <a:solidFill>
                  <a:srgbClr val="E6EDF3"/>
                </a:solidFill>
                <a:latin typeface="Inconsolata"/>
              </a:rPr>
              <a:t>, **order})</a:t>
            </a:r>
          </a:p>
        </p:txBody>
      </p:sp>
      <p:sp>
        <p:nvSpPr>
          <p:cNvPr id="38" name="Box 23"/>
          <p:cNvSpPr/>
          <p:nvPr/>
        </p:nvSpPr>
        <p:spPr>
          <a:xfrm>
            <a:off x="4379976" y="4170553"/>
            <a:ext cx="4023359"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Event-Driven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Async Message?</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async message</a:t>
            </a:r>
          </a:p>
          <a:p>
            <a:pPr algn="l">
              <a:lnSpc>
                <a:spcPct val="115000"/>
              </a:lnSpc>
              <a:spcAft>
                <a:spcPts val="400"/>
              </a:spcAft>
            </a:pPr>
            <a:r>
              <a:rPr sz="950" b="0" i="0">
                <a:solidFill>
                  <a:srgbClr val="B5482A"/>
                </a:solidFill>
                <a:latin typeface="Inconsolata"/>
              </a:rPr>
              <a:t>place_order</a:t>
            </a:r>
            <a:r>
              <a:rPr sz="950" b="0" i="0">
                <a:solidFill>
                  <a:srgbClr val="434343"/>
                </a:solidFill>
                <a:latin typeface="Inter"/>
              </a:rPr>
              <a:t> memanggil email, poin, dan analytics satu per satu, lalu menunggu jawabannya.</a:t>
            </a:r>
          </a:p>
          <a:p>
            <a:pPr algn="l">
              <a:lnSpc>
                <a:spcPct val="115000"/>
              </a:lnSpc>
              <a:spcAft>
                <a:spcPts val="400"/>
              </a:spcAft>
            </a:pPr>
            <a:r>
              <a:rPr sz="1050" b="1" i="0">
                <a:solidFill>
                  <a:srgbClr val="1C4587"/>
                </a:solidFill>
                <a:latin typeface="Inter"/>
              </a:rPr>
              <a:t>Jika layanannya makin banyak</a:t>
            </a:r>
          </a:p>
          <a:p>
            <a:pPr algn="l">
              <a:lnSpc>
                <a:spcPct val="115000"/>
              </a:lnSpc>
              <a:spcAft>
                <a:spcPts val="400"/>
              </a:spcAft>
            </a:pPr>
            <a:r>
              <a:rPr sz="950" b="0" i="0">
                <a:solidFill>
                  <a:srgbClr val="434343"/>
                </a:solidFill>
                <a:latin typeface="Inter"/>
              </a:rPr>
              <a:t>Waktu response = jumlah waktu semua layanan. Jika satu layanan mati, request ikut error padahal order sudah tersimpan.</a:t>
            </a:r>
          </a:p>
          <a:p>
            <a:pPr algn="l">
              <a:lnSpc>
                <a:spcPct val="115000"/>
              </a:lnSpc>
              <a:spcAft>
                <a:spcPts val="400"/>
              </a:spcAft>
            </a:pPr>
            <a:r>
              <a:rPr sz="950" b="0" i="0">
                <a:solidFill>
                  <a:srgbClr val="434343"/>
                </a:solidFill>
                <a:latin typeface="Inter"/>
              </a:rPr>
              <a:t>Hal ini membuat setiap layanan baru menambah lambat dan menambah risiko gagal.</a:t>
            </a:r>
          </a:p>
          <a:p>
            <a:pPr algn="l">
              <a:lnSpc>
                <a:spcPct val="115000"/>
              </a:lnSpc>
              <a:spcAft>
                <a:spcPts val="400"/>
              </a:spcAft>
            </a:pPr>
            <a:r>
              <a:rPr sz="1050" b="1" i="0">
                <a:solidFill>
                  <a:srgbClr val="1C4587"/>
                </a:solidFill>
                <a:latin typeface="Inter"/>
              </a:rPr>
              <a:t>Yang perlu diperhatikan</a:t>
            </a:r>
          </a:p>
          <a:p>
            <a:pPr algn="l">
              <a:lnSpc>
                <a:spcPct val="115000"/>
              </a:lnSpc>
              <a:spcAft>
                <a:spcPts val="400"/>
              </a:spcAft>
            </a:pPr>
            <a:r>
              <a:rPr sz="950" b="0" i="0">
                <a:solidFill>
                  <a:srgbClr val="434343"/>
                </a:solidFill>
                <a:latin typeface="Inter"/>
              </a:rPr>
              <a:t>Tidak semua proses bisa async. Proses yang hasilnya dibutuhkan saat itu juga, misalnya cek stok, tetap dipanggil langsung.</a:t>
            </a:r>
          </a:p>
        </p:txBody>
      </p:sp>
      <p:graphicFrame>
        <p:nvGraphicFramePr>
          <p:cNvPr id="23" name="Table 4"/>
          <p:cNvGraphicFramePr>
            <a:graphicFrameLocks noGrp="1"/>
          </p:cNvGraphicFramePr>
          <p:nvPr/>
        </p:nvGraphicFramePr>
        <p:xfrm>
          <a:off x="4800600" y="1481328"/>
          <a:ext cx="3685031" cy="2057400"/>
        </p:xfrm>
        <a:graphic>
          <a:graphicData uri="http://schemas.openxmlformats.org/drawingml/2006/table">
            <a:tbl>
              <a:tblPr firstRow="1" bandRow="1"/>
              <a:tblGrid>
                <a:gridCol w="1856231">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tblGrid>
              <a:tr h="411480">
                <a:tc>
                  <a:txBody>
                    <a:bodyPr/>
                    <a:lstStyle/>
                    <a:p>
                      <a:pPr algn="l">
                        <a:lnSpc>
                          <a:spcPct val="100000"/>
                        </a:lnSpc>
                        <a:spcAft>
                          <a:spcPts val="0"/>
                        </a:spcAft>
                      </a:pPr>
                      <a:r>
                        <a:rPr sz="850" b="1" i="0">
                          <a:solidFill>
                            <a:srgbClr val="FFFFFF"/>
                          </a:solidFill>
                          <a:latin typeface="Inter"/>
                        </a:rPr>
                        <a:t>Proses</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Cara memanggil</a:t>
                      </a:r>
                    </a:p>
                  </a:txBody>
                  <a:tcPr marL="73152" marR="73152" marT="36576" marB="36576" anchor="ctr">
                    <a:solidFill>
                      <a:srgbClr val="1C4587"/>
                    </a:solidFill>
                  </a:tcPr>
                </a:tc>
                <a:extLst>
                  <a:ext uri="{0D108BD9-81ED-4DB2-BD59-A6C34878D82A}">
                    <a16:rowId xmlns:a16="http://schemas.microsoft.com/office/drawing/2014/main" val="10000"/>
                  </a:ext>
                </a:extLst>
              </a:tr>
              <a:tr h="411480">
                <a:tc>
                  <a:txBody>
                    <a:bodyPr/>
                    <a:lstStyle/>
                    <a:p>
                      <a:pPr algn="l">
                        <a:lnSpc>
                          <a:spcPct val="100000"/>
                        </a:lnSpc>
                        <a:spcAft>
                          <a:spcPts val="0"/>
                        </a:spcAft>
                      </a:pPr>
                      <a:r>
                        <a:rPr sz="850" b="1" i="0">
                          <a:solidFill>
                            <a:srgbClr val="1C4587"/>
                          </a:solidFill>
                          <a:latin typeface="Inter"/>
                        </a:rPr>
                        <a:t>Cek dan kurangi stok</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Sync, butuh jawaban saat itu juga</a:t>
                      </a:r>
                    </a:p>
                  </a:txBody>
                  <a:tcPr marL="73152" marR="73152" marT="36576" marB="36576" anchor="ctr">
                    <a:solidFill>
                      <a:srgbClr val="FFFFFF"/>
                    </a:solidFill>
                  </a:tcPr>
                </a:tc>
                <a:extLst>
                  <a:ext uri="{0D108BD9-81ED-4DB2-BD59-A6C34878D82A}">
                    <a16:rowId xmlns:a16="http://schemas.microsoft.com/office/drawing/2014/main" val="10001"/>
                  </a:ext>
                </a:extLst>
              </a:tr>
              <a:tr h="411480">
                <a:tc>
                  <a:txBody>
                    <a:bodyPr/>
                    <a:lstStyle/>
                    <a:p>
                      <a:pPr algn="l">
                        <a:lnSpc>
                          <a:spcPct val="100000"/>
                        </a:lnSpc>
                        <a:spcAft>
                          <a:spcPts val="0"/>
                        </a:spcAft>
                      </a:pPr>
                      <a:r>
                        <a:rPr sz="850" b="1" i="0">
                          <a:solidFill>
                            <a:srgbClr val="1C4587"/>
                          </a:solidFill>
                          <a:latin typeface="Inter"/>
                        </a:rPr>
                        <a:t>Kirim email konfirmasi</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Async, boleh menyusul</a:t>
                      </a:r>
                    </a:p>
                  </a:txBody>
                  <a:tcPr marL="73152" marR="73152" marT="36576" marB="36576" anchor="ctr">
                    <a:solidFill>
                      <a:srgbClr val="F3F4F6"/>
                    </a:solidFill>
                  </a:tcPr>
                </a:tc>
                <a:extLst>
                  <a:ext uri="{0D108BD9-81ED-4DB2-BD59-A6C34878D82A}">
                    <a16:rowId xmlns:a16="http://schemas.microsoft.com/office/drawing/2014/main" val="10002"/>
                  </a:ext>
                </a:extLst>
              </a:tr>
              <a:tr h="411480">
                <a:tc>
                  <a:txBody>
                    <a:bodyPr/>
                    <a:lstStyle/>
                    <a:p>
                      <a:pPr algn="l">
                        <a:lnSpc>
                          <a:spcPct val="100000"/>
                        </a:lnSpc>
                        <a:spcAft>
                          <a:spcPts val="0"/>
                        </a:spcAft>
                      </a:pPr>
                      <a:r>
                        <a:rPr sz="850" b="1" i="0">
                          <a:solidFill>
                            <a:srgbClr val="1C4587"/>
                          </a:solidFill>
                          <a:latin typeface="Inter"/>
                        </a:rPr>
                        <a:t>Tambah poin loyalty</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Async, boleh menyusul</a:t>
                      </a:r>
                    </a:p>
                  </a:txBody>
                  <a:tcPr marL="73152" marR="73152" marT="36576" marB="36576" anchor="ctr">
                    <a:solidFill>
                      <a:srgbClr val="FFFFFF"/>
                    </a:solidFill>
                  </a:tcPr>
                </a:tc>
                <a:extLst>
                  <a:ext uri="{0D108BD9-81ED-4DB2-BD59-A6C34878D82A}">
                    <a16:rowId xmlns:a16="http://schemas.microsoft.com/office/drawing/2014/main" val="10003"/>
                  </a:ext>
                </a:extLst>
              </a:tr>
              <a:tr h="411480">
                <a:tc>
                  <a:txBody>
                    <a:bodyPr/>
                    <a:lstStyle/>
                    <a:p>
                      <a:pPr algn="l">
                        <a:lnSpc>
                          <a:spcPct val="100000"/>
                        </a:lnSpc>
                        <a:spcAft>
                          <a:spcPts val="0"/>
                        </a:spcAft>
                      </a:pPr>
                      <a:r>
                        <a:rPr sz="850" b="1" i="0">
                          <a:solidFill>
                            <a:srgbClr val="1C4587"/>
                          </a:solidFill>
                          <a:latin typeface="Inter"/>
                        </a:rPr>
                        <a:t>Update analytics</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Async, boleh menyusul</a:t>
                      </a:r>
                    </a:p>
                  </a:txBody>
                  <a:tcPr marL="73152" marR="73152" marT="36576" marB="36576" anchor="ctr">
                    <a:solidFill>
                      <a:srgbClr val="F3F4F6"/>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Event-Driven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semua dipanggil langsung</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01-sync-vs-async/before.py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10  </a:t>
            </a:r>
            <a:r>
              <a:rPr sz="760" i="0">
                <a:solidFill>
                  <a:srgbClr val="FF8E6E"/>
                </a:solidFill>
                <a:latin typeface="Inconsolata"/>
              </a:rPr>
              <a:t>import</a:t>
            </a:r>
            <a:r>
              <a:rPr sz="760" i="0">
                <a:solidFill>
                  <a:srgbClr val="E6EDF3"/>
                </a:solidFill>
                <a:latin typeface="Inconsolata"/>
              </a:rPr>
              <a:t> time</a:t>
            </a:r>
          </a:p>
          <a:p>
            <a:pPr>
              <a:lnSpc>
                <a:spcPct val="109601"/>
              </a:lnSpc>
              <a:spcAft>
                <a:spcPts val="0"/>
              </a:spcAft>
            </a:pPr>
            <a:r>
              <a:rPr sz="760" i="0">
                <a:solidFill>
                  <a:srgbClr val="5C6773"/>
                </a:solidFill>
                <a:latin typeface="Inconsolata"/>
              </a:rPr>
              <a:t>11  </a:t>
            </a:r>
            <a:r>
              <a:rPr sz="760" i="0">
                <a:solidFill>
                  <a:srgbClr val="E6EDF3"/>
                </a:solidFill>
                <a:latin typeface="Inconsolata"/>
              </a:rPr>
              <a:t> </a:t>
            </a:r>
          </a:p>
          <a:p>
            <a:pPr>
              <a:lnSpc>
                <a:spcPct val="109601"/>
              </a:lnSpc>
              <a:spcAft>
                <a:spcPts val="0"/>
              </a:spcAft>
            </a:pPr>
            <a:r>
              <a:rPr sz="760" i="0">
                <a:solidFill>
                  <a:srgbClr val="5C6773"/>
                </a:solidFill>
                <a:latin typeface="Inconsolata"/>
              </a:rPr>
              <a:t>12  </a:t>
            </a:r>
            <a:r>
              <a:rPr sz="760" i="0">
                <a:solidFill>
                  <a:srgbClr val="E6EDF3"/>
                </a:solidFill>
                <a:latin typeface="Inconsolata"/>
              </a:rPr>
              <a:t> </a:t>
            </a:r>
          </a:p>
          <a:p>
            <a:pPr>
              <a:lnSpc>
                <a:spcPct val="109601"/>
              </a:lnSpc>
              <a:spcAft>
                <a:spcPts val="0"/>
              </a:spcAft>
            </a:pPr>
            <a:r>
              <a:rPr sz="760" i="0">
                <a:solidFill>
                  <a:srgbClr val="5C6773"/>
                </a:solidFill>
                <a:latin typeface="Inconsolata"/>
              </a:rPr>
              <a:t>13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reserve_stock</a:t>
            </a:r>
            <a:r>
              <a:rPr sz="760" i="0">
                <a:solidFill>
                  <a:srgbClr val="E6EDF3"/>
                </a:solidFill>
                <a:latin typeface="Inconsolata"/>
              </a:rPr>
              <a:t>(order):</a:t>
            </a:r>
          </a:p>
          <a:p>
            <a:pPr>
              <a:lnSpc>
                <a:spcPct val="109601"/>
              </a:lnSpc>
              <a:spcAft>
                <a:spcPts val="0"/>
              </a:spcAft>
            </a:pPr>
            <a:r>
              <a:rPr sz="760" i="0">
                <a:solidFill>
                  <a:srgbClr val="5C6773"/>
                </a:solidFill>
                <a:latin typeface="Inconsolata"/>
              </a:rPr>
              <a:t>14  </a:t>
            </a:r>
            <a:r>
              <a:rPr sz="760" i="0">
                <a:solidFill>
                  <a:srgbClr val="E6EDF3"/>
                </a:solidFill>
                <a:latin typeface="Inconsolata"/>
              </a:rPr>
              <a:t>    time.sleep(</a:t>
            </a:r>
            <a:r>
              <a:rPr sz="760" i="0">
                <a:solidFill>
                  <a:srgbClr val="F9C97A"/>
                </a:solidFill>
                <a:latin typeface="Inconsolata"/>
              </a:rPr>
              <a:t>0</a:t>
            </a:r>
            <a:r>
              <a:rPr sz="760" i="0">
                <a:solidFill>
                  <a:srgbClr val="E6EDF3"/>
                </a:solidFill>
                <a:latin typeface="Inconsolata"/>
              </a:rPr>
              <a:t>.</a:t>
            </a:r>
            <a:r>
              <a:rPr sz="760" i="0">
                <a:solidFill>
                  <a:srgbClr val="F9C97A"/>
                </a:solidFill>
                <a:latin typeface="Inconsolata"/>
              </a:rPr>
              <a:t>05</a:t>
            </a:r>
            <a:r>
              <a:rPr sz="760" i="0">
                <a:solidFill>
                  <a:srgbClr val="E6EDF3"/>
                </a:solidFill>
                <a:latin typeface="Inconsolata"/>
              </a:rPr>
              <a:t>)      </a:t>
            </a:r>
            <a:r>
              <a:rPr sz="760" i="1">
                <a:solidFill>
                  <a:srgbClr val="8B98A8"/>
                </a:solidFill>
                <a:latin typeface="Inconsolata"/>
              </a:rPr>
              <a:t># harus sync: order sah jika stoknya ada</a:t>
            </a:r>
          </a:p>
          <a:p>
            <a:pPr>
              <a:lnSpc>
                <a:spcPct val="109601"/>
              </a:lnSpc>
              <a:spcAft>
                <a:spcPts val="0"/>
              </a:spcAft>
            </a:pPr>
            <a:r>
              <a:rPr sz="760" i="0">
                <a:solidFill>
                  <a:srgbClr val="5C6773"/>
                </a:solidFill>
                <a:latin typeface="Inconsolata"/>
              </a:rPr>
              <a:t>15  </a:t>
            </a:r>
            <a:r>
              <a:rPr sz="760" i="0">
                <a:solidFill>
                  <a:srgbClr val="E6EDF3"/>
                </a:solidFill>
                <a:latin typeface="Inconsolata"/>
              </a:rPr>
              <a:t> </a:t>
            </a:r>
          </a:p>
          <a:p>
            <a:pPr>
              <a:lnSpc>
                <a:spcPct val="109601"/>
              </a:lnSpc>
              <a:spcAft>
                <a:spcPts val="0"/>
              </a:spcAft>
            </a:pPr>
            <a:r>
              <a:rPr sz="760" i="0">
                <a:solidFill>
                  <a:srgbClr val="5C6773"/>
                </a:solidFill>
                <a:latin typeface="Inconsolata"/>
              </a:rPr>
              <a:t>16  </a:t>
            </a:r>
            <a:r>
              <a:rPr sz="760" i="0">
                <a:solidFill>
                  <a:srgbClr val="E6EDF3"/>
                </a:solidFill>
                <a:latin typeface="Inconsolata"/>
              </a:rPr>
              <a:t> </a:t>
            </a:r>
          </a:p>
          <a:p>
            <a:pPr>
              <a:lnSpc>
                <a:spcPct val="109601"/>
              </a:lnSpc>
              <a:spcAft>
                <a:spcPts val="0"/>
              </a:spcAft>
            </a:pPr>
            <a:r>
              <a:rPr sz="760" i="0">
                <a:solidFill>
                  <a:srgbClr val="5C6773"/>
                </a:solidFill>
                <a:latin typeface="Inconsolata"/>
              </a:rPr>
              <a:t>17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send_email</a:t>
            </a:r>
            <a:r>
              <a:rPr sz="760" i="0">
                <a:solidFill>
                  <a:srgbClr val="E6EDF3"/>
                </a:solidFill>
                <a:latin typeface="Inconsolata"/>
              </a:rPr>
              <a:t>(order):</a:t>
            </a:r>
          </a:p>
          <a:p>
            <a:pPr>
              <a:lnSpc>
                <a:spcPct val="109601"/>
              </a:lnSpc>
              <a:spcAft>
                <a:spcPts val="0"/>
              </a:spcAft>
            </a:pPr>
            <a:r>
              <a:rPr sz="760" i="0">
                <a:solidFill>
                  <a:srgbClr val="5C6773"/>
                </a:solidFill>
                <a:latin typeface="Inconsolata"/>
              </a:rPr>
              <a:t>18  </a:t>
            </a:r>
            <a:r>
              <a:rPr sz="760" i="0">
                <a:solidFill>
                  <a:srgbClr val="E6EDF3"/>
                </a:solidFill>
                <a:latin typeface="Inconsolata"/>
              </a:rPr>
              <a:t>    time.sleep(</a:t>
            </a:r>
            <a:r>
              <a:rPr sz="760" i="0">
                <a:solidFill>
                  <a:srgbClr val="F9C97A"/>
                </a:solidFill>
                <a:latin typeface="Inconsolata"/>
              </a:rPr>
              <a:t>0</a:t>
            </a:r>
            <a:r>
              <a:rPr sz="760" i="0">
                <a:solidFill>
                  <a:srgbClr val="E6EDF3"/>
                </a:solidFill>
                <a:latin typeface="Inconsolata"/>
              </a:rPr>
              <a:t>.</a:t>
            </a:r>
            <a:r>
              <a:rPr sz="760" i="0">
                <a:solidFill>
                  <a:srgbClr val="F9C97A"/>
                </a:solidFill>
                <a:latin typeface="Inconsolata"/>
              </a:rPr>
              <a:t>8</a:t>
            </a:r>
            <a:r>
              <a:rPr sz="760" i="0">
                <a:solidFill>
                  <a:srgbClr val="E6EDF3"/>
                </a:solidFill>
                <a:latin typeface="Inconsolata"/>
              </a:rPr>
              <a:t>)                       </a:t>
            </a:r>
            <a:r>
              <a:rPr sz="760" i="1">
                <a:solidFill>
                  <a:srgbClr val="8B98A8"/>
                </a:solidFill>
                <a:latin typeface="Inconsolata"/>
              </a:rPr>
              <a:t># server email lambat</a:t>
            </a:r>
          </a:p>
          <a:p>
            <a:pPr>
              <a:lnSpc>
                <a:spcPct val="109601"/>
              </a:lnSpc>
              <a:spcAft>
                <a:spcPts val="0"/>
              </a:spcAft>
            </a:pPr>
            <a:r>
              <a:rPr sz="760" i="0">
                <a:solidFill>
                  <a:srgbClr val="5C6773"/>
                </a:solidFill>
                <a:latin typeface="Inconsolata"/>
              </a:rPr>
              <a:t>19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f"  [email] order #{order['id']} terkirim "</a:t>
            </a:r>
          </a:p>
          <a:p>
            <a:pPr>
              <a:lnSpc>
                <a:spcPct val="109601"/>
              </a:lnSpc>
              <a:spcAft>
                <a:spcPts val="0"/>
              </a:spcAft>
            </a:pPr>
            <a:r>
              <a:rPr sz="760" i="0">
                <a:solidFill>
                  <a:srgbClr val="5C6773"/>
                </a:solidFill>
                <a:latin typeface="Inconsolata"/>
              </a:rPr>
              <a:t>20  </a:t>
            </a:r>
            <a:r>
              <a:rPr sz="760" i="0">
                <a:solidFill>
                  <a:srgbClr val="E6EDF3"/>
                </a:solidFill>
                <a:latin typeface="Inconsolata"/>
              </a:rPr>
              <a:t>          </a:t>
            </a:r>
            <a:r>
              <a:rPr sz="760" i="0">
                <a:solidFill>
                  <a:srgbClr val="A5D6A7"/>
                </a:solidFill>
                <a:latin typeface="Inconsolata"/>
              </a:rPr>
              <a:t>f"ke {order['customer']}"</a:t>
            </a:r>
            <a:r>
              <a:rPr sz="760" i="0">
                <a:solidFill>
                  <a:srgbClr val="E6EDF3"/>
                </a:solidFill>
                <a:latin typeface="Inconsolata"/>
              </a:rPr>
              <a:t>)</a:t>
            </a:r>
          </a:p>
          <a:p>
            <a:pPr>
              <a:lnSpc>
                <a:spcPct val="109601"/>
              </a:lnSpc>
              <a:spcAft>
                <a:spcPts val="0"/>
              </a:spcAft>
            </a:pPr>
            <a:r>
              <a:rPr sz="760" i="0">
                <a:solidFill>
                  <a:srgbClr val="5C6773"/>
                </a:solidFill>
                <a:latin typeface="Inconsolata"/>
              </a:rPr>
              <a:t>21  </a:t>
            </a:r>
            <a:r>
              <a:rPr sz="760" i="0">
                <a:solidFill>
                  <a:srgbClr val="E6EDF3"/>
                </a:solidFill>
                <a:latin typeface="Inconsolata"/>
              </a:rPr>
              <a:t> </a:t>
            </a:r>
          </a:p>
          <a:p>
            <a:pPr>
              <a:lnSpc>
                <a:spcPct val="109601"/>
              </a:lnSpc>
              <a:spcAft>
                <a:spcPts val="0"/>
              </a:spcAft>
            </a:pPr>
            <a:r>
              <a:rPr sz="760" i="0">
                <a:solidFill>
                  <a:srgbClr val="5C6773"/>
                </a:solidFill>
                <a:latin typeface="Inconsolata"/>
              </a:rPr>
              <a:t>22  </a:t>
            </a:r>
            <a:r>
              <a:rPr sz="760" i="0">
                <a:solidFill>
                  <a:srgbClr val="E6EDF3"/>
                </a:solidFill>
                <a:latin typeface="Inconsolata"/>
              </a:rPr>
              <a:t> </a:t>
            </a:r>
          </a:p>
          <a:p>
            <a:pPr>
              <a:lnSpc>
                <a:spcPct val="109601"/>
              </a:lnSpc>
              <a:spcAft>
                <a:spcPts val="0"/>
              </a:spcAft>
            </a:pPr>
            <a:r>
              <a:rPr sz="760" i="0">
                <a:solidFill>
                  <a:srgbClr val="5C6773"/>
                </a:solidFill>
                <a:latin typeface="Inconsolata"/>
              </a:rPr>
              <a:t>23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add_points</a:t>
            </a:r>
            <a:r>
              <a:rPr sz="760" i="0">
                <a:solidFill>
                  <a:srgbClr val="E6EDF3"/>
                </a:solidFill>
                <a:latin typeface="Inconsolata"/>
              </a:rPr>
              <a:t>(order):</a:t>
            </a:r>
          </a:p>
          <a:p>
            <a:pPr>
              <a:lnSpc>
                <a:spcPct val="109601"/>
              </a:lnSpc>
              <a:spcAft>
                <a:spcPts val="0"/>
              </a:spcAft>
            </a:pPr>
            <a:r>
              <a:rPr sz="760" i="0">
                <a:solidFill>
                  <a:srgbClr val="5C6773"/>
                </a:solidFill>
                <a:latin typeface="Inconsolata"/>
              </a:rPr>
              <a:t>24  </a:t>
            </a:r>
            <a:r>
              <a:rPr sz="760" i="0">
                <a:solidFill>
                  <a:srgbClr val="E6EDF3"/>
                </a:solidFill>
                <a:latin typeface="Inconsolata"/>
              </a:rPr>
              <a:t>    time.sleep(</a:t>
            </a:r>
            <a:r>
              <a:rPr sz="760" i="0">
                <a:solidFill>
                  <a:srgbClr val="F9C97A"/>
                </a:solidFill>
                <a:latin typeface="Inconsolata"/>
              </a:rPr>
              <a:t>0</a:t>
            </a:r>
            <a:r>
              <a:rPr sz="760" i="0">
                <a:solidFill>
                  <a:srgbClr val="E6EDF3"/>
                </a:solidFill>
                <a:latin typeface="Inconsolata"/>
              </a:rPr>
              <a:t>.</a:t>
            </a:r>
            <a:r>
              <a:rPr sz="760" i="0">
                <a:solidFill>
                  <a:srgbClr val="F9C97A"/>
                </a:solidFill>
                <a:latin typeface="Inconsolata"/>
              </a:rPr>
              <a:t>3</a:t>
            </a:r>
            <a:r>
              <a:rPr sz="760" i="0">
                <a:solidFill>
                  <a:srgbClr val="E6EDF3"/>
                </a:solidFill>
                <a:latin typeface="Inconsolata"/>
              </a:rPr>
              <a:t>)</a:t>
            </a:r>
          </a:p>
          <a:p>
            <a:pPr>
              <a:lnSpc>
                <a:spcPct val="109601"/>
              </a:lnSpc>
              <a:spcAft>
                <a:spcPts val="0"/>
              </a:spcAft>
            </a:pPr>
            <a:r>
              <a:rPr sz="760" i="0">
                <a:solidFill>
                  <a:srgbClr val="5C6773"/>
                </a:solidFill>
                <a:latin typeface="Inconsolata"/>
              </a:rPr>
              <a:t>25  </a:t>
            </a:r>
            <a:r>
              <a:rPr sz="760" i="0">
                <a:solidFill>
                  <a:srgbClr val="E6EDF3"/>
                </a:solidFill>
                <a:latin typeface="Inconsolata"/>
              </a:rPr>
              <a:t>    points = order[</a:t>
            </a:r>
            <a:r>
              <a:rPr sz="760" i="0">
                <a:solidFill>
                  <a:srgbClr val="A5D6A7"/>
                </a:solidFill>
                <a:latin typeface="Inconsolata"/>
              </a:rPr>
              <a:t>"total"</a:t>
            </a:r>
            <a:r>
              <a:rPr sz="760" i="0">
                <a:solidFill>
                  <a:srgbClr val="E6EDF3"/>
                </a:solidFill>
                <a:latin typeface="Inconsolata"/>
              </a:rPr>
              <a:t>] // </a:t>
            </a:r>
            <a:r>
              <a:rPr sz="760" i="0">
                <a:solidFill>
                  <a:srgbClr val="F9C97A"/>
                </a:solidFill>
                <a:latin typeface="Inconsolata"/>
              </a:rPr>
              <a:t>10_000</a:t>
            </a:r>
          </a:p>
          <a:p>
            <a:pPr>
              <a:lnSpc>
                <a:spcPct val="109601"/>
              </a:lnSpc>
              <a:spcAft>
                <a:spcPts val="0"/>
              </a:spcAft>
            </a:pPr>
            <a:r>
              <a:rPr sz="760" i="0">
                <a:solidFill>
                  <a:srgbClr val="5C6773"/>
                </a:solidFill>
                <a:latin typeface="Inconsolata"/>
              </a:rPr>
              <a:t>26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f"  [points] +{points} poin untuk {order['customer']}"</a:t>
            </a:r>
            <a:r>
              <a:rPr sz="760" i="0">
                <a:solidFill>
                  <a:srgbClr val="E6EDF3"/>
                </a:solidFill>
                <a:latin typeface="Inconsolata"/>
              </a:rPr>
              <a:t>)</a:t>
            </a:r>
          </a:p>
          <a:p>
            <a:pPr>
              <a:lnSpc>
                <a:spcPct val="109601"/>
              </a:lnSpc>
              <a:spcAft>
                <a:spcPts val="0"/>
              </a:spcAft>
            </a:pPr>
            <a:r>
              <a:rPr sz="760" i="0">
                <a:solidFill>
                  <a:srgbClr val="5C6773"/>
                </a:solidFill>
                <a:latin typeface="Inconsolata"/>
              </a:rPr>
              <a:t>27  </a:t>
            </a:r>
            <a:r>
              <a:rPr sz="760" i="0">
                <a:solidFill>
                  <a:srgbClr val="E6EDF3"/>
                </a:solidFill>
                <a:latin typeface="Inconsolata"/>
              </a:rPr>
              <a:t> </a:t>
            </a:r>
          </a:p>
          <a:p>
            <a:pPr>
              <a:lnSpc>
                <a:spcPct val="109601"/>
              </a:lnSpc>
              <a:spcAft>
                <a:spcPts val="0"/>
              </a:spcAft>
            </a:pPr>
            <a:r>
              <a:rPr sz="760" i="0">
                <a:solidFill>
                  <a:srgbClr val="5C6773"/>
                </a:solidFill>
                <a:latin typeface="Inconsolata"/>
              </a:rPr>
              <a:t>28  </a:t>
            </a:r>
            <a:r>
              <a:rPr sz="760" i="0">
                <a:solidFill>
                  <a:srgbClr val="E6EDF3"/>
                </a:solidFill>
                <a:latin typeface="Inconsolata"/>
              </a:rPr>
              <a:t> </a:t>
            </a:r>
          </a:p>
          <a:p>
            <a:pPr>
              <a:lnSpc>
                <a:spcPct val="109601"/>
              </a:lnSpc>
              <a:spcAft>
                <a:spcPts val="0"/>
              </a:spcAft>
            </a:pPr>
            <a:r>
              <a:rPr sz="760" i="0">
                <a:solidFill>
                  <a:srgbClr val="5C6773"/>
                </a:solidFill>
                <a:latin typeface="Inconsolata"/>
              </a:rPr>
              <a:t>29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update_analytics</a:t>
            </a:r>
            <a:r>
              <a:rPr sz="760" i="0">
                <a:solidFill>
                  <a:srgbClr val="E6EDF3"/>
                </a:solidFill>
                <a:latin typeface="Inconsolata"/>
              </a:rPr>
              <a:t>(order):</a:t>
            </a:r>
          </a:p>
          <a:p>
            <a:pPr>
              <a:lnSpc>
                <a:spcPct val="109601"/>
              </a:lnSpc>
              <a:spcAft>
                <a:spcPts val="0"/>
              </a:spcAft>
            </a:pPr>
            <a:r>
              <a:rPr sz="760" i="0">
                <a:solidFill>
                  <a:srgbClr val="5C6773"/>
                </a:solidFill>
                <a:latin typeface="Inconsolata"/>
              </a:rPr>
              <a:t>30  </a:t>
            </a:r>
            <a:r>
              <a:rPr sz="760" i="0">
                <a:solidFill>
                  <a:srgbClr val="E6EDF3"/>
                </a:solidFill>
                <a:latin typeface="Inconsolata"/>
              </a:rPr>
              <a:t>    </a:t>
            </a:r>
            <a:r>
              <a:rPr sz="760" i="0">
                <a:solidFill>
                  <a:srgbClr val="FF8E6E"/>
                </a:solidFill>
                <a:latin typeface="Inconsolata"/>
              </a:rPr>
              <a:t>raise</a:t>
            </a:r>
            <a:r>
              <a:rPr sz="760" i="0">
                <a:solidFill>
                  <a:srgbClr val="E6EDF3"/>
                </a:solidFill>
                <a:latin typeface="Inconsolata"/>
              </a:rPr>
              <a:t> </a:t>
            </a:r>
            <a:r>
              <a:rPr sz="760" i="0">
                <a:solidFill>
                  <a:srgbClr val="7FDBCA"/>
                </a:solidFill>
                <a:latin typeface="Inconsolata"/>
              </a:rPr>
              <a:t>ConnectionError</a:t>
            </a:r>
            <a:r>
              <a:rPr sz="760" i="0">
                <a:solidFill>
                  <a:srgbClr val="E6EDF3"/>
                </a:solidFill>
                <a:latin typeface="Inconsolata"/>
              </a:rPr>
              <a:t>(</a:t>
            </a:r>
            <a:r>
              <a:rPr sz="760" i="0">
                <a:solidFill>
                  <a:srgbClr val="A5D6A7"/>
                </a:solidFill>
                <a:latin typeface="Inconsolata"/>
              </a:rPr>
              <a:t>"analytics service tidak merespons"</a:t>
            </a:r>
            <a:r>
              <a:rPr sz="760" i="0">
                <a:solidFill>
                  <a:srgbClr val="E6EDF3"/>
                </a:solidFill>
                <a:latin typeface="Inconsolata"/>
              </a:rPr>
              <a: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01-sync-vs-async/before.py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33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place_order</a:t>
            </a:r>
            <a:r>
              <a:rPr sz="760" i="0">
                <a:solidFill>
                  <a:srgbClr val="E6EDF3"/>
                </a:solidFill>
                <a:latin typeface="Inconsolata"/>
              </a:rPr>
              <a:t>(order):</a:t>
            </a:r>
          </a:p>
          <a:p>
            <a:pPr>
              <a:lnSpc>
                <a:spcPct val="109601"/>
              </a:lnSpc>
              <a:spcAft>
                <a:spcPts val="0"/>
              </a:spcAft>
            </a:pPr>
            <a:r>
              <a:rPr sz="760" i="0">
                <a:solidFill>
                  <a:srgbClr val="5C6773"/>
                </a:solidFill>
                <a:latin typeface="Inconsolata"/>
              </a:rPr>
              <a:t>34  </a:t>
            </a:r>
            <a:r>
              <a:rPr sz="760" i="0">
                <a:solidFill>
                  <a:srgbClr val="E6EDF3"/>
                </a:solidFill>
                <a:latin typeface="Inconsolata"/>
              </a:rPr>
              <a:t>    reserve_stock(order)               </a:t>
            </a:r>
            <a:r>
              <a:rPr sz="760" i="1">
                <a:solidFill>
                  <a:srgbClr val="8B98A8"/>
                </a:solidFill>
                <a:latin typeface="Inconsolata"/>
              </a:rPr>
              <a:t># harus sync</a:t>
            </a:r>
          </a:p>
          <a:p>
            <a:pPr>
              <a:lnSpc>
                <a:spcPct val="109601"/>
              </a:lnSpc>
              <a:spcAft>
                <a:spcPts val="0"/>
              </a:spcAft>
            </a:pPr>
            <a:r>
              <a:rPr sz="760" i="0">
                <a:solidFill>
                  <a:srgbClr val="5C6773"/>
                </a:solidFill>
                <a:latin typeface="Inconsolata"/>
              </a:rPr>
              <a:t>35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f"  [order] order #{order['id']} disimpan"</a:t>
            </a:r>
            <a:r>
              <a:rPr sz="760" i="0">
                <a:solidFill>
                  <a:srgbClr val="E6EDF3"/>
                </a:solidFill>
                <a:latin typeface="Inconsolata"/>
              </a:rPr>
              <a:t>)</a:t>
            </a:r>
          </a:p>
          <a:p>
            <a:pPr>
              <a:lnSpc>
                <a:spcPct val="109601"/>
              </a:lnSpc>
              <a:spcAft>
                <a:spcPts val="0"/>
              </a:spcAft>
            </a:pPr>
            <a:r>
              <a:rPr sz="760" i="0">
                <a:solidFill>
                  <a:srgbClr val="5C6773"/>
                </a:solidFill>
                <a:latin typeface="Inconsolata"/>
              </a:rPr>
              <a:t>36  </a:t>
            </a:r>
            <a:r>
              <a:rPr sz="760" i="0">
                <a:solidFill>
                  <a:srgbClr val="E6EDF3"/>
                </a:solidFill>
                <a:latin typeface="Inconsolata"/>
              </a:rPr>
              <a:t>    send_email(order)                  </a:t>
            </a:r>
            <a:r>
              <a:rPr sz="760" i="1">
                <a:solidFill>
                  <a:srgbClr val="8B98A8"/>
                </a:solidFill>
                <a:latin typeface="Inconsolata"/>
              </a:rPr>
              <a:t># 0.8 s</a:t>
            </a:r>
          </a:p>
          <a:p>
            <a:pPr>
              <a:lnSpc>
                <a:spcPct val="109601"/>
              </a:lnSpc>
              <a:spcAft>
                <a:spcPts val="0"/>
              </a:spcAft>
            </a:pPr>
            <a:r>
              <a:rPr sz="760" i="0">
                <a:solidFill>
                  <a:srgbClr val="5C6773"/>
                </a:solidFill>
                <a:latin typeface="Inconsolata"/>
              </a:rPr>
              <a:t>37  </a:t>
            </a:r>
            <a:r>
              <a:rPr sz="760" i="0">
                <a:solidFill>
                  <a:srgbClr val="E6EDF3"/>
                </a:solidFill>
                <a:latin typeface="Inconsolata"/>
              </a:rPr>
              <a:t>    add_points(order)                  </a:t>
            </a:r>
            <a:r>
              <a:rPr sz="760" i="1">
                <a:solidFill>
                  <a:srgbClr val="8B98A8"/>
                </a:solidFill>
                <a:latin typeface="Inconsolata"/>
              </a:rPr>
              <a:t># 0.3 s</a:t>
            </a:r>
          </a:p>
          <a:p>
            <a:pPr>
              <a:lnSpc>
                <a:spcPct val="109601"/>
              </a:lnSpc>
              <a:spcAft>
                <a:spcPts val="0"/>
              </a:spcAft>
            </a:pPr>
            <a:r>
              <a:rPr sz="760" i="0">
                <a:solidFill>
                  <a:srgbClr val="5C6773"/>
                </a:solidFill>
                <a:latin typeface="Inconsolata"/>
              </a:rPr>
              <a:t>38  </a:t>
            </a:r>
            <a:r>
              <a:rPr sz="760" i="0">
                <a:solidFill>
                  <a:srgbClr val="E6EDF3"/>
                </a:solidFill>
                <a:latin typeface="Inconsolata"/>
              </a:rPr>
              <a:t>    update_analytics(order)            </a:t>
            </a:r>
            <a:r>
              <a:rPr sz="760" i="1">
                <a:solidFill>
                  <a:srgbClr val="8B98A8"/>
                </a:solidFill>
                <a:latin typeface="Inconsolata"/>
              </a:rPr>
              <a:t># service mati</a:t>
            </a:r>
          </a:p>
          <a:p>
            <a:pPr>
              <a:lnSpc>
                <a:spcPct val="109601"/>
              </a:lnSpc>
              <a:spcAft>
                <a:spcPts val="0"/>
              </a:spcAft>
            </a:pPr>
            <a:r>
              <a:rPr sz="760" i="0">
                <a:solidFill>
                  <a:srgbClr val="5C6773"/>
                </a:solidFill>
                <a:latin typeface="Inconsolata"/>
              </a:rPr>
              <a:t>39  </a:t>
            </a:r>
            <a:r>
              <a:rPr sz="760" i="0">
                <a:solidFill>
                  <a:srgbClr val="E6EDF3"/>
                </a:solidFill>
                <a:latin typeface="Inconsolata"/>
              </a:rPr>
              <a:t>    </a:t>
            </a:r>
            <a:r>
              <a:rPr sz="760" i="0">
                <a:solidFill>
                  <a:srgbClr val="FF8E6E"/>
                </a:solidFill>
                <a:latin typeface="Inconsolata"/>
              </a:rPr>
              <a:t>return</a:t>
            </a:r>
            <a:r>
              <a:rPr sz="760" i="0">
                <a:solidFill>
                  <a:srgbClr val="E6EDF3"/>
                </a:solidFill>
                <a:latin typeface="Inconsolata"/>
              </a:rPr>
              <a:t> order</a:t>
            </a:r>
          </a:p>
          <a:p>
            <a:pPr>
              <a:lnSpc>
                <a:spcPct val="109601"/>
              </a:lnSpc>
              <a:spcAft>
                <a:spcPts val="0"/>
              </a:spcAft>
            </a:pPr>
            <a:r>
              <a:rPr sz="760" i="0">
                <a:solidFill>
                  <a:srgbClr val="5C6773"/>
                </a:solidFill>
                <a:latin typeface="Inconsolata"/>
              </a:rPr>
              <a:t>40  </a:t>
            </a:r>
            <a:r>
              <a:rPr sz="760" i="0">
                <a:solidFill>
                  <a:srgbClr val="E6EDF3"/>
                </a:solidFill>
                <a:latin typeface="Inconsolata"/>
              </a:rPr>
              <a:t> </a:t>
            </a:r>
          </a:p>
          <a:p>
            <a:pPr>
              <a:lnSpc>
                <a:spcPct val="109601"/>
              </a:lnSpc>
              <a:spcAft>
                <a:spcPts val="0"/>
              </a:spcAft>
            </a:pPr>
            <a:r>
              <a:rPr sz="760" i="0">
                <a:solidFill>
                  <a:srgbClr val="5C6773"/>
                </a:solidFill>
                <a:latin typeface="Inconsolata"/>
              </a:rPr>
              <a:t>41  </a:t>
            </a:r>
            <a:r>
              <a:rPr sz="760" i="0">
                <a:solidFill>
                  <a:srgbClr val="E6EDF3"/>
                </a:solidFill>
                <a:latin typeface="Inconsolata"/>
              </a:rPr>
              <a:t> </a:t>
            </a:r>
          </a:p>
          <a:p>
            <a:pPr>
              <a:lnSpc>
                <a:spcPct val="109601"/>
              </a:lnSpc>
              <a:spcAft>
                <a:spcPts val="0"/>
              </a:spcAft>
            </a:pPr>
            <a:r>
              <a:rPr sz="760" i="0">
                <a:solidFill>
                  <a:srgbClr val="5C6773"/>
                </a:solidFill>
                <a:latin typeface="Inconsolata"/>
              </a:rPr>
              <a:t>42  </a:t>
            </a:r>
            <a:r>
              <a:rPr sz="760" i="0">
                <a:solidFill>
                  <a:srgbClr val="FF8E6E"/>
                </a:solidFill>
                <a:latin typeface="Inconsolata"/>
              </a:rPr>
              <a:t>if</a:t>
            </a:r>
            <a:r>
              <a:rPr sz="760" i="0">
                <a:solidFill>
                  <a:srgbClr val="E6EDF3"/>
                </a:solidFill>
                <a:latin typeface="Inconsolata"/>
              </a:rPr>
              <a:t> __name__ == </a:t>
            </a:r>
            <a:r>
              <a:rPr sz="760" i="0">
                <a:solidFill>
                  <a:srgbClr val="A5D6A7"/>
                </a:solidFill>
                <a:latin typeface="Inconsolata"/>
              </a:rPr>
              <a:t>"__main__"</a:t>
            </a:r>
            <a:r>
              <a:rPr sz="760" i="0">
                <a:solidFill>
                  <a:srgbClr val="E6EDF3"/>
                </a:solidFill>
                <a:latin typeface="Inconsolata"/>
              </a:rPr>
              <a:t>:</a:t>
            </a:r>
          </a:p>
          <a:p>
            <a:pPr>
              <a:lnSpc>
                <a:spcPct val="109601"/>
              </a:lnSpc>
              <a:spcAft>
                <a:spcPts val="0"/>
              </a:spcAft>
            </a:pPr>
            <a:r>
              <a:rPr sz="760" i="0">
                <a:solidFill>
                  <a:srgbClr val="5C6773"/>
                </a:solidFill>
                <a:latin typeface="Inconsolata"/>
              </a:rPr>
              <a:t>43  </a:t>
            </a:r>
            <a:r>
              <a:rPr sz="760" i="0">
                <a:solidFill>
                  <a:srgbClr val="E6EDF3"/>
                </a:solidFill>
                <a:latin typeface="Inconsolata"/>
              </a:rPr>
              <a:t>    start = time.perf_counter()</a:t>
            </a:r>
          </a:p>
          <a:p>
            <a:pPr>
              <a:lnSpc>
                <a:spcPct val="109601"/>
              </a:lnSpc>
              <a:spcAft>
                <a:spcPts val="0"/>
              </a:spcAft>
            </a:pPr>
            <a:r>
              <a:rPr sz="760" i="0">
                <a:solidFill>
                  <a:srgbClr val="5C6773"/>
                </a:solidFill>
                <a:latin typeface="Inconsolata"/>
              </a:rPr>
              <a:t>44  </a:t>
            </a:r>
            <a:r>
              <a:rPr sz="760" i="0">
                <a:solidFill>
                  <a:srgbClr val="E6EDF3"/>
                </a:solidFill>
                <a:latin typeface="Inconsolata"/>
              </a:rPr>
              <a:t>    </a:t>
            </a:r>
            <a:r>
              <a:rPr sz="760" i="0">
                <a:solidFill>
                  <a:srgbClr val="FF8E6E"/>
                </a:solidFill>
                <a:latin typeface="Inconsolata"/>
              </a:rPr>
              <a:t>try</a:t>
            </a:r>
            <a:r>
              <a:rPr sz="760" i="0">
                <a:solidFill>
                  <a:srgbClr val="E6EDF3"/>
                </a:solidFill>
                <a:latin typeface="Inconsolata"/>
              </a:rPr>
              <a:t>:</a:t>
            </a:r>
          </a:p>
          <a:p>
            <a:pPr>
              <a:lnSpc>
                <a:spcPct val="109601"/>
              </a:lnSpc>
              <a:spcAft>
                <a:spcPts val="0"/>
              </a:spcAft>
            </a:pPr>
            <a:r>
              <a:rPr sz="760" i="0">
                <a:solidFill>
                  <a:srgbClr val="5C6773"/>
                </a:solidFill>
                <a:latin typeface="Inconsolata"/>
              </a:rPr>
              <a:t>45  </a:t>
            </a:r>
            <a:r>
              <a:rPr sz="760" i="0">
                <a:solidFill>
                  <a:srgbClr val="E6EDF3"/>
                </a:solidFill>
                <a:latin typeface="Inconsolata"/>
              </a:rPr>
              <a:t>        place_order({</a:t>
            </a:r>
            <a:r>
              <a:rPr sz="760" i="0">
                <a:solidFill>
                  <a:srgbClr val="A5D6A7"/>
                </a:solidFill>
                <a:latin typeface="Inconsolata"/>
              </a:rPr>
              <a:t>"id"</a:t>
            </a:r>
            <a:r>
              <a:rPr sz="760" i="0">
                <a:solidFill>
                  <a:srgbClr val="E6EDF3"/>
                </a:solidFill>
                <a:latin typeface="Inconsolata"/>
              </a:rPr>
              <a:t>: </a:t>
            </a:r>
            <a:r>
              <a:rPr sz="760" i="0">
                <a:solidFill>
                  <a:srgbClr val="F9C97A"/>
                </a:solidFill>
                <a:latin typeface="Inconsolata"/>
              </a:rPr>
              <a:t>1</a:t>
            </a:r>
            <a:r>
              <a:rPr sz="760" i="0">
                <a:solidFill>
                  <a:srgbClr val="E6EDF3"/>
                </a:solidFill>
                <a:latin typeface="Inconsolata"/>
              </a:rPr>
              <a:t>, </a:t>
            </a:r>
            <a:r>
              <a:rPr sz="760" i="0">
                <a:solidFill>
                  <a:srgbClr val="A5D6A7"/>
                </a:solidFill>
                <a:latin typeface="Inconsolata"/>
              </a:rPr>
              <a:t>"customer"</a:t>
            </a:r>
            <a:r>
              <a:rPr sz="760" i="0">
                <a:solidFill>
                  <a:srgbClr val="E6EDF3"/>
                </a:solidFill>
                <a:latin typeface="Inconsolata"/>
              </a:rPr>
              <a:t>: </a:t>
            </a:r>
            <a:r>
              <a:rPr sz="760" i="0">
                <a:solidFill>
                  <a:srgbClr val="A5D6A7"/>
                </a:solidFill>
                <a:latin typeface="Inconsolata"/>
              </a:rPr>
              <a:t>"budi@mail.com"</a:t>
            </a:r>
            <a:r>
              <a:rPr sz="760" i="0">
                <a:solidFill>
                  <a:srgbClr val="E6EDF3"/>
                </a:solidFill>
                <a:latin typeface="Inconsolata"/>
              </a:rPr>
              <a:t>,</a:t>
            </a:r>
          </a:p>
          <a:p>
            <a:pPr>
              <a:lnSpc>
                <a:spcPct val="109601"/>
              </a:lnSpc>
              <a:spcAft>
                <a:spcPts val="0"/>
              </a:spcAft>
            </a:pPr>
            <a:r>
              <a:rPr sz="760" i="0">
                <a:solidFill>
                  <a:srgbClr val="5C6773"/>
                </a:solidFill>
                <a:latin typeface="Inconsolata"/>
              </a:rPr>
              <a:t>46  </a:t>
            </a:r>
            <a:r>
              <a:rPr sz="760" i="0">
                <a:solidFill>
                  <a:srgbClr val="E6EDF3"/>
                </a:solidFill>
                <a:latin typeface="Inconsolata"/>
              </a:rPr>
              <a:t>                     </a:t>
            </a:r>
            <a:r>
              <a:rPr sz="760" i="0">
                <a:solidFill>
                  <a:srgbClr val="A5D6A7"/>
                </a:solidFill>
                <a:latin typeface="Inconsolata"/>
              </a:rPr>
              <a:t>"total"</a:t>
            </a:r>
            <a:r>
              <a:rPr sz="760" i="0">
                <a:solidFill>
                  <a:srgbClr val="E6EDF3"/>
                </a:solidFill>
                <a:latin typeface="Inconsolata"/>
              </a:rPr>
              <a:t>: </a:t>
            </a:r>
            <a:r>
              <a:rPr sz="760" i="0">
                <a:solidFill>
                  <a:srgbClr val="F9C97A"/>
                </a:solidFill>
                <a:latin typeface="Inconsolata"/>
              </a:rPr>
              <a:t>900_000</a:t>
            </a:r>
            <a:r>
              <a:rPr sz="760" i="0">
                <a:solidFill>
                  <a:srgbClr val="E6EDF3"/>
                </a:solidFill>
                <a:latin typeface="Inconsolata"/>
              </a:rPr>
              <a:t>})</a:t>
            </a:r>
          </a:p>
          <a:p>
            <a:pPr>
              <a:lnSpc>
                <a:spcPct val="109601"/>
              </a:lnSpc>
              <a:spcAft>
                <a:spcPts val="0"/>
              </a:spcAft>
            </a:pPr>
            <a:r>
              <a:rPr sz="760" i="0">
                <a:solidFill>
                  <a:srgbClr val="5C6773"/>
                </a:solidFill>
                <a:latin typeface="Inconsolata"/>
              </a:rPr>
              <a:t>47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"Response: 201 Created"</a:t>
            </a:r>
            <a:r>
              <a:rPr sz="760" i="0">
                <a:solidFill>
                  <a:srgbClr val="E6EDF3"/>
                </a:solidFill>
                <a:latin typeface="Inconsolata"/>
              </a:rPr>
              <a:t>)</a:t>
            </a:r>
          </a:p>
          <a:p>
            <a:pPr>
              <a:lnSpc>
                <a:spcPct val="109601"/>
              </a:lnSpc>
              <a:spcAft>
                <a:spcPts val="0"/>
              </a:spcAft>
            </a:pPr>
            <a:r>
              <a:rPr sz="760" i="0">
                <a:solidFill>
                  <a:srgbClr val="5C6773"/>
                </a:solidFill>
                <a:latin typeface="Inconsolata"/>
              </a:rPr>
              <a:t>48  </a:t>
            </a:r>
            <a:r>
              <a:rPr sz="760" i="0">
                <a:solidFill>
                  <a:srgbClr val="E6EDF3"/>
                </a:solidFill>
                <a:latin typeface="Inconsolata"/>
              </a:rPr>
              <a:t>    </a:t>
            </a:r>
            <a:r>
              <a:rPr sz="760" i="0">
                <a:solidFill>
                  <a:srgbClr val="FF8E6E"/>
                </a:solidFill>
                <a:latin typeface="Inconsolata"/>
              </a:rPr>
              <a:t>except</a:t>
            </a:r>
            <a:r>
              <a:rPr sz="760" i="0">
                <a:solidFill>
                  <a:srgbClr val="E6EDF3"/>
                </a:solidFill>
                <a:latin typeface="Inconsolata"/>
              </a:rPr>
              <a:t> </a:t>
            </a:r>
            <a:r>
              <a:rPr sz="760" i="0">
                <a:solidFill>
                  <a:srgbClr val="7FDBCA"/>
                </a:solidFill>
                <a:latin typeface="Inconsolata"/>
              </a:rPr>
              <a:t>ConnectionError</a:t>
            </a:r>
            <a:r>
              <a:rPr sz="760" i="0">
                <a:solidFill>
                  <a:srgbClr val="E6EDF3"/>
                </a:solidFill>
                <a:latin typeface="Inconsolata"/>
              </a:rPr>
              <a:t> </a:t>
            </a:r>
            <a:r>
              <a:rPr sz="760" i="0">
                <a:solidFill>
                  <a:srgbClr val="FF8E6E"/>
                </a:solidFill>
                <a:latin typeface="Inconsolata"/>
              </a:rPr>
              <a:t>as</a:t>
            </a:r>
            <a:r>
              <a:rPr sz="760" i="0">
                <a:solidFill>
                  <a:srgbClr val="E6EDF3"/>
                </a:solidFill>
                <a:latin typeface="Inconsolata"/>
              </a:rPr>
              <a:t> exc:</a:t>
            </a:r>
          </a:p>
          <a:p>
            <a:pPr>
              <a:lnSpc>
                <a:spcPct val="109601"/>
              </a:lnSpc>
              <a:spcAft>
                <a:spcPts val="0"/>
              </a:spcAft>
            </a:pPr>
            <a:r>
              <a:rPr sz="760" i="0">
                <a:solidFill>
                  <a:srgbClr val="5C6773"/>
                </a:solidFill>
                <a:latin typeface="Inconsolata"/>
              </a:rPr>
              <a:t>49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f"Response: 500 Internal Server Error ({exc})"</a:t>
            </a:r>
            <a:r>
              <a:rPr sz="760" i="0">
                <a:solidFill>
                  <a:srgbClr val="E6EDF3"/>
                </a:solidFill>
                <a:latin typeface="Inconsolata"/>
              </a:rPr>
              <a:t>)</a:t>
            </a:r>
          </a:p>
          <a:p>
            <a:pPr>
              <a:lnSpc>
                <a:spcPct val="109601"/>
              </a:lnSpc>
              <a:spcAft>
                <a:spcPts val="0"/>
              </a:spcAft>
            </a:pPr>
            <a:r>
              <a:rPr sz="760" i="0">
                <a:solidFill>
                  <a:srgbClr val="5C6773"/>
                </a:solidFill>
                <a:latin typeface="Inconsolata"/>
              </a:rPr>
              <a:t>50  </a:t>
            </a:r>
            <a:r>
              <a:rPr sz="760" i="0">
                <a:solidFill>
                  <a:srgbClr val="E6EDF3"/>
                </a:solidFill>
                <a:latin typeface="Inconsolata"/>
              </a:rPr>
              <a:t>    ms = (time.perf_counter() - start) * </a:t>
            </a:r>
            <a:r>
              <a:rPr sz="760" i="0">
                <a:solidFill>
                  <a:srgbClr val="F9C97A"/>
                </a:solidFill>
                <a:latin typeface="Inconsolata"/>
              </a:rPr>
              <a:t>1000</a:t>
            </a:r>
          </a:p>
          <a:p>
            <a:pPr>
              <a:lnSpc>
                <a:spcPct val="109601"/>
              </a:lnSpc>
              <a:spcAft>
                <a:spcPts val="0"/>
              </a:spcAft>
            </a:pPr>
            <a:r>
              <a:rPr sz="760" i="0">
                <a:solidFill>
                  <a:srgbClr val="5C6773"/>
                </a:solidFill>
                <a:latin typeface="Inconsolata"/>
              </a:rPr>
              <a:t>51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f"Waktu response: {ms:.0f} ms"</a:t>
            </a:r>
            <a:r>
              <a:rPr sz="760" i="0">
                <a:solidFill>
                  <a:srgbClr val="E6EDF3"/>
                </a:solidFill>
                <a:latin typeface="Inconsolata"/>
              </a:rPr>
              <a:t>)</a:t>
            </a:r>
          </a:p>
        </p:txBody>
      </p:sp>
      <p:sp>
        <p:nvSpPr>
          <p:cNvPr id="36" name="Box 21"/>
          <p:cNvSpPr/>
          <p:nvPr/>
        </p:nvSpPr>
        <p:spPr>
          <a:xfrm>
            <a:off x="704088" y="4240022"/>
            <a:ext cx="3694176" cy="246380"/>
          </a:xfrm>
          <a:prstGeom prst="roundRect">
            <a:avLst>
              <a:gd name="adj" fmla="val 1855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42443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704088" y="2716022"/>
            <a:ext cx="3694176" cy="1643380"/>
          </a:xfrm>
          <a:prstGeom prst="roundRect">
            <a:avLst>
              <a:gd name="adj" fmla="val 2782"/>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279392" y="34188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Event-Driven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01-sync-vs-async/before.py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84632"/>
          </a:xfrm>
          <a:prstGeom prst="roundRect">
            <a:avLst>
              <a:gd name="adj" fmla="val 37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84632"/>
          </a:xfrm>
          <a:prstGeom prst="rect">
            <a:avLst/>
          </a:prstGeom>
          <a:noFill/>
        </p:spPr>
        <p:txBody>
          <a:bodyPr wrap="none" lIns="146304" tIns="91440" rIns="146304" bIns="54864">
            <a:spAutoFit/>
          </a:bodyPr>
          <a:lstStyle/>
          <a:p>
            <a:pPr>
              <a:lnSpc>
                <a:spcPct val="111111"/>
              </a:lnSpc>
              <a:spcAft>
                <a:spcPts val="0"/>
              </a:spcAft>
            </a:pPr>
            <a:r>
              <a:rPr sz="900" i="0">
                <a:solidFill>
                  <a:srgbClr val="82B1FF"/>
                </a:solidFill>
                <a:latin typeface="Inconsolata"/>
              </a:rPr>
              <a:t>$ cd sesi-08-event-driven-rabbitmq-kafka/01-sync-vs-async</a:t>
            </a:r>
          </a:p>
          <a:p>
            <a:pPr>
              <a:lnSpc>
                <a:spcPct val="111111"/>
              </a:lnSpc>
              <a:spcAft>
                <a:spcPts val="0"/>
              </a:spcAft>
            </a:pPr>
            <a:r>
              <a:rPr sz="900" i="0">
                <a:solidFill>
                  <a:srgbClr val="82B1FF"/>
                </a:solidFill>
                <a:latin typeface="Inconsolata"/>
              </a:rPr>
              <a:t>$ python before.py</a:t>
            </a:r>
          </a:p>
        </p:txBody>
      </p:sp>
      <p:pic>
        <p:nvPicPr>
          <p:cNvPr id="29" name="Image 12" descr="s08-01-sync-vs-async-before.png"/>
          <p:cNvPicPr>
            <a:picLocks noChangeAspect="1"/>
          </p:cNvPicPr>
          <p:nvPr/>
        </p:nvPicPr>
        <p:blipFill>
          <a:blip r:embed="rId2"/>
          <a:stretch>
            <a:fillRect/>
          </a:stretch>
        </p:blipFill>
        <p:spPr>
          <a:xfrm>
            <a:off x="621792" y="2322576"/>
            <a:ext cx="4297680" cy="1017872"/>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Analytics sedang mati (baris 29-30)</a:t>
            </a:r>
          </a:p>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place_order</a:t>
            </a:r>
            <a:r>
              <a:rPr sz="950" b="0" i="0">
                <a:solidFill>
                  <a:srgbClr val="434343"/>
                </a:solidFill>
                <a:latin typeface="Inter"/>
              </a:rPr>
              <a:t> memanggil semua layanan satu per satu (baris 17-29)</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Response 500 setelah sekitar 1.1 detik, padahal order sudah tersimpan.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Event-Driven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producer dan consumer (1/2)</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01-sync-vs-async/after.py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8035"/>
              </a:lnSpc>
              <a:spcAft>
                <a:spcPts val="0"/>
              </a:spcAft>
            </a:pPr>
            <a:r>
              <a:rPr sz="771" i="0">
                <a:solidFill>
                  <a:srgbClr val="5C6773"/>
                </a:solidFill>
                <a:latin typeface="Inconsolata"/>
              </a:rPr>
              <a:t>15  </a:t>
            </a:r>
            <a:r>
              <a:rPr sz="771" i="0">
                <a:solidFill>
                  <a:srgbClr val="FF8E6E"/>
                </a:solidFill>
                <a:latin typeface="Inconsolata"/>
              </a:rPr>
              <a:t>import</a:t>
            </a:r>
            <a:r>
              <a:rPr sz="771" i="0">
                <a:solidFill>
                  <a:srgbClr val="E6EDF3"/>
                </a:solidFill>
                <a:latin typeface="Inconsolata"/>
              </a:rPr>
              <a:t> queue</a:t>
            </a:r>
          </a:p>
          <a:p>
            <a:pPr>
              <a:lnSpc>
                <a:spcPct val="108035"/>
              </a:lnSpc>
              <a:spcAft>
                <a:spcPts val="0"/>
              </a:spcAft>
            </a:pPr>
            <a:r>
              <a:rPr sz="771" i="0">
                <a:solidFill>
                  <a:srgbClr val="5C6773"/>
                </a:solidFill>
                <a:latin typeface="Inconsolata"/>
              </a:rPr>
              <a:t>16  </a:t>
            </a:r>
            <a:r>
              <a:rPr sz="771" i="0">
                <a:solidFill>
                  <a:srgbClr val="FF8E6E"/>
                </a:solidFill>
                <a:latin typeface="Inconsolata"/>
              </a:rPr>
              <a:t>import</a:t>
            </a:r>
            <a:r>
              <a:rPr sz="771" i="0">
                <a:solidFill>
                  <a:srgbClr val="E6EDF3"/>
                </a:solidFill>
                <a:latin typeface="Inconsolata"/>
              </a:rPr>
              <a:t> threading</a:t>
            </a:r>
          </a:p>
          <a:p>
            <a:pPr>
              <a:lnSpc>
                <a:spcPct val="108035"/>
              </a:lnSpc>
              <a:spcAft>
                <a:spcPts val="0"/>
              </a:spcAft>
            </a:pPr>
            <a:r>
              <a:rPr sz="771" i="0">
                <a:solidFill>
                  <a:srgbClr val="5C6773"/>
                </a:solidFill>
                <a:latin typeface="Inconsolata"/>
              </a:rPr>
              <a:t>17  </a:t>
            </a:r>
            <a:r>
              <a:rPr sz="771" i="0">
                <a:solidFill>
                  <a:srgbClr val="FF8E6E"/>
                </a:solidFill>
                <a:latin typeface="Inconsolata"/>
              </a:rPr>
              <a:t>import</a:t>
            </a:r>
            <a:r>
              <a:rPr sz="771" i="0">
                <a:solidFill>
                  <a:srgbClr val="E6EDF3"/>
                </a:solidFill>
                <a:latin typeface="Inconsolata"/>
              </a:rPr>
              <a:t> time</a:t>
            </a:r>
          </a:p>
          <a:p>
            <a:pPr>
              <a:lnSpc>
                <a:spcPct val="108035"/>
              </a:lnSpc>
              <a:spcAft>
                <a:spcPts val="0"/>
              </a:spcAft>
            </a:pPr>
            <a:r>
              <a:rPr sz="771" i="0">
                <a:solidFill>
                  <a:srgbClr val="5C6773"/>
                </a:solidFill>
                <a:latin typeface="Inconsolata"/>
              </a:rPr>
              <a:t>18  </a:t>
            </a:r>
            <a:r>
              <a:rPr sz="771" i="0">
                <a:solidFill>
                  <a:srgbClr val="E6EDF3"/>
                </a:solidFill>
                <a:latin typeface="Inconsolata"/>
              </a:rPr>
              <a:t> </a:t>
            </a:r>
          </a:p>
          <a:p>
            <a:pPr>
              <a:lnSpc>
                <a:spcPct val="108035"/>
              </a:lnSpc>
              <a:spcAft>
                <a:spcPts val="0"/>
              </a:spcAft>
            </a:pPr>
            <a:r>
              <a:rPr sz="771" i="0">
                <a:solidFill>
                  <a:srgbClr val="5C6773"/>
                </a:solidFill>
                <a:latin typeface="Inconsolata"/>
              </a:rPr>
              <a:t>19  </a:t>
            </a:r>
            <a:r>
              <a:rPr sz="771" i="0">
                <a:solidFill>
                  <a:srgbClr val="E6EDF3"/>
                </a:solidFill>
                <a:latin typeface="Inconsolata"/>
              </a:rPr>
              <a:t>events = queue.</a:t>
            </a:r>
            <a:r>
              <a:rPr sz="771" i="0">
                <a:solidFill>
                  <a:srgbClr val="7FDBCA"/>
                </a:solidFill>
                <a:latin typeface="Inconsolata"/>
              </a:rPr>
              <a:t>Queue</a:t>
            </a:r>
            <a:r>
              <a:rPr sz="771" i="0">
                <a:solidFill>
                  <a:srgbClr val="E6EDF3"/>
                </a:solidFill>
                <a:latin typeface="Inconsolata"/>
              </a:rPr>
              <a:t>()</a:t>
            </a:r>
          </a:p>
          <a:p>
            <a:pPr>
              <a:lnSpc>
                <a:spcPct val="108035"/>
              </a:lnSpc>
              <a:spcAft>
                <a:spcPts val="0"/>
              </a:spcAft>
            </a:pPr>
            <a:r>
              <a:rPr sz="771" i="0">
                <a:solidFill>
                  <a:srgbClr val="5C6773"/>
                </a:solidFill>
                <a:latin typeface="Inconsolata"/>
              </a:rPr>
              <a:t>20  </a:t>
            </a:r>
            <a:r>
              <a:rPr sz="771" i="0">
                <a:solidFill>
                  <a:srgbClr val="E6EDF3"/>
                </a:solidFill>
                <a:latin typeface="Inconsolata"/>
              </a:rPr>
              <a:t> </a:t>
            </a:r>
          </a:p>
          <a:p>
            <a:pPr>
              <a:lnSpc>
                <a:spcPct val="108035"/>
              </a:lnSpc>
              <a:spcAft>
                <a:spcPts val="0"/>
              </a:spcAft>
            </a:pPr>
            <a:r>
              <a:rPr sz="771" i="0">
                <a:solidFill>
                  <a:srgbClr val="5C6773"/>
                </a:solidFill>
                <a:latin typeface="Inconsolata"/>
              </a:rPr>
              <a:t>21  </a:t>
            </a:r>
            <a:r>
              <a:rPr sz="771" i="0">
                <a:solidFill>
                  <a:srgbClr val="E6EDF3"/>
                </a:solidFill>
                <a:latin typeface="Inconsolata"/>
              </a:rPr>
              <a:t> </a:t>
            </a:r>
          </a:p>
          <a:p>
            <a:pPr>
              <a:lnSpc>
                <a:spcPct val="108035"/>
              </a:lnSpc>
              <a:spcAft>
                <a:spcPts val="0"/>
              </a:spcAft>
            </a:pPr>
            <a:r>
              <a:rPr sz="771" i="0">
                <a:solidFill>
                  <a:srgbClr val="5C6773"/>
                </a:solidFill>
                <a:latin typeface="Inconsolata"/>
              </a:rPr>
              <a:t>22  </a:t>
            </a:r>
            <a:r>
              <a:rPr sz="771" i="0">
                <a:solidFill>
                  <a:srgbClr val="FF8E6E"/>
                </a:solidFill>
                <a:latin typeface="Inconsolata"/>
              </a:rPr>
              <a:t>def</a:t>
            </a:r>
            <a:r>
              <a:rPr sz="771" i="0">
                <a:solidFill>
                  <a:srgbClr val="E6EDF3"/>
                </a:solidFill>
                <a:latin typeface="Inconsolata"/>
              </a:rPr>
              <a:t> </a:t>
            </a:r>
            <a:r>
              <a:rPr sz="771" i="0">
                <a:solidFill>
                  <a:srgbClr val="82B1FF"/>
                </a:solidFill>
                <a:latin typeface="Inconsolata"/>
              </a:rPr>
              <a:t>reserve_stock</a:t>
            </a:r>
            <a:r>
              <a:rPr sz="771" i="0">
                <a:solidFill>
                  <a:srgbClr val="E6EDF3"/>
                </a:solidFill>
                <a:latin typeface="Inconsolata"/>
              </a:rPr>
              <a:t>(order):</a:t>
            </a:r>
          </a:p>
          <a:p>
            <a:pPr>
              <a:lnSpc>
                <a:spcPct val="108035"/>
              </a:lnSpc>
              <a:spcAft>
                <a:spcPts val="0"/>
              </a:spcAft>
            </a:pPr>
            <a:r>
              <a:rPr sz="771" i="0">
                <a:solidFill>
                  <a:srgbClr val="5C6773"/>
                </a:solidFill>
                <a:latin typeface="Inconsolata"/>
              </a:rPr>
              <a:t>23  </a:t>
            </a:r>
            <a:r>
              <a:rPr sz="771" i="0">
                <a:solidFill>
                  <a:srgbClr val="E6EDF3"/>
                </a:solidFill>
                <a:latin typeface="Inconsolata"/>
              </a:rPr>
              <a:t>    time.sleep(</a:t>
            </a:r>
            <a:r>
              <a:rPr sz="771" i="0">
                <a:solidFill>
                  <a:srgbClr val="F9C97A"/>
                </a:solidFill>
                <a:latin typeface="Inconsolata"/>
              </a:rPr>
              <a:t>0</a:t>
            </a:r>
            <a:r>
              <a:rPr sz="771" i="0">
                <a:solidFill>
                  <a:srgbClr val="E6EDF3"/>
                </a:solidFill>
                <a:latin typeface="Inconsolata"/>
              </a:rPr>
              <a:t>.</a:t>
            </a:r>
            <a:r>
              <a:rPr sz="771" i="0">
                <a:solidFill>
                  <a:srgbClr val="F9C97A"/>
                </a:solidFill>
                <a:latin typeface="Inconsolata"/>
              </a:rPr>
              <a:t>05</a:t>
            </a:r>
            <a:r>
              <a:rPr sz="771" i="0">
                <a:solidFill>
                  <a:srgbClr val="E6EDF3"/>
                </a:solidFill>
                <a:latin typeface="Inconsolata"/>
              </a:rPr>
              <a:t>)</a:t>
            </a:r>
          </a:p>
          <a:p>
            <a:pPr>
              <a:lnSpc>
                <a:spcPct val="108035"/>
              </a:lnSpc>
              <a:spcAft>
                <a:spcPts val="0"/>
              </a:spcAft>
            </a:pPr>
            <a:r>
              <a:rPr sz="771" i="0">
                <a:solidFill>
                  <a:srgbClr val="5C6773"/>
                </a:solidFill>
                <a:latin typeface="Inconsolata"/>
              </a:rPr>
              <a:t>24  </a:t>
            </a:r>
            <a:r>
              <a:rPr sz="771" i="0">
                <a:solidFill>
                  <a:srgbClr val="E6EDF3"/>
                </a:solidFill>
                <a:latin typeface="Inconsolata"/>
              </a:rPr>
              <a:t> </a:t>
            </a:r>
          </a:p>
          <a:p>
            <a:pPr>
              <a:lnSpc>
                <a:spcPct val="108035"/>
              </a:lnSpc>
              <a:spcAft>
                <a:spcPts val="0"/>
              </a:spcAft>
            </a:pPr>
            <a:r>
              <a:rPr sz="771" i="0">
                <a:solidFill>
                  <a:srgbClr val="5C6773"/>
                </a:solidFill>
                <a:latin typeface="Inconsolata"/>
              </a:rPr>
              <a:t>25  </a:t>
            </a:r>
            <a:r>
              <a:rPr sz="771" i="0">
                <a:solidFill>
                  <a:srgbClr val="E6EDF3"/>
                </a:solidFill>
                <a:latin typeface="Inconsolata"/>
              </a:rPr>
              <a:t> </a:t>
            </a:r>
          </a:p>
          <a:p>
            <a:pPr>
              <a:lnSpc>
                <a:spcPct val="108035"/>
              </a:lnSpc>
              <a:spcAft>
                <a:spcPts val="0"/>
              </a:spcAft>
            </a:pPr>
            <a:r>
              <a:rPr sz="771" i="0">
                <a:solidFill>
                  <a:srgbClr val="5C6773"/>
                </a:solidFill>
                <a:latin typeface="Inconsolata"/>
              </a:rPr>
              <a:t>26  </a:t>
            </a:r>
            <a:r>
              <a:rPr sz="771" i="0">
                <a:solidFill>
                  <a:srgbClr val="FF8E6E"/>
                </a:solidFill>
                <a:latin typeface="Inconsolata"/>
              </a:rPr>
              <a:t>def</a:t>
            </a:r>
            <a:r>
              <a:rPr sz="771" i="0">
                <a:solidFill>
                  <a:srgbClr val="E6EDF3"/>
                </a:solidFill>
                <a:latin typeface="Inconsolata"/>
              </a:rPr>
              <a:t> </a:t>
            </a:r>
            <a:r>
              <a:rPr sz="771" i="0">
                <a:solidFill>
                  <a:srgbClr val="82B1FF"/>
                </a:solidFill>
                <a:latin typeface="Inconsolata"/>
              </a:rPr>
              <a:t>send_email</a:t>
            </a:r>
            <a:r>
              <a:rPr sz="771" i="0">
                <a:solidFill>
                  <a:srgbClr val="E6EDF3"/>
                </a:solidFill>
                <a:latin typeface="Inconsolata"/>
              </a:rPr>
              <a:t>(event):</a:t>
            </a:r>
          </a:p>
          <a:p>
            <a:pPr>
              <a:lnSpc>
                <a:spcPct val="108035"/>
              </a:lnSpc>
              <a:spcAft>
                <a:spcPts val="0"/>
              </a:spcAft>
            </a:pPr>
            <a:r>
              <a:rPr sz="771" i="0">
                <a:solidFill>
                  <a:srgbClr val="5C6773"/>
                </a:solidFill>
                <a:latin typeface="Inconsolata"/>
              </a:rPr>
              <a:t>27  </a:t>
            </a:r>
            <a:r>
              <a:rPr sz="771" i="0">
                <a:solidFill>
                  <a:srgbClr val="E6EDF3"/>
                </a:solidFill>
                <a:latin typeface="Inconsolata"/>
              </a:rPr>
              <a:t>    time.sleep(</a:t>
            </a:r>
            <a:r>
              <a:rPr sz="771" i="0">
                <a:solidFill>
                  <a:srgbClr val="F9C97A"/>
                </a:solidFill>
                <a:latin typeface="Inconsolata"/>
              </a:rPr>
              <a:t>0</a:t>
            </a:r>
            <a:r>
              <a:rPr sz="771" i="0">
                <a:solidFill>
                  <a:srgbClr val="E6EDF3"/>
                </a:solidFill>
                <a:latin typeface="Inconsolata"/>
              </a:rPr>
              <a:t>.</a:t>
            </a:r>
            <a:r>
              <a:rPr sz="771" i="0">
                <a:solidFill>
                  <a:srgbClr val="F9C97A"/>
                </a:solidFill>
                <a:latin typeface="Inconsolata"/>
              </a:rPr>
              <a:t>8</a:t>
            </a:r>
            <a:r>
              <a:rPr sz="771" i="0">
                <a:solidFill>
                  <a:srgbClr val="E6EDF3"/>
                </a:solidFill>
                <a:latin typeface="Inconsolata"/>
              </a:rPr>
              <a:t>)</a:t>
            </a:r>
          </a:p>
          <a:p>
            <a:pPr>
              <a:lnSpc>
                <a:spcPct val="108035"/>
              </a:lnSpc>
              <a:spcAft>
                <a:spcPts val="0"/>
              </a:spcAft>
            </a:pPr>
            <a:r>
              <a:rPr sz="771" i="0">
                <a:solidFill>
                  <a:srgbClr val="5C6773"/>
                </a:solidFill>
                <a:latin typeface="Inconsolata"/>
              </a:rPr>
              <a:t>28  </a:t>
            </a:r>
            <a:r>
              <a:rPr sz="771" i="0">
                <a:solidFill>
                  <a:srgbClr val="E6EDF3"/>
                </a:solidFill>
                <a:latin typeface="Inconsolata"/>
              </a:rPr>
              <a:t>    </a:t>
            </a:r>
            <a:r>
              <a:rPr sz="771" i="0">
                <a:solidFill>
                  <a:srgbClr val="C3A6FF"/>
                </a:solidFill>
                <a:latin typeface="Inconsolata"/>
              </a:rPr>
              <a:t>print</a:t>
            </a:r>
            <a:r>
              <a:rPr sz="771" i="0">
                <a:solidFill>
                  <a:srgbClr val="E6EDF3"/>
                </a:solidFill>
                <a:latin typeface="Inconsolata"/>
              </a:rPr>
              <a:t>(</a:t>
            </a:r>
            <a:r>
              <a:rPr sz="771" i="0">
                <a:solidFill>
                  <a:srgbClr val="A5D6A7"/>
                </a:solidFill>
                <a:latin typeface="Inconsolata"/>
              </a:rPr>
              <a:t>f"  [email] order #{event['id']} terkirim "</a:t>
            </a:r>
          </a:p>
          <a:p>
            <a:pPr>
              <a:lnSpc>
                <a:spcPct val="108035"/>
              </a:lnSpc>
              <a:spcAft>
                <a:spcPts val="0"/>
              </a:spcAft>
            </a:pPr>
            <a:r>
              <a:rPr sz="771" i="0">
                <a:solidFill>
                  <a:srgbClr val="5C6773"/>
                </a:solidFill>
                <a:latin typeface="Inconsolata"/>
              </a:rPr>
              <a:t>29  </a:t>
            </a:r>
            <a:r>
              <a:rPr sz="771" i="0">
                <a:solidFill>
                  <a:srgbClr val="E6EDF3"/>
                </a:solidFill>
                <a:latin typeface="Inconsolata"/>
              </a:rPr>
              <a:t>          </a:t>
            </a:r>
            <a:r>
              <a:rPr sz="771" i="0">
                <a:solidFill>
                  <a:srgbClr val="A5D6A7"/>
                </a:solidFill>
                <a:latin typeface="Inconsolata"/>
              </a:rPr>
              <a:t>f"ke {event['customer']}"</a:t>
            </a:r>
            <a:r>
              <a:rPr sz="771" i="0">
                <a:solidFill>
                  <a:srgbClr val="E6EDF3"/>
                </a:solidFill>
                <a:latin typeface="Inconsolata"/>
              </a:rPr>
              <a: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01-sync-vs-async/after.py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8035"/>
              </a:lnSpc>
              <a:spcAft>
                <a:spcPts val="0"/>
              </a:spcAft>
            </a:pPr>
            <a:r>
              <a:rPr sz="771" i="0">
                <a:solidFill>
                  <a:srgbClr val="5C6773"/>
                </a:solidFill>
                <a:latin typeface="Inconsolata"/>
              </a:rPr>
              <a:t>32  </a:t>
            </a:r>
            <a:r>
              <a:rPr sz="771" i="0">
                <a:solidFill>
                  <a:srgbClr val="FF8E6E"/>
                </a:solidFill>
                <a:latin typeface="Inconsolata"/>
              </a:rPr>
              <a:t>def</a:t>
            </a:r>
            <a:r>
              <a:rPr sz="771" i="0">
                <a:solidFill>
                  <a:srgbClr val="E6EDF3"/>
                </a:solidFill>
                <a:latin typeface="Inconsolata"/>
              </a:rPr>
              <a:t> </a:t>
            </a:r>
            <a:r>
              <a:rPr sz="771" i="0">
                <a:solidFill>
                  <a:srgbClr val="82B1FF"/>
                </a:solidFill>
                <a:latin typeface="Inconsolata"/>
              </a:rPr>
              <a:t>add_points</a:t>
            </a:r>
            <a:r>
              <a:rPr sz="771" i="0">
                <a:solidFill>
                  <a:srgbClr val="E6EDF3"/>
                </a:solidFill>
                <a:latin typeface="Inconsolata"/>
              </a:rPr>
              <a:t>(event):</a:t>
            </a:r>
          </a:p>
          <a:p>
            <a:pPr>
              <a:lnSpc>
                <a:spcPct val="108035"/>
              </a:lnSpc>
              <a:spcAft>
                <a:spcPts val="0"/>
              </a:spcAft>
            </a:pPr>
            <a:r>
              <a:rPr sz="771" i="0">
                <a:solidFill>
                  <a:srgbClr val="5C6773"/>
                </a:solidFill>
                <a:latin typeface="Inconsolata"/>
              </a:rPr>
              <a:t>33  </a:t>
            </a:r>
            <a:r>
              <a:rPr sz="771" i="0">
                <a:solidFill>
                  <a:srgbClr val="E6EDF3"/>
                </a:solidFill>
                <a:latin typeface="Inconsolata"/>
              </a:rPr>
              <a:t>    time.sleep(</a:t>
            </a:r>
            <a:r>
              <a:rPr sz="771" i="0">
                <a:solidFill>
                  <a:srgbClr val="F9C97A"/>
                </a:solidFill>
                <a:latin typeface="Inconsolata"/>
              </a:rPr>
              <a:t>0</a:t>
            </a:r>
            <a:r>
              <a:rPr sz="771" i="0">
                <a:solidFill>
                  <a:srgbClr val="E6EDF3"/>
                </a:solidFill>
                <a:latin typeface="Inconsolata"/>
              </a:rPr>
              <a:t>.</a:t>
            </a:r>
            <a:r>
              <a:rPr sz="771" i="0">
                <a:solidFill>
                  <a:srgbClr val="F9C97A"/>
                </a:solidFill>
                <a:latin typeface="Inconsolata"/>
              </a:rPr>
              <a:t>3</a:t>
            </a:r>
            <a:r>
              <a:rPr sz="771" i="0">
                <a:solidFill>
                  <a:srgbClr val="E6EDF3"/>
                </a:solidFill>
                <a:latin typeface="Inconsolata"/>
              </a:rPr>
              <a:t>)</a:t>
            </a:r>
          </a:p>
          <a:p>
            <a:pPr>
              <a:lnSpc>
                <a:spcPct val="108035"/>
              </a:lnSpc>
              <a:spcAft>
                <a:spcPts val="0"/>
              </a:spcAft>
            </a:pPr>
            <a:r>
              <a:rPr sz="771" i="0">
                <a:solidFill>
                  <a:srgbClr val="5C6773"/>
                </a:solidFill>
                <a:latin typeface="Inconsolata"/>
              </a:rPr>
              <a:t>34  </a:t>
            </a:r>
            <a:r>
              <a:rPr sz="771" i="0">
                <a:solidFill>
                  <a:srgbClr val="E6EDF3"/>
                </a:solidFill>
                <a:latin typeface="Inconsolata"/>
              </a:rPr>
              <a:t>    points = event[</a:t>
            </a:r>
            <a:r>
              <a:rPr sz="771" i="0">
                <a:solidFill>
                  <a:srgbClr val="A5D6A7"/>
                </a:solidFill>
                <a:latin typeface="Inconsolata"/>
              </a:rPr>
              <a:t>"total"</a:t>
            </a:r>
            <a:r>
              <a:rPr sz="771" i="0">
                <a:solidFill>
                  <a:srgbClr val="E6EDF3"/>
                </a:solidFill>
                <a:latin typeface="Inconsolata"/>
              </a:rPr>
              <a:t>] // </a:t>
            </a:r>
            <a:r>
              <a:rPr sz="771" i="0">
                <a:solidFill>
                  <a:srgbClr val="F9C97A"/>
                </a:solidFill>
                <a:latin typeface="Inconsolata"/>
              </a:rPr>
              <a:t>10_000</a:t>
            </a:r>
          </a:p>
          <a:p>
            <a:pPr>
              <a:lnSpc>
                <a:spcPct val="108035"/>
              </a:lnSpc>
              <a:spcAft>
                <a:spcPts val="0"/>
              </a:spcAft>
            </a:pPr>
            <a:r>
              <a:rPr sz="771" i="0">
                <a:solidFill>
                  <a:srgbClr val="5C6773"/>
                </a:solidFill>
                <a:latin typeface="Inconsolata"/>
              </a:rPr>
              <a:t>35  </a:t>
            </a:r>
            <a:r>
              <a:rPr sz="771" i="0">
                <a:solidFill>
                  <a:srgbClr val="E6EDF3"/>
                </a:solidFill>
                <a:latin typeface="Inconsolata"/>
              </a:rPr>
              <a:t>    </a:t>
            </a:r>
            <a:r>
              <a:rPr sz="771" i="0">
                <a:solidFill>
                  <a:srgbClr val="C3A6FF"/>
                </a:solidFill>
                <a:latin typeface="Inconsolata"/>
              </a:rPr>
              <a:t>print</a:t>
            </a:r>
            <a:r>
              <a:rPr sz="771" i="0">
                <a:solidFill>
                  <a:srgbClr val="E6EDF3"/>
                </a:solidFill>
                <a:latin typeface="Inconsolata"/>
              </a:rPr>
              <a:t>(</a:t>
            </a:r>
            <a:r>
              <a:rPr sz="771" i="0">
                <a:solidFill>
                  <a:srgbClr val="A5D6A7"/>
                </a:solidFill>
                <a:latin typeface="Inconsolata"/>
              </a:rPr>
              <a:t>f"  [points] +{points} poin untuk {event['customer']}"</a:t>
            </a:r>
            <a:r>
              <a:rPr sz="771" i="0">
                <a:solidFill>
                  <a:srgbClr val="E6EDF3"/>
                </a:solidFill>
                <a:latin typeface="Inconsolata"/>
              </a:rPr>
              <a:t>)</a:t>
            </a:r>
          </a:p>
          <a:p>
            <a:pPr>
              <a:lnSpc>
                <a:spcPct val="108035"/>
              </a:lnSpc>
              <a:spcAft>
                <a:spcPts val="0"/>
              </a:spcAft>
            </a:pPr>
            <a:r>
              <a:rPr sz="771" i="0">
                <a:solidFill>
                  <a:srgbClr val="5C6773"/>
                </a:solidFill>
                <a:latin typeface="Inconsolata"/>
              </a:rPr>
              <a:t>36  </a:t>
            </a:r>
            <a:r>
              <a:rPr sz="771" i="0">
                <a:solidFill>
                  <a:srgbClr val="E6EDF3"/>
                </a:solidFill>
                <a:latin typeface="Inconsolata"/>
              </a:rPr>
              <a:t> </a:t>
            </a:r>
          </a:p>
          <a:p>
            <a:pPr>
              <a:lnSpc>
                <a:spcPct val="108035"/>
              </a:lnSpc>
              <a:spcAft>
                <a:spcPts val="0"/>
              </a:spcAft>
            </a:pPr>
            <a:r>
              <a:rPr sz="771" i="0">
                <a:solidFill>
                  <a:srgbClr val="5C6773"/>
                </a:solidFill>
                <a:latin typeface="Inconsolata"/>
              </a:rPr>
              <a:t>37  </a:t>
            </a:r>
            <a:r>
              <a:rPr sz="771" i="0">
                <a:solidFill>
                  <a:srgbClr val="E6EDF3"/>
                </a:solidFill>
                <a:latin typeface="Inconsolata"/>
              </a:rPr>
              <a:t> </a:t>
            </a:r>
          </a:p>
          <a:p>
            <a:pPr>
              <a:lnSpc>
                <a:spcPct val="108035"/>
              </a:lnSpc>
              <a:spcAft>
                <a:spcPts val="0"/>
              </a:spcAft>
            </a:pPr>
            <a:r>
              <a:rPr sz="771" i="0">
                <a:solidFill>
                  <a:srgbClr val="5C6773"/>
                </a:solidFill>
                <a:latin typeface="Inconsolata"/>
              </a:rPr>
              <a:t>38  </a:t>
            </a:r>
            <a:r>
              <a:rPr sz="771" i="0">
                <a:solidFill>
                  <a:srgbClr val="FF8E6E"/>
                </a:solidFill>
                <a:latin typeface="Inconsolata"/>
              </a:rPr>
              <a:t>def</a:t>
            </a:r>
            <a:r>
              <a:rPr sz="771" i="0">
                <a:solidFill>
                  <a:srgbClr val="E6EDF3"/>
                </a:solidFill>
                <a:latin typeface="Inconsolata"/>
              </a:rPr>
              <a:t> </a:t>
            </a:r>
            <a:r>
              <a:rPr sz="771" i="0">
                <a:solidFill>
                  <a:srgbClr val="82B1FF"/>
                </a:solidFill>
                <a:latin typeface="Inconsolata"/>
              </a:rPr>
              <a:t>update_analytics</a:t>
            </a:r>
            <a:r>
              <a:rPr sz="771" i="0">
                <a:solidFill>
                  <a:srgbClr val="E6EDF3"/>
                </a:solidFill>
                <a:latin typeface="Inconsolata"/>
              </a:rPr>
              <a:t>(event):</a:t>
            </a:r>
          </a:p>
          <a:p>
            <a:pPr>
              <a:lnSpc>
                <a:spcPct val="108035"/>
              </a:lnSpc>
              <a:spcAft>
                <a:spcPts val="0"/>
              </a:spcAft>
            </a:pPr>
            <a:r>
              <a:rPr sz="771" i="0">
                <a:solidFill>
                  <a:srgbClr val="5C6773"/>
                </a:solidFill>
                <a:latin typeface="Inconsolata"/>
              </a:rPr>
              <a:t>39  </a:t>
            </a:r>
            <a:r>
              <a:rPr sz="771" i="0">
                <a:solidFill>
                  <a:srgbClr val="E6EDF3"/>
                </a:solidFill>
                <a:latin typeface="Inconsolata"/>
              </a:rPr>
              <a:t>    </a:t>
            </a:r>
            <a:r>
              <a:rPr sz="771" i="0">
                <a:solidFill>
                  <a:srgbClr val="FF8E6E"/>
                </a:solidFill>
                <a:latin typeface="Inconsolata"/>
              </a:rPr>
              <a:t>raise</a:t>
            </a:r>
            <a:r>
              <a:rPr sz="771" i="0">
                <a:solidFill>
                  <a:srgbClr val="E6EDF3"/>
                </a:solidFill>
                <a:latin typeface="Inconsolata"/>
              </a:rPr>
              <a:t> </a:t>
            </a:r>
            <a:r>
              <a:rPr sz="771" i="0">
                <a:solidFill>
                  <a:srgbClr val="7FDBCA"/>
                </a:solidFill>
                <a:latin typeface="Inconsolata"/>
              </a:rPr>
              <a:t>ConnectionError</a:t>
            </a:r>
            <a:r>
              <a:rPr sz="771" i="0">
                <a:solidFill>
                  <a:srgbClr val="E6EDF3"/>
                </a:solidFill>
                <a:latin typeface="Inconsolata"/>
              </a:rPr>
              <a:t>(</a:t>
            </a:r>
            <a:r>
              <a:rPr sz="771" i="0">
                <a:solidFill>
                  <a:srgbClr val="A5D6A7"/>
                </a:solidFill>
                <a:latin typeface="Inconsolata"/>
              </a:rPr>
              <a:t>"analytics service tidak merespons"</a:t>
            </a:r>
            <a:r>
              <a:rPr sz="771" i="0">
                <a:solidFill>
                  <a:srgbClr val="E6EDF3"/>
                </a:solidFill>
                <a:latin typeface="Inconsolata"/>
              </a:rPr>
              <a:t>)</a:t>
            </a:r>
          </a:p>
          <a:p>
            <a:pPr>
              <a:lnSpc>
                <a:spcPct val="108035"/>
              </a:lnSpc>
              <a:spcAft>
                <a:spcPts val="0"/>
              </a:spcAft>
            </a:pPr>
            <a:r>
              <a:rPr sz="771" i="0">
                <a:solidFill>
                  <a:srgbClr val="5C6773"/>
                </a:solidFill>
                <a:latin typeface="Inconsolata"/>
              </a:rPr>
              <a:t>40  </a:t>
            </a:r>
            <a:r>
              <a:rPr sz="771" i="0">
                <a:solidFill>
                  <a:srgbClr val="E6EDF3"/>
                </a:solidFill>
                <a:latin typeface="Inconsolata"/>
              </a:rPr>
              <a:t> </a:t>
            </a:r>
          </a:p>
          <a:p>
            <a:pPr>
              <a:lnSpc>
                <a:spcPct val="108035"/>
              </a:lnSpc>
              <a:spcAft>
                <a:spcPts val="0"/>
              </a:spcAft>
            </a:pPr>
            <a:r>
              <a:rPr sz="771" i="0">
                <a:solidFill>
                  <a:srgbClr val="5C6773"/>
                </a:solidFill>
                <a:latin typeface="Inconsolata"/>
              </a:rPr>
              <a:t>41  </a:t>
            </a:r>
            <a:r>
              <a:rPr sz="771" i="0">
                <a:solidFill>
                  <a:srgbClr val="E6EDF3"/>
                </a:solidFill>
                <a:latin typeface="Inconsolata"/>
              </a:rPr>
              <a:t> </a:t>
            </a:r>
          </a:p>
          <a:p>
            <a:pPr>
              <a:lnSpc>
                <a:spcPct val="108035"/>
              </a:lnSpc>
              <a:spcAft>
                <a:spcPts val="0"/>
              </a:spcAft>
            </a:pPr>
            <a:r>
              <a:rPr sz="771" i="0">
                <a:solidFill>
                  <a:srgbClr val="5C6773"/>
                </a:solidFill>
                <a:latin typeface="Inconsolata"/>
              </a:rPr>
              <a:t>42  </a:t>
            </a:r>
            <a:r>
              <a:rPr sz="771" i="0">
                <a:solidFill>
                  <a:srgbClr val="FF8E6E"/>
                </a:solidFill>
                <a:latin typeface="Inconsolata"/>
              </a:rPr>
              <a:t>def</a:t>
            </a:r>
            <a:r>
              <a:rPr sz="771" i="0">
                <a:solidFill>
                  <a:srgbClr val="E6EDF3"/>
                </a:solidFill>
                <a:latin typeface="Inconsolata"/>
              </a:rPr>
              <a:t> </a:t>
            </a:r>
            <a:r>
              <a:rPr sz="771" i="0">
                <a:solidFill>
                  <a:srgbClr val="82B1FF"/>
                </a:solidFill>
                <a:latin typeface="Inconsolata"/>
              </a:rPr>
              <a:t>place_order</a:t>
            </a:r>
            <a:r>
              <a:rPr sz="771" i="0">
                <a:solidFill>
                  <a:srgbClr val="E6EDF3"/>
                </a:solidFill>
                <a:latin typeface="Inconsolata"/>
              </a:rPr>
              <a:t>(order):                       </a:t>
            </a:r>
            <a:r>
              <a:rPr sz="771" i="1">
                <a:solidFill>
                  <a:srgbClr val="8B98A8"/>
                </a:solidFill>
                <a:latin typeface="Inconsolata"/>
              </a:rPr>
              <a:t># producer</a:t>
            </a:r>
          </a:p>
          <a:p>
            <a:pPr>
              <a:lnSpc>
                <a:spcPct val="108035"/>
              </a:lnSpc>
              <a:spcAft>
                <a:spcPts val="0"/>
              </a:spcAft>
            </a:pPr>
            <a:r>
              <a:rPr sz="771" i="0">
                <a:solidFill>
                  <a:srgbClr val="5C6773"/>
                </a:solidFill>
                <a:latin typeface="Inconsolata"/>
              </a:rPr>
              <a:t>43  </a:t>
            </a:r>
            <a:r>
              <a:rPr sz="771" i="0">
                <a:solidFill>
                  <a:srgbClr val="E6EDF3"/>
                </a:solidFill>
                <a:latin typeface="Inconsolata"/>
              </a:rPr>
              <a:t>    reserve_stock(order)</a:t>
            </a:r>
          </a:p>
          <a:p>
            <a:pPr>
              <a:lnSpc>
                <a:spcPct val="108035"/>
              </a:lnSpc>
              <a:spcAft>
                <a:spcPts val="0"/>
              </a:spcAft>
            </a:pPr>
            <a:r>
              <a:rPr sz="771" i="0">
                <a:solidFill>
                  <a:srgbClr val="5C6773"/>
                </a:solidFill>
                <a:latin typeface="Inconsolata"/>
              </a:rPr>
              <a:t>44  </a:t>
            </a:r>
            <a:r>
              <a:rPr sz="771" i="0">
                <a:solidFill>
                  <a:srgbClr val="E6EDF3"/>
                </a:solidFill>
                <a:latin typeface="Inconsolata"/>
              </a:rPr>
              <a:t>    </a:t>
            </a:r>
            <a:r>
              <a:rPr sz="771" i="0">
                <a:solidFill>
                  <a:srgbClr val="C3A6FF"/>
                </a:solidFill>
                <a:latin typeface="Inconsolata"/>
              </a:rPr>
              <a:t>print</a:t>
            </a:r>
            <a:r>
              <a:rPr sz="771" i="0">
                <a:solidFill>
                  <a:srgbClr val="E6EDF3"/>
                </a:solidFill>
                <a:latin typeface="Inconsolata"/>
              </a:rPr>
              <a:t>(</a:t>
            </a:r>
            <a:r>
              <a:rPr sz="771" i="0">
                <a:solidFill>
                  <a:srgbClr val="A5D6A7"/>
                </a:solidFill>
                <a:latin typeface="Inconsolata"/>
              </a:rPr>
              <a:t>f"  [order] order #{order['id']} disimpan"</a:t>
            </a:r>
            <a:r>
              <a:rPr sz="771" i="0">
                <a:solidFill>
                  <a:srgbClr val="E6EDF3"/>
                </a:solidFill>
                <a:latin typeface="Inconsolata"/>
              </a:rPr>
              <a:t>)</a:t>
            </a:r>
          </a:p>
          <a:p>
            <a:pPr>
              <a:lnSpc>
                <a:spcPct val="108035"/>
              </a:lnSpc>
              <a:spcAft>
                <a:spcPts val="0"/>
              </a:spcAft>
            </a:pPr>
            <a:r>
              <a:rPr sz="771" i="0">
                <a:solidFill>
                  <a:srgbClr val="5C6773"/>
                </a:solidFill>
                <a:latin typeface="Inconsolata"/>
              </a:rPr>
              <a:t>45  </a:t>
            </a:r>
            <a:r>
              <a:rPr sz="771" i="0">
                <a:solidFill>
                  <a:srgbClr val="E6EDF3"/>
                </a:solidFill>
                <a:latin typeface="Inconsolata"/>
              </a:rPr>
              <a:t>    </a:t>
            </a:r>
            <a:r>
              <a:rPr sz="771" i="1">
                <a:solidFill>
                  <a:srgbClr val="8B98A8"/>
                </a:solidFill>
                <a:latin typeface="Inconsolata"/>
              </a:rPr>
              <a:t># kirim event ke queue, tidak menunggu siapa pun</a:t>
            </a:r>
          </a:p>
          <a:p>
            <a:pPr>
              <a:lnSpc>
                <a:spcPct val="108035"/>
              </a:lnSpc>
              <a:spcAft>
                <a:spcPts val="0"/>
              </a:spcAft>
            </a:pPr>
            <a:r>
              <a:rPr sz="771" i="0">
                <a:solidFill>
                  <a:srgbClr val="5C6773"/>
                </a:solidFill>
                <a:latin typeface="Inconsolata"/>
              </a:rPr>
              <a:t>46  </a:t>
            </a:r>
            <a:r>
              <a:rPr sz="771" i="0">
                <a:solidFill>
                  <a:srgbClr val="E6EDF3"/>
                </a:solidFill>
                <a:latin typeface="Inconsolata"/>
              </a:rPr>
              <a:t>    events.put({</a:t>
            </a:r>
            <a:r>
              <a:rPr sz="771" i="0">
                <a:solidFill>
                  <a:srgbClr val="A5D6A7"/>
                </a:solidFill>
                <a:latin typeface="Inconsolata"/>
              </a:rPr>
              <a:t>"type"</a:t>
            </a:r>
            <a:r>
              <a:rPr sz="771" i="0">
                <a:solidFill>
                  <a:srgbClr val="E6EDF3"/>
                </a:solidFill>
                <a:latin typeface="Inconsolata"/>
              </a:rPr>
              <a:t>: </a:t>
            </a:r>
            <a:r>
              <a:rPr sz="771" i="0">
                <a:solidFill>
                  <a:srgbClr val="A5D6A7"/>
                </a:solidFill>
                <a:latin typeface="Inconsolata"/>
              </a:rPr>
              <a:t>"order.placed"</a:t>
            </a:r>
            <a:r>
              <a:rPr sz="771" i="0">
                <a:solidFill>
                  <a:srgbClr val="E6EDF3"/>
                </a:solidFill>
                <a:latin typeface="Inconsolata"/>
              </a:rPr>
              <a:t>, **order})</a:t>
            </a:r>
          </a:p>
          <a:p>
            <a:pPr>
              <a:lnSpc>
                <a:spcPct val="108035"/>
              </a:lnSpc>
              <a:spcAft>
                <a:spcPts val="0"/>
              </a:spcAft>
            </a:pPr>
            <a:r>
              <a:rPr sz="771" i="0">
                <a:solidFill>
                  <a:srgbClr val="5C6773"/>
                </a:solidFill>
                <a:latin typeface="Inconsolata"/>
              </a:rPr>
              <a:t>47  </a:t>
            </a:r>
            <a:r>
              <a:rPr sz="771" i="0">
                <a:solidFill>
                  <a:srgbClr val="E6EDF3"/>
                </a:solidFill>
                <a:latin typeface="Inconsolata"/>
              </a:rPr>
              <a:t>    </a:t>
            </a:r>
            <a:r>
              <a:rPr sz="771" i="0">
                <a:solidFill>
                  <a:srgbClr val="FF8E6E"/>
                </a:solidFill>
                <a:latin typeface="Inconsolata"/>
              </a:rPr>
              <a:t>return</a:t>
            </a:r>
            <a:r>
              <a:rPr sz="771" i="0">
                <a:solidFill>
                  <a:srgbClr val="E6EDF3"/>
                </a:solidFill>
                <a:latin typeface="Inconsolata"/>
              </a:rPr>
              <a:t> order</a:t>
            </a:r>
          </a:p>
        </p:txBody>
      </p:sp>
      <p:sp>
        <p:nvSpPr>
          <p:cNvPr id="36" name="Box 21"/>
          <p:cNvSpPr/>
          <p:nvPr/>
        </p:nvSpPr>
        <p:spPr>
          <a:xfrm>
            <a:off x="4709159" y="3605022"/>
            <a:ext cx="3694176"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8284463" y="3545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Event-Driven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producer dan consumer (2/2)</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01-sync-vs-async/after.py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11166"/>
              </a:lnSpc>
              <a:spcAft>
                <a:spcPts val="0"/>
              </a:spcAft>
            </a:pPr>
            <a:r>
              <a:rPr sz="749" i="0">
                <a:solidFill>
                  <a:srgbClr val="5C6773"/>
                </a:solidFill>
                <a:latin typeface="Inconsolata"/>
              </a:rPr>
              <a:t>50  </a:t>
            </a:r>
            <a:r>
              <a:rPr sz="749" i="0">
                <a:solidFill>
                  <a:srgbClr val="7FDBCA"/>
                </a:solidFill>
                <a:latin typeface="Inconsolata"/>
              </a:rPr>
              <a:t>HANDLERS</a:t>
            </a:r>
            <a:r>
              <a:rPr sz="749" i="0">
                <a:solidFill>
                  <a:srgbClr val="E6EDF3"/>
                </a:solidFill>
                <a:latin typeface="Inconsolata"/>
              </a:rPr>
              <a:t> = [send_email, add_points, update_analytics]</a:t>
            </a:r>
          </a:p>
          <a:p>
            <a:pPr>
              <a:lnSpc>
                <a:spcPct val="111166"/>
              </a:lnSpc>
              <a:spcAft>
                <a:spcPts val="0"/>
              </a:spcAft>
            </a:pPr>
            <a:r>
              <a:rPr sz="749" i="0">
                <a:solidFill>
                  <a:srgbClr val="5C6773"/>
                </a:solidFill>
                <a:latin typeface="Inconsolata"/>
              </a:rPr>
              <a:t>51  </a:t>
            </a:r>
            <a:r>
              <a:rPr sz="749" i="0">
                <a:solidFill>
                  <a:srgbClr val="E6EDF3"/>
                </a:solidFill>
                <a:latin typeface="Inconsolata"/>
              </a:rPr>
              <a:t> </a:t>
            </a:r>
          </a:p>
          <a:p>
            <a:pPr>
              <a:lnSpc>
                <a:spcPct val="111166"/>
              </a:lnSpc>
              <a:spcAft>
                <a:spcPts val="0"/>
              </a:spcAft>
            </a:pPr>
            <a:r>
              <a:rPr sz="749" i="0">
                <a:solidFill>
                  <a:srgbClr val="5C6773"/>
                </a:solidFill>
                <a:latin typeface="Inconsolata"/>
              </a:rPr>
              <a:t>52  </a:t>
            </a:r>
            <a:r>
              <a:rPr sz="749" i="0">
                <a:solidFill>
                  <a:srgbClr val="E6EDF3"/>
                </a:solidFill>
                <a:latin typeface="Inconsolata"/>
              </a:rPr>
              <a:t> </a:t>
            </a:r>
          </a:p>
          <a:p>
            <a:pPr>
              <a:lnSpc>
                <a:spcPct val="111166"/>
              </a:lnSpc>
              <a:spcAft>
                <a:spcPts val="0"/>
              </a:spcAft>
            </a:pPr>
            <a:r>
              <a:rPr sz="749" i="0">
                <a:solidFill>
                  <a:srgbClr val="5C6773"/>
                </a:solidFill>
                <a:latin typeface="Inconsolata"/>
              </a:rPr>
              <a:t>53  </a:t>
            </a:r>
            <a:r>
              <a:rPr sz="749" i="0">
                <a:solidFill>
                  <a:srgbClr val="FF8E6E"/>
                </a:solidFill>
                <a:latin typeface="Inconsolata"/>
              </a:rPr>
              <a:t>def</a:t>
            </a:r>
            <a:r>
              <a:rPr sz="749" i="0">
                <a:solidFill>
                  <a:srgbClr val="E6EDF3"/>
                </a:solidFill>
                <a:latin typeface="Inconsolata"/>
              </a:rPr>
              <a:t> </a:t>
            </a:r>
            <a:r>
              <a:rPr sz="749" i="0">
                <a:solidFill>
                  <a:srgbClr val="82B1FF"/>
                </a:solidFill>
                <a:latin typeface="Inconsolata"/>
              </a:rPr>
              <a:t>consumer</a:t>
            </a:r>
            <a:r>
              <a:rPr sz="749" i="0">
                <a:solidFill>
                  <a:srgbClr val="E6EDF3"/>
                </a:solidFill>
                <a:latin typeface="Inconsolata"/>
              </a:rPr>
              <a:t>():</a:t>
            </a:r>
          </a:p>
          <a:p>
            <a:pPr>
              <a:lnSpc>
                <a:spcPct val="111166"/>
              </a:lnSpc>
              <a:spcAft>
                <a:spcPts val="0"/>
              </a:spcAft>
            </a:pPr>
            <a:r>
              <a:rPr sz="749" i="0">
                <a:solidFill>
                  <a:srgbClr val="5C6773"/>
                </a:solidFill>
                <a:latin typeface="Inconsolata"/>
              </a:rPr>
              <a:t>54  </a:t>
            </a:r>
            <a:r>
              <a:rPr sz="749" i="0">
                <a:solidFill>
                  <a:srgbClr val="E6EDF3"/>
                </a:solidFill>
                <a:latin typeface="Inconsolata"/>
              </a:rPr>
              <a:t>    </a:t>
            </a:r>
            <a:r>
              <a:rPr sz="749" i="0">
                <a:solidFill>
                  <a:srgbClr val="FF8E6E"/>
                </a:solidFill>
                <a:latin typeface="Inconsolata"/>
              </a:rPr>
              <a:t>while</a:t>
            </a:r>
            <a:r>
              <a:rPr sz="749" i="0">
                <a:solidFill>
                  <a:srgbClr val="E6EDF3"/>
                </a:solidFill>
                <a:latin typeface="Inconsolata"/>
              </a:rPr>
              <a:t> </a:t>
            </a:r>
            <a:r>
              <a:rPr sz="749" i="0">
                <a:solidFill>
                  <a:srgbClr val="FF8E6E"/>
                </a:solidFill>
                <a:latin typeface="Inconsolata"/>
              </a:rPr>
              <a:t>True</a:t>
            </a:r>
            <a:r>
              <a:rPr sz="749" i="0">
                <a:solidFill>
                  <a:srgbClr val="E6EDF3"/>
                </a:solidFill>
                <a:latin typeface="Inconsolata"/>
              </a:rPr>
              <a:t>:</a:t>
            </a:r>
          </a:p>
          <a:p>
            <a:pPr>
              <a:lnSpc>
                <a:spcPct val="111166"/>
              </a:lnSpc>
              <a:spcAft>
                <a:spcPts val="0"/>
              </a:spcAft>
            </a:pPr>
            <a:r>
              <a:rPr sz="749" i="0">
                <a:solidFill>
                  <a:srgbClr val="5C6773"/>
                </a:solidFill>
                <a:latin typeface="Inconsolata"/>
              </a:rPr>
              <a:t>55  </a:t>
            </a:r>
            <a:r>
              <a:rPr sz="749" i="0">
                <a:solidFill>
                  <a:srgbClr val="E6EDF3"/>
                </a:solidFill>
                <a:latin typeface="Inconsolata"/>
              </a:rPr>
              <a:t>        event = events.get()</a:t>
            </a:r>
          </a:p>
          <a:p>
            <a:pPr>
              <a:lnSpc>
                <a:spcPct val="111166"/>
              </a:lnSpc>
              <a:spcAft>
                <a:spcPts val="0"/>
              </a:spcAft>
            </a:pPr>
            <a:r>
              <a:rPr sz="749" i="0">
                <a:solidFill>
                  <a:srgbClr val="5C6773"/>
                </a:solidFill>
                <a:latin typeface="Inconsolata"/>
              </a:rPr>
              <a:t>56  </a:t>
            </a:r>
            <a:r>
              <a:rPr sz="749" i="0">
                <a:solidFill>
                  <a:srgbClr val="E6EDF3"/>
                </a:solidFill>
                <a:latin typeface="Inconsolata"/>
              </a:rPr>
              <a:t>        </a:t>
            </a:r>
            <a:r>
              <a:rPr sz="749" i="0">
                <a:solidFill>
                  <a:srgbClr val="FF8E6E"/>
                </a:solidFill>
                <a:latin typeface="Inconsolata"/>
              </a:rPr>
              <a:t>for</a:t>
            </a:r>
            <a:r>
              <a:rPr sz="749" i="0">
                <a:solidFill>
                  <a:srgbClr val="E6EDF3"/>
                </a:solidFill>
                <a:latin typeface="Inconsolata"/>
              </a:rPr>
              <a:t> handler </a:t>
            </a:r>
            <a:r>
              <a:rPr sz="749" i="0">
                <a:solidFill>
                  <a:srgbClr val="FF8E6E"/>
                </a:solidFill>
                <a:latin typeface="Inconsolata"/>
              </a:rPr>
              <a:t>in</a:t>
            </a:r>
            <a:r>
              <a:rPr sz="749" i="0">
                <a:solidFill>
                  <a:srgbClr val="E6EDF3"/>
                </a:solidFill>
                <a:latin typeface="Inconsolata"/>
              </a:rPr>
              <a:t> </a:t>
            </a:r>
            <a:r>
              <a:rPr sz="749" i="0">
                <a:solidFill>
                  <a:srgbClr val="7FDBCA"/>
                </a:solidFill>
                <a:latin typeface="Inconsolata"/>
              </a:rPr>
              <a:t>HANDLERS</a:t>
            </a:r>
            <a:r>
              <a:rPr sz="749" i="0">
                <a:solidFill>
                  <a:srgbClr val="E6EDF3"/>
                </a:solidFill>
                <a:latin typeface="Inconsolata"/>
              </a:rPr>
              <a:t>:</a:t>
            </a:r>
          </a:p>
          <a:p>
            <a:pPr>
              <a:lnSpc>
                <a:spcPct val="111166"/>
              </a:lnSpc>
              <a:spcAft>
                <a:spcPts val="0"/>
              </a:spcAft>
            </a:pPr>
            <a:r>
              <a:rPr sz="749" i="0">
                <a:solidFill>
                  <a:srgbClr val="5C6773"/>
                </a:solidFill>
                <a:latin typeface="Inconsolata"/>
              </a:rPr>
              <a:t>57  </a:t>
            </a:r>
            <a:r>
              <a:rPr sz="749" i="0">
                <a:solidFill>
                  <a:srgbClr val="E6EDF3"/>
                </a:solidFill>
                <a:latin typeface="Inconsolata"/>
              </a:rPr>
              <a:t>            </a:t>
            </a:r>
            <a:r>
              <a:rPr sz="749" i="0">
                <a:solidFill>
                  <a:srgbClr val="FF8E6E"/>
                </a:solidFill>
                <a:latin typeface="Inconsolata"/>
              </a:rPr>
              <a:t>try</a:t>
            </a:r>
            <a:r>
              <a:rPr sz="749" i="0">
                <a:solidFill>
                  <a:srgbClr val="E6EDF3"/>
                </a:solidFill>
                <a:latin typeface="Inconsolata"/>
              </a:rPr>
              <a:t>:</a:t>
            </a:r>
          </a:p>
          <a:p>
            <a:pPr>
              <a:lnSpc>
                <a:spcPct val="111166"/>
              </a:lnSpc>
              <a:spcAft>
                <a:spcPts val="0"/>
              </a:spcAft>
            </a:pPr>
            <a:r>
              <a:rPr sz="749" i="0">
                <a:solidFill>
                  <a:srgbClr val="5C6773"/>
                </a:solidFill>
                <a:latin typeface="Inconsolata"/>
              </a:rPr>
              <a:t>58  </a:t>
            </a:r>
            <a:r>
              <a:rPr sz="749" i="0">
                <a:solidFill>
                  <a:srgbClr val="E6EDF3"/>
                </a:solidFill>
                <a:latin typeface="Inconsolata"/>
              </a:rPr>
              <a:t>                handler(event)</a:t>
            </a:r>
          </a:p>
          <a:p>
            <a:pPr>
              <a:lnSpc>
                <a:spcPct val="111166"/>
              </a:lnSpc>
              <a:spcAft>
                <a:spcPts val="0"/>
              </a:spcAft>
            </a:pPr>
            <a:r>
              <a:rPr sz="749" i="0">
                <a:solidFill>
                  <a:srgbClr val="5C6773"/>
                </a:solidFill>
                <a:latin typeface="Inconsolata"/>
              </a:rPr>
              <a:t>59  </a:t>
            </a:r>
            <a:r>
              <a:rPr sz="749" i="0">
                <a:solidFill>
                  <a:srgbClr val="E6EDF3"/>
                </a:solidFill>
                <a:latin typeface="Inconsolata"/>
              </a:rPr>
              <a:t>            </a:t>
            </a:r>
            <a:r>
              <a:rPr sz="749" i="0">
                <a:solidFill>
                  <a:srgbClr val="FF8E6E"/>
                </a:solidFill>
                <a:latin typeface="Inconsolata"/>
              </a:rPr>
              <a:t>except</a:t>
            </a:r>
            <a:r>
              <a:rPr sz="749" i="0">
                <a:solidFill>
                  <a:srgbClr val="E6EDF3"/>
                </a:solidFill>
                <a:latin typeface="Inconsolata"/>
              </a:rPr>
              <a:t> </a:t>
            </a:r>
            <a:r>
              <a:rPr sz="749" i="0">
                <a:solidFill>
                  <a:srgbClr val="7FDBCA"/>
                </a:solidFill>
                <a:latin typeface="Inconsolata"/>
              </a:rPr>
              <a:t>ConnectionError</a:t>
            </a:r>
            <a:r>
              <a:rPr sz="749" i="0">
                <a:solidFill>
                  <a:srgbClr val="E6EDF3"/>
                </a:solidFill>
                <a:latin typeface="Inconsolata"/>
              </a:rPr>
              <a:t> </a:t>
            </a:r>
            <a:r>
              <a:rPr sz="749" i="0">
                <a:solidFill>
                  <a:srgbClr val="FF8E6E"/>
                </a:solidFill>
                <a:latin typeface="Inconsolata"/>
              </a:rPr>
              <a:t>as</a:t>
            </a:r>
            <a:r>
              <a:rPr sz="749" i="0">
                <a:solidFill>
                  <a:srgbClr val="E6EDF3"/>
                </a:solidFill>
                <a:latin typeface="Inconsolata"/>
              </a:rPr>
              <a:t> exc:</a:t>
            </a:r>
          </a:p>
          <a:p>
            <a:pPr>
              <a:lnSpc>
                <a:spcPct val="111166"/>
              </a:lnSpc>
              <a:spcAft>
                <a:spcPts val="0"/>
              </a:spcAft>
            </a:pPr>
            <a:r>
              <a:rPr sz="749" i="0">
                <a:solidFill>
                  <a:srgbClr val="5C6773"/>
                </a:solidFill>
                <a:latin typeface="Inconsolata"/>
              </a:rPr>
              <a:t>60  </a:t>
            </a:r>
            <a:r>
              <a:rPr sz="749" i="0">
                <a:solidFill>
                  <a:srgbClr val="E6EDF3"/>
                </a:solidFill>
                <a:latin typeface="Inconsolata"/>
              </a:rPr>
              <a:t>                </a:t>
            </a:r>
            <a:r>
              <a:rPr sz="749" i="0">
                <a:solidFill>
                  <a:srgbClr val="C3A6FF"/>
                </a:solidFill>
                <a:latin typeface="Inconsolata"/>
              </a:rPr>
              <a:t>print</a:t>
            </a:r>
            <a:r>
              <a:rPr sz="749" i="0">
                <a:solidFill>
                  <a:srgbClr val="E6EDF3"/>
                </a:solidFill>
                <a:latin typeface="Inconsolata"/>
              </a:rPr>
              <a:t>(</a:t>
            </a:r>
            <a:r>
              <a:rPr sz="749" i="0">
                <a:solidFill>
                  <a:srgbClr val="A5D6A7"/>
                </a:solidFill>
                <a:latin typeface="Inconsolata"/>
              </a:rPr>
              <a:t>f"  [consumer] {handler.__name__} gagal, "</a:t>
            </a:r>
          </a:p>
          <a:p>
            <a:pPr>
              <a:lnSpc>
                <a:spcPct val="111166"/>
              </a:lnSpc>
              <a:spcAft>
                <a:spcPts val="0"/>
              </a:spcAft>
            </a:pPr>
            <a:r>
              <a:rPr sz="749" i="0">
                <a:solidFill>
                  <a:srgbClr val="5C6773"/>
                </a:solidFill>
                <a:latin typeface="Inconsolata"/>
              </a:rPr>
              <a:t>61  </a:t>
            </a:r>
            <a:r>
              <a:rPr sz="749" i="0">
                <a:solidFill>
                  <a:srgbClr val="E6EDF3"/>
                </a:solidFill>
                <a:latin typeface="Inconsolata"/>
              </a:rPr>
              <a:t>                      </a:t>
            </a:r>
            <a:r>
              <a:rPr sz="749" i="0">
                <a:solidFill>
                  <a:srgbClr val="A5D6A7"/>
                </a:solidFill>
                <a:latin typeface="Inconsolata"/>
              </a:rPr>
              <a:t>f"dicoba lagi nanti: {exc}"</a:t>
            </a:r>
            <a:r>
              <a:rPr sz="749" i="0">
                <a:solidFill>
                  <a:srgbClr val="E6EDF3"/>
                </a:solidFill>
                <a:latin typeface="Inconsolata"/>
              </a:rPr>
              <a:t>)</a:t>
            </a:r>
          </a:p>
          <a:p>
            <a:pPr>
              <a:lnSpc>
                <a:spcPct val="111166"/>
              </a:lnSpc>
              <a:spcAft>
                <a:spcPts val="0"/>
              </a:spcAft>
            </a:pPr>
            <a:r>
              <a:rPr sz="749" i="0">
                <a:solidFill>
                  <a:srgbClr val="5C6773"/>
                </a:solidFill>
                <a:latin typeface="Inconsolata"/>
              </a:rPr>
              <a:t>62  </a:t>
            </a:r>
            <a:r>
              <a:rPr sz="749" i="0">
                <a:solidFill>
                  <a:srgbClr val="E6EDF3"/>
                </a:solidFill>
                <a:latin typeface="Inconsolata"/>
              </a:rPr>
              <a:t>        events.task_done()</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01-sync-vs-async/after.py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11166"/>
              </a:lnSpc>
              <a:spcAft>
                <a:spcPts val="0"/>
              </a:spcAft>
            </a:pPr>
            <a:r>
              <a:rPr sz="749" i="0">
                <a:solidFill>
                  <a:srgbClr val="5C6773"/>
                </a:solidFill>
                <a:latin typeface="Inconsolata"/>
              </a:rPr>
              <a:t>65  </a:t>
            </a:r>
            <a:r>
              <a:rPr sz="749" i="0">
                <a:solidFill>
                  <a:srgbClr val="FF8E6E"/>
                </a:solidFill>
                <a:latin typeface="Inconsolata"/>
              </a:rPr>
              <a:t>if</a:t>
            </a:r>
            <a:r>
              <a:rPr sz="749" i="0">
                <a:solidFill>
                  <a:srgbClr val="E6EDF3"/>
                </a:solidFill>
                <a:latin typeface="Inconsolata"/>
              </a:rPr>
              <a:t> __name__ == </a:t>
            </a:r>
            <a:r>
              <a:rPr sz="749" i="0">
                <a:solidFill>
                  <a:srgbClr val="A5D6A7"/>
                </a:solidFill>
                <a:latin typeface="Inconsolata"/>
              </a:rPr>
              <a:t>"__main__"</a:t>
            </a:r>
            <a:r>
              <a:rPr sz="749" i="0">
                <a:solidFill>
                  <a:srgbClr val="E6EDF3"/>
                </a:solidFill>
                <a:latin typeface="Inconsolata"/>
              </a:rPr>
              <a:t>:</a:t>
            </a:r>
          </a:p>
          <a:p>
            <a:pPr>
              <a:lnSpc>
                <a:spcPct val="111166"/>
              </a:lnSpc>
              <a:spcAft>
                <a:spcPts val="0"/>
              </a:spcAft>
            </a:pPr>
            <a:r>
              <a:rPr sz="749" i="0">
                <a:solidFill>
                  <a:srgbClr val="5C6773"/>
                </a:solidFill>
                <a:latin typeface="Inconsolata"/>
              </a:rPr>
              <a:t>66  </a:t>
            </a:r>
            <a:r>
              <a:rPr sz="749" i="0">
                <a:solidFill>
                  <a:srgbClr val="E6EDF3"/>
                </a:solidFill>
                <a:latin typeface="Inconsolata"/>
              </a:rPr>
              <a:t>    threading.</a:t>
            </a:r>
            <a:r>
              <a:rPr sz="749" i="0">
                <a:solidFill>
                  <a:srgbClr val="7FDBCA"/>
                </a:solidFill>
                <a:latin typeface="Inconsolata"/>
              </a:rPr>
              <a:t>Thread</a:t>
            </a:r>
            <a:r>
              <a:rPr sz="749" i="0">
                <a:solidFill>
                  <a:srgbClr val="E6EDF3"/>
                </a:solidFill>
                <a:latin typeface="Inconsolata"/>
              </a:rPr>
              <a:t>(target=consumer, daemon=</a:t>
            </a:r>
            <a:r>
              <a:rPr sz="749" i="0">
                <a:solidFill>
                  <a:srgbClr val="FF8E6E"/>
                </a:solidFill>
                <a:latin typeface="Inconsolata"/>
              </a:rPr>
              <a:t>True</a:t>
            </a:r>
            <a:r>
              <a:rPr sz="749" i="0">
                <a:solidFill>
                  <a:srgbClr val="E6EDF3"/>
                </a:solidFill>
                <a:latin typeface="Inconsolata"/>
              </a:rPr>
              <a:t>).start()</a:t>
            </a:r>
          </a:p>
          <a:p>
            <a:pPr>
              <a:lnSpc>
                <a:spcPct val="111166"/>
              </a:lnSpc>
              <a:spcAft>
                <a:spcPts val="0"/>
              </a:spcAft>
            </a:pPr>
            <a:r>
              <a:rPr sz="749" i="0">
                <a:solidFill>
                  <a:srgbClr val="5C6773"/>
                </a:solidFill>
                <a:latin typeface="Inconsolata"/>
              </a:rPr>
              <a:t>67  </a:t>
            </a:r>
            <a:r>
              <a:rPr sz="749" i="0">
                <a:solidFill>
                  <a:srgbClr val="E6EDF3"/>
                </a:solidFill>
                <a:latin typeface="Inconsolata"/>
              </a:rPr>
              <a:t> </a:t>
            </a:r>
          </a:p>
          <a:p>
            <a:pPr>
              <a:lnSpc>
                <a:spcPct val="111166"/>
              </a:lnSpc>
              <a:spcAft>
                <a:spcPts val="0"/>
              </a:spcAft>
            </a:pPr>
            <a:r>
              <a:rPr sz="749" i="0">
                <a:solidFill>
                  <a:srgbClr val="5C6773"/>
                </a:solidFill>
                <a:latin typeface="Inconsolata"/>
              </a:rPr>
              <a:t>68  </a:t>
            </a:r>
            <a:r>
              <a:rPr sz="749" i="0">
                <a:solidFill>
                  <a:srgbClr val="E6EDF3"/>
                </a:solidFill>
                <a:latin typeface="Inconsolata"/>
              </a:rPr>
              <a:t>    start = time.perf_counter()</a:t>
            </a:r>
          </a:p>
          <a:p>
            <a:pPr>
              <a:lnSpc>
                <a:spcPct val="111166"/>
              </a:lnSpc>
              <a:spcAft>
                <a:spcPts val="0"/>
              </a:spcAft>
            </a:pPr>
            <a:r>
              <a:rPr sz="749" i="0">
                <a:solidFill>
                  <a:srgbClr val="5C6773"/>
                </a:solidFill>
                <a:latin typeface="Inconsolata"/>
              </a:rPr>
              <a:t>69  </a:t>
            </a:r>
            <a:r>
              <a:rPr sz="749" i="0">
                <a:solidFill>
                  <a:srgbClr val="E6EDF3"/>
                </a:solidFill>
                <a:latin typeface="Inconsolata"/>
              </a:rPr>
              <a:t>    place_order({</a:t>
            </a:r>
            <a:r>
              <a:rPr sz="749" i="0">
                <a:solidFill>
                  <a:srgbClr val="A5D6A7"/>
                </a:solidFill>
                <a:latin typeface="Inconsolata"/>
              </a:rPr>
              <a:t>"id"</a:t>
            </a:r>
            <a:r>
              <a:rPr sz="749" i="0">
                <a:solidFill>
                  <a:srgbClr val="E6EDF3"/>
                </a:solidFill>
                <a:latin typeface="Inconsolata"/>
              </a:rPr>
              <a:t>: </a:t>
            </a:r>
            <a:r>
              <a:rPr sz="749" i="0">
                <a:solidFill>
                  <a:srgbClr val="F9C97A"/>
                </a:solidFill>
                <a:latin typeface="Inconsolata"/>
              </a:rPr>
              <a:t>1</a:t>
            </a:r>
            <a:r>
              <a:rPr sz="749" i="0">
                <a:solidFill>
                  <a:srgbClr val="E6EDF3"/>
                </a:solidFill>
                <a:latin typeface="Inconsolata"/>
              </a:rPr>
              <a:t>, </a:t>
            </a:r>
            <a:r>
              <a:rPr sz="749" i="0">
                <a:solidFill>
                  <a:srgbClr val="A5D6A7"/>
                </a:solidFill>
                <a:latin typeface="Inconsolata"/>
              </a:rPr>
              <a:t>"customer"</a:t>
            </a:r>
            <a:r>
              <a:rPr sz="749" i="0">
                <a:solidFill>
                  <a:srgbClr val="E6EDF3"/>
                </a:solidFill>
                <a:latin typeface="Inconsolata"/>
              </a:rPr>
              <a:t>: </a:t>
            </a:r>
            <a:r>
              <a:rPr sz="749" i="0">
                <a:solidFill>
                  <a:srgbClr val="A5D6A7"/>
                </a:solidFill>
                <a:latin typeface="Inconsolata"/>
              </a:rPr>
              <a:t>"budi@mail.com"</a:t>
            </a:r>
            <a:r>
              <a:rPr sz="749" i="0">
                <a:solidFill>
                  <a:srgbClr val="E6EDF3"/>
                </a:solidFill>
                <a:latin typeface="Inconsolata"/>
              </a:rPr>
              <a:t>,</a:t>
            </a:r>
          </a:p>
          <a:p>
            <a:pPr>
              <a:lnSpc>
                <a:spcPct val="111166"/>
              </a:lnSpc>
              <a:spcAft>
                <a:spcPts val="0"/>
              </a:spcAft>
            </a:pPr>
            <a:r>
              <a:rPr sz="749" i="0">
                <a:solidFill>
                  <a:srgbClr val="5C6773"/>
                </a:solidFill>
                <a:latin typeface="Inconsolata"/>
              </a:rPr>
              <a:t>70  </a:t>
            </a:r>
            <a:r>
              <a:rPr sz="749" i="0">
                <a:solidFill>
                  <a:srgbClr val="E6EDF3"/>
                </a:solidFill>
                <a:latin typeface="Inconsolata"/>
              </a:rPr>
              <a:t>                 </a:t>
            </a:r>
            <a:r>
              <a:rPr sz="749" i="0">
                <a:solidFill>
                  <a:srgbClr val="A5D6A7"/>
                </a:solidFill>
                <a:latin typeface="Inconsolata"/>
              </a:rPr>
              <a:t>"total"</a:t>
            </a:r>
            <a:r>
              <a:rPr sz="749" i="0">
                <a:solidFill>
                  <a:srgbClr val="E6EDF3"/>
                </a:solidFill>
                <a:latin typeface="Inconsolata"/>
              </a:rPr>
              <a:t>: </a:t>
            </a:r>
            <a:r>
              <a:rPr sz="749" i="0">
                <a:solidFill>
                  <a:srgbClr val="F9C97A"/>
                </a:solidFill>
                <a:latin typeface="Inconsolata"/>
              </a:rPr>
              <a:t>900_000</a:t>
            </a:r>
            <a:r>
              <a:rPr sz="749" i="0">
                <a:solidFill>
                  <a:srgbClr val="E6EDF3"/>
                </a:solidFill>
                <a:latin typeface="Inconsolata"/>
              </a:rPr>
              <a:t>})</a:t>
            </a:r>
          </a:p>
          <a:p>
            <a:pPr>
              <a:lnSpc>
                <a:spcPct val="111166"/>
              </a:lnSpc>
              <a:spcAft>
                <a:spcPts val="0"/>
              </a:spcAft>
            </a:pPr>
            <a:r>
              <a:rPr sz="749" i="0">
                <a:solidFill>
                  <a:srgbClr val="5C6773"/>
                </a:solidFill>
                <a:latin typeface="Inconsolata"/>
              </a:rPr>
              <a:t>71  </a:t>
            </a:r>
            <a:r>
              <a:rPr sz="749" i="0">
                <a:solidFill>
                  <a:srgbClr val="E6EDF3"/>
                </a:solidFill>
                <a:latin typeface="Inconsolata"/>
              </a:rPr>
              <a:t>    </a:t>
            </a:r>
            <a:r>
              <a:rPr sz="749" i="0">
                <a:solidFill>
                  <a:srgbClr val="C3A6FF"/>
                </a:solidFill>
                <a:latin typeface="Inconsolata"/>
              </a:rPr>
              <a:t>print</a:t>
            </a:r>
            <a:r>
              <a:rPr sz="749" i="0">
                <a:solidFill>
                  <a:srgbClr val="E6EDF3"/>
                </a:solidFill>
                <a:latin typeface="Inconsolata"/>
              </a:rPr>
              <a:t>(</a:t>
            </a:r>
            <a:r>
              <a:rPr sz="749" i="0">
                <a:solidFill>
                  <a:srgbClr val="A5D6A7"/>
                </a:solidFill>
                <a:latin typeface="Inconsolata"/>
              </a:rPr>
              <a:t>"Response: 201 Created"</a:t>
            </a:r>
            <a:r>
              <a:rPr sz="749" i="0">
                <a:solidFill>
                  <a:srgbClr val="E6EDF3"/>
                </a:solidFill>
                <a:latin typeface="Inconsolata"/>
              </a:rPr>
              <a:t>)</a:t>
            </a:r>
          </a:p>
          <a:p>
            <a:pPr>
              <a:lnSpc>
                <a:spcPct val="111166"/>
              </a:lnSpc>
              <a:spcAft>
                <a:spcPts val="0"/>
              </a:spcAft>
            </a:pPr>
            <a:r>
              <a:rPr sz="749" i="0">
                <a:solidFill>
                  <a:srgbClr val="5C6773"/>
                </a:solidFill>
                <a:latin typeface="Inconsolata"/>
              </a:rPr>
              <a:t>72  </a:t>
            </a:r>
            <a:r>
              <a:rPr sz="749" i="0">
                <a:solidFill>
                  <a:srgbClr val="E6EDF3"/>
                </a:solidFill>
                <a:latin typeface="Inconsolata"/>
              </a:rPr>
              <a:t>    ms = (time.perf_counter() - start) * </a:t>
            </a:r>
            <a:r>
              <a:rPr sz="749" i="0">
                <a:solidFill>
                  <a:srgbClr val="F9C97A"/>
                </a:solidFill>
                <a:latin typeface="Inconsolata"/>
              </a:rPr>
              <a:t>1000</a:t>
            </a:r>
          </a:p>
          <a:p>
            <a:pPr>
              <a:lnSpc>
                <a:spcPct val="111166"/>
              </a:lnSpc>
              <a:spcAft>
                <a:spcPts val="0"/>
              </a:spcAft>
            </a:pPr>
            <a:r>
              <a:rPr sz="749" i="0">
                <a:solidFill>
                  <a:srgbClr val="5C6773"/>
                </a:solidFill>
                <a:latin typeface="Inconsolata"/>
              </a:rPr>
              <a:t>73  </a:t>
            </a:r>
            <a:r>
              <a:rPr sz="749" i="0">
                <a:solidFill>
                  <a:srgbClr val="E6EDF3"/>
                </a:solidFill>
                <a:latin typeface="Inconsolata"/>
              </a:rPr>
              <a:t>    </a:t>
            </a:r>
            <a:r>
              <a:rPr sz="749" i="0">
                <a:solidFill>
                  <a:srgbClr val="C3A6FF"/>
                </a:solidFill>
                <a:latin typeface="Inconsolata"/>
              </a:rPr>
              <a:t>print</a:t>
            </a:r>
            <a:r>
              <a:rPr sz="749" i="0">
                <a:solidFill>
                  <a:srgbClr val="E6EDF3"/>
                </a:solidFill>
                <a:latin typeface="Inconsolata"/>
              </a:rPr>
              <a:t>(</a:t>
            </a:r>
            <a:r>
              <a:rPr sz="749" i="0">
                <a:solidFill>
                  <a:srgbClr val="A5D6A7"/>
                </a:solidFill>
                <a:latin typeface="Inconsolata"/>
              </a:rPr>
              <a:t>f"Waktu response: {ms:.0f} ms"</a:t>
            </a:r>
            <a:r>
              <a:rPr sz="749" i="0">
                <a:solidFill>
                  <a:srgbClr val="E6EDF3"/>
                </a:solidFill>
                <a:latin typeface="Inconsolata"/>
              </a:rPr>
              <a:t>)</a:t>
            </a:r>
          </a:p>
          <a:p>
            <a:pPr>
              <a:lnSpc>
                <a:spcPct val="111166"/>
              </a:lnSpc>
              <a:spcAft>
                <a:spcPts val="0"/>
              </a:spcAft>
            </a:pPr>
            <a:r>
              <a:rPr sz="749" i="0">
                <a:solidFill>
                  <a:srgbClr val="5C6773"/>
                </a:solidFill>
                <a:latin typeface="Inconsolata"/>
              </a:rPr>
              <a:t>74  </a:t>
            </a:r>
            <a:r>
              <a:rPr sz="749" i="0">
                <a:solidFill>
                  <a:srgbClr val="E6EDF3"/>
                </a:solidFill>
                <a:latin typeface="Inconsolata"/>
              </a:rPr>
              <a:t> </a:t>
            </a:r>
          </a:p>
          <a:p>
            <a:pPr>
              <a:lnSpc>
                <a:spcPct val="111166"/>
              </a:lnSpc>
              <a:spcAft>
                <a:spcPts val="0"/>
              </a:spcAft>
            </a:pPr>
            <a:r>
              <a:rPr sz="749" i="0">
                <a:solidFill>
                  <a:srgbClr val="5C6773"/>
                </a:solidFill>
                <a:latin typeface="Inconsolata"/>
              </a:rPr>
              <a:t>75  </a:t>
            </a:r>
            <a:r>
              <a:rPr sz="749" i="0">
                <a:solidFill>
                  <a:srgbClr val="E6EDF3"/>
                </a:solidFill>
                <a:latin typeface="Inconsolata"/>
              </a:rPr>
              <a:t>    events.join()            </a:t>
            </a:r>
            <a:r>
              <a:rPr sz="749" i="1">
                <a:solidFill>
                  <a:srgbClr val="8B98A8"/>
                </a:solidFill>
                <a:latin typeface="Inconsolata"/>
              </a:rPr>
              <a:t># khusus demo: tunggu consumer selesai</a:t>
            </a:r>
          </a:p>
        </p:txBody>
      </p:sp>
      <p:sp>
        <p:nvSpPr>
          <p:cNvPr id="36" name="Box 21"/>
          <p:cNvSpPr/>
          <p:nvPr/>
        </p:nvSpPr>
        <p:spPr>
          <a:xfrm>
            <a:off x="704088" y="2208022"/>
            <a:ext cx="3694176" cy="1262380"/>
          </a:xfrm>
          <a:prstGeom prst="roundRect">
            <a:avLst>
              <a:gd name="adj" fmla="val 362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27203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8" name="Box 23"/>
          <p:cNvSpPr/>
          <p:nvPr/>
        </p:nvSpPr>
        <p:spPr>
          <a:xfrm>
            <a:off x="704088" y="2970022"/>
            <a:ext cx="3694176" cy="246380"/>
          </a:xfrm>
          <a:prstGeom prst="roundRect">
            <a:avLst>
              <a:gd name="adj" fmla="val 1855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279392" y="29743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Event-Driven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01-sync-vs-async/after.py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84632"/>
          </a:xfrm>
          <a:prstGeom prst="roundRect">
            <a:avLst>
              <a:gd name="adj" fmla="val 37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84632"/>
          </a:xfrm>
          <a:prstGeom prst="rect">
            <a:avLst/>
          </a:prstGeom>
          <a:noFill/>
        </p:spPr>
        <p:txBody>
          <a:bodyPr wrap="none" lIns="146304" tIns="91440" rIns="146304" bIns="54864">
            <a:spAutoFit/>
          </a:bodyPr>
          <a:lstStyle/>
          <a:p>
            <a:pPr>
              <a:lnSpc>
                <a:spcPct val="111111"/>
              </a:lnSpc>
              <a:spcAft>
                <a:spcPts val="0"/>
              </a:spcAft>
            </a:pPr>
            <a:r>
              <a:rPr sz="900" i="0">
                <a:solidFill>
                  <a:srgbClr val="82B1FF"/>
                </a:solidFill>
                <a:latin typeface="Inconsolata"/>
              </a:rPr>
              <a:t>$ cd sesi-08-event-driven-rabbitmq-kafka/01-sync-vs-async</a:t>
            </a:r>
          </a:p>
          <a:p>
            <a:pPr>
              <a:lnSpc>
                <a:spcPct val="111111"/>
              </a:lnSpc>
              <a:spcAft>
                <a:spcPts val="0"/>
              </a:spcAft>
            </a:pPr>
            <a:r>
              <a:rPr sz="900" i="0">
                <a:solidFill>
                  <a:srgbClr val="82B1FF"/>
                </a:solidFill>
                <a:latin typeface="Inconsolata"/>
              </a:rPr>
              <a:t>$ python after.py</a:t>
            </a:r>
          </a:p>
        </p:txBody>
      </p:sp>
      <p:pic>
        <p:nvPicPr>
          <p:cNvPr id="29" name="Image 12" descr="s08-01-sync-vs-async-after.png"/>
          <p:cNvPicPr>
            <a:picLocks noChangeAspect="1"/>
          </p:cNvPicPr>
          <p:nvPr/>
        </p:nvPicPr>
        <p:blipFill>
          <a:blip r:embed="rId2"/>
          <a:stretch>
            <a:fillRect/>
          </a:stretch>
        </p:blipFill>
        <p:spPr>
          <a:xfrm>
            <a:off x="621792" y="2322576"/>
            <a:ext cx="4297680" cy="1136623"/>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Producer hanya mengirim event ke queue (baris 46)</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Consumer mengambil event dan menjalankan semua handler (baris 53-62)</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Handler yang gagal tidak menghentikan handler lain (baris 59-61)</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Response 201 setelah sekitar 50 ms. Email dan poin menyusul.</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16</a:t>
            </a:fld>
            <a:endParaRPr/>
          </a:p>
        </p:txBody>
      </p:sp>
      <p:sp>
        <p:nvSpPr>
          <p:cNvPr id="31" name="Text 1"/>
          <p:cNvSpPr txBox="1"/>
          <p:nvPr/>
        </p:nvSpPr>
        <p:spPr>
          <a:xfrm>
            <a:off x="822960" y="1600200"/>
            <a:ext cx="7315200" cy="365760"/>
          </a:xfrm>
          <a:prstGeom prst="rect">
            <a:avLst/>
          </a:prstGeom>
          <a:noFill/>
        </p:spPr>
        <p:txBody>
          <a:bodyPr wrap="square" lIns="45720" rIns="45720" anchor="t">
            <a:spAutoFit/>
          </a:bodyPr>
          <a:lstStyle/>
          <a:p>
            <a:pPr algn="l">
              <a:lnSpc>
                <a:spcPct val="115000"/>
              </a:lnSpc>
              <a:spcAft>
                <a:spcPts val="400"/>
              </a:spcAft>
            </a:pPr>
            <a:r>
              <a:rPr sz="1400" b="0" i="0">
                <a:solidFill>
                  <a:srgbClr val="CFE0FA"/>
                </a:solidFill>
                <a:latin typeface="Inter"/>
              </a:rPr>
              <a:t>Bagian 02</a:t>
            </a:r>
          </a:p>
        </p:txBody>
      </p:sp>
      <p:sp>
        <p:nvSpPr>
          <p:cNvPr id="32" name="Text 2"/>
          <p:cNvSpPr txBox="1"/>
          <p:nvPr/>
        </p:nvSpPr>
        <p:spPr>
          <a:xfrm>
            <a:off x="822960" y="1920240"/>
            <a:ext cx="7315200" cy="822960"/>
          </a:xfrm>
          <a:prstGeom prst="rect">
            <a:avLst/>
          </a:prstGeom>
          <a:noFill/>
        </p:spPr>
        <p:txBody>
          <a:bodyPr wrap="square" lIns="45720" rIns="45720" anchor="t">
            <a:spAutoFit/>
          </a:bodyPr>
          <a:lstStyle/>
          <a:p>
            <a:pPr algn="l">
              <a:lnSpc>
                <a:spcPct val="115000"/>
              </a:lnSpc>
              <a:spcAft>
                <a:spcPts val="400"/>
              </a:spcAft>
            </a:pPr>
            <a:r>
              <a:rPr sz="3000" b="0" i="0">
                <a:solidFill>
                  <a:srgbClr val="FFFFFF"/>
                </a:solidFill>
                <a:latin typeface="Work Sans ExtraBold"/>
              </a:rPr>
              <a:t>RabbitMQ</a:t>
            </a:r>
          </a:p>
        </p:txBody>
      </p:sp>
      <p:sp>
        <p:nvSpPr>
          <p:cNvPr id="33" name="Text 3"/>
          <p:cNvSpPr txBox="1"/>
          <p:nvPr/>
        </p:nvSpPr>
        <p:spPr>
          <a:xfrm>
            <a:off x="822960" y="2743200"/>
            <a:ext cx="6583680" cy="731520"/>
          </a:xfrm>
          <a:prstGeom prst="rect">
            <a:avLst/>
          </a:prstGeom>
          <a:noFill/>
        </p:spPr>
        <p:txBody>
          <a:bodyPr wrap="square" lIns="45720" rIns="45720" anchor="t">
            <a:spAutoFit/>
          </a:bodyPr>
          <a:lstStyle/>
          <a:p>
            <a:pPr algn="l">
              <a:lnSpc>
                <a:spcPct val="115000"/>
              </a:lnSpc>
              <a:spcAft>
                <a:spcPts val="400"/>
              </a:spcAft>
            </a:pPr>
            <a:r>
              <a:rPr sz="1200" b="0" i="0">
                <a:solidFill>
                  <a:srgbClr val="E3ECFA"/>
                </a:solidFill>
                <a:latin typeface="Inter"/>
              </a:rPr>
              <a:t>Exchange, queue, ack/nack, dead letter queue, dan idempotent consumer.</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Exchange &amp; Queue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Exchange, Queue, dan Binding?</a:t>
            </a:r>
          </a:p>
        </p:txBody>
      </p:sp>
      <p:sp>
        <p:nvSpPr>
          <p:cNvPr id="22" name="Text 3"/>
          <p:cNvSpPr txBox="1"/>
          <p:nvPr/>
        </p:nvSpPr>
        <p:spPr>
          <a:xfrm>
            <a:off x="621792" y="1481328"/>
            <a:ext cx="3520440" cy="3291840"/>
          </a:xfrm>
          <a:prstGeom prst="rect">
            <a:avLst/>
          </a:prstGeom>
          <a:noFill/>
        </p:spPr>
        <p:txBody>
          <a:bodyPr wrap="square" lIns="45720" rIns="45720" anchor="t">
            <a:spAutoFit/>
          </a:bodyPr>
          <a:lstStyle/>
          <a:p>
            <a:pPr algn="l">
              <a:lnSpc>
                <a:spcPct val="115000"/>
              </a:lnSpc>
              <a:spcAft>
                <a:spcPts val="400"/>
              </a:spcAft>
            </a:pPr>
            <a:r>
              <a:rPr sz="950" b="1" i="0">
                <a:solidFill>
                  <a:srgbClr val="1C4587"/>
                </a:solidFill>
                <a:latin typeface="Inter"/>
              </a:rPr>
              <a:t>Di RabbitMQ</a:t>
            </a:r>
          </a:p>
          <a:p>
            <a:pPr marL="182880" indent="-182880" algn="l">
              <a:lnSpc>
                <a:spcPct val="115000"/>
              </a:lnSpc>
              <a:spcAft>
                <a:spcPts val="400"/>
              </a:spcAft>
              <a:buClr>
                <a:srgbClr val="E0764F"/>
              </a:buClr>
              <a:buSzPct val="100000"/>
              <a:buFont typeface="Arial"/>
              <a:buChar char="•"/>
            </a:pPr>
            <a:r>
              <a:rPr sz="850" b="1" i="0">
                <a:solidFill>
                  <a:srgbClr val="434343"/>
                </a:solidFill>
                <a:latin typeface="Inter"/>
              </a:rPr>
              <a:t>Queue</a:t>
            </a:r>
            <a:r>
              <a:rPr sz="850" b="0" i="0">
                <a:solidFill>
                  <a:srgbClr val="434343"/>
                </a:solidFill>
                <a:latin typeface="Inter"/>
              </a:rPr>
              <a:t>: tempat pesan menunggu diambil consumer</a:t>
            </a:r>
          </a:p>
          <a:p>
            <a:pPr marL="182880" indent="-182880" algn="l">
              <a:lnSpc>
                <a:spcPct val="115000"/>
              </a:lnSpc>
              <a:spcAft>
                <a:spcPts val="400"/>
              </a:spcAft>
              <a:buClr>
                <a:srgbClr val="E0764F"/>
              </a:buClr>
              <a:buSzPct val="100000"/>
              <a:buFont typeface="Arial"/>
              <a:buChar char="•"/>
            </a:pPr>
            <a:r>
              <a:rPr sz="850" b="1" i="0">
                <a:solidFill>
                  <a:srgbClr val="434343"/>
                </a:solidFill>
                <a:latin typeface="Inter"/>
              </a:rPr>
              <a:t>Exchange</a:t>
            </a:r>
            <a:r>
              <a:rPr sz="850" b="0" i="0">
                <a:solidFill>
                  <a:srgbClr val="434343"/>
                </a:solidFill>
                <a:latin typeface="Inter"/>
              </a:rPr>
              <a:t>: tempat producer mengirim pesan. Exchange yang meneruskan pesan ke queue</a:t>
            </a:r>
          </a:p>
          <a:p>
            <a:pPr marL="182880" indent="-182880" algn="l">
              <a:lnSpc>
                <a:spcPct val="115000"/>
              </a:lnSpc>
              <a:spcAft>
                <a:spcPts val="400"/>
              </a:spcAft>
              <a:buClr>
                <a:srgbClr val="E0764F"/>
              </a:buClr>
              <a:buSzPct val="100000"/>
              <a:buFont typeface="Arial"/>
              <a:buChar char="•"/>
            </a:pPr>
            <a:r>
              <a:rPr sz="850" b="1" i="0">
                <a:solidFill>
                  <a:srgbClr val="434343"/>
                </a:solidFill>
                <a:latin typeface="Inter"/>
              </a:rPr>
              <a:t>Binding</a:t>
            </a:r>
            <a:r>
              <a:rPr sz="850" b="0" i="0">
                <a:solidFill>
                  <a:srgbClr val="434343"/>
                </a:solidFill>
                <a:latin typeface="Inter"/>
              </a:rPr>
              <a:t>: aturan yang menghubungkan exchange ke queue, berdasarkan </a:t>
            </a:r>
            <a:r>
              <a:rPr sz="850" b="1" i="0">
                <a:solidFill>
                  <a:srgbClr val="434343"/>
                </a:solidFill>
                <a:latin typeface="Inter"/>
              </a:rPr>
              <a:t>routing key</a:t>
            </a:r>
          </a:p>
          <a:p>
            <a:pPr algn="l">
              <a:lnSpc>
                <a:spcPct val="115000"/>
              </a:lnSpc>
              <a:spcAft>
                <a:spcPts val="400"/>
              </a:spcAft>
            </a:pPr>
            <a:r>
              <a:rPr sz="95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850" b="0" i="0">
                <a:solidFill>
                  <a:srgbClr val="434343"/>
                </a:solidFill>
                <a:latin typeface="Inter"/>
              </a:rPr>
              <a:t>Membuat producer tidak perlu tahu siapa saja consumernya</a:t>
            </a:r>
          </a:p>
          <a:p>
            <a:pPr marL="182880" indent="-182880" algn="l">
              <a:lnSpc>
                <a:spcPct val="115000"/>
              </a:lnSpc>
              <a:spcAft>
                <a:spcPts val="400"/>
              </a:spcAft>
              <a:buClr>
                <a:srgbClr val="E0764F"/>
              </a:buClr>
              <a:buSzPct val="100000"/>
              <a:buFont typeface="Arial"/>
              <a:buChar char="•"/>
            </a:pPr>
            <a:r>
              <a:rPr sz="850" b="0" i="0">
                <a:solidFill>
                  <a:srgbClr val="434343"/>
                </a:solidFill>
                <a:latin typeface="Inter"/>
              </a:rPr>
              <a:t>Membiarkan setiap consumer memilih event yang dibutuhkan</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tanpa exchange: 02-exchange-queue/before.py</a:t>
            </a:r>
          </a:p>
        </p:txBody>
      </p:sp>
      <p:sp>
        <p:nvSpPr>
          <p:cNvPr id="28" name="CodeBg 11"/>
          <p:cNvSpPr/>
          <p:nvPr/>
        </p:nvSpPr>
        <p:spPr>
          <a:xfrm>
            <a:off x="4297680" y="1719072"/>
            <a:ext cx="4187951" cy="1435608"/>
          </a:xfrm>
          <a:prstGeom prst="roundRect">
            <a:avLst>
              <a:gd name="adj" fmla="val 12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1435608"/>
          </a:xfrm>
          <a:prstGeom prst="rect">
            <a:avLst/>
          </a:prstGeom>
          <a:noFill/>
        </p:spPr>
        <p:txBody>
          <a:bodyPr wrap="none" lIns="146304" tIns="91440" rIns="146304" bIns="54864">
            <a:spAutoFit/>
          </a:bodyPr>
          <a:lstStyle/>
          <a:p>
            <a:pPr>
              <a:lnSpc>
                <a:spcPct val="111111"/>
              </a:lnSpc>
              <a:spcAft>
                <a:spcPts val="0"/>
              </a:spcAft>
            </a:pPr>
            <a:r>
              <a:rPr sz="825" i="0">
                <a:solidFill>
                  <a:srgbClr val="7FDBCA"/>
                </a:solidFill>
                <a:latin typeface="Inconsolata"/>
              </a:rPr>
              <a:t>QUEUES</a:t>
            </a:r>
            <a:r>
              <a:rPr sz="825" i="0">
                <a:solidFill>
                  <a:srgbClr val="E6EDF3"/>
                </a:solidFill>
                <a:latin typeface="Inconsolata"/>
              </a:rPr>
              <a:t> = [</a:t>
            </a:r>
            <a:r>
              <a:rPr sz="825" i="0">
                <a:solidFill>
                  <a:srgbClr val="A5D6A7"/>
                </a:solidFill>
                <a:latin typeface="Inconsolata"/>
              </a:rPr>
              <a:t>"email"</a:t>
            </a:r>
            <a:r>
              <a:rPr sz="825" i="0">
                <a:solidFill>
                  <a:srgbClr val="E6EDF3"/>
                </a:solidFill>
                <a:latin typeface="Inconsolata"/>
              </a:rPr>
              <a:t>, </a:t>
            </a:r>
            <a:r>
              <a:rPr sz="825" i="0">
                <a:solidFill>
                  <a:srgbClr val="A5D6A7"/>
                </a:solidFill>
                <a:latin typeface="Inconsolata"/>
              </a:rPr>
              <a:t>"points"</a:t>
            </a:r>
            <a:r>
              <a:rPr sz="825" i="0">
                <a:solidFill>
                  <a:srgbClr val="E6EDF3"/>
                </a:solidFill>
                <a:latin typeface="Inconsolata"/>
              </a:rPr>
              <a:t>]          </a:t>
            </a:r>
            <a:r>
              <a:rPr sz="825" i="1">
                <a:solidFill>
                  <a:srgbClr val="8B98A8"/>
                </a:solidFill>
                <a:latin typeface="Inconsolata"/>
              </a:rPr>
              <a:t># consumer baru = tambah di sini</a:t>
            </a:r>
          </a:p>
          <a:p>
            <a:pPr>
              <a:lnSpc>
                <a:spcPct val="111111"/>
              </a:lnSpc>
              <a:spcAft>
                <a:spcPts val="0"/>
              </a:spcAft>
            </a:pPr>
            <a:r>
              <a:rPr sz="825" i="0">
                <a:solidFill>
                  <a:srgbClr val="E6EDF3"/>
                </a:solidFill>
                <a:latin typeface="Inconsolata"/>
              </a:rPr>
              <a:t> </a:t>
            </a:r>
          </a:p>
          <a:p>
            <a:pPr>
              <a:lnSpc>
                <a:spcPct val="111111"/>
              </a:lnSpc>
              <a:spcAft>
                <a:spcPts val="0"/>
              </a:spcAft>
            </a:pPr>
            <a:r>
              <a:rPr sz="825" i="0">
                <a:solidFill>
                  <a:srgbClr val="E6EDF3"/>
                </a:solidFill>
                <a:latin typeface="Inconsolata"/>
              </a:rPr>
              <a:t> </a:t>
            </a:r>
          </a:p>
          <a:p>
            <a:pPr>
              <a:lnSpc>
                <a:spcPct val="111111"/>
              </a:lnSpc>
              <a:spcAft>
                <a:spcPts val="0"/>
              </a:spcAft>
            </a:pPr>
            <a:r>
              <a:rPr sz="825" i="0">
                <a:solidFill>
                  <a:srgbClr val="FF8E6E"/>
                </a:solidFill>
                <a:latin typeface="Inconsolata"/>
              </a:rPr>
              <a:t>def</a:t>
            </a:r>
            <a:r>
              <a:rPr sz="825" i="0">
                <a:solidFill>
                  <a:srgbClr val="E6EDF3"/>
                </a:solidFill>
                <a:latin typeface="Inconsolata"/>
              </a:rPr>
              <a:t> </a:t>
            </a:r>
            <a:r>
              <a:rPr sz="825" i="0">
                <a:solidFill>
                  <a:srgbClr val="82B1FF"/>
                </a:solidFill>
                <a:latin typeface="Inconsolata"/>
              </a:rPr>
              <a:t>publish</a:t>
            </a:r>
            <a:r>
              <a:rPr sz="825" i="0">
                <a:solidFill>
                  <a:srgbClr val="E6EDF3"/>
                </a:solidFill>
                <a:latin typeface="Inconsolata"/>
              </a:rPr>
              <a:t>(channel, event: </a:t>
            </a:r>
            <a:r>
              <a:rPr sz="825" i="0">
                <a:solidFill>
                  <a:srgbClr val="C3A6FF"/>
                </a:solidFill>
                <a:latin typeface="Inconsolata"/>
              </a:rPr>
              <a:t>dict</a:t>
            </a:r>
            <a:r>
              <a:rPr sz="825" i="0">
                <a:solidFill>
                  <a:srgbClr val="E6EDF3"/>
                </a:solidFill>
                <a:latin typeface="Inconsolata"/>
              </a:rPr>
              <a:t>):</a:t>
            </a:r>
          </a:p>
          <a:p>
            <a:pPr>
              <a:lnSpc>
                <a:spcPct val="111111"/>
              </a:lnSpc>
              <a:spcAft>
                <a:spcPts val="0"/>
              </a:spcAft>
            </a:pPr>
            <a:r>
              <a:rPr sz="825" i="0">
                <a:solidFill>
                  <a:srgbClr val="E6EDF3"/>
                </a:solidFill>
                <a:latin typeface="Inconsolata"/>
              </a:rPr>
              <a:t>    </a:t>
            </a:r>
            <a:r>
              <a:rPr sz="825" i="0">
                <a:solidFill>
                  <a:srgbClr val="FF8E6E"/>
                </a:solidFill>
                <a:latin typeface="Inconsolata"/>
              </a:rPr>
              <a:t>for</a:t>
            </a:r>
            <a:r>
              <a:rPr sz="825" i="0">
                <a:solidFill>
                  <a:srgbClr val="E6EDF3"/>
                </a:solidFill>
                <a:latin typeface="Inconsolata"/>
              </a:rPr>
              <a:t> queue </a:t>
            </a:r>
            <a:r>
              <a:rPr sz="825" i="0">
                <a:solidFill>
                  <a:srgbClr val="FF8E6E"/>
                </a:solidFill>
                <a:latin typeface="Inconsolata"/>
              </a:rPr>
              <a:t>in</a:t>
            </a:r>
            <a:r>
              <a:rPr sz="825" i="0">
                <a:solidFill>
                  <a:srgbClr val="E6EDF3"/>
                </a:solidFill>
                <a:latin typeface="Inconsolata"/>
              </a:rPr>
              <a:t> </a:t>
            </a:r>
            <a:r>
              <a:rPr sz="825" i="0">
                <a:solidFill>
                  <a:srgbClr val="7FDBCA"/>
                </a:solidFill>
                <a:latin typeface="Inconsolata"/>
              </a:rPr>
              <a:t>QUEUES</a:t>
            </a:r>
            <a:r>
              <a:rPr sz="825" i="0">
                <a:solidFill>
                  <a:srgbClr val="E6EDF3"/>
                </a:solidFill>
                <a:latin typeface="Inconsolata"/>
              </a:rPr>
              <a:t>:</a:t>
            </a:r>
          </a:p>
          <a:p>
            <a:pPr>
              <a:lnSpc>
                <a:spcPct val="111111"/>
              </a:lnSpc>
              <a:spcAft>
                <a:spcPts val="0"/>
              </a:spcAft>
            </a:pPr>
            <a:r>
              <a:rPr sz="825" i="0">
                <a:solidFill>
                  <a:srgbClr val="E6EDF3"/>
                </a:solidFill>
                <a:latin typeface="Inconsolata"/>
              </a:rPr>
              <a:t>        </a:t>
            </a:r>
            <a:r>
              <a:rPr sz="825" i="0">
                <a:solidFill>
                  <a:srgbClr val="FF8E6E"/>
                </a:solidFill>
                <a:latin typeface="Inconsolata"/>
              </a:rPr>
              <a:t>if</a:t>
            </a:r>
            <a:r>
              <a:rPr sz="825" i="0">
                <a:solidFill>
                  <a:srgbClr val="E6EDF3"/>
                </a:solidFill>
                <a:latin typeface="Inconsolata"/>
              </a:rPr>
              <a:t> queue == </a:t>
            </a:r>
            <a:r>
              <a:rPr sz="825" i="0">
                <a:solidFill>
                  <a:srgbClr val="A5D6A7"/>
                </a:solidFill>
                <a:latin typeface="Inconsolata"/>
              </a:rPr>
              <a:t>"points"</a:t>
            </a:r>
            <a:r>
              <a:rPr sz="825" i="0">
                <a:solidFill>
                  <a:srgbClr val="E6EDF3"/>
                </a:solidFill>
                <a:latin typeface="Inconsolata"/>
              </a:rPr>
              <a:t> </a:t>
            </a:r>
            <a:r>
              <a:rPr sz="825" i="0">
                <a:solidFill>
                  <a:srgbClr val="FF8E6E"/>
                </a:solidFill>
                <a:latin typeface="Inconsolata"/>
              </a:rPr>
              <a:t>and</a:t>
            </a:r>
            <a:r>
              <a:rPr sz="825" i="0">
                <a:solidFill>
                  <a:srgbClr val="E6EDF3"/>
                </a:solidFill>
                <a:latin typeface="Inconsolata"/>
              </a:rPr>
              <a:t> event[</a:t>
            </a:r>
            <a:r>
              <a:rPr sz="825" i="0">
                <a:solidFill>
                  <a:srgbClr val="A5D6A7"/>
                </a:solidFill>
                <a:latin typeface="Inconsolata"/>
              </a:rPr>
              <a:t>"type"</a:t>
            </a:r>
            <a:r>
              <a:rPr sz="825" i="0">
                <a:solidFill>
                  <a:srgbClr val="E6EDF3"/>
                </a:solidFill>
                <a:latin typeface="Inconsolata"/>
              </a:rPr>
              <a:t>] != </a:t>
            </a:r>
            <a:r>
              <a:rPr sz="825" i="0">
                <a:solidFill>
                  <a:srgbClr val="A5D6A7"/>
                </a:solidFill>
                <a:latin typeface="Inconsolata"/>
              </a:rPr>
              <a:t>"order.paid"</a:t>
            </a:r>
            <a:r>
              <a:rPr sz="825" i="0">
                <a:solidFill>
                  <a:srgbClr val="E6EDF3"/>
                </a:solidFill>
                <a:latin typeface="Inconsolata"/>
              </a:rPr>
              <a:t>:</a:t>
            </a:r>
          </a:p>
          <a:p>
            <a:pPr>
              <a:lnSpc>
                <a:spcPct val="111111"/>
              </a:lnSpc>
              <a:spcAft>
                <a:spcPts val="0"/>
              </a:spcAft>
            </a:pPr>
            <a:r>
              <a:rPr sz="825" i="0">
                <a:solidFill>
                  <a:srgbClr val="E6EDF3"/>
                </a:solidFill>
                <a:latin typeface="Inconsolata"/>
              </a:rPr>
              <a:t>            </a:t>
            </a:r>
            <a:r>
              <a:rPr sz="825" i="0">
                <a:solidFill>
                  <a:srgbClr val="FF8E6E"/>
                </a:solidFill>
                <a:latin typeface="Inconsolata"/>
              </a:rPr>
              <a:t>continue</a:t>
            </a:r>
            <a:r>
              <a:rPr sz="825" i="0">
                <a:solidFill>
                  <a:srgbClr val="E6EDF3"/>
                </a:solidFill>
                <a:latin typeface="Inconsolata"/>
              </a:rPr>
              <a:t>    </a:t>
            </a:r>
            <a:r>
              <a:rPr sz="825" i="1">
                <a:solidFill>
                  <a:srgbClr val="8B98A8"/>
                </a:solidFill>
                <a:latin typeface="Inconsolata"/>
              </a:rPr>
              <a:t># aturan consumer, ditulis di producer</a:t>
            </a:r>
          </a:p>
        </p:txBody>
      </p:sp>
      <p:sp>
        <p:nvSpPr>
          <p:cNvPr id="30" name="Box 13"/>
          <p:cNvSpPr/>
          <p:nvPr/>
        </p:nvSpPr>
        <p:spPr>
          <a:xfrm>
            <a:off x="4379976" y="1828673"/>
            <a:ext cx="4023359"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Box 14"/>
          <p:cNvSpPr/>
          <p:nvPr/>
        </p:nvSpPr>
        <p:spPr>
          <a:xfrm>
            <a:off x="4379976" y="2527173"/>
            <a:ext cx="4023359" cy="271018"/>
          </a:xfrm>
          <a:prstGeom prst="roundRect">
            <a:avLst>
              <a:gd name="adj" fmla="val 16869"/>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CodeTab 16"/>
          <p:cNvSpPr/>
          <p:nvPr/>
        </p:nvSpPr>
        <p:spPr>
          <a:xfrm>
            <a:off x="4297680" y="3246120"/>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3" name="Dot 17"/>
          <p:cNvSpPr/>
          <p:nvPr/>
        </p:nvSpPr>
        <p:spPr>
          <a:xfrm>
            <a:off x="4407408" y="3323844"/>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544568" y="3323844"/>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Dot 19"/>
          <p:cNvSpPr/>
          <p:nvPr/>
        </p:nvSpPr>
        <p:spPr>
          <a:xfrm>
            <a:off x="4681728" y="3323844"/>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 20"/>
          <p:cNvSpPr txBox="1"/>
          <p:nvPr/>
        </p:nvSpPr>
        <p:spPr>
          <a:xfrm>
            <a:off x="4846320" y="3255264"/>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topic exchange: 02-exchange-queue/after.py</a:t>
            </a:r>
          </a:p>
        </p:txBody>
      </p:sp>
      <p:sp>
        <p:nvSpPr>
          <p:cNvPr id="37" name="CodeBg 22"/>
          <p:cNvSpPr/>
          <p:nvPr/>
        </p:nvSpPr>
        <p:spPr>
          <a:xfrm>
            <a:off x="4297680" y="3483864"/>
            <a:ext cx="4187951" cy="1216151"/>
          </a:xfrm>
          <a:prstGeom prst="roundRect">
            <a:avLst>
              <a:gd name="adj" fmla="val 150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8" name="Code 23"/>
          <p:cNvSpPr txBox="1"/>
          <p:nvPr/>
        </p:nvSpPr>
        <p:spPr>
          <a:xfrm>
            <a:off x="4297680" y="3483864"/>
            <a:ext cx="4187951" cy="1216151"/>
          </a:xfrm>
          <a:prstGeom prst="rect">
            <a:avLst/>
          </a:prstGeom>
          <a:noFill/>
        </p:spPr>
        <p:txBody>
          <a:bodyPr wrap="none" lIns="146304" tIns="91440" rIns="146304" bIns="54864">
            <a:spAutoFit/>
          </a:bodyPr>
          <a:lstStyle/>
          <a:p>
            <a:pPr>
              <a:lnSpc>
                <a:spcPct val="107843"/>
              </a:lnSpc>
              <a:spcAft>
                <a:spcPts val="0"/>
              </a:spcAft>
            </a:pPr>
            <a:r>
              <a:rPr sz="850" i="0">
                <a:solidFill>
                  <a:srgbClr val="7FDBCA"/>
                </a:solidFill>
                <a:latin typeface="Inconsolata"/>
              </a:rPr>
              <a:t>BINDINGS</a:t>
            </a:r>
            <a:r>
              <a:rPr sz="850" i="0">
                <a:solidFill>
                  <a:srgbClr val="E6EDF3"/>
                </a:solidFill>
                <a:latin typeface="Inconsolata"/>
              </a:rPr>
              <a:t> = {</a:t>
            </a:r>
            <a:r>
              <a:rPr sz="850" i="0">
                <a:solidFill>
                  <a:srgbClr val="A5D6A7"/>
                </a:solidFill>
                <a:latin typeface="Inconsolata"/>
              </a:rPr>
              <a:t>"email"</a:t>
            </a:r>
            <a:r>
              <a:rPr sz="850" i="0">
                <a:solidFill>
                  <a:srgbClr val="E6EDF3"/>
                </a:solidFill>
                <a:latin typeface="Inconsolata"/>
              </a:rPr>
              <a:t>: </a:t>
            </a:r>
            <a:r>
              <a:rPr sz="850" i="0">
                <a:solidFill>
                  <a:srgbClr val="A5D6A7"/>
                </a:solidFill>
                <a:latin typeface="Inconsolata"/>
              </a:rPr>
              <a:t>"order.*"</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A5D6A7"/>
                </a:solidFill>
                <a:latin typeface="Inconsolata"/>
              </a:rPr>
              <a:t>"points"</a:t>
            </a:r>
            <a:r>
              <a:rPr sz="850" i="0">
                <a:solidFill>
                  <a:srgbClr val="E6EDF3"/>
                </a:solidFill>
                <a:latin typeface="Inconsolata"/>
              </a:rPr>
              <a:t>: </a:t>
            </a:r>
            <a:r>
              <a:rPr sz="850" i="0">
                <a:solidFill>
                  <a:srgbClr val="A5D6A7"/>
                </a:solidFill>
                <a:latin typeface="Inconsolata"/>
              </a:rPr>
              <a:t>"order.paid"</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A5D6A7"/>
                </a:solidFill>
                <a:latin typeface="Inconsolata"/>
              </a:rPr>
              <a:t>"analytics"</a:t>
            </a:r>
            <a:r>
              <a:rPr sz="850" i="0">
                <a:solidFill>
                  <a:srgbClr val="E6EDF3"/>
                </a:solidFill>
                <a:latin typeface="Inconsolata"/>
              </a:rPr>
              <a:t>: </a:t>
            </a:r>
            <a:r>
              <a:rPr sz="850" i="0">
                <a:solidFill>
                  <a:srgbClr val="A5D6A7"/>
                </a:solidFill>
                <a:latin typeface="Inconsolata"/>
              </a:rPr>
              <a:t>"#"</a:t>
            </a:r>
            <a:r>
              <a:rPr sz="850" i="0">
                <a:solidFill>
                  <a:srgbClr val="E6EDF3"/>
                </a:solidFill>
                <a:latin typeface="Inconsolata"/>
              </a:rPr>
              <a:t>}</a:t>
            </a:r>
          </a:p>
          <a:p>
            <a:pPr>
              <a:lnSpc>
                <a:spcPct val="107843"/>
              </a:lnSpc>
              <a:spcAft>
                <a:spcPts val="0"/>
              </a:spcAft>
            </a:pPr>
            <a:r>
              <a:rPr sz="850" i="0">
                <a:solidFill>
                  <a:srgbClr val="E6EDF3"/>
                </a:solidFill>
                <a:latin typeface="Inconsolata"/>
              </a:rPr>
              <a:t>...</a:t>
            </a:r>
          </a:p>
          <a:p>
            <a:pPr>
              <a:lnSpc>
                <a:spcPct val="107843"/>
              </a:lnSpc>
              <a:spcAft>
                <a:spcPts val="0"/>
              </a:spcAft>
            </a:pPr>
            <a:r>
              <a:rPr sz="850" i="0">
                <a:solidFill>
                  <a:srgbClr val="E6EDF3"/>
                </a:solidFill>
                <a:latin typeface="Inconsolata"/>
              </a:rPr>
              <a:t>    channel.basic_publish(exchange=</a:t>
            </a:r>
            <a:r>
              <a:rPr sz="850" i="0">
                <a:solidFill>
                  <a:srgbClr val="A5D6A7"/>
                </a:solidFill>
                <a:latin typeface="Inconsolata"/>
              </a:rPr>
              <a:t>"orders"</a:t>
            </a:r>
            <a:r>
              <a:rPr sz="850" i="0">
                <a:solidFill>
                  <a:srgbClr val="E6EDF3"/>
                </a:solidFill>
                <a:latin typeface="Inconsolata"/>
              </a:rPr>
              <a:t>,</a:t>
            </a:r>
          </a:p>
          <a:p>
            <a:pPr>
              <a:lnSpc>
                <a:spcPct val="107843"/>
              </a:lnSpc>
              <a:spcAft>
                <a:spcPts val="0"/>
              </a:spcAft>
            </a:pPr>
            <a:r>
              <a:rPr sz="850" i="0">
                <a:solidFill>
                  <a:srgbClr val="E6EDF3"/>
                </a:solidFill>
                <a:latin typeface="Inconsolata"/>
              </a:rPr>
              <a:t>                          routing_key=event[</a:t>
            </a:r>
            <a:r>
              <a:rPr sz="850" i="0">
                <a:solidFill>
                  <a:srgbClr val="A5D6A7"/>
                </a:solidFill>
                <a:latin typeface="Inconsolata"/>
              </a:rPr>
              <a:t>"type"</a:t>
            </a:r>
            <a:r>
              <a:rPr sz="850" i="0">
                <a:solidFill>
                  <a:srgbClr val="E6EDF3"/>
                </a:solidFill>
                <a:latin typeface="Inconsolata"/>
              </a:rPr>
              <a:t>],</a:t>
            </a:r>
          </a:p>
        </p:txBody>
      </p:sp>
      <p:sp>
        <p:nvSpPr>
          <p:cNvPr id="39" name="Box 24"/>
          <p:cNvSpPr/>
          <p:nvPr/>
        </p:nvSpPr>
        <p:spPr>
          <a:xfrm>
            <a:off x="4379976" y="3593465"/>
            <a:ext cx="4023359" cy="410718"/>
          </a:xfrm>
          <a:prstGeom prst="roundRect">
            <a:avLst>
              <a:gd name="adj" fmla="val 1113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0" name="Box 25"/>
          <p:cNvSpPr/>
          <p:nvPr/>
        </p:nvSpPr>
        <p:spPr>
          <a:xfrm>
            <a:off x="4379976" y="4152265"/>
            <a:ext cx="4023359"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Exchange &amp; Queue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Topic Exchange?</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exchange</a:t>
            </a:r>
          </a:p>
          <a:p>
            <a:pPr algn="l">
              <a:lnSpc>
                <a:spcPct val="115000"/>
              </a:lnSpc>
              <a:spcAft>
                <a:spcPts val="400"/>
              </a:spcAft>
            </a:pPr>
            <a:r>
              <a:rPr sz="950" b="0" i="0">
                <a:solidFill>
                  <a:srgbClr val="434343"/>
                </a:solidFill>
                <a:latin typeface="Inter"/>
              </a:rPr>
              <a:t>Producer mengirim pesan langsung ke setiap queue. Aturan "points hanya butuh </a:t>
            </a:r>
            <a:r>
              <a:rPr sz="950" b="0" i="0">
                <a:solidFill>
                  <a:srgbClr val="B5482A"/>
                </a:solidFill>
                <a:latin typeface="Inconsolata"/>
              </a:rPr>
              <a:t>order.paid</a:t>
            </a:r>
            <a:r>
              <a:rPr sz="950" b="0" i="0">
                <a:solidFill>
                  <a:srgbClr val="434343"/>
                </a:solidFill>
                <a:latin typeface="Inter"/>
              </a:rPr>
              <a:t>" ikut ditulis di producer.</a:t>
            </a:r>
          </a:p>
          <a:p>
            <a:pPr algn="l">
              <a:lnSpc>
                <a:spcPct val="115000"/>
              </a:lnSpc>
              <a:spcAft>
                <a:spcPts val="400"/>
              </a:spcAft>
            </a:pPr>
            <a:r>
              <a:rPr sz="1050" b="1" i="0">
                <a:solidFill>
                  <a:srgbClr val="1C4587"/>
                </a:solidFill>
                <a:latin typeface="Inter"/>
              </a:rPr>
              <a:t>Jika consumernya makin banyak</a:t>
            </a:r>
          </a:p>
          <a:p>
            <a:pPr algn="l">
              <a:lnSpc>
                <a:spcPct val="115000"/>
              </a:lnSpc>
              <a:spcAft>
                <a:spcPts val="400"/>
              </a:spcAft>
            </a:pPr>
            <a:r>
              <a:rPr sz="950" b="0" i="0">
                <a:solidFill>
                  <a:srgbClr val="434343"/>
                </a:solidFill>
                <a:latin typeface="Inter"/>
              </a:rPr>
              <a:t>Setiap consumer baru berarti mengubah kode producer.</a:t>
            </a:r>
          </a:p>
          <a:p>
            <a:pPr algn="l">
              <a:lnSpc>
                <a:spcPct val="115000"/>
              </a:lnSpc>
              <a:spcAft>
                <a:spcPts val="400"/>
              </a:spcAft>
            </a:pPr>
            <a:r>
              <a:rPr sz="950" b="0" i="0">
                <a:solidFill>
                  <a:srgbClr val="434343"/>
                </a:solidFill>
                <a:latin typeface="Inter"/>
              </a:rPr>
              <a:t>Hal ini membuat producer harus tahu semua consumer dan aturannya.</a:t>
            </a:r>
          </a:p>
          <a:p>
            <a:pPr algn="l">
              <a:lnSpc>
                <a:spcPct val="115000"/>
              </a:lnSpc>
              <a:spcAft>
                <a:spcPts val="400"/>
              </a:spcAft>
            </a:pPr>
            <a:r>
              <a:rPr sz="1050" b="1" i="0">
                <a:solidFill>
                  <a:srgbClr val="1C4587"/>
                </a:solidFill>
                <a:latin typeface="Inter"/>
              </a:rPr>
              <a:t>Yang dipakai dari RabbitMQ: topic exchange</a:t>
            </a:r>
          </a:p>
          <a:p>
            <a:pPr algn="l">
              <a:lnSpc>
                <a:spcPct val="115000"/>
              </a:lnSpc>
              <a:spcAft>
                <a:spcPts val="400"/>
              </a:spcAft>
            </a:pPr>
            <a:r>
              <a:rPr sz="950" b="0" i="0">
                <a:solidFill>
                  <a:srgbClr val="434343"/>
                </a:solidFill>
                <a:latin typeface="Inter"/>
              </a:rPr>
              <a:t>Routing key berupa kata yang dipisah titik, misalnya </a:t>
            </a:r>
            <a:r>
              <a:rPr sz="950" b="0" i="0">
                <a:solidFill>
                  <a:srgbClr val="B5482A"/>
                </a:solidFill>
                <a:latin typeface="Inconsolata"/>
              </a:rPr>
              <a:t>order.paid</a:t>
            </a:r>
            <a:r>
              <a:rPr sz="950" b="0" i="0">
                <a:solidFill>
                  <a:srgbClr val="434343"/>
                </a:solidFill>
                <a:latin typeface="Inter"/>
              </a:rPr>
              <a:t>. Binding bisa memakai pola </a:t>
            </a:r>
            <a:r>
              <a:rPr sz="950" b="0" i="0">
                <a:solidFill>
                  <a:srgbClr val="B5482A"/>
                </a:solidFill>
                <a:latin typeface="Inconsolata"/>
              </a:rPr>
              <a:t>*</a:t>
            </a:r>
            <a:r>
              <a:rPr sz="950" b="0" i="0">
                <a:solidFill>
                  <a:srgbClr val="434343"/>
                </a:solidFill>
                <a:latin typeface="Inter"/>
              </a:rPr>
              <a:t> dan </a:t>
            </a:r>
            <a:r>
              <a:rPr sz="950" b="0" i="0">
                <a:solidFill>
                  <a:srgbClr val="B5482A"/>
                </a:solidFill>
                <a:latin typeface="Inconsolata"/>
              </a:rPr>
              <a:t>#</a:t>
            </a:r>
            <a:r>
              <a:rPr sz="950" b="0" i="0">
                <a:solidFill>
                  <a:srgbClr val="434343"/>
                </a:solidFill>
                <a:latin typeface="Inter"/>
              </a:rPr>
              <a:t>.</a:t>
            </a:r>
          </a:p>
        </p:txBody>
      </p:sp>
      <p:graphicFrame>
        <p:nvGraphicFramePr>
          <p:cNvPr id="23" name="Table 4"/>
          <p:cNvGraphicFramePr>
            <a:graphicFrameLocks noGrp="1"/>
          </p:cNvGraphicFramePr>
          <p:nvPr/>
        </p:nvGraphicFramePr>
        <p:xfrm>
          <a:off x="4800600" y="1481328"/>
          <a:ext cx="3685032" cy="2057400"/>
        </p:xfrm>
        <a:graphic>
          <a:graphicData uri="http://schemas.openxmlformats.org/drawingml/2006/table">
            <a:tbl>
              <a:tblPr firstRow="1" bandRow="1"/>
              <a:tblGrid>
                <a:gridCol w="1399032">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tblGrid>
              <a:tr h="411480">
                <a:tc>
                  <a:txBody>
                    <a:bodyPr/>
                    <a:lstStyle/>
                    <a:p>
                      <a:pPr algn="l">
                        <a:lnSpc>
                          <a:spcPct val="100000"/>
                        </a:lnSpc>
                        <a:spcAft>
                          <a:spcPts val="0"/>
                        </a:spcAft>
                      </a:pPr>
                      <a:r>
                        <a:rPr sz="850" b="1" i="0">
                          <a:solidFill>
                            <a:srgbClr val="FFFFFF"/>
                          </a:solidFill>
                          <a:latin typeface="Inter"/>
                        </a:rPr>
                        <a:t>Binding</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Menerima</a:t>
                      </a:r>
                    </a:p>
                  </a:txBody>
                  <a:tcPr marL="73152" marR="73152" marT="36576" marB="36576" anchor="ctr">
                    <a:solidFill>
                      <a:srgbClr val="1C4587"/>
                    </a:solidFill>
                  </a:tcPr>
                </a:tc>
                <a:extLst>
                  <a:ext uri="{0D108BD9-81ED-4DB2-BD59-A6C34878D82A}">
                    <a16:rowId xmlns:a16="http://schemas.microsoft.com/office/drawing/2014/main" val="10000"/>
                  </a:ext>
                </a:extLst>
              </a:tr>
              <a:tr h="411480">
                <a:tc>
                  <a:txBody>
                    <a:bodyPr/>
                    <a:lstStyle/>
                    <a:p>
                      <a:pPr algn="l">
                        <a:lnSpc>
                          <a:spcPct val="100000"/>
                        </a:lnSpc>
                        <a:spcAft>
                          <a:spcPts val="0"/>
                        </a:spcAft>
                      </a:pPr>
                      <a:r>
                        <a:rPr sz="850" b="1" i="0">
                          <a:solidFill>
                            <a:srgbClr val="1C4587"/>
                          </a:solidFill>
                          <a:latin typeface="Inter"/>
                        </a:rPr>
                        <a:t>order.paid</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Hanya order.paid</a:t>
                      </a:r>
                    </a:p>
                  </a:txBody>
                  <a:tcPr marL="73152" marR="73152" marT="36576" marB="36576" anchor="ctr">
                    <a:solidFill>
                      <a:srgbClr val="FFFFFF"/>
                    </a:solidFill>
                  </a:tcPr>
                </a:tc>
                <a:extLst>
                  <a:ext uri="{0D108BD9-81ED-4DB2-BD59-A6C34878D82A}">
                    <a16:rowId xmlns:a16="http://schemas.microsoft.com/office/drawing/2014/main" val="10001"/>
                  </a:ext>
                </a:extLst>
              </a:tr>
              <a:tr h="411480">
                <a:tc>
                  <a:txBody>
                    <a:bodyPr/>
                    <a:lstStyle/>
                    <a:p>
                      <a:pPr algn="l">
                        <a:lnSpc>
                          <a:spcPct val="100000"/>
                        </a:lnSpc>
                        <a:spcAft>
                          <a:spcPts val="0"/>
                        </a:spcAft>
                      </a:pPr>
                      <a:r>
                        <a:rPr sz="850" b="1" i="0">
                          <a:solidFill>
                            <a:srgbClr val="1C4587"/>
                          </a:solidFill>
                          <a:latin typeface="Inter"/>
                        </a:rPr>
                        <a:t>order.*</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order.placed, order.paid, order.cancelled</a:t>
                      </a:r>
                    </a:p>
                  </a:txBody>
                  <a:tcPr marL="73152" marR="73152" marT="36576" marB="36576" anchor="ctr">
                    <a:solidFill>
                      <a:srgbClr val="F3F4F6"/>
                    </a:solidFill>
                  </a:tcPr>
                </a:tc>
                <a:extLst>
                  <a:ext uri="{0D108BD9-81ED-4DB2-BD59-A6C34878D82A}">
                    <a16:rowId xmlns:a16="http://schemas.microsoft.com/office/drawing/2014/main" val="10002"/>
                  </a:ext>
                </a:extLst>
              </a:tr>
              <a:tr h="411480">
                <a:tc>
                  <a:txBody>
                    <a:bodyPr/>
                    <a:lstStyle/>
                    <a:p>
                      <a:pPr algn="l">
                        <a:lnSpc>
                          <a:spcPct val="100000"/>
                        </a:lnSpc>
                        <a:spcAft>
                          <a:spcPts val="0"/>
                        </a:spcAft>
                      </a:pPr>
                      <a:r>
                        <a:rPr sz="850" b="1" i="0">
                          <a:solidFill>
                            <a:srgbClr val="1C4587"/>
                          </a:solidFill>
                          <a:latin typeface="Inter"/>
                        </a:rPr>
                        <a:t>#</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Semua event</a:t>
                      </a:r>
                    </a:p>
                  </a:txBody>
                  <a:tcPr marL="73152" marR="73152" marT="36576" marB="36576" anchor="ctr">
                    <a:solidFill>
                      <a:srgbClr val="FFFFFF"/>
                    </a:solidFill>
                  </a:tcPr>
                </a:tc>
                <a:extLst>
                  <a:ext uri="{0D108BD9-81ED-4DB2-BD59-A6C34878D82A}">
                    <a16:rowId xmlns:a16="http://schemas.microsoft.com/office/drawing/2014/main" val="10003"/>
                  </a:ext>
                </a:extLst>
              </a:tr>
              <a:tr h="411480">
                <a:tc>
                  <a:txBody>
                    <a:bodyPr/>
                    <a:lstStyle/>
                    <a:p>
                      <a:pPr algn="l">
                        <a:lnSpc>
                          <a:spcPct val="100000"/>
                        </a:lnSpc>
                        <a:spcAft>
                          <a:spcPts val="0"/>
                        </a:spcAft>
                      </a:pPr>
                      <a:r>
                        <a:rPr sz="850" b="1" i="0">
                          <a:solidFill>
                            <a:srgbClr val="1C4587"/>
                          </a:solidFill>
                          <a:latin typeface="Inter"/>
                        </a:rPr>
                        <a:t>durable=True</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Exchange dan queue tetap ada setelah restart</a:t>
                      </a:r>
                    </a:p>
                  </a:txBody>
                  <a:tcPr marL="73152" marR="73152" marT="36576" marB="36576" anchor="ctr">
                    <a:solidFill>
                      <a:srgbClr val="F3F4F6"/>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Exchange &amp; Queue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producer kirim ke setiap queue</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02-exchange-queue/before.py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4277"/>
              </a:lnSpc>
              <a:spcAft>
                <a:spcPts val="0"/>
              </a:spcAft>
            </a:pPr>
            <a:r>
              <a:rPr sz="719" i="0">
                <a:solidFill>
                  <a:srgbClr val="5C6773"/>
                </a:solidFill>
                <a:latin typeface="Inconsolata"/>
              </a:rPr>
              <a:t>11  </a:t>
            </a:r>
            <a:r>
              <a:rPr sz="719" i="0">
                <a:solidFill>
                  <a:srgbClr val="FF8E6E"/>
                </a:solidFill>
                <a:latin typeface="Inconsolata"/>
              </a:rPr>
              <a:t>import</a:t>
            </a:r>
            <a:r>
              <a:rPr sz="719" i="0">
                <a:solidFill>
                  <a:srgbClr val="E6EDF3"/>
                </a:solidFill>
                <a:latin typeface="Inconsolata"/>
              </a:rPr>
              <a:t> json</a:t>
            </a:r>
          </a:p>
          <a:p>
            <a:pPr>
              <a:lnSpc>
                <a:spcPct val="104277"/>
              </a:lnSpc>
              <a:spcAft>
                <a:spcPts val="0"/>
              </a:spcAft>
            </a:pPr>
            <a:r>
              <a:rPr sz="719" i="0">
                <a:solidFill>
                  <a:srgbClr val="5C6773"/>
                </a:solidFill>
                <a:latin typeface="Inconsolata"/>
              </a:rPr>
              <a:t>12  </a:t>
            </a:r>
            <a:r>
              <a:rPr sz="719" i="0">
                <a:solidFill>
                  <a:srgbClr val="FF8E6E"/>
                </a:solidFill>
                <a:latin typeface="Inconsolata"/>
              </a:rPr>
              <a:t>import</a:t>
            </a:r>
            <a:r>
              <a:rPr sz="719" i="0">
                <a:solidFill>
                  <a:srgbClr val="E6EDF3"/>
                </a:solidFill>
                <a:latin typeface="Inconsolata"/>
              </a:rPr>
              <a:t> os</a:t>
            </a:r>
          </a:p>
          <a:p>
            <a:pPr>
              <a:lnSpc>
                <a:spcPct val="104277"/>
              </a:lnSpc>
              <a:spcAft>
                <a:spcPts val="0"/>
              </a:spcAft>
            </a:pPr>
            <a:r>
              <a:rPr sz="719" i="0">
                <a:solidFill>
                  <a:srgbClr val="5C6773"/>
                </a:solidFill>
                <a:latin typeface="Inconsolata"/>
              </a:rPr>
              <a:t>13  </a:t>
            </a:r>
            <a:r>
              <a:rPr sz="719" i="0">
                <a:solidFill>
                  <a:srgbClr val="E6EDF3"/>
                </a:solidFill>
                <a:latin typeface="Inconsolata"/>
              </a:rPr>
              <a:t> </a:t>
            </a:r>
          </a:p>
          <a:p>
            <a:pPr>
              <a:lnSpc>
                <a:spcPct val="104277"/>
              </a:lnSpc>
              <a:spcAft>
                <a:spcPts val="0"/>
              </a:spcAft>
            </a:pPr>
            <a:r>
              <a:rPr sz="719" i="0">
                <a:solidFill>
                  <a:srgbClr val="5C6773"/>
                </a:solidFill>
                <a:latin typeface="Inconsolata"/>
              </a:rPr>
              <a:t>14  </a:t>
            </a:r>
            <a:r>
              <a:rPr sz="719" i="0">
                <a:solidFill>
                  <a:srgbClr val="FF8E6E"/>
                </a:solidFill>
                <a:latin typeface="Inconsolata"/>
              </a:rPr>
              <a:t>import</a:t>
            </a:r>
            <a:r>
              <a:rPr sz="719" i="0">
                <a:solidFill>
                  <a:srgbClr val="E6EDF3"/>
                </a:solidFill>
                <a:latin typeface="Inconsolata"/>
              </a:rPr>
              <a:t> pika</a:t>
            </a:r>
          </a:p>
          <a:p>
            <a:pPr>
              <a:lnSpc>
                <a:spcPct val="104277"/>
              </a:lnSpc>
              <a:spcAft>
                <a:spcPts val="0"/>
              </a:spcAft>
            </a:pPr>
            <a:r>
              <a:rPr sz="719" i="0">
                <a:solidFill>
                  <a:srgbClr val="5C6773"/>
                </a:solidFill>
                <a:latin typeface="Inconsolata"/>
              </a:rPr>
              <a:t>15  </a:t>
            </a:r>
            <a:r>
              <a:rPr sz="719" i="0">
                <a:solidFill>
                  <a:srgbClr val="E6EDF3"/>
                </a:solidFill>
                <a:latin typeface="Inconsolata"/>
              </a:rPr>
              <a:t> </a:t>
            </a:r>
          </a:p>
          <a:p>
            <a:pPr>
              <a:lnSpc>
                <a:spcPct val="104277"/>
              </a:lnSpc>
              <a:spcAft>
                <a:spcPts val="0"/>
              </a:spcAft>
            </a:pPr>
            <a:r>
              <a:rPr sz="719" i="0">
                <a:solidFill>
                  <a:srgbClr val="5C6773"/>
                </a:solidFill>
                <a:latin typeface="Inconsolata"/>
              </a:rPr>
              <a:t>16  </a:t>
            </a:r>
            <a:r>
              <a:rPr sz="719" i="0">
                <a:solidFill>
                  <a:srgbClr val="7FDBCA"/>
                </a:solidFill>
                <a:latin typeface="Inconsolata"/>
              </a:rPr>
              <a:t>URL</a:t>
            </a:r>
            <a:r>
              <a:rPr sz="719" i="0">
                <a:solidFill>
                  <a:srgbClr val="E6EDF3"/>
                </a:solidFill>
                <a:latin typeface="Inconsolata"/>
              </a:rPr>
              <a:t> = os.getenv(</a:t>
            </a:r>
            <a:r>
              <a:rPr sz="719" i="0">
                <a:solidFill>
                  <a:srgbClr val="A5D6A7"/>
                </a:solidFill>
                <a:latin typeface="Inconsolata"/>
              </a:rPr>
              <a:t>"RABBITMQ_URL"</a:t>
            </a:r>
            <a:r>
              <a:rPr sz="719" i="0">
                <a:solidFill>
                  <a:srgbClr val="E6EDF3"/>
                </a:solidFill>
                <a:latin typeface="Inconsolata"/>
              </a:rPr>
              <a:t>, </a:t>
            </a:r>
            <a:r>
              <a:rPr sz="719" i="0">
                <a:solidFill>
                  <a:srgbClr val="A5D6A7"/>
                </a:solidFill>
                <a:latin typeface="Inconsolata"/>
              </a:rPr>
              <a:t>"amqp://guest:guest@localhost:5672/"</a:t>
            </a:r>
            <a:r>
              <a:rPr sz="719" i="0">
                <a:solidFill>
                  <a:srgbClr val="E6EDF3"/>
                </a:solidFill>
                <a:latin typeface="Inconsolata"/>
              </a:rPr>
              <a:t>)</a:t>
            </a:r>
          </a:p>
          <a:p>
            <a:pPr>
              <a:lnSpc>
                <a:spcPct val="104277"/>
              </a:lnSpc>
              <a:spcAft>
                <a:spcPts val="0"/>
              </a:spcAft>
            </a:pPr>
            <a:r>
              <a:rPr sz="719" i="0">
                <a:solidFill>
                  <a:srgbClr val="5C6773"/>
                </a:solidFill>
                <a:latin typeface="Inconsolata"/>
              </a:rPr>
              <a:t>17  </a:t>
            </a:r>
            <a:r>
              <a:rPr sz="719" i="0">
                <a:solidFill>
                  <a:srgbClr val="E6EDF3"/>
                </a:solidFill>
                <a:latin typeface="Inconsolata"/>
              </a:rPr>
              <a:t> </a:t>
            </a:r>
          </a:p>
          <a:p>
            <a:pPr>
              <a:lnSpc>
                <a:spcPct val="104277"/>
              </a:lnSpc>
              <a:spcAft>
                <a:spcPts val="0"/>
              </a:spcAft>
            </a:pPr>
            <a:r>
              <a:rPr sz="719" i="0">
                <a:solidFill>
                  <a:srgbClr val="5C6773"/>
                </a:solidFill>
                <a:latin typeface="Inconsolata"/>
              </a:rPr>
              <a:t>18  </a:t>
            </a:r>
            <a:r>
              <a:rPr sz="719" i="0">
                <a:solidFill>
                  <a:srgbClr val="7FDBCA"/>
                </a:solidFill>
                <a:latin typeface="Inconsolata"/>
              </a:rPr>
              <a:t>QUEUES</a:t>
            </a:r>
            <a:r>
              <a:rPr sz="719" i="0">
                <a:solidFill>
                  <a:srgbClr val="E6EDF3"/>
                </a:solidFill>
                <a:latin typeface="Inconsolata"/>
              </a:rPr>
              <a:t> = [</a:t>
            </a:r>
            <a:r>
              <a:rPr sz="719" i="0">
                <a:solidFill>
                  <a:srgbClr val="A5D6A7"/>
                </a:solidFill>
                <a:latin typeface="Inconsolata"/>
              </a:rPr>
              <a:t>"email"</a:t>
            </a:r>
            <a:r>
              <a:rPr sz="719" i="0">
                <a:solidFill>
                  <a:srgbClr val="E6EDF3"/>
                </a:solidFill>
                <a:latin typeface="Inconsolata"/>
              </a:rPr>
              <a:t>, </a:t>
            </a:r>
            <a:r>
              <a:rPr sz="719" i="0">
                <a:solidFill>
                  <a:srgbClr val="A5D6A7"/>
                </a:solidFill>
                <a:latin typeface="Inconsolata"/>
              </a:rPr>
              <a:t>"points"</a:t>
            </a:r>
            <a:r>
              <a:rPr sz="719" i="0">
                <a:solidFill>
                  <a:srgbClr val="E6EDF3"/>
                </a:solidFill>
                <a:latin typeface="Inconsolata"/>
              </a:rPr>
              <a:t>]          </a:t>
            </a:r>
            <a:r>
              <a:rPr sz="719" i="1">
                <a:solidFill>
                  <a:srgbClr val="8B98A8"/>
                </a:solidFill>
                <a:latin typeface="Inconsolata"/>
              </a:rPr>
              <a:t># consumer baru = tambah di sini</a:t>
            </a:r>
          </a:p>
          <a:p>
            <a:pPr>
              <a:lnSpc>
                <a:spcPct val="104277"/>
              </a:lnSpc>
              <a:spcAft>
                <a:spcPts val="0"/>
              </a:spcAft>
            </a:pPr>
            <a:r>
              <a:rPr sz="719" i="0">
                <a:solidFill>
                  <a:srgbClr val="5C6773"/>
                </a:solidFill>
                <a:latin typeface="Inconsolata"/>
              </a:rPr>
              <a:t>19  </a:t>
            </a:r>
            <a:r>
              <a:rPr sz="719" i="0">
                <a:solidFill>
                  <a:srgbClr val="E6EDF3"/>
                </a:solidFill>
                <a:latin typeface="Inconsolata"/>
              </a:rPr>
              <a:t> </a:t>
            </a:r>
          </a:p>
          <a:p>
            <a:pPr>
              <a:lnSpc>
                <a:spcPct val="104277"/>
              </a:lnSpc>
              <a:spcAft>
                <a:spcPts val="0"/>
              </a:spcAft>
            </a:pPr>
            <a:r>
              <a:rPr sz="719" i="0">
                <a:solidFill>
                  <a:srgbClr val="5C6773"/>
                </a:solidFill>
                <a:latin typeface="Inconsolata"/>
              </a:rPr>
              <a:t>20  </a:t>
            </a:r>
            <a:r>
              <a:rPr sz="719" i="0">
                <a:solidFill>
                  <a:srgbClr val="E6EDF3"/>
                </a:solidFill>
                <a:latin typeface="Inconsolata"/>
              </a:rPr>
              <a:t> </a:t>
            </a:r>
          </a:p>
          <a:p>
            <a:pPr>
              <a:lnSpc>
                <a:spcPct val="104277"/>
              </a:lnSpc>
              <a:spcAft>
                <a:spcPts val="0"/>
              </a:spcAft>
            </a:pPr>
            <a:r>
              <a:rPr sz="719" i="0">
                <a:solidFill>
                  <a:srgbClr val="5C6773"/>
                </a:solidFill>
                <a:latin typeface="Inconsolata"/>
              </a:rPr>
              <a:t>21  </a:t>
            </a:r>
            <a:r>
              <a:rPr sz="719" i="0">
                <a:solidFill>
                  <a:srgbClr val="FF8E6E"/>
                </a:solidFill>
                <a:latin typeface="Inconsolata"/>
              </a:rPr>
              <a:t>def</a:t>
            </a:r>
            <a:r>
              <a:rPr sz="719" i="0">
                <a:solidFill>
                  <a:srgbClr val="E6EDF3"/>
                </a:solidFill>
                <a:latin typeface="Inconsolata"/>
              </a:rPr>
              <a:t> </a:t>
            </a:r>
            <a:r>
              <a:rPr sz="719" i="0">
                <a:solidFill>
                  <a:srgbClr val="82B1FF"/>
                </a:solidFill>
                <a:latin typeface="Inconsolata"/>
              </a:rPr>
              <a:t>publish</a:t>
            </a:r>
            <a:r>
              <a:rPr sz="719" i="0">
                <a:solidFill>
                  <a:srgbClr val="E6EDF3"/>
                </a:solidFill>
                <a:latin typeface="Inconsolata"/>
              </a:rPr>
              <a:t>(channel, event: </a:t>
            </a:r>
            <a:r>
              <a:rPr sz="719" i="0">
                <a:solidFill>
                  <a:srgbClr val="C3A6FF"/>
                </a:solidFill>
                <a:latin typeface="Inconsolata"/>
              </a:rPr>
              <a:t>dict</a:t>
            </a:r>
            <a:r>
              <a:rPr sz="719" i="0">
                <a:solidFill>
                  <a:srgbClr val="E6EDF3"/>
                </a:solidFill>
                <a:latin typeface="Inconsolata"/>
              </a:rPr>
              <a:t>):</a:t>
            </a:r>
          </a:p>
          <a:p>
            <a:pPr>
              <a:lnSpc>
                <a:spcPct val="104277"/>
              </a:lnSpc>
              <a:spcAft>
                <a:spcPts val="0"/>
              </a:spcAft>
            </a:pPr>
            <a:r>
              <a:rPr sz="719" i="0">
                <a:solidFill>
                  <a:srgbClr val="5C6773"/>
                </a:solidFill>
                <a:latin typeface="Inconsolata"/>
              </a:rPr>
              <a:t>22  </a:t>
            </a:r>
            <a:r>
              <a:rPr sz="719" i="0">
                <a:solidFill>
                  <a:srgbClr val="E6EDF3"/>
                </a:solidFill>
                <a:latin typeface="Inconsolata"/>
              </a:rPr>
              <a:t>    </a:t>
            </a:r>
            <a:r>
              <a:rPr sz="719" i="0">
                <a:solidFill>
                  <a:srgbClr val="FF8E6E"/>
                </a:solidFill>
                <a:latin typeface="Inconsolata"/>
              </a:rPr>
              <a:t>for</a:t>
            </a:r>
            <a:r>
              <a:rPr sz="719" i="0">
                <a:solidFill>
                  <a:srgbClr val="E6EDF3"/>
                </a:solidFill>
                <a:latin typeface="Inconsolata"/>
              </a:rPr>
              <a:t> queue </a:t>
            </a:r>
            <a:r>
              <a:rPr sz="719" i="0">
                <a:solidFill>
                  <a:srgbClr val="FF8E6E"/>
                </a:solidFill>
                <a:latin typeface="Inconsolata"/>
              </a:rPr>
              <a:t>in</a:t>
            </a:r>
            <a:r>
              <a:rPr sz="719" i="0">
                <a:solidFill>
                  <a:srgbClr val="E6EDF3"/>
                </a:solidFill>
                <a:latin typeface="Inconsolata"/>
              </a:rPr>
              <a:t> </a:t>
            </a:r>
            <a:r>
              <a:rPr sz="719" i="0">
                <a:solidFill>
                  <a:srgbClr val="7FDBCA"/>
                </a:solidFill>
                <a:latin typeface="Inconsolata"/>
              </a:rPr>
              <a:t>QUEUES</a:t>
            </a:r>
            <a:r>
              <a:rPr sz="719" i="0">
                <a:solidFill>
                  <a:srgbClr val="E6EDF3"/>
                </a:solidFill>
                <a:latin typeface="Inconsolata"/>
              </a:rPr>
              <a:t>:</a:t>
            </a:r>
          </a:p>
          <a:p>
            <a:pPr>
              <a:lnSpc>
                <a:spcPct val="104277"/>
              </a:lnSpc>
              <a:spcAft>
                <a:spcPts val="0"/>
              </a:spcAft>
            </a:pPr>
            <a:r>
              <a:rPr sz="719" i="0">
                <a:solidFill>
                  <a:srgbClr val="5C6773"/>
                </a:solidFill>
                <a:latin typeface="Inconsolata"/>
              </a:rPr>
              <a:t>23  </a:t>
            </a:r>
            <a:r>
              <a:rPr sz="719" i="0">
                <a:solidFill>
                  <a:srgbClr val="E6EDF3"/>
                </a:solidFill>
                <a:latin typeface="Inconsolata"/>
              </a:rPr>
              <a:t>        </a:t>
            </a:r>
            <a:r>
              <a:rPr sz="719" i="0">
                <a:solidFill>
                  <a:srgbClr val="FF8E6E"/>
                </a:solidFill>
                <a:latin typeface="Inconsolata"/>
              </a:rPr>
              <a:t>if</a:t>
            </a:r>
            <a:r>
              <a:rPr sz="719" i="0">
                <a:solidFill>
                  <a:srgbClr val="E6EDF3"/>
                </a:solidFill>
                <a:latin typeface="Inconsolata"/>
              </a:rPr>
              <a:t> queue == </a:t>
            </a:r>
            <a:r>
              <a:rPr sz="719" i="0">
                <a:solidFill>
                  <a:srgbClr val="A5D6A7"/>
                </a:solidFill>
                <a:latin typeface="Inconsolata"/>
              </a:rPr>
              <a:t>"points"</a:t>
            </a:r>
            <a:r>
              <a:rPr sz="719" i="0">
                <a:solidFill>
                  <a:srgbClr val="E6EDF3"/>
                </a:solidFill>
                <a:latin typeface="Inconsolata"/>
              </a:rPr>
              <a:t> </a:t>
            </a:r>
            <a:r>
              <a:rPr sz="719" i="0">
                <a:solidFill>
                  <a:srgbClr val="FF8E6E"/>
                </a:solidFill>
                <a:latin typeface="Inconsolata"/>
              </a:rPr>
              <a:t>and</a:t>
            </a:r>
            <a:r>
              <a:rPr sz="719" i="0">
                <a:solidFill>
                  <a:srgbClr val="E6EDF3"/>
                </a:solidFill>
                <a:latin typeface="Inconsolata"/>
              </a:rPr>
              <a:t> event[</a:t>
            </a:r>
            <a:r>
              <a:rPr sz="719" i="0">
                <a:solidFill>
                  <a:srgbClr val="A5D6A7"/>
                </a:solidFill>
                <a:latin typeface="Inconsolata"/>
              </a:rPr>
              <a:t>"type"</a:t>
            </a:r>
            <a:r>
              <a:rPr sz="719" i="0">
                <a:solidFill>
                  <a:srgbClr val="E6EDF3"/>
                </a:solidFill>
                <a:latin typeface="Inconsolata"/>
              </a:rPr>
              <a:t>] != </a:t>
            </a:r>
            <a:r>
              <a:rPr sz="719" i="0">
                <a:solidFill>
                  <a:srgbClr val="A5D6A7"/>
                </a:solidFill>
                <a:latin typeface="Inconsolata"/>
              </a:rPr>
              <a:t>"order.paid"</a:t>
            </a:r>
            <a:r>
              <a:rPr sz="719" i="0">
                <a:solidFill>
                  <a:srgbClr val="E6EDF3"/>
                </a:solidFill>
                <a:latin typeface="Inconsolata"/>
              </a:rPr>
              <a:t>:</a:t>
            </a:r>
          </a:p>
          <a:p>
            <a:pPr>
              <a:lnSpc>
                <a:spcPct val="104277"/>
              </a:lnSpc>
              <a:spcAft>
                <a:spcPts val="0"/>
              </a:spcAft>
            </a:pPr>
            <a:r>
              <a:rPr sz="719" i="0">
                <a:solidFill>
                  <a:srgbClr val="5C6773"/>
                </a:solidFill>
                <a:latin typeface="Inconsolata"/>
              </a:rPr>
              <a:t>24  </a:t>
            </a:r>
            <a:r>
              <a:rPr sz="719" i="0">
                <a:solidFill>
                  <a:srgbClr val="E6EDF3"/>
                </a:solidFill>
                <a:latin typeface="Inconsolata"/>
              </a:rPr>
              <a:t>            </a:t>
            </a:r>
            <a:r>
              <a:rPr sz="719" i="0">
                <a:solidFill>
                  <a:srgbClr val="FF8E6E"/>
                </a:solidFill>
                <a:latin typeface="Inconsolata"/>
              </a:rPr>
              <a:t>continue</a:t>
            </a:r>
            <a:r>
              <a:rPr sz="719" i="0">
                <a:solidFill>
                  <a:srgbClr val="E6EDF3"/>
                </a:solidFill>
                <a:latin typeface="Inconsolata"/>
              </a:rPr>
              <a:t>    </a:t>
            </a:r>
            <a:r>
              <a:rPr sz="719" i="1">
                <a:solidFill>
                  <a:srgbClr val="8B98A8"/>
                </a:solidFill>
                <a:latin typeface="Inconsolata"/>
              </a:rPr>
              <a:t># aturan consumer, ditulis di producer</a:t>
            </a:r>
          </a:p>
          <a:p>
            <a:pPr>
              <a:lnSpc>
                <a:spcPct val="104277"/>
              </a:lnSpc>
              <a:spcAft>
                <a:spcPts val="0"/>
              </a:spcAft>
            </a:pPr>
            <a:r>
              <a:rPr sz="719" i="0">
                <a:solidFill>
                  <a:srgbClr val="5C6773"/>
                </a:solidFill>
                <a:latin typeface="Inconsolata"/>
              </a:rPr>
              <a:t>25  </a:t>
            </a:r>
            <a:r>
              <a:rPr sz="719" i="0">
                <a:solidFill>
                  <a:srgbClr val="E6EDF3"/>
                </a:solidFill>
                <a:latin typeface="Inconsolata"/>
              </a:rPr>
              <a:t>        channel.basic_publish(exchange=</a:t>
            </a:r>
            <a:r>
              <a:rPr sz="719" i="0">
                <a:solidFill>
                  <a:srgbClr val="A5D6A7"/>
                </a:solidFill>
                <a:latin typeface="Inconsolata"/>
              </a:rPr>
              <a:t>""</a:t>
            </a:r>
            <a:r>
              <a:rPr sz="719" i="0">
                <a:solidFill>
                  <a:srgbClr val="E6EDF3"/>
                </a:solidFill>
                <a:latin typeface="Inconsolata"/>
              </a:rPr>
              <a:t>, routing_key=queue,</a:t>
            </a:r>
          </a:p>
          <a:p>
            <a:pPr>
              <a:lnSpc>
                <a:spcPct val="104277"/>
              </a:lnSpc>
              <a:spcAft>
                <a:spcPts val="0"/>
              </a:spcAft>
            </a:pPr>
            <a:r>
              <a:rPr sz="719" i="0">
                <a:solidFill>
                  <a:srgbClr val="5C6773"/>
                </a:solidFill>
                <a:latin typeface="Inconsolata"/>
              </a:rPr>
              <a:t>26  </a:t>
            </a:r>
            <a:r>
              <a:rPr sz="719" i="0">
                <a:solidFill>
                  <a:srgbClr val="E6EDF3"/>
                </a:solidFill>
                <a:latin typeface="Inconsolata"/>
              </a:rPr>
              <a:t>                              body=json.dumps(event))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02-exchange-queue/before.py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4277"/>
              </a:lnSpc>
              <a:spcAft>
                <a:spcPts val="0"/>
              </a:spcAft>
            </a:pPr>
            <a:r>
              <a:rPr sz="719" i="0">
                <a:solidFill>
                  <a:srgbClr val="5C6773"/>
                </a:solidFill>
                <a:latin typeface="Inconsolata"/>
              </a:rPr>
              <a:t>29  </a:t>
            </a:r>
            <a:r>
              <a:rPr sz="719" i="0">
                <a:solidFill>
                  <a:srgbClr val="FF8E6E"/>
                </a:solidFill>
                <a:latin typeface="Inconsolata"/>
              </a:rPr>
              <a:t>if</a:t>
            </a:r>
            <a:r>
              <a:rPr sz="719" i="0">
                <a:solidFill>
                  <a:srgbClr val="E6EDF3"/>
                </a:solidFill>
                <a:latin typeface="Inconsolata"/>
              </a:rPr>
              <a:t> __name__ == </a:t>
            </a:r>
            <a:r>
              <a:rPr sz="719" i="0">
                <a:solidFill>
                  <a:srgbClr val="A5D6A7"/>
                </a:solidFill>
                <a:latin typeface="Inconsolata"/>
              </a:rPr>
              <a:t>"__main__"</a:t>
            </a:r>
            <a:r>
              <a:rPr sz="719" i="0">
                <a:solidFill>
                  <a:srgbClr val="E6EDF3"/>
                </a:solidFill>
                <a:latin typeface="Inconsolata"/>
              </a:rPr>
              <a:t>:</a:t>
            </a:r>
          </a:p>
          <a:p>
            <a:pPr>
              <a:lnSpc>
                <a:spcPct val="104277"/>
              </a:lnSpc>
              <a:spcAft>
                <a:spcPts val="0"/>
              </a:spcAft>
            </a:pPr>
            <a:r>
              <a:rPr sz="719" i="0">
                <a:solidFill>
                  <a:srgbClr val="5C6773"/>
                </a:solidFill>
                <a:latin typeface="Inconsolata"/>
              </a:rPr>
              <a:t>30  </a:t>
            </a:r>
            <a:r>
              <a:rPr sz="719" i="0">
                <a:solidFill>
                  <a:srgbClr val="E6EDF3"/>
                </a:solidFill>
                <a:latin typeface="Inconsolata"/>
              </a:rPr>
              <a:t>    </a:t>
            </a:r>
            <a:r>
              <a:rPr sz="719" i="0">
                <a:solidFill>
                  <a:srgbClr val="FF8E6E"/>
                </a:solidFill>
                <a:latin typeface="Inconsolata"/>
              </a:rPr>
              <a:t>with</a:t>
            </a:r>
            <a:r>
              <a:rPr sz="719" i="0">
                <a:solidFill>
                  <a:srgbClr val="E6EDF3"/>
                </a:solidFill>
                <a:latin typeface="Inconsolata"/>
              </a:rPr>
              <a:t> pika.</a:t>
            </a:r>
            <a:r>
              <a:rPr sz="719" i="0">
                <a:solidFill>
                  <a:srgbClr val="7FDBCA"/>
                </a:solidFill>
                <a:latin typeface="Inconsolata"/>
              </a:rPr>
              <a:t>BlockingConnection</a:t>
            </a:r>
            <a:r>
              <a:rPr sz="719" i="0">
                <a:solidFill>
                  <a:srgbClr val="E6EDF3"/>
                </a:solidFill>
                <a:latin typeface="Inconsolata"/>
              </a:rPr>
              <a:t>(pika.</a:t>
            </a:r>
            <a:r>
              <a:rPr sz="719" i="0">
                <a:solidFill>
                  <a:srgbClr val="7FDBCA"/>
                </a:solidFill>
                <a:latin typeface="Inconsolata"/>
              </a:rPr>
              <a:t>URLParameters</a:t>
            </a:r>
            <a:r>
              <a:rPr sz="719" i="0">
                <a:solidFill>
                  <a:srgbClr val="E6EDF3"/>
                </a:solidFill>
                <a:latin typeface="Inconsolata"/>
              </a:rPr>
              <a:t>(</a:t>
            </a:r>
            <a:r>
              <a:rPr sz="719" i="0">
                <a:solidFill>
                  <a:srgbClr val="7FDBCA"/>
                </a:solidFill>
                <a:latin typeface="Inconsolata"/>
              </a:rPr>
              <a:t>URL</a:t>
            </a:r>
            <a:r>
              <a:rPr sz="719" i="0">
                <a:solidFill>
                  <a:srgbClr val="E6EDF3"/>
                </a:solidFill>
                <a:latin typeface="Inconsolata"/>
              </a:rPr>
              <a:t>)) </a:t>
            </a:r>
            <a:r>
              <a:rPr sz="719" i="0">
                <a:solidFill>
                  <a:srgbClr val="FF8E6E"/>
                </a:solidFill>
                <a:latin typeface="Inconsolata"/>
              </a:rPr>
              <a:t>as</a:t>
            </a:r>
            <a:r>
              <a:rPr sz="719" i="0">
                <a:solidFill>
                  <a:srgbClr val="E6EDF3"/>
                </a:solidFill>
                <a:latin typeface="Inconsolata"/>
              </a:rPr>
              <a:t> conn:</a:t>
            </a:r>
          </a:p>
          <a:p>
            <a:pPr>
              <a:lnSpc>
                <a:spcPct val="104277"/>
              </a:lnSpc>
              <a:spcAft>
                <a:spcPts val="0"/>
              </a:spcAft>
            </a:pPr>
            <a:r>
              <a:rPr sz="719" i="0">
                <a:solidFill>
                  <a:srgbClr val="5C6773"/>
                </a:solidFill>
                <a:latin typeface="Inconsolata"/>
              </a:rPr>
              <a:t>31  </a:t>
            </a:r>
            <a:r>
              <a:rPr sz="719" i="0">
                <a:solidFill>
                  <a:srgbClr val="E6EDF3"/>
                </a:solidFill>
                <a:latin typeface="Inconsolata"/>
              </a:rPr>
              <a:t>        channel = conn.channel()</a:t>
            </a:r>
          </a:p>
          <a:p>
            <a:pPr>
              <a:lnSpc>
                <a:spcPct val="104277"/>
              </a:lnSpc>
              <a:spcAft>
                <a:spcPts val="0"/>
              </a:spcAft>
            </a:pPr>
            <a:r>
              <a:rPr sz="719" i="0">
                <a:solidFill>
                  <a:srgbClr val="5C6773"/>
                </a:solidFill>
                <a:latin typeface="Inconsolata"/>
              </a:rPr>
              <a:t>32  </a:t>
            </a:r>
            <a:r>
              <a:rPr sz="719" i="0">
                <a:solidFill>
                  <a:srgbClr val="E6EDF3"/>
                </a:solidFill>
                <a:latin typeface="Inconsolata"/>
              </a:rPr>
              <a:t>        channel.confirm_delivery()    </a:t>
            </a:r>
            <a:r>
              <a:rPr sz="719" i="1">
                <a:solidFill>
                  <a:srgbClr val="8B98A8"/>
                </a:solidFill>
                <a:latin typeface="Inconsolata"/>
              </a:rPr>
              <a:t># tunggu konfirmasi RabbitMQ</a:t>
            </a:r>
          </a:p>
          <a:p>
            <a:pPr>
              <a:lnSpc>
                <a:spcPct val="104277"/>
              </a:lnSpc>
              <a:spcAft>
                <a:spcPts val="0"/>
              </a:spcAft>
            </a:pPr>
            <a:r>
              <a:rPr sz="719" i="0">
                <a:solidFill>
                  <a:srgbClr val="5C6773"/>
                </a:solidFill>
                <a:latin typeface="Inconsolata"/>
              </a:rPr>
              <a:t>33  </a:t>
            </a:r>
            <a:r>
              <a:rPr sz="719" i="0">
                <a:solidFill>
                  <a:srgbClr val="E6EDF3"/>
                </a:solidFill>
                <a:latin typeface="Inconsolata"/>
              </a:rPr>
              <a:t>        </a:t>
            </a:r>
            <a:r>
              <a:rPr sz="719" i="0">
                <a:solidFill>
                  <a:srgbClr val="FF8E6E"/>
                </a:solidFill>
                <a:latin typeface="Inconsolata"/>
              </a:rPr>
              <a:t>for</a:t>
            </a:r>
            <a:r>
              <a:rPr sz="719" i="0">
                <a:solidFill>
                  <a:srgbClr val="E6EDF3"/>
                </a:solidFill>
                <a:latin typeface="Inconsolata"/>
              </a:rPr>
              <a:t> queue </a:t>
            </a:r>
            <a:r>
              <a:rPr sz="719" i="0">
                <a:solidFill>
                  <a:srgbClr val="FF8E6E"/>
                </a:solidFill>
                <a:latin typeface="Inconsolata"/>
              </a:rPr>
              <a:t>in</a:t>
            </a:r>
            <a:r>
              <a:rPr sz="719" i="0">
                <a:solidFill>
                  <a:srgbClr val="E6EDF3"/>
                </a:solidFill>
                <a:latin typeface="Inconsolata"/>
              </a:rPr>
              <a:t> </a:t>
            </a:r>
            <a:r>
              <a:rPr sz="719" i="0">
                <a:solidFill>
                  <a:srgbClr val="7FDBCA"/>
                </a:solidFill>
                <a:latin typeface="Inconsolata"/>
              </a:rPr>
              <a:t>QUEUES</a:t>
            </a:r>
            <a:r>
              <a:rPr sz="719" i="0">
                <a:solidFill>
                  <a:srgbClr val="E6EDF3"/>
                </a:solidFill>
                <a:latin typeface="Inconsolata"/>
              </a:rPr>
              <a:t>:</a:t>
            </a:r>
          </a:p>
          <a:p>
            <a:pPr>
              <a:lnSpc>
                <a:spcPct val="104277"/>
              </a:lnSpc>
              <a:spcAft>
                <a:spcPts val="0"/>
              </a:spcAft>
            </a:pPr>
            <a:r>
              <a:rPr sz="719" i="0">
                <a:solidFill>
                  <a:srgbClr val="5C6773"/>
                </a:solidFill>
                <a:latin typeface="Inconsolata"/>
              </a:rPr>
              <a:t>34  </a:t>
            </a:r>
            <a:r>
              <a:rPr sz="719" i="0">
                <a:solidFill>
                  <a:srgbClr val="E6EDF3"/>
                </a:solidFill>
                <a:latin typeface="Inconsolata"/>
              </a:rPr>
              <a:t>            channel.queue_delete(queue)        </a:t>
            </a:r>
            <a:r>
              <a:rPr sz="719" i="1">
                <a:solidFill>
                  <a:srgbClr val="8B98A8"/>
                </a:solidFill>
                <a:latin typeface="Inconsolata"/>
              </a:rPr>
              <a:t># mulai dari kosong</a:t>
            </a:r>
          </a:p>
          <a:p>
            <a:pPr>
              <a:lnSpc>
                <a:spcPct val="104277"/>
              </a:lnSpc>
              <a:spcAft>
                <a:spcPts val="0"/>
              </a:spcAft>
            </a:pPr>
            <a:r>
              <a:rPr sz="719" i="0">
                <a:solidFill>
                  <a:srgbClr val="5C6773"/>
                </a:solidFill>
                <a:latin typeface="Inconsolata"/>
              </a:rPr>
              <a:t>35  </a:t>
            </a:r>
            <a:r>
              <a:rPr sz="719" i="0">
                <a:solidFill>
                  <a:srgbClr val="E6EDF3"/>
                </a:solidFill>
                <a:latin typeface="Inconsolata"/>
              </a:rPr>
              <a:t>            channel.queue_declare(queue, durable=</a:t>
            </a:r>
            <a:r>
              <a:rPr sz="719" i="0">
                <a:solidFill>
                  <a:srgbClr val="FF8E6E"/>
                </a:solidFill>
                <a:latin typeface="Inconsolata"/>
              </a:rPr>
              <a:t>True</a:t>
            </a:r>
            <a:r>
              <a:rPr sz="719" i="0">
                <a:solidFill>
                  <a:srgbClr val="E6EDF3"/>
                </a:solidFill>
                <a:latin typeface="Inconsolata"/>
              </a:rPr>
              <a:t>)</a:t>
            </a:r>
          </a:p>
          <a:p>
            <a:pPr>
              <a:lnSpc>
                <a:spcPct val="104277"/>
              </a:lnSpc>
              <a:spcAft>
                <a:spcPts val="0"/>
              </a:spcAft>
            </a:pPr>
            <a:r>
              <a:rPr sz="719" i="0">
                <a:solidFill>
                  <a:srgbClr val="5C6773"/>
                </a:solidFill>
                <a:latin typeface="Inconsolata"/>
              </a:rPr>
              <a:t>36  </a:t>
            </a:r>
            <a:r>
              <a:rPr sz="719" i="0">
                <a:solidFill>
                  <a:srgbClr val="E6EDF3"/>
                </a:solidFill>
                <a:latin typeface="Inconsolata"/>
              </a:rPr>
              <a:t> </a:t>
            </a:r>
          </a:p>
          <a:p>
            <a:pPr>
              <a:lnSpc>
                <a:spcPct val="104277"/>
              </a:lnSpc>
              <a:spcAft>
                <a:spcPts val="0"/>
              </a:spcAft>
            </a:pPr>
            <a:r>
              <a:rPr sz="719" i="0">
                <a:solidFill>
                  <a:srgbClr val="5C6773"/>
                </a:solidFill>
                <a:latin typeface="Inconsolata"/>
              </a:rPr>
              <a:t>37  </a:t>
            </a:r>
            <a:r>
              <a:rPr sz="719" i="0">
                <a:solidFill>
                  <a:srgbClr val="E6EDF3"/>
                </a:solidFill>
                <a:latin typeface="Inconsolata"/>
              </a:rPr>
              <a:t>        publish(channel, {</a:t>
            </a:r>
            <a:r>
              <a:rPr sz="719" i="0">
                <a:solidFill>
                  <a:srgbClr val="A5D6A7"/>
                </a:solidFill>
                <a:latin typeface="Inconsolata"/>
              </a:rPr>
              <a:t>"type"</a:t>
            </a:r>
            <a:r>
              <a:rPr sz="719" i="0">
                <a:solidFill>
                  <a:srgbClr val="E6EDF3"/>
                </a:solidFill>
                <a:latin typeface="Inconsolata"/>
              </a:rPr>
              <a:t>: </a:t>
            </a:r>
            <a:r>
              <a:rPr sz="719" i="0">
                <a:solidFill>
                  <a:srgbClr val="A5D6A7"/>
                </a:solidFill>
                <a:latin typeface="Inconsolata"/>
              </a:rPr>
              <a:t>"order.placed"</a:t>
            </a:r>
            <a:r>
              <a:rPr sz="719" i="0">
                <a:solidFill>
                  <a:srgbClr val="E6EDF3"/>
                </a:solidFill>
                <a:latin typeface="Inconsolata"/>
              </a:rPr>
              <a:t>, </a:t>
            </a:r>
            <a:r>
              <a:rPr sz="719" i="0">
                <a:solidFill>
                  <a:srgbClr val="A5D6A7"/>
                </a:solidFill>
                <a:latin typeface="Inconsolata"/>
              </a:rPr>
              <a:t>"order_id"</a:t>
            </a:r>
            <a:r>
              <a:rPr sz="719" i="0">
                <a:solidFill>
                  <a:srgbClr val="E6EDF3"/>
                </a:solidFill>
                <a:latin typeface="Inconsolata"/>
              </a:rPr>
              <a:t>: </a:t>
            </a:r>
            <a:r>
              <a:rPr sz="719" i="0">
                <a:solidFill>
                  <a:srgbClr val="F9C97A"/>
                </a:solidFill>
                <a:latin typeface="Inconsolata"/>
              </a:rPr>
              <a:t>1</a:t>
            </a:r>
            <a:r>
              <a:rPr sz="719" i="0">
                <a:solidFill>
                  <a:srgbClr val="E6EDF3"/>
                </a:solidFill>
                <a:latin typeface="Inconsolata"/>
              </a:rPr>
              <a:t>})</a:t>
            </a:r>
          </a:p>
          <a:p>
            <a:pPr>
              <a:lnSpc>
                <a:spcPct val="104277"/>
              </a:lnSpc>
              <a:spcAft>
                <a:spcPts val="0"/>
              </a:spcAft>
            </a:pPr>
            <a:r>
              <a:rPr sz="719" i="0">
                <a:solidFill>
                  <a:srgbClr val="5C6773"/>
                </a:solidFill>
                <a:latin typeface="Inconsolata"/>
              </a:rPr>
              <a:t>38  </a:t>
            </a:r>
            <a:r>
              <a:rPr sz="719" i="0">
                <a:solidFill>
                  <a:srgbClr val="E6EDF3"/>
                </a:solidFill>
                <a:latin typeface="Inconsolata"/>
              </a:rPr>
              <a:t>        publish(channel, {</a:t>
            </a:r>
            <a:r>
              <a:rPr sz="719" i="0">
                <a:solidFill>
                  <a:srgbClr val="A5D6A7"/>
                </a:solidFill>
                <a:latin typeface="Inconsolata"/>
              </a:rPr>
              <a:t>"type"</a:t>
            </a:r>
            <a:r>
              <a:rPr sz="719" i="0">
                <a:solidFill>
                  <a:srgbClr val="E6EDF3"/>
                </a:solidFill>
                <a:latin typeface="Inconsolata"/>
              </a:rPr>
              <a:t>: </a:t>
            </a:r>
            <a:r>
              <a:rPr sz="719" i="0">
                <a:solidFill>
                  <a:srgbClr val="A5D6A7"/>
                </a:solidFill>
                <a:latin typeface="Inconsolata"/>
              </a:rPr>
              <a:t>"order.paid"</a:t>
            </a:r>
            <a:r>
              <a:rPr sz="719" i="0">
                <a:solidFill>
                  <a:srgbClr val="E6EDF3"/>
                </a:solidFill>
                <a:latin typeface="Inconsolata"/>
              </a:rPr>
              <a:t>, </a:t>
            </a:r>
            <a:r>
              <a:rPr sz="719" i="0">
                <a:solidFill>
                  <a:srgbClr val="A5D6A7"/>
                </a:solidFill>
                <a:latin typeface="Inconsolata"/>
              </a:rPr>
              <a:t>"order_id"</a:t>
            </a:r>
            <a:r>
              <a:rPr sz="719" i="0">
                <a:solidFill>
                  <a:srgbClr val="E6EDF3"/>
                </a:solidFill>
                <a:latin typeface="Inconsolata"/>
              </a:rPr>
              <a:t>: </a:t>
            </a:r>
            <a:r>
              <a:rPr sz="719" i="0">
                <a:solidFill>
                  <a:srgbClr val="F9C97A"/>
                </a:solidFill>
                <a:latin typeface="Inconsolata"/>
              </a:rPr>
              <a:t>1</a:t>
            </a:r>
            <a:r>
              <a:rPr sz="719" i="0">
                <a:solidFill>
                  <a:srgbClr val="E6EDF3"/>
                </a:solidFill>
                <a:latin typeface="Inconsolata"/>
              </a:rPr>
              <a:t>})</a:t>
            </a:r>
          </a:p>
          <a:p>
            <a:pPr>
              <a:lnSpc>
                <a:spcPct val="104277"/>
              </a:lnSpc>
              <a:spcAft>
                <a:spcPts val="0"/>
              </a:spcAft>
            </a:pPr>
            <a:r>
              <a:rPr sz="719" i="0">
                <a:solidFill>
                  <a:srgbClr val="5C6773"/>
                </a:solidFill>
                <a:latin typeface="Inconsolata"/>
              </a:rPr>
              <a:t>39  </a:t>
            </a:r>
            <a:r>
              <a:rPr sz="719" i="0">
                <a:solidFill>
                  <a:srgbClr val="E6EDF3"/>
                </a:solidFill>
                <a:latin typeface="Inconsolata"/>
              </a:rPr>
              <a:t> </a:t>
            </a:r>
          </a:p>
          <a:p>
            <a:pPr>
              <a:lnSpc>
                <a:spcPct val="104277"/>
              </a:lnSpc>
              <a:spcAft>
                <a:spcPts val="0"/>
              </a:spcAft>
            </a:pPr>
            <a:r>
              <a:rPr sz="719" i="0">
                <a:solidFill>
                  <a:srgbClr val="5C6773"/>
                </a:solidFill>
                <a:latin typeface="Inconsolata"/>
              </a:rPr>
              <a:t>40  </a:t>
            </a:r>
            <a:r>
              <a:rPr sz="719" i="0">
                <a:solidFill>
                  <a:srgbClr val="E6EDF3"/>
                </a:solidFill>
                <a:latin typeface="Inconsolata"/>
              </a:rPr>
              <a:t>        </a:t>
            </a:r>
            <a:r>
              <a:rPr sz="719" i="0">
                <a:solidFill>
                  <a:srgbClr val="FF8E6E"/>
                </a:solidFill>
                <a:latin typeface="Inconsolata"/>
              </a:rPr>
              <a:t>for</a:t>
            </a:r>
            <a:r>
              <a:rPr sz="719" i="0">
                <a:solidFill>
                  <a:srgbClr val="E6EDF3"/>
                </a:solidFill>
                <a:latin typeface="Inconsolata"/>
              </a:rPr>
              <a:t> queue </a:t>
            </a:r>
            <a:r>
              <a:rPr sz="719" i="0">
                <a:solidFill>
                  <a:srgbClr val="FF8E6E"/>
                </a:solidFill>
                <a:latin typeface="Inconsolata"/>
              </a:rPr>
              <a:t>in</a:t>
            </a:r>
            <a:r>
              <a:rPr sz="719" i="0">
                <a:solidFill>
                  <a:srgbClr val="E6EDF3"/>
                </a:solidFill>
                <a:latin typeface="Inconsolata"/>
              </a:rPr>
              <a:t> </a:t>
            </a:r>
            <a:r>
              <a:rPr sz="719" i="0">
                <a:solidFill>
                  <a:srgbClr val="7FDBCA"/>
                </a:solidFill>
                <a:latin typeface="Inconsolata"/>
              </a:rPr>
              <a:t>QUEUES</a:t>
            </a:r>
            <a:r>
              <a:rPr sz="719" i="0">
                <a:solidFill>
                  <a:srgbClr val="E6EDF3"/>
                </a:solidFill>
                <a:latin typeface="Inconsolata"/>
              </a:rPr>
              <a:t>:</a:t>
            </a:r>
          </a:p>
          <a:p>
            <a:pPr>
              <a:lnSpc>
                <a:spcPct val="104277"/>
              </a:lnSpc>
              <a:spcAft>
                <a:spcPts val="0"/>
              </a:spcAft>
            </a:pPr>
            <a:r>
              <a:rPr sz="719" i="0">
                <a:solidFill>
                  <a:srgbClr val="5C6773"/>
                </a:solidFill>
                <a:latin typeface="Inconsolata"/>
              </a:rPr>
              <a:t>41  </a:t>
            </a:r>
            <a:r>
              <a:rPr sz="719" i="0">
                <a:solidFill>
                  <a:srgbClr val="E6EDF3"/>
                </a:solidFill>
                <a:latin typeface="Inconsolata"/>
              </a:rPr>
              <a:t>            info = channel.queue_declare(queue, passive=</a:t>
            </a:r>
            <a:r>
              <a:rPr sz="719" i="0">
                <a:solidFill>
                  <a:srgbClr val="FF8E6E"/>
                </a:solidFill>
                <a:latin typeface="Inconsolata"/>
              </a:rPr>
              <a:t>True</a:t>
            </a:r>
            <a:r>
              <a:rPr sz="719" i="0">
                <a:solidFill>
                  <a:srgbClr val="E6EDF3"/>
                </a:solidFill>
                <a:latin typeface="Inconsolata"/>
              </a:rPr>
              <a:t>)</a:t>
            </a:r>
          </a:p>
          <a:p>
            <a:pPr>
              <a:lnSpc>
                <a:spcPct val="104277"/>
              </a:lnSpc>
              <a:spcAft>
                <a:spcPts val="0"/>
              </a:spcAft>
            </a:pPr>
            <a:r>
              <a:rPr sz="719" i="0">
                <a:solidFill>
                  <a:srgbClr val="5C6773"/>
                </a:solidFill>
                <a:latin typeface="Inconsolata"/>
              </a:rPr>
              <a:t>42  </a:t>
            </a:r>
            <a:r>
              <a:rPr sz="719" i="0">
                <a:solidFill>
                  <a:srgbClr val="E6EDF3"/>
                </a:solidFill>
                <a:latin typeface="Inconsolata"/>
              </a:rPr>
              <a:t>            count = info.method.message_count</a:t>
            </a:r>
          </a:p>
          <a:p>
            <a:pPr>
              <a:lnSpc>
                <a:spcPct val="104277"/>
              </a:lnSpc>
              <a:spcAft>
                <a:spcPts val="0"/>
              </a:spcAft>
            </a:pPr>
            <a:r>
              <a:rPr sz="719" i="0">
                <a:solidFill>
                  <a:srgbClr val="5C6773"/>
                </a:solidFill>
                <a:latin typeface="Inconsolata"/>
              </a:rPr>
              <a:t>43  </a:t>
            </a:r>
            <a:r>
              <a:rPr sz="719" i="0">
                <a:solidFill>
                  <a:srgbClr val="E6EDF3"/>
                </a:solidFill>
                <a:latin typeface="Inconsolata"/>
              </a:rPr>
              <a:t>            </a:t>
            </a:r>
            <a:r>
              <a:rPr sz="719" i="0">
                <a:solidFill>
                  <a:srgbClr val="C3A6FF"/>
                </a:solidFill>
                <a:latin typeface="Inconsolata"/>
              </a:rPr>
              <a:t>print</a:t>
            </a:r>
            <a:r>
              <a:rPr sz="719" i="0">
                <a:solidFill>
                  <a:srgbClr val="E6EDF3"/>
                </a:solidFill>
                <a:latin typeface="Inconsolata"/>
              </a:rPr>
              <a:t>(</a:t>
            </a:r>
            <a:r>
              <a:rPr sz="719" i="0">
                <a:solidFill>
                  <a:srgbClr val="A5D6A7"/>
                </a:solidFill>
                <a:latin typeface="Inconsolata"/>
              </a:rPr>
              <a:t>f"Queue {queue:&lt;9}: {count} pesan"</a:t>
            </a:r>
            <a:r>
              <a:rPr sz="719" i="0">
                <a:solidFill>
                  <a:srgbClr val="E6EDF3"/>
                </a:solidFill>
                <a:latin typeface="Inconsolata"/>
              </a:rPr>
              <a:t>)</a:t>
            </a:r>
          </a:p>
        </p:txBody>
      </p:sp>
      <p:sp>
        <p:nvSpPr>
          <p:cNvPr id="36" name="Box 21"/>
          <p:cNvSpPr/>
          <p:nvPr/>
        </p:nvSpPr>
        <p:spPr>
          <a:xfrm>
            <a:off x="704088" y="2625471"/>
            <a:ext cx="3694176" cy="107442"/>
          </a:xfrm>
          <a:prstGeom prst="roundRect">
            <a:avLst>
              <a:gd name="adj" fmla="val 42553"/>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25603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704088" y="3196971"/>
            <a:ext cx="3694176" cy="221742"/>
          </a:xfrm>
          <a:prstGeom prst="roundRect">
            <a:avLst>
              <a:gd name="adj" fmla="val 20618"/>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279392" y="318897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704088" y="3425571"/>
            <a:ext cx="3694176" cy="107442"/>
          </a:xfrm>
          <a:prstGeom prst="roundRect">
            <a:avLst>
              <a:gd name="adj" fmla="val 42553"/>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4279392" y="33604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Exchange &amp; Queue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02-exchange-queue/before.py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621792"/>
          </a:xfrm>
          <a:prstGeom prst="roundRect">
            <a:avLst>
              <a:gd name="adj" fmla="val 2941"/>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621792"/>
          </a:xfrm>
          <a:prstGeom prst="rect">
            <a:avLst/>
          </a:prstGeom>
          <a:noFill/>
        </p:spPr>
        <p:txBody>
          <a:bodyPr wrap="none" lIns="146304" tIns="91440" rIns="146304" bIns="54864">
            <a:spAutoFit/>
          </a:bodyPr>
          <a:lstStyle/>
          <a:p>
            <a:pPr>
              <a:lnSpc>
                <a:spcPct val="107843"/>
              </a:lnSpc>
              <a:spcAft>
                <a:spcPts val="0"/>
              </a:spcAft>
            </a:pPr>
            <a:r>
              <a:rPr sz="850" i="0">
                <a:solidFill>
                  <a:srgbClr val="82B1FF"/>
                </a:solidFill>
                <a:latin typeface="Inconsolata"/>
              </a:rPr>
              <a:t>$ cd sesi-08-event-driven-rabbitmq-kafka/02-exchange-queue</a:t>
            </a:r>
          </a:p>
          <a:p>
            <a:pPr>
              <a:lnSpc>
                <a:spcPct val="107843"/>
              </a:lnSpc>
              <a:spcAft>
                <a:spcPts val="0"/>
              </a:spcAft>
            </a:pPr>
            <a:r>
              <a:rPr sz="850" i="0">
                <a:solidFill>
                  <a:srgbClr val="82B1FF"/>
                </a:solidFill>
                <a:latin typeface="Inconsolata"/>
              </a:rPr>
              <a:t>$ docker compose -f ../docker-compose.yml up -d rabbitmq</a:t>
            </a:r>
          </a:p>
          <a:p>
            <a:pPr>
              <a:lnSpc>
                <a:spcPct val="107843"/>
              </a:lnSpc>
              <a:spcAft>
                <a:spcPts val="0"/>
              </a:spcAft>
            </a:pPr>
            <a:r>
              <a:rPr sz="850" i="0">
                <a:solidFill>
                  <a:srgbClr val="82B1FF"/>
                </a:solidFill>
                <a:latin typeface="Inconsolata"/>
              </a:rPr>
              <a:t>$ python before.py</a:t>
            </a:r>
          </a:p>
        </p:txBody>
      </p:sp>
      <p:pic>
        <p:nvPicPr>
          <p:cNvPr id="29" name="Image 12" descr="s08-02-exchange-queue-before.png"/>
          <p:cNvPicPr>
            <a:picLocks noChangeAspect="1"/>
          </p:cNvPicPr>
          <p:nvPr/>
        </p:nvPicPr>
        <p:blipFill>
          <a:blip r:embed="rId2"/>
          <a:stretch>
            <a:fillRect/>
          </a:stretch>
        </p:blipFill>
        <p:spPr>
          <a:xfrm>
            <a:off x="621792" y="2459736"/>
            <a:ext cx="4297680" cy="852373"/>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Producer menyimpan daftar semua queue (baris 18)</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Aturan consumer points ditulis di producer (baris 23-24)</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Dikirim langsung ke nama queue lewat default exchange (baris 25)</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Consumer baru berarti mengubah producer.</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Exchange &amp; Queue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topic exchange dan binding</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02-exchange-queue/after.py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2868"/>
              </a:lnSpc>
              <a:spcAft>
                <a:spcPts val="0"/>
              </a:spcAft>
            </a:pPr>
            <a:r>
              <a:rPr sz="729" i="0">
                <a:solidFill>
                  <a:srgbClr val="5C6773"/>
                </a:solidFill>
                <a:latin typeface="Inconsolata"/>
              </a:rPr>
              <a:t>15  </a:t>
            </a:r>
            <a:r>
              <a:rPr sz="729" i="0">
                <a:solidFill>
                  <a:srgbClr val="FF8E6E"/>
                </a:solidFill>
                <a:latin typeface="Inconsolata"/>
              </a:rPr>
              <a:t>import</a:t>
            </a:r>
            <a:r>
              <a:rPr sz="729" i="0">
                <a:solidFill>
                  <a:srgbClr val="E6EDF3"/>
                </a:solidFill>
                <a:latin typeface="Inconsolata"/>
              </a:rPr>
              <a:t> json</a:t>
            </a:r>
          </a:p>
          <a:p>
            <a:pPr>
              <a:lnSpc>
                <a:spcPct val="102868"/>
              </a:lnSpc>
              <a:spcAft>
                <a:spcPts val="0"/>
              </a:spcAft>
            </a:pPr>
            <a:r>
              <a:rPr sz="729" i="0">
                <a:solidFill>
                  <a:srgbClr val="5C6773"/>
                </a:solidFill>
                <a:latin typeface="Inconsolata"/>
              </a:rPr>
              <a:t>16  </a:t>
            </a:r>
            <a:r>
              <a:rPr sz="729" i="0">
                <a:solidFill>
                  <a:srgbClr val="FF8E6E"/>
                </a:solidFill>
                <a:latin typeface="Inconsolata"/>
              </a:rPr>
              <a:t>import</a:t>
            </a:r>
            <a:r>
              <a:rPr sz="729" i="0">
                <a:solidFill>
                  <a:srgbClr val="E6EDF3"/>
                </a:solidFill>
                <a:latin typeface="Inconsolata"/>
              </a:rPr>
              <a:t> os</a:t>
            </a:r>
          </a:p>
          <a:p>
            <a:pPr>
              <a:lnSpc>
                <a:spcPct val="102868"/>
              </a:lnSpc>
              <a:spcAft>
                <a:spcPts val="0"/>
              </a:spcAft>
            </a:pPr>
            <a:r>
              <a:rPr sz="729" i="0">
                <a:solidFill>
                  <a:srgbClr val="5C6773"/>
                </a:solidFill>
                <a:latin typeface="Inconsolata"/>
              </a:rPr>
              <a:t>17  </a:t>
            </a:r>
            <a:r>
              <a:rPr sz="729" i="0">
                <a:solidFill>
                  <a:srgbClr val="E6EDF3"/>
                </a:solidFill>
                <a:latin typeface="Inconsolata"/>
              </a:rPr>
              <a:t> </a:t>
            </a:r>
          </a:p>
          <a:p>
            <a:pPr>
              <a:lnSpc>
                <a:spcPct val="102868"/>
              </a:lnSpc>
              <a:spcAft>
                <a:spcPts val="0"/>
              </a:spcAft>
            </a:pPr>
            <a:r>
              <a:rPr sz="729" i="0">
                <a:solidFill>
                  <a:srgbClr val="5C6773"/>
                </a:solidFill>
                <a:latin typeface="Inconsolata"/>
              </a:rPr>
              <a:t>18  </a:t>
            </a:r>
            <a:r>
              <a:rPr sz="729" i="0">
                <a:solidFill>
                  <a:srgbClr val="FF8E6E"/>
                </a:solidFill>
                <a:latin typeface="Inconsolata"/>
              </a:rPr>
              <a:t>import</a:t>
            </a:r>
            <a:r>
              <a:rPr sz="729" i="0">
                <a:solidFill>
                  <a:srgbClr val="E6EDF3"/>
                </a:solidFill>
                <a:latin typeface="Inconsolata"/>
              </a:rPr>
              <a:t> pika</a:t>
            </a:r>
          </a:p>
          <a:p>
            <a:pPr>
              <a:lnSpc>
                <a:spcPct val="102868"/>
              </a:lnSpc>
              <a:spcAft>
                <a:spcPts val="0"/>
              </a:spcAft>
            </a:pPr>
            <a:r>
              <a:rPr sz="729" i="0">
                <a:solidFill>
                  <a:srgbClr val="5C6773"/>
                </a:solidFill>
                <a:latin typeface="Inconsolata"/>
              </a:rPr>
              <a:t>19  </a:t>
            </a:r>
            <a:r>
              <a:rPr sz="729" i="0">
                <a:solidFill>
                  <a:srgbClr val="E6EDF3"/>
                </a:solidFill>
                <a:latin typeface="Inconsolata"/>
              </a:rPr>
              <a:t> </a:t>
            </a:r>
          </a:p>
          <a:p>
            <a:pPr>
              <a:lnSpc>
                <a:spcPct val="102868"/>
              </a:lnSpc>
              <a:spcAft>
                <a:spcPts val="0"/>
              </a:spcAft>
            </a:pPr>
            <a:r>
              <a:rPr sz="729" i="0">
                <a:solidFill>
                  <a:srgbClr val="5C6773"/>
                </a:solidFill>
                <a:latin typeface="Inconsolata"/>
              </a:rPr>
              <a:t>20  </a:t>
            </a:r>
            <a:r>
              <a:rPr sz="729" i="0">
                <a:solidFill>
                  <a:srgbClr val="7FDBCA"/>
                </a:solidFill>
                <a:latin typeface="Inconsolata"/>
              </a:rPr>
              <a:t>URL</a:t>
            </a:r>
            <a:r>
              <a:rPr sz="729" i="0">
                <a:solidFill>
                  <a:srgbClr val="E6EDF3"/>
                </a:solidFill>
                <a:latin typeface="Inconsolata"/>
              </a:rPr>
              <a:t> = os.getenv(</a:t>
            </a:r>
            <a:r>
              <a:rPr sz="729" i="0">
                <a:solidFill>
                  <a:srgbClr val="A5D6A7"/>
                </a:solidFill>
                <a:latin typeface="Inconsolata"/>
              </a:rPr>
              <a:t>"RABBITMQ_URL"</a:t>
            </a:r>
            <a:r>
              <a:rPr sz="729" i="0">
                <a:solidFill>
                  <a:srgbClr val="E6EDF3"/>
                </a:solidFill>
                <a:latin typeface="Inconsolata"/>
              </a:rPr>
              <a:t>, </a:t>
            </a:r>
            <a:r>
              <a:rPr sz="729" i="0">
                <a:solidFill>
                  <a:srgbClr val="A5D6A7"/>
                </a:solidFill>
                <a:latin typeface="Inconsolata"/>
              </a:rPr>
              <a:t>"amqp://guest:guest@localhost:5672/"</a:t>
            </a:r>
            <a:r>
              <a:rPr sz="729" i="0">
                <a:solidFill>
                  <a:srgbClr val="E6EDF3"/>
                </a:solidFill>
                <a:latin typeface="Inconsolata"/>
              </a:rPr>
              <a:t>)</a:t>
            </a:r>
          </a:p>
          <a:p>
            <a:pPr>
              <a:lnSpc>
                <a:spcPct val="102868"/>
              </a:lnSpc>
              <a:spcAft>
                <a:spcPts val="0"/>
              </a:spcAft>
            </a:pPr>
            <a:r>
              <a:rPr sz="729" i="0">
                <a:solidFill>
                  <a:srgbClr val="5C6773"/>
                </a:solidFill>
                <a:latin typeface="Inconsolata"/>
              </a:rPr>
              <a:t>21  </a:t>
            </a:r>
            <a:r>
              <a:rPr sz="729" i="0">
                <a:solidFill>
                  <a:srgbClr val="E6EDF3"/>
                </a:solidFill>
                <a:latin typeface="Inconsolata"/>
              </a:rPr>
              <a:t> </a:t>
            </a:r>
          </a:p>
          <a:p>
            <a:pPr>
              <a:lnSpc>
                <a:spcPct val="102868"/>
              </a:lnSpc>
              <a:spcAft>
                <a:spcPts val="0"/>
              </a:spcAft>
            </a:pPr>
            <a:r>
              <a:rPr sz="729" i="0">
                <a:solidFill>
                  <a:srgbClr val="5C6773"/>
                </a:solidFill>
                <a:latin typeface="Inconsolata"/>
              </a:rPr>
              <a:t>22  </a:t>
            </a:r>
            <a:r>
              <a:rPr sz="729" i="0">
                <a:solidFill>
                  <a:srgbClr val="7FDBCA"/>
                </a:solidFill>
                <a:latin typeface="Inconsolata"/>
              </a:rPr>
              <a:t>BINDINGS</a:t>
            </a:r>
            <a:r>
              <a:rPr sz="729" i="0">
                <a:solidFill>
                  <a:srgbClr val="E6EDF3"/>
                </a:solidFill>
                <a:latin typeface="Inconsolata"/>
              </a:rPr>
              <a:t> = {</a:t>
            </a:r>
            <a:r>
              <a:rPr sz="729" i="0">
                <a:solidFill>
                  <a:srgbClr val="A5D6A7"/>
                </a:solidFill>
                <a:latin typeface="Inconsolata"/>
              </a:rPr>
              <a:t>"email"</a:t>
            </a:r>
            <a:r>
              <a:rPr sz="729" i="0">
                <a:solidFill>
                  <a:srgbClr val="E6EDF3"/>
                </a:solidFill>
                <a:latin typeface="Inconsolata"/>
              </a:rPr>
              <a:t>: </a:t>
            </a:r>
            <a:r>
              <a:rPr sz="729" i="0">
                <a:solidFill>
                  <a:srgbClr val="A5D6A7"/>
                </a:solidFill>
                <a:latin typeface="Inconsolata"/>
              </a:rPr>
              <a:t>"order.*"</a:t>
            </a:r>
            <a:r>
              <a:rPr sz="729" i="0">
                <a:solidFill>
                  <a:srgbClr val="E6EDF3"/>
                </a:solidFill>
                <a:latin typeface="Inconsolata"/>
              </a:rPr>
              <a:t>,</a:t>
            </a:r>
          </a:p>
          <a:p>
            <a:pPr>
              <a:lnSpc>
                <a:spcPct val="102868"/>
              </a:lnSpc>
              <a:spcAft>
                <a:spcPts val="0"/>
              </a:spcAft>
            </a:pPr>
            <a:r>
              <a:rPr sz="729" i="0">
                <a:solidFill>
                  <a:srgbClr val="5C6773"/>
                </a:solidFill>
                <a:latin typeface="Inconsolata"/>
              </a:rPr>
              <a:t>23  </a:t>
            </a:r>
            <a:r>
              <a:rPr sz="729" i="0">
                <a:solidFill>
                  <a:srgbClr val="E6EDF3"/>
                </a:solidFill>
                <a:latin typeface="Inconsolata"/>
              </a:rPr>
              <a:t>            </a:t>
            </a:r>
            <a:r>
              <a:rPr sz="729" i="0">
                <a:solidFill>
                  <a:srgbClr val="A5D6A7"/>
                </a:solidFill>
                <a:latin typeface="Inconsolata"/>
              </a:rPr>
              <a:t>"points"</a:t>
            </a:r>
            <a:r>
              <a:rPr sz="729" i="0">
                <a:solidFill>
                  <a:srgbClr val="E6EDF3"/>
                </a:solidFill>
                <a:latin typeface="Inconsolata"/>
              </a:rPr>
              <a:t>: </a:t>
            </a:r>
            <a:r>
              <a:rPr sz="729" i="0">
                <a:solidFill>
                  <a:srgbClr val="A5D6A7"/>
                </a:solidFill>
                <a:latin typeface="Inconsolata"/>
              </a:rPr>
              <a:t>"order.paid"</a:t>
            </a:r>
            <a:r>
              <a:rPr sz="729" i="0">
                <a:solidFill>
                  <a:srgbClr val="E6EDF3"/>
                </a:solidFill>
                <a:latin typeface="Inconsolata"/>
              </a:rPr>
              <a:t>,</a:t>
            </a:r>
          </a:p>
          <a:p>
            <a:pPr>
              <a:lnSpc>
                <a:spcPct val="102868"/>
              </a:lnSpc>
              <a:spcAft>
                <a:spcPts val="0"/>
              </a:spcAft>
            </a:pPr>
            <a:r>
              <a:rPr sz="729" i="0">
                <a:solidFill>
                  <a:srgbClr val="5C6773"/>
                </a:solidFill>
                <a:latin typeface="Inconsolata"/>
              </a:rPr>
              <a:t>24  </a:t>
            </a:r>
            <a:r>
              <a:rPr sz="729" i="0">
                <a:solidFill>
                  <a:srgbClr val="E6EDF3"/>
                </a:solidFill>
                <a:latin typeface="Inconsolata"/>
              </a:rPr>
              <a:t>            </a:t>
            </a:r>
            <a:r>
              <a:rPr sz="729" i="0">
                <a:solidFill>
                  <a:srgbClr val="A5D6A7"/>
                </a:solidFill>
                <a:latin typeface="Inconsolata"/>
              </a:rPr>
              <a:t>"analytics"</a:t>
            </a:r>
            <a:r>
              <a:rPr sz="729" i="0">
                <a:solidFill>
                  <a:srgbClr val="E6EDF3"/>
                </a:solidFill>
                <a:latin typeface="Inconsolata"/>
              </a:rPr>
              <a:t>: </a:t>
            </a:r>
            <a:r>
              <a:rPr sz="729" i="0">
                <a:solidFill>
                  <a:srgbClr val="A5D6A7"/>
                </a:solidFill>
                <a:latin typeface="Inconsolata"/>
              </a:rPr>
              <a:t>"#"</a:t>
            </a:r>
            <a:r>
              <a:rPr sz="729" i="0">
                <a:solidFill>
                  <a:srgbClr val="E6EDF3"/>
                </a:solidFill>
                <a:latin typeface="Inconsolata"/>
              </a:rPr>
              <a:t>}</a:t>
            </a:r>
          </a:p>
          <a:p>
            <a:pPr>
              <a:lnSpc>
                <a:spcPct val="102868"/>
              </a:lnSpc>
              <a:spcAft>
                <a:spcPts val="0"/>
              </a:spcAft>
            </a:pPr>
            <a:r>
              <a:rPr sz="729" i="0">
                <a:solidFill>
                  <a:srgbClr val="5C6773"/>
                </a:solidFill>
                <a:latin typeface="Inconsolata"/>
              </a:rPr>
              <a:t>25  </a:t>
            </a:r>
            <a:r>
              <a:rPr sz="729" i="0">
                <a:solidFill>
                  <a:srgbClr val="7FDBCA"/>
                </a:solidFill>
                <a:latin typeface="Inconsolata"/>
              </a:rPr>
              <a:t>PERSISTENT</a:t>
            </a:r>
            <a:r>
              <a:rPr sz="729" i="0">
                <a:solidFill>
                  <a:srgbClr val="E6EDF3"/>
                </a:solidFill>
                <a:latin typeface="Inconsolata"/>
              </a:rPr>
              <a:t> = pika.</a:t>
            </a:r>
            <a:r>
              <a:rPr sz="729" i="0">
                <a:solidFill>
                  <a:srgbClr val="7FDBCA"/>
                </a:solidFill>
                <a:latin typeface="Inconsolata"/>
              </a:rPr>
              <a:t>BasicProperties</a:t>
            </a:r>
            <a:r>
              <a:rPr sz="729" i="0">
                <a:solidFill>
                  <a:srgbClr val="E6EDF3"/>
                </a:solidFill>
                <a:latin typeface="Inconsolata"/>
              </a:rPr>
              <a:t>(</a:t>
            </a:r>
          </a:p>
          <a:p>
            <a:pPr>
              <a:lnSpc>
                <a:spcPct val="102868"/>
              </a:lnSpc>
              <a:spcAft>
                <a:spcPts val="0"/>
              </a:spcAft>
            </a:pPr>
            <a:r>
              <a:rPr sz="729" i="0">
                <a:solidFill>
                  <a:srgbClr val="5C6773"/>
                </a:solidFill>
                <a:latin typeface="Inconsolata"/>
              </a:rPr>
              <a:t>26  </a:t>
            </a:r>
            <a:r>
              <a:rPr sz="729" i="0">
                <a:solidFill>
                  <a:srgbClr val="E6EDF3"/>
                </a:solidFill>
                <a:latin typeface="Inconsolata"/>
              </a:rPr>
              <a:t>    delivery_mode=pika.</a:t>
            </a:r>
            <a:r>
              <a:rPr sz="729" i="0">
                <a:solidFill>
                  <a:srgbClr val="7FDBCA"/>
                </a:solidFill>
                <a:latin typeface="Inconsolata"/>
              </a:rPr>
              <a:t>DeliveryMode</a:t>
            </a:r>
            <a:r>
              <a:rPr sz="729" i="0">
                <a:solidFill>
                  <a:srgbClr val="E6EDF3"/>
                </a:solidFill>
                <a:latin typeface="Inconsolata"/>
              </a:rPr>
              <a:t>.</a:t>
            </a:r>
            <a:r>
              <a:rPr sz="729" i="0">
                <a:solidFill>
                  <a:srgbClr val="7FDBCA"/>
                </a:solidFill>
                <a:latin typeface="Inconsolata"/>
              </a:rPr>
              <a:t>Persistent</a:t>
            </a:r>
            <a:r>
              <a:rPr sz="729" i="0">
                <a:solidFill>
                  <a:srgbClr val="E6EDF3"/>
                </a:solidFill>
                <a:latin typeface="Inconsolata"/>
              </a:rPr>
              <a:t>)</a:t>
            </a:r>
          </a:p>
          <a:p>
            <a:pPr>
              <a:lnSpc>
                <a:spcPct val="102868"/>
              </a:lnSpc>
              <a:spcAft>
                <a:spcPts val="0"/>
              </a:spcAft>
            </a:pPr>
            <a:r>
              <a:rPr sz="729" i="0">
                <a:solidFill>
                  <a:srgbClr val="5C6773"/>
                </a:solidFill>
                <a:latin typeface="Inconsolata"/>
              </a:rPr>
              <a:t>27  </a:t>
            </a:r>
            <a:r>
              <a:rPr sz="729" i="0">
                <a:solidFill>
                  <a:srgbClr val="E6EDF3"/>
                </a:solidFill>
                <a:latin typeface="Inconsolata"/>
              </a:rPr>
              <a:t> </a:t>
            </a:r>
          </a:p>
          <a:p>
            <a:pPr>
              <a:lnSpc>
                <a:spcPct val="102868"/>
              </a:lnSpc>
              <a:spcAft>
                <a:spcPts val="0"/>
              </a:spcAft>
            </a:pPr>
            <a:r>
              <a:rPr sz="729" i="0">
                <a:solidFill>
                  <a:srgbClr val="5C6773"/>
                </a:solidFill>
                <a:latin typeface="Inconsolata"/>
              </a:rPr>
              <a:t>28  </a:t>
            </a:r>
            <a:r>
              <a:rPr sz="729" i="0">
                <a:solidFill>
                  <a:srgbClr val="E6EDF3"/>
                </a:solidFill>
                <a:latin typeface="Inconsolata"/>
              </a:rPr>
              <a:t> </a:t>
            </a:r>
          </a:p>
          <a:p>
            <a:pPr>
              <a:lnSpc>
                <a:spcPct val="102868"/>
              </a:lnSpc>
              <a:spcAft>
                <a:spcPts val="0"/>
              </a:spcAft>
            </a:pPr>
            <a:r>
              <a:rPr sz="729" i="0">
                <a:solidFill>
                  <a:srgbClr val="5C6773"/>
                </a:solidFill>
                <a:latin typeface="Inconsolata"/>
              </a:rPr>
              <a:t>29  </a:t>
            </a:r>
            <a:r>
              <a:rPr sz="729" i="0">
                <a:solidFill>
                  <a:srgbClr val="FF8E6E"/>
                </a:solidFill>
                <a:latin typeface="Inconsolata"/>
              </a:rPr>
              <a:t>def</a:t>
            </a:r>
            <a:r>
              <a:rPr sz="729" i="0">
                <a:solidFill>
                  <a:srgbClr val="E6EDF3"/>
                </a:solidFill>
                <a:latin typeface="Inconsolata"/>
              </a:rPr>
              <a:t> </a:t>
            </a:r>
            <a:r>
              <a:rPr sz="729" i="0">
                <a:solidFill>
                  <a:srgbClr val="82B1FF"/>
                </a:solidFill>
                <a:latin typeface="Inconsolata"/>
              </a:rPr>
              <a:t>publish</a:t>
            </a:r>
            <a:r>
              <a:rPr sz="729" i="0">
                <a:solidFill>
                  <a:srgbClr val="E6EDF3"/>
                </a:solidFill>
                <a:latin typeface="Inconsolata"/>
              </a:rPr>
              <a:t>(channel, event: </a:t>
            </a:r>
            <a:r>
              <a:rPr sz="729" i="0">
                <a:solidFill>
                  <a:srgbClr val="C3A6FF"/>
                </a:solidFill>
                <a:latin typeface="Inconsolata"/>
              </a:rPr>
              <a:t>dict</a:t>
            </a:r>
            <a:r>
              <a:rPr sz="729" i="0">
                <a:solidFill>
                  <a:srgbClr val="E6EDF3"/>
                </a:solidFill>
                <a:latin typeface="Inconsolata"/>
              </a:rPr>
              <a:t>):</a:t>
            </a:r>
          </a:p>
          <a:p>
            <a:pPr>
              <a:lnSpc>
                <a:spcPct val="102868"/>
              </a:lnSpc>
              <a:spcAft>
                <a:spcPts val="0"/>
              </a:spcAft>
            </a:pPr>
            <a:r>
              <a:rPr sz="729" i="0">
                <a:solidFill>
                  <a:srgbClr val="5C6773"/>
                </a:solidFill>
                <a:latin typeface="Inconsolata"/>
              </a:rPr>
              <a:t>30  </a:t>
            </a:r>
            <a:r>
              <a:rPr sz="729" i="0">
                <a:solidFill>
                  <a:srgbClr val="E6EDF3"/>
                </a:solidFill>
                <a:latin typeface="Inconsolata"/>
              </a:rPr>
              <a:t>    channel.basic_publish(exchange=</a:t>
            </a:r>
            <a:r>
              <a:rPr sz="729" i="0">
                <a:solidFill>
                  <a:srgbClr val="A5D6A7"/>
                </a:solidFill>
                <a:latin typeface="Inconsolata"/>
              </a:rPr>
              <a:t>"orders"</a:t>
            </a:r>
            <a:r>
              <a:rPr sz="729" i="0">
                <a:solidFill>
                  <a:srgbClr val="E6EDF3"/>
                </a:solidFill>
                <a:latin typeface="Inconsolata"/>
              </a:rPr>
              <a:t>,</a:t>
            </a:r>
          </a:p>
          <a:p>
            <a:pPr>
              <a:lnSpc>
                <a:spcPct val="102868"/>
              </a:lnSpc>
              <a:spcAft>
                <a:spcPts val="0"/>
              </a:spcAft>
            </a:pPr>
            <a:r>
              <a:rPr sz="729" i="0">
                <a:solidFill>
                  <a:srgbClr val="5C6773"/>
                </a:solidFill>
                <a:latin typeface="Inconsolata"/>
              </a:rPr>
              <a:t>31  </a:t>
            </a:r>
            <a:r>
              <a:rPr sz="729" i="0">
                <a:solidFill>
                  <a:srgbClr val="E6EDF3"/>
                </a:solidFill>
                <a:latin typeface="Inconsolata"/>
              </a:rPr>
              <a:t>                          routing_key=event[</a:t>
            </a:r>
            <a:r>
              <a:rPr sz="729" i="0">
                <a:solidFill>
                  <a:srgbClr val="A5D6A7"/>
                </a:solidFill>
                <a:latin typeface="Inconsolata"/>
              </a:rPr>
              <a:t>"type"</a:t>
            </a:r>
            <a:r>
              <a:rPr sz="729" i="0">
                <a:solidFill>
                  <a:srgbClr val="E6EDF3"/>
                </a:solidFill>
                <a:latin typeface="Inconsolata"/>
              </a:rPr>
              <a:t>],</a:t>
            </a:r>
          </a:p>
          <a:p>
            <a:pPr>
              <a:lnSpc>
                <a:spcPct val="102868"/>
              </a:lnSpc>
              <a:spcAft>
                <a:spcPts val="0"/>
              </a:spcAft>
            </a:pPr>
            <a:r>
              <a:rPr sz="729" i="0">
                <a:solidFill>
                  <a:srgbClr val="5C6773"/>
                </a:solidFill>
                <a:latin typeface="Inconsolata"/>
              </a:rPr>
              <a:t>32  </a:t>
            </a:r>
            <a:r>
              <a:rPr sz="729" i="0">
                <a:solidFill>
                  <a:srgbClr val="E6EDF3"/>
                </a:solidFill>
                <a:latin typeface="Inconsolata"/>
              </a:rPr>
              <a:t>                          body=json.dumps(event),</a:t>
            </a:r>
          </a:p>
          <a:p>
            <a:pPr>
              <a:lnSpc>
                <a:spcPct val="102868"/>
              </a:lnSpc>
              <a:spcAft>
                <a:spcPts val="0"/>
              </a:spcAft>
            </a:pPr>
            <a:r>
              <a:rPr sz="729" i="0">
                <a:solidFill>
                  <a:srgbClr val="5C6773"/>
                </a:solidFill>
                <a:latin typeface="Inconsolata"/>
              </a:rPr>
              <a:t>33  </a:t>
            </a:r>
            <a:r>
              <a:rPr sz="729" i="0">
                <a:solidFill>
                  <a:srgbClr val="E6EDF3"/>
                </a:solidFill>
                <a:latin typeface="Inconsolata"/>
              </a:rPr>
              <a:t>                          properties=</a:t>
            </a:r>
            <a:r>
              <a:rPr sz="729" i="0">
                <a:solidFill>
                  <a:srgbClr val="7FDBCA"/>
                </a:solidFill>
                <a:latin typeface="Inconsolata"/>
              </a:rPr>
              <a:t>PERSISTENT</a:t>
            </a:r>
            <a:r>
              <a:rPr sz="729" i="0">
                <a:solidFill>
                  <a:srgbClr val="E6EDF3"/>
                </a:solidFill>
                <a:latin typeface="Inconsolata"/>
              </a:rPr>
              <a: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02-exchange-queue/after.py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2868"/>
              </a:lnSpc>
              <a:spcAft>
                <a:spcPts val="0"/>
              </a:spcAft>
            </a:pPr>
            <a:r>
              <a:rPr sz="729" i="0">
                <a:solidFill>
                  <a:srgbClr val="5C6773"/>
                </a:solidFill>
                <a:latin typeface="Inconsolata"/>
              </a:rPr>
              <a:t>36  </a:t>
            </a:r>
            <a:r>
              <a:rPr sz="729" i="0">
                <a:solidFill>
                  <a:srgbClr val="FF8E6E"/>
                </a:solidFill>
                <a:latin typeface="Inconsolata"/>
              </a:rPr>
              <a:t>if</a:t>
            </a:r>
            <a:r>
              <a:rPr sz="729" i="0">
                <a:solidFill>
                  <a:srgbClr val="E6EDF3"/>
                </a:solidFill>
                <a:latin typeface="Inconsolata"/>
              </a:rPr>
              <a:t> __name__ == </a:t>
            </a:r>
            <a:r>
              <a:rPr sz="729" i="0">
                <a:solidFill>
                  <a:srgbClr val="A5D6A7"/>
                </a:solidFill>
                <a:latin typeface="Inconsolata"/>
              </a:rPr>
              <a:t>"__main__"</a:t>
            </a:r>
            <a:r>
              <a:rPr sz="729" i="0">
                <a:solidFill>
                  <a:srgbClr val="E6EDF3"/>
                </a:solidFill>
                <a:latin typeface="Inconsolata"/>
              </a:rPr>
              <a:t>:</a:t>
            </a:r>
          </a:p>
          <a:p>
            <a:pPr>
              <a:lnSpc>
                <a:spcPct val="102868"/>
              </a:lnSpc>
              <a:spcAft>
                <a:spcPts val="0"/>
              </a:spcAft>
            </a:pPr>
            <a:r>
              <a:rPr sz="729" i="0">
                <a:solidFill>
                  <a:srgbClr val="5C6773"/>
                </a:solidFill>
                <a:latin typeface="Inconsolata"/>
              </a:rPr>
              <a:t>37  </a:t>
            </a:r>
            <a:r>
              <a:rPr sz="729" i="0">
                <a:solidFill>
                  <a:srgbClr val="E6EDF3"/>
                </a:solidFill>
                <a:latin typeface="Inconsolata"/>
              </a:rPr>
              <a:t>    </a:t>
            </a:r>
            <a:r>
              <a:rPr sz="729" i="0">
                <a:solidFill>
                  <a:srgbClr val="FF8E6E"/>
                </a:solidFill>
                <a:latin typeface="Inconsolata"/>
              </a:rPr>
              <a:t>with</a:t>
            </a:r>
            <a:r>
              <a:rPr sz="729" i="0">
                <a:solidFill>
                  <a:srgbClr val="E6EDF3"/>
                </a:solidFill>
                <a:latin typeface="Inconsolata"/>
              </a:rPr>
              <a:t> pika.</a:t>
            </a:r>
            <a:r>
              <a:rPr sz="729" i="0">
                <a:solidFill>
                  <a:srgbClr val="7FDBCA"/>
                </a:solidFill>
                <a:latin typeface="Inconsolata"/>
              </a:rPr>
              <a:t>BlockingConnection</a:t>
            </a:r>
            <a:r>
              <a:rPr sz="729" i="0">
                <a:solidFill>
                  <a:srgbClr val="E6EDF3"/>
                </a:solidFill>
                <a:latin typeface="Inconsolata"/>
              </a:rPr>
              <a:t>(pika.</a:t>
            </a:r>
            <a:r>
              <a:rPr sz="729" i="0">
                <a:solidFill>
                  <a:srgbClr val="7FDBCA"/>
                </a:solidFill>
                <a:latin typeface="Inconsolata"/>
              </a:rPr>
              <a:t>URLParameters</a:t>
            </a:r>
            <a:r>
              <a:rPr sz="729" i="0">
                <a:solidFill>
                  <a:srgbClr val="E6EDF3"/>
                </a:solidFill>
                <a:latin typeface="Inconsolata"/>
              </a:rPr>
              <a:t>(</a:t>
            </a:r>
            <a:r>
              <a:rPr sz="729" i="0">
                <a:solidFill>
                  <a:srgbClr val="7FDBCA"/>
                </a:solidFill>
                <a:latin typeface="Inconsolata"/>
              </a:rPr>
              <a:t>URL</a:t>
            </a:r>
            <a:r>
              <a:rPr sz="729" i="0">
                <a:solidFill>
                  <a:srgbClr val="E6EDF3"/>
                </a:solidFill>
                <a:latin typeface="Inconsolata"/>
              </a:rPr>
              <a:t>)) </a:t>
            </a:r>
            <a:r>
              <a:rPr sz="729" i="0">
                <a:solidFill>
                  <a:srgbClr val="FF8E6E"/>
                </a:solidFill>
                <a:latin typeface="Inconsolata"/>
              </a:rPr>
              <a:t>as</a:t>
            </a:r>
            <a:r>
              <a:rPr sz="729" i="0">
                <a:solidFill>
                  <a:srgbClr val="E6EDF3"/>
                </a:solidFill>
                <a:latin typeface="Inconsolata"/>
              </a:rPr>
              <a:t> conn:</a:t>
            </a:r>
          </a:p>
          <a:p>
            <a:pPr>
              <a:lnSpc>
                <a:spcPct val="102868"/>
              </a:lnSpc>
              <a:spcAft>
                <a:spcPts val="0"/>
              </a:spcAft>
            </a:pPr>
            <a:r>
              <a:rPr sz="729" i="0">
                <a:solidFill>
                  <a:srgbClr val="5C6773"/>
                </a:solidFill>
                <a:latin typeface="Inconsolata"/>
              </a:rPr>
              <a:t>38  </a:t>
            </a:r>
            <a:r>
              <a:rPr sz="729" i="0">
                <a:solidFill>
                  <a:srgbClr val="E6EDF3"/>
                </a:solidFill>
                <a:latin typeface="Inconsolata"/>
              </a:rPr>
              <a:t>        channel = conn.channel()</a:t>
            </a:r>
          </a:p>
          <a:p>
            <a:pPr>
              <a:lnSpc>
                <a:spcPct val="102868"/>
              </a:lnSpc>
              <a:spcAft>
                <a:spcPts val="0"/>
              </a:spcAft>
            </a:pPr>
            <a:r>
              <a:rPr sz="729" i="0">
                <a:solidFill>
                  <a:srgbClr val="5C6773"/>
                </a:solidFill>
                <a:latin typeface="Inconsolata"/>
              </a:rPr>
              <a:t>39  </a:t>
            </a:r>
            <a:r>
              <a:rPr sz="729" i="0">
                <a:solidFill>
                  <a:srgbClr val="E6EDF3"/>
                </a:solidFill>
                <a:latin typeface="Inconsolata"/>
              </a:rPr>
              <a:t>        channel.confirm_delivery()    </a:t>
            </a:r>
            <a:r>
              <a:rPr sz="729" i="1">
                <a:solidFill>
                  <a:srgbClr val="8B98A8"/>
                </a:solidFill>
                <a:latin typeface="Inconsolata"/>
              </a:rPr>
              <a:t># tunggu konfirmasi RabbitMQ</a:t>
            </a:r>
          </a:p>
          <a:p>
            <a:pPr>
              <a:lnSpc>
                <a:spcPct val="102868"/>
              </a:lnSpc>
              <a:spcAft>
                <a:spcPts val="0"/>
              </a:spcAft>
            </a:pPr>
            <a:r>
              <a:rPr sz="729" i="0">
                <a:solidFill>
                  <a:srgbClr val="5C6773"/>
                </a:solidFill>
                <a:latin typeface="Inconsolata"/>
              </a:rPr>
              <a:t>40  </a:t>
            </a:r>
            <a:r>
              <a:rPr sz="729" i="0">
                <a:solidFill>
                  <a:srgbClr val="E6EDF3"/>
                </a:solidFill>
                <a:latin typeface="Inconsolata"/>
              </a:rPr>
              <a:t>        channel.exchange_declare(</a:t>
            </a:r>
            <a:r>
              <a:rPr sz="729" i="0">
                <a:solidFill>
                  <a:srgbClr val="A5D6A7"/>
                </a:solidFill>
                <a:latin typeface="Inconsolata"/>
              </a:rPr>
              <a:t>"orders"</a:t>
            </a:r>
            <a:r>
              <a:rPr sz="729" i="0">
                <a:solidFill>
                  <a:srgbClr val="E6EDF3"/>
                </a:solidFill>
                <a:latin typeface="Inconsolata"/>
              </a:rPr>
              <a:t>, exchange_type=</a:t>
            </a:r>
            <a:r>
              <a:rPr sz="729" i="0">
                <a:solidFill>
                  <a:srgbClr val="A5D6A7"/>
                </a:solidFill>
                <a:latin typeface="Inconsolata"/>
              </a:rPr>
              <a:t>"topic"</a:t>
            </a:r>
            <a:r>
              <a:rPr sz="729" i="0">
                <a:solidFill>
                  <a:srgbClr val="E6EDF3"/>
                </a:solidFill>
                <a:latin typeface="Inconsolata"/>
              </a:rPr>
              <a:t>,</a:t>
            </a:r>
          </a:p>
          <a:p>
            <a:pPr>
              <a:lnSpc>
                <a:spcPct val="102868"/>
              </a:lnSpc>
              <a:spcAft>
                <a:spcPts val="0"/>
              </a:spcAft>
            </a:pPr>
            <a:r>
              <a:rPr sz="729" i="0">
                <a:solidFill>
                  <a:srgbClr val="5C6773"/>
                </a:solidFill>
                <a:latin typeface="Inconsolata"/>
              </a:rPr>
              <a:t>41  </a:t>
            </a:r>
            <a:r>
              <a:rPr sz="729" i="0">
                <a:solidFill>
                  <a:srgbClr val="E6EDF3"/>
                </a:solidFill>
                <a:latin typeface="Inconsolata"/>
              </a:rPr>
              <a:t>                                 durable=</a:t>
            </a:r>
            <a:r>
              <a:rPr sz="729" i="0">
                <a:solidFill>
                  <a:srgbClr val="FF8E6E"/>
                </a:solidFill>
                <a:latin typeface="Inconsolata"/>
              </a:rPr>
              <a:t>True</a:t>
            </a:r>
            <a:r>
              <a:rPr sz="729" i="0">
                <a:solidFill>
                  <a:srgbClr val="E6EDF3"/>
                </a:solidFill>
                <a:latin typeface="Inconsolata"/>
              </a:rPr>
              <a:t>)</a:t>
            </a:r>
          </a:p>
          <a:p>
            <a:pPr>
              <a:lnSpc>
                <a:spcPct val="102868"/>
              </a:lnSpc>
              <a:spcAft>
                <a:spcPts val="0"/>
              </a:spcAft>
            </a:pPr>
            <a:r>
              <a:rPr sz="729" i="0">
                <a:solidFill>
                  <a:srgbClr val="5C6773"/>
                </a:solidFill>
                <a:latin typeface="Inconsolata"/>
              </a:rPr>
              <a:t>42  </a:t>
            </a:r>
            <a:r>
              <a:rPr sz="729" i="0">
                <a:solidFill>
                  <a:srgbClr val="E6EDF3"/>
                </a:solidFill>
                <a:latin typeface="Inconsolata"/>
              </a:rPr>
              <a:t>        </a:t>
            </a:r>
            <a:r>
              <a:rPr sz="729" i="0">
                <a:solidFill>
                  <a:srgbClr val="FF8E6E"/>
                </a:solidFill>
                <a:latin typeface="Inconsolata"/>
              </a:rPr>
              <a:t>for</a:t>
            </a:r>
            <a:r>
              <a:rPr sz="729" i="0">
                <a:solidFill>
                  <a:srgbClr val="E6EDF3"/>
                </a:solidFill>
                <a:latin typeface="Inconsolata"/>
              </a:rPr>
              <a:t> queue, pattern </a:t>
            </a:r>
            <a:r>
              <a:rPr sz="729" i="0">
                <a:solidFill>
                  <a:srgbClr val="FF8E6E"/>
                </a:solidFill>
                <a:latin typeface="Inconsolata"/>
              </a:rPr>
              <a:t>in</a:t>
            </a:r>
            <a:r>
              <a:rPr sz="729" i="0">
                <a:solidFill>
                  <a:srgbClr val="E6EDF3"/>
                </a:solidFill>
                <a:latin typeface="Inconsolata"/>
              </a:rPr>
              <a:t> </a:t>
            </a:r>
            <a:r>
              <a:rPr sz="729" i="0">
                <a:solidFill>
                  <a:srgbClr val="7FDBCA"/>
                </a:solidFill>
                <a:latin typeface="Inconsolata"/>
              </a:rPr>
              <a:t>BINDINGS</a:t>
            </a:r>
            <a:r>
              <a:rPr sz="729" i="0">
                <a:solidFill>
                  <a:srgbClr val="E6EDF3"/>
                </a:solidFill>
                <a:latin typeface="Inconsolata"/>
              </a:rPr>
              <a:t>.items():</a:t>
            </a:r>
          </a:p>
          <a:p>
            <a:pPr>
              <a:lnSpc>
                <a:spcPct val="102868"/>
              </a:lnSpc>
              <a:spcAft>
                <a:spcPts val="0"/>
              </a:spcAft>
            </a:pPr>
            <a:r>
              <a:rPr sz="729" i="0">
                <a:solidFill>
                  <a:srgbClr val="5C6773"/>
                </a:solidFill>
                <a:latin typeface="Inconsolata"/>
              </a:rPr>
              <a:t>43  </a:t>
            </a:r>
            <a:r>
              <a:rPr sz="729" i="0">
                <a:solidFill>
                  <a:srgbClr val="E6EDF3"/>
                </a:solidFill>
                <a:latin typeface="Inconsolata"/>
              </a:rPr>
              <a:t>            channel.queue_delete(queue)        </a:t>
            </a:r>
            <a:r>
              <a:rPr sz="729" i="1">
                <a:solidFill>
                  <a:srgbClr val="8B98A8"/>
                </a:solidFill>
                <a:latin typeface="Inconsolata"/>
              </a:rPr>
              <a:t># mulai dari kosong</a:t>
            </a:r>
          </a:p>
          <a:p>
            <a:pPr>
              <a:lnSpc>
                <a:spcPct val="102868"/>
              </a:lnSpc>
              <a:spcAft>
                <a:spcPts val="0"/>
              </a:spcAft>
            </a:pPr>
            <a:r>
              <a:rPr sz="729" i="0">
                <a:solidFill>
                  <a:srgbClr val="5C6773"/>
                </a:solidFill>
                <a:latin typeface="Inconsolata"/>
              </a:rPr>
              <a:t>44  </a:t>
            </a:r>
            <a:r>
              <a:rPr sz="729" i="0">
                <a:solidFill>
                  <a:srgbClr val="E6EDF3"/>
                </a:solidFill>
                <a:latin typeface="Inconsolata"/>
              </a:rPr>
              <a:t>            channel.queue_declare(queue, durable=</a:t>
            </a:r>
            <a:r>
              <a:rPr sz="729" i="0">
                <a:solidFill>
                  <a:srgbClr val="FF8E6E"/>
                </a:solidFill>
                <a:latin typeface="Inconsolata"/>
              </a:rPr>
              <a:t>True</a:t>
            </a:r>
            <a:r>
              <a:rPr sz="729" i="0">
                <a:solidFill>
                  <a:srgbClr val="E6EDF3"/>
                </a:solidFill>
                <a:latin typeface="Inconsolata"/>
              </a:rPr>
              <a:t>)</a:t>
            </a:r>
          </a:p>
          <a:p>
            <a:pPr>
              <a:lnSpc>
                <a:spcPct val="102868"/>
              </a:lnSpc>
              <a:spcAft>
                <a:spcPts val="0"/>
              </a:spcAft>
            </a:pPr>
            <a:r>
              <a:rPr sz="729" i="0">
                <a:solidFill>
                  <a:srgbClr val="5C6773"/>
                </a:solidFill>
                <a:latin typeface="Inconsolata"/>
              </a:rPr>
              <a:t>45  </a:t>
            </a:r>
            <a:r>
              <a:rPr sz="729" i="0">
                <a:solidFill>
                  <a:srgbClr val="E6EDF3"/>
                </a:solidFill>
                <a:latin typeface="Inconsolata"/>
              </a:rPr>
              <a:t>            channel.queue_bind(queue, </a:t>
            </a:r>
            <a:r>
              <a:rPr sz="729" i="0">
                <a:solidFill>
                  <a:srgbClr val="A5D6A7"/>
                </a:solidFill>
                <a:latin typeface="Inconsolata"/>
              </a:rPr>
              <a:t>"orders"</a:t>
            </a:r>
            <a:r>
              <a:rPr sz="729" i="0">
                <a:solidFill>
                  <a:srgbClr val="E6EDF3"/>
                </a:solidFill>
                <a:latin typeface="Inconsolata"/>
              </a:rPr>
              <a:t>, routing_key=pattern)</a:t>
            </a:r>
          </a:p>
          <a:p>
            <a:pPr>
              <a:lnSpc>
                <a:spcPct val="102868"/>
              </a:lnSpc>
              <a:spcAft>
                <a:spcPts val="0"/>
              </a:spcAft>
            </a:pPr>
            <a:r>
              <a:rPr sz="729" i="0">
                <a:solidFill>
                  <a:srgbClr val="5C6773"/>
                </a:solidFill>
                <a:latin typeface="Inconsolata"/>
              </a:rPr>
              <a:t>46  </a:t>
            </a:r>
            <a:r>
              <a:rPr sz="729" i="0">
                <a:solidFill>
                  <a:srgbClr val="E6EDF3"/>
                </a:solidFill>
                <a:latin typeface="Inconsolata"/>
              </a:rPr>
              <a:t> </a:t>
            </a:r>
          </a:p>
          <a:p>
            <a:pPr>
              <a:lnSpc>
                <a:spcPct val="102868"/>
              </a:lnSpc>
              <a:spcAft>
                <a:spcPts val="0"/>
              </a:spcAft>
            </a:pPr>
            <a:r>
              <a:rPr sz="729" i="0">
                <a:solidFill>
                  <a:srgbClr val="5C6773"/>
                </a:solidFill>
                <a:latin typeface="Inconsolata"/>
              </a:rPr>
              <a:t>47  </a:t>
            </a:r>
            <a:r>
              <a:rPr sz="729" i="0">
                <a:solidFill>
                  <a:srgbClr val="E6EDF3"/>
                </a:solidFill>
                <a:latin typeface="Inconsolata"/>
              </a:rPr>
              <a:t>        publish(channel, {</a:t>
            </a:r>
            <a:r>
              <a:rPr sz="729" i="0">
                <a:solidFill>
                  <a:srgbClr val="A5D6A7"/>
                </a:solidFill>
                <a:latin typeface="Inconsolata"/>
              </a:rPr>
              <a:t>"type"</a:t>
            </a:r>
            <a:r>
              <a:rPr sz="729" i="0">
                <a:solidFill>
                  <a:srgbClr val="E6EDF3"/>
                </a:solidFill>
                <a:latin typeface="Inconsolata"/>
              </a:rPr>
              <a:t>: </a:t>
            </a:r>
            <a:r>
              <a:rPr sz="729" i="0">
                <a:solidFill>
                  <a:srgbClr val="A5D6A7"/>
                </a:solidFill>
                <a:latin typeface="Inconsolata"/>
              </a:rPr>
              <a:t>"order.placed"</a:t>
            </a:r>
            <a:r>
              <a:rPr sz="729" i="0">
                <a:solidFill>
                  <a:srgbClr val="E6EDF3"/>
                </a:solidFill>
                <a:latin typeface="Inconsolata"/>
              </a:rPr>
              <a:t>, </a:t>
            </a:r>
            <a:r>
              <a:rPr sz="729" i="0">
                <a:solidFill>
                  <a:srgbClr val="A5D6A7"/>
                </a:solidFill>
                <a:latin typeface="Inconsolata"/>
              </a:rPr>
              <a:t>"order_id"</a:t>
            </a:r>
            <a:r>
              <a:rPr sz="729" i="0">
                <a:solidFill>
                  <a:srgbClr val="E6EDF3"/>
                </a:solidFill>
                <a:latin typeface="Inconsolata"/>
              </a:rPr>
              <a:t>: </a:t>
            </a:r>
            <a:r>
              <a:rPr sz="729" i="0">
                <a:solidFill>
                  <a:srgbClr val="F9C97A"/>
                </a:solidFill>
                <a:latin typeface="Inconsolata"/>
              </a:rPr>
              <a:t>1</a:t>
            </a:r>
            <a:r>
              <a:rPr sz="729" i="0">
                <a:solidFill>
                  <a:srgbClr val="E6EDF3"/>
                </a:solidFill>
                <a:latin typeface="Inconsolata"/>
              </a:rPr>
              <a:t>})</a:t>
            </a:r>
          </a:p>
          <a:p>
            <a:pPr>
              <a:lnSpc>
                <a:spcPct val="102868"/>
              </a:lnSpc>
              <a:spcAft>
                <a:spcPts val="0"/>
              </a:spcAft>
            </a:pPr>
            <a:r>
              <a:rPr sz="729" i="0">
                <a:solidFill>
                  <a:srgbClr val="5C6773"/>
                </a:solidFill>
                <a:latin typeface="Inconsolata"/>
              </a:rPr>
              <a:t>48  </a:t>
            </a:r>
            <a:r>
              <a:rPr sz="729" i="0">
                <a:solidFill>
                  <a:srgbClr val="E6EDF3"/>
                </a:solidFill>
                <a:latin typeface="Inconsolata"/>
              </a:rPr>
              <a:t>        publish(channel, {</a:t>
            </a:r>
            <a:r>
              <a:rPr sz="729" i="0">
                <a:solidFill>
                  <a:srgbClr val="A5D6A7"/>
                </a:solidFill>
                <a:latin typeface="Inconsolata"/>
              </a:rPr>
              <a:t>"type"</a:t>
            </a:r>
            <a:r>
              <a:rPr sz="729" i="0">
                <a:solidFill>
                  <a:srgbClr val="E6EDF3"/>
                </a:solidFill>
                <a:latin typeface="Inconsolata"/>
              </a:rPr>
              <a:t>: </a:t>
            </a:r>
            <a:r>
              <a:rPr sz="729" i="0">
                <a:solidFill>
                  <a:srgbClr val="A5D6A7"/>
                </a:solidFill>
                <a:latin typeface="Inconsolata"/>
              </a:rPr>
              <a:t>"order.paid"</a:t>
            </a:r>
            <a:r>
              <a:rPr sz="729" i="0">
                <a:solidFill>
                  <a:srgbClr val="E6EDF3"/>
                </a:solidFill>
                <a:latin typeface="Inconsolata"/>
              </a:rPr>
              <a:t>, </a:t>
            </a:r>
            <a:r>
              <a:rPr sz="729" i="0">
                <a:solidFill>
                  <a:srgbClr val="A5D6A7"/>
                </a:solidFill>
                <a:latin typeface="Inconsolata"/>
              </a:rPr>
              <a:t>"order_id"</a:t>
            </a:r>
            <a:r>
              <a:rPr sz="729" i="0">
                <a:solidFill>
                  <a:srgbClr val="E6EDF3"/>
                </a:solidFill>
                <a:latin typeface="Inconsolata"/>
              </a:rPr>
              <a:t>: </a:t>
            </a:r>
            <a:r>
              <a:rPr sz="729" i="0">
                <a:solidFill>
                  <a:srgbClr val="F9C97A"/>
                </a:solidFill>
                <a:latin typeface="Inconsolata"/>
              </a:rPr>
              <a:t>1</a:t>
            </a:r>
            <a:r>
              <a:rPr sz="729" i="0">
                <a:solidFill>
                  <a:srgbClr val="E6EDF3"/>
                </a:solidFill>
                <a:latin typeface="Inconsolata"/>
              </a:rPr>
              <a:t>})</a:t>
            </a:r>
          </a:p>
          <a:p>
            <a:pPr>
              <a:lnSpc>
                <a:spcPct val="102868"/>
              </a:lnSpc>
              <a:spcAft>
                <a:spcPts val="0"/>
              </a:spcAft>
            </a:pPr>
            <a:r>
              <a:rPr sz="729" i="0">
                <a:solidFill>
                  <a:srgbClr val="5C6773"/>
                </a:solidFill>
                <a:latin typeface="Inconsolata"/>
              </a:rPr>
              <a:t>49  </a:t>
            </a:r>
            <a:r>
              <a:rPr sz="729" i="0">
                <a:solidFill>
                  <a:srgbClr val="E6EDF3"/>
                </a:solidFill>
                <a:latin typeface="Inconsolata"/>
              </a:rPr>
              <a:t> </a:t>
            </a:r>
          </a:p>
          <a:p>
            <a:pPr>
              <a:lnSpc>
                <a:spcPct val="102868"/>
              </a:lnSpc>
              <a:spcAft>
                <a:spcPts val="0"/>
              </a:spcAft>
            </a:pPr>
            <a:r>
              <a:rPr sz="729" i="0">
                <a:solidFill>
                  <a:srgbClr val="5C6773"/>
                </a:solidFill>
                <a:latin typeface="Inconsolata"/>
              </a:rPr>
              <a:t>50  </a:t>
            </a:r>
            <a:r>
              <a:rPr sz="729" i="0">
                <a:solidFill>
                  <a:srgbClr val="E6EDF3"/>
                </a:solidFill>
                <a:latin typeface="Inconsolata"/>
              </a:rPr>
              <a:t>        </a:t>
            </a:r>
            <a:r>
              <a:rPr sz="729" i="0">
                <a:solidFill>
                  <a:srgbClr val="FF8E6E"/>
                </a:solidFill>
                <a:latin typeface="Inconsolata"/>
              </a:rPr>
              <a:t>for</a:t>
            </a:r>
            <a:r>
              <a:rPr sz="729" i="0">
                <a:solidFill>
                  <a:srgbClr val="E6EDF3"/>
                </a:solidFill>
                <a:latin typeface="Inconsolata"/>
              </a:rPr>
              <a:t> queue, pattern </a:t>
            </a:r>
            <a:r>
              <a:rPr sz="729" i="0">
                <a:solidFill>
                  <a:srgbClr val="FF8E6E"/>
                </a:solidFill>
                <a:latin typeface="Inconsolata"/>
              </a:rPr>
              <a:t>in</a:t>
            </a:r>
            <a:r>
              <a:rPr sz="729" i="0">
                <a:solidFill>
                  <a:srgbClr val="E6EDF3"/>
                </a:solidFill>
                <a:latin typeface="Inconsolata"/>
              </a:rPr>
              <a:t> </a:t>
            </a:r>
            <a:r>
              <a:rPr sz="729" i="0">
                <a:solidFill>
                  <a:srgbClr val="7FDBCA"/>
                </a:solidFill>
                <a:latin typeface="Inconsolata"/>
              </a:rPr>
              <a:t>BINDINGS</a:t>
            </a:r>
            <a:r>
              <a:rPr sz="729" i="0">
                <a:solidFill>
                  <a:srgbClr val="E6EDF3"/>
                </a:solidFill>
                <a:latin typeface="Inconsolata"/>
              </a:rPr>
              <a:t>.items():</a:t>
            </a:r>
          </a:p>
          <a:p>
            <a:pPr>
              <a:lnSpc>
                <a:spcPct val="102868"/>
              </a:lnSpc>
              <a:spcAft>
                <a:spcPts val="0"/>
              </a:spcAft>
            </a:pPr>
            <a:r>
              <a:rPr sz="729" i="0">
                <a:solidFill>
                  <a:srgbClr val="5C6773"/>
                </a:solidFill>
                <a:latin typeface="Inconsolata"/>
              </a:rPr>
              <a:t>51  </a:t>
            </a:r>
            <a:r>
              <a:rPr sz="729" i="0">
                <a:solidFill>
                  <a:srgbClr val="E6EDF3"/>
                </a:solidFill>
                <a:latin typeface="Inconsolata"/>
              </a:rPr>
              <a:t>            info = channel.queue_declare(queue, passive=</a:t>
            </a:r>
            <a:r>
              <a:rPr sz="729" i="0">
                <a:solidFill>
                  <a:srgbClr val="FF8E6E"/>
                </a:solidFill>
                <a:latin typeface="Inconsolata"/>
              </a:rPr>
              <a:t>True</a:t>
            </a:r>
            <a:r>
              <a:rPr sz="729" i="0">
                <a:solidFill>
                  <a:srgbClr val="E6EDF3"/>
                </a:solidFill>
                <a:latin typeface="Inconsolata"/>
              </a:rPr>
              <a:t>)</a:t>
            </a:r>
          </a:p>
          <a:p>
            <a:pPr>
              <a:lnSpc>
                <a:spcPct val="102868"/>
              </a:lnSpc>
              <a:spcAft>
                <a:spcPts val="0"/>
              </a:spcAft>
            </a:pPr>
            <a:r>
              <a:rPr sz="729" i="0">
                <a:solidFill>
                  <a:srgbClr val="5C6773"/>
                </a:solidFill>
                <a:latin typeface="Inconsolata"/>
              </a:rPr>
              <a:t>52  </a:t>
            </a:r>
            <a:r>
              <a:rPr sz="729" i="0">
                <a:solidFill>
                  <a:srgbClr val="E6EDF3"/>
                </a:solidFill>
                <a:latin typeface="Inconsolata"/>
              </a:rPr>
              <a:t>            count = info.method.message_count</a:t>
            </a:r>
          </a:p>
          <a:p>
            <a:pPr>
              <a:lnSpc>
                <a:spcPct val="102868"/>
              </a:lnSpc>
              <a:spcAft>
                <a:spcPts val="0"/>
              </a:spcAft>
            </a:pPr>
            <a:r>
              <a:rPr sz="729" i="0">
                <a:solidFill>
                  <a:srgbClr val="5C6773"/>
                </a:solidFill>
                <a:latin typeface="Inconsolata"/>
              </a:rPr>
              <a:t>53  </a:t>
            </a:r>
            <a:r>
              <a:rPr sz="729" i="0">
                <a:solidFill>
                  <a:srgbClr val="E6EDF3"/>
                </a:solidFill>
                <a:latin typeface="Inconsolata"/>
              </a:rPr>
              <a:t>            </a:t>
            </a:r>
            <a:r>
              <a:rPr sz="729" i="0">
                <a:solidFill>
                  <a:srgbClr val="C3A6FF"/>
                </a:solidFill>
                <a:latin typeface="Inconsolata"/>
              </a:rPr>
              <a:t>print</a:t>
            </a:r>
            <a:r>
              <a:rPr sz="729" i="0">
                <a:solidFill>
                  <a:srgbClr val="E6EDF3"/>
                </a:solidFill>
                <a:latin typeface="Inconsolata"/>
              </a:rPr>
              <a:t>(</a:t>
            </a:r>
            <a:r>
              <a:rPr sz="729" i="0">
                <a:solidFill>
                  <a:srgbClr val="A5D6A7"/>
                </a:solidFill>
                <a:latin typeface="Inconsolata"/>
              </a:rPr>
              <a:t>f"Queue {queue:&lt;9} ({pattern:&lt;10}): {count} pesan"</a:t>
            </a:r>
            <a:r>
              <a:rPr sz="729" i="0">
                <a:solidFill>
                  <a:srgbClr val="E6EDF3"/>
                </a:solidFill>
                <a:latin typeface="Inconsolata"/>
              </a:rPr>
              <a:t>)</a:t>
            </a:r>
          </a:p>
        </p:txBody>
      </p:sp>
      <p:sp>
        <p:nvSpPr>
          <p:cNvPr id="36" name="Box 21"/>
          <p:cNvSpPr/>
          <p:nvPr/>
        </p:nvSpPr>
        <p:spPr>
          <a:xfrm>
            <a:off x="704088" y="2625471"/>
            <a:ext cx="3694176" cy="336042"/>
          </a:xfrm>
          <a:prstGeom prst="roundRect">
            <a:avLst>
              <a:gd name="adj" fmla="val 13605"/>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267462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704088" y="3425571"/>
            <a:ext cx="3694176" cy="564642"/>
          </a:xfrm>
          <a:prstGeom prst="roundRect">
            <a:avLst>
              <a:gd name="adj" fmla="val 80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279392" y="358902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2282571"/>
            <a:ext cx="3694176" cy="678942"/>
          </a:xfrm>
          <a:prstGeom prst="roundRect">
            <a:avLst>
              <a:gd name="adj" fmla="val 6734"/>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250317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Exchange &amp; Queue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02-exchange-queue/after.py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621792"/>
          </a:xfrm>
          <a:prstGeom prst="roundRect">
            <a:avLst>
              <a:gd name="adj" fmla="val 2941"/>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621792"/>
          </a:xfrm>
          <a:prstGeom prst="rect">
            <a:avLst/>
          </a:prstGeom>
          <a:noFill/>
        </p:spPr>
        <p:txBody>
          <a:bodyPr wrap="none" lIns="146304" tIns="91440" rIns="146304" bIns="54864">
            <a:spAutoFit/>
          </a:bodyPr>
          <a:lstStyle/>
          <a:p>
            <a:pPr>
              <a:lnSpc>
                <a:spcPct val="107843"/>
              </a:lnSpc>
              <a:spcAft>
                <a:spcPts val="0"/>
              </a:spcAft>
            </a:pPr>
            <a:r>
              <a:rPr sz="850" i="0">
                <a:solidFill>
                  <a:srgbClr val="82B1FF"/>
                </a:solidFill>
                <a:latin typeface="Inconsolata"/>
              </a:rPr>
              <a:t>$ cd sesi-08-event-driven-rabbitmq-kafka/02-exchange-queue</a:t>
            </a:r>
          </a:p>
          <a:p>
            <a:pPr>
              <a:lnSpc>
                <a:spcPct val="107843"/>
              </a:lnSpc>
              <a:spcAft>
                <a:spcPts val="0"/>
              </a:spcAft>
            </a:pPr>
            <a:r>
              <a:rPr sz="850" i="0">
                <a:solidFill>
                  <a:srgbClr val="82B1FF"/>
                </a:solidFill>
                <a:latin typeface="Inconsolata"/>
              </a:rPr>
              <a:t>$ docker compose -f ../docker-compose.yml up -d rabbitmq</a:t>
            </a:r>
          </a:p>
          <a:p>
            <a:pPr>
              <a:lnSpc>
                <a:spcPct val="107843"/>
              </a:lnSpc>
              <a:spcAft>
                <a:spcPts val="0"/>
              </a:spcAft>
            </a:pPr>
            <a:r>
              <a:rPr sz="850" i="0">
                <a:solidFill>
                  <a:srgbClr val="82B1FF"/>
                </a:solidFill>
                <a:latin typeface="Inconsolata"/>
              </a:rPr>
              <a:t>$ python after.py</a:t>
            </a:r>
          </a:p>
        </p:txBody>
      </p:sp>
      <p:pic>
        <p:nvPicPr>
          <p:cNvPr id="29" name="Image 12" descr="s08-02-exchange-queue-after.png"/>
          <p:cNvPicPr>
            <a:picLocks noChangeAspect="1"/>
          </p:cNvPicPr>
          <p:nvPr/>
        </p:nvPicPr>
        <p:blipFill>
          <a:blip r:embed="rId2"/>
          <a:stretch>
            <a:fillRect/>
          </a:stretch>
        </p:blipFill>
        <p:spPr>
          <a:xfrm>
            <a:off x="621792" y="2459736"/>
            <a:ext cx="4297680" cy="1002792"/>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Setiap queue memilih event lewat binding (baris 22-24)</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Producer hanya kirim ke exchange </a:t>
            </a:r>
            <a:r>
              <a:rPr sz="950" b="0" i="0">
                <a:solidFill>
                  <a:srgbClr val="B5482A"/>
                </a:solidFill>
                <a:latin typeface="Inconsolata"/>
              </a:rPr>
              <a:t>orders</a:t>
            </a:r>
            <a:r>
              <a:rPr sz="950" b="0" i="0">
                <a:solidFill>
                  <a:srgbClr val="434343"/>
                </a:solidFill>
                <a:latin typeface="Inter"/>
              </a:rPr>
              <a:t> dengan routing key jenis event (baris 29-33)</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Exchange, queue, dan binding dibuat (baris 40-45)</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Analytics menerima semua event tanpa mengubah producer.</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Ack</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Ack?</a:t>
            </a:r>
          </a:p>
        </p:txBody>
      </p:sp>
      <p:sp>
        <p:nvSpPr>
          <p:cNvPr id="22" name="Text 3"/>
          <p:cNvSpPr txBox="1"/>
          <p:nvPr/>
        </p:nvSpPr>
        <p:spPr>
          <a:xfrm>
            <a:off x="621792" y="1481328"/>
            <a:ext cx="3520440" cy="3291840"/>
          </a:xfrm>
          <a:prstGeom prst="rect">
            <a:avLst/>
          </a:prstGeom>
          <a:noFill/>
        </p:spPr>
        <p:txBody>
          <a:bodyPr wrap="square" lIns="45720" rIns="45720" anchor="t">
            <a:spAutoFit/>
          </a:bodyPr>
          <a:lstStyle/>
          <a:p>
            <a:pPr algn="l">
              <a:lnSpc>
                <a:spcPct val="115000"/>
              </a:lnSpc>
              <a:spcAft>
                <a:spcPts val="400"/>
              </a:spcAft>
            </a:pPr>
            <a:r>
              <a:rPr sz="1000" b="1" i="0">
                <a:solidFill>
                  <a:srgbClr val="1C4587"/>
                </a:solidFill>
                <a:latin typeface="Inter"/>
              </a:rPr>
              <a:t>Ack adalah</a:t>
            </a:r>
          </a:p>
          <a:p>
            <a:pPr algn="l">
              <a:lnSpc>
                <a:spcPct val="115000"/>
              </a:lnSpc>
              <a:spcAft>
                <a:spcPts val="400"/>
              </a:spcAft>
            </a:pPr>
            <a:r>
              <a:rPr sz="900" b="1" i="0">
                <a:solidFill>
                  <a:srgbClr val="434343"/>
                </a:solidFill>
                <a:latin typeface="Inter"/>
              </a:rPr>
              <a:t>Acknowledgement</a:t>
            </a:r>
            <a:r>
              <a:rPr sz="900" b="0" i="0">
                <a:solidFill>
                  <a:srgbClr val="434343"/>
                </a:solidFill>
                <a:latin typeface="Inter"/>
              </a:rPr>
              <a:t>, yaitu tanda dari consumer ke RabbitMQ bahwa pesan sudah selesai diproses, sehingga pesan boleh dihapus dari queue. Dengan </a:t>
            </a:r>
            <a:r>
              <a:rPr sz="900" b="1" i="0">
                <a:solidFill>
                  <a:srgbClr val="434343"/>
                </a:solidFill>
                <a:latin typeface="Inter"/>
              </a:rPr>
              <a:t>ack manual</a:t>
            </a:r>
            <a:r>
              <a:rPr sz="900" b="0" i="0">
                <a:solidFill>
                  <a:srgbClr val="434343"/>
                </a:solidFill>
                <a:latin typeface="Inter"/>
              </a:rPr>
              <a:t>, pesan baru dihapus setelah prosesnya benar-benar selesai.</a:t>
            </a:r>
          </a:p>
          <a:p>
            <a:pPr algn="l">
              <a:lnSpc>
                <a:spcPct val="115000"/>
              </a:lnSpc>
              <a:spcAft>
                <a:spcPts val="400"/>
              </a:spcAft>
            </a:pPr>
            <a:r>
              <a:rPr sz="100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Mencegah pesan hilang saat consumer crash di tengah proses</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Mengembalikan pesan yang belum di-ack ke queue secara otomatis</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Membatasi jumlah pesan yang dipegang consumer (</a:t>
            </a:r>
            <a:r>
              <a:rPr sz="900" b="0" i="0">
                <a:solidFill>
                  <a:srgbClr val="B5482A"/>
                </a:solidFill>
                <a:latin typeface="Inconsolata"/>
              </a:rPr>
              <a:t>prefetch_count</a:t>
            </a:r>
            <a:r>
              <a:rPr sz="900" b="0" i="0">
                <a:solidFill>
                  <a:srgbClr val="434343"/>
                </a:solidFill>
                <a:latin typeface="Inter"/>
              </a:rPr>
              <a:t>)</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auto ack: 03-ack/before.py</a:t>
            </a:r>
          </a:p>
        </p:txBody>
      </p:sp>
      <p:sp>
        <p:nvSpPr>
          <p:cNvPr id="28" name="CodeBg 11"/>
          <p:cNvSpPr/>
          <p:nvPr/>
        </p:nvSpPr>
        <p:spPr>
          <a:xfrm>
            <a:off x="4297680" y="1719072"/>
            <a:ext cx="4187951" cy="640080"/>
          </a:xfrm>
          <a:prstGeom prst="roundRect">
            <a:avLst>
              <a:gd name="adj" fmla="val 2857"/>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640080"/>
          </a:xfrm>
          <a:prstGeom prst="rect">
            <a:avLst/>
          </a:prstGeom>
          <a:noFill/>
        </p:spPr>
        <p:txBody>
          <a:bodyPr wrap="none" lIns="146304" tIns="91440" rIns="146304" bIns="54864">
            <a:spAutoFit/>
          </a:bodyPr>
          <a:lstStyle/>
          <a:p>
            <a:pPr>
              <a:lnSpc>
                <a:spcPct val="107843"/>
              </a:lnSpc>
              <a:spcAft>
                <a:spcPts val="0"/>
              </a:spcAft>
            </a:pPr>
            <a:r>
              <a:rPr sz="850" i="0">
                <a:solidFill>
                  <a:srgbClr val="E6EDF3"/>
                </a:solidFill>
                <a:latin typeface="Inconsolata"/>
              </a:rPr>
              <a:t>        </a:t>
            </a:r>
            <a:r>
              <a:rPr sz="850" i="0">
                <a:solidFill>
                  <a:srgbClr val="FF8E6E"/>
                </a:solidFill>
                <a:latin typeface="Inconsolata"/>
              </a:rPr>
              <a:t>for</a:t>
            </a:r>
            <a:r>
              <a:rPr sz="850" i="0">
                <a:solidFill>
                  <a:srgbClr val="E6EDF3"/>
                </a:solidFill>
                <a:latin typeface="Inconsolata"/>
              </a:rPr>
              <a:t> method, properties, body </a:t>
            </a:r>
            <a:r>
              <a:rPr sz="850" i="0">
                <a:solidFill>
                  <a:srgbClr val="FF8E6E"/>
                </a:solidFill>
                <a:latin typeface="Inconsolata"/>
              </a:rPr>
              <a:t>in</a:t>
            </a:r>
            <a:r>
              <a:rPr sz="850" i="0">
                <a:solidFill>
                  <a:srgbClr val="E6EDF3"/>
                </a:solidFill>
                <a:latin typeface="Inconsolata"/>
              </a:rPr>
              <a:t> channel.consume(</a:t>
            </a:r>
          </a:p>
          <a:p>
            <a:pPr>
              <a:lnSpc>
                <a:spcPct val="107843"/>
              </a:lnSpc>
              <a:spcAft>
                <a:spcPts val="0"/>
              </a:spcAft>
            </a:pPr>
            <a:r>
              <a:rPr sz="850" i="0">
                <a:solidFill>
                  <a:srgbClr val="E6EDF3"/>
                </a:solidFill>
                <a:latin typeface="Inconsolata"/>
              </a:rPr>
              <a:t>                </a:t>
            </a:r>
            <a:r>
              <a:rPr sz="850" i="0">
                <a:solidFill>
                  <a:srgbClr val="A5D6A7"/>
                </a:solidFill>
                <a:latin typeface="Inconsolata"/>
              </a:rPr>
              <a:t>"email"</a:t>
            </a:r>
            <a:r>
              <a:rPr sz="850" i="0">
                <a:solidFill>
                  <a:srgbClr val="E6EDF3"/>
                </a:solidFill>
                <a:latin typeface="Inconsolata"/>
              </a:rPr>
              <a:t>, auto_ack=</a:t>
            </a:r>
            <a:r>
              <a:rPr sz="850" i="0">
                <a:solidFill>
                  <a:srgbClr val="FF8E6E"/>
                </a:solidFill>
                <a:latin typeface="Inconsolata"/>
              </a:rPr>
              <a:t>True</a:t>
            </a:r>
            <a:r>
              <a:rPr sz="850" i="0">
                <a:solidFill>
                  <a:srgbClr val="E6EDF3"/>
                </a:solidFill>
                <a:latin typeface="Inconsolata"/>
              </a:rPr>
              <a:t>, inactivity_timeout=</a:t>
            </a:r>
            <a:r>
              <a:rPr sz="850" i="0">
                <a:solidFill>
                  <a:srgbClr val="F9C97A"/>
                </a:solidFill>
                <a:latin typeface="Inconsolata"/>
              </a:rPr>
              <a:t>1</a:t>
            </a:r>
            <a:r>
              <a:rPr sz="850" i="0">
                <a:solidFill>
                  <a:srgbClr val="E6EDF3"/>
                </a:solidFill>
                <a:latin typeface="Inconsolata"/>
              </a:rPr>
              <a:t>):</a:t>
            </a:r>
          </a:p>
        </p:txBody>
      </p:sp>
      <p:sp>
        <p:nvSpPr>
          <p:cNvPr id="30" name="Box 13"/>
          <p:cNvSpPr/>
          <p:nvPr/>
        </p:nvSpPr>
        <p:spPr>
          <a:xfrm>
            <a:off x="4379976" y="1968373"/>
            <a:ext cx="4023359"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CodeTab 15"/>
          <p:cNvSpPr/>
          <p:nvPr/>
        </p:nvSpPr>
        <p:spPr>
          <a:xfrm>
            <a:off x="4297680" y="2450592"/>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Dot 16"/>
          <p:cNvSpPr/>
          <p:nvPr/>
        </p:nvSpPr>
        <p:spPr>
          <a:xfrm>
            <a:off x="4407408" y="2528316"/>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Dot 17"/>
          <p:cNvSpPr/>
          <p:nvPr/>
        </p:nvSpPr>
        <p:spPr>
          <a:xfrm>
            <a:off x="4544568" y="2528316"/>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681728" y="2528316"/>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 19"/>
          <p:cNvSpPr txBox="1"/>
          <p:nvPr/>
        </p:nvSpPr>
        <p:spPr>
          <a:xfrm>
            <a:off x="4846320" y="2459736"/>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ack manual: 03-ack/after.py</a:t>
            </a:r>
          </a:p>
        </p:txBody>
      </p:sp>
      <p:sp>
        <p:nvSpPr>
          <p:cNvPr id="36" name="CodeBg 21"/>
          <p:cNvSpPr/>
          <p:nvPr/>
        </p:nvSpPr>
        <p:spPr>
          <a:xfrm>
            <a:off x="4297680" y="2688336"/>
            <a:ext cx="4187951" cy="2011679"/>
          </a:xfrm>
          <a:prstGeom prst="roundRect">
            <a:avLst>
              <a:gd name="adj" fmla="val 909"/>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Code 22"/>
          <p:cNvSpPr txBox="1"/>
          <p:nvPr/>
        </p:nvSpPr>
        <p:spPr>
          <a:xfrm>
            <a:off x="4297680" y="2688336"/>
            <a:ext cx="4187951" cy="2011679"/>
          </a:xfrm>
          <a:prstGeom prst="rect">
            <a:avLst/>
          </a:prstGeom>
          <a:noFill/>
        </p:spPr>
        <p:txBody>
          <a:bodyPr wrap="none" lIns="146304" tIns="91440" rIns="146304" bIns="54864">
            <a:spAutoFit/>
          </a:bodyPr>
          <a:lstStyle/>
          <a:p>
            <a:pPr>
              <a:lnSpc>
                <a:spcPct val="107843"/>
              </a:lnSpc>
              <a:spcAft>
                <a:spcPts val="0"/>
              </a:spcAft>
            </a:pPr>
            <a:r>
              <a:rPr sz="850" i="0">
                <a:solidFill>
                  <a:srgbClr val="E6EDF3"/>
                </a:solidFill>
                <a:latin typeface="Inconsolata"/>
              </a:rPr>
              <a:t>        channel.basic_qos(prefetch_count=</a:t>
            </a:r>
            <a:r>
              <a:rPr sz="850" i="0">
                <a:solidFill>
                  <a:srgbClr val="F9C97A"/>
                </a:solidFill>
                <a:latin typeface="Inconsolata"/>
              </a:rPr>
              <a:t>1</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FF8E6E"/>
                </a:solidFill>
                <a:latin typeface="Inconsolata"/>
              </a:rPr>
              <a:t>for</a:t>
            </a:r>
            <a:r>
              <a:rPr sz="850" i="0">
                <a:solidFill>
                  <a:srgbClr val="E6EDF3"/>
                </a:solidFill>
                <a:latin typeface="Inconsolata"/>
              </a:rPr>
              <a:t> method, properties, body </a:t>
            </a:r>
            <a:r>
              <a:rPr sz="850" i="0">
                <a:solidFill>
                  <a:srgbClr val="FF8E6E"/>
                </a:solidFill>
                <a:latin typeface="Inconsolata"/>
              </a:rPr>
              <a:t>in</a:t>
            </a:r>
            <a:r>
              <a:rPr sz="850" i="0">
                <a:solidFill>
                  <a:srgbClr val="E6EDF3"/>
                </a:solidFill>
                <a:latin typeface="Inconsolata"/>
              </a:rPr>
              <a:t> channel.consume(</a:t>
            </a:r>
          </a:p>
          <a:p>
            <a:pPr>
              <a:lnSpc>
                <a:spcPct val="107843"/>
              </a:lnSpc>
              <a:spcAft>
                <a:spcPts val="0"/>
              </a:spcAft>
            </a:pPr>
            <a:r>
              <a:rPr sz="850" i="0">
                <a:solidFill>
                  <a:srgbClr val="E6EDF3"/>
                </a:solidFill>
                <a:latin typeface="Inconsolata"/>
              </a:rPr>
              <a:t>                </a:t>
            </a:r>
            <a:r>
              <a:rPr sz="850" i="0">
                <a:solidFill>
                  <a:srgbClr val="A5D6A7"/>
                </a:solidFill>
                <a:latin typeface="Inconsolata"/>
              </a:rPr>
              <a:t>"email"</a:t>
            </a:r>
            <a:r>
              <a:rPr sz="850" i="0">
                <a:solidFill>
                  <a:srgbClr val="E6EDF3"/>
                </a:solidFill>
                <a:latin typeface="Inconsolata"/>
              </a:rPr>
              <a:t>, auto_ack=</a:t>
            </a:r>
            <a:r>
              <a:rPr sz="850" i="0">
                <a:solidFill>
                  <a:srgbClr val="FF8E6E"/>
                </a:solidFill>
                <a:latin typeface="Inconsolata"/>
              </a:rPr>
              <a:t>False</a:t>
            </a:r>
            <a:r>
              <a:rPr sz="850" i="0">
                <a:solidFill>
                  <a:srgbClr val="E6EDF3"/>
                </a:solidFill>
                <a:latin typeface="Inconsolata"/>
              </a:rPr>
              <a:t>, inactivity_timeout=</a:t>
            </a:r>
            <a:r>
              <a:rPr sz="850" i="0">
                <a:solidFill>
                  <a:srgbClr val="F9C97A"/>
                </a:solidFill>
                <a:latin typeface="Inconsolata"/>
              </a:rPr>
              <a:t>1</a:t>
            </a:r>
            <a:r>
              <a:rPr sz="850" i="0">
                <a:solidFill>
                  <a:srgbClr val="E6EDF3"/>
                </a:solidFill>
                <a:latin typeface="Inconsolata"/>
              </a:rPr>
              <a:t>):</a:t>
            </a:r>
          </a:p>
          <a:p>
            <a:pPr>
              <a:lnSpc>
                <a:spcPct val="107843"/>
              </a:lnSpc>
              <a:spcAft>
                <a:spcPts val="0"/>
              </a:spcAft>
            </a:pP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1">
                <a:solidFill>
                  <a:srgbClr val="8B98A8"/>
                </a:solidFill>
                <a:latin typeface="Inconsolata"/>
              </a:rPr>
              <a:t># proses selesai, baru pesan boleh dihapus</a:t>
            </a:r>
          </a:p>
          <a:p>
            <a:pPr>
              <a:lnSpc>
                <a:spcPct val="107843"/>
              </a:lnSpc>
              <a:spcAft>
                <a:spcPts val="0"/>
              </a:spcAft>
            </a:pPr>
            <a:r>
              <a:rPr sz="850" i="0">
                <a:solidFill>
                  <a:srgbClr val="E6EDF3"/>
                </a:solidFill>
                <a:latin typeface="Inconsolata"/>
              </a:rPr>
              <a:t>            channel.basic_ack(method.delivery_tag)</a:t>
            </a:r>
          </a:p>
        </p:txBody>
      </p:sp>
      <p:sp>
        <p:nvSpPr>
          <p:cNvPr id="38" name="Box 23"/>
          <p:cNvSpPr/>
          <p:nvPr/>
        </p:nvSpPr>
        <p:spPr>
          <a:xfrm>
            <a:off x="4379976" y="2797937"/>
            <a:ext cx="4023359"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379976" y="3077337"/>
            <a:ext cx="4023359"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0" name="Box 25"/>
          <p:cNvSpPr/>
          <p:nvPr/>
        </p:nvSpPr>
        <p:spPr>
          <a:xfrm>
            <a:off x="4379976" y="3496437"/>
            <a:ext cx="4023359"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Ack</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Ack Manual?</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Dengan auto_ack</a:t>
            </a:r>
          </a:p>
          <a:p>
            <a:pPr algn="l">
              <a:lnSpc>
                <a:spcPct val="115000"/>
              </a:lnSpc>
              <a:spcAft>
                <a:spcPts val="400"/>
              </a:spcAft>
            </a:pPr>
            <a:r>
              <a:rPr sz="950" b="0" i="0">
                <a:solidFill>
                  <a:srgbClr val="434343"/>
                </a:solidFill>
                <a:latin typeface="Inter"/>
              </a:rPr>
              <a:t>RabbitMQ menganggap pesan selesai begitu dikirim ke consumer, lalu langsung menghapusnya.</a:t>
            </a:r>
          </a:p>
          <a:p>
            <a:pPr algn="l">
              <a:lnSpc>
                <a:spcPct val="115000"/>
              </a:lnSpc>
              <a:spcAft>
                <a:spcPts val="400"/>
              </a:spcAft>
            </a:pPr>
            <a:r>
              <a:rPr sz="1050" b="1" i="0">
                <a:solidFill>
                  <a:srgbClr val="1C4587"/>
                </a:solidFill>
                <a:latin typeface="Inter"/>
              </a:rPr>
              <a:t>Jika consumernya crash</a:t>
            </a:r>
          </a:p>
          <a:p>
            <a:pPr algn="l">
              <a:lnSpc>
                <a:spcPct val="115000"/>
              </a:lnSpc>
              <a:spcAft>
                <a:spcPts val="400"/>
              </a:spcAft>
            </a:pPr>
            <a:r>
              <a:rPr sz="950" b="0" i="0">
                <a:solidFill>
                  <a:srgbClr val="434343"/>
                </a:solidFill>
                <a:latin typeface="Inter"/>
              </a:rPr>
              <a:t>Pesan yang sedang diproses ikut hilang. Contoh: 3 order masuk, consumer crash di order #2, dan order #2 serta #3 tidak pernah dikirim emailnya.</a:t>
            </a:r>
          </a:p>
          <a:p>
            <a:pPr algn="l">
              <a:lnSpc>
                <a:spcPct val="115000"/>
              </a:lnSpc>
              <a:spcAft>
                <a:spcPts val="400"/>
              </a:spcAft>
            </a:pPr>
            <a:r>
              <a:rPr sz="950" b="0" i="0">
                <a:solidFill>
                  <a:srgbClr val="434343"/>
                </a:solidFill>
                <a:latin typeface="Inter"/>
              </a:rPr>
              <a:t>Hal ini membuat customer tidak menerima notifikasi tanpa ada yang tahu.</a:t>
            </a:r>
          </a:p>
          <a:p>
            <a:pPr algn="l">
              <a:lnSpc>
                <a:spcPct val="115000"/>
              </a:lnSpc>
              <a:spcAft>
                <a:spcPts val="400"/>
              </a:spcAft>
            </a:pPr>
            <a:r>
              <a:rPr sz="1050" b="1" i="0">
                <a:solidFill>
                  <a:srgbClr val="1C4587"/>
                </a:solidFill>
                <a:latin typeface="Inter"/>
              </a:rPr>
              <a:t>Yang dipakai dari RabbitMQ: basic_ack dan basic_qos</a:t>
            </a:r>
          </a:p>
          <a:p>
            <a:pPr algn="l">
              <a:lnSpc>
                <a:spcPct val="115000"/>
              </a:lnSpc>
              <a:spcAft>
                <a:spcPts val="400"/>
              </a:spcAft>
            </a:pPr>
            <a:r>
              <a:rPr sz="950" b="0" i="0">
                <a:solidFill>
                  <a:srgbClr val="434343"/>
                </a:solidFill>
                <a:latin typeface="Inter"/>
              </a:rPr>
              <a:t>Consumer mengirim </a:t>
            </a:r>
            <a:r>
              <a:rPr sz="950" b="0" i="0">
                <a:solidFill>
                  <a:srgbClr val="B5482A"/>
                </a:solidFill>
                <a:latin typeface="Inconsolata"/>
              </a:rPr>
              <a:t>basic_ack</a:t>
            </a:r>
            <a:r>
              <a:rPr sz="950" b="0" i="0">
                <a:solidFill>
                  <a:srgbClr val="434343"/>
                </a:solidFill>
                <a:latin typeface="Inter"/>
              </a:rPr>
              <a:t> setelah selesai. Jika koneksi putus sebelum ack, pesan dikembalikan ke queue.</a:t>
            </a:r>
          </a:p>
        </p:txBody>
      </p:sp>
      <p:graphicFrame>
        <p:nvGraphicFramePr>
          <p:cNvPr id="23" name="Table 4"/>
          <p:cNvGraphicFramePr>
            <a:graphicFrameLocks noGrp="1"/>
          </p:cNvGraphicFramePr>
          <p:nvPr/>
        </p:nvGraphicFramePr>
        <p:xfrm>
          <a:off x="4800600" y="1481328"/>
          <a:ext cx="3685032" cy="2057400"/>
        </p:xfrm>
        <a:graphic>
          <a:graphicData uri="http://schemas.openxmlformats.org/drawingml/2006/table">
            <a:tbl>
              <a:tblPr firstRow="1" bandRow="1"/>
              <a:tblGrid>
                <a:gridCol w="1901952">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tblGrid>
              <a:tr h="411480">
                <a:tc>
                  <a:txBody>
                    <a:bodyPr/>
                    <a:lstStyle/>
                    <a:p>
                      <a:pPr algn="l">
                        <a:lnSpc>
                          <a:spcPct val="100000"/>
                        </a:lnSpc>
                        <a:spcAft>
                          <a:spcPts val="0"/>
                        </a:spcAft>
                      </a:pPr>
                      <a:r>
                        <a:rPr sz="850" b="1" i="0">
                          <a:solidFill>
                            <a:srgbClr val="FFFFFF"/>
                          </a:solidFill>
                          <a:latin typeface="Inter"/>
                        </a:rPr>
                        <a:t>Ditulis</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Artinya</a:t>
                      </a:r>
                    </a:p>
                  </a:txBody>
                  <a:tcPr marL="73152" marR="73152" marT="36576" marB="36576" anchor="ctr">
                    <a:solidFill>
                      <a:srgbClr val="1C4587"/>
                    </a:solidFill>
                  </a:tcPr>
                </a:tc>
                <a:extLst>
                  <a:ext uri="{0D108BD9-81ED-4DB2-BD59-A6C34878D82A}">
                    <a16:rowId xmlns:a16="http://schemas.microsoft.com/office/drawing/2014/main" val="10000"/>
                  </a:ext>
                </a:extLst>
              </a:tr>
              <a:tr h="411480">
                <a:tc>
                  <a:txBody>
                    <a:bodyPr/>
                    <a:lstStyle/>
                    <a:p>
                      <a:pPr algn="l">
                        <a:lnSpc>
                          <a:spcPct val="100000"/>
                        </a:lnSpc>
                        <a:spcAft>
                          <a:spcPts val="0"/>
                        </a:spcAft>
                      </a:pPr>
                      <a:r>
                        <a:rPr sz="850" b="1" i="0">
                          <a:solidFill>
                            <a:srgbClr val="1C4587"/>
                          </a:solidFill>
                          <a:latin typeface="Inter"/>
                        </a:rPr>
                        <a:t>auto_ack=False</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Pesan dihapus setelah consumer ack</a:t>
                      </a:r>
                    </a:p>
                  </a:txBody>
                  <a:tcPr marL="73152" marR="73152" marT="36576" marB="36576" anchor="ctr">
                    <a:solidFill>
                      <a:srgbClr val="FFFFFF"/>
                    </a:solidFill>
                  </a:tcPr>
                </a:tc>
                <a:extLst>
                  <a:ext uri="{0D108BD9-81ED-4DB2-BD59-A6C34878D82A}">
                    <a16:rowId xmlns:a16="http://schemas.microsoft.com/office/drawing/2014/main" val="10001"/>
                  </a:ext>
                </a:extLst>
              </a:tr>
              <a:tr h="411480">
                <a:tc>
                  <a:txBody>
                    <a:bodyPr/>
                    <a:lstStyle/>
                    <a:p>
                      <a:pPr algn="l">
                        <a:lnSpc>
                          <a:spcPct val="100000"/>
                        </a:lnSpc>
                        <a:spcAft>
                          <a:spcPts val="0"/>
                        </a:spcAft>
                      </a:pPr>
                      <a:r>
                        <a:rPr sz="850" b="1" i="0">
                          <a:solidFill>
                            <a:srgbClr val="1C4587"/>
                          </a:solidFill>
                          <a:latin typeface="Inter"/>
                        </a:rPr>
                        <a:t>basic_ack(delivery_tag)</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Pesan selesai, boleh dihapus</a:t>
                      </a:r>
                    </a:p>
                  </a:txBody>
                  <a:tcPr marL="73152" marR="73152" marT="36576" marB="36576" anchor="ctr">
                    <a:solidFill>
                      <a:srgbClr val="F3F4F6"/>
                    </a:solidFill>
                  </a:tcPr>
                </a:tc>
                <a:extLst>
                  <a:ext uri="{0D108BD9-81ED-4DB2-BD59-A6C34878D82A}">
                    <a16:rowId xmlns:a16="http://schemas.microsoft.com/office/drawing/2014/main" val="10002"/>
                  </a:ext>
                </a:extLst>
              </a:tr>
              <a:tr h="411480">
                <a:tc>
                  <a:txBody>
                    <a:bodyPr/>
                    <a:lstStyle/>
                    <a:p>
                      <a:pPr algn="l">
                        <a:lnSpc>
                          <a:spcPct val="100000"/>
                        </a:lnSpc>
                        <a:spcAft>
                          <a:spcPts val="0"/>
                        </a:spcAft>
                      </a:pPr>
                      <a:r>
                        <a:rPr sz="850" b="1" i="0">
                          <a:solidFill>
                            <a:srgbClr val="1C4587"/>
                          </a:solidFill>
                          <a:latin typeface="Inter"/>
                        </a:rPr>
                        <a:t>basic_qos(prefetch_count=1)</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Pegang 1 pesan yang belum di-ack</a:t>
                      </a:r>
                    </a:p>
                  </a:txBody>
                  <a:tcPr marL="73152" marR="73152" marT="36576" marB="36576" anchor="ctr">
                    <a:solidFill>
                      <a:srgbClr val="FFFFFF"/>
                    </a:solidFill>
                  </a:tcPr>
                </a:tc>
                <a:extLst>
                  <a:ext uri="{0D108BD9-81ED-4DB2-BD59-A6C34878D82A}">
                    <a16:rowId xmlns:a16="http://schemas.microsoft.com/office/drawing/2014/main" val="10003"/>
                  </a:ext>
                </a:extLst>
              </a:tr>
              <a:tr h="411480">
                <a:tc>
                  <a:txBody>
                    <a:bodyPr/>
                    <a:lstStyle/>
                    <a:p>
                      <a:pPr algn="l">
                        <a:lnSpc>
                          <a:spcPct val="100000"/>
                        </a:lnSpc>
                        <a:spcAft>
                          <a:spcPts val="0"/>
                        </a:spcAft>
                      </a:pPr>
                      <a:r>
                        <a:rPr sz="850" b="1" i="0">
                          <a:solidFill>
                            <a:srgbClr val="1C4587"/>
                          </a:solidFill>
                          <a:latin typeface="Inter"/>
                        </a:rPr>
                        <a:t>method.redelivered</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True jika pesan pernah dikirim sebelumnya</a:t>
                      </a:r>
                    </a:p>
                  </a:txBody>
                  <a:tcPr marL="73152" marR="73152" marT="36576" marB="36576" anchor="ctr">
                    <a:solidFill>
                      <a:srgbClr val="F3F4F6"/>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Ack</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auto_ack=True (1/2)</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03-ack/before.py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2868"/>
              </a:lnSpc>
              <a:spcAft>
                <a:spcPts val="0"/>
              </a:spcAft>
            </a:pPr>
            <a:r>
              <a:rPr sz="729" i="0">
                <a:solidFill>
                  <a:srgbClr val="5C6773"/>
                </a:solidFill>
                <a:latin typeface="Inconsolata"/>
              </a:rPr>
              <a:t> 9  </a:t>
            </a:r>
            <a:r>
              <a:rPr sz="729" i="0">
                <a:solidFill>
                  <a:srgbClr val="FF8E6E"/>
                </a:solidFill>
                <a:latin typeface="Inconsolata"/>
              </a:rPr>
              <a:t>import</a:t>
            </a:r>
            <a:r>
              <a:rPr sz="729" i="0">
                <a:solidFill>
                  <a:srgbClr val="E6EDF3"/>
                </a:solidFill>
                <a:latin typeface="Inconsolata"/>
              </a:rPr>
              <a:t> json</a:t>
            </a:r>
          </a:p>
          <a:p>
            <a:pPr>
              <a:lnSpc>
                <a:spcPct val="102868"/>
              </a:lnSpc>
              <a:spcAft>
                <a:spcPts val="0"/>
              </a:spcAft>
            </a:pPr>
            <a:r>
              <a:rPr sz="729" i="0">
                <a:solidFill>
                  <a:srgbClr val="5C6773"/>
                </a:solidFill>
                <a:latin typeface="Inconsolata"/>
              </a:rPr>
              <a:t>10  </a:t>
            </a:r>
            <a:r>
              <a:rPr sz="729" i="0">
                <a:solidFill>
                  <a:srgbClr val="FF8E6E"/>
                </a:solidFill>
                <a:latin typeface="Inconsolata"/>
              </a:rPr>
              <a:t>import</a:t>
            </a:r>
            <a:r>
              <a:rPr sz="729" i="0">
                <a:solidFill>
                  <a:srgbClr val="E6EDF3"/>
                </a:solidFill>
                <a:latin typeface="Inconsolata"/>
              </a:rPr>
              <a:t> os</a:t>
            </a:r>
          </a:p>
          <a:p>
            <a:pPr>
              <a:lnSpc>
                <a:spcPct val="102868"/>
              </a:lnSpc>
              <a:spcAft>
                <a:spcPts val="0"/>
              </a:spcAft>
            </a:pPr>
            <a:r>
              <a:rPr sz="729" i="0">
                <a:solidFill>
                  <a:srgbClr val="5C6773"/>
                </a:solidFill>
                <a:latin typeface="Inconsolata"/>
              </a:rPr>
              <a:t>11  </a:t>
            </a:r>
            <a:r>
              <a:rPr sz="729" i="0">
                <a:solidFill>
                  <a:srgbClr val="E6EDF3"/>
                </a:solidFill>
                <a:latin typeface="Inconsolata"/>
              </a:rPr>
              <a:t> </a:t>
            </a:r>
          </a:p>
          <a:p>
            <a:pPr>
              <a:lnSpc>
                <a:spcPct val="102868"/>
              </a:lnSpc>
              <a:spcAft>
                <a:spcPts val="0"/>
              </a:spcAft>
            </a:pPr>
            <a:r>
              <a:rPr sz="729" i="0">
                <a:solidFill>
                  <a:srgbClr val="5C6773"/>
                </a:solidFill>
                <a:latin typeface="Inconsolata"/>
              </a:rPr>
              <a:t>12  </a:t>
            </a:r>
            <a:r>
              <a:rPr sz="729" i="0">
                <a:solidFill>
                  <a:srgbClr val="FF8E6E"/>
                </a:solidFill>
                <a:latin typeface="Inconsolata"/>
              </a:rPr>
              <a:t>import</a:t>
            </a:r>
            <a:r>
              <a:rPr sz="729" i="0">
                <a:solidFill>
                  <a:srgbClr val="E6EDF3"/>
                </a:solidFill>
                <a:latin typeface="Inconsolata"/>
              </a:rPr>
              <a:t> pika</a:t>
            </a:r>
          </a:p>
          <a:p>
            <a:pPr>
              <a:lnSpc>
                <a:spcPct val="102868"/>
              </a:lnSpc>
              <a:spcAft>
                <a:spcPts val="0"/>
              </a:spcAft>
            </a:pPr>
            <a:r>
              <a:rPr sz="729" i="0">
                <a:solidFill>
                  <a:srgbClr val="5C6773"/>
                </a:solidFill>
                <a:latin typeface="Inconsolata"/>
              </a:rPr>
              <a:t>13  </a:t>
            </a:r>
            <a:r>
              <a:rPr sz="729" i="0">
                <a:solidFill>
                  <a:srgbClr val="E6EDF3"/>
                </a:solidFill>
                <a:latin typeface="Inconsolata"/>
              </a:rPr>
              <a:t> </a:t>
            </a:r>
          </a:p>
          <a:p>
            <a:pPr>
              <a:lnSpc>
                <a:spcPct val="102868"/>
              </a:lnSpc>
              <a:spcAft>
                <a:spcPts val="0"/>
              </a:spcAft>
            </a:pPr>
            <a:r>
              <a:rPr sz="729" i="0">
                <a:solidFill>
                  <a:srgbClr val="5C6773"/>
                </a:solidFill>
                <a:latin typeface="Inconsolata"/>
              </a:rPr>
              <a:t>14  </a:t>
            </a:r>
            <a:r>
              <a:rPr sz="729" i="0">
                <a:solidFill>
                  <a:srgbClr val="7FDBCA"/>
                </a:solidFill>
                <a:latin typeface="Inconsolata"/>
              </a:rPr>
              <a:t>URL</a:t>
            </a:r>
            <a:r>
              <a:rPr sz="729" i="0">
                <a:solidFill>
                  <a:srgbClr val="E6EDF3"/>
                </a:solidFill>
                <a:latin typeface="Inconsolata"/>
              </a:rPr>
              <a:t> = os.getenv(</a:t>
            </a:r>
            <a:r>
              <a:rPr sz="729" i="0">
                <a:solidFill>
                  <a:srgbClr val="A5D6A7"/>
                </a:solidFill>
                <a:latin typeface="Inconsolata"/>
              </a:rPr>
              <a:t>"RABBITMQ_URL"</a:t>
            </a:r>
            <a:r>
              <a:rPr sz="729" i="0">
                <a:solidFill>
                  <a:srgbClr val="E6EDF3"/>
                </a:solidFill>
                <a:latin typeface="Inconsolata"/>
              </a:rPr>
              <a:t>, </a:t>
            </a:r>
            <a:r>
              <a:rPr sz="729" i="0">
                <a:solidFill>
                  <a:srgbClr val="A5D6A7"/>
                </a:solidFill>
                <a:latin typeface="Inconsolata"/>
              </a:rPr>
              <a:t>"amqp://guest:guest@localhost:5672/"</a:t>
            </a:r>
            <a:r>
              <a:rPr sz="729" i="0">
                <a:solidFill>
                  <a:srgbClr val="E6EDF3"/>
                </a:solidFill>
                <a:latin typeface="Inconsolata"/>
              </a:rPr>
              <a:t>)</a:t>
            </a:r>
          </a:p>
          <a:p>
            <a:pPr>
              <a:lnSpc>
                <a:spcPct val="102868"/>
              </a:lnSpc>
              <a:spcAft>
                <a:spcPts val="0"/>
              </a:spcAft>
            </a:pPr>
            <a:r>
              <a:rPr sz="729" i="0">
                <a:solidFill>
                  <a:srgbClr val="5C6773"/>
                </a:solidFill>
                <a:latin typeface="Inconsolata"/>
              </a:rPr>
              <a:t>15  </a:t>
            </a:r>
            <a:r>
              <a:rPr sz="729" i="0">
                <a:solidFill>
                  <a:srgbClr val="E6EDF3"/>
                </a:solidFill>
                <a:latin typeface="Inconsolata"/>
              </a:rPr>
              <a:t> </a:t>
            </a:r>
          </a:p>
          <a:p>
            <a:pPr>
              <a:lnSpc>
                <a:spcPct val="102868"/>
              </a:lnSpc>
              <a:spcAft>
                <a:spcPts val="0"/>
              </a:spcAft>
            </a:pPr>
            <a:r>
              <a:rPr sz="729" i="0">
                <a:solidFill>
                  <a:srgbClr val="5C6773"/>
                </a:solidFill>
                <a:latin typeface="Inconsolata"/>
              </a:rPr>
              <a:t>16  </a:t>
            </a:r>
            <a:r>
              <a:rPr sz="729" i="0">
                <a:solidFill>
                  <a:srgbClr val="E6EDF3"/>
                </a:solidFill>
                <a:latin typeface="Inconsolata"/>
              </a:rPr>
              <a:t> </a:t>
            </a:r>
          </a:p>
          <a:p>
            <a:pPr>
              <a:lnSpc>
                <a:spcPct val="102868"/>
              </a:lnSpc>
              <a:spcAft>
                <a:spcPts val="0"/>
              </a:spcAft>
            </a:pPr>
            <a:r>
              <a:rPr sz="729" i="0">
                <a:solidFill>
                  <a:srgbClr val="5C6773"/>
                </a:solidFill>
                <a:latin typeface="Inconsolata"/>
              </a:rPr>
              <a:t>17  </a:t>
            </a:r>
            <a:r>
              <a:rPr sz="729" i="0">
                <a:solidFill>
                  <a:srgbClr val="FF8E6E"/>
                </a:solidFill>
                <a:latin typeface="Inconsolata"/>
              </a:rPr>
              <a:t>def</a:t>
            </a:r>
            <a:r>
              <a:rPr sz="729" i="0">
                <a:solidFill>
                  <a:srgbClr val="E6EDF3"/>
                </a:solidFill>
                <a:latin typeface="Inconsolata"/>
              </a:rPr>
              <a:t> </a:t>
            </a:r>
            <a:r>
              <a:rPr sz="729" i="0">
                <a:solidFill>
                  <a:srgbClr val="82B1FF"/>
                </a:solidFill>
                <a:latin typeface="Inconsolata"/>
              </a:rPr>
              <a:t>send_email</a:t>
            </a:r>
            <a:r>
              <a:rPr sz="729" i="0">
                <a:solidFill>
                  <a:srgbClr val="E6EDF3"/>
                </a:solidFill>
                <a:latin typeface="Inconsolata"/>
              </a:rPr>
              <a:t>(event, crash_on=</a:t>
            </a:r>
            <a:r>
              <a:rPr sz="729" i="0">
                <a:solidFill>
                  <a:srgbClr val="FF8E6E"/>
                </a:solidFill>
                <a:latin typeface="Inconsolata"/>
              </a:rPr>
              <a:t>None</a:t>
            </a:r>
            <a:r>
              <a:rPr sz="729" i="0">
                <a:solidFill>
                  <a:srgbClr val="E6EDF3"/>
                </a:solidFill>
                <a:latin typeface="Inconsolata"/>
              </a:rPr>
              <a:t>):</a:t>
            </a:r>
          </a:p>
          <a:p>
            <a:pPr>
              <a:lnSpc>
                <a:spcPct val="102868"/>
              </a:lnSpc>
              <a:spcAft>
                <a:spcPts val="0"/>
              </a:spcAft>
            </a:pPr>
            <a:r>
              <a:rPr sz="729" i="0">
                <a:solidFill>
                  <a:srgbClr val="5C6773"/>
                </a:solidFill>
                <a:latin typeface="Inconsolata"/>
              </a:rPr>
              <a:t>18  </a:t>
            </a:r>
            <a:r>
              <a:rPr sz="729" i="0">
                <a:solidFill>
                  <a:srgbClr val="E6EDF3"/>
                </a:solidFill>
                <a:latin typeface="Inconsolata"/>
              </a:rPr>
              <a:t>    </a:t>
            </a:r>
            <a:r>
              <a:rPr sz="729" i="0">
                <a:solidFill>
                  <a:srgbClr val="FF8E6E"/>
                </a:solidFill>
                <a:latin typeface="Inconsolata"/>
              </a:rPr>
              <a:t>if</a:t>
            </a:r>
            <a:r>
              <a:rPr sz="729" i="0">
                <a:solidFill>
                  <a:srgbClr val="E6EDF3"/>
                </a:solidFill>
                <a:latin typeface="Inconsolata"/>
              </a:rPr>
              <a:t> event[</a:t>
            </a:r>
            <a:r>
              <a:rPr sz="729" i="0">
                <a:solidFill>
                  <a:srgbClr val="A5D6A7"/>
                </a:solidFill>
                <a:latin typeface="Inconsolata"/>
              </a:rPr>
              <a:t>"order_id"</a:t>
            </a:r>
            <a:r>
              <a:rPr sz="729" i="0">
                <a:solidFill>
                  <a:srgbClr val="E6EDF3"/>
                </a:solidFill>
                <a:latin typeface="Inconsolata"/>
              </a:rPr>
              <a:t>] == crash_on:</a:t>
            </a:r>
          </a:p>
          <a:p>
            <a:pPr>
              <a:lnSpc>
                <a:spcPct val="102868"/>
              </a:lnSpc>
              <a:spcAft>
                <a:spcPts val="0"/>
              </a:spcAft>
            </a:pPr>
            <a:r>
              <a:rPr sz="729" i="0">
                <a:solidFill>
                  <a:srgbClr val="5C6773"/>
                </a:solidFill>
                <a:latin typeface="Inconsolata"/>
              </a:rPr>
              <a:t>19  </a:t>
            </a:r>
            <a:r>
              <a:rPr sz="729" i="0">
                <a:solidFill>
                  <a:srgbClr val="E6EDF3"/>
                </a:solidFill>
                <a:latin typeface="Inconsolata"/>
              </a:rPr>
              <a:t>        </a:t>
            </a:r>
            <a:r>
              <a:rPr sz="729" i="0">
                <a:solidFill>
                  <a:srgbClr val="FF8E6E"/>
                </a:solidFill>
                <a:latin typeface="Inconsolata"/>
              </a:rPr>
              <a:t>raise</a:t>
            </a:r>
            <a:r>
              <a:rPr sz="729" i="0">
                <a:solidFill>
                  <a:srgbClr val="E6EDF3"/>
                </a:solidFill>
                <a:latin typeface="Inconsolata"/>
              </a:rPr>
              <a:t> </a:t>
            </a:r>
            <a:r>
              <a:rPr sz="729" i="0">
                <a:solidFill>
                  <a:srgbClr val="7FDBCA"/>
                </a:solidFill>
                <a:latin typeface="Inconsolata"/>
              </a:rPr>
              <a:t>RuntimeError</a:t>
            </a:r>
            <a:r>
              <a:rPr sz="729" i="0">
                <a:solidFill>
                  <a:srgbClr val="E6EDF3"/>
                </a:solidFill>
                <a:latin typeface="Inconsolata"/>
              </a:rPr>
              <a:t>(</a:t>
            </a:r>
            <a:r>
              <a:rPr sz="729" i="0">
                <a:solidFill>
                  <a:srgbClr val="A5D6A7"/>
                </a:solidFill>
                <a:latin typeface="Inconsolata"/>
              </a:rPr>
              <a:t>f"worker crash saat memproses "</a:t>
            </a:r>
          </a:p>
          <a:p>
            <a:pPr>
              <a:lnSpc>
                <a:spcPct val="102868"/>
              </a:lnSpc>
              <a:spcAft>
                <a:spcPts val="0"/>
              </a:spcAft>
            </a:pPr>
            <a:r>
              <a:rPr sz="729" i="0">
                <a:solidFill>
                  <a:srgbClr val="5C6773"/>
                </a:solidFill>
                <a:latin typeface="Inconsolata"/>
              </a:rPr>
              <a:t>20  </a:t>
            </a:r>
            <a:r>
              <a:rPr sz="729" i="0">
                <a:solidFill>
                  <a:srgbClr val="E6EDF3"/>
                </a:solidFill>
                <a:latin typeface="Inconsolata"/>
              </a:rPr>
              <a:t>                           </a:t>
            </a:r>
            <a:r>
              <a:rPr sz="729" i="0">
                <a:solidFill>
                  <a:srgbClr val="A5D6A7"/>
                </a:solidFill>
                <a:latin typeface="Inconsolata"/>
              </a:rPr>
              <a:t>f"order #{crash_on}"</a:t>
            </a:r>
            <a:r>
              <a:rPr sz="729" i="0">
                <a:solidFill>
                  <a:srgbClr val="E6EDF3"/>
                </a:solidFill>
                <a:latin typeface="Inconsolata"/>
              </a:rPr>
              <a:t>)</a:t>
            </a:r>
          </a:p>
          <a:p>
            <a:pPr>
              <a:lnSpc>
                <a:spcPct val="102868"/>
              </a:lnSpc>
              <a:spcAft>
                <a:spcPts val="0"/>
              </a:spcAft>
            </a:pPr>
            <a:r>
              <a:rPr sz="729" i="0">
                <a:solidFill>
                  <a:srgbClr val="5C6773"/>
                </a:solidFill>
                <a:latin typeface="Inconsolata"/>
              </a:rPr>
              <a:t>21  </a:t>
            </a:r>
            <a:r>
              <a:rPr sz="729" i="0">
                <a:solidFill>
                  <a:srgbClr val="E6EDF3"/>
                </a:solidFill>
                <a:latin typeface="Inconsolata"/>
              </a:rPr>
              <a:t>    </a:t>
            </a:r>
            <a:r>
              <a:rPr sz="729" i="0">
                <a:solidFill>
                  <a:srgbClr val="C3A6FF"/>
                </a:solidFill>
                <a:latin typeface="Inconsolata"/>
              </a:rPr>
              <a:t>print</a:t>
            </a:r>
            <a:r>
              <a:rPr sz="729" i="0">
                <a:solidFill>
                  <a:srgbClr val="E6EDF3"/>
                </a:solidFill>
                <a:latin typeface="Inconsolata"/>
              </a:rPr>
              <a:t>(</a:t>
            </a:r>
            <a:r>
              <a:rPr sz="729" i="0">
                <a:solidFill>
                  <a:srgbClr val="A5D6A7"/>
                </a:solidFill>
                <a:latin typeface="Inconsolata"/>
              </a:rPr>
              <a:t>f"  email order #{event['order_id']} terkirim"</a:t>
            </a:r>
            <a:r>
              <a:rPr sz="729" i="0">
                <a:solidFill>
                  <a:srgbClr val="E6EDF3"/>
                </a:solidFill>
                <a:latin typeface="Inconsolata"/>
              </a:rPr>
              <a: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03-ack/before.py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2868"/>
              </a:lnSpc>
              <a:spcAft>
                <a:spcPts val="0"/>
              </a:spcAft>
            </a:pPr>
            <a:r>
              <a:rPr sz="729" i="0">
                <a:solidFill>
                  <a:srgbClr val="5C6773"/>
                </a:solidFill>
                <a:latin typeface="Inconsolata"/>
              </a:rPr>
              <a:t>24  </a:t>
            </a:r>
            <a:r>
              <a:rPr sz="729" i="0">
                <a:solidFill>
                  <a:srgbClr val="FF8E6E"/>
                </a:solidFill>
                <a:latin typeface="Inconsolata"/>
              </a:rPr>
              <a:t>def</a:t>
            </a:r>
            <a:r>
              <a:rPr sz="729" i="0">
                <a:solidFill>
                  <a:srgbClr val="E6EDF3"/>
                </a:solidFill>
                <a:latin typeface="Inconsolata"/>
              </a:rPr>
              <a:t> </a:t>
            </a:r>
            <a:r>
              <a:rPr sz="729" i="0">
                <a:solidFill>
                  <a:srgbClr val="82B1FF"/>
                </a:solidFill>
                <a:latin typeface="Inconsolata"/>
              </a:rPr>
              <a:t>run_consumer</a:t>
            </a:r>
            <a:r>
              <a:rPr sz="729" i="0">
                <a:solidFill>
                  <a:srgbClr val="E6EDF3"/>
                </a:solidFill>
                <a:latin typeface="Inconsolata"/>
              </a:rPr>
              <a:t>(crash_on=</a:t>
            </a:r>
            <a:r>
              <a:rPr sz="729" i="0">
                <a:solidFill>
                  <a:srgbClr val="FF8E6E"/>
                </a:solidFill>
                <a:latin typeface="Inconsolata"/>
              </a:rPr>
              <a:t>None</a:t>
            </a:r>
            <a:r>
              <a:rPr sz="729" i="0">
                <a:solidFill>
                  <a:srgbClr val="E6EDF3"/>
                </a:solidFill>
                <a:latin typeface="Inconsolata"/>
              </a:rPr>
              <a:t>) -&gt; </a:t>
            </a:r>
            <a:r>
              <a:rPr sz="729" i="0">
                <a:solidFill>
                  <a:srgbClr val="C3A6FF"/>
                </a:solidFill>
                <a:latin typeface="Inconsolata"/>
              </a:rPr>
              <a:t>int</a:t>
            </a:r>
            <a:r>
              <a:rPr sz="729" i="0">
                <a:solidFill>
                  <a:srgbClr val="E6EDF3"/>
                </a:solidFill>
                <a:latin typeface="Inconsolata"/>
              </a:rPr>
              <a:t>:</a:t>
            </a:r>
          </a:p>
          <a:p>
            <a:pPr>
              <a:lnSpc>
                <a:spcPct val="102868"/>
              </a:lnSpc>
              <a:spcAft>
                <a:spcPts val="0"/>
              </a:spcAft>
            </a:pPr>
            <a:r>
              <a:rPr sz="729" i="0">
                <a:solidFill>
                  <a:srgbClr val="5C6773"/>
                </a:solidFill>
                <a:latin typeface="Inconsolata"/>
              </a:rPr>
              <a:t>25  </a:t>
            </a:r>
            <a:r>
              <a:rPr sz="729" i="0">
                <a:solidFill>
                  <a:srgbClr val="E6EDF3"/>
                </a:solidFill>
                <a:latin typeface="Inconsolata"/>
              </a:rPr>
              <a:t>    processed = </a:t>
            </a:r>
            <a:r>
              <a:rPr sz="729" i="0">
                <a:solidFill>
                  <a:srgbClr val="F9C97A"/>
                </a:solidFill>
                <a:latin typeface="Inconsolata"/>
              </a:rPr>
              <a:t>0</a:t>
            </a:r>
          </a:p>
          <a:p>
            <a:pPr>
              <a:lnSpc>
                <a:spcPct val="102868"/>
              </a:lnSpc>
              <a:spcAft>
                <a:spcPts val="0"/>
              </a:spcAft>
            </a:pPr>
            <a:r>
              <a:rPr sz="729" i="0">
                <a:solidFill>
                  <a:srgbClr val="5C6773"/>
                </a:solidFill>
                <a:latin typeface="Inconsolata"/>
              </a:rPr>
              <a:t>26  </a:t>
            </a:r>
            <a:r>
              <a:rPr sz="729" i="0">
                <a:solidFill>
                  <a:srgbClr val="E6EDF3"/>
                </a:solidFill>
                <a:latin typeface="Inconsolata"/>
              </a:rPr>
              <a:t>    </a:t>
            </a:r>
            <a:r>
              <a:rPr sz="729" i="0">
                <a:solidFill>
                  <a:srgbClr val="FF8E6E"/>
                </a:solidFill>
                <a:latin typeface="Inconsolata"/>
              </a:rPr>
              <a:t>with</a:t>
            </a:r>
            <a:r>
              <a:rPr sz="729" i="0">
                <a:solidFill>
                  <a:srgbClr val="E6EDF3"/>
                </a:solidFill>
                <a:latin typeface="Inconsolata"/>
              </a:rPr>
              <a:t> pika.</a:t>
            </a:r>
            <a:r>
              <a:rPr sz="729" i="0">
                <a:solidFill>
                  <a:srgbClr val="7FDBCA"/>
                </a:solidFill>
                <a:latin typeface="Inconsolata"/>
              </a:rPr>
              <a:t>BlockingConnection</a:t>
            </a:r>
            <a:r>
              <a:rPr sz="729" i="0">
                <a:solidFill>
                  <a:srgbClr val="E6EDF3"/>
                </a:solidFill>
                <a:latin typeface="Inconsolata"/>
              </a:rPr>
              <a:t>(pika.</a:t>
            </a:r>
            <a:r>
              <a:rPr sz="729" i="0">
                <a:solidFill>
                  <a:srgbClr val="7FDBCA"/>
                </a:solidFill>
                <a:latin typeface="Inconsolata"/>
              </a:rPr>
              <a:t>URLParameters</a:t>
            </a:r>
            <a:r>
              <a:rPr sz="729" i="0">
                <a:solidFill>
                  <a:srgbClr val="E6EDF3"/>
                </a:solidFill>
                <a:latin typeface="Inconsolata"/>
              </a:rPr>
              <a:t>(</a:t>
            </a:r>
            <a:r>
              <a:rPr sz="729" i="0">
                <a:solidFill>
                  <a:srgbClr val="7FDBCA"/>
                </a:solidFill>
                <a:latin typeface="Inconsolata"/>
              </a:rPr>
              <a:t>URL</a:t>
            </a:r>
            <a:r>
              <a:rPr sz="729" i="0">
                <a:solidFill>
                  <a:srgbClr val="E6EDF3"/>
                </a:solidFill>
                <a:latin typeface="Inconsolata"/>
              </a:rPr>
              <a:t>)) </a:t>
            </a:r>
            <a:r>
              <a:rPr sz="729" i="0">
                <a:solidFill>
                  <a:srgbClr val="FF8E6E"/>
                </a:solidFill>
                <a:latin typeface="Inconsolata"/>
              </a:rPr>
              <a:t>as</a:t>
            </a:r>
            <a:r>
              <a:rPr sz="729" i="0">
                <a:solidFill>
                  <a:srgbClr val="E6EDF3"/>
                </a:solidFill>
                <a:latin typeface="Inconsolata"/>
              </a:rPr>
              <a:t> conn:</a:t>
            </a:r>
          </a:p>
          <a:p>
            <a:pPr>
              <a:lnSpc>
                <a:spcPct val="102868"/>
              </a:lnSpc>
              <a:spcAft>
                <a:spcPts val="0"/>
              </a:spcAft>
            </a:pPr>
            <a:r>
              <a:rPr sz="729" i="0">
                <a:solidFill>
                  <a:srgbClr val="5C6773"/>
                </a:solidFill>
                <a:latin typeface="Inconsolata"/>
              </a:rPr>
              <a:t>27  </a:t>
            </a:r>
            <a:r>
              <a:rPr sz="729" i="0">
                <a:solidFill>
                  <a:srgbClr val="E6EDF3"/>
                </a:solidFill>
                <a:latin typeface="Inconsolata"/>
              </a:rPr>
              <a:t>        channel = conn.channel()</a:t>
            </a:r>
          </a:p>
          <a:p>
            <a:pPr>
              <a:lnSpc>
                <a:spcPct val="102868"/>
              </a:lnSpc>
              <a:spcAft>
                <a:spcPts val="0"/>
              </a:spcAft>
            </a:pPr>
            <a:r>
              <a:rPr sz="729" i="0">
                <a:solidFill>
                  <a:srgbClr val="5C6773"/>
                </a:solidFill>
                <a:latin typeface="Inconsolata"/>
              </a:rPr>
              <a:t>28  </a:t>
            </a:r>
            <a:r>
              <a:rPr sz="729" i="0">
                <a:solidFill>
                  <a:srgbClr val="E6EDF3"/>
                </a:solidFill>
                <a:latin typeface="Inconsolata"/>
              </a:rPr>
              <a:t>        </a:t>
            </a:r>
            <a:r>
              <a:rPr sz="729" i="0">
                <a:solidFill>
                  <a:srgbClr val="FF8E6E"/>
                </a:solidFill>
                <a:latin typeface="Inconsolata"/>
              </a:rPr>
              <a:t>for</a:t>
            </a:r>
            <a:r>
              <a:rPr sz="729" i="0">
                <a:solidFill>
                  <a:srgbClr val="E6EDF3"/>
                </a:solidFill>
                <a:latin typeface="Inconsolata"/>
              </a:rPr>
              <a:t> method, properties, body </a:t>
            </a:r>
            <a:r>
              <a:rPr sz="729" i="0">
                <a:solidFill>
                  <a:srgbClr val="FF8E6E"/>
                </a:solidFill>
                <a:latin typeface="Inconsolata"/>
              </a:rPr>
              <a:t>in</a:t>
            </a:r>
            <a:r>
              <a:rPr sz="729" i="0">
                <a:solidFill>
                  <a:srgbClr val="E6EDF3"/>
                </a:solidFill>
                <a:latin typeface="Inconsolata"/>
              </a:rPr>
              <a:t> channel.consume(</a:t>
            </a:r>
          </a:p>
          <a:p>
            <a:pPr>
              <a:lnSpc>
                <a:spcPct val="102868"/>
              </a:lnSpc>
              <a:spcAft>
                <a:spcPts val="0"/>
              </a:spcAft>
            </a:pPr>
            <a:r>
              <a:rPr sz="729" i="0">
                <a:solidFill>
                  <a:srgbClr val="5C6773"/>
                </a:solidFill>
                <a:latin typeface="Inconsolata"/>
              </a:rPr>
              <a:t>29  </a:t>
            </a:r>
            <a:r>
              <a:rPr sz="729" i="0">
                <a:solidFill>
                  <a:srgbClr val="E6EDF3"/>
                </a:solidFill>
                <a:latin typeface="Inconsolata"/>
              </a:rPr>
              <a:t>                </a:t>
            </a:r>
            <a:r>
              <a:rPr sz="729" i="0">
                <a:solidFill>
                  <a:srgbClr val="A5D6A7"/>
                </a:solidFill>
                <a:latin typeface="Inconsolata"/>
              </a:rPr>
              <a:t>"email"</a:t>
            </a:r>
            <a:r>
              <a:rPr sz="729" i="0">
                <a:solidFill>
                  <a:srgbClr val="E6EDF3"/>
                </a:solidFill>
                <a:latin typeface="Inconsolata"/>
              </a:rPr>
              <a:t>, auto_ack=</a:t>
            </a:r>
            <a:r>
              <a:rPr sz="729" i="0">
                <a:solidFill>
                  <a:srgbClr val="FF8E6E"/>
                </a:solidFill>
                <a:latin typeface="Inconsolata"/>
              </a:rPr>
              <a:t>True</a:t>
            </a:r>
            <a:r>
              <a:rPr sz="729" i="0">
                <a:solidFill>
                  <a:srgbClr val="E6EDF3"/>
                </a:solidFill>
                <a:latin typeface="Inconsolata"/>
              </a:rPr>
              <a:t>, inactivity_timeout=</a:t>
            </a:r>
            <a:r>
              <a:rPr sz="729" i="0">
                <a:solidFill>
                  <a:srgbClr val="F9C97A"/>
                </a:solidFill>
                <a:latin typeface="Inconsolata"/>
              </a:rPr>
              <a:t>1</a:t>
            </a:r>
            <a:r>
              <a:rPr sz="729" i="0">
                <a:solidFill>
                  <a:srgbClr val="E6EDF3"/>
                </a:solidFill>
                <a:latin typeface="Inconsolata"/>
              </a:rPr>
              <a:t>):</a:t>
            </a:r>
          </a:p>
          <a:p>
            <a:pPr>
              <a:lnSpc>
                <a:spcPct val="102868"/>
              </a:lnSpc>
              <a:spcAft>
                <a:spcPts val="0"/>
              </a:spcAft>
            </a:pPr>
            <a:r>
              <a:rPr sz="729" i="0">
                <a:solidFill>
                  <a:srgbClr val="5C6773"/>
                </a:solidFill>
                <a:latin typeface="Inconsolata"/>
              </a:rPr>
              <a:t>30  </a:t>
            </a:r>
            <a:r>
              <a:rPr sz="729" i="0">
                <a:solidFill>
                  <a:srgbClr val="E6EDF3"/>
                </a:solidFill>
                <a:latin typeface="Inconsolata"/>
              </a:rPr>
              <a:t>            </a:t>
            </a:r>
            <a:r>
              <a:rPr sz="729" i="0">
                <a:solidFill>
                  <a:srgbClr val="FF8E6E"/>
                </a:solidFill>
                <a:latin typeface="Inconsolata"/>
              </a:rPr>
              <a:t>if</a:t>
            </a:r>
            <a:r>
              <a:rPr sz="729" i="0">
                <a:solidFill>
                  <a:srgbClr val="E6EDF3"/>
                </a:solidFill>
                <a:latin typeface="Inconsolata"/>
              </a:rPr>
              <a:t> method </a:t>
            </a:r>
            <a:r>
              <a:rPr sz="729" i="0">
                <a:solidFill>
                  <a:srgbClr val="FF8E6E"/>
                </a:solidFill>
                <a:latin typeface="Inconsolata"/>
              </a:rPr>
              <a:t>is</a:t>
            </a:r>
            <a:r>
              <a:rPr sz="729" i="0">
                <a:solidFill>
                  <a:srgbClr val="E6EDF3"/>
                </a:solidFill>
                <a:latin typeface="Inconsolata"/>
              </a:rPr>
              <a:t> </a:t>
            </a:r>
            <a:r>
              <a:rPr sz="729" i="0">
                <a:solidFill>
                  <a:srgbClr val="FF8E6E"/>
                </a:solidFill>
                <a:latin typeface="Inconsolata"/>
              </a:rPr>
              <a:t>None</a:t>
            </a:r>
            <a:r>
              <a:rPr sz="729" i="0">
                <a:solidFill>
                  <a:srgbClr val="E6EDF3"/>
                </a:solidFill>
                <a:latin typeface="Inconsolata"/>
              </a:rPr>
              <a:t>:</a:t>
            </a:r>
          </a:p>
          <a:p>
            <a:pPr>
              <a:lnSpc>
                <a:spcPct val="102868"/>
              </a:lnSpc>
              <a:spcAft>
                <a:spcPts val="0"/>
              </a:spcAft>
            </a:pPr>
            <a:r>
              <a:rPr sz="729" i="0">
                <a:solidFill>
                  <a:srgbClr val="5C6773"/>
                </a:solidFill>
                <a:latin typeface="Inconsolata"/>
              </a:rPr>
              <a:t>31  </a:t>
            </a:r>
            <a:r>
              <a:rPr sz="729" i="0">
                <a:solidFill>
                  <a:srgbClr val="E6EDF3"/>
                </a:solidFill>
                <a:latin typeface="Inconsolata"/>
              </a:rPr>
              <a:t>                </a:t>
            </a:r>
            <a:r>
              <a:rPr sz="729" i="0">
                <a:solidFill>
                  <a:srgbClr val="FF8E6E"/>
                </a:solidFill>
                <a:latin typeface="Inconsolata"/>
              </a:rPr>
              <a:t>break</a:t>
            </a:r>
            <a:r>
              <a:rPr sz="729" i="0">
                <a:solidFill>
                  <a:srgbClr val="E6EDF3"/>
                </a:solidFill>
                <a:latin typeface="Inconsolata"/>
              </a:rPr>
              <a:t>                 </a:t>
            </a:r>
            <a:r>
              <a:rPr sz="729" i="1">
                <a:solidFill>
                  <a:srgbClr val="8B98A8"/>
                </a:solidFill>
                <a:latin typeface="Inconsolata"/>
              </a:rPr>
              <a:t># queue kosong, demo selesai</a:t>
            </a:r>
          </a:p>
          <a:p>
            <a:pPr>
              <a:lnSpc>
                <a:spcPct val="102868"/>
              </a:lnSpc>
              <a:spcAft>
                <a:spcPts val="0"/>
              </a:spcAft>
            </a:pPr>
            <a:r>
              <a:rPr sz="729" i="0">
                <a:solidFill>
                  <a:srgbClr val="5C6773"/>
                </a:solidFill>
                <a:latin typeface="Inconsolata"/>
              </a:rPr>
              <a:t>32  </a:t>
            </a:r>
            <a:r>
              <a:rPr sz="729" i="0">
                <a:solidFill>
                  <a:srgbClr val="E6EDF3"/>
                </a:solidFill>
                <a:latin typeface="Inconsolata"/>
              </a:rPr>
              <a:t>            send_email(json.loads(body), crash_on)</a:t>
            </a:r>
          </a:p>
          <a:p>
            <a:pPr>
              <a:lnSpc>
                <a:spcPct val="102868"/>
              </a:lnSpc>
              <a:spcAft>
                <a:spcPts val="0"/>
              </a:spcAft>
            </a:pPr>
            <a:r>
              <a:rPr sz="729" i="0">
                <a:solidFill>
                  <a:srgbClr val="5C6773"/>
                </a:solidFill>
                <a:latin typeface="Inconsolata"/>
              </a:rPr>
              <a:t>33  </a:t>
            </a:r>
            <a:r>
              <a:rPr sz="729" i="0">
                <a:solidFill>
                  <a:srgbClr val="E6EDF3"/>
                </a:solidFill>
                <a:latin typeface="Inconsolata"/>
              </a:rPr>
              <a:t>            processed += </a:t>
            </a:r>
            <a:r>
              <a:rPr sz="729" i="0">
                <a:solidFill>
                  <a:srgbClr val="F9C97A"/>
                </a:solidFill>
                <a:latin typeface="Inconsolata"/>
              </a:rPr>
              <a:t>1</a:t>
            </a:r>
          </a:p>
          <a:p>
            <a:pPr>
              <a:lnSpc>
                <a:spcPct val="102868"/>
              </a:lnSpc>
              <a:spcAft>
                <a:spcPts val="0"/>
              </a:spcAft>
            </a:pPr>
            <a:r>
              <a:rPr sz="729" i="0">
                <a:solidFill>
                  <a:srgbClr val="5C6773"/>
                </a:solidFill>
                <a:latin typeface="Inconsolata"/>
              </a:rPr>
              <a:t>34  </a:t>
            </a:r>
            <a:r>
              <a:rPr sz="729" i="0">
                <a:solidFill>
                  <a:srgbClr val="E6EDF3"/>
                </a:solidFill>
                <a:latin typeface="Inconsolata"/>
              </a:rPr>
              <a:t>    </a:t>
            </a:r>
            <a:r>
              <a:rPr sz="729" i="0">
                <a:solidFill>
                  <a:srgbClr val="FF8E6E"/>
                </a:solidFill>
                <a:latin typeface="Inconsolata"/>
              </a:rPr>
              <a:t>return</a:t>
            </a:r>
            <a:r>
              <a:rPr sz="729" i="0">
                <a:solidFill>
                  <a:srgbClr val="E6EDF3"/>
                </a:solidFill>
                <a:latin typeface="Inconsolata"/>
              </a:rPr>
              <a:t> processed</a:t>
            </a:r>
          </a:p>
        </p:txBody>
      </p:sp>
      <p:sp>
        <p:nvSpPr>
          <p:cNvPr id="36" name="Box 21"/>
          <p:cNvSpPr/>
          <p:nvPr/>
        </p:nvSpPr>
        <p:spPr>
          <a:xfrm>
            <a:off x="4709159" y="2396871"/>
            <a:ext cx="3694176" cy="107442"/>
          </a:xfrm>
          <a:prstGeom prst="roundRect">
            <a:avLst>
              <a:gd name="adj" fmla="val 42553"/>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8284463" y="23317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704088" y="2854071"/>
            <a:ext cx="3694176" cy="221742"/>
          </a:xfrm>
          <a:prstGeom prst="roundRect">
            <a:avLst>
              <a:gd name="adj" fmla="val 20618"/>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279392" y="284607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Ack</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auto_ack=True (2/2)</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03-ack/before.py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37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publish_orders</a:t>
            </a:r>
            <a:r>
              <a:rPr sz="760" i="0">
                <a:solidFill>
                  <a:srgbClr val="E6EDF3"/>
                </a:solidFill>
                <a:latin typeface="Inconsolata"/>
              </a:rPr>
              <a:t>():</a:t>
            </a:r>
          </a:p>
          <a:p>
            <a:pPr>
              <a:lnSpc>
                <a:spcPct val="109601"/>
              </a:lnSpc>
              <a:spcAft>
                <a:spcPts val="0"/>
              </a:spcAft>
            </a:pPr>
            <a:r>
              <a:rPr sz="760" i="0">
                <a:solidFill>
                  <a:srgbClr val="5C6773"/>
                </a:solidFill>
                <a:latin typeface="Inconsolata"/>
              </a:rPr>
              <a:t>38  </a:t>
            </a:r>
            <a:r>
              <a:rPr sz="760" i="0">
                <a:solidFill>
                  <a:srgbClr val="E6EDF3"/>
                </a:solidFill>
                <a:latin typeface="Inconsolata"/>
              </a:rPr>
              <a:t>    </a:t>
            </a:r>
            <a:r>
              <a:rPr sz="760" i="0">
                <a:solidFill>
                  <a:srgbClr val="FF8E6E"/>
                </a:solidFill>
                <a:latin typeface="Inconsolata"/>
              </a:rPr>
              <a:t>with</a:t>
            </a:r>
            <a:r>
              <a:rPr sz="760" i="0">
                <a:solidFill>
                  <a:srgbClr val="E6EDF3"/>
                </a:solidFill>
                <a:latin typeface="Inconsolata"/>
              </a:rPr>
              <a:t> pika.</a:t>
            </a:r>
            <a:r>
              <a:rPr sz="760" i="0">
                <a:solidFill>
                  <a:srgbClr val="7FDBCA"/>
                </a:solidFill>
                <a:latin typeface="Inconsolata"/>
              </a:rPr>
              <a:t>BlockingConnection</a:t>
            </a:r>
            <a:r>
              <a:rPr sz="760" i="0">
                <a:solidFill>
                  <a:srgbClr val="E6EDF3"/>
                </a:solidFill>
                <a:latin typeface="Inconsolata"/>
              </a:rPr>
              <a:t>(pika.</a:t>
            </a:r>
            <a:r>
              <a:rPr sz="760" i="0">
                <a:solidFill>
                  <a:srgbClr val="7FDBCA"/>
                </a:solidFill>
                <a:latin typeface="Inconsolata"/>
              </a:rPr>
              <a:t>URLParameters</a:t>
            </a:r>
            <a:r>
              <a:rPr sz="760" i="0">
                <a:solidFill>
                  <a:srgbClr val="E6EDF3"/>
                </a:solidFill>
                <a:latin typeface="Inconsolata"/>
              </a:rPr>
              <a:t>(</a:t>
            </a:r>
            <a:r>
              <a:rPr sz="760" i="0">
                <a:solidFill>
                  <a:srgbClr val="7FDBCA"/>
                </a:solidFill>
                <a:latin typeface="Inconsolata"/>
              </a:rPr>
              <a:t>URL</a:t>
            </a:r>
            <a:r>
              <a:rPr sz="760" i="0">
                <a:solidFill>
                  <a:srgbClr val="E6EDF3"/>
                </a:solidFill>
                <a:latin typeface="Inconsolata"/>
              </a:rPr>
              <a:t>)) </a:t>
            </a:r>
            <a:r>
              <a:rPr sz="760" i="0">
                <a:solidFill>
                  <a:srgbClr val="FF8E6E"/>
                </a:solidFill>
                <a:latin typeface="Inconsolata"/>
              </a:rPr>
              <a:t>as</a:t>
            </a:r>
            <a:r>
              <a:rPr sz="760" i="0">
                <a:solidFill>
                  <a:srgbClr val="E6EDF3"/>
                </a:solidFill>
                <a:latin typeface="Inconsolata"/>
              </a:rPr>
              <a:t> conn:</a:t>
            </a:r>
          </a:p>
          <a:p>
            <a:pPr>
              <a:lnSpc>
                <a:spcPct val="109601"/>
              </a:lnSpc>
              <a:spcAft>
                <a:spcPts val="0"/>
              </a:spcAft>
            </a:pPr>
            <a:r>
              <a:rPr sz="760" i="0">
                <a:solidFill>
                  <a:srgbClr val="5C6773"/>
                </a:solidFill>
                <a:latin typeface="Inconsolata"/>
              </a:rPr>
              <a:t>39  </a:t>
            </a:r>
            <a:r>
              <a:rPr sz="760" i="0">
                <a:solidFill>
                  <a:srgbClr val="E6EDF3"/>
                </a:solidFill>
                <a:latin typeface="Inconsolata"/>
              </a:rPr>
              <a:t>        channel = conn.channel()</a:t>
            </a:r>
          </a:p>
          <a:p>
            <a:pPr>
              <a:lnSpc>
                <a:spcPct val="109601"/>
              </a:lnSpc>
              <a:spcAft>
                <a:spcPts val="0"/>
              </a:spcAft>
            </a:pPr>
            <a:r>
              <a:rPr sz="760" i="0">
                <a:solidFill>
                  <a:srgbClr val="5C6773"/>
                </a:solidFill>
                <a:latin typeface="Inconsolata"/>
              </a:rPr>
              <a:t>40  </a:t>
            </a:r>
            <a:r>
              <a:rPr sz="760" i="0">
                <a:solidFill>
                  <a:srgbClr val="E6EDF3"/>
                </a:solidFill>
                <a:latin typeface="Inconsolata"/>
              </a:rPr>
              <a:t>        channel.confirm_delivery()</a:t>
            </a:r>
          </a:p>
          <a:p>
            <a:pPr>
              <a:lnSpc>
                <a:spcPct val="109601"/>
              </a:lnSpc>
              <a:spcAft>
                <a:spcPts val="0"/>
              </a:spcAft>
            </a:pPr>
            <a:r>
              <a:rPr sz="760" i="0">
                <a:solidFill>
                  <a:srgbClr val="5C6773"/>
                </a:solidFill>
                <a:latin typeface="Inconsolata"/>
              </a:rPr>
              <a:t>41  </a:t>
            </a:r>
            <a:r>
              <a:rPr sz="760" i="0">
                <a:solidFill>
                  <a:srgbClr val="E6EDF3"/>
                </a:solidFill>
                <a:latin typeface="Inconsolata"/>
              </a:rPr>
              <a:t>        channel.queue_delete(</a:t>
            </a:r>
            <a:r>
              <a:rPr sz="760" i="0">
                <a:solidFill>
                  <a:srgbClr val="A5D6A7"/>
                </a:solidFill>
                <a:latin typeface="Inconsolata"/>
              </a:rPr>
              <a:t>"email"</a:t>
            </a:r>
            <a:r>
              <a:rPr sz="760" i="0">
                <a:solidFill>
                  <a:srgbClr val="E6EDF3"/>
                </a:solidFill>
                <a:latin typeface="Inconsolata"/>
              </a:rPr>
              <a:t>)          </a:t>
            </a:r>
            <a:r>
              <a:rPr sz="760" i="1">
                <a:solidFill>
                  <a:srgbClr val="8B98A8"/>
                </a:solidFill>
                <a:latin typeface="Inconsolata"/>
              </a:rPr>
              <a:t># mulai dari kosong</a:t>
            </a:r>
          </a:p>
          <a:p>
            <a:pPr>
              <a:lnSpc>
                <a:spcPct val="109601"/>
              </a:lnSpc>
              <a:spcAft>
                <a:spcPts val="0"/>
              </a:spcAft>
            </a:pPr>
            <a:r>
              <a:rPr sz="760" i="0">
                <a:solidFill>
                  <a:srgbClr val="5C6773"/>
                </a:solidFill>
                <a:latin typeface="Inconsolata"/>
              </a:rPr>
              <a:t>42  </a:t>
            </a:r>
            <a:r>
              <a:rPr sz="760" i="0">
                <a:solidFill>
                  <a:srgbClr val="E6EDF3"/>
                </a:solidFill>
                <a:latin typeface="Inconsolata"/>
              </a:rPr>
              <a:t>        channel.queue_declare(</a:t>
            </a:r>
            <a:r>
              <a:rPr sz="760" i="0">
                <a:solidFill>
                  <a:srgbClr val="A5D6A7"/>
                </a:solidFill>
                <a:latin typeface="Inconsolata"/>
              </a:rPr>
              <a:t>"email"</a:t>
            </a:r>
            <a:r>
              <a:rPr sz="760" i="0">
                <a:solidFill>
                  <a:srgbClr val="E6EDF3"/>
                </a:solidFill>
                <a:latin typeface="Inconsolata"/>
              </a:rPr>
              <a:t>, durable=</a:t>
            </a:r>
            <a:r>
              <a:rPr sz="760" i="0">
                <a:solidFill>
                  <a:srgbClr val="FF8E6E"/>
                </a:solidFill>
                <a:latin typeface="Inconsolata"/>
              </a:rPr>
              <a:t>True</a:t>
            </a:r>
            <a:r>
              <a:rPr sz="760" i="0">
                <a:solidFill>
                  <a:srgbClr val="E6EDF3"/>
                </a:solidFill>
                <a:latin typeface="Inconsolata"/>
              </a:rPr>
              <a:t>)</a:t>
            </a:r>
          </a:p>
          <a:p>
            <a:pPr>
              <a:lnSpc>
                <a:spcPct val="109601"/>
              </a:lnSpc>
              <a:spcAft>
                <a:spcPts val="0"/>
              </a:spcAft>
            </a:pPr>
            <a:r>
              <a:rPr sz="760" i="0">
                <a:solidFill>
                  <a:srgbClr val="5C6773"/>
                </a:solidFill>
                <a:latin typeface="Inconsolata"/>
              </a:rPr>
              <a:t>43  </a:t>
            </a:r>
            <a:r>
              <a:rPr sz="760" i="0">
                <a:solidFill>
                  <a:srgbClr val="E6EDF3"/>
                </a:solidFill>
                <a:latin typeface="Inconsolata"/>
              </a:rPr>
              <a:t>        </a:t>
            </a:r>
            <a:r>
              <a:rPr sz="760" i="0">
                <a:solidFill>
                  <a:srgbClr val="FF8E6E"/>
                </a:solidFill>
                <a:latin typeface="Inconsolata"/>
              </a:rPr>
              <a:t>for</a:t>
            </a:r>
            <a:r>
              <a:rPr sz="760" i="0">
                <a:solidFill>
                  <a:srgbClr val="E6EDF3"/>
                </a:solidFill>
                <a:latin typeface="Inconsolata"/>
              </a:rPr>
              <a:t> order_id </a:t>
            </a:r>
            <a:r>
              <a:rPr sz="760" i="0">
                <a:solidFill>
                  <a:srgbClr val="FF8E6E"/>
                </a:solidFill>
                <a:latin typeface="Inconsolata"/>
              </a:rPr>
              <a:t>in</a:t>
            </a:r>
            <a:r>
              <a:rPr sz="760" i="0">
                <a:solidFill>
                  <a:srgbClr val="E6EDF3"/>
                </a:solidFill>
                <a:latin typeface="Inconsolata"/>
              </a:rPr>
              <a:t> (</a:t>
            </a:r>
            <a:r>
              <a:rPr sz="760" i="0">
                <a:solidFill>
                  <a:srgbClr val="F9C97A"/>
                </a:solidFill>
                <a:latin typeface="Inconsolata"/>
              </a:rPr>
              <a:t>1</a:t>
            </a:r>
            <a:r>
              <a:rPr sz="760" i="0">
                <a:solidFill>
                  <a:srgbClr val="E6EDF3"/>
                </a:solidFill>
                <a:latin typeface="Inconsolata"/>
              </a:rPr>
              <a:t>, </a:t>
            </a:r>
            <a:r>
              <a:rPr sz="760" i="0">
                <a:solidFill>
                  <a:srgbClr val="F9C97A"/>
                </a:solidFill>
                <a:latin typeface="Inconsolata"/>
              </a:rPr>
              <a:t>2</a:t>
            </a:r>
            <a:r>
              <a:rPr sz="760" i="0">
                <a:solidFill>
                  <a:srgbClr val="E6EDF3"/>
                </a:solidFill>
                <a:latin typeface="Inconsolata"/>
              </a:rPr>
              <a:t>, </a:t>
            </a:r>
            <a:r>
              <a:rPr sz="760" i="0">
                <a:solidFill>
                  <a:srgbClr val="F9C97A"/>
                </a:solidFill>
                <a:latin typeface="Inconsolata"/>
              </a:rPr>
              <a:t>3</a:t>
            </a:r>
            <a:r>
              <a:rPr sz="760" i="0">
                <a:solidFill>
                  <a:srgbClr val="E6EDF3"/>
                </a:solidFill>
                <a:latin typeface="Inconsolata"/>
              </a:rPr>
              <a:t>):</a:t>
            </a:r>
          </a:p>
          <a:p>
            <a:pPr>
              <a:lnSpc>
                <a:spcPct val="109601"/>
              </a:lnSpc>
              <a:spcAft>
                <a:spcPts val="0"/>
              </a:spcAft>
            </a:pPr>
            <a:r>
              <a:rPr sz="760" i="0">
                <a:solidFill>
                  <a:srgbClr val="5C6773"/>
                </a:solidFill>
                <a:latin typeface="Inconsolata"/>
              </a:rPr>
              <a:t>44  </a:t>
            </a:r>
            <a:r>
              <a:rPr sz="760" i="0">
                <a:solidFill>
                  <a:srgbClr val="E6EDF3"/>
                </a:solidFill>
                <a:latin typeface="Inconsolata"/>
              </a:rPr>
              <a:t>            body = json.dumps({</a:t>
            </a:r>
            <a:r>
              <a:rPr sz="760" i="0">
                <a:solidFill>
                  <a:srgbClr val="A5D6A7"/>
                </a:solidFill>
                <a:latin typeface="Inconsolata"/>
              </a:rPr>
              <a:t>"order_id"</a:t>
            </a:r>
            <a:r>
              <a:rPr sz="760" i="0">
                <a:solidFill>
                  <a:srgbClr val="E6EDF3"/>
                </a:solidFill>
                <a:latin typeface="Inconsolata"/>
              </a:rPr>
              <a:t>: order_id})</a:t>
            </a:r>
          </a:p>
          <a:p>
            <a:pPr>
              <a:lnSpc>
                <a:spcPct val="109601"/>
              </a:lnSpc>
              <a:spcAft>
                <a:spcPts val="0"/>
              </a:spcAft>
            </a:pPr>
            <a:r>
              <a:rPr sz="760" i="0">
                <a:solidFill>
                  <a:srgbClr val="5C6773"/>
                </a:solidFill>
                <a:latin typeface="Inconsolata"/>
              </a:rPr>
              <a:t>45  </a:t>
            </a:r>
            <a:r>
              <a:rPr sz="760" i="0">
                <a:solidFill>
                  <a:srgbClr val="E6EDF3"/>
                </a:solidFill>
                <a:latin typeface="Inconsolata"/>
              </a:rPr>
              <a:t>            channel.basic_publish(</a:t>
            </a:r>
            <a:r>
              <a:rPr sz="760" i="0">
                <a:solidFill>
                  <a:srgbClr val="A5D6A7"/>
                </a:solidFill>
                <a:latin typeface="Inconsolata"/>
              </a:rPr>
              <a:t>""</a:t>
            </a:r>
            <a:r>
              <a:rPr sz="760" i="0">
                <a:solidFill>
                  <a:srgbClr val="E6EDF3"/>
                </a:solidFill>
                <a:latin typeface="Inconsolata"/>
              </a:rPr>
              <a:t>, </a:t>
            </a:r>
            <a:r>
              <a:rPr sz="760" i="0">
                <a:solidFill>
                  <a:srgbClr val="A5D6A7"/>
                </a:solidFill>
                <a:latin typeface="Inconsolata"/>
              </a:rPr>
              <a:t>"email"</a:t>
            </a:r>
            <a:r>
              <a:rPr sz="760" i="0">
                <a:solidFill>
                  <a:srgbClr val="E6EDF3"/>
                </a:solidFill>
                <a:latin typeface="Inconsolata"/>
              </a:rPr>
              <a:t>, body)</a:t>
            </a:r>
          </a:p>
          <a:p>
            <a:pPr>
              <a:lnSpc>
                <a:spcPct val="109601"/>
              </a:lnSpc>
              <a:spcAft>
                <a:spcPts val="0"/>
              </a:spcAft>
            </a:pPr>
            <a:r>
              <a:rPr sz="760" i="0">
                <a:solidFill>
                  <a:srgbClr val="5C6773"/>
                </a:solidFill>
                <a:latin typeface="Inconsolata"/>
              </a:rPr>
              <a:t>46  </a:t>
            </a:r>
            <a:r>
              <a:rPr sz="760" i="0">
                <a:solidFill>
                  <a:srgbClr val="E6EDF3"/>
                </a:solidFill>
                <a:latin typeface="Inconsolata"/>
              </a:rPr>
              <a:t> </a:t>
            </a:r>
          </a:p>
          <a:p>
            <a:pPr>
              <a:lnSpc>
                <a:spcPct val="109601"/>
              </a:lnSpc>
              <a:spcAft>
                <a:spcPts val="0"/>
              </a:spcAft>
            </a:pPr>
            <a:r>
              <a:rPr sz="760" i="0">
                <a:solidFill>
                  <a:srgbClr val="5C6773"/>
                </a:solidFill>
                <a:latin typeface="Inconsolata"/>
              </a:rPr>
              <a:t>47  </a:t>
            </a:r>
            <a:r>
              <a:rPr sz="760" i="0">
                <a:solidFill>
                  <a:srgbClr val="E6EDF3"/>
                </a:solidFill>
                <a:latin typeface="Inconsolata"/>
              </a:rPr>
              <a:t> </a:t>
            </a:r>
          </a:p>
          <a:p>
            <a:pPr>
              <a:lnSpc>
                <a:spcPct val="109601"/>
              </a:lnSpc>
              <a:spcAft>
                <a:spcPts val="0"/>
              </a:spcAft>
            </a:pPr>
            <a:r>
              <a:rPr sz="760" i="0">
                <a:solidFill>
                  <a:srgbClr val="5C6773"/>
                </a:solidFill>
                <a:latin typeface="Inconsolata"/>
              </a:rPr>
              <a:t>48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count</a:t>
            </a:r>
            <a:r>
              <a:rPr sz="760" i="0">
                <a:solidFill>
                  <a:srgbClr val="E6EDF3"/>
                </a:solidFill>
                <a:latin typeface="Inconsolata"/>
              </a:rPr>
              <a:t>() -&gt; </a:t>
            </a:r>
            <a:r>
              <a:rPr sz="760" i="0">
                <a:solidFill>
                  <a:srgbClr val="C3A6FF"/>
                </a:solidFill>
                <a:latin typeface="Inconsolata"/>
              </a:rPr>
              <a:t>int</a:t>
            </a:r>
            <a:r>
              <a:rPr sz="760" i="0">
                <a:solidFill>
                  <a:srgbClr val="E6EDF3"/>
                </a:solidFill>
                <a:latin typeface="Inconsolata"/>
              </a:rPr>
              <a:t>:</a:t>
            </a:r>
          </a:p>
          <a:p>
            <a:pPr>
              <a:lnSpc>
                <a:spcPct val="109601"/>
              </a:lnSpc>
              <a:spcAft>
                <a:spcPts val="0"/>
              </a:spcAft>
            </a:pPr>
            <a:r>
              <a:rPr sz="760" i="0">
                <a:solidFill>
                  <a:srgbClr val="5C6773"/>
                </a:solidFill>
                <a:latin typeface="Inconsolata"/>
              </a:rPr>
              <a:t>49  </a:t>
            </a:r>
            <a:r>
              <a:rPr sz="760" i="0">
                <a:solidFill>
                  <a:srgbClr val="E6EDF3"/>
                </a:solidFill>
                <a:latin typeface="Inconsolata"/>
              </a:rPr>
              <a:t>    </a:t>
            </a:r>
            <a:r>
              <a:rPr sz="760" i="0">
                <a:solidFill>
                  <a:srgbClr val="FF8E6E"/>
                </a:solidFill>
                <a:latin typeface="Inconsolata"/>
              </a:rPr>
              <a:t>with</a:t>
            </a:r>
            <a:r>
              <a:rPr sz="760" i="0">
                <a:solidFill>
                  <a:srgbClr val="E6EDF3"/>
                </a:solidFill>
                <a:latin typeface="Inconsolata"/>
              </a:rPr>
              <a:t> pika.</a:t>
            </a:r>
            <a:r>
              <a:rPr sz="760" i="0">
                <a:solidFill>
                  <a:srgbClr val="7FDBCA"/>
                </a:solidFill>
                <a:latin typeface="Inconsolata"/>
              </a:rPr>
              <a:t>BlockingConnection</a:t>
            </a:r>
            <a:r>
              <a:rPr sz="760" i="0">
                <a:solidFill>
                  <a:srgbClr val="E6EDF3"/>
                </a:solidFill>
                <a:latin typeface="Inconsolata"/>
              </a:rPr>
              <a:t>(pika.</a:t>
            </a:r>
            <a:r>
              <a:rPr sz="760" i="0">
                <a:solidFill>
                  <a:srgbClr val="7FDBCA"/>
                </a:solidFill>
                <a:latin typeface="Inconsolata"/>
              </a:rPr>
              <a:t>URLParameters</a:t>
            </a:r>
            <a:r>
              <a:rPr sz="760" i="0">
                <a:solidFill>
                  <a:srgbClr val="E6EDF3"/>
                </a:solidFill>
                <a:latin typeface="Inconsolata"/>
              </a:rPr>
              <a:t>(</a:t>
            </a:r>
            <a:r>
              <a:rPr sz="760" i="0">
                <a:solidFill>
                  <a:srgbClr val="7FDBCA"/>
                </a:solidFill>
                <a:latin typeface="Inconsolata"/>
              </a:rPr>
              <a:t>URL</a:t>
            </a:r>
            <a:r>
              <a:rPr sz="760" i="0">
                <a:solidFill>
                  <a:srgbClr val="E6EDF3"/>
                </a:solidFill>
                <a:latin typeface="Inconsolata"/>
              </a:rPr>
              <a:t>)) </a:t>
            </a:r>
            <a:r>
              <a:rPr sz="760" i="0">
                <a:solidFill>
                  <a:srgbClr val="FF8E6E"/>
                </a:solidFill>
                <a:latin typeface="Inconsolata"/>
              </a:rPr>
              <a:t>as</a:t>
            </a:r>
            <a:r>
              <a:rPr sz="760" i="0">
                <a:solidFill>
                  <a:srgbClr val="E6EDF3"/>
                </a:solidFill>
                <a:latin typeface="Inconsolata"/>
              </a:rPr>
              <a:t> conn:</a:t>
            </a:r>
          </a:p>
          <a:p>
            <a:pPr>
              <a:lnSpc>
                <a:spcPct val="109601"/>
              </a:lnSpc>
              <a:spcAft>
                <a:spcPts val="0"/>
              </a:spcAft>
            </a:pPr>
            <a:r>
              <a:rPr sz="760" i="0">
                <a:solidFill>
                  <a:srgbClr val="5C6773"/>
                </a:solidFill>
                <a:latin typeface="Inconsolata"/>
              </a:rPr>
              <a:t>50  </a:t>
            </a:r>
            <a:r>
              <a:rPr sz="760" i="0">
                <a:solidFill>
                  <a:srgbClr val="E6EDF3"/>
                </a:solidFill>
                <a:latin typeface="Inconsolata"/>
              </a:rPr>
              <a:t>        info = conn.channel().queue_declare(</a:t>
            </a:r>
            <a:r>
              <a:rPr sz="760" i="0">
                <a:solidFill>
                  <a:srgbClr val="A5D6A7"/>
                </a:solidFill>
                <a:latin typeface="Inconsolata"/>
              </a:rPr>
              <a:t>"email"</a:t>
            </a:r>
            <a:r>
              <a:rPr sz="760" i="0">
                <a:solidFill>
                  <a:srgbClr val="E6EDF3"/>
                </a:solidFill>
                <a:latin typeface="Inconsolata"/>
              </a:rPr>
              <a:t>, passive=</a:t>
            </a:r>
            <a:r>
              <a:rPr sz="760" i="0">
                <a:solidFill>
                  <a:srgbClr val="FF8E6E"/>
                </a:solidFill>
                <a:latin typeface="Inconsolata"/>
              </a:rPr>
              <a:t>True</a:t>
            </a:r>
            <a:r>
              <a:rPr sz="760" i="0">
                <a:solidFill>
                  <a:srgbClr val="E6EDF3"/>
                </a:solidFill>
                <a:latin typeface="Inconsolata"/>
              </a:rPr>
              <a:t>)</a:t>
            </a:r>
          </a:p>
          <a:p>
            <a:pPr>
              <a:lnSpc>
                <a:spcPct val="109601"/>
              </a:lnSpc>
              <a:spcAft>
                <a:spcPts val="0"/>
              </a:spcAft>
            </a:pPr>
            <a:r>
              <a:rPr sz="760" i="0">
                <a:solidFill>
                  <a:srgbClr val="5C6773"/>
                </a:solidFill>
                <a:latin typeface="Inconsolata"/>
              </a:rPr>
              <a:t>51  </a:t>
            </a:r>
            <a:r>
              <a:rPr sz="760" i="0">
                <a:solidFill>
                  <a:srgbClr val="E6EDF3"/>
                </a:solidFill>
                <a:latin typeface="Inconsolata"/>
              </a:rPr>
              <a:t>        </a:t>
            </a:r>
            <a:r>
              <a:rPr sz="760" i="0">
                <a:solidFill>
                  <a:srgbClr val="FF8E6E"/>
                </a:solidFill>
                <a:latin typeface="Inconsolata"/>
              </a:rPr>
              <a:t>return</a:t>
            </a:r>
            <a:r>
              <a:rPr sz="760" i="0">
                <a:solidFill>
                  <a:srgbClr val="E6EDF3"/>
                </a:solidFill>
                <a:latin typeface="Inconsolata"/>
              </a:rPr>
              <a:t> info.method.message_count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03-ack/before.py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54  </a:t>
            </a:r>
            <a:r>
              <a:rPr sz="760" i="0">
                <a:solidFill>
                  <a:srgbClr val="FF8E6E"/>
                </a:solidFill>
                <a:latin typeface="Inconsolata"/>
              </a:rPr>
              <a:t>if</a:t>
            </a:r>
            <a:r>
              <a:rPr sz="760" i="0">
                <a:solidFill>
                  <a:srgbClr val="E6EDF3"/>
                </a:solidFill>
                <a:latin typeface="Inconsolata"/>
              </a:rPr>
              <a:t> __name__ == </a:t>
            </a:r>
            <a:r>
              <a:rPr sz="760" i="0">
                <a:solidFill>
                  <a:srgbClr val="A5D6A7"/>
                </a:solidFill>
                <a:latin typeface="Inconsolata"/>
              </a:rPr>
              <a:t>"__main__"</a:t>
            </a:r>
            <a:r>
              <a:rPr sz="760" i="0">
                <a:solidFill>
                  <a:srgbClr val="E6EDF3"/>
                </a:solidFill>
                <a:latin typeface="Inconsolata"/>
              </a:rPr>
              <a:t>:</a:t>
            </a:r>
          </a:p>
          <a:p>
            <a:pPr>
              <a:lnSpc>
                <a:spcPct val="109601"/>
              </a:lnSpc>
              <a:spcAft>
                <a:spcPts val="0"/>
              </a:spcAft>
            </a:pPr>
            <a:r>
              <a:rPr sz="760" i="0">
                <a:solidFill>
                  <a:srgbClr val="5C6773"/>
                </a:solidFill>
                <a:latin typeface="Inconsolata"/>
              </a:rPr>
              <a:t>55  </a:t>
            </a:r>
            <a:r>
              <a:rPr sz="760" i="0">
                <a:solidFill>
                  <a:srgbClr val="E6EDF3"/>
                </a:solidFill>
                <a:latin typeface="Inconsolata"/>
              </a:rPr>
              <a:t>    publish_orders()</a:t>
            </a:r>
          </a:p>
          <a:p>
            <a:pPr>
              <a:lnSpc>
                <a:spcPct val="109601"/>
              </a:lnSpc>
              <a:spcAft>
                <a:spcPts val="0"/>
              </a:spcAft>
            </a:pPr>
            <a:r>
              <a:rPr sz="760" i="0">
                <a:solidFill>
                  <a:srgbClr val="5C6773"/>
                </a:solidFill>
                <a:latin typeface="Inconsolata"/>
              </a:rPr>
              <a:t>56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f"Pesan di queue: {count()}"</a:t>
            </a:r>
            <a:r>
              <a:rPr sz="760" i="0">
                <a:solidFill>
                  <a:srgbClr val="E6EDF3"/>
                </a:solidFill>
                <a:latin typeface="Inconsolata"/>
              </a:rPr>
              <a:t>)</a:t>
            </a:r>
          </a:p>
          <a:p>
            <a:pPr>
              <a:lnSpc>
                <a:spcPct val="109601"/>
              </a:lnSpc>
              <a:spcAft>
                <a:spcPts val="0"/>
              </a:spcAft>
            </a:pPr>
            <a:r>
              <a:rPr sz="760" i="0">
                <a:solidFill>
                  <a:srgbClr val="5C6773"/>
                </a:solidFill>
                <a:latin typeface="Inconsolata"/>
              </a:rPr>
              <a:t>57  </a:t>
            </a:r>
            <a:r>
              <a:rPr sz="760" i="0">
                <a:solidFill>
                  <a:srgbClr val="E6EDF3"/>
                </a:solidFill>
                <a:latin typeface="Inconsolata"/>
              </a:rPr>
              <a:t>    </a:t>
            </a:r>
            <a:r>
              <a:rPr sz="760" i="0">
                <a:solidFill>
                  <a:srgbClr val="FF8E6E"/>
                </a:solidFill>
                <a:latin typeface="Inconsolata"/>
              </a:rPr>
              <a:t>try</a:t>
            </a:r>
            <a:r>
              <a:rPr sz="760" i="0">
                <a:solidFill>
                  <a:srgbClr val="E6EDF3"/>
                </a:solidFill>
                <a:latin typeface="Inconsolata"/>
              </a:rPr>
              <a:t>:</a:t>
            </a:r>
          </a:p>
          <a:p>
            <a:pPr>
              <a:lnSpc>
                <a:spcPct val="109601"/>
              </a:lnSpc>
              <a:spcAft>
                <a:spcPts val="0"/>
              </a:spcAft>
            </a:pPr>
            <a:r>
              <a:rPr sz="760" i="0">
                <a:solidFill>
                  <a:srgbClr val="5C6773"/>
                </a:solidFill>
                <a:latin typeface="Inconsolata"/>
              </a:rPr>
              <a:t>58  </a:t>
            </a:r>
            <a:r>
              <a:rPr sz="760" i="0">
                <a:solidFill>
                  <a:srgbClr val="E6EDF3"/>
                </a:solidFill>
                <a:latin typeface="Inconsolata"/>
              </a:rPr>
              <a:t>        run_consumer(crash_on=</a:t>
            </a:r>
            <a:r>
              <a:rPr sz="760" i="0">
                <a:solidFill>
                  <a:srgbClr val="F9C97A"/>
                </a:solidFill>
                <a:latin typeface="Inconsolata"/>
              </a:rPr>
              <a:t>2</a:t>
            </a:r>
            <a:r>
              <a:rPr sz="760" i="0">
                <a:solidFill>
                  <a:srgbClr val="E6EDF3"/>
                </a:solidFill>
                <a:latin typeface="Inconsolata"/>
              </a:rPr>
              <a:t>)</a:t>
            </a:r>
          </a:p>
          <a:p>
            <a:pPr>
              <a:lnSpc>
                <a:spcPct val="109601"/>
              </a:lnSpc>
              <a:spcAft>
                <a:spcPts val="0"/>
              </a:spcAft>
            </a:pPr>
            <a:r>
              <a:rPr sz="760" i="0">
                <a:solidFill>
                  <a:srgbClr val="5C6773"/>
                </a:solidFill>
                <a:latin typeface="Inconsolata"/>
              </a:rPr>
              <a:t>59  </a:t>
            </a:r>
            <a:r>
              <a:rPr sz="760" i="0">
                <a:solidFill>
                  <a:srgbClr val="E6EDF3"/>
                </a:solidFill>
                <a:latin typeface="Inconsolata"/>
              </a:rPr>
              <a:t>    </a:t>
            </a:r>
            <a:r>
              <a:rPr sz="760" i="0">
                <a:solidFill>
                  <a:srgbClr val="FF8E6E"/>
                </a:solidFill>
                <a:latin typeface="Inconsolata"/>
              </a:rPr>
              <a:t>except</a:t>
            </a:r>
            <a:r>
              <a:rPr sz="760" i="0">
                <a:solidFill>
                  <a:srgbClr val="E6EDF3"/>
                </a:solidFill>
                <a:latin typeface="Inconsolata"/>
              </a:rPr>
              <a:t> </a:t>
            </a:r>
            <a:r>
              <a:rPr sz="760" i="0">
                <a:solidFill>
                  <a:srgbClr val="7FDBCA"/>
                </a:solidFill>
                <a:latin typeface="Inconsolata"/>
              </a:rPr>
              <a:t>RuntimeError</a:t>
            </a:r>
            <a:r>
              <a:rPr sz="760" i="0">
                <a:solidFill>
                  <a:srgbClr val="E6EDF3"/>
                </a:solidFill>
                <a:latin typeface="Inconsolata"/>
              </a:rPr>
              <a:t> </a:t>
            </a:r>
            <a:r>
              <a:rPr sz="760" i="0">
                <a:solidFill>
                  <a:srgbClr val="FF8E6E"/>
                </a:solidFill>
                <a:latin typeface="Inconsolata"/>
              </a:rPr>
              <a:t>as</a:t>
            </a:r>
            <a:r>
              <a:rPr sz="760" i="0">
                <a:solidFill>
                  <a:srgbClr val="E6EDF3"/>
                </a:solidFill>
                <a:latin typeface="Inconsolata"/>
              </a:rPr>
              <a:t> exc:</a:t>
            </a:r>
          </a:p>
          <a:p>
            <a:pPr>
              <a:lnSpc>
                <a:spcPct val="109601"/>
              </a:lnSpc>
              <a:spcAft>
                <a:spcPts val="0"/>
              </a:spcAft>
            </a:pPr>
            <a:r>
              <a:rPr sz="760" i="0">
                <a:solidFill>
                  <a:srgbClr val="5C6773"/>
                </a:solidFill>
                <a:latin typeface="Inconsolata"/>
              </a:rPr>
              <a:t>60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f"  CRASH: {exc}"</a:t>
            </a:r>
            <a:r>
              <a:rPr sz="760" i="0">
                <a:solidFill>
                  <a:srgbClr val="E6EDF3"/>
                </a:solidFill>
                <a:latin typeface="Inconsolata"/>
              </a:rPr>
              <a:t>)</a:t>
            </a:r>
          </a:p>
          <a:p>
            <a:pPr>
              <a:lnSpc>
                <a:spcPct val="109601"/>
              </a:lnSpc>
              <a:spcAft>
                <a:spcPts val="0"/>
              </a:spcAft>
            </a:pPr>
            <a:r>
              <a:rPr sz="760" i="0">
                <a:solidFill>
                  <a:srgbClr val="5C6773"/>
                </a:solidFill>
                <a:latin typeface="Inconsolata"/>
              </a:rPr>
              <a:t>61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f"Sisa di queue setelah crash: {count()}"</a:t>
            </a:r>
            <a:r>
              <a:rPr sz="760" i="0">
                <a:solidFill>
                  <a:srgbClr val="E6EDF3"/>
                </a:solidFill>
                <a:latin typeface="Inconsolata"/>
              </a:rPr>
              <a:t>)</a:t>
            </a:r>
          </a:p>
          <a:p>
            <a:pPr>
              <a:lnSpc>
                <a:spcPct val="109601"/>
              </a:lnSpc>
              <a:spcAft>
                <a:spcPts val="0"/>
              </a:spcAft>
            </a:pPr>
            <a:r>
              <a:rPr sz="760" i="0">
                <a:solidFill>
                  <a:srgbClr val="5C6773"/>
                </a:solidFill>
                <a:latin typeface="Inconsolata"/>
              </a:rPr>
              <a:t>62  </a:t>
            </a:r>
            <a:r>
              <a:rPr sz="760" i="0">
                <a:solidFill>
                  <a:srgbClr val="E6EDF3"/>
                </a:solidFill>
                <a:latin typeface="Inconsolata"/>
              </a:rPr>
              <a:t> </a:t>
            </a:r>
          </a:p>
          <a:p>
            <a:pPr>
              <a:lnSpc>
                <a:spcPct val="109601"/>
              </a:lnSpc>
              <a:spcAft>
                <a:spcPts val="0"/>
              </a:spcAft>
            </a:pPr>
            <a:r>
              <a:rPr sz="760" i="0">
                <a:solidFill>
                  <a:srgbClr val="5C6773"/>
                </a:solidFill>
                <a:latin typeface="Inconsolata"/>
              </a:rPr>
              <a:t>63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"Consumer dijalankan ulang:"</a:t>
            </a:r>
            <a:r>
              <a:rPr sz="760" i="0">
                <a:solidFill>
                  <a:srgbClr val="E6EDF3"/>
                </a:solidFill>
                <a:latin typeface="Inconsolata"/>
              </a:rPr>
              <a:t>)</a:t>
            </a:r>
          </a:p>
          <a:p>
            <a:pPr>
              <a:lnSpc>
                <a:spcPct val="109601"/>
              </a:lnSpc>
              <a:spcAft>
                <a:spcPts val="0"/>
              </a:spcAft>
            </a:pPr>
            <a:r>
              <a:rPr sz="760" i="0">
                <a:solidFill>
                  <a:srgbClr val="5C6773"/>
                </a:solidFill>
                <a:latin typeface="Inconsolata"/>
              </a:rPr>
              <a:t>64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f"  {run_consumer()} pesan diproses"</a:t>
            </a:r>
            <a:r>
              <a:rPr sz="760" i="0">
                <a:solidFill>
                  <a:srgbClr val="E6EDF3"/>
                </a:solidFill>
                <a:latin typeface="Inconsolata"/>
              </a:rPr>
              <a: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Ack</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03-ack/before.py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621792"/>
          </a:xfrm>
          <a:prstGeom prst="roundRect">
            <a:avLst>
              <a:gd name="adj" fmla="val 2941"/>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621792"/>
          </a:xfrm>
          <a:prstGeom prst="rect">
            <a:avLst/>
          </a:prstGeom>
          <a:noFill/>
        </p:spPr>
        <p:txBody>
          <a:bodyPr wrap="none" lIns="146304" tIns="91440" rIns="146304" bIns="54864">
            <a:spAutoFit/>
          </a:bodyPr>
          <a:lstStyle/>
          <a:p>
            <a:pPr>
              <a:lnSpc>
                <a:spcPct val="107843"/>
              </a:lnSpc>
              <a:spcAft>
                <a:spcPts val="0"/>
              </a:spcAft>
            </a:pPr>
            <a:r>
              <a:rPr sz="850" i="0">
                <a:solidFill>
                  <a:srgbClr val="82B1FF"/>
                </a:solidFill>
                <a:latin typeface="Inconsolata"/>
              </a:rPr>
              <a:t>$ cd sesi-08-event-driven-rabbitmq-kafka/03-ack</a:t>
            </a:r>
          </a:p>
          <a:p>
            <a:pPr>
              <a:lnSpc>
                <a:spcPct val="107843"/>
              </a:lnSpc>
              <a:spcAft>
                <a:spcPts val="0"/>
              </a:spcAft>
            </a:pPr>
            <a:r>
              <a:rPr sz="850" i="0">
                <a:solidFill>
                  <a:srgbClr val="82B1FF"/>
                </a:solidFill>
                <a:latin typeface="Inconsolata"/>
              </a:rPr>
              <a:t>$ docker compose -f ../docker-compose.yml up -d rabbitmq</a:t>
            </a:r>
          </a:p>
          <a:p>
            <a:pPr>
              <a:lnSpc>
                <a:spcPct val="107843"/>
              </a:lnSpc>
              <a:spcAft>
                <a:spcPts val="0"/>
              </a:spcAft>
            </a:pPr>
            <a:r>
              <a:rPr sz="850" i="0">
                <a:solidFill>
                  <a:srgbClr val="82B1FF"/>
                </a:solidFill>
                <a:latin typeface="Inconsolata"/>
              </a:rPr>
              <a:t>$ python before.py</a:t>
            </a:r>
          </a:p>
        </p:txBody>
      </p:sp>
      <p:pic>
        <p:nvPicPr>
          <p:cNvPr id="29" name="Image 12" descr="s08-03-ack-before.png"/>
          <p:cNvPicPr>
            <a:picLocks noChangeAspect="1"/>
          </p:cNvPicPr>
          <p:nvPr/>
        </p:nvPicPr>
        <p:blipFill>
          <a:blip r:embed="rId2"/>
          <a:stretch>
            <a:fillRect/>
          </a:stretch>
        </p:blipFill>
        <p:spPr>
          <a:xfrm>
            <a:off x="621792" y="2459736"/>
            <a:ext cx="4297680" cy="1439723"/>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auto_ack=True</a:t>
            </a:r>
            <a:r>
              <a:rPr sz="950" b="0" i="0">
                <a:solidFill>
                  <a:srgbClr val="434343"/>
                </a:solidFill>
                <a:latin typeface="Inter"/>
              </a:rPr>
              <a:t>: pesan dihapus begitu dikirim (baris 29)</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Consumer crash saat memproses order #2 (baris 18-19)</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Setelah crash, queue kosong. Order #2 dan #3 hilang.</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Ack</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ack manual dan prefetch (1/2)</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03-ack/after.py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2868"/>
              </a:lnSpc>
              <a:spcAft>
                <a:spcPts val="0"/>
              </a:spcAft>
            </a:pPr>
            <a:r>
              <a:rPr sz="729" i="0">
                <a:solidFill>
                  <a:srgbClr val="5C6773"/>
                </a:solidFill>
                <a:latin typeface="Inconsolata"/>
              </a:rPr>
              <a:t>13  </a:t>
            </a:r>
            <a:r>
              <a:rPr sz="729" i="0">
                <a:solidFill>
                  <a:srgbClr val="FF8E6E"/>
                </a:solidFill>
                <a:latin typeface="Inconsolata"/>
              </a:rPr>
              <a:t>import</a:t>
            </a:r>
            <a:r>
              <a:rPr sz="729" i="0">
                <a:solidFill>
                  <a:srgbClr val="E6EDF3"/>
                </a:solidFill>
                <a:latin typeface="Inconsolata"/>
              </a:rPr>
              <a:t> json</a:t>
            </a:r>
          </a:p>
          <a:p>
            <a:pPr>
              <a:lnSpc>
                <a:spcPct val="102868"/>
              </a:lnSpc>
              <a:spcAft>
                <a:spcPts val="0"/>
              </a:spcAft>
            </a:pPr>
            <a:r>
              <a:rPr sz="729" i="0">
                <a:solidFill>
                  <a:srgbClr val="5C6773"/>
                </a:solidFill>
                <a:latin typeface="Inconsolata"/>
              </a:rPr>
              <a:t>14  </a:t>
            </a:r>
            <a:r>
              <a:rPr sz="729" i="0">
                <a:solidFill>
                  <a:srgbClr val="FF8E6E"/>
                </a:solidFill>
                <a:latin typeface="Inconsolata"/>
              </a:rPr>
              <a:t>import</a:t>
            </a:r>
            <a:r>
              <a:rPr sz="729" i="0">
                <a:solidFill>
                  <a:srgbClr val="E6EDF3"/>
                </a:solidFill>
                <a:latin typeface="Inconsolata"/>
              </a:rPr>
              <a:t> os</a:t>
            </a:r>
          </a:p>
          <a:p>
            <a:pPr>
              <a:lnSpc>
                <a:spcPct val="102868"/>
              </a:lnSpc>
              <a:spcAft>
                <a:spcPts val="0"/>
              </a:spcAft>
            </a:pPr>
            <a:r>
              <a:rPr sz="729" i="0">
                <a:solidFill>
                  <a:srgbClr val="5C6773"/>
                </a:solidFill>
                <a:latin typeface="Inconsolata"/>
              </a:rPr>
              <a:t>15  </a:t>
            </a:r>
            <a:r>
              <a:rPr sz="729" i="0">
                <a:solidFill>
                  <a:srgbClr val="E6EDF3"/>
                </a:solidFill>
                <a:latin typeface="Inconsolata"/>
              </a:rPr>
              <a:t> </a:t>
            </a:r>
          </a:p>
          <a:p>
            <a:pPr>
              <a:lnSpc>
                <a:spcPct val="102868"/>
              </a:lnSpc>
              <a:spcAft>
                <a:spcPts val="0"/>
              </a:spcAft>
            </a:pPr>
            <a:r>
              <a:rPr sz="729" i="0">
                <a:solidFill>
                  <a:srgbClr val="5C6773"/>
                </a:solidFill>
                <a:latin typeface="Inconsolata"/>
              </a:rPr>
              <a:t>16  </a:t>
            </a:r>
            <a:r>
              <a:rPr sz="729" i="0">
                <a:solidFill>
                  <a:srgbClr val="FF8E6E"/>
                </a:solidFill>
                <a:latin typeface="Inconsolata"/>
              </a:rPr>
              <a:t>import</a:t>
            </a:r>
            <a:r>
              <a:rPr sz="729" i="0">
                <a:solidFill>
                  <a:srgbClr val="E6EDF3"/>
                </a:solidFill>
                <a:latin typeface="Inconsolata"/>
              </a:rPr>
              <a:t> pika</a:t>
            </a:r>
          </a:p>
          <a:p>
            <a:pPr>
              <a:lnSpc>
                <a:spcPct val="102868"/>
              </a:lnSpc>
              <a:spcAft>
                <a:spcPts val="0"/>
              </a:spcAft>
            </a:pPr>
            <a:r>
              <a:rPr sz="729" i="0">
                <a:solidFill>
                  <a:srgbClr val="5C6773"/>
                </a:solidFill>
                <a:latin typeface="Inconsolata"/>
              </a:rPr>
              <a:t>17  </a:t>
            </a:r>
            <a:r>
              <a:rPr sz="729" i="0">
                <a:solidFill>
                  <a:srgbClr val="E6EDF3"/>
                </a:solidFill>
                <a:latin typeface="Inconsolata"/>
              </a:rPr>
              <a:t> </a:t>
            </a:r>
          </a:p>
          <a:p>
            <a:pPr>
              <a:lnSpc>
                <a:spcPct val="102868"/>
              </a:lnSpc>
              <a:spcAft>
                <a:spcPts val="0"/>
              </a:spcAft>
            </a:pPr>
            <a:r>
              <a:rPr sz="729" i="0">
                <a:solidFill>
                  <a:srgbClr val="5C6773"/>
                </a:solidFill>
                <a:latin typeface="Inconsolata"/>
              </a:rPr>
              <a:t>18  </a:t>
            </a:r>
            <a:r>
              <a:rPr sz="729" i="0">
                <a:solidFill>
                  <a:srgbClr val="7FDBCA"/>
                </a:solidFill>
                <a:latin typeface="Inconsolata"/>
              </a:rPr>
              <a:t>URL</a:t>
            </a:r>
            <a:r>
              <a:rPr sz="729" i="0">
                <a:solidFill>
                  <a:srgbClr val="E6EDF3"/>
                </a:solidFill>
                <a:latin typeface="Inconsolata"/>
              </a:rPr>
              <a:t> = os.getenv(</a:t>
            </a:r>
            <a:r>
              <a:rPr sz="729" i="0">
                <a:solidFill>
                  <a:srgbClr val="A5D6A7"/>
                </a:solidFill>
                <a:latin typeface="Inconsolata"/>
              </a:rPr>
              <a:t>"RABBITMQ_URL"</a:t>
            </a:r>
            <a:r>
              <a:rPr sz="729" i="0">
                <a:solidFill>
                  <a:srgbClr val="E6EDF3"/>
                </a:solidFill>
                <a:latin typeface="Inconsolata"/>
              </a:rPr>
              <a:t>, </a:t>
            </a:r>
            <a:r>
              <a:rPr sz="729" i="0">
                <a:solidFill>
                  <a:srgbClr val="A5D6A7"/>
                </a:solidFill>
                <a:latin typeface="Inconsolata"/>
              </a:rPr>
              <a:t>"amqp://guest:guest@localhost:5672/"</a:t>
            </a:r>
            <a:r>
              <a:rPr sz="729" i="0">
                <a:solidFill>
                  <a:srgbClr val="E6EDF3"/>
                </a:solidFill>
                <a:latin typeface="Inconsolata"/>
              </a:rPr>
              <a:t>)</a:t>
            </a:r>
          </a:p>
          <a:p>
            <a:pPr>
              <a:lnSpc>
                <a:spcPct val="102868"/>
              </a:lnSpc>
              <a:spcAft>
                <a:spcPts val="0"/>
              </a:spcAft>
            </a:pPr>
            <a:r>
              <a:rPr sz="729" i="0">
                <a:solidFill>
                  <a:srgbClr val="5C6773"/>
                </a:solidFill>
                <a:latin typeface="Inconsolata"/>
              </a:rPr>
              <a:t>19  </a:t>
            </a:r>
            <a:r>
              <a:rPr sz="729" i="0">
                <a:solidFill>
                  <a:srgbClr val="E6EDF3"/>
                </a:solidFill>
                <a:latin typeface="Inconsolata"/>
              </a:rPr>
              <a:t> </a:t>
            </a:r>
          </a:p>
          <a:p>
            <a:pPr>
              <a:lnSpc>
                <a:spcPct val="102868"/>
              </a:lnSpc>
              <a:spcAft>
                <a:spcPts val="0"/>
              </a:spcAft>
            </a:pPr>
            <a:r>
              <a:rPr sz="729" i="0">
                <a:solidFill>
                  <a:srgbClr val="5C6773"/>
                </a:solidFill>
                <a:latin typeface="Inconsolata"/>
              </a:rPr>
              <a:t>20  </a:t>
            </a:r>
            <a:r>
              <a:rPr sz="729" i="0">
                <a:solidFill>
                  <a:srgbClr val="E6EDF3"/>
                </a:solidFill>
                <a:latin typeface="Inconsolata"/>
              </a:rPr>
              <a:t> </a:t>
            </a:r>
          </a:p>
          <a:p>
            <a:pPr>
              <a:lnSpc>
                <a:spcPct val="102868"/>
              </a:lnSpc>
              <a:spcAft>
                <a:spcPts val="0"/>
              </a:spcAft>
            </a:pPr>
            <a:r>
              <a:rPr sz="729" i="0">
                <a:solidFill>
                  <a:srgbClr val="5C6773"/>
                </a:solidFill>
                <a:latin typeface="Inconsolata"/>
              </a:rPr>
              <a:t>21  </a:t>
            </a:r>
            <a:r>
              <a:rPr sz="729" i="0">
                <a:solidFill>
                  <a:srgbClr val="FF8E6E"/>
                </a:solidFill>
                <a:latin typeface="Inconsolata"/>
              </a:rPr>
              <a:t>def</a:t>
            </a:r>
            <a:r>
              <a:rPr sz="729" i="0">
                <a:solidFill>
                  <a:srgbClr val="E6EDF3"/>
                </a:solidFill>
                <a:latin typeface="Inconsolata"/>
              </a:rPr>
              <a:t> </a:t>
            </a:r>
            <a:r>
              <a:rPr sz="729" i="0">
                <a:solidFill>
                  <a:srgbClr val="82B1FF"/>
                </a:solidFill>
                <a:latin typeface="Inconsolata"/>
              </a:rPr>
              <a:t>send_email</a:t>
            </a:r>
            <a:r>
              <a:rPr sz="729" i="0">
                <a:solidFill>
                  <a:srgbClr val="E6EDF3"/>
                </a:solidFill>
                <a:latin typeface="Inconsolata"/>
              </a:rPr>
              <a:t>(event, crash_on=</a:t>
            </a:r>
            <a:r>
              <a:rPr sz="729" i="0">
                <a:solidFill>
                  <a:srgbClr val="FF8E6E"/>
                </a:solidFill>
                <a:latin typeface="Inconsolata"/>
              </a:rPr>
              <a:t>None</a:t>
            </a:r>
            <a:r>
              <a:rPr sz="729" i="0">
                <a:solidFill>
                  <a:srgbClr val="E6EDF3"/>
                </a:solidFill>
                <a:latin typeface="Inconsolata"/>
              </a:rPr>
              <a:t>):</a:t>
            </a:r>
          </a:p>
          <a:p>
            <a:pPr>
              <a:lnSpc>
                <a:spcPct val="102868"/>
              </a:lnSpc>
              <a:spcAft>
                <a:spcPts val="0"/>
              </a:spcAft>
            </a:pPr>
            <a:r>
              <a:rPr sz="729" i="0">
                <a:solidFill>
                  <a:srgbClr val="5C6773"/>
                </a:solidFill>
                <a:latin typeface="Inconsolata"/>
              </a:rPr>
              <a:t>22  </a:t>
            </a:r>
            <a:r>
              <a:rPr sz="729" i="0">
                <a:solidFill>
                  <a:srgbClr val="E6EDF3"/>
                </a:solidFill>
                <a:latin typeface="Inconsolata"/>
              </a:rPr>
              <a:t>    </a:t>
            </a:r>
            <a:r>
              <a:rPr sz="729" i="0">
                <a:solidFill>
                  <a:srgbClr val="FF8E6E"/>
                </a:solidFill>
                <a:latin typeface="Inconsolata"/>
              </a:rPr>
              <a:t>if</a:t>
            </a:r>
            <a:r>
              <a:rPr sz="729" i="0">
                <a:solidFill>
                  <a:srgbClr val="E6EDF3"/>
                </a:solidFill>
                <a:latin typeface="Inconsolata"/>
              </a:rPr>
              <a:t> event[</a:t>
            </a:r>
            <a:r>
              <a:rPr sz="729" i="0">
                <a:solidFill>
                  <a:srgbClr val="A5D6A7"/>
                </a:solidFill>
                <a:latin typeface="Inconsolata"/>
              </a:rPr>
              <a:t>"order_id"</a:t>
            </a:r>
            <a:r>
              <a:rPr sz="729" i="0">
                <a:solidFill>
                  <a:srgbClr val="E6EDF3"/>
                </a:solidFill>
                <a:latin typeface="Inconsolata"/>
              </a:rPr>
              <a:t>] == crash_on:</a:t>
            </a:r>
          </a:p>
          <a:p>
            <a:pPr>
              <a:lnSpc>
                <a:spcPct val="102868"/>
              </a:lnSpc>
              <a:spcAft>
                <a:spcPts val="0"/>
              </a:spcAft>
            </a:pPr>
            <a:r>
              <a:rPr sz="729" i="0">
                <a:solidFill>
                  <a:srgbClr val="5C6773"/>
                </a:solidFill>
                <a:latin typeface="Inconsolata"/>
              </a:rPr>
              <a:t>23  </a:t>
            </a:r>
            <a:r>
              <a:rPr sz="729" i="0">
                <a:solidFill>
                  <a:srgbClr val="E6EDF3"/>
                </a:solidFill>
                <a:latin typeface="Inconsolata"/>
              </a:rPr>
              <a:t>        </a:t>
            </a:r>
            <a:r>
              <a:rPr sz="729" i="0">
                <a:solidFill>
                  <a:srgbClr val="FF8E6E"/>
                </a:solidFill>
                <a:latin typeface="Inconsolata"/>
              </a:rPr>
              <a:t>raise</a:t>
            </a:r>
            <a:r>
              <a:rPr sz="729" i="0">
                <a:solidFill>
                  <a:srgbClr val="E6EDF3"/>
                </a:solidFill>
                <a:latin typeface="Inconsolata"/>
              </a:rPr>
              <a:t> </a:t>
            </a:r>
            <a:r>
              <a:rPr sz="729" i="0">
                <a:solidFill>
                  <a:srgbClr val="7FDBCA"/>
                </a:solidFill>
                <a:latin typeface="Inconsolata"/>
              </a:rPr>
              <a:t>RuntimeError</a:t>
            </a:r>
            <a:r>
              <a:rPr sz="729" i="0">
                <a:solidFill>
                  <a:srgbClr val="E6EDF3"/>
                </a:solidFill>
                <a:latin typeface="Inconsolata"/>
              </a:rPr>
              <a:t>(</a:t>
            </a:r>
            <a:r>
              <a:rPr sz="729" i="0">
                <a:solidFill>
                  <a:srgbClr val="A5D6A7"/>
                </a:solidFill>
                <a:latin typeface="Inconsolata"/>
              </a:rPr>
              <a:t>f"worker crash saat memproses "</a:t>
            </a:r>
          </a:p>
          <a:p>
            <a:pPr>
              <a:lnSpc>
                <a:spcPct val="102868"/>
              </a:lnSpc>
              <a:spcAft>
                <a:spcPts val="0"/>
              </a:spcAft>
            </a:pPr>
            <a:r>
              <a:rPr sz="729" i="0">
                <a:solidFill>
                  <a:srgbClr val="5C6773"/>
                </a:solidFill>
                <a:latin typeface="Inconsolata"/>
              </a:rPr>
              <a:t>24  </a:t>
            </a:r>
            <a:r>
              <a:rPr sz="729" i="0">
                <a:solidFill>
                  <a:srgbClr val="E6EDF3"/>
                </a:solidFill>
                <a:latin typeface="Inconsolata"/>
              </a:rPr>
              <a:t>                           </a:t>
            </a:r>
            <a:r>
              <a:rPr sz="729" i="0">
                <a:solidFill>
                  <a:srgbClr val="A5D6A7"/>
                </a:solidFill>
                <a:latin typeface="Inconsolata"/>
              </a:rPr>
              <a:t>f"order #{crash_on}"</a:t>
            </a:r>
            <a:r>
              <a:rPr sz="729" i="0">
                <a:solidFill>
                  <a:srgbClr val="E6EDF3"/>
                </a:solidFill>
                <a:latin typeface="Inconsolata"/>
              </a:rPr>
              <a:t>)</a:t>
            </a:r>
          </a:p>
          <a:p>
            <a:pPr>
              <a:lnSpc>
                <a:spcPct val="102868"/>
              </a:lnSpc>
              <a:spcAft>
                <a:spcPts val="0"/>
              </a:spcAft>
            </a:pPr>
            <a:r>
              <a:rPr sz="729" i="0">
                <a:solidFill>
                  <a:srgbClr val="5C6773"/>
                </a:solidFill>
                <a:latin typeface="Inconsolata"/>
              </a:rPr>
              <a:t>25  </a:t>
            </a:r>
            <a:r>
              <a:rPr sz="729" i="0">
                <a:solidFill>
                  <a:srgbClr val="E6EDF3"/>
                </a:solidFill>
                <a:latin typeface="Inconsolata"/>
              </a:rPr>
              <a:t>    </a:t>
            </a:r>
            <a:r>
              <a:rPr sz="729" i="0">
                <a:solidFill>
                  <a:srgbClr val="C3A6FF"/>
                </a:solidFill>
                <a:latin typeface="Inconsolata"/>
              </a:rPr>
              <a:t>print</a:t>
            </a:r>
            <a:r>
              <a:rPr sz="729" i="0">
                <a:solidFill>
                  <a:srgbClr val="E6EDF3"/>
                </a:solidFill>
                <a:latin typeface="Inconsolata"/>
              </a:rPr>
              <a:t>(</a:t>
            </a:r>
            <a:r>
              <a:rPr sz="729" i="0">
                <a:solidFill>
                  <a:srgbClr val="A5D6A7"/>
                </a:solidFill>
                <a:latin typeface="Inconsolata"/>
              </a:rPr>
              <a:t>f"  email order #{event['order_id']} terkirim"</a:t>
            </a:r>
            <a:r>
              <a:rPr sz="729" i="0">
                <a:solidFill>
                  <a:srgbClr val="E6EDF3"/>
                </a:solidFill>
                <a:latin typeface="Inconsolata"/>
              </a:rPr>
              <a: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03-ack/after.py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2868"/>
              </a:lnSpc>
              <a:spcAft>
                <a:spcPts val="0"/>
              </a:spcAft>
            </a:pPr>
            <a:r>
              <a:rPr sz="729" i="0">
                <a:solidFill>
                  <a:srgbClr val="5C6773"/>
                </a:solidFill>
                <a:latin typeface="Inconsolata"/>
              </a:rPr>
              <a:t>28  </a:t>
            </a:r>
            <a:r>
              <a:rPr sz="729" i="0">
                <a:solidFill>
                  <a:srgbClr val="FF8E6E"/>
                </a:solidFill>
                <a:latin typeface="Inconsolata"/>
              </a:rPr>
              <a:t>def</a:t>
            </a:r>
            <a:r>
              <a:rPr sz="729" i="0">
                <a:solidFill>
                  <a:srgbClr val="E6EDF3"/>
                </a:solidFill>
                <a:latin typeface="Inconsolata"/>
              </a:rPr>
              <a:t> </a:t>
            </a:r>
            <a:r>
              <a:rPr sz="729" i="0">
                <a:solidFill>
                  <a:srgbClr val="82B1FF"/>
                </a:solidFill>
                <a:latin typeface="Inconsolata"/>
              </a:rPr>
              <a:t>run_consumer</a:t>
            </a:r>
            <a:r>
              <a:rPr sz="729" i="0">
                <a:solidFill>
                  <a:srgbClr val="E6EDF3"/>
                </a:solidFill>
                <a:latin typeface="Inconsolata"/>
              </a:rPr>
              <a:t>(crash_on=</a:t>
            </a:r>
            <a:r>
              <a:rPr sz="729" i="0">
                <a:solidFill>
                  <a:srgbClr val="FF8E6E"/>
                </a:solidFill>
                <a:latin typeface="Inconsolata"/>
              </a:rPr>
              <a:t>None</a:t>
            </a:r>
            <a:r>
              <a:rPr sz="729" i="0">
                <a:solidFill>
                  <a:srgbClr val="E6EDF3"/>
                </a:solidFill>
                <a:latin typeface="Inconsolata"/>
              </a:rPr>
              <a:t>) -&gt; </a:t>
            </a:r>
            <a:r>
              <a:rPr sz="729" i="0">
                <a:solidFill>
                  <a:srgbClr val="C3A6FF"/>
                </a:solidFill>
                <a:latin typeface="Inconsolata"/>
              </a:rPr>
              <a:t>int</a:t>
            </a:r>
            <a:r>
              <a:rPr sz="729" i="0">
                <a:solidFill>
                  <a:srgbClr val="E6EDF3"/>
                </a:solidFill>
                <a:latin typeface="Inconsolata"/>
              </a:rPr>
              <a:t>:</a:t>
            </a:r>
          </a:p>
          <a:p>
            <a:pPr>
              <a:lnSpc>
                <a:spcPct val="102868"/>
              </a:lnSpc>
              <a:spcAft>
                <a:spcPts val="0"/>
              </a:spcAft>
            </a:pPr>
            <a:r>
              <a:rPr sz="729" i="0">
                <a:solidFill>
                  <a:srgbClr val="5C6773"/>
                </a:solidFill>
                <a:latin typeface="Inconsolata"/>
              </a:rPr>
              <a:t>29  </a:t>
            </a:r>
            <a:r>
              <a:rPr sz="729" i="0">
                <a:solidFill>
                  <a:srgbClr val="E6EDF3"/>
                </a:solidFill>
                <a:latin typeface="Inconsolata"/>
              </a:rPr>
              <a:t>    processed = </a:t>
            </a:r>
            <a:r>
              <a:rPr sz="729" i="0">
                <a:solidFill>
                  <a:srgbClr val="F9C97A"/>
                </a:solidFill>
                <a:latin typeface="Inconsolata"/>
              </a:rPr>
              <a:t>0</a:t>
            </a:r>
          </a:p>
          <a:p>
            <a:pPr>
              <a:lnSpc>
                <a:spcPct val="102868"/>
              </a:lnSpc>
              <a:spcAft>
                <a:spcPts val="0"/>
              </a:spcAft>
            </a:pPr>
            <a:r>
              <a:rPr sz="729" i="0">
                <a:solidFill>
                  <a:srgbClr val="5C6773"/>
                </a:solidFill>
                <a:latin typeface="Inconsolata"/>
              </a:rPr>
              <a:t>30  </a:t>
            </a:r>
            <a:r>
              <a:rPr sz="729" i="0">
                <a:solidFill>
                  <a:srgbClr val="E6EDF3"/>
                </a:solidFill>
                <a:latin typeface="Inconsolata"/>
              </a:rPr>
              <a:t>    </a:t>
            </a:r>
            <a:r>
              <a:rPr sz="729" i="0">
                <a:solidFill>
                  <a:srgbClr val="FF8E6E"/>
                </a:solidFill>
                <a:latin typeface="Inconsolata"/>
              </a:rPr>
              <a:t>with</a:t>
            </a:r>
            <a:r>
              <a:rPr sz="729" i="0">
                <a:solidFill>
                  <a:srgbClr val="E6EDF3"/>
                </a:solidFill>
                <a:latin typeface="Inconsolata"/>
              </a:rPr>
              <a:t> pika.</a:t>
            </a:r>
            <a:r>
              <a:rPr sz="729" i="0">
                <a:solidFill>
                  <a:srgbClr val="7FDBCA"/>
                </a:solidFill>
                <a:latin typeface="Inconsolata"/>
              </a:rPr>
              <a:t>BlockingConnection</a:t>
            </a:r>
            <a:r>
              <a:rPr sz="729" i="0">
                <a:solidFill>
                  <a:srgbClr val="E6EDF3"/>
                </a:solidFill>
                <a:latin typeface="Inconsolata"/>
              </a:rPr>
              <a:t>(pika.</a:t>
            </a:r>
            <a:r>
              <a:rPr sz="729" i="0">
                <a:solidFill>
                  <a:srgbClr val="7FDBCA"/>
                </a:solidFill>
                <a:latin typeface="Inconsolata"/>
              </a:rPr>
              <a:t>URLParameters</a:t>
            </a:r>
            <a:r>
              <a:rPr sz="729" i="0">
                <a:solidFill>
                  <a:srgbClr val="E6EDF3"/>
                </a:solidFill>
                <a:latin typeface="Inconsolata"/>
              </a:rPr>
              <a:t>(</a:t>
            </a:r>
            <a:r>
              <a:rPr sz="729" i="0">
                <a:solidFill>
                  <a:srgbClr val="7FDBCA"/>
                </a:solidFill>
                <a:latin typeface="Inconsolata"/>
              </a:rPr>
              <a:t>URL</a:t>
            </a:r>
            <a:r>
              <a:rPr sz="729" i="0">
                <a:solidFill>
                  <a:srgbClr val="E6EDF3"/>
                </a:solidFill>
                <a:latin typeface="Inconsolata"/>
              </a:rPr>
              <a:t>)) </a:t>
            </a:r>
            <a:r>
              <a:rPr sz="729" i="0">
                <a:solidFill>
                  <a:srgbClr val="FF8E6E"/>
                </a:solidFill>
                <a:latin typeface="Inconsolata"/>
              </a:rPr>
              <a:t>as</a:t>
            </a:r>
            <a:r>
              <a:rPr sz="729" i="0">
                <a:solidFill>
                  <a:srgbClr val="E6EDF3"/>
                </a:solidFill>
                <a:latin typeface="Inconsolata"/>
              </a:rPr>
              <a:t> conn:</a:t>
            </a:r>
          </a:p>
          <a:p>
            <a:pPr>
              <a:lnSpc>
                <a:spcPct val="102868"/>
              </a:lnSpc>
              <a:spcAft>
                <a:spcPts val="0"/>
              </a:spcAft>
            </a:pPr>
            <a:r>
              <a:rPr sz="729" i="0">
                <a:solidFill>
                  <a:srgbClr val="5C6773"/>
                </a:solidFill>
                <a:latin typeface="Inconsolata"/>
              </a:rPr>
              <a:t>31  </a:t>
            </a:r>
            <a:r>
              <a:rPr sz="729" i="0">
                <a:solidFill>
                  <a:srgbClr val="E6EDF3"/>
                </a:solidFill>
                <a:latin typeface="Inconsolata"/>
              </a:rPr>
              <a:t>        channel = conn.channel()</a:t>
            </a:r>
          </a:p>
          <a:p>
            <a:pPr>
              <a:lnSpc>
                <a:spcPct val="102868"/>
              </a:lnSpc>
              <a:spcAft>
                <a:spcPts val="0"/>
              </a:spcAft>
            </a:pPr>
            <a:r>
              <a:rPr sz="729" i="0">
                <a:solidFill>
                  <a:srgbClr val="5C6773"/>
                </a:solidFill>
                <a:latin typeface="Inconsolata"/>
              </a:rPr>
              <a:t>32  </a:t>
            </a:r>
            <a:r>
              <a:rPr sz="729" i="0">
                <a:solidFill>
                  <a:srgbClr val="E6EDF3"/>
                </a:solidFill>
                <a:latin typeface="Inconsolata"/>
              </a:rPr>
              <a:t>        channel.basic_qos(prefetch_count=</a:t>
            </a:r>
            <a:r>
              <a:rPr sz="729" i="0">
                <a:solidFill>
                  <a:srgbClr val="F9C97A"/>
                </a:solidFill>
                <a:latin typeface="Inconsolata"/>
              </a:rPr>
              <a:t>1</a:t>
            </a:r>
            <a:r>
              <a:rPr sz="729" i="0">
                <a:solidFill>
                  <a:srgbClr val="E6EDF3"/>
                </a:solidFill>
                <a:latin typeface="Inconsolata"/>
              </a:rPr>
              <a:t>)</a:t>
            </a:r>
          </a:p>
          <a:p>
            <a:pPr>
              <a:lnSpc>
                <a:spcPct val="102868"/>
              </a:lnSpc>
              <a:spcAft>
                <a:spcPts val="0"/>
              </a:spcAft>
            </a:pPr>
            <a:r>
              <a:rPr sz="729" i="0">
                <a:solidFill>
                  <a:srgbClr val="5C6773"/>
                </a:solidFill>
                <a:latin typeface="Inconsolata"/>
              </a:rPr>
              <a:t>33  </a:t>
            </a:r>
            <a:r>
              <a:rPr sz="729" i="0">
                <a:solidFill>
                  <a:srgbClr val="E6EDF3"/>
                </a:solidFill>
                <a:latin typeface="Inconsolata"/>
              </a:rPr>
              <a:t>        </a:t>
            </a:r>
            <a:r>
              <a:rPr sz="729" i="0">
                <a:solidFill>
                  <a:srgbClr val="FF8E6E"/>
                </a:solidFill>
                <a:latin typeface="Inconsolata"/>
              </a:rPr>
              <a:t>for</a:t>
            </a:r>
            <a:r>
              <a:rPr sz="729" i="0">
                <a:solidFill>
                  <a:srgbClr val="E6EDF3"/>
                </a:solidFill>
                <a:latin typeface="Inconsolata"/>
              </a:rPr>
              <a:t> method, properties, body </a:t>
            </a:r>
            <a:r>
              <a:rPr sz="729" i="0">
                <a:solidFill>
                  <a:srgbClr val="FF8E6E"/>
                </a:solidFill>
                <a:latin typeface="Inconsolata"/>
              </a:rPr>
              <a:t>in</a:t>
            </a:r>
            <a:r>
              <a:rPr sz="729" i="0">
                <a:solidFill>
                  <a:srgbClr val="E6EDF3"/>
                </a:solidFill>
                <a:latin typeface="Inconsolata"/>
              </a:rPr>
              <a:t> channel.consume(</a:t>
            </a:r>
          </a:p>
          <a:p>
            <a:pPr>
              <a:lnSpc>
                <a:spcPct val="102868"/>
              </a:lnSpc>
              <a:spcAft>
                <a:spcPts val="0"/>
              </a:spcAft>
            </a:pPr>
            <a:r>
              <a:rPr sz="729" i="0">
                <a:solidFill>
                  <a:srgbClr val="5C6773"/>
                </a:solidFill>
                <a:latin typeface="Inconsolata"/>
              </a:rPr>
              <a:t>34  </a:t>
            </a:r>
            <a:r>
              <a:rPr sz="729" i="0">
                <a:solidFill>
                  <a:srgbClr val="E6EDF3"/>
                </a:solidFill>
                <a:latin typeface="Inconsolata"/>
              </a:rPr>
              <a:t>                </a:t>
            </a:r>
            <a:r>
              <a:rPr sz="729" i="0">
                <a:solidFill>
                  <a:srgbClr val="A5D6A7"/>
                </a:solidFill>
                <a:latin typeface="Inconsolata"/>
              </a:rPr>
              <a:t>"email"</a:t>
            </a:r>
            <a:r>
              <a:rPr sz="729" i="0">
                <a:solidFill>
                  <a:srgbClr val="E6EDF3"/>
                </a:solidFill>
                <a:latin typeface="Inconsolata"/>
              </a:rPr>
              <a:t>, auto_ack=</a:t>
            </a:r>
            <a:r>
              <a:rPr sz="729" i="0">
                <a:solidFill>
                  <a:srgbClr val="FF8E6E"/>
                </a:solidFill>
                <a:latin typeface="Inconsolata"/>
              </a:rPr>
              <a:t>False</a:t>
            </a:r>
            <a:r>
              <a:rPr sz="729" i="0">
                <a:solidFill>
                  <a:srgbClr val="E6EDF3"/>
                </a:solidFill>
                <a:latin typeface="Inconsolata"/>
              </a:rPr>
              <a:t>, inactivity_timeout=</a:t>
            </a:r>
            <a:r>
              <a:rPr sz="729" i="0">
                <a:solidFill>
                  <a:srgbClr val="F9C97A"/>
                </a:solidFill>
                <a:latin typeface="Inconsolata"/>
              </a:rPr>
              <a:t>1</a:t>
            </a:r>
            <a:r>
              <a:rPr sz="729" i="0">
                <a:solidFill>
                  <a:srgbClr val="E6EDF3"/>
                </a:solidFill>
                <a:latin typeface="Inconsolata"/>
              </a:rPr>
              <a:t>):</a:t>
            </a:r>
          </a:p>
          <a:p>
            <a:pPr>
              <a:lnSpc>
                <a:spcPct val="102868"/>
              </a:lnSpc>
              <a:spcAft>
                <a:spcPts val="0"/>
              </a:spcAft>
            </a:pPr>
            <a:r>
              <a:rPr sz="729" i="0">
                <a:solidFill>
                  <a:srgbClr val="5C6773"/>
                </a:solidFill>
                <a:latin typeface="Inconsolata"/>
              </a:rPr>
              <a:t>35  </a:t>
            </a:r>
            <a:r>
              <a:rPr sz="729" i="0">
                <a:solidFill>
                  <a:srgbClr val="E6EDF3"/>
                </a:solidFill>
                <a:latin typeface="Inconsolata"/>
              </a:rPr>
              <a:t>            </a:t>
            </a:r>
            <a:r>
              <a:rPr sz="729" i="0">
                <a:solidFill>
                  <a:srgbClr val="FF8E6E"/>
                </a:solidFill>
                <a:latin typeface="Inconsolata"/>
              </a:rPr>
              <a:t>if</a:t>
            </a:r>
            <a:r>
              <a:rPr sz="729" i="0">
                <a:solidFill>
                  <a:srgbClr val="E6EDF3"/>
                </a:solidFill>
                <a:latin typeface="Inconsolata"/>
              </a:rPr>
              <a:t> method </a:t>
            </a:r>
            <a:r>
              <a:rPr sz="729" i="0">
                <a:solidFill>
                  <a:srgbClr val="FF8E6E"/>
                </a:solidFill>
                <a:latin typeface="Inconsolata"/>
              </a:rPr>
              <a:t>is</a:t>
            </a:r>
            <a:r>
              <a:rPr sz="729" i="0">
                <a:solidFill>
                  <a:srgbClr val="E6EDF3"/>
                </a:solidFill>
                <a:latin typeface="Inconsolata"/>
              </a:rPr>
              <a:t> </a:t>
            </a:r>
            <a:r>
              <a:rPr sz="729" i="0">
                <a:solidFill>
                  <a:srgbClr val="FF8E6E"/>
                </a:solidFill>
                <a:latin typeface="Inconsolata"/>
              </a:rPr>
              <a:t>None</a:t>
            </a:r>
            <a:r>
              <a:rPr sz="729" i="0">
                <a:solidFill>
                  <a:srgbClr val="E6EDF3"/>
                </a:solidFill>
                <a:latin typeface="Inconsolata"/>
              </a:rPr>
              <a:t>:</a:t>
            </a:r>
          </a:p>
          <a:p>
            <a:pPr>
              <a:lnSpc>
                <a:spcPct val="102868"/>
              </a:lnSpc>
              <a:spcAft>
                <a:spcPts val="0"/>
              </a:spcAft>
            </a:pPr>
            <a:r>
              <a:rPr sz="729" i="0">
                <a:solidFill>
                  <a:srgbClr val="5C6773"/>
                </a:solidFill>
                <a:latin typeface="Inconsolata"/>
              </a:rPr>
              <a:t>36  </a:t>
            </a:r>
            <a:r>
              <a:rPr sz="729" i="0">
                <a:solidFill>
                  <a:srgbClr val="E6EDF3"/>
                </a:solidFill>
                <a:latin typeface="Inconsolata"/>
              </a:rPr>
              <a:t>                </a:t>
            </a:r>
            <a:r>
              <a:rPr sz="729" i="0">
                <a:solidFill>
                  <a:srgbClr val="FF8E6E"/>
                </a:solidFill>
                <a:latin typeface="Inconsolata"/>
              </a:rPr>
              <a:t>break</a:t>
            </a:r>
          </a:p>
          <a:p>
            <a:pPr>
              <a:lnSpc>
                <a:spcPct val="102868"/>
              </a:lnSpc>
              <a:spcAft>
                <a:spcPts val="0"/>
              </a:spcAft>
            </a:pPr>
            <a:r>
              <a:rPr sz="729" i="0">
                <a:solidFill>
                  <a:srgbClr val="5C6773"/>
                </a:solidFill>
                <a:latin typeface="Inconsolata"/>
              </a:rPr>
              <a:t>37  </a:t>
            </a:r>
            <a:r>
              <a:rPr sz="729" i="0">
                <a:solidFill>
                  <a:srgbClr val="E6EDF3"/>
                </a:solidFill>
                <a:latin typeface="Inconsolata"/>
              </a:rPr>
              <a:t>            </a:t>
            </a:r>
            <a:r>
              <a:rPr sz="729" i="0">
                <a:solidFill>
                  <a:srgbClr val="FF8E6E"/>
                </a:solidFill>
                <a:latin typeface="Inconsolata"/>
              </a:rPr>
              <a:t>if</a:t>
            </a:r>
            <a:r>
              <a:rPr sz="729" i="0">
                <a:solidFill>
                  <a:srgbClr val="E6EDF3"/>
                </a:solidFill>
                <a:latin typeface="Inconsolata"/>
              </a:rPr>
              <a:t> method.redelivered:</a:t>
            </a:r>
          </a:p>
          <a:p>
            <a:pPr>
              <a:lnSpc>
                <a:spcPct val="102868"/>
              </a:lnSpc>
              <a:spcAft>
                <a:spcPts val="0"/>
              </a:spcAft>
            </a:pPr>
            <a:r>
              <a:rPr sz="729" i="0">
                <a:solidFill>
                  <a:srgbClr val="5C6773"/>
                </a:solidFill>
                <a:latin typeface="Inconsolata"/>
              </a:rPr>
              <a:t>38  </a:t>
            </a:r>
            <a:r>
              <a:rPr sz="729" i="0">
                <a:solidFill>
                  <a:srgbClr val="E6EDF3"/>
                </a:solidFill>
                <a:latin typeface="Inconsolata"/>
              </a:rPr>
              <a:t>                </a:t>
            </a:r>
            <a:r>
              <a:rPr sz="729" i="0">
                <a:solidFill>
                  <a:srgbClr val="C3A6FF"/>
                </a:solidFill>
                <a:latin typeface="Inconsolata"/>
              </a:rPr>
              <a:t>print</a:t>
            </a:r>
            <a:r>
              <a:rPr sz="729" i="0">
                <a:solidFill>
                  <a:srgbClr val="E6EDF3"/>
                </a:solidFill>
                <a:latin typeface="Inconsolata"/>
              </a:rPr>
              <a:t>(</a:t>
            </a:r>
            <a:r>
              <a:rPr sz="729" i="0">
                <a:solidFill>
                  <a:srgbClr val="A5D6A7"/>
                </a:solidFill>
                <a:latin typeface="Inconsolata"/>
              </a:rPr>
              <a:t>"  (pesan ini pernah dikirim sebelumnya)"</a:t>
            </a:r>
            <a:r>
              <a:rPr sz="729" i="0">
                <a:solidFill>
                  <a:srgbClr val="E6EDF3"/>
                </a:solidFill>
                <a:latin typeface="Inconsolata"/>
              </a:rPr>
              <a:t>)</a:t>
            </a:r>
          </a:p>
          <a:p>
            <a:pPr>
              <a:lnSpc>
                <a:spcPct val="102868"/>
              </a:lnSpc>
              <a:spcAft>
                <a:spcPts val="0"/>
              </a:spcAft>
            </a:pPr>
            <a:r>
              <a:rPr sz="729" i="0">
                <a:solidFill>
                  <a:srgbClr val="5C6773"/>
                </a:solidFill>
                <a:latin typeface="Inconsolata"/>
              </a:rPr>
              <a:t>39  </a:t>
            </a:r>
            <a:r>
              <a:rPr sz="729" i="0">
                <a:solidFill>
                  <a:srgbClr val="E6EDF3"/>
                </a:solidFill>
                <a:latin typeface="Inconsolata"/>
              </a:rPr>
              <a:t>            send_email(json.loads(body), crash_on)</a:t>
            </a:r>
          </a:p>
          <a:p>
            <a:pPr>
              <a:lnSpc>
                <a:spcPct val="102868"/>
              </a:lnSpc>
              <a:spcAft>
                <a:spcPts val="0"/>
              </a:spcAft>
            </a:pPr>
            <a:r>
              <a:rPr sz="729" i="0">
                <a:solidFill>
                  <a:srgbClr val="5C6773"/>
                </a:solidFill>
                <a:latin typeface="Inconsolata"/>
              </a:rPr>
              <a:t>40  </a:t>
            </a:r>
            <a:r>
              <a:rPr sz="729" i="0">
                <a:solidFill>
                  <a:srgbClr val="E6EDF3"/>
                </a:solidFill>
                <a:latin typeface="Inconsolata"/>
              </a:rPr>
              <a:t>            </a:t>
            </a:r>
            <a:r>
              <a:rPr sz="729" i="1">
                <a:solidFill>
                  <a:srgbClr val="8B98A8"/>
                </a:solidFill>
                <a:latin typeface="Inconsolata"/>
              </a:rPr>
              <a:t># proses selesai, baru pesan boleh dihapus</a:t>
            </a:r>
          </a:p>
          <a:p>
            <a:pPr>
              <a:lnSpc>
                <a:spcPct val="102868"/>
              </a:lnSpc>
              <a:spcAft>
                <a:spcPts val="0"/>
              </a:spcAft>
            </a:pPr>
            <a:r>
              <a:rPr sz="729" i="0">
                <a:solidFill>
                  <a:srgbClr val="5C6773"/>
                </a:solidFill>
                <a:latin typeface="Inconsolata"/>
              </a:rPr>
              <a:t>41  </a:t>
            </a:r>
            <a:r>
              <a:rPr sz="729" i="0">
                <a:solidFill>
                  <a:srgbClr val="E6EDF3"/>
                </a:solidFill>
                <a:latin typeface="Inconsolata"/>
              </a:rPr>
              <a:t>            channel.basic_ack(method.delivery_tag)</a:t>
            </a:r>
          </a:p>
          <a:p>
            <a:pPr>
              <a:lnSpc>
                <a:spcPct val="102868"/>
              </a:lnSpc>
              <a:spcAft>
                <a:spcPts val="0"/>
              </a:spcAft>
            </a:pPr>
            <a:r>
              <a:rPr sz="729" i="0">
                <a:solidFill>
                  <a:srgbClr val="5C6773"/>
                </a:solidFill>
                <a:latin typeface="Inconsolata"/>
              </a:rPr>
              <a:t>42  </a:t>
            </a:r>
            <a:r>
              <a:rPr sz="729" i="0">
                <a:solidFill>
                  <a:srgbClr val="E6EDF3"/>
                </a:solidFill>
                <a:latin typeface="Inconsolata"/>
              </a:rPr>
              <a:t>            processed += </a:t>
            </a:r>
            <a:r>
              <a:rPr sz="729" i="0">
                <a:solidFill>
                  <a:srgbClr val="F9C97A"/>
                </a:solidFill>
                <a:latin typeface="Inconsolata"/>
              </a:rPr>
              <a:t>1</a:t>
            </a:r>
          </a:p>
          <a:p>
            <a:pPr>
              <a:lnSpc>
                <a:spcPct val="102868"/>
              </a:lnSpc>
              <a:spcAft>
                <a:spcPts val="0"/>
              </a:spcAft>
            </a:pPr>
            <a:r>
              <a:rPr sz="729" i="0">
                <a:solidFill>
                  <a:srgbClr val="5C6773"/>
                </a:solidFill>
                <a:latin typeface="Inconsolata"/>
              </a:rPr>
              <a:t>43  </a:t>
            </a:r>
            <a:r>
              <a:rPr sz="729" i="0">
                <a:solidFill>
                  <a:srgbClr val="E6EDF3"/>
                </a:solidFill>
                <a:latin typeface="Inconsolata"/>
              </a:rPr>
              <a:t>    </a:t>
            </a:r>
            <a:r>
              <a:rPr sz="729" i="0">
                <a:solidFill>
                  <a:srgbClr val="FF8E6E"/>
                </a:solidFill>
                <a:latin typeface="Inconsolata"/>
              </a:rPr>
              <a:t>return</a:t>
            </a:r>
            <a:r>
              <a:rPr sz="729" i="0">
                <a:solidFill>
                  <a:srgbClr val="E6EDF3"/>
                </a:solidFill>
                <a:latin typeface="Inconsolata"/>
              </a:rPr>
              <a:t> processed</a:t>
            </a:r>
          </a:p>
        </p:txBody>
      </p:sp>
      <p:sp>
        <p:nvSpPr>
          <p:cNvPr id="36" name="Box 21"/>
          <p:cNvSpPr/>
          <p:nvPr/>
        </p:nvSpPr>
        <p:spPr>
          <a:xfrm>
            <a:off x="4709159" y="2282571"/>
            <a:ext cx="3694176" cy="336042"/>
          </a:xfrm>
          <a:prstGeom prst="roundRect">
            <a:avLst>
              <a:gd name="adj" fmla="val 13605"/>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8284463" y="233172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3311271"/>
            <a:ext cx="3694176" cy="107442"/>
          </a:xfrm>
          <a:prstGeom prst="roundRect">
            <a:avLst>
              <a:gd name="adj" fmla="val 42553"/>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324612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2854071"/>
            <a:ext cx="3694176" cy="107442"/>
          </a:xfrm>
          <a:prstGeom prst="roundRect">
            <a:avLst>
              <a:gd name="adj" fmla="val 42553"/>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278892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Ack</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ack manual dan prefetch (2/2)</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03-ack/after.py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46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publish_orders</a:t>
            </a:r>
            <a:r>
              <a:rPr sz="760" i="0">
                <a:solidFill>
                  <a:srgbClr val="E6EDF3"/>
                </a:solidFill>
                <a:latin typeface="Inconsolata"/>
              </a:rPr>
              <a:t>():</a:t>
            </a:r>
          </a:p>
          <a:p>
            <a:pPr>
              <a:lnSpc>
                <a:spcPct val="109601"/>
              </a:lnSpc>
              <a:spcAft>
                <a:spcPts val="0"/>
              </a:spcAft>
            </a:pPr>
            <a:r>
              <a:rPr sz="760" i="0">
                <a:solidFill>
                  <a:srgbClr val="5C6773"/>
                </a:solidFill>
                <a:latin typeface="Inconsolata"/>
              </a:rPr>
              <a:t>47  </a:t>
            </a:r>
            <a:r>
              <a:rPr sz="760" i="0">
                <a:solidFill>
                  <a:srgbClr val="E6EDF3"/>
                </a:solidFill>
                <a:latin typeface="Inconsolata"/>
              </a:rPr>
              <a:t>    </a:t>
            </a:r>
            <a:r>
              <a:rPr sz="760" i="0">
                <a:solidFill>
                  <a:srgbClr val="FF8E6E"/>
                </a:solidFill>
                <a:latin typeface="Inconsolata"/>
              </a:rPr>
              <a:t>with</a:t>
            </a:r>
            <a:r>
              <a:rPr sz="760" i="0">
                <a:solidFill>
                  <a:srgbClr val="E6EDF3"/>
                </a:solidFill>
                <a:latin typeface="Inconsolata"/>
              </a:rPr>
              <a:t> pika.</a:t>
            </a:r>
            <a:r>
              <a:rPr sz="760" i="0">
                <a:solidFill>
                  <a:srgbClr val="7FDBCA"/>
                </a:solidFill>
                <a:latin typeface="Inconsolata"/>
              </a:rPr>
              <a:t>BlockingConnection</a:t>
            </a:r>
            <a:r>
              <a:rPr sz="760" i="0">
                <a:solidFill>
                  <a:srgbClr val="E6EDF3"/>
                </a:solidFill>
                <a:latin typeface="Inconsolata"/>
              </a:rPr>
              <a:t>(pika.</a:t>
            </a:r>
            <a:r>
              <a:rPr sz="760" i="0">
                <a:solidFill>
                  <a:srgbClr val="7FDBCA"/>
                </a:solidFill>
                <a:latin typeface="Inconsolata"/>
              </a:rPr>
              <a:t>URLParameters</a:t>
            </a:r>
            <a:r>
              <a:rPr sz="760" i="0">
                <a:solidFill>
                  <a:srgbClr val="E6EDF3"/>
                </a:solidFill>
                <a:latin typeface="Inconsolata"/>
              </a:rPr>
              <a:t>(</a:t>
            </a:r>
            <a:r>
              <a:rPr sz="760" i="0">
                <a:solidFill>
                  <a:srgbClr val="7FDBCA"/>
                </a:solidFill>
                <a:latin typeface="Inconsolata"/>
              </a:rPr>
              <a:t>URL</a:t>
            </a:r>
            <a:r>
              <a:rPr sz="760" i="0">
                <a:solidFill>
                  <a:srgbClr val="E6EDF3"/>
                </a:solidFill>
                <a:latin typeface="Inconsolata"/>
              </a:rPr>
              <a:t>)) </a:t>
            </a:r>
            <a:r>
              <a:rPr sz="760" i="0">
                <a:solidFill>
                  <a:srgbClr val="FF8E6E"/>
                </a:solidFill>
                <a:latin typeface="Inconsolata"/>
              </a:rPr>
              <a:t>as</a:t>
            </a:r>
            <a:r>
              <a:rPr sz="760" i="0">
                <a:solidFill>
                  <a:srgbClr val="E6EDF3"/>
                </a:solidFill>
                <a:latin typeface="Inconsolata"/>
              </a:rPr>
              <a:t> conn:</a:t>
            </a:r>
          </a:p>
          <a:p>
            <a:pPr>
              <a:lnSpc>
                <a:spcPct val="109601"/>
              </a:lnSpc>
              <a:spcAft>
                <a:spcPts val="0"/>
              </a:spcAft>
            </a:pPr>
            <a:r>
              <a:rPr sz="760" i="0">
                <a:solidFill>
                  <a:srgbClr val="5C6773"/>
                </a:solidFill>
                <a:latin typeface="Inconsolata"/>
              </a:rPr>
              <a:t>48  </a:t>
            </a:r>
            <a:r>
              <a:rPr sz="760" i="0">
                <a:solidFill>
                  <a:srgbClr val="E6EDF3"/>
                </a:solidFill>
                <a:latin typeface="Inconsolata"/>
              </a:rPr>
              <a:t>        channel = conn.channel()</a:t>
            </a:r>
          </a:p>
          <a:p>
            <a:pPr>
              <a:lnSpc>
                <a:spcPct val="109601"/>
              </a:lnSpc>
              <a:spcAft>
                <a:spcPts val="0"/>
              </a:spcAft>
            </a:pPr>
            <a:r>
              <a:rPr sz="760" i="0">
                <a:solidFill>
                  <a:srgbClr val="5C6773"/>
                </a:solidFill>
                <a:latin typeface="Inconsolata"/>
              </a:rPr>
              <a:t>49  </a:t>
            </a:r>
            <a:r>
              <a:rPr sz="760" i="0">
                <a:solidFill>
                  <a:srgbClr val="E6EDF3"/>
                </a:solidFill>
                <a:latin typeface="Inconsolata"/>
              </a:rPr>
              <a:t>        channel.confirm_delivery()</a:t>
            </a:r>
          </a:p>
          <a:p>
            <a:pPr>
              <a:lnSpc>
                <a:spcPct val="109601"/>
              </a:lnSpc>
              <a:spcAft>
                <a:spcPts val="0"/>
              </a:spcAft>
            </a:pPr>
            <a:r>
              <a:rPr sz="760" i="0">
                <a:solidFill>
                  <a:srgbClr val="5C6773"/>
                </a:solidFill>
                <a:latin typeface="Inconsolata"/>
              </a:rPr>
              <a:t>50  </a:t>
            </a:r>
            <a:r>
              <a:rPr sz="760" i="0">
                <a:solidFill>
                  <a:srgbClr val="E6EDF3"/>
                </a:solidFill>
                <a:latin typeface="Inconsolata"/>
              </a:rPr>
              <a:t>        channel.queue_delete(</a:t>
            </a:r>
            <a:r>
              <a:rPr sz="760" i="0">
                <a:solidFill>
                  <a:srgbClr val="A5D6A7"/>
                </a:solidFill>
                <a:latin typeface="Inconsolata"/>
              </a:rPr>
              <a:t>"email"</a:t>
            </a:r>
            <a:r>
              <a:rPr sz="760" i="0">
                <a:solidFill>
                  <a:srgbClr val="E6EDF3"/>
                </a:solidFill>
                <a:latin typeface="Inconsolata"/>
              </a:rPr>
              <a:t>)          </a:t>
            </a:r>
            <a:r>
              <a:rPr sz="760" i="1">
                <a:solidFill>
                  <a:srgbClr val="8B98A8"/>
                </a:solidFill>
                <a:latin typeface="Inconsolata"/>
              </a:rPr>
              <a:t># mulai dari kosong</a:t>
            </a:r>
          </a:p>
          <a:p>
            <a:pPr>
              <a:lnSpc>
                <a:spcPct val="109601"/>
              </a:lnSpc>
              <a:spcAft>
                <a:spcPts val="0"/>
              </a:spcAft>
            </a:pPr>
            <a:r>
              <a:rPr sz="760" i="0">
                <a:solidFill>
                  <a:srgbClr val="5C6773"/>
                </a:solidFill>
                <a:latin typeface="Inconsolata"/>
              </a:rPr>
              <a:t>51  </a:t>
            </a:r>
            <a:r>
              <a:rPr sz="760" i="0">
                <a:solidFill>
                  <a:srgbClr val="E6EDF3"/>
                </a:solidFill>
                <a:latin typeface="Inconsolata"/>
              </a:rPr>
              <a:t>        channel.queue_declare(</a:t>
            </a:r>
            <a:r>
              <a:rPr sz="760" i="0">
                <a:solidFill>
                  <a:srgbClr val="A5D6A7"/>
                </a:solidFill>
                <a:latin typeface="Inconsolata"/>
              </a:rPr>
              <a:t>"email"</a:t>
            </a:r>
            <a:r>
              <a:rPr sz="760" i="0">
                <a:solidFill>
                  <a:srgbClr val="E6EDF3"/>
                </a:solidFill>
                <a:latin typeface="Inconsolata"/>
              </a:rPr>
              <a:t>, durable=</a:t>
            </a:r>
            <a:r>
              <a:rPr sz="760" i="0">
                <a:solidFill>
                  <a:srgbClr val="FF8E6E"/>
                </a:solidFill>
                <a:latin typeface="Inconsolata"/>
              </a:rPr>
              <a:t>True</a:t>
            </a:r>
            <a:r>
              <a:rPr sz="760" i="0">
                <a:solidFill>
                  <a:srgbClr val="E6EDF3"/>
                </a:solidFill>
                <a:latin typeface="Inconsolata"/>
              </a:rPr>
              <a:t>)</a:t>
            </a:r>
          </a:p>
          <a:p>
            <a:pPr>
              <a:lnSpc>
                <a:spcPct val="109601"/>
              </a:lnSpc>
              <a:spcAft>
                <a:spcPts val="0"/>
              </a:spcAft>
            </a:pPr>
            <a:r>
              <a:rPr sz="760" i="0">
                <a:solidFill>
                  <a:srgbClr val="5C6773"/>
                </a:solidFill>
                <a:latin typeface="Inconsolata"/>
              </a:rPr>
              <a:t>52  </a:t>
            </a:r>
            <a:r>
              <a:rPr sz="760" i="0">
                <a:solidFill>
                  <a:srgbClr val="E6EDF3"/>
                </a:solidFill>
                <a:latin typeface="Inconsolata"/>
              </a:rPr>
              <a:t>        </a:t>
            </a:r>
            <a:r>
              <a:rPr sz="760" i="0">
                <a:solidFill>
                  <a:srgbClr val="FF8E6E"/>
                </a:solidFill>
                <a:latin typeface="Inconsolata"/>
              </a:rPr>
              <a:t>for</a:t>
            </a:r>
            <a:r>
              <a:rPr sz="760" i="0">
                <a:solidFill>
                  <a:srgbClr val="E6EDF3"/>
                </a:solidFill>
                <a:latin typeface="Inconsolata"/>
              </a:rPr>
              <a:t> order_id </a:t>
            </a:r>
            <a:r>
              <a:rPr sz="760" i="0">
                <a:solidFill>
                  <a:srgbClr val="FF8E6E"/>
                </a:solidFill>
                <a:latin typeface="Inconsolata"/>
              </a:rPr>
              <a:t>in</a:t>
            </a:r>
            <a:r>
              <a:rPr sz="760" i="0">
                <a:solidFill>
                  <a:srgbClr val="E6EDF3"/>
                </a:solidFill>
                <a:latin typeface="Inconsolata"/>
              </a:rPr>
              <a:t> (</a:t>
            </a:r>
            <a:r>
              <a:rPr sz="760" i="0">
                <a:solidFill>
                  <a:srgbClr val="F9C97A"/>
                </a:solidFill>
                <a:latin typeface="Inconsolata"/>
              </a:rPr>
              <a:t>1</a:t>
            </a:r>
            <a:r>
              <a:rPr sz="760" i="0">
                <a:solidFill>
                  <a:srgbClr val="E6EDF3"/>
                </a:solidFill>
                <a:latin typeface="Inconsolata"/>
              </a:rPr>
              <a:t>, </a:t>
            </a:r>
            <a:r>
              <a:rPr sz="760" i="0">
                <a:solidFill>
                  <a:srgbClr val="F9C97A"/>
                </a:solidFill>
                <a:latin typeface="Inconsolata"/>
              </a:rPr>
              <a:t>2</a:t>
            </a:r>
            <a:r>
              <a:rPr sz="760" i="0">
                <a:solidFill>
                  <a:srgbClr val="E6EDF3"/>
                </a:solidFill>
                <a:latin typeface="Inconsolata"/>
              </a:rPr>
              <a:t>, </a:t>
            </a:r>
            <a:r>
              <a:rPr sz="760" i="0">
                <a:solidFill>
                  <a:srgbClr val="F9C97A"/>
                </a:solidFill>
                <a:latin typeface="Inconsolata"/>
              </a:rPr>
              <a:t>3</a:t>
            </a:r>
            <a:r>
              <a:rPr sz="760" i="0">
                <a:solidFill>
                  <a:srgbClr val="E6EDF3"/>
                </a:solidFill>
                <a:latin typeface="Inconsolata"/>
              </a:rPr>
              <a:t>):</a:t>
            </a:r>
          </a:p>
          <a:p>
            <a:pPr>
              <a:lnSpc>
                <a:spcPct val="109601"/>
              </a:lnSpc>
              <a:spcAft>
                <a:spcPts val="0"/>
              </a:spcAft>
            </a:pPr>
            <a:r>
              <a:rPr sz="760" i="0">
                <a:solidFill>
                  <a:srgbClr val="5C6773"/>
                </a:solidFill>
                <a:latin typeface="Inconsolata"/>
              </a:rPr>
              <a:t>53  </a:t>
            </a:r>
            <a:r>
              <a:rPr sz="760" i="0">
                <a:solidFill>
                  <a:srgbClr val="E6EDF3"/>
                </a:solidFill>
                <a:latin typeface="Inconsolata"/>
              </a:rPr>
              <a:t>            body = json.dumps({</a:t>
            </a:r>
            <a:r>
              <a:rPr sz="760" i="0">
                <a:solidFill>
                  <a:srgbClr val="A5D6A7"/>
                </a:solidFill>
                <a:latin typeface="Inconsolata"/>
              </a:rPr>
              <a:t>"order_id"</a:t>
            </a:r>
            <a:r>
              <a:rPr sz="760" i="0">
                <a:solidFill>
                  <a:srgbClr val="E6EDF3"/>
                </a:solidFill>
                <a:latin typeface="Inconsolata"/>
              </a:rPr>
              <a:t>: order_id})</a:t>
            </a:r>
          </a:p>
          <a:p>
            <a:pPr>
              <a:lnSpc>
                <a:spcPct val="109601"/>
              </a:lnSpc>
              <a:spcAft>
                <a:spcPts val="0"/>
              </a:spcAft>
            </a:pPr>
            <a:r>
              <a:rPr sz="760" i="0">
                <a:solidFill>
                  <a:srgbClr val="5C6773"/>
                </a:solidFill>
                <a:latin typeface="Inconsolata"/>
              </a:rPr>
              <a:t>54  </a:t>
            </a:r>
            <a:r>
              <a:rPr sz="760" i="0">
                <a:solidFill>
                  <a:srgbClr val="E6EDF3"/>
                </a:solidFill>
                <a:latin typeface="Inconsolata"/>
              </a:rPr>
              <a:t>            channel.basic_publish(</a:t>
            </a:r>
            <a:r>
              <a:rPr sz="760" i="0">
                <a:solidFill>
                  <a:srgbClr val="A5D6A7"/>
                </a:solidFill>
                <a:latin typeface="Inconsolata"/>
              </a:rPr>
              <a:t>""</a:t>
            </a:r>
            <a:r>
              <a:rPr sz="760" i="0">
                <a:solidFill>
                  <a:srgbClr val="E6EDF3"/>
                </a:solidFill>
                <a:latin typeface="Inconsolata"/>
              </a:rPr>
              <a:t>, </a:t>
            </a:r>
            <a:r>
              <a:rPr sz="760" i="0">
                <a:solidFill>
                  <a:srgbClr val="A5D6A7"/>
                </a:solidFill>
                <a:latin typeface="Inconsolata"/>
              </a:rPr>
              <a:t>"email"</a:t>
            </a:r>
            <a:r>
              <a:rPr sz="760" i="0">
                <a:solidFill>
                  <a:srgbClr val="E6EDF3"/>
                </a:solidFill>
                <a:latin typeface="Inconsolata"/>
              </a:rPr>
              <a:t>, body)</a:t>
            </a:r>
          </a:p>
          <a:p>
            <a:pPr>
              <a:lnSpc>
                <a:spcPct val="109601"/>
              </a:lnSpc>
              <a:spcAft>
                <a:spcPts val="0"/>
              </a:spcAft>
            </a:pPr>
            <a:r>
              <a:rPr sz="760" i="0">
                <a:solidFill>
                  <a:srgbClr val="5C6773"/>
                </a:solidFill>
                <a:latin typeface="Inconsolata"/>
              </a:rPr>
              <a:t>55  </a:t>
            </a:r>
            <a:r>
              <a:rPr sz="760" i="0">
                <a:solidFill>
                  <a:srgbClr val="E6EDF3"/>
                </a:solidFill>
                <a:latin typeface="Inconsolata"/>
              </a:rPr>
              <a:t> </a:t>
            </a:r>
          </a:p>
          <a:p>
            <a:pPr>
              <a:lnSpc>
                <a:spcPct val="109601"/>
              </a:lnSpc>
              <a:spcAft>
                <a:spcPts val="0"/>
              </a:spcAft>
            </a:pPr>
            <a:r>
              <a:rPr sz="760" i="0">
                <a:solidFill>
                  <a:srgbClr val="5C6773"/>
                </a:solidFill>
                <a:latin typeface="Inconsolata"/>
              </a:rPr>
              <a:t>56  </a:t>
            </a:r>
            <a:r>
              <a:rPr sz="760" i="0">
                <a:solidFill>
                  <a:srgbClr val="E6EDF3"/>
                </a:solidFill>
                <a:latin typeface="Inconsolata"/>
              </a:rPr>
              <a:t> </a:t>
            </a:r>
          </a:p>
          <a:p>
            <a:pPr>
              <a:lnSpc>
                <a:spcPct val="109601"/>
              </a:lnSpc>
              <a:spcAft>
                <a:spcPts val="0"/>
              </a:spcAft>
            </a:pPr>
            <a:r>
              <a:rPr sz="760" i="0">
                <a:solidFill>
                  <a:srgbClr val="5C6773"/>
                </a:solidFill>
                <a:latin typeface="Inconsolata"/>
              </a:rPr>
              <a:t>57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count</a:t>
            </a:r>
            <a:r>
              <a:rPr sz="760" i="0">
                <a:solidFill>
                  <a:srgbClr val="E6EDF3"/>
                </a:solidFill>
                <a:latin typeface="Inconsolata"/>
              </a:rPr>
              <a:t>() -&gt; </a:t>
            </a:r>
            <a:r>
              <a:rPr sz="760" i="0">
                <a:solidFill>
                  <a:srgbClr val="C3A6FF"/>
                </a:solidFill>
                <a:latin typeface="Inconsolata"/>
              </a:rPr>
              <a:t>int</a:t>
            </a:r>
            <a:r>
              <a:rPr sz="760" i="0">
                <a:solidFill>
                  <a:srgbClr val="E6EDF3"/>
                </a:solidFill>
                <a:latin typeface="Inconsolata"/>
              </a:rPr>
              <a:t>:</a:t>
            </a:r>
          </a:p>
          <a:p>
            <a:pPr>
              <a:lnSpc>
                <a:spcPct val="109601"/>
              </a:lnSpc>
              <a:spcAft>
                <a:spcPts val="0"/>
              </a:spcAft>
            </a:pPr>
            <a:r>
              <a:rPr sz="760" i="0">
                <a:solidFill>
                  <a:srgbClr val="5C6773"/>
                </a:solidFill>
                <a:latin typeface="Inconsolata"/>
              </a:rPr>
              <a:t>58  </a:t>
            </a:r>
            <a:r>
              <a:rPr sz="760" i="0">
                <a:solidFill>
                  <a:srgbClr val="E6EDF3"/>
                </a:solidFill>
                <a:latin typeface="Inconsolata"/>
              </a:rPr>
              <a:t>    </a:t>
            </a:r>
            <a:r>
              <a:rPr sz="760" i="0">
                <a:solidFill>
                  <a:srgbClr val="FF8E6E"/>
                </a:solidFill>
                <a:latin typeface="Inconsolata"/>
              </a:rPr>
              <a:t>with</a:t>
            </a:r>
            <a:r>
              <a:rPr sz="760" i="0">
                <a:solidFill>
                  <a:srgbClr val="E6EDF3"/>
                </a:solidFill>
                <a:latin typeface="Inconsolata"/>
              </a:rPr>
              <a:t> pika.</a:t>
            </a:r>
            <a:r>
              <a:rPr sz="760" i="0">
                <a:solidFill>
                  <a:srgbClr val="7FDBCA"/>
                </a:solidFill>
                <a:latin typeface="Inconsolata"/>
              </a:rPr>
              <a:t>BlockingConnection</a:t>
            </a:r>
            <a:r>
              <a:rPr sz="760" i="0">
                <a:solidFill>
                  <a:srgbClr val="E6EDF3"/>
                </a:solidFill>
                <a:latin typeface="Inconsolata"/>
              </a:rPr>
              <a:t>(pika.</a:t>
            </a:r>
            <a:r>
              <a:rPr sz="760" i="0">
                <a:solidFill>
                  <a:srgbClr val="7FDBCA"/>
                </a:solidFill>
                <a:latin typeface="Inconsolata"/>
              </a:rPr>
              <a:t>URLParameters</a:t>
            </a:r>
            <a:r>
              <a:rPr sz="760" i="0">
                <a:solidFill>
                  <a:srgbClr val="E6EDF3"/>
                </a:solidFill>
                <a:latin typeface="Inconsolata"/>
              </a:rPr>
              <a:t>(</a:t>
            </a:r>
            <a:r>
              <a:rPr sz="760" i="0">
                <a:solidFill>
                  <a:srgbClr val="7FDBCA"/>
                </a:solidFill>
                <a:latin typeface="Inconsolata"/>
              </a:rPr>
              <a:t>URL</a:t>
            </a:r>
            <a:r>
              <a:rPr sz="760" i="0">
                <a:solidFill>
                  <a:srgbClr val="E6EDF3"/>
                </a:solidFill>
                <a:latin typeface="Inconsolata"/>
              </a:rPr>
              <a:t>)) </a:t>
            </a:r>
            <a:r>
              <a:rPr sz="760" i="0">
                <a:solidFill>
                  <a:srgbClr val="FF8E6E"/>
                </a:solidFill>
                <a:latin typeface="Inconsolata"/>
              </a:rPr>
              <a:t>as</a:t>
            </a:r>
            <a:r>
              <a:rPr sz="760" i="0">
                <a:solidFill>
                  <a:srgbClr val="E6EDF3"/>
                </a:solidFill>
                <a:latin typeface="Inconsolata"/>
              </a:rPr>
              <a:t> conn:</a:t>
            </a:r>
          </a:p>
          <a:p>
            <a:pPr>
              <a:lnSpc>
                <a:spcPct val="109601"/>
              </a:lnSpc>
              <a:spcAft>
                <a:spcPts val="0"/>
              </a:spcAft>
            </a:pPr>
            <a:r>
              <a:rPr sz="760" i="0">
                <a:solidFill>
                  <a:srgbClr val="5C6773"/>
                </a:solidFill>
                <a:latin typeface="Inconsolata"/>
              </a:rPr>
              <a:t>59  </a:t>
            </a:r>
            <a:r>
              <a:rPr sz="760" i="0">
                <a:solidFill>
                  <a:srgbClr val="E6EDF3"/>
                </a:solidFill>
                <a:latin typeface="Inconsolata"/>
              </a:rPr>
              <a:t>        info = conn.channel().queue_declare(</a:t>
            </a:r>
            <a:r>
              <a:rPr sz="760" i="0">
                <a:solidFill>
                  <a:srgbClr val="A5D6A7"/>
                </a:solidFill>
                <a:latin typeface="Inconsolata"/>
              </a:rPr>
              <a:t>"email"</a:t>
            </a:r>
            <a:r>
              <a:rPr sz="760" i="0">
                <a:solidFill>
                  <a:srgbClr val="E6EDF3"/>
                </a:solidFill>
                <a:latin typeface="Inconsolata"/>
              </a:rPr>
              <a:t>, passive=</a:t>
            </a:r>
            <a:r>
              <a:rPr sz="760" i="0">
                <a:solidFill>
                  <a:srgbClr val="FF8E6E"/>
                </a:solidFill>
                <a:latin typeface="Inconsolata"/>
              </a:rPr>
              <a:t>True</a:t>
            </a:r>
            <a:r>
              <a:rPr sz="760" i="0">
                <a:solidFill>
                  <a:srgbClr val="E6EDF3"/>
                </a:solidFill>
                <a:latin typeface="Inconsolata"/>
              </a:rPr>
              <a:t>)</a:t>
            </a:r>
          </a:p>
          <a:p>
            <a:pPr>
              <a:lnSpc>
                <a:spcPct val="109601"/>
              </a:lnSpc>
              <a:spcAft>
                <a:spcPts val="0"/>
              </a:spcAft>
            </a:pPr>
            <a:r>
              <a:rPr sz="760" i="0">
                <a:solidFill>
                  <a:srgbClr val="5C6773"/>
                </a:solidFill>
                <a:latin typeface="Inconsolata"/>
              </a:rPr>
              <a:t>60  </a:t>
            </a:r>
            <a:r>
              <a:rPr sz="760" i="0">
                <a:solidFill>
                  <a:srgbClr val="E6EDF3"/>
                </a:solidFill>
                <a:latin typeface="Inconsolata"/>
              </a:rPr>
              <a:t>        </a:t>
            </a:r>
            <a:r>
              <a:rPr sz="760" i="0">
                <a:solidFill>
                  <a:srgbClr val="FF8E6E"/>
                </a:solidFill>
                <a:latin typeface="Inconsolata"/>
              </a:rPr>
              <a:t>return</a:t>
            </a:r>
            <a:r>
              <a:rPr sz="760" i="0">
                <a:solidFill>
                  <a:srgbClr val="E6EDF3"/>
                </a:solidFill>
                <a:latin typeface="Inconsolata"/>
              </a:rPr>
              <a:t> info.method.message_count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03-ack/after.py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63  </a:t>
            </a:r>
            <a:r>
              <a:rPr sz="760" i="0">
                <a:solidFill>
                  <a:srgbClr val="FF8E6E"/>
                </a:solidFill>
                <a:latin typeface="Inconsolata"/>
              </a:rPr>
              <a:t>if</a:t>
            </a:r>
            <a:r>
              <a:rPr sz="760" i="0">
                <a:solidFill>
                  <a:srgbClr val="E6EDF3"/>
                </a:solidFill>
                <a:latin typeface="Inconsolata"/>
              </a:rPr>
              <a:t> __name__ == </a:t>
            </a:r>
            <a:r>
              <a:rPr sz="760" i="0">
                <a:solidFill>
                  <a:srgbClr val="A5D6A7"/>
                </a:solidFill>
                <a:latin typeface="Inconsolata"/>
              </a:rPr>
              <a:t>"__main__"</a:t>
            </a:r>
            <a:r>
              <a:rPr sz="760" i="0">
                <a:solidFill>
                  <a:srgbClr val="E6EDF3"/>
                </a:solidFill>
                <a:latin typeface="Inconsolata"/>
              </a:rPr>
              <a:t>:</a:t>
            </a:r>
          </a:p>
          <a:p>
            <a:pPr>
              <a:lnSpc>
                <a:spcPct val="109601"/>
              </a:lnSpc>
              <a:spcAft>
                <a:spcPts val="0"/>
              </a:spcAft>
            </a:pPr>
            <a:r>
              <a:rPr sz="760" i="0">
                <a:solidFill>
                  <a:srgbClr val="5C6773"/>
                </a:solidFill>
                <a:latin typeface="Inconsolata"/>
              </a:rPr>
              <a:t>64  </a:t>
            </a:r>
            <a:r>
              <a:rPr sz="760" i="0">
                <a:solidFill>
                  <a:srgbClr val="E6EDF3"/>
                </a:solidFill>
                <a:latin typeface="Inconsolata"/>
              </a:rPr>
              <a:t>    publish_orders()</a:t>
            </a:r>
          </a:p>
          <a:p>
            <a:pPr>
              <a:lnSpc>
                <a:spcPct val="109601"/>
              </a:lnSpc>
              <a:spcAft>
                <a:spcPts val="0"/>
              </a:spcAft>
            </a:pPr>
            <a:r>
              <a:rPr sz="760" i="0">
                <a:solidFill>
                  <a:srgbClr val="5C6773"/>
                </a:solidFill>
                <a:latin typeface="Inconsolata"/>
              </a:rPr>
              <a:t>65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f"Pesan di queue: {count()}"</a:t>
            </a:r>
            <a:r>
              <a:rPr sz="760" i="0">
                <a:solidFill>
                  <a:srgbClr val="E6EDF3"/>
                </a:solidFill>
                <a:latin typeface="Inconsolata"/>
              </a:rPr>
              <a:t>)</a:t>
            </a:r>
          </a:p>
          <a:p>
            <a:pPr>
              <a:lnSpc>
                <a:spcPct val="109601"/>
              </a:lnSpc>
              <a:spcAft>
                <a:spcPts val="0"/>
              </a:spcAft>
            </a:pPr>
            <a:r>
              <a:rPr sz="760" i="0">
                <a:solidFill>
                  <a:srgbClr val="5C6773"/>
                </a:solidFill>
                <a:latin typeface="Inconsolata"/>
              </a:rPr>
              <a:t>66  </a:t>
            </a:r>
            <a:r>
              <a:rPr sz="760" i="0">
                <a:solidFill>
                  <a:srgbClr val="E6EDF3"/>
                </a:solidFill>
                <a:latin typeface="Inconsolata"/>
              </a:rPr>
              <a:t>    </a:t>
            </a:r>
            <a:r>
              <a:rPr sz="760" i="0">
                <a:solidFill>
                  <a:srgbClr val="FF8E6E"/>
                </a:solidFill>
                <a:latin typeface="Inconsolata"/>
              </a:rPr>
              <a:t>try</a:t>
            </a:r>
            <a:r>
              <a:rPr sz="760" i="0">
                <a:solidFill>
                  <a:srgbClr val="E6EDF3"/>
                </a:solidFill>
                <a:latin typeface="Inconsolata"/>
              </a:rPr>
              <a:t>:</a:t>
            </a:r>
          </a:p>
          <a:p>
            <a:pPr>
              <a:lnSpc>
                <a:spcPct val="109601"/>
              </a:lnSpc>
              <a:spcAft>
                <a:spcPts val="0"/>
              </a:spcAft>
            </a:pPr>
            <a:r>
              <a:rPr sz="760" i="0">
                <a:solidFill>
                  <a:srgbClr val="5C6773"/>
                </a:solidFill>
                <a:latin typeface="Inconsolata"/>
              </a:rPr>
              <a:t>67  </a:t>
            </a:r>
            <a:r>
              <a:rPr sz="760" i="0">
                <a:solidFill>
                  <a:srgbClr val="E6EDF3"/>
                </a:solidFill>
                <a:latin typeface="Inconsolata"/>
              </a:rPr>
              <a:t>        run_consumer(crash_on=</a:t>
            </a:r>
            <a:r>
              <a:rPr sz="760" i="0">
                <a:solidFill>
                  <a:srgbClr val="F9C97A"/>
                </a:solidFill>
                <a:latin typeface="Inconsolata"/>
              </a:rPr>
              <a:t>2</a:t>
            </a:r>
            <a:r>
              <a:rPr sz="760" i="0">
                <a:solidFill>
                  <a:srgbClr val="E6EDF3"/>
                </a:solidFill>
                <a:latin typeface="Inconsolata"/>
              </a:rPr>
              <a:t>)</a:t>
            </a:r>
          </a:p>
          <a:p>
            <a:pPr>
              <a:lnSpc>
                <a:spcPct val="109601"/>
              </a:lnSpc>
              <a:spcAft>
                <a:spcPts val="0"/>
              </a:spcAft>
            </a:pPr>
            <a:r>
              <a:rPr sz="760" i="0">
                <a:solidFill>
                  <a:srgbClr val="5C6773"/>
                </a:solidFill>
                <a:latin typeface="Inconsolata"/>
              </a:rPr>
              <a:t>68  </a:t>
            </a:r>
            <a:r>
              <a:rPr sz="760" i="0">
                <a:solidFill>
                  <a:srgbClr val="E6EDF3"/>
                </a:solidFill>
                <a:latin typeface="Inconsolata"/>
              </a:rPr>
              <a:t>    </a:t>
            </a:r>
            <a:r>
              <a:rPr sz="760" i="0">
                <a:solidFill>
                  <a:srgbClr val="FF8E6E"/>
                </a:solidFill>
                <a:latin typeface="Inconsolata"/>
              </a:rPr>
              <a:t>except</a:t>
            </a:r>
            <a:r>
              <a:rPr sz="760" i="0">
                <a:solidFill>
                  <a:srgbClr val="E6EDF3"/>
                </a:solidFill>
                <a:latin typeface="Inconsolata"/>
              </a:rPr>
              <a:t> </a:t>
            </a:r>
            <a:r>
              <a:rPr sz="760" i="0">
                <a:solidFill>
                  <a:srgbClr val="7FDBCA"/>
                </a:solidFill>
                <a:latin typeface="Inconsolata"/>
              </a:rPr>
              <a:t>RuntimeError</a:t>
            </a:r>
            <a:r>
              <a:rPr sz="760" i="0">
                <a:solidFill>
                  <a:srgbClr val="E6EDF3"/>
                </a:solidFill>
                <a:latin typeface="Inconsolata"/>
              </a:rPr>
              <a:t> </a:t>
            </a:r>
            <a:r>
              <a:rPr sz="760" i="0">
                <a:solidFill>
                  <a:srgbClr val="FF8E6E"/>
                </a:solidFill>
                <a:latin typeface="Inconsolata"/>
              </a:rPr>
              <a:t>as</a:t>
            </a:r>
            <a:r>
              <a:rPr sz="760" i="0">
                <a:solidFill>
                  <a:srgbClr val="E6EDF3"/>
                </a:solidFill>
                <a:latin typeface="Inconsolata"/>
              </a:rPr>
              <a:t> exc:</a:t>
            </a:r>
          </a:p>
          <a:p>
            <a:pPr>
              <a:lnSpc>
                <a:spcPct val="109601"/>
              </a:lnSpc>
              <a:spcAft>
                <a:spcPts val="0"/>
              </a:spcAft>
            </a:pPr>
            <a:r>
              <a:rPr sz="760" i="0">
                <a:solidFill>
                  <a:srgbClr val="5C6773"/>
                </a:solidFill>
                <a:latin typeface="Inconsolata"/>
              </a:rPr>
              <a:t>69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f"  CRASH: {exc}"</a:t>
            </a:r>
            <a:r>
              <a:rPr sz="760" i="0">
                <a:solidFill>
                  <a:srgbClr val="E6EDF3"/>
                </a:solidFill>
                <a:latin typeface="Inconsolata"/>
              </a:rPr>
              <a:t>)</a:t>
            </a:r>
          </a:p>
          <a:p>
            <a:pPr>
              <a:lnSpc>
                <a:spcPct val="109601"/>
              </a:lnSpc>
              <a:spcAft>
                <a:spcPts val="0"/>
              </a:spcAft>
            </a:pPr>
            <a:r>
              <a:rPr sz="760" i="0">
                <a:solidFill>
                  <a:srgbClr val="5C6773"/>
                </a:solidFill>
                <a:latin typeface="Inconsolata"/>
              </a:rPr>
              <a:t>70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f"Sisa di queue setelah crash: {count()}"</a:t>
            </a:r>
            <a:r>
              <a:rPr sz="760" i="0">
                <a:solidFill>
                  <a:srgbClr val="E6EDF3"/>
                </a:solidFill>
                <a:latin typeface="Inconsolata"/>
              </a:rPr>
              <a:t>)</a:t>
            </a:r>
          </a:p>
          <a:p>
            <a:pPr>
              <a:lnSpc>
                <a:spcPct val="109601"/>
              </a:lnSpc>
              <a:spcAft>
                <a:spcPts val="0"/>
              </a:spcAft>
            </a:pPr>
            <a:r>
              <a:rPr sz="760" i="0">
                <a:solidFill>
                  <a:srgbClr val="5C6773"/>
                </a:solidFill>
                <a:latin typeface="Inconsolata"/>
              </a:rPr>
              <a:t>71  </a:t>
            </a:r>
            <a:r>
              <a:rPr sz="760" i="0">
                <a:solidFill>
                  <a:srgbClr val="E6EDF3"/>
                </a:solidFill>
                <a:latin typeface="Inconsolata"/>
              </a:rPr>
              <a:t> </a:t>
            </a:r>
          </a:p>
          <a:p>
            <a:pPr>
              <a:lnSpc>
                <a:spcPct val="109601"/>
              </a:lnSpc>
              <a:spcAft>
                <a:spcPts val="0"/>
              </a:spcAft>
            </a:pPr>
            <a:r>
              <a:rPr sz="760" i="0">
                <a:solidFill>
                  <a:srgbClr val="5C6773"/>
                </a:solidFill>
                <a:latin typeface="Inconsolata"/>
              </a:rPr>
              <a:t>72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"Consumer dijalankan ulang:"</a:t>
            </a:r>
            <a:r>
              <a:rPr sz="760" i="0">
                <a:solidFill>
                  <a:srgbClr val="E6EDF3"/>
                </a:solidFill>
                <a:latin typeface="Inconsolata"/>
              </a:rPr>
              <a:t>)</a:t>
            </a:r>
          </a:p>
          <a:p>
            <a:pPr>
              <a:lnSpc>
                <a:spcPct val="109601"/>
              </a:lnSpc>
              <a:spcAft>
                <a:spcPts val="0"/>
              </a:spcAft>
            </a:pPr>
            <a:r>
              <a:rPr sz="760" i="0">
                <a:solidFill>
                  <a:srgbClr val="5C6773"/>
                </a:solidFill>
                <a:latin typeface="Inconsolata"/>
              </a:rPr>
              <a:t>73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f"  {run_consumer()} pesan diproses"</a:t>
            </a:r>
            <a:r>
              <a:rPr sz="760" i="0">
                <a:solidFill>
                  <a:srgbClr val="E6EDF3"/>
                </a:solidFill>
                <a:latin typeface="Inconsolata"/>
              </a:rPr>
              <a: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Ack</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03-ack/after.py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621792"/>
          </a:xfrm>
          <a:prstGeom prst="roundRect">
            <a:avLst>
              <a:gd name="adj" fmla="val 2941"/>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621792"/>
          </a:xfrm>
          <a:prstGeom prst="rect">
            <a:avLst/>
          </a:prstGeom>
          <a:noFill/>
        </p:spPr>
        <p:txBody>
          <a:bodyPr wrap="none" lIns="146304" tIns="91440" rIns="146304" bIns="54864">
            <a:spAutoFit/>
          </a:bodyPr>
          <a:lstStyle/>
          <a:p>
            <a:pPr>
              <a:lnSpc>
                <a:spcPct val="107843"/>
              </a:lnSpc>
              <a:spcAft>
                <a:spcPts val="0"/>
              </a:spcAft>
            </a:pPr>
            <a:r>
              <a:rPr sz="850" i="0">
                <a:solidFill>
                  <a:srgbClr val="82B1FF"/>
                </a:solidFill>
                <a:latin typeface="Inconsolata"/>
              </a:rPr>
              <a:t>$ cd sesi-08-event-driven-rabbitmq-kafka/03-ack</a:t>
            </a:r>
          </a:p>
          <a:p>
            <a:pPr>
              <a:lnSpc>
                <a:spcPct val="107843"/>
              </a:lnSpc>
              <a:spcAft>
                <a:spcPts val="0"/>
              </a:spcAft>
            </a:pPr>
            <a:r>
              <a:rPr sz="850" i="0">
                <a:solidFill>
                  <a:srgbClr val="82B1FF"/>
                </a:solidFill>
                <a:latin typeface="Inconsolata"/>
              </a:rPr>
              <a:t>$ docker compose -f ../docker-compose.yml up -d rabbitmq</a:t>
            </a:r>
          </a:p>
          <a:p>
            <a:pPr>
              <a:lnSpc>
                <a:spcPct val="107843"/>
              </a:lnSpc>
              <a:spcAft>
                <a:spcPts val="0"/>
              </a:spcAft>
            </a:pPr>
            <a:r>
              <a:rPr sz="850" i="0">
                <a:solidFill>
                  <a:srgbClr val="82B1FF"/>
                </a:solidFill>
                <a:latin typeface="Inconsolata"/>
              </a:rPr>
              <a:t>$ python after.py</a:t>
            </a:r>
          </a:p>
        </p:txBody>
      </p:sp>
      <p:pic>
        <p:nvPicPr>
          <p:cNvPr id="29" name="Image 12" descr="s08-03-ack-after.png"/>
          <p:cNvPicPr>
            <a:picLocks noChangeAspect="1"/>
          </p:cNvPicPr>
          <p:nvPr/>
        </p:nvPicPr>
        <p:blipFill>
          <a:blip r:embed="rId2"/>
          <a:stretch>
            <a:fillRect/>
          </a:stretch>
        </p:blipFill>
        <p:spPr>
          <a:xfrm>
            <a:off x="621792" y="2459736"/>
            <a:ext cx="4297680" cy="1869491"/>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Consumer hanya memegang 1 pesan, ack manual (baris 32-34)</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Ack dikirim setelah email terkirim (baris 41)</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Pesan yang dikirim ulang ditandai </a:t>
            </a:r>
            <a:r>
              <a:rPr sz="950" b="0" i="0">
                <a:solidFill>
                  <a:srgbClr val="B5482A"/>
                </a:solidFill>
                <a:latin typeface="Inconsolata"/>
              </a:rPr>
              <a:t>redelivered</a:t>
            </a:r>
            <a:r>
              <a:rPr sz="950" b="0" i="0">
                <a:solidFill>
                  <a:srgbClr val="434343"/>
                </a:solidFill>
                <a:latin typeface="Inter"/>
              </a:rPr>
              <a:t> (baris 37)</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Setelah crash, 2 pesan masih di queue dan diproses saat consumer dijalankan ulang.</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Dead Letter Queue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Nack dan Dead Letter Queue?</a:t>
            </a:r>
          </a:p>
        </p:txBody>
      </p:sp>
      <p:sp>
        <p:nvSpPr>
          <p:cNvPr id="22" name="Text 3"/>
          <p:cNvSpPr txBox="1"/>
          <p:nvPr/>
        </p:nvSpPr>
        <p:spPr>
          <a:xfrm>
            <a:off x="621792" y="1481328"/>
            <a:ext cx="3520440" cy="3291840"/>
          </a:xfrm>
          <a:prstGeom prst="rect">
            <a:avLst/>
          </a:prstGeom>
          <a:noFill/>
        </p:spPr>
        <p:txBody>
          <a:bodyPr wrap="square" lIns="45720" rIns="45720" anchor="t">
            <a:spAutoFit/>
          </a:bodyPr>
          <a:lstStyle/>
          <a:p>
            <a:pPr algn="l">
              <a:lnSpc>
                <a:spcPct val="115000"/>
              </a:lnSpc>
              <a:spcAft>
                <a:spcPts val="400"/>
              </a:spcAft>
            </a:pPr>
            <a:r>
              <a:rPr sz="1000" b="1" i="0">
                <a:solidFill>
                  <a:srgbClr val="1C4587"/>
                </a:solidFill>
                <a:latin typeface="Inter"/>
              </a:rPr>
              <a:t>Nack adalah</a:t>
            </a:r>
          </a:p>
          <a:p>
            <a:pPr algn="l">
              <a:lnSpc>
                <a:spcPct val="115000"/>
              </a:lnSpc>
              <a:spcAft>
                <a:spcPts val="400"/>
              </a:spcAft>
            </a:pPr>
            <a:r>
              <a:rPr sz="900" b="0" i="0">
                <a:solidFill>
                  <a:srgbClr val="434343"/>
                </a:solidFill>
                <a:latin typeface="Inter"/>
              </a:rPr>
              <a:t>Tanda dari consumer bahwa pesan </a:t>
            </a:r>
            <a:r>
              <a:rPr sz="900" b="1" i="0">
                <a:solidFill>
                  <a:srgbClr val="434343"/>
                </a:solidFill>
                <a:latin typeface="Inter"/>
              </a:rPr>
              <a:t>gagal</a:t>
            </a:r>
            <a:r>
              <a:rPr sz="900" b="0" i="0">
                <a:solidFill>
                  <a:srgbClr val="434343"/>
                </a:solidFill>
                <a:latin typeface="Inter"/>
              </a:rPr>
              <a:t> diproses. Dengan </a:t>
            </a:r>
            <a:r>
              <a:rPr sz="900" b="0" i="0">
                <a:solidFill>
                  <a:srgbClr val="B5482A"/>
                </a:solidFill>
                <a:latin typeface="Inconsolata"/>
              </a:rPr>
              <a:t>requeue=True</a:t>
            </a:r>
            <a:r>
              <a:rPr sz="900" b="0" i="0">
                <a:solidFill>
                  <a:srgbClr val="434343"/>
                </a:solidFill>
                <a:latin typeface="Inter"/>
              </a:rPr>
              <a:t>, pesan dikembalikan ke queue. Dengan </a:t>
            </a:r>
            <a:r>
              <a:rPr sz="900" b="0" i="0">
                <a:solidFill>
                  <a:srgbClr val="B5482A"/>
                </a:solidFill>
                <a:latin typeface="Inconsolata"/>
              </a:rPr>
              <a:t>requeue=False</a:t>
            </a:r>
            <a:r>
              <a:rPr sz="900" b="0" i="0">
                <a:solidFill>
                  <a:srgbClr val="434343"/>
                </a:solidFill>
                <a:latin typeface="Inter"/>
              </a:rPr>
              <a:t>, pesan dibuang atau dipindah ke dead letter queue.</a:t>
            </a:r>
          </a:p>
          <a:p>
            <a:pPr algn="l">
              <a:lnSpc>
                <a:spcPct val="115000"/>
              </a:lnSpc>
              <a:spcAft>
                <a:spcPts val="400"/>
              </a:spcAft>
            </a:pPr>
            <a:r>
              <a:rPr sz="1000" b="1" i="0">
                <a:solidFill>
                  <a:srgbClr val="1C4587"/>
                </a:solidFill>
                <a:latin typeface="Inter"/>
              </a:rPr>
              <a:t>Dead letter queue (DLQ) adalah</a:t>
            </a:r>
          </a:p>
          <a:p>
            <a:pPr algn="l">
              <a:lnSpc>
                <a:spcPct val="115000"/>
              </a:lnSpc>
              <a:spcAft>
                <a:spcPts val="400"/>
              </a:spcAft>
            </a:pPr>
            <a:r>
              <a:rPr sz="900" b="0" i="0">
                <a:solidFill>
                  <a:srgbClr val="434343"/>
                </a:solidFill>
                <a:latin typeface="Inter"/>
              </a:rPr>
              <a:t>Queue khusus untuk pesan yang </a:t>
            </a:r>
            <a:r>
              <a:rPr sz="900" b="1" i="0">
                <a:solidFill>
                  <a:srgbClr val="434343"/>
                </a:solidFill>
                <a:latin typeface="Inter"/>
              </a:rPr>
              <a:t>tidak bisa diproses</a:t>
            </a:r>
            <a:r>
              <a:rPr sz="900" b="0" i="0">
                <a:solidFill>
                  <a:srgbClr val="434343"/>
                </a:solidFill>
                <a:latin typeface="Inter"/>
              </a:rPr>
              <a:t>, misalnya isinya rusak atau sudah melewati batas retry. Pesan di DLQ dicek manual oleh tim.</a:t>
            </a:r>
          </a:p>
          <a:p>
            <a:pPr algn="l">
              <a:lnSpc>
                <a:spcPct val="115000"/>
              </a:lnSpc>
              <a:spcAft>
                <a:spcPts val="400"/>
              </a:spcAft>
            </a:pPr>
            <a:r>
              <a:rPr sz="100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Mencegah pesan rusak diproses berulang tanpa henti</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Menyimpan pesan gagal supaya bisa diperbaiki</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nack semua error: 04-nack-dead-letter/before.py</a:t>
            </a:r>
          </a:p>
        </p:txBody>
      </p:sp>
      <p:sp>
        <p:nvSpPr>
          <p:cNvPr id="28" name="CodeBg 11"/>
          <p:cNvSpPr/>
          <p:nvPr/>
        </p:nvSpPr>
        <p:spPr>
          <a:xfrm>
            <a:off x="4297680" y="1719072"/>
            <a:ext cx="4187951" cy="868680"/>
          </a:xfrm>
          <a:prstGeom prst="roundRect">
            <a:avLst>
              <a:gd name="adj" fmla="val 210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868680"/>
          </a:xfrm>
          <a:prstGeom prst="rect">
            <a:avLst/>
          </a:prstGeom>
          <a:noFill/>
        </p:spPr>
        <p:txBody>
          <a:bodyPr wrap="none" lIns="146304" tIns="91440" rIns="146304" bIns="54864">
            <a:spAutoFit/>
          </a:bodyPr>
          <a:lstStyle/>
          <a:p>
            <a:pPr>
              <a:lnSpc>
                <a:spcPct val="107843"/>
              </a:lnSpc>
              <a:spcAft>
                <a:spcPts val="0"/>
              </a:spcAft>
            </a:pPr>
            <a:r>
              <a:rPr sz="850" i="0">
                <a:solidFill>
                  <a:srgbClr val="E6EDF3"/>
                </a:solidFill>
                <a:latin typeface="Inconsolata"/>
              </a:rPr>
              <a:t>    </a:t>
            </a:r>
            <a:r>
              <a:rPr sz="850" i="0">
                <a:solidFill>
                  <a:srgbClr val="FF8E6E"/>
                </a:solidFill>
                <a:latin typeface="Inconsolata"/>
              </a:rPr>
              <a:t>except</a:t>
            </a:r>
            <a:r>
              <a:rPr sz="850" i="0">
                <a:solidFill>
                  <a:srgbClr val="E6EDF3"/>
                </a:solidFill>
                <a:latin typeface="Inconsolata"/>
              </a:rPr>
              <a:t> (</a:t>
            </a:r>
            <a:r>
              <a:rPr sz="850" i="0">
                <a:solidFill>
                  <a:srgbClr val="7FDBCA"/>
                </a:solidFill>
                <a:latin typeface="Inconsolata"/>
              </a:rPr>
              <a:t>ValueError</a:t>
            </a:r>
            <a:r>
              <a:rPr sz="850" i="0">
                <a:solidFill>
                  <a:srgbClr val="E6EDF3"/>
                </a:solidFill>
                <a:latin typeface="Inconsolata"/>
              </a:rPr>
              <a:t>, </a:t>
            </a:r>
            <a:r>
              <a:rPr sz="850" i="0">
                <a:solidFill>
                  <a:srgbClr val="7FDBCA"/>
                </a:solidFill>
                <a:latin typeface="Inconsolata"/>
              </a:rPr>
              <a:t>EmailServerDown</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1">
                <a:solidFill>
                  <a:srgbClr val="8B98A8"/>
                </a:solidFill>
                <a:latin typeface="Inconsolata"/>
              </a:rPr>
              <a:t># kembalikan ke queue, coba lagi</a:t>
            </a:r>
          </a:p>
          <a:p>
            <a:pPr>
              <a:lnSpc>
                <a:spcPct val="107843"/>
              </a:lnSpc>
              <a:spcAft>
                <a:spcPts val="0"/>
              </a:spcAft>
            </a:pPr>
            <a:r>
              <a:rPr sz="850" i="0">
                <a:solidFill>
                  <a:srgbClr val="E6EDF3"/>
                </a:solidFill>
                <a:latin typeface="Inconsolata"/>
              </a:rPr>
              <a:t>        channel.basic_nack(method.delivery_tag, requeue=</a:t>
            </a:r>
            <a:r>
              <a:rPr sz="850" i="0">
                <a:solidFill>
                  <a:srgbClr val="FF8E6E"/>
                </a:solidFill>
                <a:latin typeface="Inconsolata"/>
              </a:rPr>
              <a:t>True</a:t>
            </a:r>
            <a:r>
              <a:rPr sz="850" i="0">
                <a:solidFill>
                  <a:srgbClr val="E6EDF3"/>
                </a:solidFill>
                <a:latin typeface="Inconsolata"/>
              </a:rPr>
              <a:t>)</a:t>
            </a:r>
          </a:p>
        </p:txBody>
      </p:sp>
      <p:sp>
        <p:nvSpPr>
          <p:cNvPr id="30" name="Box 13"/>
          <p:cNvSpPr/>
          <p:nvPr/>
        </p:nvSpPr>
        <p:spPr>
          <a:xfrm>
            <a:off x="4379976" y="2108073"/>
            <a:ext cx="4023359"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CodeTab 15"/>
          <p:cNvSpPr/>
          <p:nvPr/>
        </p:nvSpPr>
        <p:spPr>
          <a:xfrm>
            <a:off x="4297680" y="2679192"/>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Dot 16"/>
          <p:cNvSpPr/>
          <p:nvPr/>
        </p:nvSpPr>
        <p:spPr>
          <a:xfrm>
            <a:off x="4407408" y="2756916"/>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Dot 17"/>
          <p:cNvSpPr/>
          <p:nvPr/>
        </p:nvSpPr>
        <p:spPr>
          <a:xfrm>
            <a:off x="4544568" y="2756916"/>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681728" y="2756916"/>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 19"/>
          <p:cNvSpPr txBox="1"/>
          <p:nvPr/>
        </p:nvSpPr>
        <p:spPr>
          <a:xfrm>
            <a:off x="4846320" y="2688336"/>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retry + DLQ: 04-nack-dead-letter/after.py</a:t>
            </a:r>
          </a:p>
        </p:txBody>
      </p:sp>
      <p:sp>
        <p:nvSpPr>
          <p:cNvPr id="36" name="CodeBg 21"/>
          <p:cNvSpPr/>
          <p:nvPr/>
        </p:nvSpPr>
        <p:spPr>
          <a:xfrm>
            <a:off x="4297680" y="2916936"/>
            <a:ext cx="4187951" cy="1783079"/>
          </a:xfrm>
          <a:prstGeom prst="roundRect">
            <a:avLst>
              <a:gd name="adj" fmla="val 102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Code 22"/>
          <p:cNvSpPr txBox="1"/>
          <p:nvPr/>
        </p:nvSpPr>
        <p:spPr>
          <a:xfrm>
            <a:off x="4297680" y="2916936"/>
            <a:ext cx="4187951" cy="1783079"/>
          </a:xfrm>
          <a:prstGeom prst="rect">
            <a:avLst/>
          </a:prstGeom>
          <a:noFill/>
        </p:spPr>
        <p:txBody>
          <a:bodyPr wrap="none" lIns="146304" tIns="91440" rIns="146304" bIns="54864">
            <a:spAutoFit/>
          </a:bodyPr>
          <a:lstStyle/>
          <a:p>
            <a:pPr>
              <a:lnSpc>
                <a:spcPct val="107843"/>
              </a:lnSpc>
              <a:spcAft>
                <a:spcPts val="0"/>
              </a:spcAft>
            </a:pPr>
            <a:r>
              <a:rPr sz="850" i="0">
                <a:solidFill>
                  <a:srgbClr val="E6EDF3"/>
                </a:solidFill>
                <a:latin typeface="Inconsolata"/>
              </a:rPr>
              <a:t>    </a:t>
            </a:r>
            <a:r>
              <a:rPr sz="850" i="0">
                <a:solidFill>
                  <a:srgbClr val="FF8E6E"/>
                </a:solidFill>
                <a:latin typeface="Inconsolata"/>
              </a:rPr>
              <a:t>except</a:t>
            </a:r>
            <a:r>
              <a:rPr sz="850" i="0">
                <a:solidFill>
                  <a:srgbClr val="E6EDF3"/>
                </a:solidFill>
                <a:latin typeface="Inconsolata"/>
              </a:rPr>
              <a:t> </a:t>
            </a:r>
            <a:r>
              <a:rPr sz="850" i="0">
                <a:solidFill>
                  <a:srgbClr val="7FDBCA"/>
                </a:solidFill>
                <a:latin typeface="Inconsolata"/>
              </a:rPr>
              <a:t>ValueError</a:t>
            </a:r>
            <a:r>
              <a:rPr sz="850" i="0">
                <a:solidFill>
                  <a:srgbClr val="E6EDF3"/>
                </a:solidFill>
                <a:latin typeface="Inconsolata"/>
              </a:rPr>
              <a:t> </a:t>
            </a:r>
            <a:r>
              <a:rPr sz="850" i="0">
                <a:solidFill>
                  <a:srgbClr val="FF8E6E"/>
                </a:solidFill>
                <a:latin typeface="Inconsolata"/>
              </a:rPr>
              <a:t>as</a:t>
            </a:r>
            <a:r>
              <a:rPr sz="850" i="0">
                <a:solidFill>
                  <a:srgbClr val="E6EDF3"/>
                </a:solidFill>
                <a:latin typeface="Inconsolata"/>
              </a:rPr>
              <a:t> exc:                    </a:t>
            </a:r>
            <a:r>
              <a:rPr sz="850" i="1">
                <a:solidFill>
                  <a:srgbClr val="8B98A8"/>
                </a:solidFill>
                <a:latin typeface="Inconsolata"/>
              </a:rPr>
              <a:t># pesan rusak</a:t>
            </a:r>
          </a:p>
          <a:p>
            <a:pPr>
              <a:lnSpc>
                <a:spcPct val="107843"/>
              </a:lnSpc>
              <a:spcAft>
                <a:spcPts val="0"/>
              </a:spcAft>
            </a:pPr>
            <a:r>
              <a:rPr sz="850" i="0">
                <a:solidFill>
                  <a:srgbClr val="E6EDF3"/>
                </a:solidFill>
                <a:latin typeface="Inconsolata"/>
              </a:rPr>
              <a:t>        </a:t>
            </a:r>
            <a:r>
              <a:rPr sz="850" i="0">
                <a:solidFill>
                  <a:srgbClr val="C3A6FF"/>
                </a:solidFill>
                <a:latin typeface="Inconsolata"/>
              </a:rPr>
              <a:t>print</a:t>
            </a:r>
            <a:r>
              <a:rPr sz="850" i="0">
                <a:solidFill>
                  <a:srgbClr val="E6EDF3"/>
                </a:solidFill>
                <a:latin typeface="Inconsolata"/>
              </a:rPr>
              <a:t>(</a:t>
            </a:r>
            <a:r>
              <a:rPr sz="850" i="0">
                <a:solidFill>
                  <a:srgbClr val="A5D6A7"/>
                </a:solidFill>
                <a:latin typeface="Inconsolata"/>
              </a:rPr>
              <a:t>f"  pesan rusak ({exc}) -&gt; DLQ"</a:t>
            </a:r>
            <a:r>
              <a:rPr sz="850" i="0">
                <a:solidFill>
                  <a:srgbClr val="E6EDF3"/>
                </a:solidFill>
                <a:latin typeface="Inconsolata"/>
              </a:rPr>
              <a:t>)</a:t>
            </a:r>
          </a:p>
          <a:p>
            <a:pPr>
              <a:lnSpc>
                <a:spcPct val="107843"/>
              </a:lnSpc>
              <a:spcAft>
                <a:spcPts val="0"/>
              </a:spcAft>
            </a:pPr>
            <a:r>
              <a:rPr sz="850" i="0">
                <a:solidFill>
                  <a:srgbClr val="E6EDF3"/>
                </a:solidFill>
                <a:latin typeface="Inconsolata"/>
              </a:rPr>
              <a:t>        channel.basic_nack(method.delivery_tag, requeue=</a:t>
            </a:r>
            <a:r>
              <a:rPr sz="850" i="0">
                <a:solidFill>
                  <a:srgbClr val="FF8E6E"/>
                </a:solidFill>
                <a:latin typeface="Inconsolata"/>
              </a:rPr>
              <a:t>False</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FF8E6E"/>
                </a:solidFill>
                <a:latin typeface="Inconsolata"/>
              </a:rPr>
              <a:t>except</a:t>
            </a:r>
            <a:r>
              <a:rPr sz="850" i="0">
                <a:solidFill>
                  <a:srgbClr val="E6EDF3"/>
                </a:solidFill>
                <a:latin typeface="Inconsolata"/>
              </a:rPr>
              <a:t> </a:t>
            </a:r>
            <a:r>
              <a:rPr sz="850" i="0">
                <a:solidFill>
                  <a:srgbClr val="7FDBCA"/>
                </a:solidFill>
                <a:latin typeface="Inconsolata"/>
              </a:rPr>
              <a:t>EmailServerDown</a:t>
            </a:r>
            <a:r>
              <a:rPr sz="850" i="0">
                <a:solidFill>
                  <a:srgbClr val="E6EDF3"/>
                </a:solidFill>
                <a:latin typeface="Inconsolata"/>
              </a:rPr>
              <a:t> </a:t>
            </a:r>
            <a:r>
              <a:rPr sz="850" i="0">
                <a:solidFill>
                  <a:srgbClr val="FF8E6E"/>
                </a:solidFill>
                <a:latin typeface="Inconsolata"/>
              </a:rPr>
              <a:t>as</a:t>
            </a:r>
            <a:r>
              <a:rPr sz="850" i="0">
                <a:solidFill>
                  <a:srgbClr val="E6EDF3"/>
                </a:solidFill>
                <a:latin typeface="Inconsolata"/>
              </a:rPr>
              <a:t> exc:</a:t>
            </a:r>
          </a:p>
          <a:p>
            <a:pPr>
              <a:lnSpc>
                <a:spcPct val="107843"/>
              </a:lnSpc>
              <a:spcAft>
                <a:spcPts val="0"/>
              </a:spcAft>
            </a:pPr>
            <a:r>
              <a:rPr sz="850" i="0">
                <a:solidFill>
                  <a:srgbClr val="E6EDF3"/>
                </a:solidFill>
                <a:latin typeface="Inconsolata"/>
              </a:rPr>
              <a:t>...</a:t>
            </a:r>
          </a:p>
          <a:p>
            <a:pPr>
              <a:lnSpc>
                <a:spcPct val="107843"/>
              </a:lnSpc>
              <a:spcAft>
                <a:spcPts val="0"/>
              </a:spcAft>
            </a:pPr>
            <a:r>
              <a:rPr sz="850" i="0">
                <a:solidFill>
                  <a:srgbClr val="E6EDF3"/>
                </a:solidFill>
                <a:latin typeface="Inconsolata"/>
              </a:rPr>
              <a:t>        delay_ms = </a:t>
            </a:r>
            <a:r>
              <a:rPr sz="850" i="0">
                <a:solidFill>
                  <a:srgbClr val="F9C97A"/>
                </a:solidFill>
                <a:latin typeface="Inconsolata"/>
              </a:rPr>
              <a:t>500</a:t>
            </a:r>
            <a:r>
              <a:rPr sz="850" i="0">
                <a:solidFill>
                  <a:srgbClr val="E6EDF3"/>
                </a:solidFill>
                <a:latin typeface="Inconsolata"/>
              </a:rPr>
              <a:t> * </a:t>
            </a:r>
            <a:r>
              <a:rPr sz="850" i="0">
                <a:solidFill>
                  <a:srgbClr val="F9C97A"/>
                </a:solidFill>
                <a:latin typeface="Inconsolata"/>
              </a:rPr>
              <a:t>2</a:t>
            </a:r>
            <a:r>
              <a:rPr sz="850" i="0">
                <a:solidFill>
                  <a:srgbClr val="E6EDF3"/>
                </a:solidFill>
                <a:latin typeface="Inconsolata"/>
              </a:rPr>
              <a:t> ** retries</a:t>
            </a:r>
          </a:p>
        </p:txBody>
      </p:sp>
      <p:sp>
        <p:nvSpPr>
          <p:cNvPr id="38" name="Box 23"/>
          <p:cNvSpPr/>
          <p:nvPr/>
        </p:nvSpPr>
        <p:spPr>
          <a:xfrm>
            <a:off x="4379976" y="3026537"/>
            <a:ext cx="4023359" cy="410718"/>
          </a:xfrm>
          <a:prstGeom prst="roundRect">
            <a:avLst>
              <a:gd name="adj" fmla="val 1113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379976" y="3725037"/>
            <a:ext cx="4023359"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Dead Letter Queue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Dead Letter Queue?</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DLQ</a:t>
            </a:r>
          </a:p>
          <a:p>
            <a:pPr algn="l">
              <a:lnSpc>
                <a:spcPct val="115000"/>
              </a:lnSpc>
              <a:spcAft>
                <a:spcPts val="400"/>
              </a:spcAft>
            </a:pPr>
            <a:r>
              <a:rPr sz="950" b="0" i="0">
                <a:solidFill>
                  <a:srgbClr val="434343"/>
                </a:solidFill>
                <a:latin typeface="Inter"/>
              </a:rPr>
              <a:t>Setiap error di-nack dengan </a:t>
            </a:r>
            <a:r>
              <a:rPr sz="950" b="0" i="0">
                <a:solidFill>
                  <a:srgbClr val="B5482A"/>
                </a:solidFill>
                <a:latin typeface="Inconsolata"/>
              </a:rPr>
              <a:t>requeue=True</a:t>
            </a:r>
            <a:r>
              <a:rPr sz="950" b="0" i="0">
                <a:solidFill>
                  <a:srgbClr val="434343"/>
                </a:solidFill>
                <a:latin typeface="Inter"/>
              </a:rPr>
              <a:t>. Pesan rusak, misalnya customer kosong, langsung kembali ke queue dan diproses lagi.</a:t>
            </a:r>
          </a:p>
          <a:p>
            <a:pPr algn="l">
              <a:lnSpc>
                <a:spcPct val="115000"/>
              </a:lnSpc>
              <a:spcAft>
                <a:spcPts val="400"/>
              </a:spcAft>
            </a:pPr>
            <a:r>
              <a:rPr sz="1050" b="1" i="0">
                <a:solidFill>
                  <a:srgbClr val="1C4587"/>
                </a:solidFill>
                <a:latin typeface="Inter"/>
              </a:rPr>
              <a:t>Jika pesan rusaknya makin banyak</a:t>
            </a:r>
          </a:p>
          <a:p>
            <a:pPr algn="l">
              <a:lnSpc>
                <a:spcPct val="115000"/>
              </a:lnSpc>
              <a:spcAft>
                <a:spcPts val="400"/>
              </a:spcAft>
            </a:pPr>
            <a:r>
              <a:rPr sz="950" b="0" i="0">
                <a:solidFill>
                  <a:srgbClr val="434343"/>
                </a:solidFill>
                <a:latin typeface="Inter"/>
              </a:rPr>
              <a:t>Pesan rusak diproses ribuan kali per detik tanpa henti, dan server email yang sedang error terus dikirimi request.</a:t>
            </a:r>
          </a:p>
          <a:p>
            <a:pPr algn="l">
              <a:lnSpc>
                <a:spcPct val="115000"/>
              </a:lnSpc>
              <a:spcAft>
                <a:spcPts val="400"/>
              </a:spcAft>
            </a:pPr>
            <a:r>
              <a:rPr sz="950" b="0" i="0">
                <a:solidFill>
                  <a:srgbClr val="434343"/>
                </a:solidFill>
                <a:latin typeface="Inter"/>
              </a:rPr>
              <a:t>Hal ini membuat CPU consumer habis dan pesan lain tertunda.</a:t>
            </a:r>
          </a:p>
          <a:p>
            <a:pPr algn="l">
              <a:lnSpc>
                <a:spcPct val="115000"/>
              </a:lnSpc>
              <a:spcAft>
                <a:spcPts val="400"/>
              </a:spcAft>
            </a:pPr>
            <a:r>
              <a:rPr sz="1050" b="1" i="0">
                <a:solidFill>
                  <a:srgbClr val="1C4587"/>
                </a:solidFill>
                <a:latin typeface="Inter"/>
              </a:rPr>
              <a:t>Yang dipakai dari RabbitMQ: x-dead-letter dan expiration</a:t>
            </a:r>
          </a:p>
          <a:p>
            <a:pPr algn="l">
              <a:lnSpc>
                <a:spcPct val="115000"/>
              </a:lnSpc>
              <a:spcAft>
                <a:spcPts val="400"/>
              </a:spcAft>
            </a:pPr>
            <a:r>
              <a:rPr sz="950" b="0" i="0">
                <a:solidFill>
                  <a:srgbClr val="434343"/>
                </a:solidFill>
                <a:latin typeface="Inter"/>
              </a:rPr>
              <a:t>Error dibedakan: pesan rusak langsung ke DLQ, error sementara di-retry dengan jeda lewat queue retry.</a:t>
            </a:r>
          </a:p>
        </p:txBody>
      </p:sp>
      <p:graphicFrame>
        <p:nvGraphicFramePr>
          <p:cNvPr id="23" name="Table 4"/>
          <p:cNvGraphicFramePr>
            <a:graphicFrameLocks noGrp="1"/>
          </p:cNvGraphicFramePr>
          <p:nvPr/>
        </p:nvGraphicFramePr>
        <p:xfrm>
          <a:off x="4800600" y="1481328"/>
          <a:ext cx="3685032" cy="1828800"/>
        </p:xfrm>
        <a:graphic>
          <a:graphicData uri="http://schemas.openxmlformats.org/drawingml/2006/table">
            <a:tbl>
              <a:tblPr firstRow="1" bandRow="1"/>
              <a:tblGrid>
                <a:gridCol w="1216152">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tblGrid>
              <a:tr h="457200">
                <a:tc>
                  <a:txBody>
                    <a:bodyPr/>
                    <a:lstStyle/>
                    <a:p>
                      <a:pPr algn="l">
                        <a:lnSpc>
                          <a:spcPct val="100000"/>
                        </a:lnSpc>
                        <a:spcAft>
                          <a:spcPts val="0"/>
                        </a:spcAft>
                      </a:pPr>
                      <a:r>
                        <a:rPr sz="850" b="1" i="0">
                          <a:solidFill>
                            <a:srgbClr val="FFFFFF"/>
                          </a:solidFill>
                          <a:latin typeface="Inter"/>
                        </a:rPr>
                        <a:t>Queue</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Isinya</a:t>
                      </a:r>
                    </a:p>
                  </a:txBody>
                  <a:tcPr marL="73152" marR="73152" marT="36576" marB="36576" anchor="ctr">
                    <a:solidFill>
                      <a:srgbClr val="1C4587"/>
                    </a:solidFill>
                  </a:tcPr>
                </a:tc>
                <a:extLst>
                  <a:ext uri="{0D108BD9-81ED-4DB2-BD59-A6C34878D82A}">
                    <a16:rowId xmlns:a16="http://schemas.microsoft.com/office/drawing/2014/main" val="10000"/>
                  </a:ext>
                </a:extLst>
              </a:tr>
              <a:tr h="457200">
                <a:tc>
                  <a:txBody>
                    <a:bodyPr/>
                    <a:lstStyle/>
                    <a:p>
                      <a:pPr algn="l">
                        <a:lnSpc>
                          <a:spcPct val="100000"/>
                        </a:lnSpc>
                        <a:spcAft>
                          <a:spcPts val="0"/>
                        </a:spcAft>
                      </a:pPr>
                      <a:r>
                        <a:rPr sz="850" b="1" i="0">
                          <a:solidFill>
                            <a:srgbClr val="1C4587"/>
                          </a:solidFill>
                          <a:latin typeface="Inter"/>
                        </a:rPr>
                        <a:t>email</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Queue utama</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lnSpc>
                          <a:spcPct val="100000"/>
                        </a:lnSpc>
                        <a:spcAft>
                          <a:spcPts val="0"/>
                        </a:spcAft>
                      </a:pPr>
                      <a:r>
                        <a:rPr sz="850" b="1" i="0">
                          <a:solidFill>
                            <a:srgbClr val="1C4587"/>
                          </a:solidFill>
                          <a:latin typeface="Inter"/>
                        </a:rPr>
                        <a:t>email.retry</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Menunggu jeda (expiration), lalu kembali ke email</a:t>
                      </a:r>
                    </a:p>
                  </a:txBody>
                  <a:tcPr marL="73152" marR="73152" marT="36576" marB="36576" anchor="ctr">
                    <a:solidFill>
                      <a:srgbClr val="F3F4F6"/>
                    </a:solidFill>
                  </a:tcPr>
                </a:tc>
                <a:extLst>
                  <a:ext uri="{0D108BD9-81ED-4DB2-BD59-A6C34878D82A}">
                    <a16:rowId xmlns:a16="http://schemas.microsoft.com/office/drawing/2014/main" val="10002"/>
                  </a:ext>
                </a:extLst>
              </a:tr>
              <a:tr h="457200">
                <a:tc>
                  <a:txBody>
                    <a:bodyPr/>
                    <a:lstStyle/>
                    <a:p>
                      <a:pPr algn="l">
                        <a:lnSpc>
                          <a:spcPct val="100000"/>
                        </a:lnSpc>
                        <a:spcAft>
                          <a:spcPts val="0"/>
                        </a:spcAft>
                      </a:pPr>
                      <a:r>
                        <a:rPr sz="850" b="1" i="0">
                          <a:solidFill>
                            <a:srgbClr val="1C4587"/>
                          </a:solidFill>
                          <a:latin typeface="Inter"/>
                        </a:rPr>
                        <a:t>email.dlq</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Pesan rusak dan yang melewati batas retry</a:t>
                      </a:r>
                    </a:p>
                  </a:txBody>
                  <a:tcPr marL="73152" marR="73152" marT="36576" marB="36576"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Dead Letter Queue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semua error dikembalikan ke queue (1/2)</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04-nack-dead-letter/before.py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2868"/>
              </a:lnSpc>
              <a:spcAft>
                <a:spcPts val="0"/>
              </a:spcAft>
            </a:pPr>
            <a:r>
              <a:rPr sz="729" i="0">
                <a:solidFill>
                  <a:srgbClr val="5C6773"/>
                </a:solidFill>
                <a:latin typeface="Inconsolata"/>
              </a:rPr>
              <a:t>11  </a:t>
            </a:r>
            <a:r>
              <a:rPr sz="729" i="0">
                <a:solidFill>
                  <a:srgbClr val="FF8E6E"/>
                </a:solidFill>
                <a:latin typeface="Inconsolata"/>
              </a:rPr>
              <a:t>import</a:t>
            </a:r>
            <a:r>
              <a:rPr sz="729" i="0">
                <a:solidFill>
                  <a:srgbClr val="E6EDF3"/>
                </a:solidFill>
                <a:latin typeface="Inconsolata"/>
              </a:rPr>
              <a:t> json</a:t>
            </a:r>
          </a:p>
          <a:p>
            <a:pPr>
              <a:lnSpc>
                <a:spcPct val="102868"/>
              </a:lnSpc>
              <a:spcAft>
                <a:spcPts val="0"/>
              </a:spcAft>
            </a:pPr>
            <a:r>
              <a:rPr sz="729" i="0">
                <a:solidFill>
                  <a:srgbClr val="5C6773"/>
                </a:solidFill>
                <a:latin typeface="Inconsolata"/>
              </a:rPr>
              <a:t>12  </a:t>
            </a:r>
            <a:r>
              <a:rPr sz="729" i="0">
                <a:solidFill>
                  <a:srgbClr val="FF8E6E"/>
                </a:solidFill>
                <a:latin typeface="Inconsolata"/>
              </a:rPr>
              <a:t>import</a:t>
            </a:r>
            <a:r>
              <a:rPr sz="729" i="0">
                <a:solidFill>
                  <a:srgbClr val="E6EDF3"/>
                </a:solidFill>
                <a:latin typeface="Inconsolata"/>
              </a:rPr>
              <a:t> os</a:t>
            </a:r>
          </a:p>
          <a:p>
            <a:pPr>
              <a:lnSpc>
                <a:spcPct val="102868"/>
              </a:lnSpc>
              <a:spcAft>
                <a:spcPts val="0"/>
              </a:spcAft>
            </a:pPr>
            <a:r>
              <a:rPr sz="729" i="0">
                <a:solidFill>
                  <a:srgbClr val="5C6773"/>
                </a:solidFill>
                <a:latin typeface="Inconsolata"/>
              </a:rPr>
              <a:t>13  </a:t>
            </a:r>
            <a:r>
              <a:rPr sz="729" i="0">
                <a:solidFill>
                  <a:srgbClr val="FF8E6E"/>
                </a:solidFill>
                <a:latin typeface="Inconsolata"/>
              </a:rPr>
              <a:t>import</a:t>
            </a:r>
            <a:r>
              <a:rPr sz="729" i="0">
                <a:solidFill>
                  <a:srgbClr val="E6EDF3"/>
                </a:solidFill>
                <a:latin typeface="Inconsolata"/>
              </a:rPr>
              <a:t> time</a:t>
            </a:r>
          </a:p>
          <a:p>
            <a:pPr>
              <a:lnSpc>
                <a:spcPct val="102868"/>
              </a:lnSpc>
              <a:spcAft>
                <a:spcPts val="0"/>
              </a:spcAft>
            </a:pPr>
            <a:r>
              <a:rPr sz="729" i="0">
                <a:solidFill>
                  <a:srgbClr val="5C6773"/>
                </a:solidFill>
                <a:latin typeface="Inconsolata"/>
              </a:rPr>
              <a:t>14  </a:t>
            </a:r>
            <a:r>
              <a:rPr sz="729" i="0">
                <a:solidFill>
                  <a:srgbClr val="FF8E6E"/>
                </a:solidFill>
                <a:latin typeface="Inconsolata"/>
              </a:rPr>
              <a:t>from</a:t>
            </a:r>
            <a:r>
              <a:rPr sz="729" i="0">
                <a:solidFill>
                  <a:srgbClr val="E6EDF3"/>
                </a:solidFill>
                <a:latin typeface="Inconsolata"/>
              </a:rPr>
              <a:t> collections </a:t>
            </a:r>
            <a:r>
              <a:rPr sz="729" i="0">
                <a:solidFill>
                  <a:srgbClr val="FF8E6E"/>
                </a:solidFill>
                <a:latin typeface="Inconsolata"/>
              </a:rPr>
              <a:t>import</a:t>
            </a:r>
            <a:r>
              <a:rPr sz="729" i="0">
                <a:solidFill>
                  <a:srgbClr val="E6EDF3"/>
                </a:solidFill>
                <a:latin typeface="Inconsolata"/>
              </a:rPr>
              <a:t> </a:t>
            </a:r>
            <a:r>
              <a:rPr sz="729" i="0">
                <a:solidFill>
                  <a:srgbClr val="7FDBCA"/>
                </a:solidFill>
                <a:latin typeface="Inconsolata"/>
              </a:rPr>
              <a:t>Counter</a:t>
            </a:r>
          </a:p>
          <a:p>
            <a:pPr>
              <a:lnSpc>
                <a:spcPct val="102868"/>
              </a:lnSpc>
              <a:spcAft>
                <a:spcPts val="0"/>
              </a:spcAft>
            </a:pPr>
            <a:r>
              <a:rPr sz="729" i="0">
                <a:solidFill>
                  <a:srgbClr val="5C6773"/>
                </a:solidFill>
                <a:latin typeface="Inconsolata"/>
              </a:rPr>
              <a:t>15  </a:t>
            </a:r>
            <a:r>
              <a:rPr sz="729" i="0">
                <a:solidFill>
                  <a:srgbClr val="E6EDF3"/>
                </a:solidFill>
                <a:latin typeface="Inconsolata"/>
              </a:rPr>
              <a:t> </a:t>
            </a:r>
          </a:p>
          <a:p>
            <a:pPr>
              <a:lnSpc>
                <a:spcPct val="102868"/>
              </a:lnSpc>
              <a:spcAft>
                <a:spcPts val="0"/>
              </a:spcAft>
            </a:pPr>
            <a:r>
              <a:rPr sz="729" i="0">
                <a:solidFill>
                  <a:srgbClr val="5C6773"/>
                </a:solidFill>
                <a:latin typeface="Inconsolata"/>
              </a:rPr>
              <a:t>16  </a:t>
            </a:r>
            <a:r>
              <a:rPr sz="729" i="0">
                <a:solidFill>
                  <a:srgbClr val="FF8E6E"/>
                </a:solidFill>
                <a:latin typeface="Inconsolata"/>
              </a:rPr>
              <a:t>import</a:t>
            </a:r>
            <a:r>
              <a:rPr sz="729" i="0">
                <a:solidFill>
                  <a:srgbClr val="E6EDF3"/>
                </a:solidFill>
                <a:latin typeface="Inconsolata"/>
              </a:rPr>
              <a:t> pika</a:t>
            </a:r>
          </a:p>
          <a:p>
            <a:pPr>
              <a:lnSpc>
                <a:spcPct val="102868"/>
              </a:lnSpc>
              <a:spcAft>
                <a:spcPts val="0"/>
              </a:spcAft>
            </a:pPr>
            <a:r>
              <a:rPr sz="729" i="0">
                <a:solidFill>
                  <a:srgbClr val="5C6773"/>
                </a:solidFill>
                <a:latin typeface="Inconsolata"/>
              </a:rPr>
              <a:t>17  </a:t>
            </a:r>
            <a:r>
              <a:rPr sz="729" i="0">
                <a:solidFill>
                  <a:srgbClr val="E6EDF3"/>
                </a:solidFill>
                <a:latin typeface="Inconsolata"/>
              </a:rPr>
              <a:t> </a:t>
            </a:r>
          </a:p>
          <a:p>
            <a:pPr>
              <a:lnSpc>
                <a:spcPct val="102868"/>
              </a:lnSpc>
              <a:spcAft>
                <a:spcPts val="0"/>
              </a:spcAft>
            </a:pPr>
            <a:r>
              <a:rPr sz="729" i="0">
                <a:solidFill>
                  <a:srgbClr val="5C6773"/>
                </a:solidFill>
                <a:latin typeface="Inconsolata"/>
              </a:rPr>
              <a:t>18  </a:t>
            </a:r>
            <a:r>
              <a:rPr sz="729" i="0">
                <a:solidFill>
                  <a:srgbClr val="7FDBCA"/>
                </a:solidFill>
                <a:latin typeface="Inconsolata"/>
              </a:rPr>
              <a:t>URL</a:t>
            </a:r>
            <a:r>
              <a:rPr sz="729" i="0">
                <a:solidFill>
                  <a:srgbClr val="E6EDF3"/>
                </a:solidFill>
                <a:latin typeface="Inconsolata"/>
              </a:rPr>
              <a:t> = os.getenv(</a:t>
            </a:r>
            <a:r>
              <a:rPr sz="729" i="0">
                <a:solidFill>
                  <a:srgbClr val="A5D6A7"/>
                </a:solidFill>
                <a:latin typeface="Inconsolata"/>
              </a:rPr>
              <a:t>"RABBITMQ_URL"</a:t>
            </a:r>
            <a:r>
              <a:rPr sz="729" i="0">
                <a:solidFill>
                  <a:srgbClr val="E6EDF3"/>
                </a:solidFill>
                <a:latin typeface="Inconsolata"/>
              </a:rPr>
              <a:t>, </a:t>
            </a:r>
            <a:r>
              <a:rPr sz="729" i="0">
                <a:solidFill>
                  <a:srgbClr val="A5D6A7"/>
                </a:solidFill>
                <a:latin typeface="Inconsolata"/>
              </a:rPr>
              <a:t>"amqp://guest:guest@localhost:5672/"</a:t>
            </a:r>
            <a:r>
              <a:rPr sz="729" i="0">
                <a:solidFill>
                  <a:srgbClr val="E6EDF3"/>
                </a:solidFill>
                <a:latin typeface="Inconsolata"/>
              </a:rPr>
              <a:t>)</a:t>
            </a:r>
          </a:p>
          <a:p>
            <a:pPr>
              <a:lnSpc>
                <a:spcPct val="102868"/>
              </a:lnSpc>
              <a:spcAft>
                <a:spcPts val="0"/>
              </a:spcAft>
            </a:pPr>
            <a:r>
              <a:rPr sz="729" i="0">
                <a:solidFill>
                  <a:srgbClr val="5C6773"/>
                </a:solidFill>
                <a:latin typeface="Inconsolata"/>
              </a:rPr>
              <a:t>19  </a:t>
            </a:r>
            <a:r>
              <a:rPr sz="729" i="0">
                <a:solidFill>
                  <a:srgbClr val="E6EDF3"/>
                </a:solidFill>
                <a:latin typeface="Inconsolata"/>
              </a:rPr>
              <a:t> </a:t>
            </a:r>
          </a:p>
          <a:p>
            <a:pPr>
              <a:lnSpc>
                <a:spcPct val="102868"/>
              </a:lnSpc>
              <a:spcAft>
                <a:spcPts val="0"/>
              </a:spcAft>
            </a:pPr>
            <a:r>
              <a:rPr sz="729" i="0">
                <a:solidFill>
                  <a:srgbClr val="5C6773"/>
                </a:solidFill>
                <a:latin typeface="Inconsolata"/>
              </a:rPr>
              <a:t>20  </a:t>
            </a:r>
            <a:r>
              <a:rPr sz="729" i="0">
                <a:solidFill>
                  <a:srgbClr val="E6EDF3"/>
                </a:solidFill>
                <a:latin typeface="Inconsolata"/>
              </a:rPr>
              <a:t>attempts = </a:t>
            </a:r>
            <a:r>
              <a:rPr sz="729" i="0">
                <a:solidFill>
                  <a:srgbClr val="7FDBCA"/>
                </a:solidFill>
                <a:latin typeface="Inconsolata"/>
              </a:rPr>
              <a:t>Counter</a:t>
            </a:r>
            <a:r>
              <a:rPr sz="729" i="0">
                <a:solidFill>
                  <a:srgbClr val="E6EDF3"/>
                </a:solidFill>
                <a:latin typeface="Inconsolata"/>
              </a:rPr>
              <a: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04-nack-dead-letter/before.py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2868"/>
              </a:lnSpc>
              <a:spcAft>
                <a:spcPts val="0"/>
              </a:spcAft>
            </a:pPr>
            <a:r>
              <a:rPr sz="729" i="0">
                <a:solidFill>
                  <a:srgbClr val="5C6773"/>
                </a:solidFill>
                <a:latin typeface="Inconsolata"/>
              </a:rPr>
              <a:t>23  </a:t>
            </a:r>
            <a:r>
              <a:rPr sz="729" i="0">
                <a:solidFill>
                  <a:srgbClr val="FF8E6E"/>
                </a:solidFill>
                <a:latin typeface="Inconsolata"/>
              </a:rPr>
              <a:t>class</a:t>
            </a:r>
            <a:r>
              <a:rPr sz="729" i="0">
                <a:solidFill>
                  <a:srgbClr val="E6EDF3"/>
                </a:solidFill>
                <a:latin typeface="Inconsolata"/>
              </a:rPr>
              <a:t> </a:t>
            </a:r>
            <a:r>
              <a:rPr sz="729" i="0">
                <a:solidFill>
                  <a:srgbClr val="7FDBCA"/>
                </a:solidFill>
                <a:latin typeface="Inconsolata"/>
              </a:rPr>
              <a:t>EmailServerDown</a:t>
            </a:r>
            <a:r>
              <a:rPr sz="729" i="0">
                <a:solidFill>
                  <a:srgbClr val="E6EDF3"/>
                </a:solidFill>
                <a:latin typeface="Inconsolata"/>
              </a:rPr>
              <a:t>(</a:t>
            </a:r>
            <a:r>
              <a:rPr sz="729" i="0">
                <a:solidFill>
                  <a:srgbClr val="7FDBCA"/>
                </a:solidFill>
                <a:latin typeface="Inconsolata"/>
              </a:rPr>
              <a:t>Exception</a:t>
            </a:r>
            <a:r>
              <a:rPr sz="729" i="0">
                <a:solidFill>
                  <a:srgbClr val="E6EDF3"/>
                </a:solidFill>
                <a:latin typeface="Inconsolata"/>
              </a:rPr>
              <a:t>):</a:t>
            </a:r>
          </a:p>
          <a:p>
            <a:pPr>
              <a:lnSpc>
                <a:spcPct val="102868"/>
              </a:lnSpc>
              <a:spcAft>
                <a:spcPts val="0"/>
              </a:spcAft>
            </a:pPr>
            <a:r>
              <a:rPr sz="729" i="0">
                <a:solidFill>
                  <a:srgbClr val="5C6773"/>
                </a:solidFill>
                <a:latin typeface="Inconsolata"/>
              </a:rPr>
              <a:t>24  </a:t>
            </a:r>
            <a:r>
              <a:rPr sz="729" i="0">
                <a:solidFill>
                  <a:srgbClr val="E6EDF3"/>
                </a:solidFill>
                <a:latin typeface="Inconsolata"/>
              </a:rPr>
              <a:t>    </a:t>
            </a:r>
            <a:r>
              <a:rPr sz="729" i="0">
                <a:solidFill>
                  <a:srgbClr val="A5D6A7"/>
                </a:solidFill>
                <a:latin typeface="Inconsolata"/>
              </a:rPr>
              <a:t>"""Error sementara, bisa berhasil jika dicoba lagi."""</a:t>
            </a:r>
          </a:p>
          <a:p>
            <a:pPr>
              <a:lnSpc>
                <a:spcPct val="102868"/>
              </a:lnSpc>
              <a:spcAft>
                <a:spcPts val="0"/>
              </a:spcAft>
            </a:pPr>
            <a:r>
              <a:rPr sz="729" i="0">
                <a:solidFill>
                  <a:srgbClr val="5C6773"/>
                </a:solidFill>
                <a:latin typeface="Inconsolata"/>
              </a:rPr>
              <a:t>25  </a:t>
            </a:r>
            <a:r>
              <a:rPr sz="729" i="0">
                <a:solidFill>
                  <a:srgbClr val="E6EDF3"/>
                </a:solidFill>
                <a:latin typeface="Inconsolata"/>
              </a:rPr>
              <a:t> </a:t>
            </a:r>
          </a:p>
          <a:p>
            <a:pPr>
              <a:lnSpc>
                <a:spcPct val="102868"/>
              </a:lnSpc>
              <a:spcAft>
                <a:spcPts val="0"/>
              </a:spcAft>
            </a:pPr>
            <a:r>
              <a:rPr sz="729" i="0">
                <a:solidFill>
                  <a:srgbClr val="5C6773"/>
                </a:solidFill>
                <a:latin typeface="Inconsolata"/>
              </a:rPr>
              <a:t>26  </a:t>
            </a:r>
            <a:r>
              <a:rPr sz="729" i="0">
                <a:solidFill>
                  <a:srgbClr val="E6EDF3"/>
                </a:solidFill>
                <a:latin typeface="Inconsolata"/>
              </a:rPr>
              <a:t> </a:t>
            </a:r>
          </a:p>
          <a:p>
            <a:pPr>
              <a:lnSpc>
                <a:spcPct val="102868"/>
              </a:lnSpc>
              <a:spcAft>
                <a:spcPts val="0"/>
              </a:spcAft>
            </a:pPr>
            <a:r>
              <a:rPr sz="729" i="0">
                <a:solidFill>
                  <a:srgbClr val="5C6773"/>
                </a:solidFill>
                <a:latin typeface="Inconsolata"/>
              </a:rPr>
              <a:t>27  </a:t>
            </a:r>
            <a:r>
              <a:rPr sz="729" i="0">
                <a:solidFill>
                  <a:srgbClr val="FF8E6E"/>
                </a:solidFill>
                <a:latin typeface="Inconsolata"/>
              </a:rPr>
              <a:t>def</a:t>
            </a:r>
            <a:r>
              <a:rPr sz="729" i="0">
                <a:solidFill>
                  <a:srgbClr val="E6EDF3"/>
                </a:solidFill>
                <a:latin typeface="Inconsolata"/>
              </a:rPr>
              <a:t> </a:t>
            </a:r>
            <a:r>
              <a:rPr sz="729" i="0">
                <a:solidFill>
                  <a:srgbClr val="82B1FF"/>
                </a:solidFill>
                <a:latin typeface="Inconsolata"/>
              </a:rPr>
              <a:t>send_email</a:t>
            </a:r>
            <a:r>
              <a:rPr sz="729" i="0">
                <a:solidFill>
                  <a:srgbClr val="E6EDF3"/>
                </a:solidFill>
                <a:latin typeface="Inconsolata"/>
              </a:rPr>
              <a:t>(event):</a:t>
            </a:r>
          </a:p>
          <a:p>
            <a:pPr>
              <a:lnSpc>
                <a:spcPct val="102868"/>
              </a:lnSpc>
              <a:spcAft>
                <a:spcPts val="0"/>
              </a:spcAft>
            </a:pPr>
            <a:r>
              <a:rPr sz="729" i="0">
                <a:solidFill>
                  <a:srgbClr val="5C6773"/>
                </a:solidFill>
                <a:latin typeface="Inconsolata"/>
              </a:rPr>
              <a:t>28  </a:t>
            </a:r>
            <a:r>
              <a:rPr sz="729" i="0">
                <a:solidFill>
                  <a:srgbClr val="E6EDF3"/>
                </a:solidFill>
                <a:latin typeface="Inconsolata"/>
              </a:rPr>
              <a:t>    order_id = event[</a:t>
            </a:r>
            <a:r>
              <a:rPr sz="729" i="0">
                <a:solidFill>
                  <a:srgbClr val="A5D6A7"/>
                </a:solidFill>
                <a:latin typeface="Inconsolata"/>
              </a:rPr>
              <a:t>"order_id"</a:t>
            </a:r>
            <a:r>
              <a:rPr sz="729" i="0">
                <a:solidFill>
                  <a:srgbClr val="E6EDF3"/>
                </a:solidFill>
                <a:latin typeface="Inconsolata"/>
              </a:rPr>
              <a:t>]</a:t>
            </a:r>
          </a:p>
          <a:p>
            <a:pPr>
              <a:lnSpc>
                <a:spcPct val="102868"/>
              </a:lnSpc>
              <a:spcAft>
                <a:spcPts val="0"/>
              </a:spcAft>
            </a:pPr>
            <a:r>
              <a:rPr sz="729" i="0">
                <a:solidFill>
                  <a:srgbClr val="5C6773"/>
                </a:solidFill>
                <a:latin typeface="Inconsolata"/>
              </a:rPr>
              <a:t>29  </a:t>
            </a:r>
            <a:r>
              <a:rPr sz="729" i="0">
                <a:solidFill>
                  <a:srgbClr val="E6EDF3"/>
                </a:solidFill>
                <a:latin typeface="Inconsolata"/>
              </a:rPr>
              <a:t>    attempts[order_id] += </a:t>
            </a:r>
            <a:r>
              <a:rPr sz="729" i="0">
                <a:solidFill>
                  <a:srgbClr val="F9C97A"/>
                </a:solidFill>
                <a:latin typeface="Inconsolata"/>
              </a:rPr>
              <a:t>1</a:t>
            </a:r>
          </a:p>
          <a:p>
            <a:pPr>
              <a:lnSpc>
                <a:spcPct val="102868"/>
              </a:lnSpc>
              <a:spcAft>
                <a:spcPts val="0"/>
              </a:spcAft>
            </a:pPr>
            <a:r>
              <a:rPr sz="729" i="0">
                <a:solidFill>
                  <a:srgbClr val="5C6773"/>
                </a:solidFill>
                <a:latin typeface="Inconsolata"/>
              </a:rPr>
              <a:t>30  </a:t>
            </a:r>
            <a:r>
              <a:rPr sz="729" i="0">
                <a:solidFill>
                  <a:srgbClr val="E6EDF3"/>
                </a:solidFill>
                <a:latin typeface="Inconsolata"/>
              </a:rPr>
              <a:t>    </a:t>
            </a:r>
            <a:r>
              <a:rPr sz="729" i="0">
                <a:solidFill>
                  <a:srgbClr val="FF8E6E"/>
                </a:solidFill>
                <a:latin typeface="Inconsolata"/>
              </a:rPr>
              <a:t>if</a:t>
            </a:r>
            <a:r>
              <a:rPr sz="729" i="0">
                <a:solidFill>
                  <a:srgbClr val="E6EDF3"/>
                </a:solidFill>
                <a:latin typeface="Inconsolata"/>
              </a:rPr>
              <a:t> </a:t>
            </a:r>
            <a:r>
              <a:rPr sz="729" i="0">
                <a:solidFill>
                  <a:srgbClr val="FF8E6E"/>
                </a:solidFill>
                <a:latin typeface="Inconsolata"/>
              </a:rPr>
              <a:t>not</a:t>
            </a:r>
            <a:r>
              <a:rPr sz="729" i="0">
                <a:solidFill>
                  <a:srgbClr val="E6EDF3"/>
                </a:solidFill>
                <a:latin typeface="Inconsolata"/>
              </a:rPr>
              <a:t> event[</a:t>
            </a:r>
            <a:r>
              <a:rPr sz="729" i="0">
                <a:solidFill>
                  <a:srgbClr val="A5D6A7"/>
                </a:solidFill>
                <a:latin typeface="Inconsolata"/>
              </a:rPr>
              <a:t>"customer"</a:t>
            </a:r>
            <a:r>
              <a:rPr sz="729" i="0">
                <a:solidFill>
                  <a:srgbClr val="E6EDF3"/>
                </a:solidFill>
                <a:latin typeface="Inconsolata"/>
              </a:rPr>
              <a:t>]:</a:t>
            </a:r>
          </a:p>
          <a:p>
            <a:pPr>
              <a:lnSpc>
                <a:spcPct val="102868"/>
              </a:lnSpc>
              <a:spcAft>
                <a:spcPts val="0"/>
              </a:spcAft>
            </a:pPr>
            <a:r>
              <a:rPr sz="729" i="0">
                <a:solidFill>
                  <a:srgbClr val="5C6773"/>
                </a:solidFill>
                <a:latin typeface="Inconsolata"/>
              </a:rPr>
              <a:t>31  </a:t>
            </a:r>
            <a:r>
              <a:rPr sz="729" i="0">
                <a:solidFill>
                  <a:srgbClr val="E6EDF3"/>
                </a:solidFill>
                <a:latin typeface="Inconsolata"/>
              </a:rPr>
              <a:t>        </a:t>
            </a:r>
            <a:r>
              <a:rPr sz="729" i="0">
                <a:solidFill>
                  <a:srgbClr val="FF8E6E"/>
                </a:solidFill>
                <a:latin typeface="Inconsolata"/>
              </a:rPr>
              <a:t>raise</a:t>
            </a:r>
            <a:r>
              <a:rPr sz="729" i="0">
                <a:solidFill>
                  <a:srgbClr val="E6EDF3"/>
                </a:solidFill>
                <a:latin typeface="Inconsolata"/>
              </a:rPr>
              <a:t> </a:t>
            </a:r>
            <a:r>
              <a:rPr sz="729" i="0">
                <a:solidFill>
                  <a:srgbClr val="7FDBCA"/>
                </a:solidFill>
                <a:latin typeface="Inconsolata"/>
              </a:rPr>
              <a:t>ValueError</a:t>
            </a:r>
            <a:r>
              <a:rPr sz="729" i="0">
                <a:solidFill>
                  <a:srgbClr val="E6EDF3"/>
                </a:solidFill>
                <a:latin typeface="Inconsolata"/>
              </a:rPr>
              <a:t>(</a:t>
            </a:r>
            <a:r>
              <a:rPr sz="729" i="0">
                <a:solidFill>
                  <a:srgbClr val="A5D6A7"/>
                </a:solidFill>
                <a:latin typeface="Inconsolata"/>
              </a:rPr>
              <a:t>"customer kosong"</a:t>
            </a:r>
            <a:r>
              <a:rPr sz="729" i="0">
                <a:solidFill>
                  <a:srgbClr val="E6EDF3"/>
                </a:solidFill>
                <a:latin typeface="Inconsolata"/>
              </a:rPr>
              <a:t>)</a:t>
            </a:r>
          </a:p>
          <a:p>
            <a:pPr>
              <a:lnSpc>
                <a:spcPct val="102868"/>
              </a:lnSpc>
              <a:spcAft>
                <a:spcPts val="0"/>
              </a:spcAft>
            </a:pPr>
            <a:r>
              <a:rPr sz="729" i="0">
                <a:solidFill>
                  <a:srgbClr val="5C6773"/>
                </a:solidFill>
                <a:latin typeface="Inconsolata"/>
              </a:rPr>
              <a:t>32  </a:t>
            </a:r>
            <a:r>
              <a:rPr sz="729" i="0">
                <a:solidFill>
                  <a:srgbClr val="E6EDF3"/>
                </a:solidFill>
                <a:latin typeface="Inconsolata"/>
              </a:rPr>
              <a:t>    </a:t>
            </a:r>
            <a:r>
              <a:rPr sz="729" i="0">
                <a:solidFill>
                  <a:srgbClr val="FF8E6E"/>
                </a:solidFill>
                <a:latin typeface="Inconsolata"/>
              </a:rPr>
              <a:t>if</a:t>
            </a:r>
            <a:r>
              <a:rPr sz="729" i="0">
                <a:solidFill>
                  <a:srgbClr val="E6EDF3"/>
                </a:solidFill>
                <a:latin typeface="Inconsolata"/>
              </a:rPr>
              <a:t> order_id == </a:t>
            </a:r>
            <a:r>
              <a:rPr sz="729" i="0">
                <a:solidFill>
                  <a:srgbClr val="F9C97A"/>
                </a:solidFill>
                <a:latin typeface="Inconsolata"/>
              </a:rPr>
              <a:t>2</a:t>
            </a:r>
            <a:r>
              <a:rPr sz="729" i="0">
                <a:solidFill>
                  <a:srgbClr val="E6EDF3"/>
                </a:solidFill>
                <a:latin typeface="Inconsolata"/>
              </a:rPr>
              <a:t> </a:t>
            </a:r>
            <a:r>
              <a:rPr sz="729" i="0">
                <a:solidFill>
                  <a:srgbClr val="FF8E6E"/>
                </a:solidFill>
                <a:latin typeface="Inconsolata"/>
              </a:rPr>
              <a:t>and</a:t>
            </a:r>
            <a:r>
              <a:rPr sz="729" i="0">
                <a:solidFill>
                  <a:srgbClr val="E6EDF3"/>
                </a:solidFill>
                <a:latin typeface="Inconsolata"/>
              </a:rPr>
              <a:t> attempts[order_id] &lt;= </a:t>
            </a:r>
            <a:r>
              <a:rPr sz="729" i="0">
                <a:solidFill>
                  <a:srgbClr val="F9C97A"/>
                </a:solidFill>
                <a:latin typeface="Inconsolata"/>
              </a:rPr>
              <a:t>2</a:t>
            </a:r>
            <a:r>
              <a:rPr sz="729" i="0">
                <a:solidFill>
                  <a:srgbClr val="E6EDF3"/>
                </a:solidFill>
                <a:latin typeface="Inconsolata"/>
              </a:rPr>
              <a:t>:</a:t>
            </a:r>
          </a:p>
          <a:p>
            <a:pPr>
              <a:lnSpc>
                <a:spcPct val="102868"/>
              </a:lnSpc>
              <a:spcAft>
                <a:spcPts val="0"/>
              </a:spcAft>
            </a:pPr>
            <a:r>
              <a:rPr sz="729" i="0">
                <a:solidFill>
                  <a:srgbClr val="5C6773"/>
                </a:solidFill>
                <a:latin typeface="Inconsolata"/>
              </a:rPr>
              <a:t>33  </a:t>
            </a:r>
            <a:r>
              <a:rPr sz="729" i="0">
                <a:solidFill>
                  <a:srgbClr val="E6EDF3"/>
                </a:solidFill>
                <a:latin typeface="Inconsolata"/>
              </a:rPr>
              <a:t>        </a:t>
            </a:r>
            <a:r>
              <a:rPr sz="729" i="0">
                <a:solidFill>
                  <a:srgbClr val="FF8E6E"/>
                </a:solidFill>
                <a:latin typeface="Inconsolata"/>
              </a:rPr>
              <a:t>raise</a:t>
            </a:r>
            <a:r>
              <a:rPr sz="729" i="0">
                <a:solidFill>
                  <a:srgbClr val="E6EDF3"/>
                </a:solidFill>
                <a:latin typeface="Inconsolata"/>
              </a:rPr>
              <a:t> </a:t>
            </a:r>
            <a:r>
              <a:rPr sz="729" i="0">
                <a:solidFill>
                  <a:srgbClr val="7FDBCA"/>
                </a:solidFill>
                <a:latin typeface="Inconsolata"/>
              </a:rPr>
              <a:t>EmailServerDown</a:t>
            </a:r>
            <a:r>
              <a:rPr sz="729" i="0">
                <a:solidFill>
                  <a:srgbClr val="E6EDF3"/>
                </a:solidFill>
                <a:latin typeface="Inconsolata"/>
              </a:rPr>
              <a:t>(</a:t>
            </a:r>
            <a:r>
              <a:rPr sz="729" i="0">
                <a:solidFill>
                  <a:srgbClr val="A5D6A7"/>
                </a:solidFill>
                <a:latin typeface="Inconsolata"/>
              </a:rPr>
              <a:t>"server email timeout"</a:t>
            </a:r>
            <a:r>
              <a:rPr sz="729" i="0">
                <a:solidFill>
                  <a:srgbClr val="E6EDF3"/>
                </a:solidFill>
                <a:latin typeface="Inconsolata"/>
              </a:rPr>
              <a:t>)</a:t>
            </a:r>
          </a:p>
          <a:p>
            <a:pPr>
              <a:lnSpc>
                <a:spcPct val="102868"/>
              </a:lnSpc>
              <a:spcAft>
                <a:spcPts val="0"/>
              </a:spcAft>
            </a:pPr>
            <a:r>
              <a:rPr sz="729" i="0">
                <a:solidFill>
                  <a:srgbClr val="5C6773"/>
                </a:solidFill>
                <a:latin typeface="Inconsolata"/>
              </a:rPr>
              <a:t>34  </a:t>
            </a:r>
            <a:r>
              <a:rPr sz="729" i="0">
                <a:solidFill>
                  <a:srgbClr val="E6EDF3"/>
                </a:solidFill>
                <a:latin typeface="Inconsolata"/>
              </a:rPr>
              <a:t>    </a:t>
            </a:r>
            <a:r>
              <a:rPr sz="729" i="0">
                <a:solidFill>
                  <a:srgbClr val="C3A6FF"/>
                </a:solidFill>
                <a:latin typeface="Inconsolata"/>
              </a:rPr>
              <a:t>print</a:t>
            </a:r>
            <a:r>
              <a:rPr sz="729" i="0">
                <a:solidFill>
                  <a:srgbClr val="E6EDF3"/>
                </a:solidFill>
                <a:latin typeface="Inconsolata"/>
              </a:rPr>
              <a:t>(</a:t>
            </a:r>
            <a:r>
              <a:rPr sz="729" i="0">
                <a:solidFill>
                  <a:srgbClr val="A5D6A7"/>
                </a:solidFill>
                <a:latin typeface="Inconsolata"/>
              </a:rPr>
              <a:t>f"  email order #{order_id} terkirim "</a:t>
            </a:r>
          </a:p>
          <a:p>
            <a:pPr>
              <a:lnSpc>
                <a:spcPct val="102868"/>
              </a:lnSpc>
              <a:spcAft>
                <a:spcPts val="0"/>
              </a:spcAft>
            </a:pPr>
            <a:r>
              <a:rPr sz="729" i="0">
                <a:solidFill>
                  <a:srgbClr val="5C6773"/>
                </a:solidFill>
                <a:latin typeface="Inconsolata"/>
              </a:rPr>
              <a:t>35  </a:t>
            </a:r>
            <a:r>
              <a:rPr sz="729" i="0">
                <a:solidFill>
                  <a:srgbClr val="E6EDF3"/>
                </a:solidFill>
                <a:latin typeface="Inconsolata"/>
              </a:rPr>
              <a:t>          </a:t>
            </a:r>
            <a:r>
              <a:rPr sz="729" i="0">
                <a:solidFill>
                  <a:srgbClr val="A5D6A7"/>
                </a:solidFill>
                <a:latin typeface="Inconsolata"/>
              </a:rPr>
              <a:t>f"(percobaan ke-{attempts[order_id]})"</a:t>
            </a:r>
            <a:r>
              <a:rPr sz="729" i="0">
                <a:solidFill>
                  <a:srgbClr val="E6EDF3"/>
                </a:solidFill>
                <a:latin typeface="Inconsolata"/>
              </a:rPr>
              <a: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Dead Letter Queue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semua error dikembalikan ke queue (2/2)</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04-nack-dead-letter/before.py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2868"/>
              </a:lnSpc>
              <a:spcAft>
                <a:spcPts val="0"/>
              </a:spcAft>
            </a:pPr>
            <a:r>
              <a:rPr sz="729" i="0">
                <a:solidFill>
                  <a:srgbClr val="5C6773"/>
                </a:solidFill>
                <a:latin typeface="Inconsolata"/>
              </a:rPr>
              <a:t>38  </a:t>
            </a:r>
            <a:r>
              <a:rPr sz="729" i="0">
                <a:solidFill>
                  <a:srgbClr val="FF8E6E"/>
                </a:solidFill>
                <a:latin typeface="Inconsolata"/>
              </a:rPr>
              <a:t>def</a:t>
            </a:r>
            <a:r>
              <a:rPr sz="729" i="0">
                <a:solidFill>
                  <a:srgbClr val="E6EDF3"/>
                </a:solidFill>
                <a:latin typeface="Inconsolata"/>
              </a:rPr>
              <a:t> </a:t>
            </a:r>
            <a:r>
              <a:rPr sz="729" i="0">
                <a:solidFill>
                  <a:srgbClr val="82B1FF"/>
                </a:solidFill>
                <a:latin typeface="Inconsolata"/>
              </a:rPr>
              <a:t>handle</a:t>
            </a:r>
            <a:r>
              <a:rPr sz="729" i="0">
                <a:solidFill>
                  <a:srgbClr val="E6EDF3"/>
                </a:solidFill>
                <a:latin typeface="Inconsolata"/>
              </a:rPr>
              <a:t>(channel, method, body):</a:t>
            </a:r>
          </a:p>
          <a:p>
            <a:pPr>
              <a:lnSpc>
                <a:spcPct val="102868"/>
              </a:lnSpc>
              <a:spcAft>
                <a:spcPts val="0"/>
              </a:spcAft>
            </a:pPr>
            <a:r>
              <a:rPr sz="729" i="0">
                <a:solidFill>
                  <a:srgbClr val="5C6773"/>
                </a:solidFill>
                <a:latin typeface="Inconsolata"/>
              </a:rPr>
              <a:t>39  </a:t>
            </a:r>
            <a:r>
              <a:rPr sz="729" i="0">
                <a:solidFill>
                  <a:srgbClr val="E6EDF3"/>
                </a:solidFill>
                <a:latin typeface="Inconsolata"/>
              </a:rPr>
              <a:t>    </a:t>
            </a:r>
            <a:r>
              <a:rPr sz="729" i="0">
                <a:solidFill>
                  <a:srgbClr val="FF8E6E"/>
                </a:solidFill>
                <a:latin typeface="Inconsolata"/>
              </a:rPr>
              <a:t>try</a:t>
            </a:r>
            <a:r>
              <a:rPr sz="729" i="0">
                <a:solidFill>
                  <a:srgbClr val="E6EDF3"/>
                </a:solidFill>
                <a:latin typeface="Inconsolata"/>
              </a:rPr>
              <a:t>:</a:t>
            </a:r>
          </a:p>
          <a:p>
            <a:pPr>
              <a:lnSpc>
                <a:spcPct val="102868"/>
              </a:lnSpc>
              <a:spcAft>
                <a:spcPts val="0"/>
              </a:spcAft>
            </a:pPr>
            <a:r>
              <a:rPr sz="729" i="0">
                <a:solidFill>
                  <a:srgbClr val="5C6773"/>
                </a:solidFill>
                <a:latin typeface="Inconsolata"/>
              </a:rPr>
              <a:t>40  </a:t>
            </a:r>
            <a:r>
              <a:rPr sz="729" i="0">
                <a:solidFill>
                  <a:srgbClr val="E6EDF3"/>
                </a:solidFill>
                <a:latin typeface="Inconsolata"/>
              </a:rPr>
              <a:t>        send_email(json.loads(body))</a:t>
            </a:r>
          </a:p>
          <a:p>
            <a:pPr>
              <a:lnSpc>
                <a:spcPct val="102868"/>
              </a:lnSpc>
              <a:spcAft>
                <a:spcPts val="0"/>
              </a:spcAft>
            </a:pPr>
            <a:r>
              <a:rPr sz="729" i="0">
                <a:solidFill>
                  <a:srgbClr val="5C6773"/>
                </a:solidFill>
                <a:latin typeface="Inconsolata"/>
              </a:rPr>
              <a:t>41  </a:t>
            </a:r>
            <a:r>
              <a:rPr sz="729" i="0">
                <a:solidFill>
                  <a:srgbClr val="E6EDF3"/>
                </a:solidFill>
                <a:latin typeface="Inconsolata"/>
              </a:rPr>
              <a:t>        channel.basic_ack(method.delivery_tag)</a:t>
            </a:r>
          </a:p>
          <a:p>
            <a:pPr>
              <a:lnSpc>
                <a:spcPct val="102868"/>
              </a:lnSpc>
              <a:spcAft>
                <a:spcPts val="0"/>
              </a:spcAft>
            </a:pPr>
            <a:r>
              <a:rPr sz="729" i="0">
                <a:solidFill>
                  <a:srgbClr val="5C6773"/>
                </a:solidFill>
                <a:latin typeface="Inconsolata"/>
              </a:rPr>
              <a:t>42  </a:t>
            </a:r>
            <a:r>
              <a:rPr sz="729" i="0">
                <a:solidFill>
                  <a:srgbClr val="E6EDF3"/>
                </a:solidFill>
                <a:latin typeface="Inconsolata"/>
              </a:rPr>
              <a:t>    </a:t>
            </a:r>
            <a:r>
              <a:rPr sz="729" i="0">
                <a:solidFill>
                  <a:srgbClr val="FF8E6E"/>
                </a:solidFill>
                <a:latin typeface="Inconsolata"/>
              </a:rPr>
              <a:t>except</a:t>
            </a:r>
            <a:r>
              <a:rPr sz="729" i="0">
                <a:solidFill>
                  <a:srgbClr val="E6EDF3"/>
                </a:solidFill>
                <a:latin typeface="Inconsolata"/>
              </a:rPr>
              <a:t> (</a:t>
            </a:r>
            <a:r>
              <a:rPr sz="729" i="0">
                <a:solidFill>
                  <a:srgbClr val="7FDBCA"/>
                </a:solidFill>
                <a:latin typeface="Inconsolata"/>
              </a:rPr>
              <a:t>ValueError</a:t>
            </a:r>
            <a:r>
              <a:rPr sz="729" i="0">
                <a:solidFill>
                  <a:srgbClr val="E6EDF3"/>
                </a:solidFill>
                <a:latin typeface="Inconsolata"/>
              </a:rPr>
              <a:t>, </a:t>
            </a:r>
            <a:r>
              <a:rPr sz="729" i="0">
                <a:solidFill>
                  <a:srgbClr val="7FDBCA"/>
                </a:solidFill>
                <a:latin typeface="Inconsolata"/>
              </a:rPr>
              <a:t>EmailServerDown</a:t>
            </a:r>
            <a:r>
              <a:rPr sz="729" i="0">
                <a:solidFill>
                  <a:srgbClr val="E6EDF3"/>
                </a:solidFill>
                <a:latin typeface="Inconsolata"/>
              </a:rPr>
              <a:t>):</a:t>
            </a:r>
          </a:p>
          <a:p>
            <a:pPr>
              <a:lnSpc>
                <a:spcPct val="102868"/>
              </a:lnSpc>
              <a:spcAft>
                <a:spcPts val="0"/>
              </a:spcAft>
            </a:pPr>
            <a:r>
              <a:rPr sz="729" i="0">
                <a:solidFill>
                  <a:srgbClr val="5C6773"/>
                </a:solidFill>
                <a:latin typeface="Inconsolata"/>
              </a:rPr>
              <a:t>43  </a:t>
            </a:r>
            <a:r>
              <a:rPr sz="729" i="0">
                <a:solidFill>
                  <a:srgbClr val="E6EDF3"/>
                </a:solidFill>
                <a:latin typeface="Inconsolata"/>
              </a:rPr>
              <a:t>        </a:t>
            </a:r>
            <a:r>
              <a:rPr sz="729" i="1">
                <a:solidFill>
                  <a:srgbClr val="8B98A8"/>
                </a:solidFill>
                <a:latin typeface="Inconsolata"/>
              </a:rPr>
              <a:t># kembalikan ke queue, coba lagi</a:t>
            </a:r>
          </a:p>
          <a:p>
            <a:pPr>
              <a:lnSpc>
                <a:spcPct val="102868"/>
              </a:lnSpc>
              <a:spcAft>
                <a:spcPts val="0"/>
              </a:spcAft>
            </a:pPr>
            <a:r>
              <a:rPr sz="729" i="0">
                <a:solidFill>
                  <a:srgbClr val="5C6773"/>
                </a:solidFill>
                <a:latin typeface="Inconsolata"/>
              </a:rPr>
              <a:t>44  </a:t>
            </a:r>
            <a:r>
              <a:rPr sz="729" i="0">
                <a:solidFill>
                  <a:srgbClr val="E6EDF3"/>
                </a:solidFill>
                <a:latin typeface="Inconsolata"/>
              </a:rPr>
              <a:t>        channel.basic_nack(method.delivery_tag, requeue=</a:t>
            </a:r>
            <a:r>
              <a:rPr sz="729" i="0">
                <a:solidFill>
                  <a:srgbClr val="FF8E6E"/>
                </a:solidFill>
                <a:latin typeface="Inconsolata"/>
              </a:rPr>
              <a:t>True</a:t>
            </a:r>
            <a:r>
              <a:rPr sz="729" i="0">
                <a:solidFill>
                  <a:srgbClr val="E6EDF3"/>
                </a:solidFill>
                <a:latin typeface="Inconsolata"/>
              </a:rPr>
              <a:t>)</a:t>
            </a:r>
          </a:p>
          <a:p>
            <a:pPr>
              <a:lnSpc>
                <a:spcPct val="102868"/>
              </a:lnSpc>
              <a:spcAft>
                <a:spcPts val="0"/>
              </a:spcAft>
            </a:pPr>
            <a:r>
              <a:rPr sz="729" i="0">
                <a:solidFill>
                  <a:srgbClr val="5C6773"/>
                </a:solidFill>
                <a:latin typeface="Inconsolata"/>
              </a:rPr>
              <a:t>45  </a:t>
            </a:r>
            <a:r>
              <a:rPr sz="729" i="0">
                <a:solidFill>
                  <a:srgbClr val="E6EDF3"/>
                </a:solidFill>
                <a:latin typeface="Inconsolata"/>
              </a:rPr>
              <a:t> </a:t>
            </a:r>
          </a:p>
          <a:p>
            <a:pPr>
              <a:lnSpc>
                <a:spcPct val="102868"/>
              </a:lnSpc>
              <a:spcAft>
                <a:spcPts val="0"/>
              </a:spcAft>
            </a:pPr>
            <a:r>
              <a:rPr sz="729" i="0">
                <a:solidFill>
                  <a:srgbClr val="5C6773"/>
                </a:solidFill>
                <a:latin typeface="Inconsolata"/>
              </a:rPr>
              <a:t>46  </a:t>
            </a:r>
            <a:r>
              <a:rPr sz="729" i="0">
                <a:solidFill>
                  <a:srgbClr val="E6EDF3"/>
                </a:solidFill>
                <a:latin typeface="Inconsolata"/>
              </a:rPr>
              <a:t> </a:t>
            </a:r>
          </a:p>
          <a:p>
            <a:pPr>
              <a:lnSpc>
                <a:spcPct val="102868"/>
              </a:lnSpc>
              <a:spcAft>
                <a:spcPts val="0"/>
              </a:spcAft>
            </a:pPr>
            <a:r>
              <a:rPr sz="729" i="0">
                <a:solidFill>
                  <a:srgbClr val="5C6773"/>
                </a:solidFill>
                <a:latin typeface="Inconsolata"/>
              </a:rPr>
              <a:t>47  </a:t>
            </a:r>
            <a:r>
              <a:rPr sz="729" i="0">
                <a:solidFill>
                  <a:srgbClr val="FF8E6E"/>
                </a:solidFill>
                <a:latin typeface="Inconsolata"/>
              </a:rPr>
              <a:t>if</a:t>
            </a:r>
            <a:r>
              <a:rPr sz="729" i="0">
                <a:solidFill>
                  <a:srgbClr val="E6EDF3"/>
                </a:solidFill>
                <a:latin typeface="Inconsolata"/>
              </a:rPr>
              <a:t> __name__ == </a:t>
            </a:r>
            <a:r>
              <a:rPr sz="729" i="0">
                <a:solidFill>
                  <a:srgbClr val="A5D6A7"/>
                </a:solidFill>
                <a:latin typeface="Inconsolata"/>
              </a:rPr>
              <a:t>"__main__"</a:t>
            </a:r>
            <a:r>
              <a:rPr sz="729" i="0">
                <a:solidFill>
                  <a:srgbClr val="E6EDF3"/>
                </a:solidFill>
                <a:latin typeface="Inconsolata"/>
              </a:rPr>
              <a:t>:</a:t>
            </a:r>
          </a:p>
          <a:p>
            <a:pPr>
              <a:lnSpc>
                <a:spcPct val="102868"/>
              </a:lnSpc>
              <a:spcAft>
                <a:spcPts val="0"/>
              </a:spcAft>
            </a:pPr>
            <a:r>
              <a:rPr sz="729" i="0">
                <a:solidFill>
                  <a:srgbClr val="5C6773"/>
                </a:solidFill>
                <a:latin typeface="Inconsolata"/>
              </a:rPr>
              <a:t>48  </a:t>
            </a:r>
            <a:r>
              <a:rPr sz="729" i="0">
                <a:solidFill>
                  <a:srgbClr val="E6EDF3"/>
                </a:solidFill>
                <a:latin typeface="Inconsolata"/>
              </a:rPr>
              <a:t>    </a:t>
            </a:r>
            <a:r>
              <a:rPr sz="729" i="0">
                <a:solidFill>
                  <a:srgbClr val="FF8E6E"/>
                </a:solidFill>
                <a:latin typeface="Inconsolata"/>
              </a:rPr>
              <a:t>with</a:t>
            </a:r>
            <a:r>
              <a:rPr sz="729" i="0">
                <a:solidFill>
                  <a:srgbClr val="E6EDF3"/>
                </a:solidFill>
                <a:latin typeface="Inconsolata"/>
              </a:rPr>
              <a:t> pika.</a:t>
            </a:r>
            <a:r>
              <a:rPr sz="729" i="0">
                <a:solidFill>
                  <a:srgbClr val="7FDBCA"/>
                </a:solidFill>
                <a:latin typeface="Inconsolata"/>
              </a:rPr>
              <a:t>BlockingConnection</a:t>
            </a:r>
            <a:r>
              <a:rPr sz="729" i="0">
                <a:solidFill>
                  <a:srgbClr val="E6EDF3"/>
                </a:solidFill>
                <a:latin typeface="Inconsolata"/>
              </a:rPr>
              <a:t>(pika.</a:t>
            </a:r>
            <a:r>
              <a:rPr sz="729" i="0">
                <a:solidFill>
                  <a:srgbClr val="7FDBCA"/>
                </a:solidFill>
                <a:latin typeface="Inconsolata"/>
              </a:rPr>
              <a:t>URLParameters</a:t>
            </a:r>
            <a:r>
              <a:rPr sz="729" i="0">
                <a:solidFill>
                  <a:srgbClr val="E6EDF3"/>
                </a:solidFill>
                <a:latin typeface="Inconsolata"/>
              </a:rPr>
              <a:t>(</a:t>
            </a:r>
            <a:r>
              <a:rPr sz="729" i="0">
                <a:solidFill>
                  <a:srgbClr val="7FDBCA"/>
                </a:solidFill>
                <a:latin typeface="Inconsolata"/>
              </a:rPr>
              <a:t>URL</a:t>
            </a:r>
            <a:r>
              <a:rPr sz="729" i="0">
                <a:solidFill>
                  <a:srgbClr val="E6EDF3"/>
                </a:solidFill>
                <a:latin typeface="Inconsolata"/>
              </a:rPr>
              <a:t>)) </a:t>
            </a:r>
            <a:r>
              <a:rPr sz="729" i="0">
                <a:solidFill>
                  <a:srgbClr val="FF8E6E"/>
                </a:solidFill>
                <a:latin typeface="Inconsolata"/>
              </a:rPr>
              <a:t>as</a:t>
            </a:r>
            <a:r>
              <a:rPr sz="729" i="0">
                <a:solidFill>
                  <a:srgbClr val="E6EDF3"/>
                </a:solidFill>
                <a:latin typeface="Inconsolata"/>
              </a:rPr>
              <a:t> conn:</a:t>
            </a:r>
          </a:p>
          <a:p>
            <a:pPr>
              <a:lnSpc>
                <a:spcPct val="102868"/>
              </a:lnSpc>
              <a:spcAft>
                <a:spcPts val="0"/>
              </a:spcAft>
            </a:pPr>
            <a:r>
              <a:rPr sz="729" i="0">
                <a:solidFill>
                  <a:srgbClr val="5C6773"/>
                </a:solidFill>
                <a:latin typeface="Inconsolata"/>
              </a:rPr>
              <a:t>49  </a:t>
            </a:r>
            <a:r>
              <a:rPr sz="729" i="0">
                <a:solidFill>
                  <a:srgbClr val="E6EDF3"/>
                </a:solidFill>
                <a:latin typeface="Inconsolata"/>
              </a:rPr>
              <a:t>        channel = conn.channel()</a:t>
            </a:r>
          </a:p>
          <a:p>
            <a:pPr>
              <a:lnSpc>
                <a:spcPct val="102868"/>
              </a:lnSpc>
              <a:spcAft>
                <a:spcPts val="0"/>
              </a:spcAft>
            </a:pPr>
            <a:r>
              <a:rPr sz="729" i="0">
                <a:solidFill>
                  <a:srgbClr val="5C6773"/>
                </a:solidFill>
                <a:latin typeface="Inconsolata"/>
              </a:rPr>
              <a:t>50  </a:t>
            </a:r>
            <a:r>
              <a:rPr sz="729" i="0">
                <a:solidFill>
                  <a:srgbClr val="E6EDF3"/>
                </a:solidFill>
                <a:latin typeface="Inconsolata"/>
              </a:rPr>
              <a:t>        channel.confirm_delivery()</a:t>
            </a:r>
          </a:p>
          <a:p>
            <a:pPr>
              <a:lnSpc>
                <a:spcPct val="102868"/>
              </a:lnSpc>
              <a:spcAft>
                <a:spcPts val="0"/>
              </a:spcAft>
            </a:pPr>
            <a:r>
              <a:rPr sz="729" i="0">
                <a:solidFill>
                  <a:srgbClr val="5C6773"/>
                </a:solidFill>
                <a:latin typeface="Inconsolata"/>
              </a:rPr>
              <a:t>51  </a:t>
            </a:r>
            <a:r>
              <a:rPr sz="729" i="0">
                <a:solidFill>
                  <a:srgbClr val="E6EDF3"/>
                </a:solidFill>
                <a:latin typeface="Inconsolata"/>
              </a:rPr>
              <a:t>        channel.queue_delete(</a:t>
            </a:r>
            <a:r>
              <a:rPr sz="729" i="0">
                <a:solidFill>
                  <a:srgbClr val="A5D6A7"/>
                </a:solidFill>
                <a:latin typeface="Inconsolata"/>
              </a:rPr>
              <a:t>"email"</a:t>
            </a:r>
            <a:r>
              <a:rPr sz="729" i="0">
                <a:solidFill>
                  <a:srgbClr val="E6EDF3"/>
                </a:solidFill>
                <a:latin typeface="Inconsolata"/>
              </a:rPr>
              <a:t>)</a:t>
            </a:r>
          </a:p>
          <a:p>
            <a:pPr>
              <a:lnSpc>
                <a:spcPct val="102868"/>
              </a:lnSpc>
              <a:spcAft>
                <a:spcPts val="0"/>
              </a:spcAft>
            </a:pPr>
            <a:r>
              <a:rPr sz="729" i="0">
                <a:solidFill>
                  <a:srgbClr val="5C6773"/>
                </a:solidFill>
                <a:latin typeface="Inconsolata"/>
              </a:rPr>
              <a:t>52  </a:t>
            </a:r>
            <a:r>
              <a:rPr sz="729" i="0">
                <a:solidFill>
                  <a:srgbClr val="E6EDF3"/>
                </a:solidFill>
                <a:latin typeface="Inconsolata"/>
              </a:rPr>
              <a:t>        channel.queue_declare(</a:t>
            </a:r>
            <a:r>
              <a:rPr sz="729" i="0">
                <a:solidFill>
                  <a:srgbClr val="A5D6A7"/>
                </a:solidFill>
                <a:latin typeface="Inconsolata"/>
              </a:rPr>
              <a:t>"email"</a:t>
            </a:r>
            <a:r>
              <a:rPr sz="729" i="0">
                <a:solidFill>
                  <a:srgbClr val="E6EDF3"/>
                </a:solidFill>
                <a:latin typeface="Inconsolata"/>
              </a:rPr>
              <a:t>, durable=</a:t>
            </a:r>
            <a:r>
              <a:rPr sz="729" i="0">
                <a:solidFill>
                  <a:srgbClr val="FF8E6E"/>
                </a:solidFill>
                <a:latin typeface="Inconsolata"/>
              </a:rPr>
              <a:t>True</a:t>
            </a:r>
            <a:r>
              <a:rPr sz="729" i="0">
                <a:solidFill>
                  <a:srgbClr val="E6EDF3"/>
                </a:solidFill>
                <a:latin typeface="Inconsolata"/>
              </a:rPr>
              <a:t>)</a:t>
            </a:r>
          </a:p>
          <a:p>
            <a:pPr>
              <a:lnSpc>
                <a:spcPct val="102868"/>
              </a:lnSpc>
              <a:spcAft>
                <a:spcPts val="0"/>
              </a:spcAft>
            </a:pPr>
            <a:r>
              <a:rPr sz="729" i="0">
                <a:solidFill>
                  <a:srgbClr val="5C6773"/>
                </a:solidFill>
                <a:latin typeface="Inconsolata"/>
              </a:rPr>
              <a:t>53  </a:t>
            </a:r>
            <a:r>
              <a:rPr sz="729" i="0">
                <a:solidFill>
                  <a:srgbClr val="E6EDF3"/>
                </a:solidFill>
                <a:latin typeface="Inconsolata"/>
              </a:rPr>
              <a:t>        </a:t>
            </a:r>
            <a:r>
              <a:rPr sz="729" i="0">
                <a:solidFill>
                  <a:srgbClr val="FF8E6E"/>
                </a:solidFill>
                <a:latin typeface="Inconsolata"/>
              </a:rPr>
              <a:t>for</a:t>
            </a:r>
            <a:r>
              <a:rPr sz="729" i="0">
                <a:solidFill>
                  <a:srgbClr val="E6EDF3"/>
                </a:solidFill>
                <a:latin typeface="Inconsolata"/>
              </a:rPr>
              <a:t> event </a:t>
            </a:r>
            <a:r>
              <a:rPr sz="729" i="0">
                <a:solidFill>
                  <a:srgbClr val="FF8E6E"/>
                </a:solidFill>
                <a:latin typeface="Inconsolata"/>
              </a:rPr>
              <a:t>in</a:t>
            </a:r>
            <a:r>
              <a:rPr sz="729" i="0">
                <a:solidFill>
                  <a:srgbClr val="E6EDF3"/>
                </a:solidFill>
                <a:latin typeface="Inconsolata"/>
              </a:rPr>
              <a:t> ({</a:t>
            </a:r>
            <a:r>
              <a:rPr sz="729" i="0">
                <a:solidFill>
                  <a:srgbClr val="A5D6A7"/>
                </a:solidFill>
                <a:latin typeface="Inconsolata"/>
              </a:rPr>
              <a:t>"order_id"</a:t>
            </a:r>
            <a:r>
              <a:rPr sz="729" i="0">
                <a:solidFill>
                  <a:srgbClr val="E6EDF3"/>
                </a:solidFill>
                <a:latin typeface="Inconsolata"/>
              </a:rPr>
              <a:t>: </a:t>
            </a:r>
            <a:r>
              <a:rPr sz="729" i="0">
                <a:solidFill>
                  <a:srgbClr val="F9C97A"/>
                </a:solidFill>
                <a:latin typeface="Inconsolata"/>
              </a:rPr>
              <a:t>1</a:t>
            </a:r>
            <a:r>
              <a:rPr sz="729" i="0">
                <a:solidFill>
                  <a:srgbClr val="E6EDF3"/>
                </a:solidFill>
                <a:latin typeface="Inconsolata"/>
              </a:rPr>
              <a:t>, </a:t>
            </a:r>
            <a:r>
              <a:rPr sz="729" i="0">
                <a:solidFill>
                  <a:srgbClr val="A5D6A7"/>
                </a:solidFill>
                <a:latin typeface="Inconsolata"/>
              </a:rPr>
              <a:t>"customer"</a:t>
            </a:r>
            <a:r>
              <a:rPr sz="729" i="0">
                <a:solidFill>
                  <a:srgbClr val="E6EDF3"/>
                </a:solidFill>
                <a:latin typeface="Inconsolata"/>
              </a:rPr>
              <a:t>: </a:t>
            </a:r>
            <a:r>
              <a:rPr sz="729" i="0">
                <a:solidFill>
                  <a:srgbClr val="A5D6A7"/>
                </a:solidFill>
                <a:latin typeface="Inconsolata"/>
              </a:rPr>
              <a:t>""</a:t>
            </a:r>
            <a:r>
              <a:rPr sz="729" i="0">
                <a:solidFill>
                  <a:srgbClr val="E6EDF3"/>
                </a:solidFill>
                <a:latin typeface="Inconsolata"/>
              </a:rPr>
              <a:t>},  </a:t>
            </a:r>
            <a:r>
              <a:rPr sz="729" i="1">
                <a:solidFill>
                  <a:srgbClr val="8B98A8"/>
                </a:solidFill>
                <a:latin typeface="Inconsolata"/>
              </a:rPr>
              <a:t># pesan rusak</a:t>
            </a:r>
          </a:p>
          <a:p>
            <a:pPr>
              <a:lnSpc>
                <a:spcPct val="102868"/>
              </a:lnSpc>
              <a:spcAft>
                <a:spcPts val="0"/>
              </a:spcAft>
            </a:pPr>
            <a:r>
              <a:rPr sz="729" i="0">
                <a:solidFill>
                  <a:srgbClr val="5C6773"/>
                </a:solidFill>
                <a:latin typeface="Inconsolata"/>
              </a:rPr>
              <a:t>54  </a:t>
            </a:r>
            <a:r>
              <a:rPr sz="729" i="0">
                <a:solidFill>
                  <a:srgbClr val="E6EDF3"/>
                </a:solidFill>
                <a:latin typeface="Inconsolata"/>
              </a:rPr>
              <a:t>                      {</a:t>
            </a:r>
            <a:r>
              <a:rPr sz="729" i="0">
                <a:solidFill>
                  <a:srgbClr val="A5D6A7"/>
                </a:solidFill>
                <a:latin typeface="Inconsolata"/>
              </a:rPr>
              <a:t>"order_id"</a:t>
            </a:r>
            <a:r>
              <a:rPr sz="729" i="0">
                <a:solidFill>
                  <a:srgbClr val="E6EDF3"/>
                </a:solidFill>
                <a:latin typeface="Inconsolata"/>
              </a:rPr>
              <a:t>: </a:t>
            </a:r>
            <a:r>
              <a:rPr sz="729" i="0">
                <a:solidFill>
                  <a:srgbClr val="F9C97A"/>
                </a:solidFill>
                <a:latin typeface="Inconsolata"/>
              </a:rPr>
              <a:t>2</a:t>
            </a:r>
            <a:r>
              <a:rPr sz="729" i="0">
                <a:solidFill>
                  <a:srgbClr val="E6EDF3"/>
                </a:solidFill>
                <a:latin typeface="Inconsolata"/>
              </a:rPr>
              <a:t>, </a:t>
            </a:r>
            <a:r>
              <a:rPr sz="729" i="0">
                <a:solidFill>
                  <a:srgbClr val="A5D6A7"/>
                </a:solidFill>
                <a:latin typeface="Inconsolata"/>
              </a:rPr>
              <a:t>"customer"</a:t>
            </a:r>
            <a:r>
              <a:rPr sz="729" i="0">
                <a:solidFill>
                  <a:srgbClr val="E6EDF3"/>
                </a:solidFill>
                <a:latin typeface="Inconsolata"/>
              </a:rPr>
              <a:t>: </a:t>
            </a:r>
            <a:r>
              <a:rPr sz="729" i="0">
                <a:solidFill>
                  <a:srgbClr val="A5D6A7"/>
                </a:solidFill>
                <a:latin typeface="Inconsolata"/>
              </a:rPr>
              <a:t>"budi@mail.com"</a:t>
            </a:r>
            <a:r>
              <a:rPr sz="729" i="0">
                <a:solidFill>
                  <a:srgbClr val="E6EDF3"/>
                </a:solidFill>
                <a:latin typeface="Inconsolata"/>
              </a:rPr>
              <a:t>}):</a:t>
            </a:r>
          </a:p>
          <a:p>
            <a:pPr>
              <a:lnSpc>
                <a:spcPct val="102868"/>
              </a:lnSpc>
              <a:spcAft>
                <a:spcPts val="0"/>
              </a:spcAft>
            </a:pPr>
            <a:r>
              <a:rPr sz="729" i="0">
                <a:solidFill>
                  <a:srgbClr val="5C6773"/>
                </a:solidFill>
                <a:latin typeface="Inconsolata"/>
              </a:rPr>
              <a:t>55  </a:t>
            </a:r>
            <a:r>
              <a:rPr sz="729" i="0">
                <a:solidFill>
                  <a:srgbClr val="E6EDF3"/>
                </a:solidFill>
                <a:latin typeface="Inconsolata"/>
              </a:rPr>
              <a:t>            channel.basic_publish(</a:t>
            </a:r>
            <a:r>
              <a:rPr sz="729" i="0">
                <a:solidFill>
                  <a:srgbClr val="A5D6A7"/>
                </a:solidFill>
                <a:latin typeface="Inconsolata"/>
              </a:rPr>
              <a:t>""</a:t>
            </a:r>
            <a:r>
              <a:rPr sz="729" i="0">
                <a:solidFill>
                  <a:srgbClr val="E6EDF3"/>
                </a:solidFill>
                <a:latin typeface="Inconsolata"/>
              </a:rPr>
              <a:t>, </a:t>
            </a:r>
            <a:r>
              <a:rPr sz="729" i="0">
                <a:solidFill>
                  <a:srgbClr val="A5D6A7"/>
                </a:solidFill>
                <a:latin typeface="Inconsolata"/>
              </a:rPr>
              <a:t>"email"</a:t>
            </a:r>
            <a:r>
              <a:rPr sz="729" i="0">
                <a:solidFill>
                  <a:srgbClr val="E6EDF3"/>
                </a:solidFill>
                <a:latin typeface="Inconsolata"/>
              </a:rPr>
              <a:t>, json.dumps(event))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04-nack-dead-letter/before.py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2868"/>
              </a:lnSpc>
              <a:spcAft>
                <a:spcPts val="0"/>
              </a:spcAft>
            </a:pPr>
            <a:r>
              <a:rPr sz="729" i="0">
                <a:solidFill>
                  <a:srgbClr val="5C6773"/>
                </a:solidFill>
                <a:latin typeface="Inconsolata"/>
              </a:rPr>
              <a:t>57  </a:t>
            </a:r>
            <a:r>
              <a:rPr sz="729" i="0">
                <a:solidFill>
                  <a:srgbClr val="E6EDF3"/>
                </a:solidFill>
                <a:latin typeface="Inconsolata"/>
              </a:rPr>
              <a:t>        channel.basic_qos(prefetch_count=</a:t>
            </a:r>
            <a:r>
              <a:rPr sz="729" i="0">
                <a:solidFill>
                  <a:srgbClr val="F9C97A"/>
                </a:solidFill>
                <a:latin typeface="Inconsolata"/>
              </a:rPr>
              <a:t>1</a:t>
            </a:r>
            <a:r>
              <a:rPr sz="729" i="0">
                <a:solidFill>
                  <a:srgbClr val="E6EDF3"/>
                </a:solidFill>
                <a:latin typeface="Inconsolata"/>
              </a:rPr>
              <a:t>)</a:t>
            </a:r>
          </a:p>
          <a:p>
            <a:pPr>
              <a:lnSpc>
                <a:spcPct val="102868"/>
              </a:lnSpc>
              <a:spcAft>
                <a:spcPts val="0"/>
              </a:spcAft>
            </a:pPr>
            <a:r>
              <a:rPr sz="729" i="0">
                <a:solidFill>
                  <a:srgbClr val="5C6773"/>
                </a:solidFill>
                <a:latin typeface="Inconsolata"/>
              </a:rPr>
              <a:t>58  </a:t>
            </a:r>
            <a:r>
              <a:rPr sz="729" i="0">
                <a:solidFill>
                  <a:srgbClr val="E6EDF3"/>
                </a:solidFill>
                <a:latin typeface="Inconsolata"/>
              </a:rPr>
              <a:t>        stop_at = time.monotonic() + </a:t>
            </a:r>
            <a:r>
              <a:rPr sz="729" i="0">
                <a:solidFill>
                  <a:srgbClr val="F9C97A"/>
                </a:solidFill>
                <a:latin typeface="Inconsolata"/>
              </a:rPr>
              <a:t>3</a:t>
            </a:r>
            <a:r>
              <a:rPr sz="729" i="0">
                <a:solidFill>
                  <a:srgbClr val="E6EDF3"/>
                </a:solidFill>
                <a:latin typeface="Inconsolata"/>
              </a:rPr>
              <a:t>  </a:t>
            </a:r>
            <a:r>
              <a:rPr sz="729" i="1">
                <a:solidFill>
                  <a:srgbClr val="8B98A8"/>
                </a:solidFill>
                <a:latin typeface="Inconsolata"/>
              </a:rPr>
              <a:t># demo: berhenti setelah 3 s</a:t>
            </a:r>
          </a:p>
          <a:p>
            <a:pPr>
              <a:lnSpc>
                <a:spcPct val="102868"/>
              </a:lnSpc>
              <a:spcAft>
                <a:spcPts val="0"/>
              </a:spcAft>
            </a:pPr>
            <a:r>
              <a:rPr sz="729" i="0">
                <a:solidFill>
                  <a:srgbClr val="5C6773"/>
                </a:solidFill>
                <a:latin typeface="Inconsolata"/>
              </a:rPr>
              <a:t>59  </a:t>
            </a:r>
            <a:r>
              <a:rPr sz="729" i="0">
                <a:solidFill>
                  <a:srgbClr val="E6EDF3"/>
                </a:solidFill>
                <a:latin typeface="Inconsolata"/>
              </a:rPr>
              <a:t>        </a:t>
            </a:r>
            <a:r>
              <a:rPr sz="729" i="0">
                <a:solidFill>
                  <a:srgbClr val="FF8E6E"/>
                </a:solidFill>
                <a:latin typeface="Inconsolata"/>
              </a:rPr>
              <a:t>for</a:t>
            </a:r>
            <a:r>
              <a:rPr sz="729" i="0">
                <a:solidFill>
                  <a:srgbClr val="E6EDF3"/>
                </a:solidFill>
                <a:latin typeface="Inconsolata"/>
              </a:rPr>
              <a:t> method, properties, body </a:t>
            </a:r>
            <a:r>
              <a:rPr sz="729" i="0">
                <a:solidFill>
                  <a:srgbClr val="FF8E6E"/>
                </a:solidFill>
                <a:latin typeface="Inconsolata"/>
              </a:rPr>
              <a:t>in</a:t>
            </a:r>
            <a:r>
              <a:rPr sz="729" i="0">
                <a:solidFill>
                  <a:srgbClr val="E6EDF3"/>
                </a:solidFill>
                <a:latin typeface="Inconsolata"/>
              </a:rPr>
              <a:t> channel.consume(</a:t>
            </a:r>
          </a:p>
          <a:p>
            <a:pPr>
              <a:lnSpc>
                <a:spcPct val="102868"/>
              </a:lnSpc>
              <a:spcAft>
                <a:spcPts val="0"/>
              </a:spcAft>
            </a:pPr>
            <a:r>
              <a:rPr sz="729" i="0">
                <a:solidFill>
                  <a:srgbClr val="5C6773"/>
                </a:solidFill>
                <a:latin typeface="Inconsolata"/>
              </a:rPr>
              <a:t>60  </a:t>
            </a:r>
            <a:r>
              <a:rPr sz="729" i="0">
                <a:solidFill>
                  <a:srgbClr val="E6EDF3"/>
                </a:solidFill>
                <a:latin typeface="Inconsolata"/>
              </a:rPr>
              <a:t>                </a:t>
            </a:r>
            <a:r>
              <a:rPr sz="729" i="0">
                <a:solidFill>
                  <a:srgbClr val="A5D6A7"/>
                </a:solidFill>
                <a:latin typeface="Inconsolata"/>
              </a:rPr>
              <a:t>"email"</a:t>
            </a:r>
            <a:r>
              <a:rPr sz="729" i="0">
                <a:solidFill>
                  <a:srgbClr val="E6EDF3"/>
                </a:solidFill>
                <a:latin typeface="Inconsolata"/>
              </a:rPr>
              <a:t>, inactivity_timeout=</a:t>
            </a:r>
            <a:r>
              <a:rPr sz="729" i="0">
                <a:solidFill>
                  <a:srgbClr val="F9C97A"/>
                </a:solidFill>
                <a:latin typeface="Inconsolata"/>
              </a:rPr>
              <a:t>1</a:t>
            </a:r>
            <a:r>
              <a:rPr sz="729" i="0">
                <a:solidFill>
                  <a:srgbClr val="E6EDF3"/>
                </a:solidFill>
                <a:latin typeface="Inconsolata"/>
              </a:rPr>
              <a:t>):</a:t>
            </a:r>
          </a:p>
          <a:p>
            <a:pPr>
              <a:lnSpc>
                <a:spcPct val="102868"/>
              </a:lnSpc>
              <a:spcAft>
                <a:spcPts val="0"/>
              </a:spcAft>
            </a:pPr>
            <a:r>
              <a:rPr sz="729" i="0">
                <a:solidFill>
                  <a:srgbClr val="5C6773"/>
                </a:solidFill>
                <a:latin typeface="Inconsolata"/>
              </a:rPr>
              <a:t>61  </a:t>
            </a:r>
            <a:r>
              <a:rPr sz="729" i="0">
                <a:solidFill>
                  <a:srgbClr val="E6EDF3"/>
                </a:solidFill>
                <a:latin typeface="Inconsolata"/>
              </a:rPr>
              <a:t>            </a:t>
            </a:r>
            <a:r>
              <a:rPr sz="729" i="0">
                <a:solidFill>
                  <a:srgbClr val="FF8E6E"/>
                </a:solidFill>
                <a:latin typeface="Inconsolata"/>
              </a:rPr>
              <a:t>if</a:t>
            </a:r>
            <a:r>
              <a:rPr sz="729" i="0">
                <a:solidFill>
                  <a:srgbClr val="E6EDF3"/>
                </a:solidFill>
                <a:latin typeface="Inconsolata"/>
              </a:rPr>
              <a:t> method </a:t>
            </a:r>
            <a:r>
              <a:rPr sz="729" i="0">
                <a:solidFill>
                  <a:srgbClr val="FF8E6E"/>
                </a:solidFill>
                <a:latin typeface="Inconsolata"/>
              </a:rPr>
              <a:t>is</a:t>
            </a:r>
            <a:r>
              <a:rPr sz="729" i="0">
                <a:solidFill>
                  <a:srgbClr val="E6EDF3"/>
                </a:solidFill>
                <a:latin typeface="Inconsolata"/>
              </a:rPr>
              <a:t> </a:t>
            </a:r>
            <a:r>
              <a:rPr sz="729" i="0">
                <a:solidFill>
                  <a:srgbClr val="FF8E6E"/>
                </a:solidFill>
                <a:latin typeface="Inconsolata"/>
              </a:rPr>
              <a:t>None</a:t>
            </a:r>
            <a:r>
              <a:rPr sz="729" i="0">
                <a:solidFill>
                  <a:srgbClr val="E6EDF3"/>
                </a:solidFill>
                <a:latin typeface="Inconsolata"/>
              </a:rPr>
              <a:t> </a:t>
            </a:r>
            <a:r>
              <a:rPr sz="729" i="0">
                <a:solidFill>
                  <a:srgbClr val="FF8E6E"/>
                </a:solidFill>
                <a:latin typeface="Inconsolata"/>
              </a:rPr>
              <a:t>or</a:t>
            </a:r>
            <a:r>
              <a:rPr sz="729" i="0">
                <a:solidFill>
                  <a:srgbClr val="E6EDF3"/>
                </a:solidFill>
                <a:latin typeface="Inconsolata"/>
              </a:rPr>
              <a:t> time.monotonic() &gt; stop_at:</a:t>
            </a:r>
          </a:p>
          <a:p>
            <a:pPr>
              <a:lnSpc>
                <a:spcPct val="102868"/>
              </a:lnSpc>
              <a:spcAft>
                <a:spcPts val="0"/>
              </a:spcAft>
            </a:pPr>
            <a:r>
              <a:rPr sz="729" i="0">
                <a:solidFill>
                  <a:srgbClr val="5C6773"/>
                </a:solidFill>
                <a:latin typeface="Inconsolata"/>
              </a:rPr>
              <a:t>62  </a:t>
            </a:r>
            <a:r>
              <a:rPr sz="729" i="0">
                <a:solidFill>
                  <a:srgbClr val="E6EDF3"/>
                </a:solidFill>
                <a:latin typeface="Inconsolata"/>
              </a:rPr>
              <a:t>                </a:t>
            </a:r>
            <a:r>
              <a:rPr sz="729" i="0">
                <a:solidFill>
                  <a:srgbClr val="FF8E6E"/>
                </a:solidFill>
                <a:latin typeface="Inconsolata"/>
              </a:rPr>
              <a:t>break</a:t>
            </a:r>
          </a:p>
          <a:p>
            <a:pPr>
              <a:lnSpc>
                <a:spcPct val="102868"/>
              </a:lnSpc>
              <a:spcAft>
                <a:spcPts val="0"/>
              </a:spcAft>
            </a:pPr>
            <a:r>
              <a:rPr sz="729" i="0">
                <a:solidFill>
                  <a:srgbClr val="5C6773"/>
                </a:solidFill>
                <a:latin typeface="Inconsolata"/>
              </a:rPr>
              <a:t>63  </a:t>
            </a:r>
            <a:r>
              <a:rPr sz="729" i="0">
                <a:solidFill>
                  <a:srgbClr val="E6EDF3"/>
                </a:solidFill>
                <a:latin typeface="Inconsolata"/>
              </a:rPr>
              <a:t>            handle(channel, method, body)</a:t>
            </a:r>
          </a:p>
          <a:p>
            <a:pPr>
              <a:lnSpc>
                <a:spcPct val="102868"/>
              </a:lnSpc>
              <a:spcAft>
                <a:spcPts val="0"/>
              </a:spcAft>
            </a:pPr>
            <a:r>
              <a:rPr sz="729" i="0">
                <a:solidFill>
                  <a:srgbClr val="5C6773"/>
                </a:solidFill>
                <a:latin typeface="Inconsolata"/>
              </a:rPr>
              <a:t>64  </a:t>
            </a:r>
            <a:r>
              <a:rPr sz="729" i="0">
                <a:solidFill>
                  <a:srgbClr val="E6EDF3"/>
                </a:solidFill>
                <a:latin typeface="Inconsolata"/>
              </a:rPr>
              <a:t> </a:t>
            </a:r>
          </a:p>
          <a:p>
            <a:pPr>
              <a:lnSpc>
                <a:spcPct val="102868"/>
              </a:lnSpc>
              <a:spcAft>
                <a:spcPts val="0"/>
              </a:spcAft>
            </a:pPr>
            <a:r>
              <a:rPr sz="729" i="0">
                <a:solidFill>
                  <a:srgbClr val="5C6773"/>
                </a:solidFill>
                <a:latin typeface="Inconsolata"/>
              </a:rPr>
              <a:t>65  </a:t>
            </a:r>
            <a:r>
              <a:rPr sz="729" i="0">
                <a:solidFill>
                  <a:srgbClr val="E6EDF3"/>
                </a:solidFill>
                <a:latin typeface="Inconsolata"/>
              </a:rPr>
              <a:t>    </a:t>
            </a:r>
            <a:r>
              <a:rPr sz="729" i="0">
                <a:solidFill>
                  <a:srgbClr val="FF8E6E"/>
                </a:solidFill>
                <a:latin typeface="Inconsolata"/>
              </a:rPr>
              <a:t>for</a:t>
            </a:r>
            <a:r>
              <a:rPr sz="729" i="0">
                <a:solidFill>
                  <a:srgbClr val="E6EDF3"/>
                </a:solidFill>
                <a:latin typeface="Inconsolata"/>
              </a:rPr>
              <a:t> order_id </a:t>
            </a:r>
            <a:r>
              <a:rPr sz="729" i="0">
                <a:solidFill>
                  <a:srgbClr val="FF8E6E"/>
                </a:solidFill>
                <a:latin typeface="Inconsolata"/>
              </a:rPr>
              <a:t>in</a:t>
            </a:r>
            <a:r>
              <a:rPr sz="729" i="0">
                <a:solidFill>
                  <a:srgbClr val="E6EDF3"/>
                </a:solidFill>
                <a:latin typeface="Inconsolata"/>
              </a:rPr>
              <a:t> (</a:t>
            </a:r>
            <a:r>
              <a:rPr sz="729" i="0">
                <a:solidFill>
                  <a:srgbClr val="F9C97A"/>
                </a:solidFill>
                <a:latin typeface="Inconsolata"/>
              </a:rPr>
              <a:t>1</a:t>
            </a:r>
            <a:r>
              <a:rPr sz="729" i="0">
                <a:solidFill>
                  <a:srgbClr val="E6EDF3"/>
                </a:solidFill>
                <a:latin typeface="Inconsolata"/>
              </a:rPr>
              <a:t>, </a:t>
            </a:r>
            <a:r>
              <a:rPr sz="729" i="0">
                <a:solidFill>
                  <a:srgbClr val="F9C97A"/>
                </a:solidFill>
                <a:latin typeface="Inconsolata"/>
              </a:rPr>
              <a:t>2</a:t>
            </a:r>
            <a:r>
              <a:rPr sz="729" i="0">
                <a:solidFill>
                  <a:srgbClr val="E6EDF3"/>
                </a:solidFill>
                <a:latin typeface="Inconsolata"/>
              </a:rPr>
              <a:t>):</a:t>
            </a:r>
          </a:p>
          <a:p>
            <a:pPr>
              <a:lnSpc>
                <a:spcPct val="102868"/>
              </a:lnSpc>
              <a:spcAft>
                <a:spcPts val="0"/>
              </a:spcAft>
            </a:pPr>
            <a:r>
              <a:rPr sz="729" i="0">
                <a:solidFill>
                  <a:srgbClr val="5C6773"/>
                </a:solidFill>
                <a:latin typeface="Inconsolata"/>
              </a:rPr>
              <a:t>66  </a:t>
            </a:r>
            <a:r>
              <a:rPr sz="729" i="0">
                <a:solidFill>
                  <a:srgbClr val="E6EDF3"/>
                </a:solidFill>
                <a:latin typeface="Inconsolata"/>
              </a:rPr>
              <a:t>        </a:t>
            </a:r>
            <a:r>
              <a:rPr sz="729" i="0">
                <a:solidFill>
                  <a:srgbClr val="C3A6FF"/>
                </a:solidFill>
                <a:latin typeface="Inconsolata"/>
              </a:rPr>
              <a:t>print</a:t>
            </a:r>
            <a:r>
              <a:rPr sz="729" i="0">
                <a:solidFill>
                  <a:srgbClr val="E6EDF3"/>
                </a:solidFill>
                <a:latin typeface="Inconsolata"/>
              </a:rPr>
              <a:t>(</a:t>
            </a:r>
            <a:r>
              <a:rPr sz="729" i="0">
                <a:solidFill>
                  <a:srgbClr val="A5D6A7"/>
                </a:solidFill>
                <a:latin typeface="Inconsolata"/>
              </a:rPr>
              <a:t>f"Order #{order_id}: diproses "</a:t>
            </a:r>
          </a:p>
          <a:p>
            <a:pPr>
              <a:lnSpc>
                <a:spcPct val="102868"/>
              </a:lnSpc>
              <a:spcAft>
                <a:spcPts val="0"/>
              </a:spcAft>
            </a:pPr>
            <a:r>
              <a:rPr sz="729" i="0">
                <a:solidFill>
                  <a:srgbClr val="5C6773"/>
                </a:solidFill>
                <a:latin typeface="Inconsolata"/>
              </a:rPr>
              <a:t>67  </a:t>
            </a:r>
            <a:r>
              <a:rPr sz="729" i="0">
                <a:solidFill>
                  <a:srgbClr val="E6EDF3"/>
                </a:solidFill>
                <a:latin typeface="Inconsolata"/>
              </a:rPr>
              <a:t>              </a:t>
            </a:r>
            <a:r>
              <a:rPr sz="729" i="0">
                <a:solidFill>
                  <a:srgbClr val="A5D6A7"/>
                </a:solidFill>
                <a:latin typeface="Inconsolata"/>
              </a:rPr>
              <a:t>f"{attempts[order_id]:,} kali"</a:t>
            </a:r>
            <a:r>
              <a:rPr sz="729" i="0">
                <a:solidFill>
                  <a:srgbClr val="E6EDF3"/>
                </a:solidFill>
                <a:latin typeface="Inconsolata"/>
              </a:rPr>
              <a:t>)</a:t>
            </a:r>
          </a:p>
        </p:txBody>
      </p:sp>
      <p:sp>
        <p:nvSpPr>
          <p:cNvPr id="36" name="Box 21"/>
          <p:cNvSpPr/>
          <p:nvPr/>
        </p:nvSpPr>
        <p:spPr>
          <a:xfrm>
            <a:off x="704088" y="2282571"/>
            <a:ext cx="3694176" cy="336042"/>
          </a:xfrm>
          <a:prstGeom prst="roundRect">
            <a:avLst>
              <a:gd name="adj" fmla="val 13605"/>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23317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704088" y="3539871"/>
            <a:ext cx="3694176" cy="107442"/>
          </a:xfrm>
          <a:prstGeom prst="roundRect">
            <a:avLst>
              <a:gd name="adj" fmla="val 42553"/>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279392" y="34747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Dead Letter Queue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04-nack-dead-letter/before.py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621792"/>
          </a:xfrm>
          <a:prstGeom prst="roundRect">
            <a:avLst>
              <a:gd name="adj" fmla="val 2941"/>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621792"/>
          </a:xfrm>
          <a:prstGeom prst="rect">
            <a:avLst/>
          </a:prstGeom>
          <a:noFill/>
        </p:spPr>
        <p:txBody>
          <a:bodyPr wrap="none" lIns="146304" tIns="91440" rIns="146304" bIns="54864">
            <a:spAutoFit/>
          </a:bodyPr>
          <a:lstStyle/>
          <a:p>
            <a:pPr>
              <a:lnSpc>
                <a:spcPct val="107843"/>
              </a:lnSpc>
              <a:spcAft>
                <a:spcPts val="0"/>
              </a:spcAft>
            </a:pPr>
            <a:r>
              <a:rPr sz="850" i="0">
                <a:solidFill>
                  <a:srgbClr val="82B1FF"/>
                </a:solidFill>
                <a:latin typeface="Inconsolata"/>
              </a:rPr>
              <a:t>$ cd sesi-08-event-driven-rabbitmq-kafka/04-nack-dead-letter</a:t>
            </a:r>
          </a:p>
          <a:p>
            <a:pPr>
              <a:lnSpc>
                <a:spcPct val="107843"/>
              </a:lnSpc>
              <a:spcAft>
                <a:spcPts val="0"/>
              </a:spcAft>
            </a:pPr>
            <a:r>
              <a:rPr sz="850" i="0">
                <a:solidFill>
                  <a:srgbClr val="82B1FF"/>
                </a:solidFill>
                <a:latin typeface="Inconsolata"/>
              </a:rPr>
              <a:t>$ docker compose -f ../docker-compose.yml up -d rabbitmq</a:t>
            </a:r>
          </a:p>
          <a:p>
            <a:pPr>
              <a:lnSpc>
                <a:spcPct val="107843"/>
              </a:lnSpc>
              <a:spcAft>
                <a:spcPts val="0"/>
              </a:spcAft>
            </a:pPr>
            <a:r>
              <a:rPr sz="850" i="0">
                <a:solidFill>
                  <a:srgbClr val="82B1FF"/>
                </a:solidFill>
                <a:latin typeface="Inconsolata"/>
              </a:rPr>
              <a:t>$ python before.py</a:t>
            </a:r>
          </a:p>
        </p:txBody>
      </p:sp>
      <p:pic>
        <p:nvPicPr>
          <p:cNvPr id="29" name="Image 12" descr="s08-04-nack-dead-letter-before.png"/>
          <p:cNvPicPr>
            <a:picLocks noChangeAspect="1"/>
          </p:cNvPicPr>
          <p:nvPr/>
        </p:nvPicPr>
        <p:blipFill>
          <a:blip r:embed="rId2"/>
          <a:stretch>
            <a:fillRect/>
          </a:stretch>
        </p:blipFill>
        <p:spPr>
          <a:xfrm>
            <a:off x="621792" y="2459736"/>
            <a:ext cx="4297680" cy="852373"/>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Pesan rusak dan error sementara diperlakukan sama (baris 42-44)</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Order #1 berisi customer kosong (baris 53)</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Dalam 3 detik, order #1 diproses ribuan kali dan order #2 tidak sempat diproses.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Dead Letter Queue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retry dengan jeda dan DLQ (1/2)</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04-nack-dead-letter/after.py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2868"/>
              </a:lnSpc>
              <a:spcAft>
                <a:spcPts val="0"/>
              </a:spcAft>
            </a:pPr>
            <a:r>
              <a:rPr sz="729" i="0">
                <a:solidFill>
                  <a:srgbClr val="5C6773"/>
                </a:solidFill>
                <a:latin typeface="Inconsolata"/>
              </a:rPr>
              <a:t>17  </a:t>
            </a:r>
            <a:r>
              <a:rPr sz="729" i="0">
                <a:solidFill>
                  <a:srgbClr val="FF8E6E"/>
                </a:solidFill>
                <a:latin typeface="Inconsolata"/>
              </a:rPr>
              <a:t>import</a:t>
            </a:r>
            <a:r>
              <a:rPr sz="729" i="0">
                <a:solidFill>
                  <a:srgbClr val="E6EDF3"/>
                </a:solidFill>
                <a:latin typeface="Inconsolata"/>
              </a:rPr>
              <a:t> json</a:t>
            </a:r>
          </a:p>
          <a:p>
            <a:pPr>
              <a:lnSpc>
                <a:spcPct val="102868"/>
              </a:lnSpc>
              <a:spcAft>
                <a:spcPts val="0"/>
              </a:spcAft>
            </a:pPr>
            <a:r>
              <a:rPr sz="729" i="0">
                <a:solidFill>
                  <a:srgbClr val="5C6773"/>
                </a:solidFill>
                <a:latin typeface="Inconsolata"/>
              </a:rPr>
              <a:t>18  </a:t>
            </a:r>
            <a:r>
              <a:rPr sz="729" i="0">
                <a:solidFill>
                  <a:srgbClr val="FF8E6E"/>
                </a:solidFill>
                <a:latin typeface="Inconsolata"/>
              </a:rPr>
              <a:t>import</a:t>
            </a:r>
            <a:r>
              <a:rPr sz="729" i="0">
                <a:solidFill>
                  <a:srgbClr val="E6EDF3"/>
                </a:solidFill>
                <a:latin typeface="Inconsolata"/>
              </a:rPr>
              <a:t> os</a:t>
            </a:r>
          </a:p>
          <a:p>
            <a:pPr>
              <a:lnSpc>
                <a:spcPct val="102868"/>
              </a:lnSpc>
              <a:spcAft>
                <a:spcPts val="0"/>
              </a:spcAft>
            </a:pPr>
            <a:r>
              <a:rPr sz="729" i="0">
                <a:solidFill>
                  <a:srgbClr val="5C6773"/>
                </a:solidFill>
                <a:latin typeface="Inconsolata"/>
              </a:rPr>
              <a:t>19  </a:t>
            </a:r>
            <a:r>
              <a:rPr sz="729" i="0">
                <a:solidFill>
                  <a:srgbClr val="FF8E6E"/>
                </a:solidFill>
                <a:latin typeface="Inconsolata"/>
              </a:rPr>
              <a:t>from</a:t>
            </a:r>
            <a:r>
              <a:rPr sz="729" i="0">
                <a:solidFill>
                  <a:srgbClr val="E6EDF3"/>
                </a:solidFill>
                <a:latin typeface="Inconsolata"/>
              </a:rPr>
              <a:t> collections </a:t>
            </a:r>
            <a:r>
              <a:rPr sz="729" i="0">
                <a:solidFill>
                  <a:srgbClr val="FF8E6E"/>
                </a:solidFill>
                <a:latin typeface="Inconsolata"/>
              </a:rPr>
              <a:t>import</a:t>
            </a:r>
            <a:r>
              <a:rPr sz="729" i="0">
                <a:solidFill>
                  <a:srgbClr val="E6EDF3"/>
                </a:solidFill>
                <a:latin typeface="Inconsolata"/>
              </a:rPr>
              <a:t> </a:t>
            </a:r>
            <a:r>
              <a:rPr sz="729" i="0">
                <a:solidFill>
                  <a:srgbClr val="7FDBCA"/>
                </a:solidFill>
                <a:latin typeface="Inconsolata"/>
              </a:rPr>
              <a:t>Counter</a:t>
            </a:r>
          </a:p>
          <a:p>
            <a:pPr>
              <a:lnSpc>
                <a:spcPct val="102868"/>
              </a:lnSpc>
              <a:spcAft>
                <a:spcPts val="0"/>
              </a:spcAft>
            </a:pPr>
            <a:r>
              <a:rPr sz="729" i="0">
                <a:solidFill>
                  <a:srgbClr val="5C6773"/>
                </a:solidFill>
                <a:latin typeface="Inconsolata"/>
              </a:rPr>
              <a:t>20  </a:t>
            </a:r>
            <a:r>
              <a:rPr sz="729" i="0">
                <a:solidFill>
                  <a:srgbClr val="E6EDF3"/>
                </a:solidFill>
                <a:latin typeface="Inconsolata"/>
              </a:rPr>
              <a:t> </a:t>
            </a:r>
          </a:p>
          <a:p>
            <a:pPr>
              <a:lnSpc>
                <a:spcPct val="102868"/>
              </a:lnSpc>
              <a:spcAft>
                <a:spcPts val="0"/>
              </a:spcAft>
            </a:pPr>
            <a:r>
              <a:rPr sz="729" i="0">
                <a:solidFill>
                  <a:srgbClr val="5C6773"/>
                </a:solidFill>
                <a:latin typeface="Inconsolata"/>
              </a:rPr>
              <a:t>21  </a:t>
            </a:r>
            <a:r>
              <a:rPr sz="729" i="0">
                <a:solidFill>
                  <a:srgbClr val="FF8E6E"/>
                </a:solidFill>
                <a:latin typeface="Inconsolata"/>
              </a:rPr>
              <a:t>import</a:t>
            </a:r>
            <a:r>
              <a:rPr sz="729" i="0">
                <a:solidFill>
                  <a:srgbClr val="E6EDF3"/>
                </a:solidFill>
                <a:latin typeface="Inconsolata"/>
              </a:rPr>
              <a:t> pika</a:t>
            </a:r>
          </a:p>
          <a:p>
            <a:pPr>
              <a:lnSpc>
                <a:spcPct val="102868"/>
              </a:lnSpc>
              <a:spcAft>
                <a:spcPts val="0"/>
              </a:spcAft>
            </a:pPr>
            <a:r>
              <a:rPr sz="729" i="0">
                <a:solidFill>
                  <a:srgbClr val="5C6773"/>
                </a:solidFill>
                <a:latin typeface="Inconsolata"/>
              </a:rPr>
              <a:t>22  </a:t>
            </a:r>
            <a:r>
              <a:rPr sz="729" i="0">
                <a:solidFill>
                  <a:srgbClr val="E6EDF3"/>
                </a:solidFill>
                <a:latin typeface="Inconsolata"/>
              </a:rPr>
              <a:t> </a:t>
            </a:r>
          </a:p>
          <a:p>
            <a:pPr>
              <a:lnSpc>
                <a:spcPct val="102868"/>
              </a:lnSpc>
              <a:spcAft>
                <a:spcPts val="0"/>
              </a:spcAft>
            </a:pPr>
            <a:r>
              <a:rPr sz="729" i="0">
                <a:solidFill>
                  <a:srgbClr val="5C6773"/>
                </a:solidFill>
                <a:latin typeface="Inconsolata"/>
              </a:rPr>
              <a:t>23  </a:t>
            </a:r>
            <a:r>
              <a:rPr sz="729" i="0">
                <a:solidFill>
                  <a:srgbClr val="7FDBCA"/>
                </a:solidFill>
                <a:latin typeface="Inconsolata"/>
              </a:rPr>
              <a:t>URL</a:t>
            </a:r>
            <a:r>
              <a:rPr sz="729" i="0">
                <a:solidFill>
                  <a:srgbClr val="E6EDF3"/>
                </a:solidFill>
                <a:latin typeface="Inconsolata"/>
              </a:rPr>
              <a:t> = os.getenv(</a:t>
            </a:r>
            <a:r>
              <a:rPr sz="729" i="0">
                <a:solidFill>
                  <a:srgbClr val="A5D6A7"/>
                </a:solidFill>
                <a:latin typeface="Inconsolata"/>
              </a:rPr>
              <a:t>"RABBITMQ_URL"</a:t>
            </a:r>
            <a:r>
              <a:rPr sz="729" i="0">
                <a:solidFill>
                  <a:srgbClr val="E6EDF3"/>
                </a:solidFill>
                <a:latin typeface="Inconsolata"/>
              </a:rPr>
              <a:t>, </a:t>
            </a:r>
            <a:r>
              <a:rPr sz="729" i="0">
                <a:solidFill>
                  <a:srgbClr val="A5D6A7"/>
                </a:solidFill>
                <a:latin typeface="Inconsolata"/>
              </a:rPr>
              <a:t>"amqp://guest:guest@localhost:5672/"</a:t>
            </a:r>
            <a:r>
              <a:rPr sz="729" i="0">
                <a:solidFill>
                  <a:srgbClr val="E6EDF3"/>
                </a:solidFill>
                <a:latin typeface="Inconsolata"/>
              </a:rPr>
              <a:t>)</a:t>
            </a:r>
          </a:p>
          <a:p>
            <a:pPr>
              <a:lnSpc>
                <a:spcPct val="102868"/>
              </a:lnSpc>
              <a:spcAft>
                <a:spcPts val="0"/>
              </a:spcAft>
            </a:pPr>
            <a:r>
              <a:rPr sz="729" i="0">
                <a:solidFill>
                  <a:srgbClr val="5C6773"/>
                </a:solidFill>
                <a:latin typeface="Inconsolata"/>
              </a:rPr>
              <a:t>24  </a:t>
            </a:r>
            <a:r>
              <a:rPr sz="729" i="0">
                <a:solidFill>
                  <a:srgbClr val="7FDBCA"/>
                </a:solidFill>
                <a:latin typeface="Inconsolata"/>
              </a:rPr>
              <a:t>MAX_RETRIES</a:t>
            </a:r>
            <a:r>
              <a:rPr sz="729" i="0">
                <a:solidFill>
                  <a:srgbClr val="E6EDF3"/>
                </a:solidFill>
                <a:latin typeface="Inconsolata"/>
              </a:rPr>
              <a:t> = </a:t>
            </a:r>
            <a:r>
              <a:rPr sz="729" i="0">
                <a:solidFill>
                  <a:srgbClr val="F9C97A"/>
                </a:solidFill>
                <a:latin typeface="Inconsolata"/>
              </a:rPr>
              <a:t>3</a:t>
            </a:r>
          </a:p>
          <a:p>
            <a:pPr>
              <a:lnSpc>
                <a:spcPct val="102868"/>
              </a:lnSpc>
              <a:spcAft>
                <a:spcPts val="0"/>
              </a:spcAft>
            </a:pPr>
            <a:r>
              <a:rPr sz="729" i="0">
                <a:solidFill>
                  <a:srgbClr val="5C6773"/>
                </a:solidFill>
                <a:latin typeface="Inconsolata"/>
              </a:rPr>
              <a:t>25  </a:t>
            </a:r>
            <a:r>
              <a:rPr sz="729" i="0">
                <a:solidFill>
                  <a:srgbClr val="E6EDF3"/>
                </a:solidFill>
                <a:latin typeface="Inconsolata"/>
              </a:rPr>
              <a:t> </a:t>
            </a:r>
          </a:p>
          <a:p>
            <a:pPr>
              <a:lnSpc>
                <a:spcPct val="102868"/>
              </a:lnSpc>
              <a:spcAft>
                <a:spcPts val="0"/>
              </a:spcAft>
            </a:pPr>
            <a:r>
              <a:rPr sz="729" i="0">
                <a:solidFill>
                  <a:srgbClr val="5C6773"/>
                </a:solidFill>
                <a:latin typeface="Inconsolata"/>
              </a:rPr>
              <a:t>26  </a:t>
            </a:r>
            <a:r>
              <a:rPr sz="729" i="0">
                <a:solidFill>
                  <a:srgbClr val="E6EDF3"/>
                </a:solidFill>
                <a:latin typeface="Inconsolata"/>
              </a:rPr>
              <a:t>attempts = </a:t>
            </a:r>
            <a:r>
              <a:rPr sz="729" i="0">
                <a:solidFill>
                  <a:srgbClr val="7FDBCA"/>
                </a:solidFill>
                <a:latin typeface="Inconsolata"/>
              </a:rPr>
              <a:t>Counter</a:t>
            </a:r>
            <a:r>
              <a:rPr sz="729" i="0">
                <a:solidFill>
                  <a:srgbClr val="E6EDF3"/>
                </a:solidFill>
                <a:latin typeface="Inconsolata"/>
              </a:rPr>
              <a:t>()</a:t>
            </a:r>
          </a:p>
          <a:p>
            <a:pPr>
              <a:lnSpc>
                <a:spcPct val="102868"/>
              </a:lnSpc>
              <a:spcAft>
                <a:spcPts val="0"/>
              </a:spcAft>
            </a:pPr>
            <a:r>
              <a:rPr sz="729" i="0">
                <a:solidFill>
                  <a:srgbClr val="5C6773"/>
                </a:solidFill>
                <a:latin typeface="Inconsolata"/>
              </a:rPr>
              <a:t>27  </a:t>
            </a:r>
            <a:r>
              <a:rPr sz="729" i="0">
                <a:solidFill>
                  <a:srgbClr val="E6EDF3"/>
                </a:solidFill>
                <a:latin typeface="Inconsolata"/>
              </a:rPr>
              <a:t> </a:t>
            </a:r>
          </a:p>
          <a:p>
            <a:pPr>
              <a:lnSpc>
                <a:spcPct val="102868"/>
              </a:lnSpc>
              <a:spcAft>
                <a:spcPts val="0"/>
              </a:spcAft>
            </a:pPr>
            <a:r>
              <a:rPr sz="729" i="0">
                <a:solidFill>
                  <a:srgbClr val="5C6773"/>
                </a:solidFill>
                <a:latin typeface="Inconsolata"/>
              </a:rPr>
              <a:t>28  </a:t>
            </a:r>
            <a:r>
              <a:rPr sz="729" i="0">
                <a:solidFill>
                  <a:srgbClr val="E6EDF3"/>
                </a:solidFill>
                <a:latin typeface="Inconsolata"/>
              </a:rPr>
              <a:t> </a:t>
            </a:r>
          </a:p>
          <a:p>
            <a:pPr>
              <a:lnSpc>
                <a:spcPct val="102868"/>
              </a:lnSpc>
              <a:spcAft>
                <a:spcPts val="0"/>
              </a:spcAft>
            </a:pPr>
            <a:r>
              <a:rPr sz="729" i="0">
                <a:solidFill>
                  <a:srgbClr val="5C6773"/>
                </a:solidFill>
                <a:latin typeface="Inconsolata"/>
              </a:rPr>
              <a:t>29  </a:t>
            </a:r>
            <a:r>
              <a:rPr sz="729" i="0">
                <a:solidFill>
                  <a:srgbClr val="FF8E6E"/>
                </a:solidFill>
                <a:latin typeface="Inconsolata"/>
              </a:rPr>
              <a:t>class</a:t>
            </a:r>
            <a:r>
              <a:rPr sz="729" i="0">
                <a:solidFill>
                  <a:srgbClr val="E6EDF3"/>
                </a:solidFill>
                <a:latin typeface="Inconsolata"/>
              </a:rPr>
              <a:t> </a:t>
            </a:r>
            <a:r>
              <a:rPr sz="729" i="0">
                <a:solidFill>
                  <a:srgbClr val="7FDBCA"/>
                </a:solidFill>
                <a:latin typeface="Inconsolata"/>
              </a:rPr>
              <a:t>EmailServerDown</a:t>
            </a:r>
            <a:r>
              <a:rPr sz="729" i="0">
                <a:solidFill>
                  <a:srgbClr val="E6EDF3"/>
                </a:solidFill>
                <a:latin typeface="Inconsolata"/>
              </a:rPr>
              <a:t>(</a:t>
            </a:r>
            <a:r>
              <a:rPr sz="729" i="0">
                <a:solidFill>
                  <a:srgbClr val="7FDBCA"/>
                </a:solidFill>
                <a:latin typeface="Inconsolata"/>
              </a:rPr>
              <a:t>Exception</a:t>
            </a:r>
            <a:r>
              <a:rPr sz="729" i="0">
                <a:solidFill>
                  <a:srgbClr val="E6EDF3"/>
                </a:solidFill>
                <a:latin typeface="Inconsolata"/>
              </a:rPr>
              <a:t>):</a:t>
            </a:r>
          </a:p>
          <a:p>
            <a:pPr>
              <a:lnSpc>
                <a:spcPct val="102868"/>
              </a:lnSpc>
              <a:spcAft>
                <a:spcPts val="0"/>
              </a:spcAft>
            </a:pPr>
            <a:r>
              <a:rPr sz="729" i="0">
                <a:solidFill>
                  <a:srgbClr val="5C6773"/>
                </a:solidFill>
                <a:latin typeface="Inconsolata"/>
              </a:rPr>
              <a:t>30  </a:t>
            </a:r>
            <a:r>
              <a:rPr sz="729" i="0">
                <a:solidFill>
                  <a:srgbClr val="E6EDF3"/>
                </a:solidFill>
                <a:latin typeface="Inconsolata"/>
              </a:rPr>
              <a:t>    </a:t>
            </a:r>
            <a:r>
              <a:rPr sz="729" i="0">
                <a:solidFill>
                  <a:srgbClr val="A5D6A7"/>
                </a:solidFill>
                <a:latin typeface="Inconsolata"/>
              </a:rPr>
              <a:t>"""Error sementara, bisa berhasil jika dicoba lagi."""</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04-nack-dead-letter/after.py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2868"/>
              </a:lnSpc>
              <a:spcAft>
                <a:spcPts val="0"/>
              </a:spcAft>
            </a:pPr>
            <a:r>
              <a:rPr sz="729" i="0">
                <a:solidFill>
                  <a:srgbClr val="5C6773"/>
                </a:solidFill>
                <a:latin typeface="Inconsolata"/>
              </a:rPr>
              <a:t>33  </a:t>
            </a:r>
            <a:r>
              <a:rPr sz="729" i="0">
                <a:solidFill>
                  <a:srgbClr val="FF8E6E"/>
                </a:solidFill>
                <a:latin typeface="Inconsolata"/>
              </a:rPr>
              <a:t>def</a:t>
            </a:r>
            <a:r>
              <a:rPr sz="729" i="0">
                <a:solidFill>
                  <a:srgbClr val="E6EDF3"/>
                </a:solidFill>
                <a:latin typeface="Inconsolata"/>
              </a:rPr>
              <a:t> </a:t>
            </a:r>
            <a:r>
              <a:rPr sz="729" i="0">
                <a:solidFill>
                  <a:srgbClr val="82B1FF"/>
                </a:solidFill>
                <a:latin typeface="Inconsolata"/>
              </a:rPr>
              <a:t>send_email</a:t>
            </a:r>
            <a:r>
              <a:rPr sz="729" i="0">
                <a:solidFill>
                  <a:srgbClr val="E6EDF3"/>
                </a:solidFill>
                <a:latin typeface="Inconsolata"/>
              </a:rPr>
              <a:t>(event):</a:t>
            </a:r>
          </a:p>
          <a:p>
            <a:pPr>
              <a:lnSpc>
                <a:spcPct val="102868"/>
              </a:lnSpc>
              <a:spcAft>
                <a:spcPts val="0"/>
              </a:spcAft>
            </a:pPr>
            <a:r>
              <a:rPr sz="729" i="0">
                <a:solidFill>
                  <a:srgbClr val="5C6773"/>
                </a:solidFill>
                <a:latin typeface="Inconsolata"/>
              </a:rPr>
              <a:t>34  </a:t>
            </a:r>
            <a:r>
              <a:rPr sz="729" i="0">
                <a:solidFill>
                  <a:srgbClr val="E6EDF3"/>
                </a:solidFill>
                <a:latin typeface="Inconsolata"/>
              </a:rPr>
              <a:t>    order_id = event[</a:t>
            </a:r>
            <a:r>
              <a:rPr sz="729" i="0">
                <a:solidFill>
                  <a:srgbClr val="A5D6A7"/>
                </a:solidFill>
                <a:latin typeface="Inconsolata"/>
              </a:rPr>
              <a:t>"order_id"</a:t>
            </a:r>
            <a:r>
              <a:rPr sz="729" i="0">
                <a:solidFill>
                  <a:srgbClr val="E6EDF3"/>
                </a:solidFill>
                <a:latin typeface="Inconsolata"/>
              </a:rPr>
              <a:t>]</a:t>
            </a:r>
          </a:p>
          <a:p>
            <a:pPr>
              <a:lnSpc>
                <a:spcPct val="102868"/>
              </a:lnSpc>
              <a:spcAft>
                <a:spcPts val="0"/>
              </a:spcAft>
            </a:pPr>
            <a:r>
              <a:rPr sz="729" i="0">
                <a:solidFill>
                  <a:srgbClr val="5C6773"/>
                </a:solidFill>
                <a:latin typeface="Inconsolata"/>
              </a:rPr>
              <a:t>35  </a:t>
            </a:r>
            <a:r>
              <a:rPr sz="729" i="0">
                <a:solidFill>
                  <a:srgbClr val="E6EDF3"/>
                </a:solidFill>
                <a:latin typeface="Inconsolata"/>
              </a:rPr>
              <a:t>    attempts[order_id] += </a:t>
            </a:r>
            <a:r>
              <a:rPr sz="729" i="0">
                <a:solidFill>
                  <a:srgbClr val="F9C97A"/>
                </a:solidFill>
                <a:latin typeface="Inconsolata"/>
              </a:rPr>
              <a:t>1</a:t>
            </a:r>
          </a:p>
          <a:p>
            <a:pPr>
              <a:lnSpc>
                <a:spcPct val="102868"/>
              </a:lnSpc>
              <a:spcAft>
                <a:spcPts val="0"/>
              </a:spcAft>
            </a:pPr>
            <a:r>
              <a:rPr sz="729" i="0">
                <a:solidFill>
                  <a:srgbClr val="5C6773"/>
                </a:solidFill>
                <a:latin typeface="Inconsolata"/>
              </a:rPr>
              <a:t>36  </a:t>
            </a:r>
            <a:r>
              <a:rPr sz="729" i="0">
                <a:solidFill>
                  <a:srgbClr val="E6EDF3"/>
                </a:solidFill>
                <a:latin typeface="Inconsolata"/>
              </a:rPr>
              <a:t>    </a:t>
            </a:r>
            <a:r>
              <a:rPr sz="729" i="0">
                <a:solidFill>
                  <a:srgbClr val="FF8E6E"/>
                </a:solidFill>
                <a:latin typeface="Inconsolata"/>
              </a:rPr>
              <a:t>if</a:t>
            </a:r>
            <a:r>
              <a:rPr sz="729" i="0">
                <a:solidFill>
                  <a:srgbClr val="E6EDF3"/>
                </a:solidFill>
                <a:latin typeface="Inconsolata"/>
              </a:rPr>
              <a:t> </a:t>
            </a:r>
            <a:r>
              <a:rPr sz="729" i="0">
                <a:solidFill>
                  <a:srgbClr val="FF8E6E"/>
                </a:solidFill>
                <a:latin typeface="Inconsolata"/>
              </a:rPr>
              <a:t>not</a:t>
            </a:r>
            <a:r>
              <a:rPr sz="729" i="0">
                <a:solidFill>
                  <a:srgbClr val="E6EDF3"/>
                </a:solidFill>
                <a:latin typeface="Inconsolata"/>
              </a:rPr>
              <a:t> event[</a:t>
            </a:r>
            <a:r>
              <a:rPr sz="729" i="0">
                <a:solidFill>
                  <a:srgbClr val="A5D6A7"/>
                </a:solidFill>
                <a:latin typeface="Inconsolata"/>
              </a:rPr>
              <a:t>"customer"</a:t>
            </a:r>
            <a:r>
              <a:rPr sz="729" i="0">
                <a:solidFill>
                  <a:srgbClr val="E6EDF3"/>
                </a:solidFill>
                <a:latin typeface="Inconsolata"/>
              </a:rPr>
              <a:t>]:</a:t>
            </a:r>
          </a:p>
          <a:p>
            <a:pPr>
              <a:lnSpc>
                <a:spcPct val="102868"/>
              </a:lnSpc>
              <a:spcAft>
                <a:spcPts val="0"/>
              </a:spcAft>
            </a:pPr>
            <a:r>
              <a:rPr sz="729" i="0">
                <a:solidFill>
                  <a:srgbClr val="5C6773"/>
                </a:solidFill>
                <a:latin typeface="Inconsolata"/>
              </a:rPr>
              <a:t>37  </a:t>
            </a:r>
            <a:r>
              <a:rPr sz="729" i="0">
                <a:solidFill>
                  <a:srgbClr val="E6EDF3"/>
                </a:solidFill>
                <a:latin typeface="Inconsolata"/>
              </a:rPr>
              <a:t>        </a:t>
            </a:r>
            <a:r>
              <a:rPr sz="729" i="0">
                <a:solidFill>
                  <a:srgbClr val="FF8E6E"/>
                </a:solidFill>
                <a:latin typeface="Inconsolata"/>
              </a:rPr>
              <a:t>raise</a:t>
            </a:r>
            <a:r>
              <a:rPr sz="729" i="0">
                <a:solidFill>
                  <a:srgbClr val="E6EDF3"/>
                </a:solidFill>
                <a:latin typeface="Inconsolata"/>
              </a:rPr>
              <a:t> </a:t>
            </a:r>
            <a:r>
              <a:rPr sz="729" i="0">
                <a:solidFill>
                  <a:srgbClr val="7FDBCA"/>
                </a:solidFill>
                <a:latin typeface="Inconsolata"/>
              </a:rPr>
              <a:t>ValueError</a:t>
            </a:r>
            <a:r>
              <a:rPr sz="729" i="0">
                <a:solidFill>
                  <a:srgbClr val="E6EDF3"/>
                </a:solidFill>
                <a:latin typeface="Inconsolata"/>
              </a:rPr>
              <a:t>(</a:t>
            </a:r>
            <a:r>
              <a:rPr sz="729" i="0">
                <a:solidFill>
                  <a:srgbClr val="A5D6A7"/>
                </a:solidFill>
                <a:latin typeface="Inconsolata"/>
              </a:rPr>
              <a:t>"customer kosong"</a:t>
            </a:r>
            <a:r>
              <a:rPr sz="729" i="0">
                <a:solidFill>
                  <a:srgbClr val="E6EDF3"/>
                </a:solidFill>
                <a:latin typeface="Inconsolata"/>
              </a:rPr>
              <a:t>)</a:t>
            </a:r>
          </a:p>
          <a:p>
            <a:pPr>
              <a:lnSpc>
                <a:spcPct val="102868"/>
              </a:lnSpc>
              <a:spcAft>
                <a:spcPts val="0"/>
              </a:spcAft>
            </a:pPr>
            <a:r>
              <a:rPr sz="729" i="0">
                <a:solidFill>
                  <a:srgbClr val="5C6773"/>
                </a:solidFill>
                <a:latin typeface="Inconsolata"/>
              </a:rPr>
              <a:t>38  </a:t>
            </a:r>
            <a:r>
              <a:rPr sz="729" i="0">
                <a:solidFill>
                  <a:srgbClr val="E6EDF3"/>
                </a:solidFill>
                <a:latin typeface="Inconsolata"/>
              </a:rPr>
              <a:t>    </a:t>
            </a:r>
            <a:r>
              <a:rPr sz="729" i="0">
                <a:solidFill>
                  <a:srgbClr val="FF8E6E"/>
                </a:solidFill>
                <a:latin typeface="Inconsolata"/>
              </a:rPr>
              <a:t>if</a:t>
            </a:r>
            <a:r>
              <a:rPr sz="729" i="0">
                <a:solidFill>
                  <a:srgbClr val="E6EDF3"/>
                </a:solidFill>
                <a:latin typeface="Inconsolata"/>
              </a:rPr>
              <a:t> order_id == </a:t>
            </a:r>
            <a:r>
              <a:rPr sz="729" i="0">
                <a:solidFill>
                  <a:srgbClr val="F9C97A"/>
                </a:solidFill>
                <a:latin typeface="Inconsolata"/>
              </a:rPr>
              <a:t>2</a:t>
            </a:r>
            <a:r>
              <a:rPr sz="729" i="0">
                <a:solidFill>
                  <a:srgbClr val="E6EDF3"/>
                </a:solidFill>
                <a:latin typeface="Inconsolata"/>
              </a:rPr>
              <a:t> </a:t>
            </a:r>
            <a:r>
              <a:rPr sz="729" i="0">
                <a:solidFill>
                  <a:srgbClr val="FF8E6E"/>
                </a:solidFill>
                <a:latin typeface="Inconsolata"/>
              </a:rPr>
              <a:t>and</a:t>
            </a:r>
            <a:r>
              <a:rPr sz="729" i="0">
                <a:solidFill>
                  <a:srgbClr val="E6EDF3"/>
                </a:solidFill>
                <a:latin typeface="Inconsolata"/>
              </a:rPr>
              <a:t> attempts[order_id] &lt;= </a:t>
            </a:r>
            <a:r>
              <a:rPr sz="729" i="0">
                <a:solidFill>
                  <a:srgbClr val="F9C97A"/>
                </a:solidFill>
                <a:latin typeface="Inconsolata"/>
              </a:rPr>
              <a:t>2</a:t>
            </a:r>
            <a:r>
              <a:rPr sz="729" i="0">
                <a:solidFill>
                  <a:srgbClr val="E6EDF3"/>
                </a:solidFill>
                <a:latin typeface="Inconsolata"/>
              </a:rPr>
              <a:t>:</a:t>
            </a:r>
          </a:p>
          <a:p>
            <a:pPr>
              <a:lnSpc>
                <a:spcPct val="102868"/>
              </a:lnSpc>
              <a:spcAft>
                <a:spcPts val="0"/>
              </a:spcAft>
            </a:pPr>
            <a:r>
              <a:rPr sz="729" i="0">
                <a:solidFill>
                  <a:srgbClr val="5C6773"/>
                </a:solidFill>
                <a:latin typeface="Inconsolata"/>
              </a:rPr>
              <a:t>39  </a:t>
            </a:r>
            <a:r>
              <a:rPr sz="729" i="0">
                <a:solidFill>
                  <a:srgbClr val="E6EDF3"/>
                </a:solidFill>
                <a:latin typeface="Inconsolata"/>
              </a:rPr>
              <a:t>        </a:t>
            </a:r>
            <a:r>
              <a:rPr sz="729" i="0">
                <a:solidFill>
                  <a:srgbClr val="FF8E6E"/>
                </a:solidFill>
                <a:latin typeface="Inconsolata"/>
              </a:rPr>
              <a:t>raise</a:t>
            </a:r>
            <a:r>
              <a:rPr sz="729" i="0">
                <a:solidFill>
                  <a:srgbClr val="E6EDF3"/>
                </a:solidFill>
                <a:latin typeface="Inconsolata"/>
              </a:rPr>
              <a:t> </a:t>
            </a:r>
            <a:r>
              <a:rPr sz="729" i="0">
                <a:solidFill>
                  <a:srgbClr val="7FDBCA"/>
                </a:solidFill>
                <a:latin typeface="Inconsolata"/>
              </a:rPr>
              <a:t>EmailServerDown</a:t>
            </a:r>
            <a:r>
              <a:rPr sz="729" i="0">
                <a:solidFill>
                  <a:srgbClr val="E6EDF3"/>
                </a:solidFill>
                <a:latin typeface="Inconsolata"/>
              </a:rPr>
              <a:t>(</a:t>
            </a:r>
            <a:r>
              <a:rPr sz="729" i="0">
                <a:solidFill>
                  <a:srgbClr val="A5D6A7"/>
                </a:solidFill>
                <a:latin typeface="Inconsolata"/>
              </a:rPr>
              <a:t>"server email timeout"</a:t>
            </a:r>
            <a:r>
              <a:rPr sz="729" i="0">
                <a:solidFill>
                  <a:srgbClr val="E6EDF3"/>
                </a:solidFill>
                <a:latin typeface="Inconsolata"/>
              </a:rPr>
              <a:t>)</a:t>
            </a:r>
          </a:p>
          <a:p>
            <a:pPr>
              <a:lnSpc>
                <a:spcPct val="102868"/>
              </a:lnSpc>
              <a:spcAft>
                <a:spcPts val="0"/>
              </a:spcAft>
            </a:pPr>
            <a:r>
              <a:rPr sz="729" i="0">
                <a:solidFill>
                  <a:srgbClr val="5C6773"/>
                </a:solidFill>
                <a:latin typeface="Inconsolata"/>
              </a:rPr>
              <a:t>40  </a:t>
            </a:r>
            <a:r>
              <a:rPr sz="729" i="0">
                <a:solidFill>
                  <a:srgbClr val="E6EDF3"/>
                </a:solidFill>
                <a:latin typeface="Inconsolata"/>
              </a:rPr>
              <a:t>    </a:t>
            </a:r>
            <a:r>
              <a:rPr sz="729" i="0">
                <a:solidFill>
                  <a:srgbClr val="C3A6FF"/>
                </a:solidFill>
                <a:latin typeface="Inconsolata"/>
              </a:rPr>
              <a:t>print</a:t>
            </a:r>
            <a:r>
              <a:rPr sz="729" i="0">
                <a:solidFill>
                  <a:srgbClr val="E6EDF3"/>
                </a:solidFill>
                <a:latin typeface="Inconsolata"/>
              </a:rPr>
              <a:t>(</a:t>
            </a:r>
            <a:r>
              <a:rPr sz="729" i="0">
                <a:solidFill>
                  <a:srgbClr val="A5D6A7"/>
                </a:solidFill>
                <a:latin typeface="Inconsolata"/>
              </a:rPr>
              <a:t>f"  email order #{order_id} terkirim "</a:t>
            </a:r>
          </a:p>
          <a:p>
            <a:pPr>
              <a:lnSpc>
                <a:spcPct val="102868"/>
              </a:lnSpc>
              <a:spcAft>
                <a:spcPts val="0"/>
              </a:spcAft>
            </a:pPr>
            <a:r>
              <a:rPr sz="729" i="0">
                <a:solidFill>
                  <a:srgbClr val="5C6773"/>
                </a:solidFill>
                <a:latin typeface="Inconsolata"/>
              </a:rPr>
              <a:t>41  </a:t>
            </a:r>
            <a:r>
              <a:rPr sz="729" i="0">
                <a:solidFill>
                  <a:srgbClr val="E6EDF3"/>
                </a:solidFill>
                <a:latin typeface="Inconsolata"/>
              </a:rPr>
              <a:t>          </a:t>
            </a:r>
            <a:r>
              <a:rPr sz="729" i="0">
                <a:solidFill>
                  <a:srgbClr val="A5D6A7"/>
                </a:solidFill>
                <a:latin typeface="Inconsolata"/>
              </a:rPr>
              <a:t>f"(percobaan ke-{attempts[order_id]})"</a:t>
            </a:r>
            <a:r>
              <a:rPr sz="729" i="0">
                <a:solidFill>
                  <a:srgbClr val="E6EDF3"/>
                </a:solidFill>
                <a:latin typeface="Inconsolata"/>
              </a:rPr>
              <a:t>)</a:t>
            </a:r>
          </a:p>
          <a:p>
            <a:pPr>
              <a:lnSpc>
                <a:spcPct val="102868"/>
              </a:lnSpc>
              <a:spcAft>
                <a:spcPts val="0"/>
              </a:spcAft>
            </a:pPr>
            <a:r>
              <a:rPr sz="729" i="0">
                <a:solidFill>
                  <a:srgbClr val="5C6773"/>
                </a:solidFill>
                <a:latin typeface="Inconsolata"/>
              </a:rPr>
              <a:t>42  </a:t>
            </a:r>
            <a:r>
              <a:rPr sz="729" i="0">
                <a:solidFill>
                  <a:srgbClr val="E6EDF3"/>
                </a:solidFill>
                <a:latin typeface="Inconsolata"/>
              </a:rPr>
              <a:t> </a:t>
            </a:r>
          </a:p>
          <a:p>
            <a:pPr>
              <a:lnSpc>
                <a:spcPct val="102868"/>
              </a:lnSpc>
              <a:spcAft>
                <a:spcPts val="0"/>
              </a:spcAft>
            </a:pPr>
            <a:r>
              <a:rPr sz="729" i="0">
                <a:solidFill>
                  <a:srgbClr val="5C6773"/>
                </a:solidFill>
                <a:latin typeface="Inconsolata"/>
              </a:rPr>
              <a:t>43  </a:t>
            </a:r>
            <a:r>
              <a:rPr sz="729" i="0">
                <a:solidFill>
                  <a:srgbClr val="E6EDF3"/>
                </a:solidFill>
                <a:latin typeface="Inconsolata"/>
              </a:rPr>
              <a:t> </a:t>
            </a:r>
          </a:p>
          <a:p>
            <a:pPr>
              <a:lnSpc>
                <a:spcPct val="102868"/>
              </a:lnSpc>
              <a:spcAft>
                <a:spcPts val="0"/>
              </a:spcAft>
            </a:pPr>
            <a:r>
              <a:rPr sz="729" i="0">
                <a:solidFill>
                  <a:srgbClr val="5C6773"/>
                </a:solidFill>
                <a:latin typeface="Inconsolata"/>
              </a:rPr>
              <a:t>44  </a:t>
            </a:r>
            <a:r>
              <a:rPr sz="729" i="0">
                <a:solidFill>
                  <a:srgbClr val="FF8E6E"/>
                </a:solidFill>
                <a:latin typeface="Inconsolata"/>
              </a:rPr>
              <a:t>def</a:t>
            </a:r>
            <a:r>
              <a:rPr sz="729" i="0">
                <a:solidFill>
                  <a:srgbClr val="E6EDF3"/>
                </a:solidFill>
                <a:latin typeface="Inconsolata"/>
              </a:rPr>
              <a:t> </a:t>
            </a:r>
            <a:r>
              <a:rPr sz="729" i="0">
                <a:solidFill>
                  <a:srgbClr val="82B1FF"/>
                </a:solidFill>
                <a:latin typeface="Inconsolata"/>
              </a:rPr>
              <a:t>declare_queues</a:t>
            </a:r>
            <a:r>
              <a:rPr sz="729" i="0">
                <a:solidFill>
                  <a:srgbClr val="E6EDF3"/>
                </a:solidFill>
                <a:latin typeface="Inconsolata"/>
              </a:rPr>
              <a:t>(channel):</a:t>
            </a:r>
          </a:p>
          <a:p>
            <a:pPr>
              <a:lnSpc>
                <a:spcPct val="102868"/>
              </a:lnSpc>
              <a:spcAft>
                <a:spcPts val="0"/>
              </a:spcAft>
            </a:pPr>
            <a:r>
              <a:rPr sz="729" i="0">
                <a:solidFill>
                  <a:srgbClr val="5C6773"/>
                </a:solidFill>
                <a:latin typeface="Inconsolata"/>
              </a:rPr>
              <a:t>45  </a:t>
            </a:r>
            <a:r>
              <a:rPr sz="729" i="0">
                <a:solidFill>
                  <a:srgbClr val="E6EDF3"/>
                </a:solidFill>
                <a:latin typeface="Inconsolata"/>
              </a:rPr>
              <a:t>    channel.queue_declare(</a:t>
            </a:r>
            <a:r>
              <a:rPr sz="729" i="0">
                <a:solidFill>
                  <a:srgbClr val="A5D6A7"/>
                </a:solidFill>
                <a:latin typeface="Inconsolata"/>
              </a:rPr>
              <a:t>"email.dlq"</a:t>
            </a:r>
            <a:r>
              <a:rPr sz="729" i="0">
                <a:solidFill>
                  <a:srgbClr val="E6EDF3"/>
                </a:solidFill>
                <a:latin typeface="Inconsolata"/>
              </a:rPr>
              <a:t>, durable=</a:t>
            </a:r>
            <a:r>
              <a:rPr sz="729" i="0">
                <a:solidFill>
                  <a:srgbClr val="FF8E6E"/>
                </a:solidFill>
                <a:latin typeface="Inconsolata"/>
              </a:rPr>
              <a:t>True</a:t>
            </a:r>
            <a:r>
              <a:rPr sz="729" i="0">
                <a:solidFill>
                  <a:srgbClr val="E6EDF3"/>
                </a:solidFill>
                <a:latin typeface="Inconsolata"/>
              </a:rPr>
              <a:t>)</a:t>
            </a:r>
          </a:p>
          <a:p>
            <a:pPr>
              <a:lnSpc>
                <a:spcPct val="102868"/>
              </a:lnSpc>
              <a:spcAft>
                <a:spcPts val="0"/>
              </a:spcAft>
            </a:pPr>
            <a:r>
              <a:rPr sz="729" i="0">
                <a:solidFill>
                  <a:srgbClr val="5C6773"/>
                </a:solidFill>
                <a:latin typeface="Inconsolata"/>
              </a:rPr>
              <a:t>46  </a:t>
            </a:r>
            <a:r>
              <a:rPr sz="729" i="0">
                <a:solidFill>
                  <a:srgbClr val="E6EDF3"/>
                </a:solidFill>
                <a:latin typeface="Inconsolata"/>
              </a:rPr>
              <a:t>    channel.queue_declare(</a:t>
            </a:r>
            <a:r>
              <a:rPr sz="729" i="0">
                <a:solidFill>
                  <a:srgbClr val="A5D6A7"/>
                </a:solidFill>
                <a:latin typeface="Inconsolata"/>
              </a:rPr>
              <a:t>"email"</a:t>
            </a:r>
            <a:r>
              <a:rPr sz="729" i="0">
                <a:solidFill>
                  <a:srgbClr val="E6EDF3"/>
                </a:solidFill>
                <a:latin typeface="Inconsolata"/>
              </a:rPr>
              <a:t>, durable=</a:t>
            </a:r>
            <a:r>
              <a:rPr sz="729" i="0">
                <a:solidFill>
                  <a:srgbClr val="FF8E6E"/>
                </a:solidFill>
                <a:latin typeface="Inconsolata"/>
              </a:rPr>
              <a:t>True</a:t>
            </a:r>
            <a:r>
              <a:rPr sz="729" i="0">
                <a:solidFill>
                  <a:srgbClr val="E6EDF3"/>
                </a:solidFill>
                <a:latin typeface="Inconsolata"/>
              </a:rPr>
              <a:t>, arguments={</a:t>
            </a:r>
          </a:p>
          <a:p>
            <a:pPr>
              <a:lnSpc>
                <a:spcPct val="102868"/>
              </a:lnSpc>
              <a:spcAft>
                <a:spcPts val="0"/>
              </a:spcAft>
            </a:pPr>
            <a:r>
              <a:rPr sz="729" i="0">
                <a:solidFill>
                  <a:srgbClr val="5C6773"/>
                </a:solidFill>
                <a:latin typeface="Inconsolata"/>
              </a:rPr>
              <a:t>47  </a:t>
            </a:r>
            <a:r>
              <a:rPr sz="729" i="0">
                <a:solidFill>
                  <a:srgbClr val="E6EDF3"/>
                </a:solidFill>
                <a:latin typeface="Inconsolata"/>
              </a:rPr>
              <a:t>        </a:t>
            </a:r>
            <a:r>
              <a:rPr sz="729" i="0">
                <a:solidFill>
                  <a:srgbClr val="A5D6A7"/>
                </a:solidFill>
                <a:latin typeface="Inconsolata"/>
              </a:rPr>
              <a:t>"x-dead-letter-exchange"</a:t>
            </a:r>
            <a:r>
              <a:rPr sz="729" i="0">
                <a:solidFill>
                  <a:srgbClr val="E6EDF3"/>
                </a:solidFill>
                <a:latin typeface="Inconsolata"/>
              </a:rPr>
              <a:t>: </a:t>
            </a:r>
            <a:r>
              <a:rPr sz="729" i="0">
                <a:solidFill>
                  <a:srgbClr val="A5D6A7"/>
                </a:solidFill>
                <a:latin typeface="Inconsolata"/>
              </a:rPr>
              <a:t>""</a:t>
            </a:r>
            <a:r>
              <a:rPr sz="729" i="0">
                <a:solidFill>
                  <a:srgbClr val="E6EDF3"/>
                </a:solidFill>
                <a:latin typeface="Inconsolata"/>
              </a:rPr>
              <a:t>,</a:t>
            </a:r>
          </a:p>
          <a:p>
            <a:pPr>
              <a:lnSpc>
                <a:spcPct val="102868"/>
              </a:lnSpc>
              <a:spcAft>
                <a:spcPts val="0"/>
              </a:spcAft>
            </a:pPr>
            <a:r>
              <a:rPr sz="729" i="0">
                <a:solidFill>
                  <a:srgbClr val="5C6773"/>
                </a:solidFill>
                <a:latin typeface="Inconsolata"/>
              </a:rPr>
              <a:t>48  </a:t>
            </a:r>
            <a:r>
              <a:rPr sz="729" i="0">
                <a:solidFill>
                  <a:srgbClr val="E6EDF3"/>
                </a:solidFill>
                <a:latin typeface="Inconsolata"/>
              </a:rPr>
              <a:t>        </a:t>
            </a:r>
            <a:r>
              <a:rPr sz="729" i="0">
                <a:solidFill>
                  <a:srgbClr val="A5D6A7"/>
                </a:solidFill>
                <a:latin typeface="Inconsolata"/>
              </a:rPr>
              <a:t>"x-dead-letter-routing-key"</a:t>
            </a:r>
            <a:r>
              <a:rPr sz="729" i="0">
                <a:solidFill>
                  <a:srgbClr val="E6EDF3"/>
                </a:solidFill>
                <a:latin typeface="Inconsolata"/>
              </a:rPr>
              <a:t>: </a:t>
            </a:r>
            <a:r>
              <a:rPr sz="729" i="0">
                <a:solidFill>
                  <a:srgbClr val="A5D6A7"/>
                </a:solidFill>
                <a:latin typeface="Inconsolata"/>
              </a:rPr>
              <a:t>"email.dlq"</a:t>
            </a:r>
            <a:r>
              <a:rPr sz="729" i="0">
                <a:solidFill>
                  <a:srgbClr val="E6EDF3"/>
                </a:solidFill>
                <a:latin typeface="Inconsolata"/>
              </a:rPr>
              <a:t>})</a:t>
            </a:r>
          </a:p>
          <a:p>
            <a:pPr>
              <a:lnSpc>
                <a:spcPct val="102868"/>
              </a:lnSpc>
              <a:spcAft>
                <a:spcPts val="0"/>
              </a:spcAft>
            </a:pPr>
            <a:r>
              <a:rPr sz="729" i="0">
                <a:solidFill>
                  <a:srgbClr val="5C6773"/>
                </a:solidFill>
                <a:latin typeface="Inconsolata"/>
              </a:rPr>
              <a:t>49  </a:t>
            </a:r>
            <a:r>
              <a:rPr sz="729" i="0">
                <a:solidFill>
                  <a:srgbClr val="E6EDF3"/>
                </a:solidFill>
                <a:latin typeface="Inconsolata"/>
              </a:rPr>
              <a:t>    channel.queue_declare(</a:t>
            </a:r>
            <a:r>
              <a:rPr sz="729" i="0">
                <a:solidFill>
                  <a:srgbClr val="A5D6A7"/>
                </a:solidFill>
                <a:latin typeface="Inconsolata"/>
              </a:rPr>
              <a:t>"email.retry"</a:t>
            </a:r>
            <a:r>
              <a:rPr sz="729" i="0">
                <a:solidFill>
                  <a:srgbClr val="E6EDF3"/>
                </a:solidFill>
                <a:latin typeface="Inconsolata"/>
              </a:rPr>
              <a:t>, durable=</a:t>
            </a:r>
            <a:r>
              <a:rPr sz="729" i="0">
                <a:solidFill>
                  <a:srgbClr val="FF8E6E"/>
                </a:solidFill>
                <a:latin typeface="Inconsolata"/>
              </a:rPr>
              <a:t>True</a:t>
            </a:r>
            <a:r>
              <a:rPr sz="729" i="0">
                <a:solidFill>
                  <a:srgbClr val="E6EDF3"/>
                </a:solidFill>
                <a:latin typeface="Inconsolata"/>
              </a:rPr>
              <a:t>, arguments={</a:t>
            </a:r>
          </a:p>
          <a:p>
            <a:pPr>
              <a:lnSpc>
                <a:spcPct val="102868"/>
              </a:lnSpc>
              <a:spcAft>
                <a:spcPts val="0"/>
              </a:spcAft>
            </a:pPr>
            <a:r>
              <a:rPr sz="729" i="0">
                <a:solidFill>
                  <a:srgbClr val="5C6773"/>
                </a:solidFill>
                <a:latin typeface="Inconsolata"/>
              </a:rPr>
              <a:t>50  </a:t>
            </a:r>
            <a:r>
              <a:rPr sz="729" i="0">
                <a:solidFill>
                  <a:srgbClr val="E6EDF3"/>
                </a:solidFill>
                <a:latin typeface="Inconsolata"/>
              </a:rPr>
              <a:t>        </a:t>
            </a:r>
            <a:r>
              <a:rPr sz="729" i="0">
                <a:solidFill>
                  <a:srgbClr val="A5D6A7"/>
                </a:solidFill>
                <a:latin typeface="Inconsolata"/>
              </a:rPr>
              <a:t>"x-dead-letter-exchange"</a:t>
            </a:r>
            <a:r>
              <a:rPr sz="729" i="0">
                <a:solidFill>
                  <a:srgbClr val="E6EDF3"/>
                </a:solidFill>
                <a:latin typeface="Inconsolata"/>
              </a:rPr>
              <a:t>: </a:t>
            </a:r>
            <a:r>
              <a:rPr sz="729" i="0">
                <a:solidFill>
                  <a:srgbClr val="A5D6A7"/>
                </a:solidFill>
                <a:latin typeface="Inconsolata"/>
              </a:rPr>
              <a:t>""</a:t>
            </a:r>
            <a:r>
              <a:rPr sz="729" i="0">
                <a:solidFill>
                  <a:srgbClr val="E6EDF3"/>
                </a:solidFill>
                <a:latin typeface="Inconsolata"/>
              </a:rPr>
              <a:t>,</a:t>
            </a:r>
          </a:p>
          <a:p>
            <a:pPr>
              <a:lnSpc>
                <a:spcPct val="102868"/>
              </a:lnSpc>
              <a:spcAft>
                <a:spcPts val="0"/>
              </a:spcAft>
            </a:pPr>
            <a:r>
              <a:rPr sz="729" i="0">
                <a:solidFill>
                  <a:srgbClr val="5C6773"/>
                </a:solidFill>
                <a:latin typeface="Inconsolata"/>
              </a:rPr>
              <a:t>51  </a:t>
            </a:r>
            <a:r>
              <a:rPr sz="729" i="0">
                <a:solidFill>
                  <a:srgbClr val="E6EDF3"/>
                </a:solidFill>
                <a:latin typeface="Inconsolata"/>
              </a:rPr>
              <a:t>        </a:t>
            </a:r>
            <a:r>
              <a:rPr sz="729" i="0">
                <a:solidFill>
                  <a:srgbClr val="A5D6A7"/>
                </a:solidFill>
                <a:latin typeface="Inconsolata"/>
              </a:rPr>
              <a:t>"x-dead-letter-routing-key"</a:t>
            </a:r>
            <a:r>
              <a:rPr sz="729" i="0">
                <a:solidFill>
                  <a:srgbClr val="E6EDF3"/>
                </a:solidFill>
                <a:latin typeface="Inconsolata"/>
              </a:rPr>
              <a:t>: </a:t>
            </a:r>
            <a:r>
              <a:rPr sz="729" i="0">
                <a:solidFill>
                  <a:srgbClr val="A5D6A7"/>
                </a:solidFill>
                <a:latin typeface="Inconsolata"/>
              </a:rPr>
              <a:t>"email"</a:t>
            </a:r>
            <a:r>
              <a:rPr sz="729" i="0">
                <a:solidFill>
                  <a:srgbClr val="E6EDF3"/>
                </a:solidFill>
                <a:latin typeface="Inconsolata"/>
              </a:rPr>
              <a:t>})</a:t>
            </a:r>
          </a:p>
        </p:txBody>
      </p:sp>
      <p:sp>
        <p:nvSpPr>
          <p:cNvPr id="36" name="Box 21"/>
          <p:cNvSpPr/>
          <p:nvPr/>
        </p:nvSpPr>
        <p:spPr>
          <a:xfrm>
            <a:off x="4709159" y="3082671"/>
            <a:ext cx="3694176" cy="907542"/>
          </a:xfrm>
          <a:prstGeom prst="roundRect">
            <a:avLst>
              <a:gd name="adj" fmla="val 503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8284463" y="341757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Dead Letter Queue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retry dengan jeda dan DLQ (2/2)</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04-nack-dead-letter/after.py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2868"/>
              </a:lnSpc>
              <a:spcAft>
                <a:spcPts val="0"/>
              </a:spcAft>
            </a:pPr>
            <a:r>
              <a:rPr sz="729" i="0">
                <a:solidFill>
                  <a:srgbClr val="5C6773"/>
                </a:solidFill>
                <a:latin typeface="Inconsolata"/>
              </a:rPr>
              <a:t>54  </a:t>
            </a:r>
            <a:r>
              <a:rPr sz="729" i="0">
                <a:solidFill>
                  <a:srgbClr val="FF8E6E"/>
                </a:solidFill>
                <a:latin typeface="Inconsolata"/>
              </a:rPr>
              <a:t>def</a:t>
            </a:r>
            <a:r>
              <a:rPr sz="729" i="0">
                <a:solidFill>
                  <a:srgbClr val="E6EDF3"/>
                </a:solidFill>
                <a:latin typeface="Inconsolata"/>
              </a:rPr>
              <a:t> </a:t>
            </a:r>
            <a:r>
              <a:rPr sz="729" i="0">
                <a:solidFill>
                  <a:srgbClr val="82B1FF"/>
                </a:solidFill>
                <a:latin typeface="Inconsolata"/>
              </a:rPr>
              <a:t>handle</a:t>
            </a:r>
            <a:r>
              <a:rPr sz="729" i="0">
                <a:solidFill>
                  <a:srgbClr val="E6EDF3"/>
                </a:solidFill>
                <a:latin typeface="Inconsolata"/>
              </a:rPr>
              <a:t>(channel, method, properties, body):</a:t>
            </a:r>
          </a:p>
          <a:p>
            <a:pPr>
              <a:lnSpc>
                <a:spcPct val="102868"/>
              </a:lnSpc>
              <a:spcAft>
                <a:spcPts val="0"/>
              </a:spcAft>
            </a:pPr>
            <a:r>
              <a:rPr sz="729" i="0">
                <a:solidFill>
                  <a:srgbClr val="5C6773"/>
                </a:solidFill>
                <a:latin typeface="Inconsolata"/>
              </a:rPr>
              <a:t>55  </a:t>
            </a:r>
            <a:r>
              <a:rPr sz="729" i="0">
                <a:solidFill>
                  <a:srgbClr val="E6EDF3"/>
                </a:solidFill>
                <a:latin typeface="Inconsolata"/>
              </a:rPr>
              <a:t>    retries = (properties.headers </a:t>
            </a:r>
            <a:r>
              <a:rPr sz="729" i="0">
                <a:solidFill>
                  <a:srgbClr val="FF8E6E"/>
                </a:solidFill>
                <a:latin typeface="Inconsolata"/>
              </a:rPr>
              <a:t>or</a:t>
            </a:r>
            <a:r>
              <a:rPr sz="729" i="0">
                <a:solidFill>
                  <a:srgbClr val="E6EDF3"/>
                </a:solidFill>
                <a:latin typeface="Inconsolata"/>
              </a:rPr>
              <a:t> {}).get(</a:t>
            </a:r>
            <a:r>
              <a:rPr sz="729" i="0">
                <a:solidFill>
                  <a:srgbClr val="A5D6A7"/>
                </a:solidFill>
                <a:latin typeface="Inconsolata"/>
              </a:rPr>
              <a:t>"x-retries"</a:t>
            </a:r>
            <a:r>
              <a:rPr sz="729" i="0">
                <a:solidFill>
                  <a:srgbClr val="E6EDF3"/>
                </a:solidFill>
                <a:latin typeface="Inconsolata"/>
              </a:rPr>
              <a:t>, </a:t>
            </a:r>
            <a:r>
              <a:rPr sz="729" i="0">
                <a:solidFill>
                  <a:srgbClr val="F9C97A"/>
                </a:solidFill>
                <a:latin typeface="Inconsolata"/>
              </a:rPr>
              <a:t>0</a:t>
            </a:r>
            <a:r>
              <a:rPr sz="729" i="0">
                <a:solidFill>
                  <a:srgbClr val="E6EDF3"/>
                </a:solidFill>
                <a:latin typeface="Inconsolata"/>
              </a:rPr>
              <a:t>)</a:t>
            </a:r>
          </a:p>
          <a:p>
            <a:pPr>
              <a:lnSpc>
                <a:spcPct val="102868"/>
              </a:lnSpc>
              <a:spcAft>
                <a:spcPts val="0"/>
              </a:spcAft>
            </a:pPr>
            <a:r>
              <a:rPr sz="729" i="0">
                <a:solidFill>
                  <a:srgbClr val="5C6773"/>
                </a:solidFill>
                <a:latin typeface="Inconsolata"/>
              </a:rPr>
              <a:t>56  </a:t>
            </a:r>
            <a:r>
              <a:rPr sz="729" i="0">
                <a:solidFill>
                  <a:srgbClr val="E6EDF3"/>
                </a:solidFill>
                <a:latin typeface="Inconsolata"/>
              </a:rPr>
              <a:t>    </a:t>
            </a:r>
            <a:r>
              <a:rPr sz="729" i="0">
                <a:solidFill>
                  <a:srgbClr val="FF8E6E"/>
                </a:solidFill>
                <a:latin typeface="Inconsolata"/>
              </a:rPr>
              <a:t>try</a:t>
            </a:r>
            <a:r>
              <a:rPr sz="729" i="0">
                <a:solidFill>
                  <a:srgbClr val="E6EDF3"/>
                </a:solidFill>
                <a:latin typeface="Inconsolata"/>
              </a:rPr>
              <a:t>:</a:t>
            </a:r>
          </a:p>
          <a:p>
            <a:pPr>
              <a:lnSpc>
                <a:spcPct val="102868"/>
              </a:lnSpc>
              <a:spcAft>
                <a:spcPts val="0"/>
              </a:spcAft>
            </a:pPr>
            <a:r>
              <a:rPr sz="729" i="0">
                <a:solidFill>
                  <a:srgbClr val="5C6773"/>
                </a:solidFill>
                <a:latin typeface="Inconsolata"/>
              </a:rPr>
              <a:t>57  </a:t>
            </a:r>
            <a:r>
              <a:rPr sz="729" i="0">
                <a:solidFill>
                  <a:srgbClr val="E6EDF3"/>
                </a:solidFill>
                <a:latin typeface="Inconsolata"/>
              </a:rPr>
              <a:t>        send_email(json.loads(body))</a:t>
            </a:r>
          </a:p>
          <a:p>
            <a:pPr>
              <a:lnSpc>
                <a:spcPct val="102868"/>
              </a:lnSpc>
              <a:spcAft>
                <a:spcPts val="0"/>
              </a:spcAft>
            </a:pPr>
            <a:r>
              <a:rPr sz="729" i="0">
                <a:solidFill>
                  <a:srgbClr val="5C6773"/>
                </a:solidFill>
                <a:latin typeface="Inconsolata"/>
              </a:rPr>
              <a:t>58  </a:t>
            </a:r>
            <a:r>
              <a:rPr sz="729" i="0">
                <a:solidFill>
                  <a:srgbClr val="E6EDF3"/>
                </a:solidFill>
                <a:latin typeface="Inconsolata"/>
              </a:rPr>
              <a:t>        channel.basic_ack(method.delivery_tag)</a:t>
            </a:r>
          </a:p>
          <a:p>
            <a:pPr>
              <a:lnSpc>
                <a:spcPct val="102868"/>
              </a:lnSpc>
              <a:spcAft>
                <a:spcPts val="0"/>
              </a:spcAft>
            </a:pPr>
            <a:r>
              <a:rPr sz="729" i="0">
                <a:solidFill>
                  <a:srgbClr val="5C6773"/>
                </a:solidFill>
                <a:latin typeface="Inconsolata"/>
              </a:rPr>
              <a:t>59  </a:t>
            </a:r>
            <a:r>
              <a:rPr sz="729" i="0">
                <a:solidFill>
                  <a:srgbClr val="E6EDF3"/>
                </a:solidFill>
                <a:latin typeface="Inconsolata"/>
              </a:rPr>
              <a:t>    </a:t>
            </a:r>
            <a:r>
              <a:rPr sz="729" i="0">
                <a:solidFill>
                  <a:srgbClr val="FF8E6E"/>
                </a:solidFill>
                <a:latin typeface="Inconsolata"/>
              </a:rPr>
              <a:t>except</a:t>
            </a:r>
            <a:r>
              <a:rPr sz="729" i="0">
                <a:solidFill>
                  <a:srgbClr val="E6EDF3"/>
                </a:solidFill>
                <a:latin typeface="Inconsolata"/>
              </a:rPr>
              <a:t> </a:t>
            </a:r>
            <a:r>
              <a:rPr sz="729" i="0">
                <a:solidFill>
                  <a:srgbClr val="7FDBCA"/>
                </a:solidFill>
                <a:latin typeface="Inconsolata"/>
              </a:rPr>
              <a:t>ValueError</a:t>
            </a:r>
            <a:r>
              <a:rPr sz="729" i="0">
                <a:solidFill>
                  <a:srgbClr val="E6EDF3"/>
                </a:solidFill>
                <a:latin typeface="Inconsolata"/>
              </a:rPr>
              <a:t> </a:t>
            </a:r>
            <a:r>
              <a:rPr sz="729" i="0">
                <a:solidFill>
                  <a:srgbClr val="FF8E6E"/>
                </a:solidFill>
                <a:latin typeface="Inconsolata"/>
              </a:rPr>
              <a:t>as</a:t>
            </a:r>
            <a:r>
              <a:rPr sz="729" i="0">
                <a:solidFill>
                  <a:srgbClr val="E6EDF3"/>
                </a:solidFill>
                <a:latin typeface="Inconsolata"/>
              </a:rPr>
              <a:t> exc:                    </a:t>
            </a:r>
            <a:r>
              <a:rPr sz="729" i="1">
                <a:solidFill>
                  <a:srgbClr val="8B98A8"/>
                </a:solidFill>
                <a:latin typeface="Inconsolata"/>
              </a:rPr>
              <a:t># pesan rusak</a:t>
            </a:r>
          </a:p>
          <a:p>
            <a:pPr>
              <a:lnSpc>
                <a:spcPct val="102868"/>
              </a:lnSpc>
              <a:spcAft>
                <a:spcPts val="0"/>
              </a:spcAft>
            </a:pPr>
            <a:r>
              <a:rPr sz="729" i="0">
                <a:solidFill>
                  <a:srgbClr val="5C6773"/>
                </a:solidFill>
                <a:latin typeface="Inconsolata"/>
              </a:rPr>
              <a:t>60  </a:t>
            </a:r>
            <a:r>
              <a:rPr sz="729" i="0">
                <a:solidFill>
                  <a:srgbClr val="E6EDF3"/>
                </a:solidFill>
                <a:latin typeface="Inconsolata"/>
              </a:rPr>
              <a:t>        </a:t>
            </a:r>
            <a:r>
              <a:rPr sz="729" i="0">
                <a:solidFill>
                  <a:srgbClr val="C3A6FF"/>
                </a:solidFill>
                <a:latin typeface="Inconsolata"/>
              </a:rPr>
              <a:t>print</a:t>
            </a:r>
            <a:r>
              <a:rPr sz="729" i="0">
                <a:solidFill>
                  <a:srgbClr val="E6EDF3"/>
                </a:solidFill>
                <a:latin typeface="Inconsolata"/>
              </a:rPr>
              <a:t>(</a:t>
            </a:r>
            <a:r>
              <a:rPr sz="729" i="0">
                <a:solidFill>
                  <a:srgbClr val="A5D6A7"/>
                </a:solidFill>
                <a:latin typeface="Inconsolata"/>
              </a:rPr>
              <a:t>f"  pesan rusak ({exc}) -&gt; DLQ"</a:t>
            </a:r>
            <a:r>
              <a:rPr sz="729" i="0">
                <a:solidFill>
                  <a:srgbClr val="E6EDF3"/>
                </a:solidFill>
                <a:latin typeface="Inconsolata"/>
              </a:rPr>
              <a:t>)</a:t>
            </a:r>
          </a:p>
          <a:p>
            <a:pPr>
              <a:lnSpc>
                <a:spcPct val="102868"/>
              </a:lnSpc>
              <a:spcAft>
                <a:spcPts val="0"/>
              </a:spcAft>
            </a:pPr>
            <a:r>
              <a:rPr sz="729" i="0">
                <a:solidFill>
                  <a:srgbClr val="5C6773"/>
                </a:solidFill>
                <a:latin typeface="Inconsolata"/>
              </a:rPr>
              <a:t>61  </a:t>
            </a:r>
            <a:r>
              <a:rPr sz="729" i="0">
                <a:solidFill>
                  <a:srgbClr val="E6EDF3"/>
                </a:solidFill>
                <a:latin typeface="Inconsolata"/>
              </a:rPr>
              <a:t>        channel.basic_nack(method.delivery_tag, requeue=</a:t>
            </a:r>
            <a:r>
              <a:rPr sz="729" i="0">
                <a:solidFill>
                  <a:srgbClr val="FF8E6E"/>
                </a:solidFill>
                <a:latin typeface="Inconsolata"/>
              </a:rPr>
              <a:t>False</a:t>
            </a:r>
            <a:r>
              <a:rPr sz="729" i="0">
                <a:solidFill>
                  <a:srgbClr val="E6EDF3"/>
                </a:solidFill>
                <a:latin typeface="Inconsolata"/>
              </a:rPr>
              <a:t>)</a:t>
            </a:r>
          </a:p>
          <a:p>
            <a:pPr>
              <a:lnSpc>
                <a:spcPct val="102868"/>
              </a:lnSpc>
              <a:spcAft>
                <a:spcPts val="0"/>
              </a:spcAft>
            </a:pPr>
            <a:r>
              <a:rPr sz="729" i="0">
                <a:solidFill>
                  <a:srgbClr val="5C6773"/>
                </a:solidFill>
                <a:latin typeface="Inconsolata"/>
              </a:rPr>
              <a:t>62  </a:t>
            </a:r>
            <a:r>
              <a:rPr sz="729" i="0">
                <a:solidFill>
                  <a:srgbClr val="E6EDF3"/>
                </a:solidFill>
                <a:latin typeface="Inconsolata"/>
              </a:rPr>
              <a:t>    </a:t>
            </a:r>
            <a:r>
              <a:rPr sz="729" i="0">
                <a:solidFill>
                  <a:srgbClr val="FF8E6E"/>
                </a:solidFill>
                <a:latin typeface="Inconsolata"/>
              </a:rPr>
              <a:t>except</a:t>
            </a:r>
            <a:r>
              <a:rPr sz="729" i="0">
                <a:solidFill>
                  <a:srgbClr val="E6EDF3"/>
                </a:solidFill>
                <a:latin typeface="Inconsolata"/>
              </a:rPr>
              <a:t> </a:t>
            </a:r>
            <a:r>
              <a:rPr sz="729" i="0">
                <a:solidFill>
                  <a:srgbClr val="7FDBCA"/>
                </a:solidFill>
                <a:latin typeface="Inconsolata"/>
              </a:rPr>
              <a:t>EmailServerDown</a:t>
            </a:r>
            <a:r>
              <a:rPr sz="729" i="0">
                <a:solidFill>
                  <a:srgbClr val="E6EDF3"/>
                </a:solidFill>
                <a:latin typeface="Inconsolata"/>
              </a:rPr>
              <a:t> </a:t>
            </a:r>
            <a:r>
              <a:rPr sz="729" i="0">
                <a:solidFill>
                  <a:srgbClr val="FF8E6E"/>
                </a:solidFill>
                <a:latin typeface="Inconsolata"/>
              </a:rPr>
              <a:t>as</a:t>
            </a:r>
            <a:r>
              <a:rPr sz="729" i="0">
                <a:solidFill>
                  <a:srgbClr val="E6EDF3"/>
                </a:solidFill>
                <a:latin typeface="Inconsolata"/>
              </a:rPr>
              <a:t> exc:</a:t>
            </a:r>
          </a:p>
          <a:p>
            <a:pPr>
              <a:lnSpc>
                <a:spcPct val="102868"/>
              </a:lnSpc>
              <a:spcAft>
                <a:spcPts val="0"/>
              </a:spcAft>
            </a:pPr>
            <a:r>
              <a:rPr sz="729" i="0">
                <a:solidFill>
                  <a:srgbClr val="5C6773"/>
                </a:solidFill>
                <a:latin typeface="Inconsolata"/>
              </a:rPr>
              <a:t>63  </a:t>
            </a:r>
            <a:r>
              <a:rPr sz="729" i="0">
                <a:solidFill>
                  <a:srgbClr val="E6EDF3"/>
                </a:solidFill>
                <a:latin typeface="Inconsolata"/>
              </a:rPr>
              <a:t>        </a:t>
            </a:r>
            <a:r>
              <a:rPr sz="729" i="0">
                <a:solidFill>
                  <a:srgbClr val="FF8E6E"/>
                </a:solidFill>
                <a:latin typeface="Inconsolata"/>
              </a:rPr>
              <a:t>if</a:t>
            </a:r>
            <a:r>
              <a:rPr sz="729" i="0">
                <a:solidFill>
                  <a:srgbClr val="E6EDF3"/>
                </a:solidFill>
                <a:latin typeface="Inconsolata"/>
              </a:rPr>
              <a:t> retries &gt;= </a:t>
            </a:r>
            <a:r>
              <a:rPr sz="729" i="0">
                <a:solidFill>
                  <a:srgbClr val="7FDBCA"/>
                </a:solidFill>
                <a:latin typeface="Inconsolata"/>
              </a:rPr>
              <a:t>MAX_RETRIES</a:t>
            </a:r>
            <a:r>
              <a:rPr sz="729" i="0">
                <a:solidFill>
                  <a:srgbClr val="E6EDF3"/>
                </a:solidFill>
                <a:latin typeface="Inconsolata"/>
              </a:rPr>
              <a:t>:</a:t>
            </a:r>
          </a:p>
          <a:p>
            <a:pPr>
              <a:lnSpc>
                <a:spcPct val="102868"/>
              </a:lnSpc>
              <a:spcAft>
                <a:spcPts val="0"/>
              </a:spcAft>
            </a:pPr>
            <a:r>
              <a:rPr sz="729" i="0">
                <a:solidFill>
                  <a:srgbClr val="5C6773"/>
                </a:solidFill>
                <a:latin typeface="Inconsolata"/>
              </a:rPr>
              <a:t>64  </a:t>
            </a:r>
            <a:r>
              <a:rPr sz="729" i="0">
                <a:solidFill>
                  <a:srgbClr val="E6EDF3"/>
                </a:solidFill>
                <a:latin typeface="Inconsolata"/>
              </a:rPr>
              <a:t>            </a:t>
            </a:r>
            <a:r>
              <a:rPr sz="729" i="0">
                <a:solidFill>
                  <a:srgbClr val="C3A6FF"/>
                </a:solidFill>
                <a:latin typeface="Inconsolata"/>
              </a:rPr>
              <a:t>print</a:t>
            </a:r>
            <a:r>
              <a:rPr sz="729" i="0">
                <a:solidFill>
                  <a:srgbClr val="E6EDF3"/>
                </a:solidFill>
                <a:latin typeface="Inconsolata"/>
              </a:rPr>
              <a:t>(</a:t>
            </a:r>
            <a:r>
              <a:rPr sz="729" i="0">
                <a:solidFill>
                  <a:srgbClr val="A5D6A7"/>
                </a:solidFill>
                <a:latin typeface="Inconsolata"/>
              </a:rPr>
              <a:t>f"  gagal {retries + 1}x ({exc}) -&gt; DLQ"</a:t>
            </a:r>
            <a:r>
              <a:rPr sz="729" i="0">
                <a:solidFill>
                  <a:srgbClr val="E6EDF3"/>
                </a:solidFill>
                <a:latin typeface="Inconsolata"/>
              </a:rPr>
              <a:t>)</a:t>
            </a:r>
          </a:p>
          <a:p>
            <a:pPr>
              <a:lnSpc>
                <a:spcPct val="102868"/>
              </a:lnSpc>
              <a:spcAft>
                <a:spcPts val="0"/>
              </a:spcAft>
            </a:pPr>
            <a:r>
              <a:rPr sz="729" i="0">
                <a:solidFill>
                  <a:srgbClr val="5C6773"/>
                </a:solidFill>
                <a:latin typeface="Inconsolata"/>
              </a:rPr>
              <a:t>65  </a:t>
            </a:r>
            <a:r>
              <a:rPr sz="729" i="0">
                <a:solidFill>
                  <a:srgbClr val="E6EDF3"/>
                </a:solidFill>
                <a:latin typeface="Inconsolata"/>
              </a:rPr>
              <a:t>            channel.basic_nack(method.delivery_tag, requeue=</a:t>
            </a:r>
            <a:r>
              <a:rPr sz="729" i="0">
                <a:solidFill>
                  <a:srgbClr val="FF8E6E"/>
                </a:solidFill>
                <a:latin typeface="Inconsolata"/>
              </a:rPr>
              <a:t>False</a:t>
            </a:r>
            <a:r>
              <a:rPr sz="729" i="0">
                <a:solidFill>
                  <a:srgbClr val="E6EDF3"/>
                </a:solidFill>
                <a:latin typeface="Inconsolata"/>
              </a:rPr>
              <a:t>)</a:t>
            </a:r>
          </a:p>
          <a:p>
            <a:pPr>
              <a:lnSpc>
                <a:spcPct val="102868"/>
              </a:lnSpc>
              <a:spcAft>
                <a:spcPts val="0"/>
              </a:spcAft>
            </a:pPr>
            <a:r>
              <a:rPr sz="729" i="0">
                <a:solidFill>
                  <a:srgbClr val="5C6773"/>
                </a:solidFill>
                <a:latin typeface="Inconsolata"/>
              </a:rPr>
              <a:t>66  </a:t>
            </a:r>
            <a:r>
              <a:rPr sz="729" i="0">
                <a:solidFill>
                  <a:srgbClr val="E6EDF3"/>
                </a:solidFill>
                <a:latin typeface="Inconsolata"/>
              </a:rPr>
              <a:t>            </a:t>
            </a:r>
            <a:r>
              <a:rPr sz="729" i="0">
                <a:solidFill>
                  <a:srgbClr val="FF8E6E"/>
                </a:solidFill>
                <a:latin typeface="Inconsolata"/>
              </a:rPr>
              <a:t>return</a:t>
            </a:r>
          </a:p>
          <a:p>
            <a:pPr>
              <a:lnSpc>
                <a:spcPct val="102868"/>
              </a:lnSpc>
              <a:spcAft>
                <a:spcPts val="0"/>
              </a:spcAft>
            </a:pPr>
            <a:r>
              <a:rPr sz="729" i="0">
                <a:solidFill>
                  <a:srgbClr val="5C6773"/>
                </a:solidFill>
                <a:latin typeface="Inconsolata"/>
              </a:rPr>
              <a:t>67  </a:t>
            </a:r>
            <a:r>
              <a:rPr sz="729" i="0">
                <a:solidFill>
                  <a:srgbClr val="E6EDF3"/>
                </a:solidFill>
                <a:latin typeface="Inconsolata"/>
              </a:rPr>
              <a:t>        delay_ms = </a:t>
            </a:r>
            <a:r>
              <a:rPr sz="729" i="0">
                <a:solidFill>
                  <a:srgbClr val="F9C97A"/>
                </a:solidFill>
                <a:latin typeface="Inconsolata"/>
              </a:rPr>
              <a:t>500</a:t>
            </a:r>
            <a:r>
              <a:rPr sz="729" i="0">
                <a:solidFill>
                  <a:srgbClr val="E6EDF3"/>
                </a:solidFill>
                <a:latin typeface="Inconsolata"/>
              </a:rPr>
              <a:t> * </a:t>
            </a:r>
            <a:r>
              <a:rPr sz="729" i="0">
                <a:solidFill>
                  <a:srgbClr val="F9C97A"/>
                </a:solidFill>
                <a:latin typeface="Inconsolata"/>
              </a:rPr>
              <a:t>2</a:t>
            </a:r>
            <a:r>
              <a:rPr sz="729" i="0">
                <a:solidFill>
                  <a:srgbClr val="E6EDF3"/>
                </a:solidFill>
                <a:latin typeface="Inconsolata"/>
              </a:rPr>
              <a:t> ** retries</a:t>
            </a:r>
          </a:p>
          <a:p>
            <a:pPr>
              <a:lnSpc>
                <a:spcPct val="102868"/>
              </a:lnSpc>
              <a:spcAft>
                <a:spcPts val="0"/>
              </a:spcAft>
            </a:pPr>
            <a:r>
              <a:rPr sz="729" i="0">
                <a:solidFill>
                  <a:srgbClr val="5C6773"/>
                </a:solidFill>
                <a:latin typeface="Inconsolata"/>
              </a:rPr>
              <a:t>68  </a:t>
            </a:r>
            <a:r>
              <a:rPr sz="729" i="0">
                <a:solidFill>
                  <a:srgbClr val="E6EDF3"/>
                </a:solidFill>
                <a:latin typeface="Inconsolata"/>
              </a:rPr>
              <a:t>        props = pika.</a:t>
            </a:r>
            <a:r>
              <a:rPr sz="729" i="0">
                <a:solidFill>
                  <a:srgbClr val="7FDBCA"/>
                </a:solidFill>
                <a:latin typeface="Inconsolata"/>
              </a:rPr>
              <a:t>BasicProperties</a:t>
            </a:r>
            <a:r>
              <a:rPr sz="729" i="0">
                <a:solidFill>
                  <a:srgbClr val="E6EDF3"/>
                </a:solidFill>
                <a:latin typeface="Inconsolata"/>
              </a:rPr>
              <a:t>(</a:t>
            </a:r>
          </a:p>
          <a:p>
            <a:pPr>
              <a:lnSpc>
                <a:spcPct val="102868"/>
              </a:lnSpc>
              <a:spcAft>
                <a:spcPts val="0"/>
              </a:spcAft>
            </a:pPr>
            <a:r>
              <a:rPr sz="729" i="0">
                <a:solidFill>
                  <a:srgbClr val="5C6773"/>
                </a:solidFill>
                <a:latin typeface="Inconsolata"/>
              </a:rPr>
              <a:t>69  </a:t>
            </a:r>
            <a:r>
              <a:rPr sz="729" i="0">
                <a:solidFill>
                  <a:srgbClr val="E6EDF3"/>
                </a:solidFill>
                <a:latin typeface="Inconsolata"/>
              </a:rPr>
              <a:t>            headers={</a:t>
            </a:r>
            <a:r>
              <a:rPr sz="729" i="0">
                <a:solidFill>
                  <a:srgbClr val="A5D6A7"/>
                </a:solidFill>
                <a:latin typeface="Inconsolata"/>
              </a:rPr>
              <a:t>"x-retries"</a:t>
            </a:r>
            <a:r>
              <a:rPr sz="729" i="0">
                <a:solidFill>
                  <a:srgbClr val="E6EDF3"/>
                </a:solidFill>
                <a:latin typeface="Inconsolata"/>
              </a:rPr>
              <a:t>: retries + </a:t>
            </a:r>
            <a:r>
              <a:rPr sz="729" i="0">
                <a:solidFill>
                  <a:srgbClr val="F9C97A"/>
                </a:solidFill>
                <a:latin typeface="Inconsolata"/>
              </a:rPr>
              <a:t>1</a:t>
            </a:r>
            <a:r>
              <a:rPr sz="729" i="0">
                <a:solidFill>
                  <a:srgbClr val="E6EDF3"/>
                </a:solidFill>
                <a:latin typeface="Inconsolata"/>
              </a:rPr>
              <a:t>},</a:t>
            </a:r>
          </a:p>
          <a:p>
            <a:pPr>
              <a:lnSpc>
                <a:spcPct val="102868"/>
              </a:lnSpc>
              <a:spcAft>
                <a:spcPts val="0"/>
              </a:spcAft>
            </a:pPr>
            <a:r>
              <a:rPr sz="729" i="0">
                <a:solidFill>
                  <a:srgbClr val="5C6773"/>
                </a:solidFill>
                <a:latin typeface="Inconsolata"/>
              </a:rPr>
              <a:t>70  </a:t>
            </a:r>
            <a:r>
              <a:rPr sz="729" i="0">
                <a:solidFill>
                  <a:srgbClr val="E6EDF3"/>
                </a:solidFill>
                <a:latin typeface="Inconsolata"/>
              </a:rPr>
              <a:t>            expiration=</a:t>
            </a:r>
            <a:r>
              <a:rPr sz="729" i="0">
                <a:solidFill>
                  <a:srgbClr val="C3A6FF"/>
                </a:solidFill>
                <a:latin typeface="Inconsolata"/>
              </a:rPr>
              <a:t>str</a:t>
            </a:r>
            <a:r>
              <a:rPr sz="729" i="0">
                <a:solidFill>
                  <a:srgbClr val="E6EDF3"/>
                </a:solidFill>
                <a:latin typeface="Inconsolata"/>
              </a:rPr>
              <a:t>(delay_ms))</a:t>
            </a:r>
          </a:p>
          <a:p>
            <a:pPr>
              <a:lnSpc>
                <a:spcPct val="102868"/>
              </a:lnSpc>
              <a:spcAft>
                <a:spcPts val="0"/>
              </a:spcAft>
            </a:pPr>
            <a:r>
              <a:rPr sz="729" i="0">
                <a:solidFill>
                  <a:srgbClr val="5C6773"/>
                </a:solidFill>
                <a:latin typeface="Inconsolata"/>
              </a:rPr>
              <a:t>71  </a:t>
            </a:r>
            <a:r>
              <a:rPr sz="729" i="0">
                <a:solidFill>
                  <a:srgbClr val="E6EDF3"/>
                </a:solidFill>
                <a:latin typeface="Inconsolata"/>
              </a:rPr>
              <a:t>        channel.basic_publish(</a:t>
            </a:r>
            <a:r>
              <a:rPr sz="729" i="0">
                <a:solidFill>
                  <a:srgbClr val="A5D6A7"/>
                </a:solidFill>
                <a:latin typeface="Inconsolata"/>
              </a:rPr>
              <a:t>""</a:t>
            </a:r>
            <a:r>
              <a:rPr sz="729" i="0">
                <a:solidFill>
                  <a:srgbClr val="E6EDF3"/>
                </a:solidFill>
                <a:latin typeface="Inconsolata"/>
              </a:rPr>
              <a:t>, </a:t>
            </a:r>
            <a:r>
              <a:rPr sz="729" i="0">
                <a:solidFill>
                  <a:srgbClr val="A5D6A7"/>
                </a:solidFill>
                <a:latin typeface="Inconsolata"/>
              </a:rPr>
              <a:t>"email.retry"</a:t>
            </a:r>
            <a:r>
              <a:rPr sz="729" i="0">
                <a:solidFill>
                  <a:srgbClr val="E6EDF3"/>
                </a:solidFill>
                <a:latin typeface="Inconsolata"/>
              </a:rPr>
              <a:t>, body, props)</a:t>
            </a:r>
          </a:p>
          <a:p>
            <a:pPr>
              <a:lnSpc>
                <a:spcPct val="102868"/>
              </a:lnSpc>
              <a:spcAft>
                <a:spcPts val="0"/>
              </a:spcAft>
            </a:pPr>
            <a:r>
              <a:rPr sz="729" i="0">
                <a:solidFill>
                  <a:srgbClr val="5C6773"/>
                </a:solidFill>
                <a:latin typeface="Inconsolata"/>
              </a:rPr>
              <a:t>72  </a:t>
            </a:r>
            <a:r>
              <a:rPr sz="729" i="0">
                <a:solidFill>
                  <a:srgbClr val="E6EDF3"/>
                </a:solidFill>
                <a:latin typeface="Inconsolata"/>
              </a:rPr>
              <a:t>        channel.basic_ack(method.delivery_tag)</a:t>
            </a:r>
          </a:p>
          <a:p>
            <a:pPr>
              <a:lnSpc>
                <a:spcPct val="102868"/>
              </a:lnSpc>
              <a:spcAft>
                <a:spcPts val="0"/>
              </a:spcAft>
            </a:pPr>
            <a:r>
              <a:rPr sz="729" i="0">
                <a:solidFill>
                  <a:srgbClr val="5C6773"/>
                </a:solidFill>
                <a:latin typeface="Inconsolata"/>
              </a:rPr>
              <a:t>73  </a:t>
            </a:r>
            <a:r>
              <a:rPr sz="729" i="0">
                <a:solidFill>
                  <a:srgbClr val="E6EDF3"/>
                </a:solidFill>
                <a:latin typeface="Inconsolata"/>
              </a:rPr>
              <a:t>        </a:t>
            </a:r>
            <a:r>
              <a:rPr sz="729" i="0">
                <a:solidFill>
                  <a:srgbClr val="C3A6FF"/>
                </a:solidFill>
                <a:latin typeface="Inconsolata"/>
              </a:rPr>
              <a:t>print</a:t>
            </a:r>
            <a:r>
              <a:rPr sz="729" i="0">
                <a:solidFill>
                  <a:srgbClr val="E6EDF3"/>
                </a:solidFill>
                <a:latin typeface="Inconsolata"/>
              </a:rPr>
              <a:t>(</a:t>
            </a:r>
            <a:r>
              <a:rPr sz="729" i="0">
                <a:solidFill>
                  <a:srgbClr val="A5D6A7"/>
                </a:solidFill>
                <a:latin typeface="Inconsolata"/>
              </a:rPr>
              <a:t>f"  {exc}, retry ke-{retries + 1} dalam {delay_ms} ms"</a:t>
            </a:r>
            <a:r>
              <a:rPr sz="729" i="0">
                <a:solidFill>
                  <a:srgbClr val="E6EDF3"/>
                </a:solidFill>
                <a:latin typeface="Inconsolata"/>
              </a:rPr>
              <a: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04-nack-dead-letter/after.py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2868"/>
              </a:lnSpc>
              <a:spcAft>
                <a:spcPts val="0"/>
              </a:spcAft>
            </a:pPr>
            <a:r>
              <a:rPr sz="729" i="0">
                <a:solidFill>
                  <a:srgbClr val="5C6773"/>
                </a:solidFill>
                <a:latin typeface="Inconsolata"/>
              </a:rPr>
              <a:t>76  </a:t>
            </a:r>
            <a:r>
              <a:rPr sz="729" i="0">
                <a:solidFill>
                  <a:srgbClr val="FF8E6E"/>
                </a:solidFill>
                <a:latin typeface="Inconsolata"/>
              </a:rPr>
              <a:t>if</a:t>
            </a:r>
            <a:r>
              <a:rPr sz="729" i="0">
                <a:solidFill>
                  <a:srgbClr val="E6EDF3"/>
                </a:solidFill>
                <a:latin typeface="Inconsolata"/>
              </a:rPr>
              <a:t> __name__ == </a:t>
            </a:r>
            <a:r>
              <a:rPr sz="729" i="0">
                <a:solidFill>
                  <a:srgbClr val="A5D6A7"/>
                </a:solidFill>
                <a:latin typeface="Inconsolata"/>
              </a:rPr>
              <a:t>"__main__"</a:t>
            </a:r>
            <a:r>
              <a:rPr sz="729" i="0">
                <a:solidFill>
                  <a:srgbClr val="E6EDF3"/>
                </a:solidFill>
                <a:latin typeface="Inconsolata"/>
              </a:rPr>
              <a:t>:</a:t>
            </a:r>
          </a:p>
          <a:p>
            <a:pPr>
              <a:lnSpc>
                <a:spcPct val="102868"/>
              </a:lnSpc>
              <a:spcAft>
                <a:spcPts val="0"/>
              </a:spcAft>
            </a:pPr>
            <a:r>
              <a:rPr sz="729" i="0">
                <a:solidFill>
                  <a:srgbClr val="5C6773"/>
                </a:solidFill>
                <a:latin typeface="Inconsolata"/>
              </a:rPr>
              <a:t>77  </a:t>
            </a:r>
            <a:r>
              <a:rPr sz="729" i="0">
                <a:solidFill>
                  <a:srgbClr val="E6EDF3"/>
                </a:solidFill>
                <a:latin typeface="Inconsolata"/>
              </a:rPr>
              <a:t>    </a:t>
            </a:r>
            <a:r>
              <a:rPr sz="729" i="0">
                <a:solidFill>
                  <a:srgbClr val="FF8E6E"/>
                </a:solidFill>
                <a:latin typeface="Inconsolata"/>
              </a:rPr>
              <a:t>with</a:t>
            </a:r>
            <a:r>
              <a:rPr sz="729" i="0">
                <a:solidFill>
                  <a:srgbClr val="E6EDF3"/>
                </a:solidFill>
                <a:latin typeface="Inconsolata"/>
              </a:rPr>
              <a:t> pika.</a:t>
            </a:r>
            <a:r>
              <a:rPr sz="729" i="0">
                <a:solidFill>
                  <a:srgbClr val="7FDBCA"/>
                </a:solidFill>
                <a:latin typeface="Inconsolata"/>
              </a:rPr>
              <a:t>BlockingConnection</a:t>
            </a:r>
            <a:r>
              <a:rPr sz="729" i="0">
                <a:solidFill>
                  <a:srgbClr val="E6EDF3"/>
                </a:solidFill>
                <a:latin typeface="Inconsolata"/>
              </a:rPr>
              <a:t>(pika.</a:t>
            </a:r>
            <a:r>
              <a:rPr sz="729" i="0">
                <a:solidFill>
                  <a:srgbClr val="7FDBCA"/>
                </a:solidFill>
                <a:latin typeface="Inconsolata"/>
              </a:rPr>
              <a:t>URLParameters</a:t>
            </a:r>
            <a:r>
              <a:rPr sz="729" i="0">
                <a:solidFill>
                  <a:srgbClr val="E6EDF3"/>
                </a:solidFill>
                <a:latin typeface="Inconsolata"/>
              </a:rPr>
              <a:t>(</a:t>
            </a:r>
            <a:r>
              <a:rPr sz="729" i="0">
                <a:solidFill>
                  <a:srgbClr val="7FDBCA"/>
                </a:solidFill>
                <a:latin typeface="Inconsolata"/>
              </a:rPr>
              <a:t>URL</a:t>
            </a:r>
            <a:r>
              <a:rPr sz="729" i="0">
                <a:solidFill>
                  <a:srgbClr val="E6EDF3"/>
                </a:solidFill>
                <a:latin typeface="Inconsolata"/>
              </a:rPr>
              <a:t>)) </a:t>
            </a:r>
            <a:r>
              <a:rPr sz="729" i="0">
                <a:solidFill>
                  <a:srgbClr val="FF8E6E"/>
                </a:solidFill>
                <a:latin typeface="Inconsolata"/>
              </a:rPr>
              <a:t>as</a:t>
            </a:r>
            <a:r>
              <a:rPr sz="729" i="0">
                <a:solidFill>
                  <a:srgbClr val="E6EDF3"/>
                </a:solidFill>
                <a:latin typeface="Inconsolata"/>
              </a:rPr>
              <a:t> conn:</a:t>
            </a:r>
          </a:p>
          <a:p>
            <a:pPr>
              <a:lnSpc>
                <a:spcPct val="102868"/>
              </a:lnSpc>
              <a:spcAft>
                <a:spcPts val="0"/>
              </a:spcAft>
            </a:pPr>
            <a:r>
              <a:rPr sz="729" i="0">
                <a:solidFill>
                  <a:srgbClr val="5C6773"/>
                </a:solidFill>
                <a:latin typeface="Inconsolata"/>
              </a:rPr>
              <a:t>78  </a:t>
            </a:r>
            <a:r>
              <a:rPr sz="729" i="0">
                <a:solidFill>
                  <a:srgbClr val="E6EDF3"/>
                </a:solidFill>
                <a:latin typeface="Inconsolata"/>
              </a:rPr>
              <a:t>        channel = conn.channel()</a:t>
            </a:r>
          </a:p>
          <a:p>
            <a:pPr>
              <a:lnSpc>
                <a:spcPct val="102868"/>
              </a:lnSpc>
              <a:spcAft>
                <a:spcPts val="0"/>
              </a:spcAft>
            </a:pPr>
            <a:r>
              <a:rPr sz="729" i="0">
                <a:solidFill>
                  <a:srgbClr val="5C6773"/>
                </a:solidFill>
                <a:latin typeface="Inconsolata"/>
              </a:rPr>
              <a:t>79  </a:t>
            </a:r>
            <a:r>
              <a:rPr sz="729" i="0">
                <a:solidFill>
                  <a:srgbClr val="E6EDF3"/>
                </a:solidFill>
                <a:latin typeface="Inconsolata"/>
              </a:rPr>
              <a:t>        channel.confirm_delivery()</a:t>
            </a:r>
          </a:p>
          <a:p>
            <a:pPr>
              <a:lnSpc>
                <a:spcPct val="102868"/>
              </a:lnSpc>
              <a:spcAft>
                <a:spcPts val="0"/>
              </a:spcAft>
            </a:pPr>
            <a:r>
              <a:rPr sz="729" i="0">
                <a:solidFill>
                  <a:srgbClr val="5C6773"/>
                </a:solidFill>
                <a:latin typeface="Inconsolata"/>
              </a:rPr>
              <a:t>80  </a:t>
            </a:r>
            <a:r>
              <a:rPr sz="729" i="0">
                <a:solidFill>
                  <a:srgbClr val="E6EDF3"/>
                </a:solidFill>
                <a:latin typeface="Inconsolata"/>
              </a:rPr>
              <a:t>        </a:t>
            </a:r>
            <a:r>
              <a:rPr sz="729" i="0">
                <a:solidFill>
                  <a:srgbClr val="FF8E6E"/>
                </a:solidFill>
                <a:latin typeface="Inconsolata"/>
              </a:rPr>
              <a:t>for</a:t>
            </a:r>
            <a:r>
              <a:rPr sz="729" i="0">
                <a:solidFill>
                  <a:srgbClr val="E6EDF3"/>
                </a:solidFill>
                <a:latin typeface="Inconsolata"/>
              </a:rPr>
              <a:t> queue </a:t>
            </a:r>
            <a:r>
              <a:rPr sz="729" i="0">
                <a:solidFill>
                  <a:srgbClr val="FF8E6E"/>
                </a:solidFill>
                <a:latin typeface="Inconsolata"/>
              </a:rPr>
              <a:t>in</a:t>
            </a:r>
            <a:r>
              <a:rPr sz="729" i="0">
                <a:solidFill>
                  <a:srgbClr val="E6EDF3"/>
                </a:solidFill>
                <a:latin typeface="Inconsolata"/>
              </a:rPr>
              <a:t> (</a:t>
            </a:r>
            <a:r>
              <a:rPr sz="729" i="0">
                <a:solidFill>
                  <a:srgbClr val="A5D6A7"/>
                </a:solidFill>
                <a:latin typeface="Inconsolata"/>
              </a:rPr>
              <a:t>"email"</a:t>
            </a:r>
            <a:r>
              <a:rPr sz="729" i="0">
                <a:solidFill>
                  <a:srgbClr val="E6EDF3"/>
                </a:solidFill>
                <a:latin typeface="Inconsolata"/>
              </a:rPr>
              <a:t>, </a:t>
            </a:r>
            <a:r>
              <a:rPr sz="729" i="0">
                <a:solidFill>
                  <a:srgbClr val="A5D6A7"/>
                </a:solidFill>
                <a:latin typeface="Inconsolata"/>
              </a:rPr>
              <a:t>"email.retry"</a:t>
            </a:r>
            <a:r>
              <a:rPr sz="729" i="0">
                <a:solidFill>
                  <a:srgbClr val="E6EDF3"/>
                </a:solidFill>
                <a:latin typeface="Inconsolata"/>
              </a:rPr>
              <a:t>, </a:t>
            </a:r>
            <a:r>
              <a:rPr sz="729" i="0">
                <a:solidFill>
                  <a:srgbClr val="A5D6A7"/>
                </a:solidFill>
                <a:latin typeface="Inconsolata"/>
              </a:rPr>
              <a:t>"email.dlq"</a:t>
            </a:r>
            <a:r>
              <a:rPr sz="729" i="0">
                <a:solidFill>
                  <a:srgbClr val="E6EDF3"/>
                </a:solidFill>
                <a:latin typeface="Inconsolata"/>
              </a:rPr>
              <a:t>):</a:t>
            </a:r>
          </a:p>
          <a:p>
            <a:pPr>
              <a:lnSpc>
                <a:spcPct val="102868"/>
              </a:lnSpc>
              <a:spcAft>
                <a:spcPts val="0"/>
              </a:spcAft>
            </a:pPr>
            <a:r>
              <a:rPr sz="729" i="0">
                <a:solidFill>
                  <a:srgbClr val="5C6773"/>
                </a:solidFill>
                <a:latin typeface="Inconsolata"/>
              </a:rPr>
              <a:t>81  </a:t>
            </a:r>
            <a:r>
              <a:rPr sz="729" i="0">
                <a:solidFill>
                  <a:srgbClr val="E6EDF3"/>
                </a:solidFill>
                <a:latin typeface="Inconsolata"/>
              </a:rPr>
              <a:t>            channel.queue_delete(queue)        </a:t>
            </a:r>
            <a:r>
              <a:rPr sz="729" i="1">
                <a:solidFill>
                  <a:srgbClr val="8B98A8"/>
                </a:solidFill>
                <a:latin typeface="Inconsolata"/>
              </a:rPr>
              <a:t># mulai dari kosong</a:t>
            </a:r>
          </a:p>
          <a:p>
            <a:pPr>
              <a:lnSpc>
                <a:spcPct val="102868"/>
              </a:lnSpc>
              <a:spcAft>
                <a:spcPts val="0"/>
              </a:spcAft>
            </a:pPr>
            <a:r>
              <a:rPr sz="729" i="0">
                <a:solidFill>
                  <a:srgbClr val="5C6773"/>
                </a:solidFill>
                <a:latin typeface="Inconsolata"/>
              </a:rPr>
              <a:t>82  </a:t>
            </a:r>
            <a:r>
              <a:rPr sz="729" i="0">
                <a:solidFill>
                  <a:srgbClr val="E6EDF3"/>
                </a:solidFill>
                <a:latin typeface="Inconsolata"/>
              </a:rPr>
              <a:t>        declare_queues(channel)</a:t>
            </a:r>
          </a:p>
          <a:p>
            <a:pPr>
              <a:lnSpc>
                <a:spcPct val="102868"/>
              </a:lnSpc>
              <a:spcAft>
                <a:spcPts val="0"/>
              </a:spcAft>
            </a:pPr>
            <a:r>
              <a:rPr sz="729" i="0">
                <a:solidFill>
                  <a:srgbClr val="5C6773"/>
                </a:solidFill>
                <a:latin typeface="Inconsolata"/>
              </a:rPr>
              <a:t>83  </a:t>
            </a:r>
            <a:r>
              <a:rPr sz="729" i="0">
                <a:solidFill>
                  <a:srgbClr val="E6EDF3"/>
                </a:solidFill>
                <a:latin typeface="Inconsolata"/>
              </a:rPr>
              <a:t>        </a:t>
            </a:r>
            <a:r>
              <a:rPr sz="729" i="0">
                <a:solidFill>
                  <a:srgbClr val="FF8E6E"/>
                </a:solidFill>
                <a:latin typeface="Inconsolata"/>
              </a:rPr>
              <a:t>for</a:t>
            </a:r>
            <a:r>
              <a:rPr sz="729" i="0">
                <a:solidFill>
                  <a:srgbClr val="E6EDF3"/>
                </a:solidFill>
                <a:latin typeface="Inconsolata"/>
              </a:rPr>
              <a:t> event </a:t>
            </a:r>
            <a:r>
              <a:rPr sz="729" i="0">
                <a:solidFill>
                  <a:srgbClr val="FF8E6E"/>
                </a:solidFill>
                <a:latin typeface="Inconsolata"/>
              </a:rPr>
              <a:t>in</a:t>
            </a:r>
            <a:r>
              <a:rPr sz="729" i="0">
                <a:solidFill>
                  <a:srgbClr val="E6EDF3"/>
                </a:solidFill>
                <a:latin typeface="Inconsolata"/>
              </a:rPr>
              <a:t> ({</a:t>
            </a:r>
            <a:r>
              <a:rPr sz="729" i="0">
                <a:solidFill>
                  <a:srgbClr val="A5D6A7"/>
                </a:solidFill>
                <a:latin typeface="Inconsolata"/>
              </a:rPr>
              <a:t>"order_id"</a:t>
            </a:r>
            <a:r>
              <a:rPr sz="729" i="0">
                <a:solidFill>
                  <a:srgbClr val="E6EDF3"/>
                </a:solidFill>
                <a:latin typeface="Inconsolata"/>
              </a:rPr>
              <a:t>: </a:t>
            </a:r>
            <a:r>
              <a:rPr sz="729" i="0">
                <a:solidFill>
                  <a:srgbClr val="F9C97A"/>
                </a:solidFill>
                <a:latin typeface="Inconsolata"/>
              </a:rPr>
              <a:t>1</a:t>
            </a:r>
            <a:r>
              <a:rPr sz="729" i="0">
                <a:solidFill>
                  <a:srgbClr val="E6EDF3"/>
                </a:solidFill>
                <a:latin typeface="Inconsolata"/>
              </a:rPr>
              <a:t>, </a:t>
            </a:r>
            <a:r>
              <a:rPr sz="729" i="0">
                <a:solidFill>
                  <a:srgbClr val="A5D6A7"/>
                </a:solidFill>
                <a:latin typeface="Inconsolata"/>
              </a:rPr>
              <a:t>"customer"</a:t>
            </a:r>
            <a:r>
              <a:rPr sz="729" i="0">
                <a:solidFill>
                  <a:srgbClr val="E6EDF3"/>
                </a:solidFill>
                <a:latin typeface="Inconsolata"/>
              </a:rPr>
              <a:t>: </a:t>
            </a:r>
            <a:r>
              <a:rPr sz="729" i="0">
                <a:solidFill>
                  <a:srgbClr val="A5D6A7"/>
                </a:solidFill>
                <a:latin typeface="Inconsolata"/>
              </a:rPr>
              <a:t>""</a:t>
            </a:r>
            <a:r>
              <a:rPr sz="729" i="0">
                <a:solidFill>
                  <a:srgbClr val="E6EDF3"/>
                </a:solidFill>
                <a:latin typeface="Inconsolata"/>
              </a:rPr>
              <a:t>},  </a:t>
            </a:r>
            <a:r>
              <a:rPr sz="729" i="1">
                <a:solidFill>
                  <a:srgbClr val="8B98A8"/>
                </a:solidFill>
                <a:latin typeface="Inconsolata"/>
              </a:rPr>
              <a:t># pesan rusak</a:t>
            </a:r>
          </a:p>
          <a:p>
            <a:pPr>
              <a:lnSpc>
                <a:spcPct val="102868"/>
              </a:lnSpc>
              <a:spcAft>
                <a:spcPts val="0"/>
              </a:spcAft>
            </a:pPr>
            <a:r>
              <a:rPr sz="729" i="0">
                <a:solidFill>
                  <a:srgbClr val="5C6773"/>
                </a:solidFill>
                <a:latin typeface="Inconsolata"/>
              </a:rPr>
              <a:t>84  </a:t>
            </a:r>
            <a:r>
              <a:rPr sz="729" i="0">
                <a:solidFill>
                  <a:srgbClr val="E6EDF3"/>
                </a:solidFill>
                <a:latin typeface="Inconsolata"/>
              </a:rPr>
              <a:t>                      {</a:t>
            </a:r>
            <a:r>
              <a:rPr sz="729" i="0">
                <a:solidFill>
                  <a:srgbClr val="A5D6A7"/>
                </a:solidFill>
                <a:latin typeface="Inconsolata"/>
              </a:rPr>
              <a:t>"order_id"</a:t>
            </a:r>
            <a:r>
              <a:rPr sz="729" i="0">
                <a:solidFill>
                  <a:srgbClr val="E6EDF3"/>
                </a:solidFill>
                <a:latin typeface="Inconsolata"/>
              </a:rPr>
              <a:t>: </a:t>
            </a:r>
            <a:r>
              <a:rPr sz="729" i="0">
                <a:solidFill>
                  <a:srgbClr val="F9C97A"/>
                </a:solidFill>
                <a:latin typeface="Inconsolata"/>
              </a:rPr>
              <a:t>2</a:t>
            </a:r>
            <a:r>
              <a:rPr sz="729" i="0">
                <a:solidFill>
                  <a:srgbClr val="E6EDF3"/>
                </a:solidFill>
                <a:latin typeface="Inconsolata"/>
              </a:rPr>
              <a:t>, </a:t>
            </a:r>
            <a:r>
              <a:rPr sz="729" i="0">
                <a:solidFill>
                  <a:srgbClr val="A5D6A7"/>
                </a:solidFill>
                <a:latin typeface="Inconsolata"/>
              </a:rPr>
              <a:t>"customer"</a:t>
            </a:r>
            <a:r>
              <a:rPr sz="729" i="0">
                <a:solidFill>
                  <a:srgbClr val="E6EDF3"/>
                </a:solidFill>
                <a:latin typeface="Inconsolata"/>
              </a:rPr>
              <a:t>: </a:t>
            </a:r>
            <a:r>
              <a:rPr sz="729" i="0">
                <a:solidFill>
                  <a:srgbClr val="A5D6A7"/>
                </a:solidFill>
                <a:latin typeface="Inconsolata"/>
              </a:rPr>
              <a:t>"budi@mail.com"</a:t>
            </a:r>
            <a:r>
              <a:rPr sz="729" i="0">
                <a:solidFill>
                  <a:srgbClr val="E6EDF3"/>
                </a:solidFill>
                <a:latin typeface="Inconsolata"/>
              </a:rPr>
              <a:t>}):</a:t>
            </a:r>
          </a:p>
          <a:p>
            <a:pPr>
              <a:lnSpc>
                <a:spcPct val="102868"/>
              </a:lnSpc>
              <a:spcAft>
                <a:spcPts val="0"/>
              </a:spcAft>
            </a:pPr>
            <a:r>
              <a:rPr sz="729" i="0">
                <a:solidFill>
                  <a:srgbClr val="5C6773"/>
                </a:solidFill>
                <a:latin typeface="Inconsolata"/>
              </a:rPr>
              <a:t>85  </a:t>
            </a:r>
            <a:r>
              <a:rPr sz="729" i="0">
                <a:solidFill>
                  <a:srgbClr val="E6EDF3"/>
                </a:solidFill>
                <a:latin typeface="Inconsolata"/>
              </a:rPr>
              <a:t>            channel.basic_publish(</a:t>
            </a:r>
            <a:r>
              <a:rPr sz="729" i="0">
                <a:solidFill>
                  <a:srgbClr val="A5D6A7"/>
                </a:solidFill>
                <a:latin typeface="Inconsolata"/>
              </a:rPr>
              <a:t>""</a:t>
            </a:r>
            <a:r>
              <a:rPr sz="729" i="0">
                <a:solidFill>
                  <a:srgbClr val="E6EDF3"/>
                </a:solidFill>
                <a:latin typeface="Inconsolata"/>
              </a:rPr>
              <a:t>, </a:t>
            </a:r>
            <a:r>
              <a:rPr sz="729" i="0">
                <a:solidFill>
                  <a:srgbClr val="A5D6A7"/>
                </a:solidFill>
                <a:latin typeface="Inconsolata"/>
              </a:rPr>
              <a:t>"email"</a:t>
            </a:r>
            <a:r>
              <a:rPr sz="729" i="0">
                <a:solidFill>
                  <a:srgbClr val="E6EDF3"/>
                </a:solidFill>
                <a:latin typeface="Inconsolata"/>
              </a:rPr>
              <a:t>, json.dumps(event))</a:t>
            </a:r>
          </a:p>
          <a:p>
            <a:pPr>
              <a:lnSpc>
                <a:spcPct val="102868"/>
              </a:lnSpc>
              <a:spcAft>
                <a:spcPts val="0"/>
              </a:spcAft>
            </a:pPr>
            <a:r>
              <a:rPr sz="729" i="0">
                <a:solidFill>
                  <a:srgbClr val="5C6773"/>
                </a:solidFill>
                <a:latin typeface="Inconsolata"/>
              </a:rPr>
              <a:t>86  </a:t>
            </a:r>
            <a:r>
              <a:rPr sz="729" i="0">
                <a:solidFill>
                  <a:srgbClr val="E6EDF3"/>
                </a:solidFill>
                <a:latin typeface="Inconsolata"/>
              </a:rPr>
              <a:t> </a:t>
            </a:r>
          </a:p>
          <a:p>
            <a:pPr>
              <a:lnSpc>
                <a:spcPct val="102868"/>
              </a:lnSpc>
              <a:spcAft>
                <a:spcPts val="0"/>
              </a:spcAft>
            </a:pPr>
            <a:r>
              <a:rPr sz="729" i="0">
                <a:solidFill>
                  <a:srgbClr val="5C6773"/>
                </a:solidFill>
                <a:latin typeface="Inconsolata"/>
              </a:rPr>
              <a:t>87  </a:t>
            </a:r>
            <a:r>
              <a:rPr sz="729" i="0">
                <a:solidFill>
                  <a:srgbClr val="E6EDF3"/>
                </a:solidFill>
                <a:latin typeface="Inconsolata"/>
              </a:rPr>
              <a:t>        channel.basic_qos(prefetch_count=</a:t>
            </a:r>
            <a:r>
              <a:rPr sz="729" i="0">
                <a:solidFill>
                  <a:srgbClr val="F9C97A"/>
                </a:solidFill>
                <a:latin typeface="Inconsolata"/>
              </a:rPr>
              <a:t>1</a:t>
            </a:r>
            <a:r>
              <a:rPr sz="729" i="0">
                <a:solidFill>
                  <a:srgbClr val="E6EDF3"/>
                </a:solidFill>
                <a:latin typeface="Inconsolata"/>
              </a:rPr>
              <a:t>)</a:t>
            </a:r>
          </a:p>
          <a:p>
            <a:pPr>
              <a:lnSpc>
                <a:spcPct val="102868"/>
              </a:lnSpc>
              <a:spcAft>
                <a:spcPts val="0"/>
              </a:spcAft>
            </a:pPr>
            <a:r>
              <a:rPr sz="729" i="0">
                <a:solidFill>
                  <a:srgbClr val="5C6773"/>
                </a:solidFill>
                <a:latin typeface="Inconsolata"/>
              </a:rPr>
              <a:t>88  </a:t>
            </a:r>
            <a:r>
              <a:rPr sz="729" i="0">
                <a:solidFill>
                  <a:srgbClr val="E6EDF3"/>
                </a:solidFill>
                <a:latin typeface="Inconsolata"/>
              </a:rPr>
              <a:t>        </a:t>
            </a:r>
            <a:r>
              <a:rPr sz="729" i="0">
                <a:solidFill>
                  <a:srgbClr val="FF8E6E"/>
                </a:solidFill>
                <a:latin typeface="Inconsolata"/>
              </a:rPr>
              <a:t>for</a:t>
            </a:r>
            <a:r>
              <a:rPr sz="729" i="0">
                <a:solidFill>
                  <a:srgbClr val="E6EDF3"/>
                </a:solidFill>
                <a:latin typeface="Inconsolata"/>
              </a:rPr>
              <a:t> method, properties, body </a:t>
            </a:r>
            <a:r>
              <a:rPr sz="729" i="0">
                <a:solidFill>
                  <a:srgbClr val="FF8E6E"/>
                </a:solidFill>
                <a:latin typeface="Inconsolata"/>
              </a:rPr>
              <a:t>in</a:t>
            </a:r>
            <a:r>
              <a:rPr sz="729" i="0">
                <a:solidFill>
                  <a:srgbClr val="E6EDF3"/>
                </a:solidFill>
                <a:latin typeface="Inconsolata"/>
              </a:rPr>
              <a:t> channel.consume(</a:t>
            </a:r>
          </a:p>
          <a:p>
            <a:pPr>
              <a:lnSpc>
                <a:spcPct val="102868"/>
              </a:lnSpc>
              <a:spcAft>
                <a:spcPts val="0"/>
              </a:spcAft>
            </a:pPr>
            <a:r>
              <a:rPr sz="729" i="0">
                <a:solidFill>
                  <a:srgbClr val="5C6773"/>
                </a:solidFill>
                <a:latin typeface="Inconsolata"/>
              </a:rPr>
              <a:t>89  </a:t>
            </a:r>
            <a:r>
              <a:rPr sz="729" i="0">
                <a:solidFill>
                  <a:srgbClr val="E6EDF3"/>
                </a:solidFill>
                <a:latin typeface="Inconsolata"/>
              </a:rPr>
              <a:t>                </a:t>
            </a:r>
            <a:r>
              <a:rPr sz="729" i="0">
                <a:solidFill>
                  <a:srgbClr val="A5D6A7"/>
                </a:solidFill>
                <a:latin typeface="Inconsolata"/>
              </a:rPr>
              <a:t>"email"</a:t>
            </a:r>
            <a:r>
              <a:rPr sz="729" i="0">
                <a:solidFill>
                  <a:srgbClr val="E6EDF3"/>
                </a:solidFill>
                <a:latin typeface="Inconsolata"/>
              </a:rPr>
              <a:t>, inactivity_timeout=</a:t>
            </a:r>
            <a:r>
              <a:rPr sz="729" i="0">
                <a:solidFill>
                  <a:srgbClr val="F9C97A"/>
                </a:solidFill>
                <a:latin typeface="Inconsolata"/>
              </a:rPr>
              <a:t>3</a:t>
            </a:r>
            <a:r>
              <a:rPr sz="729" i="0">
                <a:solidFill>
                  <a:srgbClr val="E6EDF3"/>
                </a:solidFill>
                <a:latin typeface="Inconsolata"/>
              </a:rPr>
              <a:t>):</a:t>
            </a:r>
          </a:p>
          <a:p>
            <a:pPr>
              <a:lnSpc>
                <a:spcPct val="102868"/>
              </a:lnSpc>
              <a:spcAft>
                <a:spcPts val="0"/>
              </a:spcAft>
            </a:pPr>
            <a:r>
              <a:rPr sz="729" i="0">
                <a:solidFill>
                  <a:srgbClr val="5C6773"/>
                </a:solidFill>
                <a:latin typeface="Inconsolata"/>
              </a:rPr>
              <a:t>90  </a:t>
            </a:r>
            <a:r>
              <a:rPr sz="729" i="0">
                <a:solidFill>
                  <a:srgbClr val="E6EDF3"/>
                </a:solidFill>
                <a:latin typeface="Inconsolata"/>
              </a:rPr>
              <a:t>            </a:t>
            </a:r>
            <a:r>
              <a:rPr sz="729" i="0">
                <a:solidFill>
                  <a:srgbClr val="FF8E6E"/>
                </a:solidFill>
                <a:latin typeface="Inconsolata"/>
              </a:rPr>
              <a:t>if</a:t>
            </a:r>
            <a:r>
              <a:rPr sz="729" i="0">
                <a:solidFill>
                  <a:srgbClr val="E6EDF3"/>
                </a:solidFill>
                <a:latin typeface="Inconsolata"/>
              </a:rPr>
              <a:t> method </a:t>
            </a:r>
            <a:r>
              <a:rPr sz="729" i="0">
                <a:solidFill>
                  <a:srgbClr val="FF8E6E"/>
                </a:solidFill>
                <a:latin typeface="Inconsolata"/>
              </a:rPr>
              <a:t>is</a:t>
            </a:r>
            <a:r>
              <a:rPr sz="729" i="0">
                <a:solidFill>
                  <a:srgbClr val="E6EDF3"/>
                </a:solidFill>
                <a:latin typeface="Inconsolata"/>
              </a:rPr>
              <a:t> </a:t>
            </a:r>
            <a:r>
              <a:rPr sz="729" i="0">
                <a:solidFill>
                  <a:srgbClr val="FF8E6E"/>
                </a:solidFill>
                <a:latin typeface="Inconsolata"/>
              </a:rPr>
              <a:t>None</a:t>
            </a:r>
            <a:r>
              <a:rPr sz="729" i="0">
                <a:solidFill>
                  <a:srgbClr val="E6EDF3"/>
                </a:solidFill>
                <a:latin typeface="Inconsolata"/>
              </a:rPr>
              <a:t>:</a:t>
            </a:r>
          </a:p>
          <a:p>
            <a:pPr>
              <a:lnSpc>
                <a:spcPct val="102868"/>
              </a:lnSpc>
              <a:spcAft>
                <a:spcPts val="0"/>
              </a:spcAft>
            </a:pPr>
            <a:r>
              <a:rPr sz="729" i="0">
                <a:solidFill>
                  <a:srgbClr val="5C6773"/>
                </a:solidFill>
                <a:latin typeface="Inconsolata"/>
              </a:rPr>
              <a:t>91  </a:t>
            </a:r>
            <a:r>
              <a:rPr sz="729" i="0">
                <a:solidFill>
                  <a:srgbClr val="E6EDF3"/>
                </a:solidFill>
                <a:latin typeface="Inconsolata"/>
              </a:rPr>
              <a:t>                </a:t>
            </a:r>
            <a:r>
              <a:rPr sz="729" i="0">
                <a:solidFill>
                  <a:srgbClr val="FF8E6E"/>
                </a:solidFill>
                <a:latin typeface="Inconsolata"/>
              </a:rPr>
              <a:t>break</a:t>
            </a:r>
          </a:p>
          <a:p>
            <a:pPr>
              <a:lnSpc>
                <a:spcPct val="102868"/>
              </a:lnSpc>
              <a:spcAft>
                <a:spcPts val="0"/>
              </a:spcAft>
            </a:pPr>
            <a:r>
              <a:rPr sz="729" i="0">
                <a:solidFill>
                  <a:srgbClr val="5C6773"/>
                </a:solidFill>
                <a:latin typeface="Inconsolata"/>
              </a:rPr>
              <a:t>92  </a:t>
            </a:r>
            <a:r>
              <a:rPr sz="729" i="0">
                <a:solidFill>
                  <a:srgbClr val="E6EDF3"/>
                </a:solidFill>
                <a:latin typeface="Inconsolata"/>
              </a:rPr>
              <a:t>            handle(channel, method, properties, body)</a:t>
            </a:r>
          </a:p>
          <a:p>
            <a:pPr>
              <a:lnSpc>
                <a:spcPct val="102868"/>
              </a:lnSpc>
              <a:spcAft>
                <a:spcPts val="0"/>
              </a:spcAft>
            </a:pPr>
            <a:r>
              <a:rPr sz="729" i="0">
                <a:solidFill>
                  <a:srgbClr val="5C6773"/>
                </a:solidFill>
                <a:latin typeface="Inconsolata"/>
              </a:rPr>
              <a:t>93  </a:t>
            </a:r>
            <a:r>
              <a:rPr sz="729" i="0">
                <a:solidFill>
                  <a:srgbClr val="E6EDF3"/>
                </a:solidFill>
                <a:latin typeface="Inconsolata"/>
              </a:rPr>
              <a:t> </a:t>
            </a:r>
          </a:p>
          <a:p>
            <a:pPr>
              <a:lnSpc>
                <a:spcPct val="102868"/>
              </a:lnSpc>
              <a:spcAft>
                <a:spcPts val="0"/>
              </a:spcAft>
            </a:pPr>
            <a:r>
              <a:rPr sz="729" i="0">
                <a:solidFill>
                  <a:srgbClr val="5C6773"/>
                </a:solidFill>
                <a:latin typeface="Inconsolata"/>
              </a:rPr>
              <a:t>94  </a:t>
            </a:r>
            <a:r>
              <a:rPr sz="729" i="0">
                <a:solidFill>
                  <a:srgbClr val="E6EDF3"/>
                </a:solidFill>
                <a:latin typeface="Inconsolata"/>
              </a:rPr>
              <a:t>        </a:t>
            </a:r>
            <a:r>
              <a:rPr sz="729" i="0">
                <a:solidFill>
                  <a:srgbClr val="FF8E6E"/>
                </a:solidFill>
                <a:latin typeface="Inconsolata"/>
              </a:rPr>
              <a:t>for</a:t>
            </a:r>
            <a:r>
              <a:rPr sz="729" i="0">
                <a:solidFill>
                  <a:srgbClr val="E6EDF3"/>
                </a:solidFill>
                <a:latin typeface="Inconsolata"/>
              </a:rPr>
              <a:t> order_id </a:t>
            </a:r>
            <a:r>
              <a:rPr sz="729" i="0">
                <a:solidFill>
                  <a:srgbClr val="FF8E6E"/>
                </a:solidFill>
                <a:latin typeface="Inconsolata"/>
              </a:rPr>
              <a:t>in</a:t>
            </a:r>
            <a:r>
              <a:rPr sz="729" i="0">
                <a:solidFill>
                  <a:srgbClr val="E6EDF3"/>
                </a:solidFill>
                <a:latin typeface="Inconsolata"/>
              </a:rPr>
              <a:t> (</a:t>
            </a:r>
            <a:r>
              <a:rPr sz="729" i="0">
                <a:solidFill>
                  <a:srgbClr val="F9C97A"/>
                </a:solidFill>
                <a:latin typeface="Inconsolata"/>
              </a:rPr>
              <a:t>1</a:t>
            </a:r>
            <a:r>
              <a:rPr sz="729" i="0">
                <a:solidFill>
                  <a:srgbClr val="E6EDF3"/>
                </a:solidFill>
                <a:latin typeface="Inconsolata"/>
              </a:rPr>
              <a:t>, </a:t>
            </a:r>
            <a:r>
              <a:rPr sz="729" i="0">
                <a:solidFill>
                  <a:srgbClr val="F9C97A"/>
                </a:solidFill>
                <a:latin typeface="Inconsolata"/>
              </a:rPr>
              <a:t>2</a:t>
            </a:r>
            <a:r>
              <a:rPr sz="729" i="0">
                <a:solidFill>
                  <a:srgbClr val="E6EDF3"/>
                </a:solidFill>
                <a:latin typeface="Inconsolata"/>
              </a:rPr>
              <a:t>):</a:t>
            </a:r>
          </a:p>
          <a:p>
            <a:pPr>
              <a:lnSpc>
                <a:spcPct val="102868"/>
              </a:lnSpc>
              <a:spcAft>
                <a:spcPts val="0"/>
              </a:spcAft>
            </a:pPr>
            <a:r>
              <a:rPr sz="729" i="0">
                <a:solidFill>
                  <a:srgbClr val="5C6773"/>
                </a:solidFill>
                <a:latin typeface="Inconsolata"/>
              </a:rPr>
              <a:t>95  </a:t>
            </a:r>
            <a:r>
              <a:rPr sz="729" i="0">
                <a:solidFill>
                  <a:srgbClr val="E6EDF3"/>
                </a:solidFill>
                <a:latin typeface="Inconsolata"/>
              </a:rPr>
              <a:t>            </a:t>
            </a:r>
            <a:r>
              <a:rPr sz="729" i="0">
                <a:solidFill>
                  <a:srgbClr val="C3A6FF"/>
                </a:solidFill>
                <a:latin typeface="Inconsolata"/>
              </a:rPr>
              <a:t>print</a:t>
            </a:r>
            <a:r>
              <a:rPr sz="729" i="0">
                <a:solidFill>
                  <a:srgbClr val="E6EDF3"/>
                </a:solidFill>
                <a:latin typeface="Inconsolata"/>
              </a:rPr>
              <a:t>(</a:t>
            </a:r>
            <a:r>
              <a:rPr sz="729" i="0">
                <a:solidFill>
                  <a:srgbClr val="A5D6A7"/>
                </a:solidFill>
                <a:latin typeface="Inconsolata"/>
              </a:rPr>
              <a:t>f"Order #{order_id}: diproses "</a:t>
            </a:r>
          </a:p>
          <a:p>
            <a:pPr>
              <a:lnSpc>
                <a:spcPct val="102868"/>
              </a:lnSpc>
              <a:spcAft>
                <a:spcPts val="0"/>
              </a:spcAft>
            </a:pPr>
            <a:r>
              <a:rPr sz="729" i="0">
                <a:solidFill>
                  <a:srgbClr val="5C6773"/>
                </a:solidFill>
                <a:latin typeface="Inconsolata"/>
              </a:rPr>
              <a:t>96  </a:t>
            </a:r>
            <a:r>
              <a:rPr sz="729" i="0">
                <a:solidFill>
                  <a:srgbClr val="E6EDF3"/>
                </a:solidFill>
                <a:latin typeface="Inconsolata"/>
              </a:rPr>
              <a:t>                  </a:t>
            </a:r>
            <a:r>
              <a:rPr sz="729" i="0">
                <a:solidFill>
                  <a:srgbClr val="A5D6A7"/>
                </a:solidFill>
                <a:latin typeface="Inconsolata"/>
              </a:rPr>
              <a:t>f"{attempts[order_id]} kali"</a:t>
            </a:r>
            <a:r>
              <a:rPr sz="729" i="0">
                <a:solidFill>
                  <a:srgbClr val="E6EDF3"/>
                </a:solidFill>
                <a:latin typeface="Inconsolata"/>
              </a:rPr>
              <a:t>)</a:t>
            </a:r>
          </a:p>
          <a:p>
            <a:pPr>
              <a:lnSpc>
                <a:spcPct val="102868"/>
              </a:lnSpc>
              <a:spcAft>
                <a:spcPts val="0"/>
              </a:spcAft>
            </a:pPr>
            <a:r>
              <a:rPr sz="729" i="0">
                <a:solidFill>
                  <a:srgbClr val="5C6773"/>
                </a:solidFill>
                <a:latin typeface="Inconsolata"/>
              </a:rPr>
              <a:t>97  </a:t>
            </a:r>
            <a:r>
              <a:rPr sz="729" i="0">
                <a:solidFill>
                  <a:srgbClr val="E6EDF3"/>
                </a:solidFill>
                <a:latin typeface="Inconsolata"/>
              </a:rPr>
              <a:t>        dlq = channel.queue_declare(</a:t>
            </a:r>
            <a:r>
              <a:rPr sz="729" i="0">
                <a:solidFill>
                  <a:srgbClr val="A5D6A7"/>
                </a:solidFill>
                <a:latin typeface="Inconsolata"/>
              </a:rPr>
              <a:t>"email.dlq"</a:t>
            </a:r>
            <a:r>
              <a:rPr sz="729" i="0">
                <a:solidFill>
                  <a:srgbClr val="E6EDF3"/>
                </a:solidFill>
                <a:latin typeface="Inconsolata"/>
              </a:rPr>
              <a:t>, passive=</a:t>
            </a:r>
            <a:r>
              <a:rPr sz="729" i="0">
                <a:solidFill>
                  <a:srgbClr val="FF8E6E"/>
                </a:solidFill>
                <a:latin typeface="Inconsolata"/>
              </a:rPr>
              <a:t>True</a:t>
            </a:r>
            <a:r>
              <a:rPr sz="729" i="0">
                <a:solidFill>
                  <a:srgbClr val="E6EDF3"/>
                </a:solidFill>
                <a:latin typeface="Inconsolata"/>
              </a:rPr>
              <a:t>)</a:t>
            </a:r>
          </a:p>
          <a:p>
            <a:pPr>
              <a:lnSpc>
                <a:spcPct val="102868"/>
              </a:lnSpc>
              <a:spcAft>
                <a:spcPts val="0"/>
              </a:spcAft>
            </a:pPr>
            <a:r>
              <a:rPr sz="729" i="0">
                <a:solidFill>
                  <a:srgbClr val="5C6773"/>
                </a:solidFill>
                <a:latin typeface="Inconsolata"/>
              </a:rPr>
              <a:t>98  </a:t>
            </a:r>
            <a:r>
              <a:rPr sz="729" i="0">
                <a:solidFill>
                  <a:srgbClr val="E6EDF3"/>
                </a:solidFill>
                <a:latin typeface="Inconsolata"/>
              </a:rPr>
              <a:t>        </a:t>
            </a:r>
            <a:r>
              <a:rPr sz="729" i="0">
                <a:solidFill>
                  <a:srgbClr val="C3A6FF"/>
                </a:solidFill>
                <a:latin typeface="Inconsolata"/>
              </a:rPr>
              <a:t>print</a:t>
            </a:r>
            <a:r>
              <a:rPr sz="729" i="0">
                <a:solidFill>
                  <a:srgbClr val="E6EDF3"/>
                </a:solidFill>
                <a:latin typeface="Inconsolata"/>
              </a:rPr>
              <a:t>(</a:t>
            </a:r>
            <a:r>
              <a:rPr sz="729" i="0">
                <a:solidFill>
                  <a:srgbClr val="A5D6A7"/>
                </a:solidFill>
                <a:latin typeface="Inconsolata"/>
              </a:rPr>
              <a:t>f"Isi email.dlq: {dlq.method.message_count} pesan"</a:t>
            </a:r>
            <a:r>
              <a:rPr sz="729" i="0">
                <a:solidFill>
                  <a:srgbClr val="E6EDF3"/>
                </a:solidFill>
                <a:latin typeface="Inconsolata"/>
              </a:rPr>
              <a:t>)</a:t>
            </a:r>
          </a:p>
        </p:txBody>
      </p:sp>
      <p:sp>
        <p:nvSpPr>
          <p:cNvPr id="36" name="Box 21"/>
          <p:cNvSpPr/>
          <p:nvPr/>
        </p:nvSpPr>
        <p:spPr>
          <a:xfrm>
            <a:off x="704088" y="2396871"/>
            <a:ext cx="3694176" cy="336042"/>
          </a:xfrm>
          <a:prstGeom prst="roundRect">
            <a:avLst>
              <a:gd name="adj" fmla="val 13605"/>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244602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8" name="Box 23"/>
          <p:cNvSpPr/>
          <p:nvPr/>
        </p:nvSpPr>
        <p:spPr>
          <a:xfrm>
            <a:off x="704088" y="3311271"/>
            <a:ext cx="3694176" cy="678942"/>
          </a:xfrm>
          <a:prstGeom prst="roundRect">
            <a:avLst>
              <a:gd name="adj" fmla="val 6734"/>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279392" y="353187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Dead Letter Queue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04-nack-dead-letter/after.py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621792"/>
          </a:xfrm>
          <a:prstGeom prst="roundRect">
            <a:avLst>
              <a:gd name="adj" fmla="val 2941"/>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621792"/>
          </a:xfrm>
          <a:prstGeom prst="rect">
            <a:avLst/>
          </a:prstGeom>
          <a:noFill/>
        </p:spPr>
        <p:txBody>
          <a:bodyPr wrap="none" lIns="146304" tIns="91440" rIns="146304" bIns="54864">
            <a:spAutoFit/>
          </a:bodyPr>
          <a:lstStyle/>
          <a:p>
            <a:pPr>
              <a:lnSpc>
                <a:spcPct val="107843"/>
              </a:lnSpc>
              <a:spcAft>
                <a:spcPts val="0"/>
              </a:spcAft>
            </a:pPr>
            <a:r>
              <a:rPr sz="850" i="0">
                <a:solidFill>
                  <a:srgbClr val="82B1FF"/>
                </a:solidFill>
                <a:latin typeface="Inconsolata"/>
              </a:rPr>
              <a:t>$ cd sesi-08-event-driven-rabbitmq-kafka/04-nack-dead-letter</a:t>
            </a:r>
          </a:p>
          <a:p>
            <a:pPr>
              <a:lnSpc>
                <a:spcPct val="107843"/>
              </a:lnSpc>
              <a:spcAft>
                <a:spcPts val="0"/>
              </a:spcAft>
            </a:pPr>
            <a:r>
              <a:rPr sz="850" i="0">
                <a:solidFill>
                  <a:srgbClr val="82B1FF"/>
                </a:solidFill>
                <a:latin typeface="Inconsolata"/>
              </a:rPr>
              <a:t>$ docker compose -f ../docker-compose.yml up -d rabbitmq</a:t>
            </a:r>
          </a:p>
          <a:p>
            <a:pPr>
              <a:lnSpc>
                <a:spcPct val="107843"/>
              </a:lnSpc>
              <a:spcAft>
                <a:spcPts val="0"/>
              </a:spcAft>
            </a:pPr>
            <a:r>
              <a:rPr sz="850" i="0">
                <a:solidFill>
                  <a:srgbClr val="82B1FF"/>
                </a:solidFill>
                <a:latin typeface="Inconsolata"/>
              </a:rPr>
              <a:t>$ python after.py</a:t>
            </a:r>
          </a:p>
        </p:txBody>
      </p:sp>
      <p:pic>
        <p:nvPicPr>
          <p:cNvPr id="29" name="Image 12" descr="s08-04-nack-dead-letter-after.png"/>
          <p:cNvPicPr>
            <a:picLocks noChangeAspect="1"/>
          </p:cNvPicPr>
          <p:nvPr/>
        </p:nvPicPr>
        <p:blipFill>
          <a:blip r:embed="rId2"/>
          <a:stretch>
            <a:fillRect/>
          </a:stretch>
        </p:blipFill>
        <p:spPr>
          <a:xfrm>
            <a:off x="621792" y="2459736"/>
            <a:ext cx="4297680" cy="1582979"/>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Queue utama memindahkan pesan yang di-nack ke DLQ, queue retry mengembalikannya setelah jeda (baris 44-51)</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Pesan rusak langsung ke DLQ (baris 59-61)</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Error sementara di-retry dengan jeda 0.5, 1, 2 detik (baris 67-72)</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Order #1 masuk DLQ, order #2 terkirim di percobaan ke-3.</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Idempotent Consumer</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Idempotent Consumer?</a:t>
            </a:r>
          </a:p>
        </p:txBody>
      </p:sp>
      <p:sp>
        <p:nvSpPr>
          <p:cNvPr id="22" name="Text 3"/>
          <p:cNvSpPr txBox="1"/>
          <p:nvPr/>
        </p:nvSpPr>
        <p:spPr>
          <a:xfrm>
            <a:off x="621792" y="1481328"/>
            <a:ext cx="3520440" cy="3291840"/>
          </a:xfrm>
          <a:prstGeom prst="rect">
            <a:avLst/>
          </a:prstGeom>
          <a:noFill/>
        </p:spPr>
        <p:txBody>
          <a:bodyPr wrap="square" lIns="45720" rIns="45720" anchor="t">
            <a:spAutoFit/>
          </a:bodyPr>
          <a:lstStyle/>
          <a:p>
            <a:pPr algn="l">
              <a:lnSpc>
                <a:spcPct val="115000"/>
              </a:lnSpc>
              <a:spcAft>
                <a:spcPts val="400"/>
              </a:spcAft>
            </a:pPr>
            <a:r>
              <a:rPr sz="1000" b="1" i="0">
                <a:solidFill>
                  <a:srgbClr val="1C4587"/>
                </a:solidFill>
                <a:latin typeface="Inter"/>
              </a:rPr>
              <a:t>Idempotent consumer adalah</a:t>
            </a:r>
          </a:p>
          <a:p>
            <a:pPr algn="l">
              <a:lnSpc>
                <a:spcPct val="115000"/>
              </a:lnSpc>
              <a:spcAft>
                <a:spcPts val="400"/>
              </a:spcAft>
            </a:pPr>
            <a:r>
              <a:rPr sz="900" b="0" i="0">
                <a:solidFill>
                  <a:srgbClr val="434343"/>
                </a:solidFill>
                <a:latin typeface="Inter"/>
              </a:rPr>
              <a:t>Consumer yang hasil akhirnya </a:t>
            </a:r>
            <a:r>
              <a:rPr sz="900" b="1" i="0">
                <a:solidFill>
                  <a:srgbClr val="434343"/>
                </a:solidFill>
                <a:latin typeface="Inter"/>
              </a:rPr>
              <a:t>sama</a:t>
            </a:r>
            <a:r>
              <a:rPr sz="900" b="0" i="0">
                <a:solidFill>
                  <a:srgbClr val="434343"/>
                </a:solidFill>
                <a:latin typeface="Inter"/>
              </a:rPr>
              <a:t>, walaupun pesan yang sama diterima berkali-kali. Caranya dengan mencatat </a:t>
            </a:r>
            <a:r>
              <a:rPr sz="900" b="1" i="0">
                <a:solidFill>
                  <a:srgbClr val="434343"/>
                </a:solidFill>
                <a:latin typeface="Inter"/>
              </a:rPr>
              <a:t>event_id</a:t>
            </a:r>
            <a:r>
              <a:rPr sz="900" b="0" i="0">
                <a:solidFill>
                  <a:srgbClr val="434343"/>
                </a:solidFill>
                <a:latin typeface="Inter"/>
              </a:rPr>
              <a:t> yang sudah diproses, dalam transaksi yang sama dengan perubahan datanya.</a:t>
            </a:r>
          </a:p>
          <a:p>
            <a:pPr algn="l">
              <a:lnSpc>
                <a:spcPct val="115000"/>
              </a:lnSpc>
              <a:spcAft>
                <a:spcPts val="400"/>
              </a:spcAft>
            </a:pPr>
            <a:r>
              <a:rPr sz="100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Mencegah poin atau email bertambah dua kali saat pesan dikirim ulang</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Membuat ack manual aman: pesan boleh datang lagi tanpa efek samping</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tanpa event_id: 05-idempotent-consumer/before.py</a:t>
            </a:r>
          </a:p>
        </p:txBody>
      </p:sp>
      <p:sp>
        <p:nvSpPr>
          <p:cNvPr id="28" name="CodeBg 11"/>
          <p:cNvSpPr/>
          <p:nvPr/>
        </p:nvSpPr>
        <p:spPr>
          <a:xfrm>
            <a:off x="4297680" y="1719072"/>
            <a:ext cx="4187951" cy="640080"/>
          </a:xfrm>
          <a:prstGeom prst="roundRect">
            <a:avLst>
              <a:gd name="adj" fmla="val 2857"/>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640080"/>
          </a:xfrm>
          <a:prstGeom prst="rect">
            <a:avLst/>
          </a:prstGeom>
          <a:noFill/>
        </p:spPr>
        <p:txBody>
          <a:bodyPr wrap="none" lIns="146304" tIns="91440" rIns="146304" bIns="54864">
            <a:spAutoFit/>
          </a:bodyPr>
          <a:lstStyle/>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add_points</a:t>
            </a:r>
            <a:r>
              <a:rPr sz="850" i="0">
                <a:solidFill>
                  <a:srgbClr val="E6EDF3"/>
                </a:solidFill>
                <a:latin typeface="Inconsolata"/>
              </a:rPr>
              <a:t>(event):</a:t>
            </a:r>
          </a:p>
          <a:p>
            <a:pPr>
              <a:lnSpc>
                <a:spcPct val="107843"/>
              </a:lnSpc>
              <a:spcAft>
                <a:spcPts val="0"/>
              </a:spcAft>
            </a:pPr>
            <a:r>
              <a:rPr sz="850" i="0">
                <a:solidFill>
                  <a:srgbClr val="E6EDF3"/>
                </a:solidFill>
                <a:latin typeface="Inconsolata"/>
              </a:rPr>
              <a:t>    </a:t>
            </a:r>
            <a:r>
              <a:rPr sz="850" i="0">
                <a:solidFill>
                  <a:srgbClr val="FF8E6E"/>
                </a:solidFill>
                <a:latin typeface="Inconsolata"/>
              </a:rPr>
              <a:t>with</a:t>
            </a:r>
            <a:r>
              <a:rPr sz="850" i="0">
                <a:solidFill>
                  <a:srgbClr val="E6EDF3"/>
                </a:solidFill>
                <a:latin typeface="Inconsolata"/>
              </a:rPr>
              <a:t> db:</a:t>
            </a:r>
          </a:p>
          <a:p>
            <a:pPr>
              <a:lnSpc>
                <a:spcPct val="107843"/>
              </a:lnSpc>
              <a:spcAft>
                <a:spcPts val="0"/>
              </a:spcAft>
            </a:pPr>
            <a:r>
              <a:rPr sz="850" i="0">
                <a:solidFill>
                  <a:srgbClr val="E6EDF3"/>
                </a:solidFill>
                <a:latin typeface="Inconsolata"/>
              </a:rPr>
              <a:t>        db.execute(</a:t>
            </a:r>
            <a:r>
              <a:rPr sz="850" i="0">
                <a:solidFill>
                  <a:srgbClr val="7FDBCA"/>
                </a:solidFill>
                <a:latin typeface="Inconsolata"/>
              </a:rPr>
              <a:t>ADD_POINTS</a:t>
            </a:r>
            <a:r>
              <a:rPr sz="850" i="0">
                <a:solidFill>
                  <a:srgbClr val="E6EDF3"/>
                </a:solidFill>
                <a:latin typeface="Inconsolata"/>
              </a:rPr>
              <a:t>, (event[</a:t>
            </a:r>
            <a:r>
              <a:rPr sz="850" i="0">
                <a:solidFill>
                  <a:srgbClr val="A5D6A7"/>
                </a:solidFill>
                <a:latin typeface="Inconsolata"/>
              </a:rPr>
              <a:t>"points"</a:t>
            </a:r>
            <a:r>
              <a:rPr sz="850" i="0">
                <a:solidFill>
                  <a:srgbClr val="E6EDF3"/>
                </a:solidFill>
                <a:latin typeface="Inconsolata"/>
              </a:rPr>
              <a:t>], event[</a:t>
            </a:r>
            <a:r>
              <a:rPr sz="850" i="0">
                <a:solidFill>
                  <a:srgbClr val="A5D6A7"/>
                </a:solidFill>
                <a:latin typeface="Inconsolata"/>
              </a:rPr>
              <a:t>"customer"</a:t>
            </a:r>
            <a:r>
              <a:rPr sz="850" i="0">
                <a:solidFill>
                  <a:srgbClr val="E6EDF3"/>
                </a:solidFill>
                <a:latin typeface="Inconsolata"/>
              </a:rPr>
              <a:t>]))</a:t>
            </a:r>
          </a:p>
        </p:txBody>
      </p:sp>
      <p:sp>
        <p:nvSpPr>
          <p:cNvPr id="30" name="Box 13"/>
          <p:cNvSpPr/>
          <p:nvPr/>
        </p:nvSpPr>
        <p:spPr>
          <a:xfrm>
            <a:off x="4379976" y="2108073"/>
            <a:ext cx="4023359"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CodeTab 15"/>
          <p:cNvSpPr/>
          <p:nvPr/>
        </p:nvSpPr>
        <p:spPr>
          <a:xfrm>
            <a:off x="4297680" y="2450592"/>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Dot 16"/>
          <p:cNvSpPr/>
          <p:nvPr/>
        </p:nvSpPr>
        <p:spPr>
          <a:xfrm>
            <a:off x="4407408" y="2528316"/>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Dot 17"/>
          <p:cNvSpPr/>
          <p:nvPr/>
        </p:nvSpPr>
        <p:spPr>
          <a:xfrm>
            <a:off x="4544568" y="2528316"/>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681728" y="2528316"/>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 19"/>
          <p:cNvSpPr txBox="1"/>
          <p:nvPr/>
        </p:nvSpPr>
        <p:spPr>
          <a:xfrm>
            <a:off x="4846320" y="2459736"/>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dengan event_id: 05-idempotent-consumer/after.py</a:t>
            </a:r>
          </a:p>
        </p:txBody>
      </p:sp>
      <p:sp>
        <p:nvSpPr>
          <p:cNvPr id="36" name="CodeBg 21"/>
          <p:cNvSpPr/>
          <p:nvPr/>
        </p:nvSpPr>
        <p:spPr>
          <a:xfrm>
            <a:off x="4297680" y="2688336"/>
            <a:ext cx="4187951" cy="2011679"/>
          </a:xfrm>
          <a:prstGeom prst="roundRect">
            <a:avLst>
              <a:gd name="adj" fmla="val 909"/>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Code 22"/>
          <p:cNvSpPr txBox="1"/>
          <p:nvPr/>
        </p:nvSpPr>
        <p:spPr>
          <a:xfrm>
            <a:off x="4297680" y="2688336"/>
            <a:ext cx="4187951" cy="2011679"/>
          </a:xfrm>
          <a:prstGeom prst="rect">
            <a:avLst/>
          </a:prstGeom>
          <a:noFill/>
        </p:spPr>
        <p:txBody>
          <a:bodyPr wrap="none" lIns="146304" tIns="91440" rIns="146304" bIns="54864">
            <a:spAutoFit/>
          </a:bodyPr>
          <a:lstStyle/>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add_points</a:t>
            </a:r>
            <a:r>
              <a:rPr sz="850" i="0">
                <a:solidFill>
                  <a:srgbClr val="E6EDF3"/>
                </a:solidFill>
                <a:latin typeface="Inconsolata"/>
              </a:rPr>
              <a:t>(event):</a:t>
            </a:r>
          </a:p>
          <a:p>
            <a:pPr>
              <a:lnSpc>
                <a:spcPct val="107843"/>
              </a:lnSpc>
              <a:spcAft>
                <a:spcPts val="0"/>
              </a:spcAft>
            </a:pPr>
            <a:r>
              <a:rPr sz="850" i="0">
                <a:solidFill>
                  <a:srgbClr val="E6EDF3"/>
                </a:solidFill>
                <a:latin typeface="Inconsolata"/>
              </a:rPr>
              <a:t>    </a:t>
            </a:r>
            <a:r>
              <a:rPr sz="850" i="0">
                <a:solidFill>
                  <a:srgbClr val="FF8E6E"/>
                </a:solidFill>
                <a:latin typeface="Inconsolata"/>
              </a:rPr>
              <a:t>try</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FF8E6E"/>
                </a:solidFill>
                <a:latin typeface="Inconsolata"/>
              </a:rPr>
              <a:t>with</a:t>
            </a:r>
            <a:r>
              <a:rPr sz="850" i="0">
                <a:solidFill>
                  <a:srgbClr val="E6EDF3"/>
                </a:solidFill>
                <a:latin typeface="Inconsolata"/>
              </a:rPr>
              <a:t> db:                                 </a:t>
            </a:r>
            <a:r>
              <a:rPr sz="850" i="1">
                <a:solidFill>
                  <a:srgbClr val="8B98A8"/>
                </a:solidFill>
                <a:latin typeface="Inconsolata"/>
              </a:rPr>
              <a:t># satu transaksi</a:t>
            </a:r>
          </a:p>
          <a:p>
            <a:pPr>
              <a:lnSpc>
                <a:spcPct val="107843"/>
              </a:lnSpc>
              <a:spcAft>
                <a:spcPts val="0"/>
              </a:spcAft>
            </a:pPr>
            <a:r>
              <a:rPr sz="850" i="0">
                <a:solidFill>
                  <a:srgbClr val="E6EDF3"/>
                </a:solidFill>
                <a:latin typeface="Inconsolata"/>
              </a:rPr>
              <a:t>            db.execute(</a:t>
            </a:r>
            <a:r>
              <a:rPr sz="850" i="0">
                <a:solidFill>
                  <a:srgbClr val="A5D6A7"/>
                </a:solidFill>
                <a:latin typeface="Inconsolata"/>
              </a:rPr>
              <a:t>"INSERT INTO processed_events VALUES (?)"</a:t>
            </a:r>
            <a:r>
              <a:rPr sz="850" i="0">
                <a:solidFill>
                  <a:srgbClr val="E6EDF3"/>
                </a:solidFill>
                <a:latin typeface="Inconsolata"/>
              </a:rPr>
              <a:t>,</a:t>
            </a:r>
          </a:p>
          <a:p>
            <a:pPr>
              <a:lnSpc>
                <a:spcPct val="107843"/>
              </a:lnSpc>
              <a:spcAft>
                <a:spcPts val="0"/>
              </a:spcAft>
            </a:pPr>
            <a:r>
              <a:rPr sz="850" i="0">
                <a:solidFill>
                  <a:srgbClr val="E6EDF3"/>
                </a:solidFill>
                <a:latin typeface="Inconsolata"/>
              </a:rPr>
              <a:t>                       (event[</a:t>
            </a:r>
            <a:r>
              <a:rPr sz="850" i="0">
                <a:solidFill>
                  <a:srgbClr val="A5D6A7"/>
                </a:solidFill>
                <a:latin typeface="Inconsolata"/>
              </a:rPr>
              <a:t>"event_id"</a:t>
            </a:r>
            <a:r>
              <a:rPr sz="850" i="0">
                <a:solidFill>
                  <a:srgbClr val="E6EDF3"/>
                </a:solidFill>
                <a:latin typeface="Inconsolata"/>
              </a:rPr>
              <a:t>],))</a:t>
            </a:r>
          </a:p>
          <a:p>
            <a:pPr>
              <a:lnSpc>
                <a:spcPct val="107843"/>
              </a:lnSpc>
              <a:spcAft>
                <a:spcPts val="0"/>
              </a:spcAft>
            </a:pPr>
            <a:r>
              <a:rPr sz="850" i="0">
                <a:solidFill>
                  <a:srgbClr val="E6EDF3"/>
                </a:solidFill>
                <a:latin typeface="Inconsolata"/>
              </a:rPr>
              <a:t>            db.execute(</a:t>
            </a:r>
            <a:r>
              <a:rPr sz="850" i="0">
                <a:solidFill>
                  <a:srgbClr val="7FDBCA"/>
                </a:solidFill>
                <a:latin typeface="Inconsolata"/>
              </a:rPr>
              <a:t>ADD_POINTS</a:t>
            </a:r>
            <a:r>
              <a:rPr sz="850" i="0">
                <a:solidFill>
                  <a:srgbClr val="E6EDF3"/>
                </a:solidFill>
                <a:latin typeface="Inconsolata"/>
              </a:rPr>
              <a:t>,</a:t>
            </a:r>
          </a:p>
          <a:p>
            <a:pPr>
              <a:lnSpc>
                <a:spcPct val="107843"/>
              </a:lnSpc>
              <a:spcAft>
                <a:spcPts val="0"/>
              </a:spcAft>
            </a:pPr>
            <a:r>
              <a:rPr sz="850" i="0">
                <a:solidFill>
                  <a:srgbClr val="E6EDF3"/>
                </a:solidFill>
                <a:latin typeface="Inconsolata"/>
              </a:rPr>
              <a:t>                       (event[</a:t>
            </a:r>
            <a:r>
              <a:rPr sz="850" i="0">
                <a:solidFill>
                  <a:srgbClr val="A5D6A7"/>
                </a:solidFill>
                <a:latin typeface="Inconsolata"/>
              </a:rPr>
              <a:t>"points"</a:t>
            </a:r>
            <a:r>
              <a:rPr sz="850" i="0">
                <a:solidFill>
                  <a:srgbClr val="E6EDF3"/>
                </a:solidFill>
                <a:latin typeface="Inconsolata"/>
              </a:rPr>
              <a:t>], event[</a:t>
            </a:r>
            <a:r>
              <a:rPr sz="850" i="0">
                <a:solidFill>
                  <a:srgbClr val="A5D6A7"/>
                </a:solidFill>
                <a:latin typeface="Inconsolata"/>
              </a:rPr>
              <a:t>"customer"</a:t>
            </a:r>
            <a:r>
              <a:rPr sz="850" i="0">
                <a:solidFill>
                  <a:srgbClr val="E6EDF3"/>
                </a:solidFill>
                <a:latin typeface="Inconsolata"/>
              </a:rPr>
              <a:t>]))</a:t>
            </a:r>
          </a:p>
          <a:p>
            <a:pPr>
              <a:lnSpc>
                <a:spcPct val="107843"/>
              </a:lnSpc>
              <a:spcAft>
                <a:spcPts val="0"/>
              </a:spcAft>
            </a:pP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FF8E6E"/>
                </a:solidFill>
                <a:latin typeface="Inconsolata"/>
              </a:rPr>
              <a:t>except</a:t>
            </a:r>
            <a:r>
              <a:rPr sz="850" i="0">
                <a:solidFill>
                  <a:srgbClr val="E6EDF3"/>
                </a:solidFill>
                <a:latin typeface="Inconsolata"/>
              </a:rPr>
              <a:t> sqlite3.</a:t>
            </a:r>
            <a:r>
              <a:rPr sz="850" i="0">
                <a:solidFill>
                  <a:srgbClr val="7FDBCA"/>
                </a:solidFill>
                <a:latin typeface="Inconsolata"/>
              </a:rPr>
              <a:t>IntegrityError</a:t>
            </a:r>
            <a:r>
              <a:rPr sz="850" i="0">
                <a:solidFill>
                  <a:srgbClr val="E6EDF3"/>
                </a:solidFill>
                <a:latin typeface="Inconsolata"/>
              </a:rPr>
              <a:t>:</a:t>
            </a:r>
          </a:p>
        </p:txBody>
      </p:sp>
      <p:sp>
        <p:nvSpPr>
          <p:cNvPr id="38" name="Box 23"/>
          <p:cNvSpPr/>
          <p:nvPr/>
        </p:nvSpPr>
        <p:spPr>
          <a:xfrm>
            <a:off x="4379976" y="3077337"/>
            <a:ext cx="4023359" cy="690118"/>
          </a:xfrm>
          <a:prstGeom prst="roundRect">
            <a:avLst>
              <a:gd name="adj" fmla="val 6624"/>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379976" y="3915537"/>
            <a:ext cx="4023359"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Idempotent Consumer</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membuat Consumer Idempotent?</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idempotency</a:t>
            </a:r>
          </a:p>
          <a:p>
            <a:pPr algn="l">
              <a:lnSpc>
                <a:spcPct val="115000"/>
              </a:lnSpc>
              <a:spcAft>
                <a:spcPts val="400"/>
              </a:spcAft>
            </a:pPr>
            <a:r>
              <a:rPr sz="950" b="0" i="0">
                <a:solidFill>
                  <a:srgbClr val="434343"/>
                </a:solidFill>
                <a:latin typeface="Inter"/>
              </a:rPr>
              <a:t>Poin sudah ditambahkan, lalu consumer crash sebelum ack. Pesan dikirim ulang, dan poin ditambahkan lagi.</a:t>
            </a:r>
          </a:p>
          <a:p>
            <a:pPr algn="l">
              <a:lnSpc>
                <a:spcPct val="115000"/>
              </a:lnSpc>
              <a:spcAft>
                <a:spcPts val="400"/>
              </a:spcAft>
            </a:pPr>
            <a:r>
              <a:rPr sz="1050" b="1" i="0">
                <a:solidFill>
                  <a:srgbClr val="1C4587"/>
                </a:solidFill>
                <a:latin typeface="Inter"/>
              </a:rPr>
              <a:t>Jika consumer makin sering restart</a:t>
            </a:r>
          </a:p>
          <a:p>
            <a:pPr algn="l">
              <a:lnSpc>
                <a:spcPct val="115000"/>
              </a:lnSpc>
              <a:spcAft>
                <a:spcPts val="400"/>
              </a:spcAft>
            </a:pPr>
            <a:r>
              <a:rPr sz="950" b="0" i="0">
                <a:solidFill>
                  <a:srgbClr val="434343"/>
                </a:solidFill>
                <a:latin typeface="Inter"/>
              </a:rPr>
              <a:t>Setiap restart atau koneksi putus berpotensi memproses pesan yang sama lebih dari sekali.</a:t>
            </a:r>
          </a:p>
          <a:p>
            <a:pPr algn="l">
              <a:lnSpc>
                <a:spcPct val="115000"/>
              </a:lnSpc>
              <a:spcAft>
                <a:spcPts val="400"/>
              </a:spcAft>
            </a:pPr>
            <a:r>
              <a:rPr sz="950" b="0" i="0">
                <a:solidFill>
                  <a:srgbClr val="434343"/>
                </a:solidFill>
                <a:latin typeface="Inter"/>
              </a:rPr>
              <a:t>Hal ini membuat customer mendapat poin lebih banyak dari seharusnya.</a:t>
            </a:r>
          </a:p>
          <a:p>
            <a:pPr algn="l">
              <a:lnSpc>
                <a:spcPct val="115000"/>
              </a:lnSpc>
              <a:spcAft>
                <a:spcPts val="400"/>
              </a:spcAft>
            </a:pPr>
            <a:r>
              <a:rPr sz="1050" b="1" i="0">
                <a:solidFill>
                  <a:srgbClr val="1C4587"/>
                </a:solidFill>
                <a:latin typeface="Inter"/>
              </a:rPr>
              <a:t>Yang dipakai: event_id dan primary key, ditulis sendiri</a:t>
            </a:r>
          </a:p>
          <a:p>
            <a:pPr algn="l">
              <a:lnSpc>
                <a:spcPct val="115000"/>
              </a:lnSpc>
              <a:spcAft>
                <a:spcPts val="400"/>
              </a:spcAft>
            </a:pPr>
            <a:r>
              <a:rPr sz="950" b="0" i="0">
                <a:solidFill>
                  <a:srgbClr val="434343"/>
                </a:solidFill>
                <a:latin typeface="Inter"/>
              </a:rPr>
              <a:t>RabbitMQ menjamin pesan sampai </a:t>
            </a:r>
            <a:r>
              <a:rPr sz="950" b="1" i="0">
                <a:solidFill>
                  <a:srgbClr val="434343"/>
                </a:solidFill>
                <a:latin typeface="Inter"/>
              </a:rPr>
              <a:t>minimal sekali</a:t>
            </a:r>
            <a:r>
              <a:rPr sz="950" b="0" i="0">
                <a:solidFill>
                  <a:srgbClr val="434343"/>
                </a:solidFill>
                <a:latin typeface="Inter"/>
              </a:rPr>
              <a:t> (at-least-once), bukan tepat sekali. Jadi consumer yang harus menangani pesan yang datang dua kali.</a:t>
            </a:r>
          </a:p>
        </p:txBody>
      </p:sp>
      <p:graphicFrame>
        <p:nvGraphicFramePr>
          <p:cNvPr id="23" name="Table 4"/>
          <p:cNvGraphicFramePr>
            <a:graphicFrameLocks noGrp="1"/>
          </p:cNvGraphicFramePr>
          <p:nvPr/>
        </p:nvGraphicFramePr>
        <p:xfrm>
          <a:off x="4800600" y="1481328"/>
          <a:ext cx="3685032" cy="2057400"/>
        </p:xfrm>
        <a:graphic>
          <a:graphicData uri="http://schemas.openxmlformats.org/drawingml/2006/table">
            <a:tbl>
              <a:tblPr firstRow="1" bandRow="1"/>
              <a:tblGrid>
                <a:gridCol w="2039112">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tblGrid>
              <a:tr h="411480">
                <a:tc>
                  <a:txBody>
                    <a:bodyPr/>
                    <a:lstStyle/>
                    <a:p>
                      <a:pPr algn="l">
                        <a:lnSpc>
                          <a:spcPct val="100000"/>
                        </a:lnSpc>
                        <a:spcAft>
                          <a:spcPts val="0"/>
                        </a:spcAft>
                      </a:pPr>
                      <a:r>
                        <a:rPr sz="850" b="1" i="0">
                          <a:solidFill>
                            <a:srgbClr val="FFFFFF"/>
                          </a:solidFill>
                          <a:latin typeface="Inter"/>
                        </a:rPr>
                        <a:t>Ditulis</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Artinya</a:t>
                      </a:r>
                    </a:p>
                  </a:txBody>
                  <a:tcPr marL="73152" marR="73152" marT="36576" marB="36576" anchor="ctr">
                    <a:solidFill>
                      <a:srgbClr val="1C4587"/>
                    </a:solidFill>
                  </a:tcPr>
                </a:tc>
                <a:extLst>
                  <a:ext uri="{0D108BD9-81ED-4DB2-BD59-A6C34878D82A}">
                    <a16:rowId xmlns:a16="http://schemas.microsoft.com/office/drawing/2014/main" val="10000"/>
                  </a:ext>
                </a:extLst>
              </a:tr>
              <a:tr h="411480">
                <a:tc>
                  <a:txBody>
                    <a:bodyPr/>
                    <a:lstStyle/>
                    <a:p>
                      <a:pPr algn="l">
                        <a:lnSpc>
                          <a:spcPct val="100000"/>
                        </a:lnSpc>
                        <a:spcAft>
                          <a:spcPts val="0"/>
                        </a:spcAft>
                      </a:pPr>
                      <a:r>
                        <a:rPr sz="850" b="1" i="0">
                          <a:solidFill>
                            <a:srgbClr val="1C4587"/>
                          </a:solidFill>
                          <a:latin typeface="Inter"/>
                        </a:rPr>
                        <a:t>event_id</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Id unik event, dibuat producer</a:t>
                      </a:r>
                    </a:p>
                  </a:txBody>
                  <a:tcPr marL="73152" marR="73152" marT="36576" marB="36576" anchor="ctr">
                    <a:solidFill>
                      <a:srgbClr val="FFFFFF"/>
                    </a:solidFill>
                  </a:tcPr>
                </a:tc>
                <a:extLst>
                  <a:ext uri="{0D108BD9-81ED-4DB2-BD59-A6C34878D82A}">
                    <a16:rowId xmlns:a16="http://schemas.microsoft.com/office/drawing/2014/main" val="10001"/>
                  </a:ext>
                </a:extLst>
              </a:tr>
              <a:tr h="411480">
                <a:tc>
                  <a:txBody>
                    <a:bodyPr/>
                    <a:lstStyle/>
                    <a:p>
                      <a:pPr algn="l">
                        <a:lnSpc>
                          <a:spcPct val="100000"/>
                        </a:lnSpc>
                        <a:spcAft>
                          <a:spcPts val="0"/>
                        </a:spcAft>
                      </a:pPr>
                      <a:r>
                        <a:rPr sz="850" b="1" i="0">
                          <a:solidFill>
                            <a:srgbClr val="1C4587"/>
                          </a:solidFill>
                          <a:latin typeface="Inter"/>
                        </a:rPr>
                        <a:t>processed_events (PRIMARY KEY)</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event_id hanya bisa dicatat sekali</a:t>
                      </a:r>
                    </a:p>
                  </a:txBody>
                  <a:tcPr marL="73152" marR="73152" marT="36576" marB="36576" anchor="ctr">
                    <a:solidFill>
                      <a:srgbClr val="F3F4F6"/>
                    </a:solidFill>
                  </a:tcPr>
                </a:tc>
                <a:extLst>
                  <a:ext uri="{0D108BD9-81ED-4DB2-BD59-A6C34878D82A}">
                    <a16:rowId xmlns:a16="http://schemas.microsoft.com/office/drawing/2014/main" val="10002"/>
                  </a:ext>
                </a:extLst>
              </a:tr>
              <a:tr h="411480">
                <a:tc>
                  <a:txBody>
                    <a:bodyPr/>
                    <a:lstStyle/>
                    <a:p>
                      <a:pPr algn="l">
                        <a:lnSpc>
                          <a:spcPct val="100000"/>
                        </a:lnSpc>
                        <a:spcAft>
                          <a:spcPts val="0"/>
                        </a:spcAft>
                      </a:pPr>
                      <a:r>
                        <a:rPr sz="850" b="1" i="0">
                          <a:solidFill>
                            <a:srgbClr val="1C4587"/>
                          </a:solidFill>
                          <a:latin typeface="Inter"/>
                        </a:rPr>
                        <a:t>with db:</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Catat event dan tambah poin dalam 1 transaksi</a:t>
                      </a:r>
                    </a:p>
                  </a:txBody>
                  <a:tcPr marL="73152" marR="73152" marT="36576" marB="36576" anchor="ctr">
                    <a:solidFill>
                      <a:srgbClr val="FFFFFF"/>
                    </a:solidFill>
                  </a:tcPr>
                </a:tc>
                <a:extLst>
                  <a:ext uri="{0D108BD9-81ED-4DB2-BD59-A6C34878D82A}">
                    <a16:rowId xmlns:a16="http://schemas.microsoft.com/office/drawing/2014/main" val="10003"/>
                  </a:ext>
                </a:extLst>
              </a:tr>
              <a:tr h="411480">
                <a:tc>
                  <a:txBody>
                    <a:bodyPr/>
                    <a:lstStyle/>
                    <a:p>
                      <a:pPr algn="l">
                        <a:lnSpc>
                          <a:spcPct val="100000"/>
                        </a:lnSpc>
                        <a:spcAft>
                          <a:spcPts val="0"/>
                        </a:spcAft>
                      </a:pPr>
                      <a:r>
                        <a:rPr sz="850" b="1" i="0">
                          <a:solidFill>
                            <a:srgbClr val="1C4587"/>
                          </a:solidFill>
                          <a:latin typeface="Inter"/>
                        </a:rPr>
                        <a:t>IntegrityError</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event_id sudah ada, event di-skip</a:t>
                      </a:r>
                    </a:p>
                  </a:txBody>
                  <a:tcPr marL="73152" marR="73152" marT="36576" marB="36576" anchor="ctr">
                    <a:solidFill>
                      <a:srgbClr val="F3F4F6"/>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Idempotent Consumer</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poin ditambah dua kali (1/2)</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05-idempotent-consumer/before.py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7095"/>
              </a:lnSpc>
              <a:spcAft>
                <a:spcPts val="0"/>
              </a:spcAft>
            </a:pPr>
            <a:r>
              <a:rPr sz="700" i="0">
                <a:solidFill>
                  <a:srgbClr val="5C6773"/>
                </a:solidFill>
                <a:latin typeface="Inconsolata"/>
              </a:rPr>
              <a:t>12  </a:t>
            </a:r>
            <a:r>
              <a:rPr sz="700" i="0">
                <a:solidFill>
                  <a:srgbClr val="FF8E6E"/>
                </a:solidFill>
                <a:latin typeface="Inconsolata"/>
              </a:rPr>
              <a:t>import</a:t>
            </a:r>
            <a:r>
              <a:rPr sz="700" i="0">
                <a:solidFill>
                  <a:srgbClr val="E6EDF3"/>
                </a:solidFill>
                <a:latin typeface="Inconsolata"/>
              </a:rPr>
              <a:t> json</a:t>
            </a:r>
          </a:p>
          <a:p>
            <a:pPr>
              <a:lnSpc>
                <a:spcPct val="107095"/>
              </a:lnSpc>
              <a:spcAft>
                <a:spcPts val="0"/>
              </a:spcAft>
            </a:pPr>
            <a:r>
              <a:rPr sz="700" i="0">
                <a:solidFill>
                  <a:srgbClr val="5C6773"/>
                </a:solidFill>
                <a:latin typeface="Inconsolata"/>
              </a:rPr>
              <a:t>13  </a:t>
            </a:r>
            <a:r>
              <a:rPr sz="700" i="0">
                <a:solidFill>
                  <a:srgbClr val="FF8E6E"/>
                </a:solidFill>
                <a:latin typeface="Inconsolata"/>
              </a:rPr>
              <a:t>import</a:t>
            </a:r>
            <a:r>
              <a:rPr sz="700" i="0">
                <a:solidFill>
                  <a:srgbClr val="E6EDF3"/>
                </a:solidFill>
                <a:latin typeface="Inconsolata"/>
              </a:rPr>
              <a:t> os</a:t>
            </a:r>
          </a:p>
          <a:p>
            <a:pPr>
              <a:lnSpc>
                <a:spcPct val="107095"/>
              </a:lnSpc>
              <a:spcAft>
                <a:spcPts val="0"/>
              </a:spcAft>
            </a:pPr>
            <a:r>
              <a:rPr sz="700" i="0">
                <a:solidFill>
                  <a:srgbClr val="5C6773"/>
                </a:solidFill>
                <a:latin typeface="Inconsolata"/>
              </a:rPr>
              <a:t>14  </a:t>
            </a:r>
            <a:r>
              <a:rPr sz="700" i="0">
                <a:solidFill>
                  <a:srgbClr val="FF8E6E"/>
                </a:solidFill>
                <a:latin typeface="Inconsolata"/>
              </a:rPr>
              <a:t>import</a:t>
            </a:r>
            <a:r>
              <a:rPr sz="700" i="0">
                <a:solidFill>
                  <a:srgbClr val="E6EDF3"/>
                </a:solidFill>
                <a:latin typeface="Inconsolata"/>
              </a:rPr>
              <a:t> sqlite3</a:t>
            </a:r>
          </a:p>
          <a:p>
            <a:pPr>
              <a:lnSpc>
                <a:spcPct val="107095"/>
              </a:lnSpc>
              <a:spcAft>
                <a:spcPts val="0"/>
              </a:spcAft>
            </a:pPr>
            <a:r>
              <a:rPr sz="700" i="0">
                <a:solidFill>
                  <a:srgbClr val="5C6773"/>
                </a:solidFill>
                <a:latin typeface="Inconsolata"/>
              </a:rPr>
              <a:t>15  </a:t>
            </a:r>
            <a:r>
              <a:rPr sz="700" i="0">
                <a:solidFill>
                  <a:srgbClr val="FF8E6E"/>
                </a:solidFill>
                <a:latin typeface="Inconsolata"/>
              </a:rPr>
              <a:t>import</a:t>
            </a:r>
            <a:r>
              <a:rPr sz="700" i="0">
                <a:solidFill>
                  <a:srgbClr val="E6EDF3"/>
                </a:solidFill>
                <a:latin typeface="Inconsolata"/>
              </a:rPr>
              <a:t> uuid</a:t>
            </a:r>
          </a:p>
          <a:p>
            <a:pPr>
              <a:lnSpc>
                <a:spcPct val="107095"/>
              </a:lnSpc>
              <a:spcAft>
                <a:spcPts val="0"/>
              </a:spcAft>
            </a:pPr>
            <a:r>
              <a:rPr sz="700" i="0">
                <a:solidFill>
                  <a:srgbClr val="5C6773"/>
                </a:solidFill>
                <a:latin typeface="Inconsolata"/>
              </a:rPr>
              <a:t>16  </a:t>
            </a:r>
            <a:r>
              <a:rPr sz="700" i="0">
                <a:solidFill>
                  <a:srgbClr val="E6EDF3"/>
                </a:solidFill>
                <a:latin typeface="Inconsolata"/>
              </a:rPr>
              <a:t> </a:t>
            </a:r>
          </a:p>
          <a:p>
            <a:pPr>
              <a:lnSpc>
                <a:spcPct val="107095"/>
              </a:lnSpc>
              <a:spcAft>
                <a:spcPts val="0"/>
              </a:spcAft>
            </a:pPr>
            <a:r>
              <a:rPr sz="700" i="0">
                <a:solidFill>
                  <a:srgbClr val="5C6773"/>
                </a:solidFill>
                <a:latin typeface="Inconsolata"/>
              </a:rPr>
              <a:t>17  </a:t>
            </a:r>
            <a:r>
              <a:rPr sz="700" i="0">
                <a:solidFill>
                  <a:srgbClr val="FF8E6E"/>
                </a:solidFill>
                <a:latin typeface="Inconsolata"/>
              </a:rPr>
              <a:t>import</a:t>
            </a:r>
            <a:r>
              <a:rPr sz="700" i="0">
                <a:solidFill>
                  <a:srgbClr val="E6EDF3"/>
                </a:solidFill>
                <a:latin typeface="Inconsolata"/>
              </a:rPr>
              <a:t> pika</a:t>
            </a:r>
          </a:p>
          <a:p>
            <a:pPr>
              <a:lnSpc>
                <a:spcPct val="107095"/>
              </a:lnSpc>
              <a:spcAft>
                <a:spcPts val="0"/>
              </a:spcAft>
            </a:pPr>
            <a:r>
              <a:rPr sz="700" i="0">
                <a:solidFill>
                  <a:srgbClr val="5C6773"/>
                </a:solidFill>
                <a:latin typeface="Inconsolata"/>
              </a:rPr>
              <a:t>18  </a:t>
            </a:r>
            <a:r>
              <a:rPr sz="700" i="0">
                <a:solidFill>
                  <a:srgbClr val="E6EDF3"/>
                </a:solidFill>
                <a:latin typeface="Inconsolata"/>
              </a:rPr>
              <a:t> </a:t>
            </a:r>
          </a:p>
          <a:p>
            <a:pPr>
              <a:lnSpc>
                <a:spcPct val="107095"/>
              </a:lnSpc>
              <a:spcAft>
                <a:spcPts val="0"/>
              </a:spcAft>
            </a:pPr>
            <a:r>
              <a:rPr sz="700" i="0">
                <a:solidFill>
                  <a:srgbClr val="5C6773"/>
                </a:solidFill>
                <a:latin typeface="Inconsolata"/>
              </a:rPr>
              <a:t>19  </a:t>
            </a:r>
            <a:r>
              <a:rPr sz="700" i="0">
                <a:solidFill>
                  <a:srgbClr val="7FDBCA"/>
                </a:solidFill>
                <a:latin typeface="Inconsolata"/>
              </a:rPr>
              <a:t>URL</a:t>
            </a:r>
            <a:r>
              <a:rPr sz="700" i="0">
                <a:solidFill>
                  <a:srgbClr val="E6EDF3"/>
                </a:solidFill>
                <a:latin typeface="Inconsolata"/>
              </a:rPr>
              <a:t> = os.getenv(</a:t>
            </a:r>
            <a:r>
              <a:rPr sz="700" i="0">
                <a:solidFill>
                  <a:srgbClr val="A5D6A7"/>
                </a:solidFill>
                <a:latin typeface="Inconsolata"/>
              </a:rPr>
              <a:t>"RABBITMQ_URL"</a:t>
            </a:r>
            <a:r>
              <a:rPr sz="700" i="0">
                <a:solidFill>
                  <a:srgbClr val="E6EDF3"/>
                </a:solidFill>
                <a:latin typeface="Inconsolata"/>
              </a:rPr>
              <a:t>, </a:t>
            </a:r>
            <a:r>
              <a:rPr sz="700" i="0">
                <a:solidFill>
                  <a:srgbClr val="A5D6A7"/>
                </a:solidFill>
                <a:latin typeface="Inconsolata"/>
              </a:rPr>
              <a:t>"amqp://guest:guest@localhost:5672/"</a:t>
            </a:r>
            <a:r>
              <a:rPr sz="700" i="0">
                <a:solidFill>
                  <a:srgbClr val="E6EDF3"/>
                </a:solidFill>
                <a:latin typeface="Inconsolata"/>
              </a:rPr>
              <a:t>)</a:t>
            </a:r>
          </a:p>
          <a:p>
            <a:pPr>
              <a:lnSpc>
                <a:spcPct val="107095"/>
              </a:lnSpc>
              <a:spcAft>
                <a:spcPts val="0"/>
              </a:spcAft>
            </a:pPr>
            <a:r>
              <a:rPr sz="700" i="0">
                <a:solidFill>
                  <a:srgbClr val="5C6773"/>
                </a:solidFill>
                <a:latin typeface="Inconsolata"/>
              </a:rPr>
              <a:t>20  </a:t>
            </a:r>
            <a:r>
              <a:rPr sz="700" i="0">
                <a:solidFill>
                  <a:srgbClr val="E6EDF3"/>
                </a:solidFill>
                <a:latin typeface="Inconsolata"/>
              </a:rPr>
              <a:t> </a:t>
            </a:r>
          </a:p>
          <a:p>
            <a:pPr>
              <a:lnSpc>
                <a:spcPct val="107095"/>
              </a:lnSpc>
              <a:spcAft>
                <a:spcPts val="0"/>
              </a:spcAft>
            </a:pPr>
            <a:r>
              <a:rPr sz="700" i="0">
                <a:solidFill>
                  <a:srgbClr val="5C6773"/>
                </a:solidFill>
                <a:latin typeface="Inconsolata"/>
              </a:rPr>
              <a:t>21  </a:t>
            </a:r>
            <a:r>
              <a:rPr sz="700" i="0">
                <a:solidFill>
                  <a:srgbClr val="E6EDF3"/>
                </a:solidFill>
                <a:latin typeface="Inconsolata"/>
              </a:rPr>
              <a:t>db = sqlite3.connect(</a:t>
            </a:r>
            <a:r>
              <a:rPr sz="700" i="0">
                <a:solidFill>
                  <a:srgbClr val="A5D6A7"/>
                </a:solidFill>
                <a:latin typeface="Inconsolata"/>
              </a:rPr>
              <a:t>":memory:"</a:t>
            </a:r>
            <a:r>
              <a:rPr sz="700" i="0">
                <a:solidFill>
                  <a:srgbClr val="E6EDF3"/>
                </a:solidFill>
                <a:latin typeface="Inconsolata"/>
              </a:rPr>
              <a:t>)</a:t>
            </a:r>
          </a:p>
          <a:p>
            <a:pPr>
              <a:lnSpc>
                <a:spcPct val="107095"/>
              </a:lnSpc>
              <a:spcAft>
                <a:spcPts val="0"/>
              </a:spcAft>
            </a:pPr>
            <a:r>
              <a:rPr sz="700" i="0">
                <a:solidFill>
                  <a:srgbClr val="5C6773"/>
                </a:solidFill>
                <a:latin typeface="Inconsolata"/>
              </a:rPr>
              <a:t>22  </a:t>
            </a:r>
            <a:r>
              <a:rPr sz="700" i="0">
                <a:solidFill>
                  <a:srgbClr val="E6EDF3"/>
                </a:solidFill>
                <a:latin typeface="Inconsolata"/>
              </a:rPr>
              <a:t>db.execute(</a:t>
            </a:r>
            <a:r>
              <a:rPr sz="700" i="0">
                <a:solidFill>
                  <a:srgbClr val="A5D6A7"/>
                </a:solidFill>
                <a:latin typeface="Inconsolata"/>
              </a:rPr>
              <a:t>"CREATE TABLE points (customer TEXT PRIMARY KEY, total INT)"</a:t>
            </a:r>
            <a:r>
              <a:rPr sz="700" i="0">
                <a:solidFill>
                  <a:srgbClr val="E6EDF3"/>
                </a:solidFill>
                <a:latin typeface="Inconsolata"/>
              </a:rPr>
              <a:t>)</a:t>
            </a:r>
          </a:p>
          <a:p>
            <a:pPr>
              <a:lnSpc>
                <a:spcPct val="107095"/>
              </a:lnSpc>
              <a:spcAft>
                <a:spcPts val="0"/>
              </a:spcAft>
            </a:pPr>
            <a:r>
              <a:rPr sz="700" i="0">
                <a:solidFill>
                  <a:srgbClr val="5C6773"/>
                </a:solidFill>
                <a:latin typeface="Inconsolata"/>
              </a:rPr>
              <a:t>23  </a:t>
            </a:r>
            <a:r>
              <a:rPr sz="700" i="0">
                <a:solidFill>
                  <a:srgbClr val="E6EDF3"/>
                </a:solidFill>
                <a:latin typeface="Inconsolata"/>
              </a:rPr>
              <a:t>db.execute(</a:t>
            </a:r>
            <a:r>
              <a:rPr sz="700" i="0">
                <a:solidFill>
                  <a:srgbClr val="A5D6A7"/>
                </a:solidFill>
                <a:latin typeface="Inconsolata"/>
              </a:rPr>
              <a:t>"INSERT INTO points VALUES ('budi@mail.com', 0)"</a:t>
            </a:r>
            <a:r>
              <a:rPr sz="700" i="0">
                <a:solidFill>
                  <a:srgbClr val="E6EDF3"/>
                </a:solidFill>
                <a:latin typeface="Inconsolata"/>
              </a:rPr>
              <a:t>)</a:t>
            </a:r>
          </a:p>
          <a:p>
            <a:pPr>
              <a:lnSpc>
                <a:spcPct val="107095"/>
              </a:lnSpc>
              <a:spcAft>
                <a:spcPts val="0"/>
              </a:spcAft>
            </a:pPr>
            <a:r>
              <a:rPr sz="700" i="0">
                <a:solidFill>
                  <a:srgbClr val="5C6773"/>
                </a:solidFill>
                <a:latin typeface="Inconsolata"/>
              </a:rPr>
              <a:t>24  </a:t>
            </a:r>
            <a:r>
              <a:rPr sz="700" i="0">
                <a:solidFill>
                  <a:srgbClr val="7FDBCA"/>
                </a:solidFill>
                <a:latin typeface="Inconsolata"/>
              </a:rPr>
              <a:t>ADD_POINTS</a:t>
            </a:r>
            <a:r>
              <a:rPr sz="700" i="0">
                <a:solidFill>
                  <a:srgbClr val="E6EDF3"/>
                </a:solidFill>
                <a:latin typeface="Inconsolata"/>
              </a:rPr>
              <a:t> = </a:t>
            </a:r>
            <a:r>
              <a:rPr sz="700" i="0">
                <a:solidFill>
                  <a:srgbClr val="A5D6A7"/>
                </a:solidFill>
                <a:latin typeface="Inconsolata"/>
              </a:rPr>
              <a:t>"UPDATE points SET total = total + ? WHERE customer = ?"</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05-idempotent-consumer/before.py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7095"/>
              </a:lnSpc>
              <a:spcAft>
                <a:spcPts val="0"/>
              </a:spcAft>
            </a:pPr>
            <a:r>
              <a:rPr sz="700" i="0">
                <a:solidFill>
                  <a:srgbClr val="5C6773"/>
                </a:solidFill>
                <a:latin typeface="Inconsolata"/>
              </a:rPr>
              <a:t>27  </a:t>
            </a: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add_points</a:t>
            </a:r>
            <a:r>
              <a:rPr sz="700" i="0">
                <a:solidFill>
                  <a:srgbClr val="E6EDF3"/>
                </a:solidFill>
                <a:latin typeface="Inconsolata"/>
              </a:rPr>
              <a:t>(event):</a:t>
            </a:r>
          </a:p>
          <a:p>
            <a:pPr>
              <a:lnSpc>
                <a:spcPct val="107095"/>
              </a:lnSpc>
              <a:spcAft>
                <a:spcPts val="0"/>
              </a:spcAft>
            </a:pPr>
            <a:r>
              <a:rPr sz="700" i="0">
                <a:solidFill>
                  <a:srgbClr val="5C6773"/>
                </a:solidFill>
                <a:latin typeface="Inconsolata"/>
              </a:rPr>
              <a:t>28  </a:t>
            </a:r>
            <a:r>
              <a:rPr sz="700" i="0">
                <a:solidFill>
                  <a:srgbClr val="E6EDF3"/>
                </a:solidFill>
                <a:latin typeface="Inconsolata"/>
              </a:rPr>
              <a:t>    </a:t>
            </a:r>
            <a:r>
              <a:rPr sz="700" i="0">
                <a:solidFill>
                  <a:srgbClr val="FF8E6E"/>
                </a:solidFill>
                <a:latin typeface="Inconsolata"/>
              </a:rPr>
              <a:t>with</a:t>
            </a:r>
            <a:r>
              <a:rPr sz="700" i="0">
                <a:solidFill>
                  <a:srgbClr val="E6EDF3"/>
                </a:solidFill>
                <a:latin typeface="Inconsolata"/>
              </a:rPr>
              <a:t> db:</a:t>
            </a:r>
          </a:p>
          <a:p>
            <a:pPr>
              <a:lnSpc>
                <a:spcPct val="107095"/>
              </a:lnSpc>
              <a:spcAft>
                <a:spcPts val="0"/>
              </a:spcAft>
            </a:pPr>
            <a:r>
              <a:rPr sz="700" i="0">
                <a:solidFill>
                  <a:srgbClr val="5C6773"/>
                </a:solidFill>
                <a:latin typeface="Inconsolata"/>
              </a:rPr>
              <a:t>29  </a:t>
            </a:r>
            <a:r>
              <a:rPr sz="700" i="0">
                <a:solidFill>
                  <a:srgbClr val="E6EDF3"/>
                </a:solidFill>
                <a:latin typeface="Inconsolata"/>
              </a:rPr>
              <a:t>        db.execute(</a:t>
            </a:r>
            <a:r>
              <a:rPr sz="700" i="0">
                <a:solidFill>
                  <a:srgbClr val="7FDBCA"/>
                </a:solidFill>
                <a:latin typeface="Inconsolata"/>
              </a:rPr>
              <a:t>ADD_POINTS</a:t>
            </a:r>
            <a:r>
              <a:rPr sz="700" i="0">
                <a:solidFill>
                  <a:srgbClr val="E6EDF3"/>
                </a:solidFill>
                <a:latin typeface="Inconsolata"/>
              </a:rPr>
              <a:t>, (event[</a:t>
            </a:r>
            <a:r>
              <a:rPr sz="700" i="0">
                <a:solidFill>
                  <a:srgbClr val="A5D6A7"/>
                </a:solidFill>
                <a:latin typeface="Inconsolata"/>
              </a:rPr>
              <a:t>"points"</a:t>
            </a:r>
            <a:r>
              <a:rPr sz="700" i="0">
                <a:solidFill>
                  <a:srgbClr val="E6EDF3"/>
                </a:solidFill>
                <a:latin typeface="Inconsolata"/>
              </a:rPr>
              <a:t>], event[</a:t>
            </a:r>
            <a:r>
              <a:rPr sz="700" i="0">
                <a:solidFill>
                  <a:srgbClr val="A5D6A7"/>
                </a:solidFill>
                <a:latin typeface="Inconsolata"/>
              </a:rPr>
              <a:t>"customer"</a:t>
            </a:r>
            <a:r>
              <a:rPr sz="700" i="0">
                <a:solidFill>
                  <a:srgbClr val="E6EDF3"/>
                </a:solidFill>
                <a:latin typeface="Inconsolata"/>
              </a:rPr>
              <a:t>]))</a:t>
            </a:r>
          </a:p>
          <a:p>
            <a:pPr>
              <a:lnSpc>
                <a:spcPct val="107095"/>
              </a:lnSpc>
              <a:spcAft>
                <a:spcPts val="0"/>
              </a:spcAft>
            </a:pPr>
            <a:r>
              <a:rPr sz="700" i="0">
                <a:solidFill>
                  <a:srgbClr val="5C6773"/>
                </a:solidFill>
                <a:latin typeface="Inconsolata"/>
              </a:rPr>
              <a:t>30  </a:t>
            </a:r>
            <a:r>
              <a:rPr sz="700" i="0">
                <a:solidFill>
                  <a:srgbClr val="E6EDF3"/>
                </a:solidFill>
                <a:latin typeface="Inconsolata"/>
              </a:rPr>
              <a:t>    </a:t>
            </a:r>
            <a:r>
              <a:rPr sz="700" i="0">
                <a:solidFill>
                  <a:srgbClr val="C3A6FF"/>
                </a:solidFill>
                <a:latin typeface="Inconsolata"/>
              </a:rPr>
              <a:t>print</a:t>
            </a:r>
            <a:r>
              <a:rPr sz="700" i="0">
                <a:solidFill>
                  <a:srgbClr val="E6EDF3"/>
                </a:solidFill>
                <a:latin typeface="Inconsolata"/>
              </a:rPr>
              <a:t>(</a:t>
            </a:r>
            <a:r>
              <a:rPr sz="700" i="0">
                <a:solidFill>
                  <a:srgbClr val="A5D6A7"/>
                </a:solidFill>
                <a:latin typeface="Inconsolata"/>
              </a:rPr>
              <a:t>f"  +{event['points']} poin untuk {event['customer']}"</a:t>
            </a:r>
            <a:r>
              <a:rPr sz="700" i="0">
                <a:solidFill>
                  <a:srgbClr val="E6EDF3"/>
                </a:solidFill>
                <a:latin typeface="Inconsolata"/>
              </a:rPr>
              <a:t>)</a:t>
            </a:r>
          </a:p>
          <a:p>
            <a:pPr>
              <a:lnSpc>
                <a:spcPct val="107095"/>
              </a:lnSpc>
              <a:spcAft>
                <a:spcPts val="0"/>
              </a:spcAft>
            </a:pPr>
            <a:r>
              <a:rPr sz="700" i="0">
                <a:solidFill>
                  <a:srgbClr val="5C6773"/>
                </a:solidFill>
                <a:latin typeface="Inconsolata"/>
              </a:rPr>
              <a:t>31  </a:t>
            </a:r>
            <a:r>
              <a:rPr sz="700" i="0">
                <a:solidFill>
                  <a:srgbClr val="E6EDF3"/>
                </a:solidFill>
                <a:latin typeface="Inconsolata"/>
              </a:rPr>
              <a:t> </a:t>
            </a:r>
          </a:p>
          <a:p>
            <a:pPr>
              <a:lnSpc>
                <a:spcPct val="107095"/>
              </a:lnSpc>
              <a:spcAft>
                <a:spcPts val="0"/>
              </a:spcAft>
            </a:pPr>
            <a:r>
              <a:rPr sz="700" i="0">
                <a:solidFill>
                  <a:srgbClr val="5C6773"/>
                </a:solidFill>
                <a:latin typeface="Inconsolata"/>
              </a:rPr>
              <a:t>32  </a:t>
            </a:r>
            <a:r>
              <a:rPr sz="700" i="0">
                <a:solidFill>
                  <a:srgbClr val="E6EDF3"/>
                </a:solidFill>
                <a:latin typeface="Inconsolata"/>
              </a:rPr>
              <a:t> </a:t>
            </a:r>
          </a:p>
          <a:p>
            <a:pPr>
              <a:lnSpc>
                <a:spcPct val="107095"/>
              </a:lnSpc>
              <a:spcAft>
                <a:spcPts val="0"/>
              </a:spcAft>
            </a:pPr>
            <a:r>
              <a:rPr sz="700" i="0">
                <a:solidFill>
                  <a:srgbClr val="5C6773"/>
                </a:solidFill>
                <a:latin typeface="Inconsolata"/>
              </a:rPr>
              <a:t>33  </a:t>
            </a: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run_consumer</a:t>
            </a:r>
            <a:r>
              <a:rPr sz="700" i="0">
                <a:solidFill>
                  <a:srgbClr val="E6EDF3"/>
                </a:solidFill>
                <a:latin typeface="Inconsolata"/>
              </a:rPr>
              <a:t>(crash_before_ack=</a:t>
            </a:r>
            <a:r>
              <a:rPr sz="700" i="0">
                <a:solidFill>
                  <a:srgbClr val="FF8E6E"/>
                </a:solidFill>
                <a:latin typeface="Inconsolata"/>
              </a:rPr>
              <a:t>False</a:t>
            </a:r>
            <a:r>
              <a:rPr sz="700" i="0">
                <a:solidFill>
                  <a:srgbClr val="E6EDF3"/>
                </a:solidFill>
                <a:latin typeface="Inconsolata"/>
              </a:rPr>
              <a:t>):</a:t>
            </a:r>
          </a:p>
          <a:p>
            <a:pPr>
              <a:lnSpc>
                <a:spcPct val="107095"/>
              </a:lnSpc>
              <a:spcAft>
                <a:spcPts val="0"/>
              </a:spcAft>
            </a:pPr>
            <a:r>
              <a:rPr sz="700" i="0">
                <a:solidFill>
                  <a:srgbClr val="5C6773"/>
                </a:solidFill>
                <a:latin typeface="Inconsolata"/>
              </a:rPr>
              <a:t>34  </a:t>
            </a:r>
            <a:r>
              <a:rPr sz="700" i="0">
                <a:solidFill>
                  <a:srgbClr val="E6EDF3"/>
                </a:solidFill>
                <a:latin typeface="Inconsolata"/>
              </a:rPr>
              <a:t>    </a:t>
            </a:r>
            <a:r>
              <a:rPr sz="700" i="0">
                <a:solidFill>
                  <a:srgbClr val="FF8E6E"/>
                </a:solidFill>
                <a:latin typeface="Inconsolata"/>
              </a:rPr>
              <a:t>with</a:t>
            </a:r>
            <a:r>
              <a:rPr sz="700" i="0">
                <a:solidFill>
                  <a:srgbClr val="E6EDF3"/>
                </a:solidFill>
                <a:latin typeface="Inconsolata"/>
              </a:rPr>
              <a:t> pika.</a:t>
            </a:r>
            <a:r>
              <a:rPr sz="700" i="0">
                <a:solidFill>
                  <a:srgbClr val="7FDBCA"/>
                </a:solidFill>
                <a:latin typeface="Inconsolata"/>
              </a:rPr>
              <a:t>BlockingConnection</a:t>
            </a:r>
            <a:r>
              <a:rPr sz="700" i="0">
                <a:solidFill>
                  <a:srgbClr val="E6EDF3"/>
                </a:solidFill>
                <a:latin typeface="Inconsolata"/>
              </a:rPr>
              <a:t>(pika.</a:t>
            </a:r>
            <a:r>
              <a:rPr sz="700" i="0">
                <a:solidFill>
                  <a:srgbClr val="7FDBCA"/>
                </a:solidFill>
                <a:latin typeface="Inconsolata"/>
              </a:rPr>
              <a:t>URLParameters</a:t>
            </a:r>
            <a:r>
              <a:rPr sz="700" i="0">
                <a:solidFill>
                  <a:srgbClr val="E6EDF3"/>
                </a:solidFill>
                <a:latin typeface="Inconsolata"/>
              </a:rPr>
              <a:t>(</a:t>
            </a:r>
            <a:r>
              <a:rPr sz="700" i="0">
                <a:solidFill>
                  <a:srgbClr val="7FDBCA"/>
                </a:solidFill>
                <a:latin typeface="Inconsolata"/>
              </a:rPr>
              <a:t>URL</a:t>
            </a:r>
            <a:r>
              <a:rPr sz="700" i="0">
                <a:solidFill>
                  <a:srgbClr val="E6EDF3"/>
                </a:solidFill>
                <a:latin typeface="Inconsolata"/>
              </a:rPr>
              <a:t>)) </a:t>
            </a:r>
            <a:r>
              <a:rPr sz="700" i="0">
                <a:solidFill>
                  <a:srgbClr val="FF8E6E"/>
                </a:solidFill>
                <a:latin typeface="Inconsolata"/>
              </a:rPr>
              <a:t>as</a:t>
            </a:r>
            <a:r>
              <a:rPr sz="700" i="0">
                <a:solidFill>
                  <a:srgbClr val="E6EDF3"/>
                </a:solidFill>
                <a:latin typeface="Inconsolata"/>
              </a:rPr>
              <a:t> conn:</a:t>
            </a:r>
          </a:p>
          <a:p>
            <a:pPr>
              <a:lnSpc>
                <a:spcPct val="107095"/>
              </a:lnSpc>
              <a:spcAft>
                <a:spcPts val="0"/>
              </a:spcAft>
            </a:pPr>
            <a:r>
              <a:rPr sz="700" i="0">
                <a:solidFill>
                  <a:srgbClr val="5C6773"/>
                </a:solidFill>
                <a:latin typeface="Inconsolata"/>
              </a:rPr>
              <a:t>35  </a:t>
            </a:r>
            <a:r>
              <a:rPr sz="700" i="0">
                <a:solidFill>
                  <a:srgbClr val="E6EDF3"/>
                </a:solidFill>
                <a:latin typeface="Inconsolata"/>
              </a:rPr>
              <a:t>        channel = conn.channel()</a:t>
            </a:r>
          </a:p>
          <a:p>
            <a:pPr>
              <a:lnSpc>
                <a:spcPct val="107095"/>
              </a:lnSpc>
              <a:spcAft>
                <a:spcPts val="0"/>
              </a:spcAft>
            </a:pPr>
            <a:r>
              <a:rPr sz="700" i="0">
                <a:solidFill>
                  <a:srgbClr val="5C6773"/>
                </a:solidFill>
                <a:latin typeface="Inconsolata"/>
              </a:rPr>
              <a:t>36  </a:t>
            </a:r>
            <a:r>
              <a:rPr sz="700" i="0">
                <a:solidFill>
                  <a:srgbClr val="E6EDF3"/>
                </a:solidFill>
                <a:latin typeface="Inconsolata"/>
              </a:rPr>
              <a:t>        </a:t>
            </a:r>
            <a:r>
              <a:rPr sz="700" i="0">
                <a:solidFill>
                  <a:srgbClr val="FF8E6E"/>
                </a:solidFill>
                <a:latin typeface="Inconsolata"/>
              </a:rPr>
              <a:t>for</a:t>
            </a:r>
            <a:r>
              <a:rPr sz="700" i="0">
                <a:solidFill>
                  <a:srgbClr val="E6EDF3"/>
                </a:solidFill>
                <a:latin typeface="Inconsolata"/>
              </a:rPr>
              <a:t> method, properties, body </a:t>
            </a:r>
            <a:r>
              <a:rPr sz="700" i="0">
                <a:solidFill>
                  <a:srgbClr val="FF8E6E"/>
                </a:solidFill>
                <a:latin typeface="Inconsolata"/>
              </a:rPr>
              <a:t>in</a:t>
            </a:r>
            <a:r>
              <a:rPr sz="700" i="0">
                <a:solidFill>
                  <a:srgbClr val="E6EDF3"/>
                </a:solidFill>
                <a:latin typeface="Inconsolata"/>
              </a:rPr>
              <a:t> channel.consume(</a:t>
            </a:r>
          </a:p>
          <a:p>
            <a:pPr>
              <a:lnSpc>
                <a:spcPct val="107095"/>
              </a:lnSpc>
              <a:spcAft>
                <a:spcPts val="0"/>
              </a:spcAft>
            </a:pPr>
            <a:r>
              <a:rPr sz="700" i="0">
                <a:solidFill>
                  <a:srgbClr val="5C6773"/>
                </a:solidFill>
                <a:latin typeface="Inconsolata"/>
              </a:rPr>
              <a:t>37  </a:t>
            </a:r>
            <a:r>
              <a:rPr sz="700" i="0">
                <a:solidFill>
                  <a:srgbClr val="E6EDF3"/>
                </a:solidFill>
                <a:latin typeface="Inconsolata"/>
              </a:rPr>
              <a:t>                </a:t>
            </a:r>
            <a:r>
              <a:rPr sz="700" i="0">
                <a:solidFill>
                  <a:srgbClr val="A5D6A7"/>
                </a:solidFill>
                <a:latin typeface="Inconsolata"/>
              </a:rPr>
              <a:t>"points"</a:t>
            </a:r>
            <a:r>
              <a:rPr sz="700" i="0">
                <a:solidFill>
                  <a:srgbClr val="E6EDF3"/>
                </a:solidFill>
                <a:latin typeface="Inconsolata"/>
              </a:rPr>
              <a:t>, inactivity_timeout=</a:t>
            </a:r>
            <a:r>
              <a:rPr sz="700" i="0">
                <a:solidFill>
                  <a:srgbClr val="F9C97A"/>
                </a:solidFill>
                <a:latin typeface="Inconsolata"/>
              </a:rPr>
              <a:t>1</a:t>
            </a:r>
            <a:r>
              <a:rPr sz="700" i="0">
                <a:solidFill>
                  <a:srgbClr val="E6EDF3"/>
                </a:solidFill>
                <a:latin typeface="Inconsolata"/>
              </a:rPr>
              <a:t>):</a:t>
            </a:r>
          </a:p>
          <a:p>
            <a:pPr>
              <a:lnSpc>
                <a:spcPct val="107095"/>
              </a:lnSpc>
              <a:spcAft>
                <a:spcPts val="0"/>
              </a:spcAft>
            </a:pPr>
            <a:r>
              <a:rPr sz="700" i="0">
                <a:solidFill>
                  <a:srgbClr val="5C6773"/>
                </a:solidFill>
                <a:latin typeface="Inconsolata"/>
              </a:rPr>
              <a:t>38  </a:t>
            </a:r>
            <a:r>
              <a:rPr sz="700" i="0">
                <a:solidFill>
                  <a:srgbClr val="E6EDF3"/>
                </a:solidFill>
                <a:latin typeface="Inconsolata"/>
              </a:rPr>
              <a:t>            </a:t>
            </a:r>
            <a:r>
              <a:rPr sz="700" i="0">
                <a:solidFill>
                  <a:srgbClr val="FF8E6E"/>
                </a:solidFill>
                <a:latin typeface="Inconsolata"/>
              </a:rPr>
              <a:t>if</a:t>
            </a:r>
            <a:r>
              <a:rPr sz="700" i="0">
                <a:solidFill>
                  <a:srgbClr val="E6EDF3"/>
                </a:solidFill>
                <a:latin typeface="Inconsolata"/>
              </a:rPr>
              <a:t> method </a:t>
            </a:r>
            <a:r>
              <a:rPr sz="700" i="0">
                <a:solidFill>
                  <a:srgbClr val="FF8E6E"/>
                </a:solidFill>
                <a:latin typeface="Inconsolata"/>
              </a:rPr>
              <a:t>is</a:t>
            </a:r>
            <a:r>
              <a:rPr sz="700" i="0">
                <a:solidFill>
                  <a:srgbClr val="E6EDF3"/>
                </a:solidFill>
                <a:latin typeface="Inconsolata"/>
              </a:rPr>
              <a:t> </a:t>
            </a:r>
            <a:r>
              <a:rPr sz="700" i="0">
                <a:solidFill>
                  <a:srgbClr val="FF8E6E"/>
                </a:solidFill>
                <a:latin typeface="Inconsolata"/>
              </a:rPr>
              <a:t>None</a:t>
            </a:r>
            <a:r>
              <a:rPr sz="700" i="0">
                <a:solidFill>
                  <a:srgbClr val="E6EDF3"/>
                </a:solidFill>
                <a:latin typeface="Inconsolata"/>
              </a:rPr>
              <a:t>:</a:t>
            </a:r>
          </a:p>
          <a:p>
            <a:pPr>
              <a:lnSpc>
                <a:spcPct val="107095"/>
              </a:lnSpc>
              <a:spcAft>
                <a:spcPts val="0"/>
              </a:spcAft>
            </a:pPr>
            <a:r>
              <a:rPr sz="700" i="0">
                <a:solidFill>
                  <a:srgbClr val="5C6773"/>
                </a:solidFill>
                <a:latin typeface="Inconsolata"/>
              </a:rPr>
              <a:t>39  </a:t>
            </a:r>
            <a:r>
              <a:rPr sz="700" i="0">
                <a:solidFill>
                  <a:srgbClr val="E6EDF3"/>
                </a:solidFill>
                <a:latin typeface="Inconsolata"/>
              </a:rPr>
              <a:t>                </a:t>
            </a:r>
            <a:r>
              <a:rPr sz="700" i="0">
                <a:solidFill>
                  <a:srgbClr val="FF8E6E"/>
                </a:solidFill>
                <a:latin typeface="Inconsolata"/>
              </a:rPr>
              <a:t>break</a:t>
            </a:r>
          </a:p>
          <a:p>
            <a:pPr>
              <a:lnSpc>
                <a:spcPct val="107095"/>
              </a:lnSpc>
              <a:spcAft>
                <a:spcPts val="0"/>
              </a:spcAft>
            </a:pPr>
            <a:r>
              <a:rPr sz="700" i="0">
                <a:solidFill>
                  <a:srgbClr val="5C6773"/>
                </a:solidFill>
                <a:latin typeface="Inconsolata"/>
              </a:rPr>
              <a:t>40  </a:t>
            </a:r>
            <a:r>
              <a:rPr sz="700" i="0">
                <a:solidFill>
                  <a:srgbClr val="E6EDF3"/>
                </a:solidFill>
                <a:latin typeface="Inconsolata"/>
              </a:rPr>
              <a:t>            add_points(json.loads(body))</a:t>
            </a:r>
          </a:p>
          <a:p>
            <a:pPr>
              <a:lnSpc>
                <a:spcPct val="107095"/>
              </a:lnSpc>
              <a:spcAft>
                <a:spcPts val="0"/>
              </a:spcAft>
            </a:pPr>
            <a:r>
              <a:rPr sz="700" i="0">
                <a:solidFill>
                  <a:srgbClr val="5C6773"/>
                </a:solidFill>
                <a:latin typeface="Inconsolata"/>
              </a:rPr>
              <a:t>41  </a:t>
            </a:r>
            <a:r>
              <a:rPr sz="700" i="0">
                <a:solidFill>
                  <a:srgbClr val="E6EDF3"/>
                </a:solidFill>
                <a:latin typeface="Inconsolata"/>
              </a:rPr>
              <a:t>            </a:t>
            </a:r>
            <a:r>
              <a:rPr sz="700" i="0">
                <a:solidFill>
                  <a:srgbClr val="FF8E6E"/>
                </a:solidFill>
                <a:latin typeface="Inconsolata"/>
              </a:rPr>
              <a:t>if</a:t>
            </a:r>
            <a:r>
              <a:rPr sz="700" i="0">
                <a:solidFill>
                  <a:srgbClr val="E6EDF3"/>
                </a:solidFill>
                <a:latin typeface="Inconsolata"/>
              </a:rPr>
              <a:t> crash_before_ack:</a:t>
            </a:r>
          </a:p>
          <a:p>
            <a:pPr>
              <a:lnSpc>
                <a:spcPct val="107095"/>
              </a:lnSpc>
              <a:spcAft>
                <a:spcPts val="0"/>
              </a:spcAft>
            </a:pPr>
            <a:r>
              <a:rPr sz="700" i="0">
                <a:solidFill>
                  <a:srgbClr val="5C6773"/>
                </a:solidFill>
                <a:latin typeface="Inconsolata"/>
              </a:rPr>
              <a:t>42  </a:t>
            </a:r>
            <a:r>
              <a:rPr sz="700" i="0">
                <a:solidFill>
                  <a:srgbClr val="E6EDF3"/>
                </a:solidFill>
                <a:latin typeface="Inconsolata"/>
              </a:rPr>
              <a:t>                </a:t>
            </a:r>
            <a:r>
              <a:rPr sz="700" i="0">
                <a:solidFill>
                  <a:srgbClr val="FF8E6E"/>
                </a:solidFill>
                <a:latin typeface="Inconsolata"/>
              </a:rPr>
              <a:t>raise</a:t>
            </a:r>
            <a:r>
              <a:rPr sz="700" i="0">
                <a:solidFill>
                  <a:srgbClr val="E6EDF3"/>
                </a:solidFill>
                <a:latin typeface="Inconsolata"/>
              </a:rPr>
              <a:t> </a:t>
            </a:r>
            <a:r>
              <a:rPr sz="700" i="0">
                <a:solidFill>
                  <a:srgbClr val="7FDBCA"/>
                </a:solidFill>
                <a:latin typeface="Inconsolata"/>
              </a:rPr>
              <a:t>RuntimeError</a:t>
            </a:r>
            <a:r>
              <a:rPr sz="700" i="0">
                <a:solidFill>
                  <a:srgbClr val="E6EDF3"/>
                </a:solidFill>
                <a:latin typeface="Inconsolata"/>
              </a:rPr>
              <a:t>(</a:t>
            </a:r>
            <a:r>
              <a:rPr sz="700" i="0">
                <a:solidFill>
                  <a:srgbClr val="A5D6A7"/>
                </a:solidFill>
                <a:latin typeface="Inconsolata"/>
              </a:rPr>
              <a:t>"worker crash sebelum ack"</a:t>
            </a:r>
            <a:r>
              <a:rPr sz="700" i="0">
                <a:solidFill>
                  <a:srgbClr val="E6EDF3"/>
                </a:solidFill>
                <a:latin typeface="Inconsolata"/>
              </a:rPr>
              <a:t>)</a:t>
            </a:r>
          </a:p>
          <a:p>
            <a:pPr>
              <a:lnSpc>
                <a:spcPct val="107095"/>
              </a:lnSpc>
              <a:spcAft>
                <a:spcPts val="0"/>
              </a:spcAft>
            </a:pPr>
            <a:r>
              <a:rPr sz="700" i="0">
                <a:solidFill>
                  <a:srgbClr val="5C6773"/>
                </a:solidFill>
                <a:latin typeface="Inconsolata"/>
              </a:rPr>
              <a:t>43  </a:t>
            </a:r>
            <a:r>
              <a:rPr sz="700" i="0">
                <a:solidFill>
                  <a:srgbClr val="E6EDF3"/>
                </a:solidFill>
                <a:latin typeface="Inconsolata"/>
              </a:rPr>
              <a:t>            channel.basic_ack(method.delivery_tag)</a:t>
            </a:r>
          </a:p>
        </p:txBody>
      </p:sp>
      <p:sp>
        <p:nvSpPr>
          <p:cNvPr id="36" name="Box 21"/>
          <p:cNvSpPr/>
          <p:nvPr/>
        </p:nvSpPr>
        <p:spPr>
          <a:xfrm>
            <a:off x="4709159" y="1825371"/>
            <a:ext cx="3694176" cy="336042"/>
          </a:xfrm>
          <a:prstGeom prst="roundRect">
            <a:avLst>
              <a:gd name="adj" fmla="val 13605"/>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8284463" y="18745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3425571"/>
            <a:ext cx="3694176" cy="221742"/>
          </a:xfrm>
          <a:prstGeom prst="roundRect">
            <a:avLst>
              <a:gd name="adj" fmla="val 20618"/>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341757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Idempotent Consumer</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poin ditambah dua kali (2/2)</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05-idempotent-consumer/before.py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2868"/>
              </a:lnSpc>
              <a:spcAft>
                <a:spcPts val="0"/>
              </a:spcAft>
            </a:pPr>
            <a:r>
              <a:rPr sz="729" i="0">
                <a:solidFill>
                  <a:srgbClr val="5C6773"/>
                </a:solidFill>
                <a:latin typeface="Inconsolata"/>
              </a:rPr>
              <a:t>46  </a:t>
            </a:r>
            <a:r>
              <a:rPr sz="729" i="0">
                <a:solidFill>
                  <a:srgbClr val="FF8E6E"/>
                </a:solidFill>
                <a:latin typeface="Inconsolata"/>
              </a:rPr>
              <a:t>def</a:t>
            </a:r>
            <a:r>
              <a:rPr sz="729" i="0">
                <a:solidFill>
                  <a:srgbClr val="E6EDF3"/>
                </a:solidFill>
                <a:latin typeface="Inconsolata"/>
              </a:rPr>
              <a:t> </a:t>
            </a:r>
            <a:r>
              <a:rPr sz="729" i="0">
                <a:solidFill>
                  <a:srgbClr val="82B1FF"/>
                </a:solidFill>
                <a:latin typeface="Inconsolata"/>
              </a:rPr>
              <a:t>publish_event</a:t>
            </a:r>
            <a:r>
              <a:rPr sz="729" i="0">
                <a:solidFill>
                  <a:srgbClr val="E6EDF3"/>
                </a:solidFill>
                <a:latin typeface="Inconsolata"/>
              </a:rPr>
              <a:t>():</a:t>
            </a:r>
          </a:p>
          <a:p>
            <a:pPr>
              <a:lnSpc>
                <a:spcPct val="102868"/>
              </a:lnSpc>
              <a:spcAft>
                <a:spcPts val="0"/>
              </a:spcAft>
            </a:pPr>
            <a:r>
              <a:rPr sz="729" i="0">
                <a:solidFill>
                  <a:srgbClr val="5C6773"/>
                </a:solidFill>
                <a:latin typeface="Inconsolata"/>
              </a:rPr>
              <a:t>47  </a:t>
            </a:r>
            <a:r>
              <a:rPr sz="729" i="0">
                <a:solidFill>
                  <a:srgbClr val="E6EDF3"/>
                </a:solidFill>
                <a:latin typeface="Inconsolata"/>
              </a:rPr>
              <a:t>    </a:t>
            </a:r>
            <a:r>
              <a:rPr sz="729" i="0">
                <a:solidFill>
                  <a:srgbClr val="FF8E6E"/>
                </a:solidFill>
                <a:latin typeface="Inconsolata"/>
              </a:rPr>
              <a:t>with</a:t>
            </a:r>
            <a:r>
              <a:rPr sz="729" i="0">
                <a:solidFill>
                  <a:srgbClr val="E6EDF3"/>
                </a:solidFill>
                <a:latin typeface="Inconsolata"/>
              </a:rPr>
              <a:t> pika.</a:t>
            </a:r>
            <a:r>
              <a:rPr sz="729" i="0">
                <a:solidFill>
                  <a:srgbClr val="7FDBCA"/>
                </a:solidFill>
                <a:latin typeface="Inconsolata"/>
              </a:rPr>
              <a:t>BlockingConnection</a:t>
            </a:r>
            <a:r>
              <a:rPr sz="729" i="0">
                <a:solidFill>
                  <a:srgbClr val="E6EDF3"/>
                </a:solidFill>
                <a:latin typeface="Inconsolata"/>
              </a:rPr>
              <a:t>(pika.</a:t>
            </a:r>
            <a:r>
              <a:rPr sz="729" i="0">
                <a:solidFill>
                  <a:srgbClr val="7FDBCA"/>
                </a:solidFill>
                <a:latin typeface="Inconsolata"/>
              </a:rPr>
              <a:t>URLParameters</a:t>
            </a:r>
            <a:r>
              <a:rPr sz="729" i="0">
                <a:solidFill>
                  <a:srgbClr val="E6EDF3"/>
                </a:solidFill>
                <a:latin typeface="Inconsolata"/>
              </a:rPr>
              <a:t>(</a:t>
            </a:r>
            <a:r>
              <a:rPr sz="729" i="0">
                <a:solidFill>
                  <a:srgbClr val="7FDBCA"/>
                </a:solidFill>
                <a:latin typeface="Inconsolata"/>
              </a:rPr>
              <a:t>URL</a:t>
            </a:r>
            <a:r>
              <a:rPr sz="729" i="0">
                <a:solidFill>
                  <a:srgbClr val="E6EDF3"/>
                </a:solidFill>
                <a:latin typeface="Inconsolata"/>
              </a:rPr>
              <a:t>)) </a:t>
            </a:r>
            <a:r>
              <a:rPr sz="729" i="0">
                <a:solidFill>
                  <a:srgbClr val="FF8E6E"/>
                </a:solidFill>
                <a:latin typeface="Inconsolata"/>
              </a:rPr>
              <a:t>as</a:t>
            </a:r>
            <a:r>
              <a:rPr sz="729" i="0">
                <a:solidFill>
                  <a:srgbClr val="E6EDF3"/>
                </a:solidFill>
                <a:latin typeface="Inconsolata"/>
              </a:rPr>
              <a:t> conn:</a:t>
            </a:r>
          </a:p>
          <a:p>
            <a:pPr>
              <a:lnSpc>
                <a:spcPct val="102868"/>
              </a:lnSpc>
              <a:spcAft>
                <a:spcPts val="0"/>
              </a:spcAft>
            </a:pPr>
            <a:r>
              <a:rPr sz="729" i="0">
                <a:solidFill>
                  <a:srgbClr val="5C6773"/>
                </a:solidFill>
                <a:latin typeface="Inconsolata"/>
              </a:rPr>
              <a:t>48  </a:t>
            </a:r>
            <a:r>
              <a:rPr sz="729" i="0">
                <a:solidFill>
                  <a:srgbClr val="E6EDF3"/>
                </a:solidFill>
                <a:latin typeface="Inconsolata"/>
              </a:rPr>
              <a:t>        channel = conn.channel()</a:t>
            </a:r>
          </a:p>
          <a:p>
            <a:pPr>
              <a:lnSpc>
                <a:spcPct val="102868"/>
              </a:lnSpc>
              <a:spcAft>
                <a:spcPts val="0"/>
              </a:spcAft>
            </a:pPr>
            <a:r>
              <a:rPr sz="729" i="0">
                <a:solidFill>
                  <a:srgbClr val="5C6773"/>
                </a:solidFill>
                <a:latin typeface="Inconsolata"/>
              </a:rPr>
              <a:t>49  </a:t>
            </a:r>
            <a:r>
              <a:rPr sz="729" i="0">
                <a:solidFill>
                  <a:srgbClr val="E6EDF3"/>
                </a:solidFill>
                <a:latin typeface="Inconsolata"/>
              </a:rPr>
              <a:t>        channel.confirm_delivery()</a:t>
            </a:r>
          </a:p>
          <a:p>
            <a:pPr>
              <a:lnSpc>
                <a:spcPct val="102868"/>
              </a:lnSpc>
              <a:spcAft>
                <a:spcPts val="0"/>
              </a:spcAft>
            </a:pPr>
            <a:r>
              <a:rPr sz="729" i="0">
                <a:solidFill>
                  <a:srgbClr val="5C6773"/>
                </a:solidFill>
                <a:latin typeface="Inconsolata"/>
              </a:rPr>
              <a:t>50  </a:t>
            </a:r>
            <a:r>
              <a:rPr sz="729" i="0">
                <a:solidFill>
                  <a:srgbClr val="E6EDF3"/>
                </a:solidFill>
                <a:latin typeface="Inconsolata"/>
              </a:rPr>
              <a:t>        channel.queue_delete(</a:t>
            </a:r>
            <a:r>
              <a:rPr sz="729" i="0">
                <a:solidFill>
                  <a:srgbClr val="A5D6A7"/>
                </a:solidFill>
                <a:latin typeface="Inconsolata"/>
              </a:rPr>
              <a:t>"points"</a:t>
            </a:r>
            <a:r>
              <a:rPr sz="729" i="0">
                <a:solidFill>
                  <a:srgbClr val="E6EDF3"/>
                </a:solidFill>
                <a:latin typeface="Inconsolata"/>
              </a:rPr>
              <a:t>)</a:t>
            </a:r>
          </a:p>
          <a:p>
            <a:pPr>
              <a:lnSpc>
                <a:spcPct val="102868"/>
              </a:lnSpc>
              <a:spcAft>
                <a:spcPts val="0"/>
              </a:spcAft>
            </a:pPr>
            <a:r>
              <a:rPr sz="729" i="0">
                <a:solidFill>
                  <a:srgbClr val="5C6773"/>
                </a:solidFill>
                <a:latin typeface="Inconsolata"/>
              </a:rPr>
              <a:t>51  </a:t>
            </a:r>
            <a:r>
              <a:rPr sz="729" i="0">
                <a:solidFill>
                  <a:srgbClr val="E6EDF3"/>
                </a:solidFill>
                <a:latin typeface="Inconsolata"/>
              </a:rPr>
              <a:t>        channel.queue_declare(</a:t>
            </a:r>
            <a:r>
              <a:rPr sz="729" i="0">
                <a:solidFill>
                  <a:srgbClr val="A5D6A7"/>
                </a:solidFill>
                <a:latin typeface="Inconsolata"/>
              </a:rPr>
              <a:t>"points"</a:t>
            </a:r>
            <a:r>
              <a:rPr sz="729" i="0">
                <a:solidFill>
                  <a:srgbClr val="E6EDF3"/>
                </a:solidFill>
                <a:latin typeface="Inconsolata"/>
              </a:rPr>
              <a:t>, durable=</a:t>
            </a:r>
            <a:r>
              <a:rPr sz="729" i="0">
                <a:solidFill>
                  <a:srgbClr val="FF8E6E"/>
                </a:solidFill>
                <a:latin typeface="Inconsolata"/>
              </a:rPr>
              <a:t>True</a:t>
            </a:r>
            <a:r>
              <a:rPr sz="729" i="0">
                <a:solidFill>
                  <a:srgbClr val="E6EDF3"/>
                </a:solidFill>
                <a:latin typeface="Inconsolata"/>
              </a:rPr>
              <a:t>)</a:t>
            </a:r>
          </a:p>
          <a:p>
            <a:pPr>
              <a:lnSpc>
                <a:spcPct val="102868"/>
              </a:lnSpc>
              <a:spcAft>
                <a:spcPts val="0"/>
              </a:spcAft>
            </a:pPr>
            <a:r>
              <a:rPr sz="729" i="0">
                <a:solidFill>
                  <a:srgbClr val="5C6773"/>
                </a:solidFill>
                <a:latin typeface="Inconsolata"/>
              </a:rPr>
              <a:t>52  </a:t>
            </a:r>
            <a:r>
              <a:rPr sz="729" i="0">
                <a:solidFill>
                  <a:srgbClr val="E6EDF3"/>
                </a:solidFill>
                <a:latin typeface="Inconsolata"/>
              </a:rPr>
              <a:t>        event = {</a:t>
            </a:r>
            <a:r>
              <a:rPr sz="729" i="0">
                <a:solidFill>
                  <a:srgbClr val="A5D6A7"/>
                </a:solidFill>
                <a:latin typeface="Inconsolata"/>
              </a:rPr>
              <a:t>"event_id"</a:t>
            </a:r>
            <a:r>
              <a:rPr sz="729" i="0">
                <a:solidFill>
                  <a:srgbClr val="E6EDF3"/>
                </a:solidFill>
                <a:latin typeface="Inconsolata"/>
              </a:rPr>
              <a:t>: </a:t>
            </a:r>
            <a:r>
              <a:rPr sz="729" i="0">
                <a:solidFill>
                  <a:srgbClr val="C3A6FF"/>
                </a:solidFill>
                <a:latin typeface="Inconsolata"/>
              </a:rPr>
              <a:t>str</a:t>
            </a:r>
            <a:r>
              <a:rPr sz="729" i="0">
                <a:solidFill>
                  <a:srgbClr val="E6EDF3"/>
                </a:solidFill>
                <a:latin typeface="Inconsolata"/>
              </a:rPr>
              <a:t>(uuid.uuid4()), </a:t>
            </a:r>
            <a:r>
              <a:rPr sz="729" i="0">
                <a:solidFill>
                  <a:srgbClr val="A5D6A7"/>
                </a:solidFill>
                <a:latin typeface="Inconsolata"/>
              </a:rPr>
              <a:t>"type"</a:t>
            </a:r>
            <a:r>
              <a:rPr sz="729" i="0">
                <a:solidFill>
                  <a:srgbClr val="E6EDF3"/>
                </a:solidFill>
                <a:latin typeface="Inconsolata"/>
              </a:rPr>
              <a:t>: </a:t>
            </a:r>
            <a:r>
              <a:rPr sz="729" i="0">
                <a:solidFill>
                  <a:srgbClr val="A5D6A7"/>
                </a:solidFill>
                <a:latin typeface="Inconsolata"/>
              </a:rPr>
              <a:t>"order.paid"</a:t>
            </a:r>
            <a:r>
              <a:rPr sz="729" i="0">
                <a:solidFill>
                  <a:srgbClr val="E6EDF3"/>
                </a:solidFill>
                <a:latin typeface="Inconsolata"/>
              </a:rPr>
              <a:t>,</a:t>
            </a:r>
          </a:p>
          <a:p>
            <a:pPr>
              <a:lnSpc>
                <a:spcPct val="102868"/>
              </a:lnSpc>
              <a:spcAft>
                <a:spcPts val="0"/>
              </a:spcAft>
            </a:pPr>
            <a:r>
              <a:rPr sz="729" i="0">
                <a:solidFill>
                  <a:srgbClr val="5C6773"/>
                </a:solidFill>
                <a:latin typeface="Inconsolata"/>
              </a:rPr>
              <a:t>53  </a:t>
            </a:r>
            <a:r>
              <a:rPr sz="729" i="0">
                <a:solidFill>
                  <a:srgbClr val="E6EDF3"/>
                </a:solidFill>
                <a:latin typeface="Inconsolata"/>
              </a:rPr>
              <a:t>                 </a:t>
            </a:r>
            <a:r>
              <a:rPr sz="729" i="0">
                <a:solidFill>
                  <a:srgbClr val="A5D6A7"/>
                </a:solidFill>
                <a:latin typeface="Inconsolata"/>
              </a:rPr>
              <a:t>"order_id"</a:t>
            </a:r>
            <a:r>
              <a:rPr sz="729" i="0">
                <a:solidFill>
                  <a:srgbClr val="E6EDF3"/>
                </a:solidFill>
                <a:latin typeface="Inconsolata"/>
              </a:rPr>
              <a:t>: </a:t>
            </a:r>
            <a:r>
              <a:rPr sz="729" i="0">
                <a:solidFill>
                  <a:srgbClr val="F9C97A"/>
                </a:solidFill>
                <a:latin typeface="Inconsolata"/>
              </a:rPr>
              <a:t>1</a:t>
            </a:r>
            <a:r>
              <a:rPr sz="729" i="0">
                <a:solidFill>
                  <a:srgbClr val="E6EDF3"/>
                </a:solidFill>
                <a:latin typeface="Inconsolata"/>
              </a:rPr>
              <a:t>, </a:t>
            </a:r>
            <a:r>
              <a:rPr sz="729" i="0">
                <a:solidFill>
                  <a:srgbClr val="A5D6A7"/>
                </a:solidFill>
                <a:latin typeface="Inconsolata"/>
              </a:rPr>
              <a:t>"customer"</a:t>
            </a:r>
            <a:r>
              <a:rPr sz="729" i="0">
                <a:solidFill>
                  <a:srgbClr val="E6EDF3"/>
                </a:solidFill>
                <a:latin typeface="Inconsolata"/>
              </a:rPr>
              <a:t>: </a:t>
            </a:r>
            <a:r>
              <a:rPr sz="729" i="0">
                <a:solidFill>
                  <a:srgbClr val="A5D6A7"/>
                </a:solidFill>
                <a:latin typeface="Inconsolata"/>
              </a:rPr>
              <a:t>"budi@mail.com"</a:t>
            </a:r>
            <a:r>
              <a:rPr sz="729" i="0">
                <a:solidFill>
                  <a:srgbClr val="E6EDF3"/>
                </a:solidFill>
                <a:latin typeface="Inconsolata"/>
              </a:rPr>
              <a:t>,</a:t>
            </a:r>
          </a:p>
          <a:p>
            <a:pPr>
              <a:lnSpc>
                <a:spcPct val="102868"/>
              </a:lnSpc>
              <a:spcAft>
                <a:spcPts val="0"/>
              </a:spcAft>
            </a:pPr>
            <a:r>
              <a:rPr sz="729" i="0">
                <a:solidFill>
                  <a:srgbClr val="5C6773"/>
                </a:solidFill>
                <a:latin typeface="Inconsolata"/>
              </a:rPr>
              <a:t>54  </a:t>
            </a:r>
            <a:r>
              <a:rPr sz="729" i="0">
                <a:solidFill>
                  <a:srgbClr val="E6EDF3"/>
                </a:solidFill>
                <a:latin typeface="Inconsolata"/>
              </a:rPr>
              <a:t>                 </a:t>
            </a:r>
            <a:r>
              <a:rPr sz="729" i="0">
                <a:solidFill>
                  <a:srgbClr val="A5D6A7"/>
                </a:solidFill>
                <a:latin typeface="Inconsolata"/>
              </a:rPr>
              <a:t>"points"</a:t>
            </a:r>
            <a:r>
              <a:rPr sz="729" i="0">
                <a:solidFill>
                  <a:srgbClr val="E6EDF3"/>
                </a:solidFill>
                <a:latin typeface="Inconsolata"/>
              </a:rPr>
              <a:t>: </a:t>
            </a:r>
            <a:r>
              <a:rPr sz="729" i="0">
                <a:solidFill>
                  <a:srgbClr val="F9C97A"/>
                </a:solidFill>
                <a:latin typeface="Inconsolata"/>
              </a:rPr>
              <a:t>90</a:t>
            </a:r>
            <a:r>
              <a:rPr sz="729" i="0">
                <a:solidFill>
                  <a:srgbClr val="E6EDF3"/>
                </a:solidFill>
                <a:latin typeface="Inconsolata"/>
              </a:rPr>
              <a:t>}</a:t>
            </a:r>
          </a:p>
          <a:p>
            <a:pPr>
              <a:lnSpc>
                <a:spcPct val="102868"/>
              </a:lnSpc>
              <a:spcAft>
                <a:spcPts val="0"/>
              </a:spcAft>
            </a:pPr>
            <a:r>
              <a:rPr sz="729" i="0">
                <a:solidFill>
                  <a:srgbClr val="5C6773"/>
                </a:solidFill>
                <a:latin typeface="Inconsolata"/>
              </a:rPr>
              <a:t>55  </a:t>
            </a:r>
            <a:r>
              <a:rPr sz="729" i="0">
                <a:solidFill>
                  <a:srgbClr val="E6EDF3"/>
                </a:solidFill>
                <a:latin typeface="Inconsolata"/>
              </a:rPr>
              <a:t>        channel.basic_publish(</a:t>
            </a:r>
            <a:r>
              <a:rPr sz="729" i="0">
                <a:solidFill>
                  <a:srgbClr val="A5D6A7"/>
                </a:solidFill>
                <a:latin typeface="Inconsolata"/>
              </a:rPr>
              <a:t>""</a:t>
            </a:r>
            <a:r>
              <a:rPr sz="729" i="0">
                <a:solidFill>
                  <a:srgbClr val="E6EDF3"/>
                </a:solidFill>
                <a:latin typeface="Inconsolata"/>
              </a:rPr>
              <a:t>, </a:t>
            </a:r>
            <a:r>
              <a:rPr sz="729" i="0">
                <a:solidFill>
                  <a:srgbClr val="A5D6A7"/>
                </a:solidFill>
                <a:latin typeface="Inconsolata"/>
              </a:rPr>
              <a:t>"points"</a:t>
            </a:r>
            <a:r>
              <a:rPr sz="729" i="0">
                <a:solidFill>
                  <a:srgbClr val="E6EDF3"/>
                </a:solidFill>
                <a:latin typeface="Inconsolata"/>
              </a:rPr>
              <a:t>, json.dumps(event))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05-idempotent-consumer/before.py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2868"/>
              </a:lnSpc>
              <a:spcAft>
                <a:spcPts val="0"/>
              </a:spcAft>
            </a:pPr>
            <a:r>
              <a:rPr sz="729" i="0">
                <a:solidFill>
                  <a:srgbClr val="5C6773"/>
                </a:solidFill>
                <a:latin typeface="Inconsolata"/>
              </a:rPr>
              <a:t>58  </a:t>
            </a:r>
            <a:r>
              <a:rPr sz="729" i="0">
                <a:solidFill>
                  <a:srgbClr val="FF8E6E"/>
                </a:solidFill>
                <a:latin typeface="Inconsolata"/>
              </a:rPr>
              <a:t>if</a:t>
            </a:r>
            <a:r>
              <a:rPr sz="729" i="0">
                <a:solidFill>
                  <a:srgbClr val="E6EDF3"/>
                </a:solidFill>
                <a:latin typeface="Inconsolata"/>
              </a:rPr>
              <a:t> __name__ == </a:t>
            </a:r>
            <a:r>
              <a:rPr sz="729" i="0">
                <a:solidFill>
                  <a:srgbClr val="A5D6A7"/>
                </a:solidFill>
                <a:latin typeface="Inconsolata"/>
              </a:rPr>
              <a:t>"__main__"</a:t>
            </a:r>
            <a:r>
              <a:rPr sz="729" i="0">
                <a:solidFill>
                  <a:srgbClr val="E6EDF3"/>
                </a:solidFill>
                <a:latin typeface="Inconsolata"/>
              </a:rPr>
              <a:t>:</a:t>
            </a:r>
          </a:p>
          <a:p>
            <a:pPr>
              <a:lnSpc>
                <a:spcPct val="102868"/>
              </a:lnSpc>
              <a:spcAft>
                <a:spcPts val="0"/>
              </a:spcAft>
            </a:pPr>
            <a:r>
              <a:rPr sz="729" i="0">
                <a:solidFill>
                  <a:srgbClr val="5C6773"/>
                </a:solidFill>
                <a:latin typeface="Inconsolata"/>
              </a:rPr>
              <a:t>59  </a:t>
            </a:r>
            <a:r>
              <a:rPr sz="729" i="0">
                <a:solidFill>
                  <a:srgbClr val="E6EDF3"/>
                </a:solidFill>
                <a:latin typeface="Inconsolata"/>
              </a:rPr>
              <a:t>    publish_event()</a:t>
            </a:r>
          </a:p>
          <a:p>
            <a:pPr>
              <a:lnSpc>
                <a:spcPct val="102868"/>
              </a:lnSpc>
              <a:spcAft>
                <a:spcPts val="0"/>
              </a:spcAft>
            </a:pPr>
            <a:r>
              <a:rPr sz="729" i="0">
                <a:solidFill>
                  <a:srgbClr val="5C6773"/>
                </a:solidFill>
                <a:latin typeface="Inconsolata"/>
              </a:rPr>
              <a:t>60  </a:t>
            </a:r>
            <a:r>
              <a:rPr sz="729" i="0">
                <a:solidFill>
                  <a:srgbClr val="E6EDF3"/>
                </a:solidFill>
                <a:latin typeface="Inconsolata"/>
              </a:rPr>
              <a:t>    </a:t>
            </a:r>
            <a:r>
              <a:rPr sz="729" i="0">
                <a:solidFill>
                  <a:srgbClr val="FF8E6E"/>
                </a:solidFill>
                <a:latin typeface="Inconsolata"/>
              </a:rPr>
              <a:t>try</a:t>
            </a:r>
            <a:r>
              <a:rPr sz="729" i="0">
                <a:solidFill>
                  <a:srgbClr val="E6EDF3"/>
                </a:solidFill>
                <a:latin typeface="Inconsolata"/>
              </a:rPr>
              <a:t>:</a:t>
            </a:r>
          </a:p>
          <a:p>
            <a:pPr>
              <a:lnSpc>
                <a:spcPct val="102868"/>
              </a:lnSpc>
              <a:spcAft>
                <a:spcPts val="0"/>
              </a:spcAft>
            </a:pPr>
            <a:r>
              <a:rPr sz="729" i="0">
                <a:solidFill>
                  <a:srgbClr val="5C6773"/>
                </a:solidFill>
                <a:latin typeface="Inconsolata"/>
              </a:rPr>
              <a:t>61  </a:t>
            </a:r>
            <a:r>
              <a:rPr sz="729" i="0">
                <a:solidFill>
                  <a:srgbClr val="E6EDF3"/>
                </a:solidFill>
                <a:latin typeface="Inconsolata"/>
              </a:rPr>
              <a:t>        run_consumer(crash_before_ack=</a:t>
            </a:r>
            <a:r>
              <a:rPr sz="729" i="0">
                <a:solidFill>
                  <a:srgbClr val="FF8E6E"/>
                </a:solidFill>
                <a:latin typeface="Inconsolata"/>
              </a:rPr>
              <a:t>True</a:t>
            </a:r>
            <a:r>
              <a:rPr sz="729" i="0">
                <a:solidFill>
                  <a:srgbClr val="E6EDF3"/>
                </a:solidFill>
                <a:latin typeface="Inconsolata"/>
              </a:rPr>
              <a:t>)</a:t>
            </a:r>
          </a:p>
          <a:p>
            <a:pPr>
              <a:lnSpc>
                <a:spcPct val="102868"/>
              </a:lnSpc>
              <a:spcAft>
                <a:spcPts val="0"/>
              </a:spcAft>
            </a:pPr>
            <a:r>
              <a:rPr sz="729" i="0">
                <a:solidFill>
                  <a:srgbClr val="5C6773"/>
                </a:solidFill>
                <a:latin typeface="Inconsolata"/>
              </a:rPr>
              <a:t>62  </a:t>
            </a:r>
            <a:r>
              <a:rPr sz="729" i="0">
                <a:solidFill>
                  <a:srgbClr val="E6EDF3"/>
                </a:solidFill>
                <a:latin typeface="Inconsolata"/>
              </a:rPr>
              <a:t>    </a:t>
            </a:r>
            <a:r>
              <a:rPr sz="729" i="0">
                <a:solidFill>
                  <a:srgbClr val="FF8E6E"/>
                </a:solidFill>
                <a:latin typeface="Inconsolata"/>
              </a:rPr>
              <a:t>except</a:t>
            </a:r>
            <a:r>
              <a:rPr sz="729" i="0">
                <a:solidFill>
                  <a:srgbClr val="E6EDF3"/>
                </a:solidFill>
                <a:latin typeface="Inconsolata"/>
              </a:rPr>
              <a:t> </a:t>
            </a:r>
            <a:r>
              <a:rPr sz="729" i="0">
                <a:solidFill>
                  <a:srgbClr val="7FDBCA"/>
                </a:solidFill>
                <a:latin typeface="Inconsolata"/>
              </a:rPr>
              <a:t>RuntimeError</a:t>
            </a:r>
            <a:r>
              <a:rPr sz="729" i="0">
                <a:solidFill>
                  <a:srgbClr val="E6EDF3"/>
                </a:solidFill>
                <a:latin typeface="Inconsolata"/>
              </a:rPr>
              <a:t> </a:t>
            </a:r>
            <a:r>
              <a:rPr sz="729" i="0">
                <a:solidFill>
                  <a:srgbClr val="FF8E6E"/>
                </a:solidFill>
                <a:latin typeface="Inconsolata"/>
              </a:rPr>
              <a:t>as</a:t>
            </a:r>
            <a:r>
              <a:rPr sz="729" i="0">
                <a:solidFill>
                  <a:srgbClr val="E6EDF3"/>
                </a:solidFill>
                <a:latin typeface="Inconsolata"/>
              </a:rPr>
              <a:t> exc:</a:t>
            </a:r>
          </a:p>
          <a:p>
            <a:pPr>
              <a:lnSpc>
                <a:spcPct val="102868"/>
              </a:lnSpc>
              <a:spcAft>
                <a:spcPts val="0"/>
              </a:spcAft>
            </a:pPr>
            <a:r>
              <a:rPr sz="729" i="0">
                <a:solidFill>
                  <a:srgbClr val="5C6773"/>
                </a:solidFill>
                <a:latin typeface="Inconsolata"/>
              </a:rPr>
              <a:t>63  </a:t>
            </a:r>
            <a:r>
              <a:rPr sz="729" i="0">
                <a:solidFill>
                  <a:srgbClr val="E6EDF3"/>
                </a:solidFill>
                <a:latin typeface="Inconsolata"/>
              </a:rPr>
              <a:t>        </a:t>
            </a:r>
            <a:r>
              <a:rPr sz="729" i="0">
                <a:solidFill>
                  <a:srgbClr val="C3A6FF"/>
                </a:solidFill>
                <a:latin typeface="Inconsolata"/>
              </a:rPr>
              <a:t>print</a:t>
            </a:r>
            <a:r>
              <a:rPr sz="729" i="0">
                <a:solidFill>
                  <a:srgbClr val="E6EDF3"/>
                </a:solidFill>
                <a:latin typeface="Inconsolata"/>
              </a:rPr>
              <a:t>(</a:t>
            </a:r>
            <a:r>
              <a:rPr sz="729" i="0">
                <a:solidFill>
                  <a:srgbClr val="A5D6A7"/>
                </a:solidFill>
                <a:latin typeface="Inconsolata"/>
              </a:rPr>
              <a:t>f"  CRASH: {exc}"</a:t>
            </a:r>
            <a:r>
              <a:rPr sz="729" i="0">
                <a:solidFill>
                  <a:srgbClr val="E6EDF3"/>
                </a:solidFill>
                <a:latin typeface="Inconsolata"/>
              </a:rPr>
              <a:t>)</a:t>
            </a:r>
          </a:p>
          <a:p>
            <a:pPr>
              <a:lnSpc>
                <a:spcPct val="102868"/>
              </a:lnSpc>
              <a:spcAft>
                <a:spcPts val="0"/>
              </a:spcAft>
            </a:pPr>
            <a:r>
              <a:rPr sz="729" i="0">
                <a:solidFill>
                  <a:srgbClr val="5C6773"/>
                </a:solidFill>
                <a:latin typeface="Inconsolata"/>
              </a:rPr>
              <a:t>64  </a:t>
            </a:r>
            <a:r>
              <a:rPr sz="729" i="0">
                <a:solidFill>
                  <a:srgbClr val="E6EDF3"/>
                </a:solidFill>
                <a:latin typeface="Inconsolata"/>
              </a:rPr>
              <a:t>    </a:t>
            </a:r>
            <a:r>
              <a:rPr sz="729" i="0">
                <a:solidFill>
                  <a:srgbClr val="C3A6FF"/>
                </a:solidFill>
                <a:latin typeface="Inconsolata"/>
              </a:rPr>
              <a:t>print</a:t>
            </a:r>
            <a:r>
              <a:rPr sz="729" i="0">
                <a:solidFill>
                  <a:srgbClr val="E6EDF3"/>
                </a:solidFill>
                <a:latin typeface="Inconsolata"/>
              </a:rPr>
              <a:t>(</a:t>
            </a:r>
            <a:r>
              <a:rPr sz="729" i="0">
                <a:solidFill>
                  <a:srgbClr val="A5D6A7"/>
                </a:solidFill>
                <a:latin typeface="Inconsolata"/>
              </a:rPr>
              <a:t>"Consumer dijalankan ulang:"</a:t>
            </a:r>
            <a:r>
              <a:rPr sz="729" i="0">
                <a:solidFill>
                  <a:srgbClr val="E6EDF3"/>
                </a:solidFill>
                <a:latin typeface="Inconsolata"/>
              </a:rPr>
              <a:t>)</a:t>
            </a:r>
          </a:p>
          <a:p>
            <a:pPr>
              <a:lnSpc>
                <a:spcPct val="102868"/>
              </a:lnSpc>
              <a:spcAft>
                <a:spcPts val="0"/>
              </a:spcAft>
            </a:pPr>
            <a:r>
              <a:rPr sz="729" i="0">
                <a:solidFill>
                  <a:srgbClr val="5C6773"/>
                </a:solidFill>
                <a:latin typeface="Inconsolata"/>
              </a:rPr>
              <a:t>65  </a:t>
            </a:r>
            <a:r>
              <a:rPr sz="729" i="0">
                <a:solidFill>
                  <a:srgbClr val="E6EDF3"/>
                </a:solidFill>
                <a:latin typeface="Inconsolata"/>
              </a:rPr>
              <a:t>    run_consumer()</a:t>
            </a:r>
          </a:p>
          <a:p>
            <a:pPr>
              <a:lnSpc>
                <a:spcPct val="102868"/>
              </a:lnSpc>
              <a:spcAft>
                <a:spcPts val="0"/>
              </a:spcAft>
            </a:pPr>
            <a:r>
              <a:rPr sz="729" i="0">
                <a:solidFill>
                  <a:srgbClr val="5C6773"/>
                </a:solidFill>
                <a:latin typeface="Inconsolata"/>
              </a:rPr>
              <a:t>66  </a:t>
            </a:r>
            <a:r>
              <a:rPr sz="729" i="0">
                <a:solidFill>
                  <a:srgbClr val="E6EDF3"/>
                </a:solidFill>
                <a:latin typeface="Inconsolata"/>
              </a:rPr>
              <a:t> </a:t>
            </a:r>
          </a:p>
          <a:p>
            <a:pPr>
              <a:lnSpc>
                <a:spcPct val="102868"/>
              </a:lnSpc>
              <a:spcAft>
                <a:spcPts val="0"/>
              </a:spcAft>
            </a:pPr>
            <a:r>
              <a:rPr sz="729" i="0">
                <a:solidFill>
                  <a:srgbClr val="5C6773"/>
                </a:solidFill>
                <a:latin typeface="Inconsolata"/>
              </a:rPr>
              <a:t>67  </a:t>
            </a:r>
            <a:r>
              <a:rPr sz="729" i="0">
                <a:solidFill>
                  <a:srgbClr val="E6EDF3"/>
                </a:solidFill>
                <a:latin typeface="Inconsolata"/>
              </a:rPr>
              <a:t>    total = db.execute(</a:t>
            </a:r>
            <a:r>
              <a:rPr sz="729" i="0">
                <a:solidFill>
                  <a:srgbClr val="A5D6A7"/>
                </a:solidFill>
                <a:latin typeface="Inconsolata"/>
              </a:rPr>
              <a:t>"SELECT total FROM points"</a:t>
            </a:r>
            <a:r>
              <a:rPr sz="729" i="0">
                <a:solidFill>
                  <a:srgbClr val="E6EDF3"/>
                </a:solidFill>
                <a:latin typeface="Inconsolata"/>
              </a:rPr>
              <a:t>).fetchone()[</a:t>
            </a:r>
            <a:r>
              <a:rPr sz="729" i="0">
                <a:solidFill>
                  <a:srgbClr val="F9C97A"/>
                </a:solidFill>
                <a:latin typeface="Inconsolata"/>
              </a:rPr>
              <a:t>0</a:t>
            </a:r>
            <a:r>
              <a:rPr sz="729" i="0">
                <a:solidFill>
                  <a:srgbClr val="E6EDF3"/>
                </a:solidFill>
                <a:latin typeface="Inconsolata"/>
              </a:rPr>
              <a:t>]</a:t>
            </a:r>
          </a:p>
          <a:p>
            <a:pPr>
              <a:lnSpc>
                <a:spcPct val="102868"/>
              </a:lnSpc>
              <a:spcAft>
                <a:spcPts val="0"/>
              </a:spcAft>
            </a:pPr>
            <a:r>
              <a:rPr sz="729" i="0">
                <a:solidFill>
                  <a:srgbClr val="5C6773"/>
                </a:solidFill>
                <a:latin typeface="Inconsolata"/>
              </a:rPr>
              <a:t>68  </a:t>
            </a:r>
            <a:r>
              <a:rPr sz="729" i="0">
                <a:solidFill>
                  <a:srgbClr val="E6EDF3"/>
                </a:solidFill>
                <a:latin typeface="Inconsolata"/>
              </a:rPr>
              <a:t>    </a:t>
            </a:r>
            <a:r>
              <a:rPr sz="729" i="0">
                <a:solidFill>
                  <a:srgbClr val="C3A6FF"/>
                </a:solidFill>
                <a:latin typeface="Inconsolata"/>
              </a:rPr>
              <a:t>print</a:t>
            </a:r>
            <a:r>
              <a:rPr sz="729" i="0">
                <a:solidFill>
                  <a:srgbClr val="E6EDF3"/>
                </a:solidFill>
                <a:latin typeface="Inconsolata"/>
              </a:rPr>
              <a:t>(</a:t>
            </a:r>
            <a:r>
              <a:rPr sz="729" i="0">
                <a:solidFill>
                  <a:srgbClr val="A5D6A7"/>
                </a:solidFill>
                <a:latin typeface="Inconsolata"/>
              </a:rPr>
              <a:t>f"Total poin budi@mail.com: {total} (seharusnya 90)"</a:t>
            </a:r>
            <a:r>
              <a:rPr sz="729" i="0">
                <a:solidFill>
                  <a:srgbClr val="E6EDF3"/>
                </a:solidFill>
                <a:latin typeface="Inconsolata"/>
              </a:rPr>
              <a: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Idempotent Consumer</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05-idempotent-consumer/before.py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621792"/>
          </a:xfrm>
          <a:prstGeom prst="roundRect">
            <a:avLst>
              <a:gd name="adj" fmla="val 2941"/>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621792"/>
          </a:xfrm>
          <a:prstGeom prst="rect">
            <a:avLst/>
          </a:prstGeom>
          <a:noFill/>
        </p:spPr>
        <p:txBody>
          <a:bodyPr wrap="none" lIns="146304" tIns="91440" rIns="146304" bIns="54864">
            <a:spAutoFit/>
          </a:bodyPr>
          <a:lstStyle/>
          <a:p>
            <a:pPr>
              <a:lnSpc>
                <a:spcPct val="107843"/>
              </a:lnSpc>
              <a:spcAft>
                <a:spcPts val="0"/>
              </a:spcAft>
            </a:pPr>
            <a:r>
              <a:rPr sz="850" i="0">
                <a:solidFill>
                  <a:srgbClr val="82B1FF"/>
                </a:solidFill>
                <a:latin typeface="Inconsolata"/>
              </a:rPr>
              <a:t>$ cd sesi-08-event-driven-rabbitmq-kafka/05-idempotent-consumer</a:t>
            </a:r>
          </a:p>
          <a:p>
            <a:pPr>
              <a:lnSpc>
                <a:spcPct val="107843"/>
              </a:lnSpc>
              <a:spcAft>
                <a:spcPts val="0"/>
              </a:spcAft>
            </a:pPr>
            <a:r>
              <a:rPr sz="850" i="0">
                <a:solidFill>
                  <a:srgbClr val="82B1FF"/>
                </a:solidFill>
                <a:latin typeface="Inconsolata"/>
              </a:rPr>
              <a:t>$ docker compose -f ../docker-compose.yml up -d rabbitmq</a:t>
            </a:r>
          </a:p>
          <a:p>
            <a:pPr>
              <a:lnSpc>
                <a:spcPct val="107843"/>
              </a:lnSpc>
              <a:spcAft>
                <a:spcPts val="0"/>
              </a:spcAft>
            </a:pPr>
            <a:r>
              <a:rPr sz="850" i="0">
                <a:solidFill>
                  <a:srgbClr val="82B1FF"/>
                </a:solidFill>
                <a:latin typeface="Inconsolata"/>
              </a:rPr>
              <a:t>$ python before.py</a:t>
            </a:r>
          </a:p>
        </p:txBody>
      </p:sp>
      <p:pic>
        <p:nvPicPr>
          <p:cNvPr id="29" name="Image 12" descr="s08-05-idempotent-consumer-before.png"/>
          <p:cNvPicPr>
            <a:picLocks noChangeAspect="1"/>
          </p:cNvPicPr>
          <p:nvPr/>
        </p:nvPicPr>
        <p:blipFill>
          <a:blip r:embed="rId2"/>
          <a:stretch>
            <a:fillRect/>
          </a:stretch>
        </p:blipFill>
        <p:spPr>
          <a:xfrm>
            <a:off x="621792" y="2459736"/>
            <a:ext cx="4297680" cy="1289304"/>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Poin langsung ditambahkan, tanpa cek event (baris 27-29)</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Consumer crash sebelum ack (baris 41-42)</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Pesan dikirim ulang, total poin 180, seharusnya 90.</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Idempotent Consumer</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catat event_id (1/2)</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05-idempotent-consumer/after.py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7095"/>
              </a:lnSpc>
              <a:spcAft>
                <a:spcPts val="0"/>
              </a:spcAft>
            </a:pPr>
            <a:r>
              <a:rPr sz="700" i="0">
                <a:solidFill>
                  <a:srgbClr val="5C6773"/>
                </a:solidFill>
                <a:latin typeface="Inconsolata"/>
              </a:rPr>
              <a:t>13  </a:t>
            </a:r>
            <a:r>
              <a:rPr sz="700" i="0">
                <a:solidFill>
                  <a:srgbClr val="FF8E6E"/>
                </a:solidFill>
                <a:latin typeface="Inconsolata"/>
              </a:rPr>
              <a:t>import</a:t>
            </a:r>
            <a:r>
              <a:rPr sz="700" i="0">
                <a:solidFill>
                  <a:srgbClr val="E6EDF3"/>
                </a:solidFill>
                <a:latin typeface="Inconsolata"/>
              </a:rPr>
              <a:t> json</a:t>
            </a:r>
          </a:p>
          <a:p>
            <a:pPr>
              <a:lnSpc>
                <a:spcPct val="107095"/>
              </a:lnSpc>
              <a:spcAft>
                <a:spcPts val="0"/>
              </a:spcAft>
            </a:pPr>
            <a:r>
              <a:rPr sz="700" i="0">
                <a:solidFill>
                  <a:srgbClr val="5C6773"/>
                </a:solidFill>
                <a:latin typeface="Inconsolata"/>
              </a:rPr>
              <a:t>14  </a:t>
            </a:r>
            <a:r>
              <a:rPr sz="700" i="0">
                <a:solidFill>
                  <a:srgbClr val="FF8E6E"/>
                </a:solidFill>
                <a:latin typeface="Inconsolata"/>
              </a:rPr>
              <a:t>import</a:t>
            </a:r>
            <a:r>
              <a:rPr sz="700" i="0">
                <a:solidFill>
                  <a:srgbClr val="E6EDF3"/>
                </a:solidFill>
                <a:latin typeface="Inconsolata"/>
              </a:rPr>
              <a:t> os</a:t>
            </a:r>
          </a:p>
          <a:p>
            <a:pPr>
              <a:lnSpc>
                <a:spcPct val="107095"/>
              </a:lnSpc>
              <a:spcAft>
                <a:spcPts val="0"/>
              </a:spcAft>
            </a:pPr>
            <a:r>
              <a:rPr sz="700" i="0">
                <a:solidFill>
                  <a:srgbClr val="5C6773"/>
                </a:solidFill>
                <a:latin typeface="Inconsolata"/>
              </a:rPr>
              <a:t>15  </a:t>
            </a:r>
            <a:r>
              <a:rPr sz="700" i="0">
                <a:solidFill>
                  <a:srgbClr val="FF8E6E"/>
                </a:solidFill>
                <a:latin typeface="Inconsolata"/>
              </a:rPr>
              <a:t>import</a:t>
            </a:r>
            <a:r>
              <a:rPr sz="700" i="0">
                <a:solidFill>
                  <a:srgbClr val="E6EDF3"/>
                </a:solidFill>
                <a:latin typeface="Inconsolata"/>
              </a:rPr>
              <a:t> sqlite3</a:t>
            </a:r>
          </a:p>
          <a:p>
            <a:pPr>
              <a:lnSpc>
                <a:spcPct val="107095"/>
              </a:lnSpc>
              <a:spcAft>
                <a:spcPts val="0"/>
              </a:spcAft>
            </a:pPr>
            <a:r>
              <a:rPr sz="700" i="0">
                <a:solidFill>
                  <a:srgbClr val="5C6773"/>
                </a:solidFill>
                <a:latin typeface="Inconsolata"/>
              </a:rPr>
              <a:t>16  </a:t>
            </a:r>
            <a:r>
              <a:rPr sz="700" i="0">
                <a:solidFill>
                  <a:srgbClr val="FF8E6E"/>
                </a:solidFill>
                <a:latin typeface="Inconsolata"/>
              </a:rPr>
              <a:t>import</a:t>
            </a:r>
            <a:r>
              <a:rPr sz="700" i="0">
                <a:solidFill>
                  <a:srgbClr val="E6EDF3"/>
                </a:solidFill>
                <a:latin typeface="Inconsolata"/>
              </a:rPr>
              <a:t> uuid</a:t>
            </a:r>
          </a:p>
          <a:p>
            <a:pPr>
              <a:lnSpc>
                <a:spcPct val="107095"/>
              </a:lnSpc>
              <a:spcAft>
                <a:spcPts val="0"/>
              </a:spcAft>
            </a:pPr>
            <a:r>
              <a:rPr sz="700" i="0">
                <a:solidFill>
                  <a:srgbClr val="5C6773"/>
                </a:solidFill>
                <a:latin typeface="Inconsolata"/>
              </a:rPr>
              <a:t>17  </a:t>
            </a:r>
            <a:r>
              <a:rPr sz="700" i="0">
                <a:solidFill>
                  <a:srgbClr val="E6EDF3"/>
                </a:solidFill>
                <a:latin typeface="Inconsolata"/>
              </a:rPr>
              <a:t> </a:t>
            </a:r>
          </a:p>
          <a:p>
            <a:pPr>
              <a:lnSpc>
                <a:spcPct val="107095"/>
              </a:lnSpc>
              <a:spcAft>
                <a:spcPts val="0"/>
              </a:spcAft>
            </a:pPr>
            <a:r>
              <a:rPr sz="700" i="0">
                <a:solidFill>
                  <a:srgbClr val="5C6773"/>
                </a:solidFill>
                <a:latin typeface="Inconsolata"/>
              </a:rPr>
              <a:t>18  </a:t>
            </a:r>
            <a:r>
              <a:rPr sz="700" i="0">
                <a:solidFill>
                  <a:srgbClr val="FF8E6E"/>
                </a:solidFill>
                <a:latin typeface="Inconsolata"/>
              </a:rPr>
              <a:t>import</a:t>
            </a:r>
            <a:r>
              <a:rPr sz="700" i="0">
                <a:solidFill>
                  <a:srgbClr val="E6EDF3"/>
                </a:solidFill>
                <a:latin typeface="Inconsolata"/>
              </a:rPr>
              <a:t> pika</a:t>
            </a:r>
          </a:p>
          <a:p>
            <a:pPr>
              <a:lnSpc>
                <a:spcPct val="107095"/>
              </a:lnSpc>
              <a:spcAft>
                <a:spcPts val="0"/>
              </a:spcAft>
            </a:pPr>
            <a:r>
              <a:rPr sz="700" i="0">
                <a:solidFill>
                  <a:srgbClr val="5C6773"/>
                </a:solidFill>
                <a:latin typeface="Inconsolata"/>
              </a:rPr>
              <a:t>19  </a:t>
            </a:r>
            <a:r>
              <a:rPr sz="700" i="0">
                <a:solidFill>
                  <a:srgbClr val="E6EDF3"/>
                </a:solidFill>
                <a:latin typeface="Inconsolata"/>
              </a:rPr>
              <a:t> </a:t>
            </a:r>
          </a:p>
          <a:p>
            <a:pPr>
              <a:lnSpc>
                <a:spcPct val="107095"/>
              </a:lnSpc>
              <a:spcAft>
                <a:spcPts val="0"/>
              </a:spcAft>
            </a:pPr>
            <a:r>
              <a:rPr sz="700" i="0">
                <a:solidFill>
                  <a:srgbClr val="5C6773"/>
                </a:solidFill>
                <a:latin typeface="Inconsolata"/>
              </a:rPr>
              <a:t>20  </a:t>
            </a:r>
            <a:r>
              <a:rPr sz="700" i="0">
                <a:solidFill>
                  <a:srgbClr val="7FDBCA"/>
                </a:solidFill>
                <a:latin typeface="Inconsolata"/>
              </a:rPr>
              <a:t>URL</a:t>
            </a:r>
            <a:r>
              <a:rPr sz="700" i="0">
                <a:solidFill>
                  <a:srgbClr val="E6EDF3"/>
                </a:solidFill>
                <a:latin typeface="Inconsolata"/>
              </a:rPr>
              <a:t> = os.getenv(</a:t>
            </a:r>
            <a:r>
              <a:rPr sz="700" i="0">
                <a:solidFill>
                  <a:srgbClr val="A5D6A7"/>
                </a:solidFill>
                <a:latin typeface="Inconsolata"/>
              </a:rPr>
              <a:t>"RABBITMQ_URL"</a:t>
            </a:r>
            <a:r>
              <a:rPr sz="700" i="0">
                <a:solidFill>
                  <a:srgbClr val="E6EDF3"/>
                </a:solidFill>
                <a:latin typeface="Inconsolata"/>
              </a:rPr>
              <a:t>, </a:t>
            </a:r>
            <a:r>
              <a:rPr sz="700" i="0">
                <a:solidFill>
                  <a:srgbClr val="A5D6A7"/>
                </a:solidFill>
                <a:latin typeface="Inconsolata"/>
              </a:rPr>
              <a:t>"amqp://guest:guest@localhost:5672/"</a:t>
            </a:r>
            <a:r>
              <a:rPr sz="700" i="0">
                <a:solidFill>
                  <a:srgbClr val="E6EDF3"/>
                </a:solidFill>
                <a:latin typeface="Inconsolata"/>
              </a:rPr>
              <a:t>)</a:t>
            </a:r>
          </a:p>
          <a:p>
            <a:pPr>
              <a:lnSpc>
                <a:spcPct val="107095"/>
              </a:lnSpc>
              <a:spcAft>
                <a:spcPts val="0"/>
              </a:spcAft>
            </a:pPr>
            <a:r>
              <a:rPr sz="700" i="0">
                <a:solidFill>
                  <a:srgbClr val="5C6773"/>
                </a:solidFill>
                <a:latin typeface="Inconsolata"/>
              </a:rPr>
              <a:t>21  </a:t>
            </a:r>
            <a:r>
              <a:rPr sz="700" i="0">
                <a:solidFill>
                  <a:srgbClr val="E6EDF3"/>
                </a:solidFill>
                <a:latin typeface="Inconsolata"/>
              </a:rPr>
              <a:t> </a:t>
            </a:r>
          </a:p>
          <a:p>
            <a:pPr>
              <a:lnSpc>
                <a:spcPct val="107095"/>
              </a:lnSpc>
              <a:spcAft>
                <a:spcPts val="0"/>
              </a:spcAft>
            </a:pPr>
            <a:r>
              <a:rPr sz="700" i="0">
                <a:solidFill>
                  <a:srgbClr val="5C6773"/>
                </a:solidFill>
                <a:latin typeface="Inconsolata"/>
              </a:rPr>
              <a:t>22  </a:t>
            </a:r>
            <a:r>
              <a:rPr sz="700" i="0">
                <a:solidFill>
                  <a:srgbClr val="E6EDF3"/>
                </a:solidFill>
                <a:latin typeface="Inconsolata"/>
              </a:rPr>
              <a:t>db = sqlite3.connect(</a:t>
            </a:r>
            <a:r>
              <a:rPr sz="700" i="0">
                <a:solidFill>
                  <a:srgbClr val="A5D6A7"/>
                </a:solidFill>
                <a:latin typeface="Inconsolata"/>
              </a:rPr>
              <a:t>":memory:"</a:t>
            </a:r>
            <a:r>
              <a:rPr sz="700" i="0">
                <a:solidFill>
                  <a:srgbClr val="E6EDF3"/>
                </a:solidFill>
                <a:latin typeface="Inconsolata"/>
              </a:rPr>
              <a:t>)</a:t>
            </a:r>
          </a:p>
          <a:p>
            <a:pPr>
              <a:lnSpc>
                <a:spcPct val="107095"/>
              </a:lnSpc>
              <a:spcAft>
                <a:spcPts val="0"/>
              </a:spcAft>
            </a:pPr>
            <a:r>
              <a:rPr sz="700" i="0">
                <a:solidFill>
                  <a:srgbClr val="5C6773"/>
                </a:solidFill>
                <a:latin typeface="Inconsolata"/>
              </a:rPr>
              <a:t>23  </a:t>
            </a:r>
            <a:r>
              <a:rPr sz="700" i="0">
                <a:solidFill>
                  <a:srgbClr val="E6EDF3"/>
                </a:solidFill>
                <a:latin typeface="Inconsolata"/>
              </a:rPr>
              <a:t>db.execute(</a:t>
            </a:r>
            <a:r>
              <a:rPr sz="700" i="0">
                <a:solidFill>
                  <a:srgbClr val="A5D6A7"/>
                </a:solidFill>
                <a:latin typeface="Inconsolata"/>
              </a:rPr>
              <a:t>"CREATE TABLE points (customer TEXT PRIMARY KEY, total INT)"</a:t>
            </a:r>
            <a:r>
              <a:rPr sz="700" i="0">
                <a:solidFill>
                  <a:srgbClr val="E6EDF3"/>
                </a:solidFill>
                <a:latin typeface="Inconsolata"/>
              </a:rPr>
              <a:t>)</a:t>
            </a:r>
          </a:p>
          <a:p>
            <a:pPr>
              <a:lnSpc>
                <a:spcPct val="107095"/>
              </a:lnSpc>
              <a:spcAft>
                <a:spcPts val="0"/>
              </a:spcAft>
            </a:pPr>
            <a:r>
              <a:rPr sz="700" i="0">
                <a:solidFill>
                  <a:srgbClr val="5C6773"/>
                </a:solidFill>
                <a:latin typeface="Inconsolata"/>
              </a:rPr>
              <a:t>24  </a:t>
            </a:r>
            <a:r>
              <a:rPr sz="700" i="0">
                <a:solidFill>
                  <a:srgbClr val="E6EDF3"/>
                </a:solidFill>
                <a:latin typeface="Inconsolata"/>
              </a:rPr>
              <a:t>db.execute(</a:t>
            </a:r>
            <a:r>
              <a:rPr sz="700" i="0">
                <a:solidFill>
                  <a:srgbClr val="A5D6A7"/>
                </a:solidFill>
                <a:latin typeface="Inconsolata"/>
              </a:rPr>
              <a:t>"INSERT INTO points VALUES ('budi@mail.com', 0)"</a:t>
            </a:r>
            <a:r>
              <a:rPr sz="700" i="0">
                <a:solidFill>
                  <a:srgbClr val="E6EDF3"/>
                </a:solidFill>
                <a:latin typeface="Inconsolata"/>
              </a:rPr>
              <a:t>)</a:t>
            </a:r>
          </a:p>
          <a:p>
            <a:pPr>
              <a:lnSpc>
                <a:spcPct val="107095"/>
              </a:lnSpc>
              <a:spcAft>
                <a:spcPts val="0"/>
              </a:spcAft>
            </a:pPr>
            <a:r>
              <a:rPr sz="700" i="0">
                <a:solidFill>
                  <a:srgbClr val="5C6773"/>
                </a:solidFill>
                <a:latin typeface="Inconsolata"/>
              </a:rPr>
              <a:t>25  </a:t>
            </a:r>
            <a:r>
              <a:rPr sz="700" i="0">
                <a:solidFill>
                  <a:srgbClr val="7FDBCA"/>
                </a:solidFill>
                <a:latin typeface="Inconsolata"/>
              </a:rPr>
              <a:t>ADD_POINTS</a:t>
            </a:r>
            <a:r>
              <a:rPr sz="700" i="0">
                <a:solidFill>
                  <a:srgbClr val="E6EDF3"/>
                </a:solidFill>
                <a:latin typeface="Inconsolata"/>
              </a:rPr>
              <a:t> = </a:t>
            </a:r>
            <a:r>
              <a:rPr sz="700" i="0">
                <a:solidFill>
                  <a:srgbClr val="A5D6A7"/>
                </a:solidFill>
                <a:latin typeface="Inconsolata"/>
              </a:rPr>
              <a:t>"UPDATE points SET total = total + ? WHERE customer = ?"</a:t>
            </a:r>
          </a:p>
          <a:p>
            <a:pPr>
              <a:lnSpc>
                <a:spcPct val="107095"/>
              </a:lnSpc>
              <a:spcAft>
                <a:spcPts val="0"/>
              </a:spcAft>
            </a:pPr>
            <a:r>
              <a:rPr sz="700" i="0">
                <a:solidFill>
                  <a:srgbClr val="5C6773"/>
                </a:solidFill>
                <a:latin typeface="Inconsolata"/>
              </a:rPr>
              <a:t>26  </a:t>
            </a:r>
            <a:r>
              <a:rPr sz="700" i="0">
                <a:solidFill>
                  <a:srgbClr val="E6EDF3"/>
                </a:solidFill>
                <a:latin typeface="Inconsolata"/>
              </a:rPr>
              <a:t>db.execute(</a:t>
            </a:r>
            <a:r>
              <a:rPr sz="700" i="0">
                <a:solidFill>
                  <a:srgbClr val="A5D6A7"/>
                </a:solidFill>
                <a:latin typeface="Inconsolata"/>
              </a:rPr>
              <a:t>"CREATE TABLE processed_events (event_id TEXT PRIMARY KEY)"</a:t>
            </a:r>
            <a:r>
              <a:rPr sz="700" i="0">
                <a:solidFill>
                  <a:srgbClr val="E6EDF3"/>
                </a:solidFill>
                <a:latin typeface="Inconsolata"/>
              </a:rPr>
              <a: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05-idempotent-consumer/after.py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7095"/>
              </a:lnSpc>
              <a:spcAft>
                <a:spcPts val="0"/>
              </a:spcAft>
            </a:pPr>
            <a:r>
              <a:rPr sz="700" i="0">
                <a:solidFill>
                  <a:srgbClr val="5C6773"/>
                </a:solidFill>
                <a:latin typeface="Inconsolata"/>
              </a:rPr>
              <a:t>29  </a:t>
            </a: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add_points</a:t>
            </a:r>
            <a:r>
              <a:rPr sz="700" i="0">
                <a:solidFill>
                  <a:srgbClr val="E6EDF3"/>
                </a:solidFill>
                <a:latin typeface="Inconsolata"/>
              </a:rPr>
              <a:t>(event):</a:t>
            </a:r>
          </a:p>
          <a:p>
            <a:pPr>
              <a:lnSpc>
                <a:spcPct val="107095"/>
              </a:lnSpc>
              <a:spcAft>
                <a:spcPts val="0"/>
              </a:spcAft>
            </a:pPr>
            <a:r>
              <a:rPr sz="700" i="0">
                <a:solidFill>
                  <a:srgbClr val="5C6773"/>
                </a:solidFill>
                <a:latin typeface="Inconsolata"/>
              </a:rPr>
              <a:t>30  </a:t>
            </a:r>
            <a:r>
              <a:rPr sz="700" i="0">
                <a:solidFill>
                  <a:srgbClr val="E6EDF3"/>
                </a:solidFill>
                <a:latin typeface="Inconsolata"/>
              </a:rPr>
              <a:t>    </a:t>
            </a:r>
            <a:r>
              <a:rPr sz="700" i="0">
                <a:solidFill>
                  <a:srgbClr val="FF8E6E"/>
                </a:solidFill>
                <a:latin typeface="Inconsolata"/>
              </a:rPr>
              <a:t>try</a:t>
            </a:r>
            <a:r>
              <a:rPr sz="700" i="0">
                <a:solidFill>
                  <a:srgbClr val="E6EDF3"/>
                </a:solidFill>
                <a:latin typeface="Inconsolata"/>
              </a:rPr>
              <a:t>:</a:t>
            </a:r>
          </a:p>
          <a:p>
            <a:pPr>
              <a:lnSpc>
                <a:spcPct val="107095"/>
              </a:lnSpc>
              <a:spcAft>
                <a:spcPts val="0"/>
              </a:spcAft>
            </a:pPr>
            <a:r>
              <a:rPr sz="700" i="0">
                <a:solidFill>
                  <a:srgbClr val="5C6773"/>
                </a:solidFill>
                <a:latin typeface="Inconsolata"/>
              </a:rPr>
              <a:t>31  </a:t>
            </a:r>
            <a:r>
              <a:rPr sz="700" i="0">
                <a:solidFill>
                  <a:srgbClr val="E6EDF3"/>
                </a:solidFill>
                <a:latin typeface="Inconsolata"/>
              </a:rPr>
              <a:t>        </a:t>
            </a:r>
            <a:r>
              <a:rPr sz="700" i="0">
                <a:solidFill>
                  <a:srgbClr val="FF8E6E"/>
                </a:solidFill>
                <a:latin typeface="Inconsolata"/>
              </a:rPr>
              <a:t>with</a:t>
            </a:r>
            <a:r>
              <a:rPr sz="700" i="0">
                <a:solidFill>
                  <a:srgbClr val="E6EDF3"/>
                </a:solidFill>
                <a:latin typeface="Inconsolata"/>
              </a:rPr>
              <a:t> db:                                 </a:t>
            </a:r>
            <a:r>
              <a:rPr sz="700" i="1">
                <a:solidFill>
                  <a:srgbClr val="8B98A8"/>
                </a:solidFill>
                <a:latin typeface="Inconsolata"/>
              </a:rPr>
              <a:t># satu transaksi</a:t>
            </a:r>
          </a:p>
          <a:p>
            <a:pPr>
              <a:lnSpc>
                <a:spcPct val="107095"/>
              </a:lnSpc>
              <a:spcAft>
                <a:spcPts val="0"/>
              </a:spcAft>
            </a:pPr>
            <a:r>
              <a:rPr sz="700" i="0">
                <a:solidFill>
                  <a:srgbClr val="5C6773"/>
                </a:solidFill>
                <a:latin typeface="Inconsolata"/>
              </a:rPr>
              <a:t>32  </a:t>
            </a:r>
            <a:r>
              <a:rPr sz="700" i="0">
                <a:solidFill>
                  <a:srgbClr val="E6EDF3"/>
                </a:solidFill>
                <a:latin typeface="Inconsolata"/>
              </a:rPr>
              <a:t>            db.execute(</a:t>
            </a:r>
            <a:r>
              <a:rPr sz="700" i="0">
                <a:solidFill>
                  <a:srgbClr val="A5D6A7"/>
                </a:solidFill>
                <a:latin typeface="Inconsolata"/>
              </a:rPr>
              <a:t>"INSERT INTO processed_events VALUES (?)"</a:t>
            </a:r>
            <a:r>
              <a:rPr sz="700" i="0">
                <a:solidFill>
                  <a:srgbClr val="E6EDF3"/>
                </a:solidFill>
                <a:latin typeface="Inconsolata"/>
              </a:rPr>
              <a:t>,</a:t>
            </a:r>
          </a:p>
          <a:p>
            <a:pPr>
              <a:lnSpc>
                <a:spcPct val="107095"/>
              </a:lnSpc>
              <a:spcAft>
                <a:spcPts val="0"/>
              </a:spcAft>
            </a:pPr>
            <a:r>
              <a:rPr sz="700" i="0">
                <a:solidFill>
                  <a:srgbClr val="5C6773"/>
                </a:solidFill>
                <a:latin typeface="Inconsolata"/>
              </a:rPr>
              <a:t>33  </a:t>
            </a:r>
            <a:r>
              <a:rPr sz="700" i="0">
                <a:solidFill>
                  <a:srgbClr val="E6EDF3"/>
                </a:solidFill>
                <a:latin typeface="Inconsolata"/>
              </a:rPr>
              <a:t>                       (event[</a:t>
            </a:r>
            <a:r>
              <a:rPr sz="700" i="0">
                <a:solidFill>
                  <a:srgbClr val="A5D6A7"/>
                </a:solidFill>
                <a:latin typeface="Inconsolata"/>
              </a:rPr>
              <a:t>"event_id"</a:t>
            </a:r>
            <a:r>
              <a:rPr sz="700" i="0">
                <a:solidFill>
                  <a:srgbClr val="E6EDF3"/>
                </a:solidFill>
                <a:latin typeface="Inconsolata"/>
              </a:rPr>
              <a:t>],))</a:t>
            </a:r>
          </a:p>
          <a:p>
            <a:pPr>
              <a:lnSpc>
                <a:spcPct val="107095"/>
              </a:lnSpc>
              <a:spcAft>
                <a:spcPts val="0"/>
              </a:spcAft>
            </a:pPr>
            <a:r>
              <a:rPr sz="700" i="0">
                <a:solidFill>
                  <a:srgbClr val="5C6773"/>
                </a:solidFill>
                <a:latin typeface="Inconsolata"/>
              </a:rPr>
              <a:t>34  </a:t>
            </a:r>
            <a:r>
              <a:rPr sz="700" i="0">
                <a:solidFill>
                  <a:srgbClr val="E6EDF3"/>
                </a:solidFill>
                <a:latin typeface="Inconsolata"/>
              </a:rPr>
              <a:t>            db.execute(</a:t>
            </a:r>
            <a:r>
              <a:rPr sz="700" i="0">
                <a:solidFill>
                  <a:srgbClr val="7FDBCA"/>
                </a:solidFill>
                <a:latin typeface="Inconsolata"/>
              </a:rPr>
              <a:t>ADD_POINTS</a:t>
            </a:r>
            <a:r>
              <a:rPr sz="700" i="0">
                <a:solidFill>
                  <a:srgbClr val="E6EDF3"/>
                </a:solidFill>
                <a:latin typeface="Inconsolata"/>
              </a:rPr>
              <a:t>,</a:t>
            </a:r>
          </a:p>
          <a:p>
            <a:pPr>
              <a:lnSpc>
                <a:spcPct val="107095"/>
              </a:lnSpc>
              <a:spcAft>
                <a:spcPts val="0"/>
              </a:spcAft>
            </a:pPr>
            <a:r>
              <a:rPr sz="700" i="0">
                <a:solidFill>
                  <a:srgbClr val="5C6773"/>
                </a:solidFill>
                <a:latin typeface="Inconsolata"/>
              </a:rPr>
              <a:t>35  </a:t>
            </a:r>
            <a:r>
              <a:rPr sz="700" i="0">
                <a:solidFill>
                  <a:srgbClr val="E6EDF3"/>
                </a:solidFill>
                <a:latin typeface="Inconsolata"/>
              </a:rPr>
              <a:t>                       (event[</a:t>
            </a:r>
            <a:r>
              <a:rPr sz="700" i="0">
                <a:solidFill>
                  <a:srgbClr val="A5D6A7"/>
                </a:solidFill>
                <a:latin typeface="Inconsolata"/>
              </a:rPr>
              <a:t>"points"</a:t>
            </a:r>
            <a:r>
              <a:rPr sz="700" i="0">
                <a:solidFill>
                  <a:srgbClr val="E6EDF3"/>
                </a:solidFill>
                <a:latin typeface="Inconsolata"/>
              </a:rPr>
              <a:t>], event[</a:t>
            </a:r>
            <a:r>
              <a:rPr sz="700" i="0">
                <a:solidFill>
                  <a:srgbClr val="A5D6A7"/>
                </a:solidFill>
                <a:latin typeface="Inconsolata"/>
              </a:rPr>
              <a:t>"customer"</a:t>
            </a:r>
            <a:r>
              <a:rPr sz="700" i="0">
                <a:solidFill>
                  <a:srgbClr val="E6EDF3"/>
                </a:solidFill>
                <a:latin typeface="Inconsolata"/>
              </a:rPr>
              <a:t>]))</a:t>
            </a:r>
          </a:p>
          <a:p>
            <a:pPr>
              <a:lnSpc>
                <a:spcPct val="107095"/>
              </a:lnSpc>
              <a:spcAft>
                <a:spcPts val="0"/>
              </a:spcAft>
            </a:pPr>
            <a:r>
              <a:rPr sz="700" i="0">
                <a:solidFill>
                  <a:srgbClr val="5C6773"/>
                </a:solidFill>
                <a:latin typeface="Inconsolata"/>
              </a:rPr>
              <a:t>36  </a:t>
            </a:r>
            <a:r>
              <a:rPr sz="700" i="0">
                <a:solidFill>
                  <a:srgbClr val="E6EDF3"/>
                </a:solidFill>
                <a:latin typeface="Inconsolata"/>
              </a:rPr>
              <a:t>        </a:t>
            </a:r>
            <a:r>
              <a:rPr sz="700" i="0">
                <a:solidFill>
                  <a:srgbClr val="C3A6FF"/>
                </a:solidFill>
                <a:latin typeface="Inconsolata"/>
              </a:rPr>
              <a:t>print</a:t>
            </a:r>
            <a:r>
              <a:rPr sz="700" i="0">
                <a:solidFill>
                  <a:srgbClr val="E6EDF3"/>
                </a:solidFill>
                <a:latin typeface="Inconsolata"/>
              </a:rPr>
              <a:t>(</a:t>
            </a:r>
            <a:r>
              <a:rPr sz="700" i="0">
                <a:solidFill>
                  <a:srgbClr val="A5D6A7"/>
                </a:solidFill>
                <a:latin typeface="Inconsolata"/>
              </a:rPr>
              <a:t>f"  +{event['points']} poin untuk {event['customer']}"</a:t>
            </a:r>
            <a:r>
              <a:rPr sz="700" i="0">
                <a:solidFill>
                  <a:srgbClr val="E6EDF3"/>
                </a:solidFill>
                <a:latin typeface="Inconsolata"/>
              </a:rPr>
              <a:t>)</a:t>
            </a:r>
          </a:p>
          <a:p>
            <a:pPr>
              <a:lnSpc>
                <a:spcPct val="107095"/>
              </a:lnSpc>
              <a:spcAft>
                <a:spcPts val="0"/>
              </a:spcAft>
            </a:pPr>
            <a:r>
              <a:rPr sz="700" i="0">
                <a:solidFill>
                  <a:srgbClr val="5C6773"/>
                </a:solidFill>
                <a:latin typeface="Inconsolata"/>
              </a:rPr>
              <a:t>37  </a:t>
            </a:r>
            <a:r>
              <a:rPr sz="700" i="0">
                <a:solidFill>
                  <a:srgbClr val="E6EDF3"/>
                </a:solidFill>
                <a:latin typeface="Inconsolata"/>
              </a:rPr>
              <a:t>    </a:t>
            </a:r>
            <a:r>
              <a:rPr sz="700" i="0">
                <a:solidFill>
                  <a:srgbClr val="FF8E6E"/>
                </a:solidFill>
                <a:latin typeface="Inconsolata"/>
              </a:rPr>
              <a:t>except</a:t>
            </a:r>
            <a:r>
              <a:rPr sz="700" i="0">
                <a:solidFill>
                  <a:srgbClr val="E6EDF3"/>
                </a:solidFill>
                <a:latin typeface="Inconsolata"/>
              </a:rPr>
              <a:t> sqlite3.</a:t>
            </a:r>
            <a:r>
              <a:rPr sz="700" i="0">
                <a:solidFill>
                  <a:srgbClr val="7FDBCA"/>
                </a:solidFill>
                <a:latin typeface="Inconsolata"/>
              </a:rPr>
              <a:t>IntegrityError</a:t>
            </a:r>
            <a:r>
              <a:rPr sz="700" i="0">
                <a:solidFill>
                  <a:srgbClr val="E6EDF3"/>
                </a:solidFill>
                <a:latin typeface="Inconsolata"/>
              </a:rPr>
              <a:t>:</a:t>
            </a:r>
          </a:p>
          <a:p>
            <a:pPr>
              <a:lnSpc>
                <a:spcPct val="107095"/>
              </a:lnSpc>
              <a:spcAft>
                <a:spcPts val="0"/>
              </a:spcAft>
            </a:pPr>
            <a:r>
              <a:rPr sz="700" i="0">
                <a:solidFill>
                  <a:srgbClr val="5C6773"/>
                </a:solidFill>
                <a:latin typeface="Inconsolata"/>
              </a:rPr>
              <a:t>38  </a:t>
            </a:r>
            <a:r>
              <a:rPr sz="700" i="0">
                <a:solidFill>
                  <a:srgbClr val="E6EDF3"/>
                </a:solidFill>
                <a:latin typeface="Inconsolata"/>
              </a:rPr>
              <a:t>        </a:t>
            </a:r>
            <a:r>
              <a:rPr sz="700" i="0">
                <a:solidFill>
                  <a:srgbClr val="C3A6FF"/>
                </a:solidFill>
                <a:latin typeface="Inconsolata"/>
              </a:rPr>
              <a:t>print</a:t>
            </a:r>
            <a:r>
              <a:rPr sz="700" i="0">
                <a:solidFill>
                  <a:srgbClr val="E6EDF3"/>
                </a:solidFill>
                <a:latin typeface="Inconsolata"/>
              </a:rPr>
              <a:t>(</a:t>
            </a:r>
            <a:r>
              <a:rPr sz="700" i="0">
                <a:solidFill>
                  <a:srgbClr val="A5D6A7"/>
                </a:solidFill>
                <a:latin typeface="Inconsolata"/>
              </a:rPr>
              <a:t>f"  event {event['event_id'][:8]} sudah diproses, skip"</a:t>
            </a:r>
            <a:r>
              <a:rPr sz="700" i="0">
                <a:solidFill>
                  <a:srgbClr val="E6EDF3"/>
                </a:solidFill>
                <a:latin typeface="Inconsolata"/>
              </a:rPr>
              <a:t>)</a:t>
            </a:r>
          </a:p>
        </p:txBody>
      </p:sp>
      <p:sp>
        <p:nvSpPr>
          <p:cNvPr id="36" name="Box 21"/>
          <p:cNvSpPr/>
          <p:nvPr/>
        </p:nvSpPr>
        <p:spPr>
          <a:xfrm>
            <a:off x="704088" y="3311271"/>
            <a:ext cx="3694176" cy="107442"/>
          </a:xfrm>
          <a:prstGeom prst="roundRect">
            <a:avLst>
              <a:gd name="adj" fmla="val 42553"/>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324612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2053971"/>
            <a:ext cx="3694176" cy="564642"/>
          </a:xfrm>
          <a:prstGeom prst="roundRect">
            <a:avLst>
              <a:gd name="adj" fmla="val 80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221742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2739771"/>
            <a:ext cx="3694176" cy="221742"/>
          </a:xfrm>
          <a:prstGeom prst="roundRect">
            <a:avLst>
              <a:gd name="adj" fmla="val 20618"/>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273177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Idempotent Consumer</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catat event_id (2/2)</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05-idempotent-consumer/after.py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2868"/>
              </a:lnSpc>
              <a:spcAft>
                <a:spcPts val="0"/>
              </a:spcAft>
            </a:pPr>
            <a:r>
              <a:rPr sz="729" i="0">
                <a:solidFill>
                  <a:srgbClr val="5C6773"/>
                </a:solidFill>
                <a:latin typeface="Inconsolata"/>
              </a:rPr>
              <a:t>41  </a:t>
            </a:r>
            <a:r>
              <a:rPr sz="729" i="0">
                <a:solidFill>
                  <a:srgbClr val="FF8E6E"/>
                </a:solidFill>
                <a:latin typeface="Inconsolata"/>
              </a:rPr>
              <a:t>def</a:t>
            </a:r>
            <a:r>
              <a:rPr sz="729" i="0">
                <a:solidFill>
                  <a:srgbClr val="E6EDF3"/>
                </a:solidFill>
                <a:latin typeface="Inconsolata"/>
              </a:rPr>
              <a:t> </a:t>
            </a:r>
            <a:r>
              <a:rPr sz="729" i="0">
                <a:solidFill>
                  <a:srgbClr val="82B1FF"/>
                </a:solidFill>
                <a:latin typeface="Inconsolata"/>
              </a:rPr>
              <a:t>run_consumer</a:t>
            </a:r>
            <a:r>
              <a:rPr sz="729" i="0">
                <a:solidFill>
                  <a:srgbClr val="E6EDF3"/>
                </a:solidFill>
                <a:latin typeface="Inconsolata"/>
              </a:rPr>
              <a:t>(crash_before_ack=</a:t>
            </a:r>
            <a:r>
              <a:rPr sz="729" i="0">
                <a:solidFill>
                  <a:srgbClr val="FF8E6E"/>
                </a:solidFill>
                <a:latin typeface="Inconsolata"/>
              </a:rPr>
              <a:t>False</a:t>
            </a:r>
            <a:r>
              <a:rPr sz="729" i="0">
                <a:solidFill>
                  <a:srgbClr val="E6EDF3"/>
                </a:solidFill>
                <a:latin typeface="Inconsolata"/>
              </a:rPr>
              <a:t>):</a:t>
            </a:r>
          </a:p>
          <a:p>
            <a:pPr>
              <a:lnSpc>
                <a:spcPct val="102868"/>
              </a:lnSpc>
              <a:spcAft>
                <a:spcPts val="0"/>
              </a:spcAft>
            </a:pPr>
            <a:r>
              <a:rPr sz="729" i="0">
                <a:solidFill>
                  <a:srgbClr val="5C6773"/>
                </a:solidFill>
                <a:latin typeface="Inconsolata"/>
              </a:rPr>
              <a:t>42  </a:t>
            </a:r>
            <a:r>
              <a:rPr sz="729" i="0">
                <a:solidFill>
                  <a:srgbClr val="E6EDF3"/>
                </a:solidFill>
                <a:latin typeface="Inconsolata"/>
              </a:rPr>
              <a:t>    </a:t>
            </a:r>
            <a:r>
              <a:rPr sz="729" i="0">
                <a:solidFill>
                  <a:srgbClr val="FF8E6E"/>
                </a:solidFill>
                <a:latin typeface="Inconsolata"/>
              </a:rPr>
              <a:t>with</a:t>
            </a:r>
            <a:r>
              <a:rPr sz="729" i="0">
                <a:solidFill>
                  <a:srgbClr val="E6EDF3"/>
                </a:solidFill>
                <a:latin typeface="Inconsolata"/>
              </a:rPr>
              <a:t> pika.</a:t>
            </a:r>
            <a:r>
              <a:rPr sz="729" i="0">
                <a:solidFill>
                  <a:srgbClr val="7FDBCA"/>
                </a:solidFill>
                <a:latin typeface="Inconsolata"/>
              </a:rPr>
              <a:t>BlockingConnection</a:t>
            </a:r>
            <a:r>
              <a:rPr sz="729" i="0">
                <a:solidFill>
                  <a:srgbClr val="E6EDF3"/>
                </a:solidFill>
                <a:latin typeface="Inconsolata"/>
              </a:rPr>
              <a:t>(pika.</a:t>
            </a:r>
            <a:r>
              <a:rPr sz="729" i="0">
                <a:solidFill>
                  <a:srgbClr val="7FDBCA"/>
                </a:solidFill>
                <a:latin typeface="Inconsolata"/>
              </a:rPr>
              <a:t>URLParameters</a:t>
            </a:r>
            <a:r>
              <a:rPr sz="729" i="0">
                <a:solidFill>
                  <a:srgbClr val="E6EDF3"/>
                </a:solidFill>
                <a:latin typeface="Inconsolata"/>
              </a:rPr>
              <a:t>(</a:t>
            </a:r>
            <a:r>
              <a:rPr sz="729" i="0">
                <a:solidFill>
                  <a:srgbClr val="7FDBCA"/>
                </a:solidFill>
                <a:latin typeface="Inconsolata"/>
              </a:rPr>
              <a:t>URL</a:t>
            </a:r>
            <a:r>
              <a:rPr sz="729" i="0">
                <a:solidFill>
                  <a:srgbClr val="E6EDF3"/>
                </a:solidFill>
                <a:latin typeface="Inconsolata"/>
              </a:rPr>
              <a:t>)) </a:t>
            </a:r>
            <a:r>
              <a:rPr sz="729" i="0">
                <a:solidFill>
                  <a:srgbClr val="FF8E6E"/>
                </a:solidFill>
                <a:latin typeface="Inconsolata"/>
              </a:rPr>
              <a:t>as</a:t>
            </a:r>
            <a:r>
              <a:rPr sz="729" i="0">
                <a:solidFill>
                  <a:srgbClr val="E6EDF3"/>
                </a:solidFill>
                <a:latin typeface="Inconsolata"/>
              </a:rPr>
              <a:t> conn:</a:t>
            </a:r>
          </a:p>
          <a:p>
            <a:pPr>
              <a:lnSpc>
                <a:spcPct val="102868"/>
              </a:lnSpc>
              <a:spcAft>
                <a:spcPts val="0"/>
              </a:spcAft>
            </a:pPr>
            <a:r>
              <a:rPr sz="729" i="0">
                <a:solidFill>
                  <a:srgbClr val="5C6773"/>
                </a:solidFill>
                <a:latin typeface="Inconsolata"/>
              </a:rPr>
              <a:t>43  </a:t>
            </a:r>
            <a:r>
              <a:rPr sz="729" i="0">
                <a:solidFill>
                  <a:srgbClr val="E6EDF3"/>
                </a:solidFill>
                <a:latin typeface="Inconsolata"/>
              </a:rPr>
              <a:t>        channel = conn.channel()</a:t>
            </a:r>
          </a:p>
          <a:p>
            <a:pPr>
              <a:lnSpc>
                <a:spcPct val="102868"/>
              </a:lnSpc>
              <a:spcAft>
                <a:spcPts val="0"/>
              </a:spcAft>
            </a:pPr>
            <a:r>
              <a:rPr sz="729" i="0">
                <a:solidFill>
                  <a:srgbClr val="5C6773"/>
                </a:solidFill>
                <a:latin typeface="Inconsolata"/>
              </a:rPr>
              <a:t>44  </a:t>
            </a:r>
            <a:r>
              <a:rPr sz="729" i="0">
                <a:solidFill>
                  <a:srgbClr val="E6EDF3"/>
                </a:solidFill>
                <a:latin typeface="Inconsolata"/>
              </a:rPr>
              <a:t>        </a:t>
            </a:r>
            <a:r>
              <a:rPr sz="729" i="0">
                <a:solidFill>
                  <a:srgbClr val="FF8E6E"/>
                </a:solidFill>
                <a:latin typeface="Inconsolata"/>
              </a:rPr>
              <a:t>for</a:t>
            </a:r>
            <a:r>
              <a:rPr sz="729" i="0">
                <a:solidFill>
                  <a:srgbClr val="E6EDF3"/>
                </a:solidFill>
                <a:latin typeface="Inconsolata"/>
              </a:rPr>
              <a:t> method, properties, body </a:t>
            </a:r>
            <a:r>
              <a:rPr sz="729" i="0">
                <a:solidFill>
                  <a:srgbClr val="FF8E6E"/>
                </a:solidFill>
                <a:latin typeface="Inconsolata"/>
              </a:rPr>
              <a:t>in</a:t>
            </a:r>
            <a:r>
              <a:rPr sz="729" i="0">
                <a:solidFill>
                  <a:srgbClr val="E6EDF3"/>
                </a:solidFill>
                <a:latin typeface="Inconsolata"/>
              </a:rPr>
              <a:t> channel.consume(</a:t>
            </a:r>
          </a:p>
          <a:p>
            <a:pPr>
              <a:lnSpc>
                <a:spcPct val="102868"/>
              </a:lnSpc>
              <a:spcAft>
                <a:spcPts val="0"/>
              </a:spcAft>
            </a:pPr>
            <a:r>
              <a:rPr sz="729" i="0">
                <a:solidFill>
                  <a:srgbClr val="5C6773"/>
                </a:solidFill>
                <a:latin typeface="Inconsolata"/>
              </a:rPr>
              <a:t>45  </a:t>
            </a:r>
            <a:r>
              <a:rPr sz="729" i="0">
                <a:solidFill>
                  <a:srgbClr val="E6EDF3"/>
                </a:solidFill>
                <a:latin typeface="Inconsolata"/>
              </a:rPr>
              <a:t>                </a:t>
            </a:r>
            <a:r>
              <a:rPr sz="729" i="0">
                <a:solidFill>
                  <a:srgbClr val="A5D6A7"/>
                </a:solidFill>
                <a:latin typeface="Inconsolata"/>
              </a:rPr>
              <a:t>"points"</a:t>
            </a:r>
            <a:r>
              <a:rPr sz="729" i="0">
                <a:solidFill>
                  <a:srgbClr val="E6EDF3"/>
                </a:solidFill>
                <a:latin typeface="Inconsolata"/>
              </a:rPr>
              <a:t>, inactivity_timeout=</a:t>
            </a:r>
            <a:r>
              <a:rPr sz="729" i="0">
                <a:solidFill>
                  <a:srgbClr val="F9C97A"/>
                </a:solidFill>
                <a:latin typeface="Inconsolata"/>
              </a:rPr>
              <a:t>1</a:t>
            </a:r>
            <a:r>
              <a:rPr sz="729" i="0">
                <a:solidFill>
                  <a:srgbClr val="E6EDF3"/>
                </a:solidFill>
                <a:latin typeface="Inconsolata"/>
              </a:rPr>
              <a:t>):</a:t>
            </a:r>
          </a:p>
          <a:p>
            <a:pPr>
              <a:lnSpc>
                <a:spcPct val="102868"/>
              </a:lnSpc>
              <a:spcAft>
                <a:spcPts val="0"/>
              </a:spcAft>
            </a:pPr>
            <a:r>
              <a:rPr sz="729" i="0">
                <a:solidFill>
                  <a:srgbClr val="5C6773"/>
                </a:solidFill>
                <a:latin typeface="Inconsolata"/>
              </a:rPr>
              <a:t>46  </a:t>
            </a:r>
            <a:r>
              <a:rPr sz="729" i="0">
                <a:solidFill>
                  <a:srgbClr val="E6EDF3"/>
                </a:solidFill>
                <a:latin typeface="Inconsolata"/>
              </a:rPr>
              <a:t>            </a:t>
            </a:r>
            <a:r>
              <a:rPr sz="729" i="0">
                <a:solidFill>
                  <a:srgbClr val="FF8E6E"/>
                </a:solidFill>
                <a:latin typeface="Inconsolata"/>
              </a:rPr>
              <a:t>if</a:t>
            </a:r>
            <a:r>
              <a:rPr sz="729" i="0">
                <a:solidFill>
                  <a:srgbClr val="E6EDF3"/>
                </a:solidFill>
                <a:latin typeface="Inconsolata"/>
              </a:rPr>
              <a:t> method </a:t>
            </a:r>
            <a:r>
              <a:rPr sz="729" i="0">
                <a:solidFill>
                  <a:srgbClr val="FF8E6E"/>
                </a:solidFill>
                <a:latin typeface="Inconsolata"/>
              </a:rPr>
              <a:t>is</a:t>
            </a:r>
            <a:r>
              <a:rPr sz="729" i="0">
                <a:solidFill>
                  <a:srgbClr val="E6EDF3"/>
                </a:solidFill>
                <a:latin typeface="Inconsolata"/>
              </a:rPr>
              <a:t> </a:t>
            </a:r>
            <a:r>
              <a:rPr sz="729" i="0">
                <a:solidFill>
                  <a:srgbClr val="FF8E6E"/>
                </a:solidFill>
                <a:latin typeface="Inconsolata"/>
              </a:rPr>
              <a:t>None</a:t>
            </a:r>
            <a:r>
              <a:rPr sz="729" i="0">
                <a:solidFill>
                  <a:srgbClr val="E6EDF3"/>
                </a:solidFill>
                <a:latin typeface="Inconsolata"/>
              </a:rPr>
              <a:t>:</a:t>
            </a:r>
          </a:p>
          <a:p>
            <a:pPr>
              <a:lnSpc>
                <a:spcPct val="102868"/>
              </a:lnSpc>
              <a:spcAft>
                <a:spcPts val="0"/>
              </a:spcAft>
            </a:pPr>
            <a:r>
              <a:rPr sz="729" i="0">
                <a:solidFill>
                  <a:srgbClr val="5C6773"/>
                </a:solidFill>
                <a:latin typeface="Inconsolata"/>
              </a:rPr>
              <a:t>47  </a:t>
            </a:r>
            <a:r>
              <a:rPr sz="729" i="0">
                <a:solidFill>
                  <a:srgbClr val="E6EDF3"/>
                </a:solidFill>
                <a:latin typeface="Inconsolata"/>
              </a:rPr>
              <a:t>                </a:t>
            </a:r>
            <a:r>
              <a:rPr sz="729" i="0">
                <a:solidFill>
                  <a:srgbClr val="FF8E6E"/>
                </a:solidFill>
                <a:latin typeface="Inconsolata"/>
              </a:rPr>
              <a:t>break</a:t>
            </a:r>
          </a:p>
          <a:p>
            <a:pPr>
              <a:lnSpc>
                <a:spcPct val="102868"/>
              </a:lnSpc>
              <a:spcAft>
                <a:spcPts val="0"/>
              </a:spcAft>
            </a:pPr>
            <a:r>
              <a:rPr sz="729" i="0">
                <a:solidFill>
                  <a:srgbClr val="5C6773"/>
                </a:solidFill>
                <a:latin typeface="Inconsolata"/>
              </a:rPr>
              <a:t>48  </a:t>
            </a:r>
            <a:r>
              <a:rPr sz="729" i="0">
                <a:solidFill>
                  <a:srgbClr val="E6EDF3"/>
                </a:solidFill>
                <a:latin typeface="Inconsolata"/>
              </a:rPr>
              <a:t>            add_points(json.loads(body))</a:t>
            </a:r>
          </a:p>
          <a:p>
            <a:pPr>
              <a:lnSpc>
                <a:spcPct val="102868"/>
              </a:lnSpc>
              <a:spcAft>
                <a:spcPts val="0"/>
              </a:spcAft>
            </a:pPr>
            <a:r>
              <a:rPr sz="729" i="0">
                <a:solidFill>
                  <a:srgbClr val="5C6773"/>
                </a:solidFill>
                <a:latin typeface="Inconsolata"/>
              </a:rPr>
              <a:t>49  </a:t>
            </a:r>
            <a:r>
              <a:rPr sz="729" i="0">
                <a:solidFill>
                  <a:srgbClr val="E6EDF3"/>
                </a:solidFill>
                <a:latin typeface="Inconsolata"/>
              </a:rPr>
              <a:t>            </a:t>
            </a:r>
            <a:r>
              <a:rPr sz="729" i="0">
                <a:solidFill>
                  <a:srgbClr val="FF8E6E"/>
                </a:solidFill>
                <a:latin typeface="Inconsolata"/>
              </a:rPr>
              <a:t>if</a:t>
            </a:r>
            <a:r>
              <a:rPr sz="729" i="0">
                <a:solidFill>
                  <a:srgbClr val="E6EDF3"/>
                </a:solidFill>
                <a:latin typeface="Inconsolata"/>
              </a:rPr>
              <a:t> crash_before_ack:</a:t>
            </a:r>
          </a:p>
          <a:p>
            <a:pPr>
              <a:lnSpc>
                <a:spcPct val="102868"/>
              </a:lnSpc>
              <a:spcAft>
                <a:spcPts val="0"/>
              </a:spcAft>
            </a:pPr>
            <a:r>
              <a:rPr sz="729" i="0">
                <a:solidFill>
                  <a:srgbClr val="5C6773"/>
                </a:solidFill>
                <a:latin typeface="Inconsolata"/>
              </a:rPr>
              <a:t>50  </a:t>
            </a:r>
            <a:r>
              <a:rPr sz="729" i="0">
                <a:solidFill>
                  <a:srgbClr val="E6EDF3"/>
                </a:solidFill>
                <a:latin typeface="Inconsolata"/>
              </a:rPr>
              <a:t>                </a:t>
            </a:r>
            <a:r>
              <a:rPr sz="729" i="0">
                <a:solidFill>
                  <a:srgbClr val="FF8E6E"/>
                </a:solidFill>
                <a:latin typeface="Inconsolata"/>
              </a:rPr>
              <a:t>raise</a:t>
            </a:r>
            <a:r>
              <a:rPr sz="729" i="0">
                <a:solidFill>
                  <a:srgbClr val="E6EDF3"/>
                </a:solidFill>
                <a:latin typeface="Inconsolata"/>
              </a:rPr>
              <a:t> </a:t>
            </a:r>
            <a:r>
              <a:rPr sz="729" i="0">
                <a:solidFill>
                  <a:srgbClr val="7FDBCA"/>
                </a:solidFill>
                <a:latin typeface="Inconsolata"/>
              </a:rPr>
              <a:t>RuntimeError</a:t>
            </a:r>
            <a:r>
              <a:rPr sz="729" i="0">
                <a:solidFill>
                  <a:srgbClr val="E6EDF3"/>
                </a:solidFill>
                <a:latin typeface="Inconsolata"/>
              </a:rPr>
              <a:t>(</a:t>
            </a:r>
            <a:r>
              <a:rPr sz="729" i="0">
                <a:solidFill>
                  <a:srgbClr val="A5D6A7"/>
                </a:solidFill>
                <a:latin typeface="Inconsolata"/>
              </a:rPr>
              <a:t>"worker crash sebelum ack"</a:t>
            </a:r>
            <a:r>
              <a:rPr sz="729" i="0">
                <a:solidFill>
                  <a:srgbClr val="E6EDF3"/>
                </a:solidFill>
                <a:latin typeface="Inconsolata"/>
              </a:rPr>
              <a:t>)</a:t>
            </a:r>
          </a:p>
          <a:p>
            <a:pPr>
              <a:lnSpc>
                <a:spcPct val="102868"/>
              </a:lnSpc>
              <a:spcAft>
                <a:spcPts val="0"/>
              </a:spcAft>
            </a:pPr>
            <a:r>
              <a:rPr sz="729" i="0">
                <a:solidFill>
                  <a:srgbClr val="5C6773"/>
                </a:solidFill>
                <a:latin typeface="Inconsolata"/>
              </a:rPr>
              <a:t>51  </a:t>
            </a:r>
            <a:r>
              <a:rPr sz="729" i="0">
                <a:solidFill>
                  <a:srgbClr val="E6EDF3"/>
                </a:solidFill>
                <a:latin typeface="Inconsolata"/>
              </a:rPr>
              <a:t>            channel.basic_ack(method.delivery_tag)</a:t>
            </a:r>
          </a:p>
          <a:p>
            <a:pPr>
              <a:lnSpc>
                <a:spcPct val="102868"/>
              </a:lnSpc>
              <a:spcAft>
                <a:spcPts val="0"/>
              </a:spcAft>
            </a:pPr>
            <a:r>
              <a:rPr sz="729" i="0">
                <a:solidFill>
                  <a:srgbClr val="5C6773"/>
                </a:solidFill>
                <a:latin typeface="Inconsolata"/>
              </a:rPr>
              <a:t>52  </a:t>
            </a:r>
            <a:r>
              <a:rPr sz="729" i="0">
                <a:solidFill>
                  <a:srgbClr val="E6EDF3"/>
                </a:solidFill>
                <a:latin typeface="Inconsolata"/>
              </a:rPr>
              <a:t> </a:t>
            </a:r>
          </a:p>
          <a:p>
            <a:pPr>
              <a:lnSpc>
                <a:spcPct val="102868"/>
              </a:lnSpc>
              <a:spcAft>
                <a:spcPts val="0"/>
              </a:spcAft>
            </a:pPr>
            <a:r>
              <a:rPr sz="729" i="0">
                <a:solidFill>
                  <a:srgbClr val="5C6773"/>
                </a:solidFill>
                <a:latin typeface="Inconsolata"/>
              </a:rPr>
              <a:t>53  </a:t>
            </a:r>
            <a:r>
              <a:rPr sz="729" i="0">
                <a:solidFill>
                  <a:srgbClr val="E6EDF3"/>
                </a:solidFill>
                <a:latin typeface="Inconsolata"/>
              </a:rPr>
              <a:t> </a:t>
            </a:r>
          </a:p>
          <a:p>
            <a:pPr>
              <a:lnSpc>
                <a:spcPct val="102868"/>
              </a:lnSpc>
              <a:spcAft>
                <a:spcPts val="0"/>
              </a:spcAft>
            </a:pPr>
            <a:r>
              <a:rPr sz="729" i="0">
                <a:solidFill>
                  <a:srgbClr val="5C6773"/>
                </a:solidFill>
                <a:latin typeface="Inconsolata"/>
              </a:rPr>
              <a:t>54  </a:t>
            </a:r>
            <a:r>
              <a:rPr sz="729" i="0">
                <a:solidFill>
                  <a:srgbClr val="FF8E6E"/>
                </a:solidFill>
                <a:latin typeface="Inconsolata"/>
              </a:rPr>
              <a:t>def</a:t>
            </a:r>
            <a:r>
              <a:rPr sz="729" i="0">
                <a:solidFill>
                  <a:srgbClr val="E6EDF3"/>
                </a:solidFill>
                <a:latin typeface="Inconsolata"/>
              </a:rPr>
              <a:t> </a:t>
            </a:r>
            <a:r>
              <a:rPr sz="729" i="0">
                <a:solidFill>
                  <a:srgbClr val="82B1FF"/>
                </a:solidFill>
                <a:latin typeface="Inconsolata"/>
              </a:rPr>
              <a:t>publish_event</a:t>
            </a:r>
            <a:r>
              <a:rPr sz="729" i="0">
                <a:solidFill>
                  <a:srgbClr val="E6EDF3"/>
                </a:solidFill>
                <a:latin typeface="Inconsolata"/>
              </a:rPr>
              <a:t>():</a:t>
            </a:r>
          </a:p>
          <a:p>
            <a:pPr>
              <a:lnSpc>
                <a:spcPct val="102868"/>
              </a:lnSpc>
              <a:spcAft>
                <a:spcPts val="0"/>
              </a:spcAft>
            </a:pPr>
            <a:r>
              <a:rPr sz="729" i="0">
                <a:solidFill>
                  <a:srgbClr val="5C6773"/>
                </a:solidFill>
                <a:latin typeface="Inconsolata"/>
              </a:rPr>
              <a:t>55  </a:t>
            </a:r>
            <a:r>
              <a:rPr sz="729" i="0">
                <a:solidFill>
                  <a:srgbClr val="E6EDF3"/>
                </a:solidFill>
                <a:latin typeface="Inconsolata"/>
              </a:rPr>
              <a:t>    </a:t>
            </a:r>
            <a:r>
              <a:rPr sz="729" i="0">
                <a:solidFill>
                  <a:srgbClr val="FF8E6E"/>
                </a:solidFill>
                <a:latin typeface="Inconsolata"/>
              </a:rPr>
              <a:t>with</a:t>
            </a:r>
            <a:r>
              <a:rPr sz="729" i="0">
                <a:solidFill>
                  <a:srgbClr val="E6EDF3"/>
                </a:solidFill>
                <a:latin typeface="Inconsolata"/>
              </a:rPr>
              <a:t> pika.</a:t>
            </a:r>
            <a:r>
              <a:rPr sz="729" i="0">
                <a:solidFill>
                  <a:srgbClr val="7FDBCA"/>
                </a:solidFill>
                <a:latin typeface="Inconsolata"/>
              </a:rPr>
              <a:t>BlockingConnection</a:t>
            </a:r>
            <a:r>
              <a:rPr sz="729" i="0">
                <a:solidFill>
                  <a:srgbClr val="E6EDF3"/>
                </a:solidFill>
                <a:latin typeface="Inconsolata"/>
              </a:rPr>
              <a:t>(pika.</a:t>
            </a:r>
            <a:r>
              <a:rPr sz="729" i="0">
                <a:solidFill>
                  <a:srgbClr val="7FDBCA"/>
                </a:solidFill>
                <a:latin typeface="Inconsolata"/>
              </a:rPr>
              <a:t>URLParameters</a:t>
            </a:r>
            <a:r>
              <a:rPr sz="729" i="0">
                <a:solidFill>
                  <a:srgbClr val="E6EDF3"/>
                </a:solidFill>
                <a:latin typeface="Inconsolata"/>
              </a:rPr>
              <a:t>(</a:t>
            </a:r>
            <a:r>
              <a:rPr sz="729" i="0">
                <a:solidFill>
                  <a:srgbClr val="7FDBCA"/>
                </a:solidFill>
                <a:latin typeface="Inconsolata"/>
              </a:rPr>
              <a:t>URL</a:t>
            </a:r>
            <a:r>
              <a:rPr sz="729" i="0">
                <a:solidFill>
                  <a:srgbClr val="E6EDF3"/>
                </a:solidFill>
                <a:latin typeface="Inconsolata"/>
              </a:rPr>
              <a:t>)) </a:t>
            </a:r>
            <a:r>
              <a:rPr sz="729" i="0">
                <a:solidFill>
                  <a:srgbClr val="FF8E6E"/>
                </a:solidFill>
                <a:latin typeface="Inconsolata"/>
              </a:rPr>
              <a:t>as</a:t>
            </a:r>
            <a:r>
              <a:rPr sz="729" i="0">
                <a:solidFill>
                  <a:srgbClr val="E6EDF3"/>
                </a:solidFill>
                <a:latin typeface="Inconsolata"/>
              </a:rPr>
              <a:t> conn:</a:t>
            </a:r>
          </a:p>
          <a:p>
            <a:pPr>
              <a:lnSpc>
                <a:spcPct val="102868"/>
              </a:lnSpc>
              <a:spcAft>
                <a:spcPts val="0"/>
              </a:spcAft>
            </a:pPr>
            <a:r>
              <a:rPr sz="729" i="0">
                <a:solidFill>
                  <a:srgbClr val="5C6773"/>
                </a:solidFill>
                <a:latin typeface="Inconsolata"/>
              </a:rPr>
              <a:t>56  </a:t>
            </a:r>
            <a:r>
              <a:rPr sz="729" i="0">
                <a:solidFill>
                  <a:srgbClr val="E6EDF3"/>
                </a:solidFill>
                <a:latin typeface="Inconsolata"/>
              </a:rPr>
              <a:t>        channel = conn.channel()</a:t>
            </a:r>
          </a:p>
          <a:p>
            <a:pPr>
              <a:lnSpc>
                <a:spcPct val="102868"/>
              </a:lnSpc>
              <a:spcAft>
                <a:spcPts val="0"/>
              </a:spcAft>
            </a:pPr>
            <a:r>
              <a:rPr sz="729" i="0">
                <a:solidFill>
                  <a:srgbClr val="5C6773"/>
                </a:solidFill>
                <a:latin typeface="Inconsolata"/>
              </a:rPr>
              <a:t>57  </a:t>
            </a:r>
            <a:r>
              <a:rPr sz="729" i="0">
                <a:solidFill>
                  <a:srgbClr val="E6EDF3"/>
                </a:solidFill>
                <a:latin typeface="Inconsolata"/>
              </a:rPr>
              <a:t>        channel.confirm_delivery()</a:t>
            </a:r>
          </a:p>
          <a:p>
            <a:pPr>
              <a:lnSpc>
                <a:spcPct val="102868"/>
              </a:lnSpc>
              <a:spcAft>
                <a:spcPts val="0"/>
              </a:spcAft>
            </a:pPr>
            <a:r>
              <a:rPr sz="729" i="0">
                <a:solidFill>
                  <a:srgbClr val="5C6773"/>
                </a:solidFill>
                <a:latin typeface="Inconsolata"/>
              </a:rPr>
              <a:t>58  </a:t>
            </a:r>
            <a:r>
              <a:rPr sz="729" i="0">
                <a:solidFill>
                  <a:srgbClr val="E6EDF3"/>
                </a:solidFill>
                <a:latin typeface="Inconsolata"/>
              </a:rPr>
              <a:t>        channel.queue_delete(</a:t>
            </a:r>
            <a:r>
              <a:rPr sz="729" i="0">
                <a:solidFill>
                  <a:srgbClr val="A5D6A7"/>
                </a:solidFill>
                <a:latin typeface="Inconsolata"/>
              </a:rPr>
              <a:t>"points"</a:t>
            </a:r>
            <a:r>
              <a:rPr sz="729" i="0">
                <a:solidFill>
                  <a:srgbClr val="E6EDF3"/>
                </a:solidFill>
                <a:latin typeface="Inconsolata"/>
              </a:rPr>
              <a:t>)</a:t>
            </a:r>
          </a:p>
          <a:p>
            <a:pPr>
              <a:lnSpc>
                <a:spcPct val="102868"/>
              </a:lnSpc>
              <a:spcAft>
                <a:spcPts val="0"/>
              </a:spcAft>
            </a:pPr>
            <a:r>
              <a:rPr sz="729" i="0">
                <a:solidFill>
                  <a:srgbClr val="5C6773"/>
                </a:solidFill>
                <a:latin typeface="Inconsolata"/>
              </a:rPr>
              <a:t>59  </a:t>
            </a:r>
            <a:r>
              <a:rPr sz="729" i="0">
                <a:solidFill>
                  <a:srgbClr val="E6EDF3"/>
                </a:solidFill>
                <a:latin typeface="Inconsolata"/>
              </a:rPr>
              <a:t>        channel.queue_declare(</a:t>
            </a:r>
            <a:r>
              <a:rPr sz="729" i="0">
                <a:solidFill>
                  <a:srgbClr val="A5D6A7"/>
                </a:solidFill>
                <a:latin typeface="Inconsolata"/>
              </a:rPr>
              <a:t>"points"</a:t>
            </a:r>
            <a:r>
              <a:rPr sz="729" i="0">
                <a:solidFill>
                  <a:srgbClr val="E6EDF3"/>
                </a:solidFill>
                <a:latin typeface="Inconsolata"/>
              </a:rPr>
              <a:t>, durable=</a:t>
            </a:r>
            <a:r>
              <a:rPr sz="729" i="0">
                <a:solidFill>
                  <a:srgbClr val="FF8E6E"/>
                </a:solidFill>
                <a:latin typeface="Inconsolata"/>
              </a:rPr>
              <a:t>True</a:t>
            </a:r>
            <a:r>
              <a:rPr sz="729" i="0">
                <a:solidFill>
                  <a:srgbClr val="E6EDF3"/>
                </a:solidFill>
                <a:latin typeface="Inconsolata"/>
              </a:rPr>
              <a:t>)</a:t>
            </a:r>
          </a:p>
          <a:p>
            <a:pPr>
              <a:lnSpc>
                <a:spcPct val="102868"/>
              </a:lnSpc>
              <a:spcAft>
                <a:spcPts val="0"/>
              </a:spcAft>
            </a:pPr>
            <a:r>
              <a:rPr sz="729" i="0">
                <a:solidFill>
                  <a:srgbClr val="5C6773"/>
                </a:solidFill>
                <a:latin typeface="Inconsolata"/>
              </a:rPr>
              <a:t>60  </a:t>
            </a:r>
            <a:r>
              <a:rPr sz="729" i="0">
                <a:solidFill>
                  <a:srgbClr val="E6EDF3"/>
                </a:solidFill>
                <a:latin typeface="Inconsolata"/>
              </a:rPr>
              <a:t>        event = {</a:t>
            </a:r>
            <a:r>
              <a:rPr sz="729" i="0">
                <a:solidFill>
                  <a:srgbClr val="A5D6A7"/>
                </a:solidFill>
                <a:latin typeface="Inconsolata"/>
              </a:rPr>
              <a:t>"event_id"</a:t>
            </a:r>
            <a:r>
              <a:rPr sz="729" i="0">
                <a:solidFill>
                  <a:srgbClr val="E6EDF3"/>
                </a:solidFill>
                <a:latin typeface="Inconsolata"/>
              </a:rPr>
              <a:t>: </a:t>
            </a:r>
            <a:r>
              <a:rPr sz="729" i="0">
                <a:solidFill>
                  <a:srgbClr val="C3A6FF"/>
                </a:solidFill>
                <a:latin typeface="Inconsolata"/>
              </a:rPr>
              <a:t>str</a:t>
            </a:r>
            <a:r>
              <a:rPr sz="729" i="0">
                <a:solidFill>
                  <a:srgbClr val="E6EDF3"/>
                </a:solidFill>
                <a:latin typeface="Inconsolata"/>
              </a:rPr>
              <a:t>(uuid.uuid4()), </a:t>
            </a:r>
            <a:r>
              <a:rPr sz="729" i="0">
                <a:solidFill>
                  <a:srgbClr val="A5D6A7"/>
                </a:solidFill>
                <a:latin typeface="Inconsolata"/>
              </a:rPr>
              <a:t>"type"</a:t>
            </a:r>
            <a:r>
              <a:rPr sz="729" i="0">
                <a:solidFill>
                  <a:srgbClr val="E6EDF3"/>
                </a:solidFill>
                <a:latin typeface="Inconsolata"/>
              </a:rPr>
              <a:t>: </a:t>
            </a:r>
            <a:r>
              <a:rPr sz="729" i="0">
                <a:solidFill>
                  <a:srgbClr val="A5D6A7"/>
                </a:solidFill>
                <a:latin typeface="Inconsolata"/>
              </a:rPr>
              <a:t>"order.paid"</a:t>
            </a:r>
            <a:r>
              <a:rPr sz="729" i="0">
                <a:solidFill>
                  <a:srgbClr val="E6EDF3"/>
                </a:solidFill>
                <a:latin typeface="Inconsolata"/>
              </a:rPr>
              <a:t>,</a:t>
            </a:r>
          </a:p>
          <a:p>
            <a:pPr>
              <a:lnSpc>
                <a:spcPct val="102868"/>
              </a:lnSpc>
              <a:spcAft>
                <a:spcPts val="0"/>
              </a:spcAft>
            </a:pPr>
            <a:r>
              <a:rPr sz="729" i="0">
                <a:solidFill>
                  <a:srgbClr val="5C6773"/>
                </a:solidFill>
                <a:latin typeface="Inconsolata"/>
              </a:rPr>
              <a:t>61  </a:t>
            </a:r>
            <a:r>
              <a:rPr sz="729" i="0">
                <a:solidFill>
                  <a:srgbClr val="E6EDF3"/>
                </a:solidFill>
                <a:latin typeface="Inconsolata"/>
              </a:rPr>
              <a:t>                 </a:t>
            </a:r>
            <a:r>
              <a:rPr sz="729" i="0">
                <a:solidFill>
                  <a:srgbClr val="A5D6A7"/>
                </a:solidFill>
                <a:latin typeface="Inconsolata"/>
              </a:rPr>
              <a:t>"order_id"</a:t>
            </a:r>
            <a:r>
              <a:rPr sz="729" i="0">
                <a:solidFill>
                  <a:srgbClr val="E6EDF3"/>
                </a:solidFill>
                <a:latin typeface="Inconsolata"/>
              </a:rPr>
              <a:t>: </a:t>
            </a:r>
            <a:r>
              <a:rPr sz="729" i="0">
                <a:solidFill>
                  <a:srgbClr val="F9C97A"/>
                </a:solidFill>
                <a:latin typeface="Inconsolata"/>
              </a:rPr>
              <a:t>1</a:t>
            </a:r>
            <a:r>
              <a:rPr sz="729" i="0">
                <a:solidFill>
                  <a:srgbClr val="E6EDF3"/>
                </a:solidFill>
                <a:latin typeface="Inconsolata"/>
              </a:rPr>
              <a:t>, </a:t>
            </a:r>
            <a:r>
              <a:rPr sz="729" i="0">
                <a:solidFill>
                  <a:srgbClr val="A5D6A7"/>
                </a:solidFill>
                <a:latin typeface="Inconsolata"/>
              </a:rPr>
              <a:t>"customer"</a:t>
            </a:r>
            <a:r>
              <a:rPr sz="729" i="0">
                <a:solidFill>
                  <a:srgbClr val="E6EDF3"/>
                </a:solidFill>
                <a:latin typeface="Inconsolata"/>
              </a:rPr>
              <a:t>: </a:t>
            </a:r>
            <a:r>
              <a:rPr sz="729" i="0">
                <a:solidFill>
                  <a:srgbClr val="A5D6A7"/>
                </a:solidFill>
                <a:latin typeface="Inconsolata"/>
              </a:rPr>
              <a:t>"budi@mail.com"</a:t>
            </a:r>
            <a:r>
              <a:rPr sz="729" i="0">
                <a:solidFill>
                  <a:srgbClr val="E6EDF3"/>
                </a:solidFill>
                <a:latin typeface="Inconsolata"/>
              </a:rPr>
              <a:t>,</a:t>
            </a:r>
          </a:p>
          <a:p>
            <a:pPr>
              <a:lnSpc>
                <a:spcPct val="102868"/>
              </a:lnSpc>
              <a:spcAft>
                <a:spcPts val="0"/>
              </a:spcAft>
            </a:pPr>
            <a:r>
              <a:rPr sz="729" i="0">
                <a:solidFill>
                  <a:srgbClr val="5C6773"/>
                </a:solidFill>
                <a:latin typeface="Inconsolata"/>
              </a:rPr>
              <a:t>62  </a:t>
            </a:r>
            <a:r>
              <a:rPr sz="729" i="0">
                <a:solidFill>
                  <a:srgbClr val="E6EDF3"/>
                </a:solidFill>
                <a:latin typeface="Inconsolata"/>
              </a:rPr>
              <a:t>                 </a:t>
            </a:r>
            <a:r>
              <a:rPr sz="729" i="0">
                <a:solidFill>
                  <a:srgbClr val="A5D6A7"/>
                </a:solidFill>
                <a:latin typeface="Inconsolata"/>
              </a:rPr>
              <a:t>"points"</a:t>
            </a:r>
            <a:r>
              <a:rPr sz="729" i="0">
                <a:solidFill>
                  <a:srgbClr val="E6EDF3"/>
                </a:solidFill>
                <a:latin typeface="Inconsolata"/>
              </a:rPr>
              <a:t>: </a:t>
            </a:r>
            <a:r>
              <a:rPr sz="729" i="0">
                <a:solidFill>
                  <a:srgbClr val="F9C97A"/>
                </a:solidFill>
                <a:latin typeface="Inconsolata"/>
              </a:rPr>
              <a:t>90</a:t>
            </a:r>
            <a:r>
              <a:rPr sz="729" i="0">
                <a:solidFill>
                  <a:srgbClr val="E6EDF3"/>
                </a:solidFill>
                <a:latin typeface="Inconsolata"/>
              </a:rPr>
              <a:t>}</a:t>
            </a:r>
          </a:p>
          <a:p>
            <a:pPr>
              <a:lnSpc>
                <a:spcPct val="102868"/>
              </a:lnSpc>
              <a:spcAft>
                <a:spcPts val="0"/>
              </a:spcAft>
            </a:pPr>
            <a:r>
              <a:rPr sz="729" i="0">
                <a:solidFill>
                  <a:srgbClr val="5C6773"/>
                </a:solidFill>
                <a:latin typeface="Inconsolata"/>
              </a:rPr>
              <a:t>63  </a:t>
            </a:r>
            <a:r>
              <a:rPr sz="729" i="0">
                <a:solidFill>
                  <a:srgbClr val="E6EDF3"/>
                </a:solidFill>
                <a:latin typeface="Inconsolata"/>
              </a:rPr>
              <a:t>        channel.basic_publish(</a:t>
            </a:r>
            <a:r>
              <a:rPr sz="729" i="0">
                <a:solidFill>
                  <a:srgbClr val="A5D6A7"/>
                </a:solidFill>
                <a:latin typeface="Inconsolata"/>
              </a:rPr>
              <a:t>""</a:t>
            </a:r>
            <a:r>
              <a:rPr sz="729" i="0">
                <a:solidFill>
                  <a:srgbClr val="E6EDF3"/>
                </a:solidFill>
                <a:latin typeface="Inconsolata"/>
              </a:rPr>
              <a:t>, </a:t>
            </a:r>
            <a:r>
              <a:rPr sz="729" i="0">
                <a:solidFill>
                  <a:srgbClr val="A5D6A7"/>
                </a:solidFill>
                <a:latin typeface="Inconsolata"/>
              </a:rPr>
              <a:t>"points"</a:t>
            </a:r>
            <a:r>
              <a:rPr sz="729" i="0">
                <a:solidFill>
                  <a:srgbClr val="E6EDF3"/>
                </a:solidFill>
                <a:latin typeface="Inconsolata"/>
              </a:rPr>
              <a:t>, json.dumps(event))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05-idempotent-consumer/after.py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2868"/>
              </a:lnSpc>
              <a:spcAft>
                <a:spcPts val="0"/>
              </a:spcAft>
            </a:pPr>
            <a:r>
              <a:rPr sz="729" i="0">
                <a:solidFill>
                  <a:srgbClr val="5C6773"/>
                </a:solidFill>
                <a:latin typeface="Inconsolata"/>
              </a:rPr>
              <a:t>66  </a:t>
            </a:r>
            <a:r>
              <a:rPr sz="729" i="0">
                <a:solidFill>
                  <a:srgbClr val="FF8E6E"/>
                </a:solidFill>
                <a:latin typeface="Inconsolata"/>
              </a:rPr>
              <a:t>if</a:t>
            </a:r>
            <a:r>
              <a:rPr sz="729" i="0">
                <a:solidFill>
                  <a:srgbClr val="E6EDF3"/>
                </a:solidFill>
                <a:latin typeface="Inconsolata"/>
              </a:rPr>
              <a:t> __name__ == </a:t>
            </a:r>
            <a:r>
              <a:rPr sz="729" i="0">
                <a:solidFill>
                  <a:srgbClr val="A5D6A7"/>
                </a:solidFill>
                <a:latin typeface="Inconsolata"/>
              </a:rPr>
              <a:t>"__main__"</a:t>
            </a:r>
            <a:r>
              <a:rPr sz="729" i="0">
                <a:solidFill>
                  <a:srgbClr val="E6EDF3"/>
                </a:solidFill>
                <a:latin typeface="Inconsolata"/>
              </a:rPr>
              <a:t>:</a:t>
            </a:r>
          </a:p>
          <a:p>
            <a:pPr>
              <a:lnSpc>
                <a:spcPct val="102868"/>
              </a:lnSpc>
              <a:spcAft>
                <a:spcPts val="0"/>
              </a:spcAft>
            </a:pPr>
            <a:r>
              <a:rPr sz="729" i="0">
                <a:solidFill>
                  <a:srgbClr val="5C6773"/>
                </a:solidFill>
                <a:latin typeface="Inconsolata"/>
              </a:rPr>
              <a:t>67  </a:t>
            </a:r>
            <a:r>
              <a:rPr sz="729" i="0">
                <a:solidFill>
                  <a:srgbClr val="E6EDF3"/>
                </a:solidFill>
                <a:latin typeface="Inconsolata"/>
              </a:rPr>
              <a:t>    publish_event()</a:t>
            </a:r>
          </a:p>
          <a:p>
            <a:pPr>
              <a:lnSpc>
                <a:spcPct val="102868"/>
              </a:lnSpc>
              <a:spcAft>
                <a:spcPts val="0"/>
              </a:spcAft>
            </a:pPr>
            <a:r>
              <a:rPr sz="729" i="0">
                <a:solidFill>
                  <a:srgbClr val="5C6773"/>
                </a:solidFill>
                <a:latin typeface="Inconsolata"/>
              </a:rPr>
              <a:t>68  </a:t>
            </a:r>
            <a:r>
              <a:rPr sz="729" i="0">
                <a:solidFill>
                  <a:srgbClr val="E6EDF3"/>
                </a:solidFill>
                <a:latin typeface="Inconsolata"/>
              </a:rPr>
              <a:t>    </a:t>
            </a:r>
            <a:r>
              <a:rPr sz="729" i="0">
                <a:solidFill>
                  <a:srgbClr val="FF8E6E"/>
                </a:solidFill>
                <a:latin typeface="Inconsolata"/>
              </a:rPr>
              <a:t>try</a:t>
            </a:r>
            <a:r>
              <a:rPr sz="729" i="0">
                <a:solidFill>
                  <a:srgbClr val="E6EDF3"/>
                </a:solidFill>
                <a:latin typeface="Inconsolata"/>
              </a:rPr>
              <a:t>:</a:t>
            </a:r>
          </a:p>
          <a:p>
            <a:pPr>
              <a:lnSpc>
                <a:spcPct val="102868"/>
              </a:lnSpc>
              <a:spcAft>
                <a:spcPts val="0"/>
              </a:spcAft>
            </a:pPr>
            <a:r>
              <a:rPr sz="729" i="0">
                <a:solidFill>
                  <a:srgbClr val="5C6773"/>
                </a:solidFill>
                <a:latin typeface="Inconsolata"/>
              </a:rPr>
              <a:t>69  </a:t>
            </a:r>
            <a:r>
              <a:rPr sz="729" i="0">
                <a:solidFill>
                  <a:srgbClr val="E6EDF3"/>
                </a:solidFill>
                <a:latin typeface="Inconsolata"/>
              </a:rPr>
              <a:t>        run_consumer(crash_before_ack=</a:t>
            </a:r>
            <a:r>
              <a:rPr sz="729" i="0">
                <a:solidFill>
                  <a:srgbClr val="FF8E6E"/>
                </a:solidFill>
                <a:latin typeface="Inconsolata"/>
              </a:rPr>
              <a:t>True</a:t>
            </a:r>
            <a:r>
              <a:rPr sz="729" i="0">
                <a:solidFill>
                  <a:srgbClr val="E6EDF3"/>
                </a:solidFill>
                <a:latin typeface="Inconsolata"/>
              </a:rPr>
              <a:t>)</a:t>
            </a:r>
          </a:p>
          <a:p>
            <a:pPr>
              <a:lnSpc>
                <a:spcPct val="102868"/>
              </a:lnSpc>
              <a:spcAft>
                <a:spcPts val="0"/>
              </a:spcAft>
            </a:pPr>
            <a:r>
              <a:rPr sz="729" i="0">
                <a:solidFill>
                  <a:srgbClr val="5C6773"/>
                </a:solidFill>
                <a:latin typeface="Inconsolata"/>
              </a:rPr>
              <a:t>70  </a:t>
            </a:r>
            <a:r>
              <a:rPr sz="729" i="0">
                <a:solidFill>
                  <a:srgbClr val="E6EDF3"/>
                </a:solidFill>
                <a:latin typeface="Inconsolata"/>
              </a:rPr>
              <a:t>    </a:t>
            </a:r>
            <a:r>
              <a:rPr sz="729" i="0">
                <a:solidFill>
                  <a:srgbClr val="FF8E6E"/>
                </a:solidFill>
                <a:latin typeface="Inconsolata"/>
              </a:rPr>
              <a:t>except</a:t>
            </a:r>
            <a:r>
              <a:rPr sz="729" i="0">
                <a:solidFill>
                  <a:srgbClr val="E6EDF3"/>
                </a:solidFill>
                <a:latin typeface="Inconsolata"/>
              </a:rPr>
              <a:t> </a:t>
            </a:r>
            <a:r>
              <a:rPr sz="729" i="0">
                <a:solidFill>
                  <a:srgbClr val="7FDBCA"/>
                </a:solidFill>
                <a:latin typeface="Inconsolata"/>
              </a:rPr>
              <a:t>RuntimeError</a:t>
            </a:r>
            <a:r>
              <a:rPr sz="729" i="0">
                <a:solidFill>
                  <a:srgbClr val="E6EDF3"/>
                </a:solidFill>
                <a:latin typeface="Inconsolata"/>
              </a:rPr>
              <a:t> </a:t>
            </a:r>
            <a:r>
              <a:rPr sz="729" i="0">
                <a:solidFill>
                  <a:srgbClr val="FF8E6E"/>
                </a:solidFill>
                <a:latin typeface="Inconsolata"/>
              </a:rPr>
              <a:t>as</a:t>
            </a:r>
            <a:r>
              <a:rPr sz="729" i="0">
                <a:solidFill>
                  <a:srgbClr val="E6EDF3"/>
                </a:solidFill>
                <a:latin typeface="Inconsolata"/>
              </a:rPr>
              <a:t> exc:</a:t>
            </a:r>
          </a:p>
          <a:p>
            <a:pPr>
              <a:lnSpc>
                <a:spcPct val="102868"/>
              </a:lnSpc>
              <a:spcAft>
                <a:spcPts val="0"/>
              </a:spcAft>
            </a:pPr>
            <a:r>
              <a:rPr sz="729" i="0">
                <a:solidFill>
                  <a:srgbClr val="5C6773"/>
                </a:solidFill>
                <a:latin typeface="Inconsolata"/>
              </a:rPr>
              <a:t>71  </a:t>
            </a:r>
            <a:r>
              <a:rPr sz="729" i="0">
                <a:solidFill>
                  <a:srgbClr val="E6EDF3"/>
                </a:solidFill>
                <a:latin typeface="Inconsolata"/>
              </a:rPr>
              <a:t>        </a:t>
            </a:r>
            <a:r>
              <a:rPr sz="729" i="0">
                <a:solidFill>
                  <a:srgbClr val="C3A6FF"/>
                </a:solidFill>
                <a:latin typeface="Inconsolata"/>
              </a:rPr>
              <a:t>print</a:t>
            </a:r>
            <a:r>
              <a:rPr sz="729" i="0">
                <a:solidFill>
                  <a:srgbClr val="E6EDF3"/>
                </a:solidFill>
                <a:latin typeface="Inconsolata"/>
              </a:rPr>
              <a:t>(</a:t>
            </a:r>
            <a:r>
              <a:rPr sz="729" i="0">
                <a:solidFill>
                  <a:srgbClr val="A5D6A7"/>
                </a:solidFill>
                <a:latin typeface="Inconsolata"/>
              </a:rPr>
              <a:t>f"  CRASH: {exc}"</a:t>
            </a:r>
            <a:r>
              <a:rPr sz="729" i="0">
                <a:solidFill>
                  <a:srgbClr val="E6EDF3"/>
                </a:solidFill>
                <a:latin typeface="Inconsolata"/>
              </a:rPr>
              <a:t>)</a:t>
            </a:r>
          </a:p>
          <a:p>
            <a:pPr>
              <a:lnSpc>
                <a:spcPct val="102868"/>
              </a:lnSpc>
              <a:spcAft>
                <a:spcPts val="0"/>
              </a:spcAft>
            </a:pPr>
            <a:r>
              <a:rPr sz="729" i="0">
                <a:solidFill>
                  <a:srgbClr val="5C6773"/>
                </a:solidFill>
                <a:latin typeface="Inconsolata"/>
              </a:rPr>
              <a:t>72  </a:t>
            </a:r>
            <a:r>
              <a:rPr sz="729" i="0">
                <a:solidFill>
                  <a:srgbClr val="E6EDF3"/>
                </a:solidFill>
                <a:latin typeface="Inconsolata"/>
              </a:rPr>
              <a:t>    </a:t>
            </a:r>
            <a:r>
              <a:rPr sz="729" i="0">
                <a:solidFill>
                  <a:srgbClr val="C3A6FF"/>
                </a:solidFill>
                <a:latin typeface="Inconsolata"/>
              </a:rPr>
              <a:t>print</a:t>
            </a:r>
            <a:r>
              <a:rPr sz="729" i="0">
                <a:solidFill>
                  <a:srgbClr val="E6EDF3"/>
                </a:solidFill>
                <a:latin typeface="Inconsolata"/>
              </a:rPr>
              <a:t>(</a:t>
            </a:r>
            <a:r>
              <a:rPr sz="729" i="0">
                <a:solidFill>
                  <a:srgbClr val="A5D6A7"/>
                </a:solidFill>
                <a:latin typeface="Inconsolata"/>
              </a:rPr>
              <a:t>"Consumer dijalankan ulang:"</a:t>
            </a:r>
            <a:r>
              <a:rPr sz="729" i="0">
                <a:solidFill>
                  <a:srgbClr val="E6EDF3"/>
                </a:solidFill>
                <a:latin typeface="Inconsolata"/>
              </a:rPr>
              <a:t>)</a:t>
            </a:r>
          </a:p>
          <a:p>
            <a:pPr>
              <a:lnSpc>
                <a:spcPct val="102868"/>
              </a:lnSpc>
              <a:spcAft>
                <a:spcPts val="0"/>
              </a:spcAft>
            </a:pPr>
            <a:r>
              <a:rPr sz="729" i="0">
                <a:solidFill>
                  <a:srgbClr val="5C6773"/>
                </a:solidFill>
                <a:latin typeface="Inconsolata"/>
              </a:rPr>
              <a:t>73  </a:t>
            </a:r>
            <a:r>
              <a:rPr sz="729" i="0">
                <a:solidFill>
                  <a:srgbClr val="E6EDF3"/>
                </a:solidFill>
                <a:latin typeface="Inconsolata"/>
              </a:rPr>
              <a:t>    run_consumer()</a:t>
            </a:r>
          </a:p>
          <a:p>
            <a:pPr>
              <a:lnSpc>
                <a:spcPct val="102868"/>
              </a:lnSpc>
              <a:spcAft>
                <a:spcPts val="0"/>
              </a:spcAft>
            </a:pPr>
            <a:r>
              <a:rPr sz="729" i="0">
                <a:solidFill>
                  <a:srgbClr val="5C6773"/>
                </a:solidFill>
                <a:latin typeface="Inconsolata"/>
              </a:rPr>
              <a:t>74  </a:t>
            </a:r>
            <a:r>
              <a:rPr sz="729" i="0">
                <a:solidFill>
                  <a:srgbClr val="E6EDF3"/>
                </a:solidFill>
                <a:latin typeface="Inconsolata"/>
              </a:rPr>
              <a:t> </a:t>
            </a:r>
          </a:p>
          <a:p>
            <a:pPr>
              <a:lnSpc>
                <a:spcPct val="102868"/>
              </a:lnSpc>
              <a:spcAft>
                <a:spcPts val="0"/>
              </a:spcAft>
            </a:pPr>
            <a:r>
              <a:rPr sz="729" i="0">
                <a:solidFill>
                  <a:srgbClr val="5C6773"/>
                </a:solidFill>
                <a:latin typeface="Inconsolata"/>
              </a:rPr>
              <a:t>75  </a:t>
            </a:r>
            <a:r>
              <a:rPr sz="729" i="0">
                <a:solidFill>
                  <a:srgbClr val="E6EDF3"/>
                </a:solidFill>
                <a:latin typeface="Inconsolata"/>
              </a:rPr>
              <a:t>    total = db.execute(</a:t>
            </a:r>
            <a:r>
              <a:rPr sz="729" i="0">
                <a:solidFill>
                  <a:srgbClr val="A5D6A7"/>
                </a:solidFill>
                <a:latin typeface="Inconsolata"/>
              </a:rPr>
              <a:t>"SELECT total FROM points"</a:t>
            </a:r>
            <a:r>
              <a:rPr sz="729" i="0">
                <a:solidFill>
                  <a:srgbClr val="E6EDF3"/>
                </a:solidFill>
                <a:latin typeface="Inconsolata"/>
              </a:rPr>
              <a:t>).fetchone()[</a:t>
            </a:r>
            <a:r>
              <a:rPr sz="729" i="0">
                <a:solidFill>
                  <a:srgbClr val="F9C97A"/>
                </a:solidFill>
                <a:latin typeface="Inconsolata"/>
              </a:rPr>
              <a:t>0</a:t>
            </a:r>
            <a:r>
              <a:rPr sz="729" i="0">
                <a:solidFill>
                  <a:srgbClr val="E6EDF3"/>
                </a:solidFill>
                <a:latin typeface="Inconsolata"/>
              </a:rPr>
              <a:t>]</a:t>
            </a:r>
          </a:p>
          <a:p>
            <a:pPr>
              <a:lnSpc>
                <a:spcPct val="102868"/>
              </a:lnSpc>
              <a:spcAft>
                <a:spcPts val="0"/>
              </a:spcAft>
            </a:pPr>
            <a:r>
              <a:rPr sz="729" i="0">
                <a:solidFill>
                  <a:srgbClr val="5C6773"/>
                </a:solidFill>
                <a:latin typeface="Inconsolata"/>
              </a:rPr>
              <a:t>76  </a:t>
            </a:r>
            <a:r>
              <a:rPr sz="729" i="0">
                <a:solidFill>
                  <a:srgbClr val="E6EDF3"/>
                </a:solidFill>
                <a:latin typeface="Inconsolata"/>
              </a:rPr>
              <a:t>    </a:t>
            </a:r>
            <a:r>
              <a:rPr sz="729" i="0">
                <a:solidFill>
                  <a:srgbClr val="C3A6FF"/>
                </a:solidFill>
                <a:latin typeface="Inconsolata"/>
              </a:rPr>
              <a:t>print</a:t>
            </a:r>
            <a:r>
              <a:rPr sz="729" i="0">
                <a:solidFill>
                  <a:srgbClr val="E6EDF3"/>
                </a:solidFill>
                <a:latin typeface="Inconsolata"/>
              </a:rPr>
              <a:t>(</a:t>
            </a:r>
            <a:r>
              <a:rPr sz="729" i="0">
                <a:solidFill>
                  <a:srgbClr val="A5D6A7"/>
                </a:solidFill>
                <a:latin typeface="Inconsolata"/>
              </a:rPr>
              <a:t>f"Total poin budi@mail.com: {total} (seharusnya 90)"</a:t>
            </a:r>
            <a:r>
              <a:rPr sz="729" i="0">
                <a:solidFill>
                  <a:srgbClr val="E6EDF3"/>
                </a:solidFill>
                <a:latin typeface="Inconsolata"/>
              </a:rPr>
              <a: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Idempotent Consumer</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05-idempotent-consumer/after.py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621792"/>
          </a:xfrm>
          <a:prstGeom prst="roundRect">
            <a:avLst>
              <a:gd name="adj" fmla="val 2941"/>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621792"/>
          </a:xfrm>
          <a:prstGeom prst="rect">
            <a:avLst/>
          </a:prstGeom>
          <a:noFill/>
        </p:spPr>
        <p:txBody>
          <a:bodyPr wrap="none" lIns="146304" tIns="91440" rIns="146304" bIns="54864">
            <a:spAutoFit/>
          </a:bodyPr>
          <a:lstStyle/>
          <a:p>
            <a:pPr>
              <a:lnSpc>
                <a:spcPct val="107843"/>
              </a:lnSpc>
              <a:spcAft>
                <a:spcPts val="0"/>
              </a:spcAft>
            </a:pPr>
            <a:r>
              <a:rPr sz="850" i="0">
                <a:solidFill>
                  <a:srgbClr val="82B1FF"/>
                </a:solidFill>
                <a:latin typeface="Inconsolata"/>
              </a:rPr>
              <a:t>$ cd sesi-08-event-driven-rabbitmq-kafka/05-idempotent-consumer</a:t>
            </a:r>
          </a:p>
          <a:p>
            <a:pPr>
              <a:lnSpc>
                <a:spcPct val="107843"/>
              </a:lnSpc>
              <a:spcAft>
                <a:spcPts val="0"/>
              </a:spcAft>
            </a:pPr>
            <a:r>
              <a:rPr sz="850" i="0">
                <a:solidFill>
                  <a:srgbClr val="82B1FF"/>
                </a:solidFill>
                <a:latin typeface="Inconsolata"/>
              </a:rPr>
              <a:t>$ docker compose -f ../docker-compose.yml up -d rabbitmq</a:t>
            </a:r>
          </a:p>
          <a:p>
            <a:pPr>
              <a:lnSpc>
                <a:spcPct val="107843"/>
              </a:lnSpc>
              <a:spcAft>
                <a:spcPts val="0"/>
              </a:spcAft>
            </a:pPr>
            <a:r>
              <a:rPr sz="850" i="0">
                <a:solidFill>
                  <a:srgbClr val="82B1FF"/>
                </a:solidFill>
                <a:latin typeface="Inconsolata"/>
              </a:rPr>
              <a:t>$ python after.py</a:t>
            </a:r>
          </a:p>
        </p:txBody>
      </p:sp>
      <p:pic>
        <p:nvPicPr>
          <p:cNvPr id="29" name="Image 12" descr="s08-05-idempotent-consumer-after.png"/>
          <p:cNvPicPr>
            <a:picLocks noChangeAspect="1"/>
          </p:cNvPicPr>
          <p:nvPr/>
        </p:nvPicPr>
        <p:blipFill>
          <a:blip r:embed="rId2"/>
          <a:stretch>
            <a:fillRect/>
          </a:stretch>
        </p:blipFill>
        <p:spPr>
          <a:xfrm>
            <a:off x="621792" y="2459736"/>
            <a:ext cx="4297680" cy="1289304"/>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Tabel </a:t>
            </a:r>
            <a:r>
              <a:rPr sz="950" b="0" i="0">
                <a:solidFill>
                  <a:srgbClr val="B5482A"/>
                </a:solidFill>
                <a:latin typeface="Inconsolata"/>
              </a:rPr>
              <a:t>processed_events</a:t>
            </a:r>
            <a:r>
              <a:rPr sz="950" b="0" i="0">
                <a:solidFill>
                  <a:srgbClr val="434343"/>
                </a:solidFill>
                <a:latin typeface="Inter"/>
              </a:rPr>
              <a:t> dengan </a:t>
            </a:r>
            <a:r>
              <a:rPr sz="950" b="0" i="0">
                <a:solidFill>
                  <a:srgbClr val="B5482A"/>
                </a:solidFill>
                <a:latin typeface="Inconsolata"/>
              </a:rPr>
              <a:t>event_id</a:t>
            </a:r>
            <a:r>
              <a:rPr sz="950" b="0" i="0">
                <a:solidFill>
                  <a:srgbClr val="434343"/>
                </a:solidFill>
                <a:latin typeface="Inter"/>
              </a:rPr>
              <a:t> sebagai primary key (baris 26)</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Catat event dan tambah poin dalam satu transaksi (baris 31-35)</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event_id sudah ada = skip (baris 37-38)</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Pesan datang dua kali, total poin tetap 90.</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47</a:t>
            </a:fld>
            <a:endParaRPr/>
          </a:p>
        </p:txBody>
      </p:sp>
      <p:sp>
        <p:nvSpPr>
          <p:cNvPr id="31" name="Text 1"/>
          <p:cNvSpPr txBox="1"/>
          <p:nvPr/>
        </p:nvSpPr>
        <p:spPr>
          <a:xfrm>
            <a:off x="822960" y="1600200"/>
            <a:ext cx="7315200" cy="365760"/>
          </a:xfrm>
          <a:prstGeom prst="rect">
            <a:avLst/>
          </a:prstGeom>
          <a:noFill/>
        </p:spPr>
        <p:txBody>
          <a:bodyPr wrap="square" lIns="45720" rIns="45720" anchor="t">
            <a:spAutoFit/>
          </a:bodyPr>
          <a:lstStyle/>
          <a:p>
            <a:pPr algn="l">
              <a:lnSpc>
                <a:spcPct val="115000"/>
              </a:lnSpc>
              <a:spcAft>
                <a:spcPts val="400"/>
              </a:spcAft>
            </a:pPr>
            <a:r>
              <a:rPr sz="1400" b="0" i="0">
                <a:solidFill>
                  <a:srgbClr val="CFE0FA"/>
                </a:solidFill>
                <a:latin typeface="Inter"/>
              </a:rPr>
              <a:t>Bagian 03</a:t>
            </a:r>
          </a:p>
        </p:txBody>
      </p:sp>
      <p:sp>
        <p:nvSpPr>
          <p:cNvPr id="32" name="Text 2"/>
          <p:cNvSpPr txBox="1"/>
          <p:nvPr/>
        </p:nvSpPr>
        <p:spPr>
          <a:xfrm>
            <a:off x="822960" y="1920240"/>
            <a:ext cx="7315200" cy="822960"/>
          </a:xfrm>
          <a:prstGeom prst="rect">
            <a:avLst/>
          </a:prstGeom>
          <a:noFill/>
        </p:spPr>
        <p:txBody>
          <a:bodyPr wrap="square" lIns="45720" rIns="45720" anchor="t">
            <a:spAutoFit/>
          </a:bodyPr>
          <a:lstStyle/>
          <a:p>
            <a:pPr algn="l">
              <a:lnSpc>
                <a:spcPct val="115000"/>
              </a:lnSpc>
              <a:spcAft>
                <a:spcPts val="400"/>
              </a:spcAft>
            </a:pPr>
            <a:r>
              <a:rPr sz="3000" b="0" i="0">
                <a:solidFill>
                  <a:srgbClr val="FFFFFF"/>
                </a:solidFill>
                <a:latin typeface="Work Sans ExtraBold"/>
              </a:rPr>
              <a:t>Apache Kafka</a:t>
            </a:r>
          </a:p>
        </p:txBody>
      </p:sp>
      <p:sp>
        <p:nvSpPr>
          <p:cNvPr id="33" name="Text 3"/>
          <p:cNvSpPr txBox="1"/>
          <p:nvPr/>
        </p:nvSpPr>
        <p:spPr>
          <a:xfrm>
            <a:off x="822960" y="2743200"/>
            <a:ext cx="6583680" cy="731520"/>
          </a:xfrm>
          <a:prstGeom prst="rect">
            <a:avLst/>
          </a:prstGeom>
          <a:noFill/>
        </p:spPr>
        <p:txBody>
          <a:bodyPr wrap="square" lIns="45720" rIns="45720" anchor="t">
            <a:spAutoFit/>
          </a:bodyPr>
          <a:lstStyle/>
          <a:p>
            <a:pPr algn="l">
              <a:lnSpc>
                <a:spcPct val="115000"/>
              </a:lnSpc>
              <a:spcAft>
                <a:spcPts val="400"/>
              </a:spcAft>
            </a:pPr>
            <a:r>
              <a:rPr sz="1200" b="0" i="0">
                <a:solidFill>
                  <a:srgbClr val="E3ECFA"/>
                </a:solidFill>
                <a:latin typeface="Inter"/>
              </a:rPr>
              <a:t>Topic, partition, consumer group, dan offset.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Kafka</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Kafka?</a:t>
            </a:r>
          </a:p>
        </p:txBody>
      </p:sp>
      <p:sp>
        <p:nvSpPr>
          <p:cNvPr id="22" name="Text 3"/>
          <p:cNvSpPr txBox="1"/>
          <p:nvPr/>
        </p:nvSpPr>
        <p:spPr>
          <a:xfrm>
            <a:off x="621792" y="1481328"/>
            <a:ext cx="384048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Kafka adalah</a:t>
            </a:r>
          </a:p>
          <a:p>
            <a:pPr algn="l">
              <a:lnSpc>
                <a:spcPct val="115000"/>
              </a:lnSpc>
              <a:spcAft>
                <a:spcPts val="400"/>
              </a:spcAft>
            </a:pPr>
            <a:r>
              <a:rPr sz="950" b="0" i="0">
                <a:solidFill>
                  <a:srgbClr val="434343"/>
                </a:solidFill>
                <a:latin typeface="Inter"/>
              </a:rPr>
              <a:t>Platform </a:t>
            </a:r>
            <a:r>
              <a:rPr sz="950" b="1" i="0">
                <a:solidFill>
                  <a:srgbClr val="434343"/>
                </a:solidFill>
                <a:latin typeface="Inter"/>
              </a:rPr>
              <a:t>event streaming</a:t>
            </a:r>
            <a:r>
              <a:rPr sz="950" b="0" i="0">
                <a:solidFill>
                  <a:srgbClr val="434343"/>
                </a:solidFill>
                <a:latin typeface="Inter"/>
              </a:rPr>
              <a:t> yang menyimpan event seperti log: hanya ditambah di belakang dan </a:t>
            </a:r>
            <a:r>
              <a:rPr sz="950" b="1" i="0">
                <a:solidFill>
                  <a:srgbClr val="434343"/>
                </a:solidFill>
                <a:latin typeface="Inter"/>
              </a:rPr>
              <a:t>tidak dihapus setelah dibaca</a:t>
            </a:r>
            <a:r>
              <a:rPr sz="950" b="0" i="0">
                <a:solidFill>
                  <a:srgbClr val="434343"/>
                </a:solidFill>
                <a:latin typeface="Inter"/>
              </a:rPr>
              <a:t>. Event baru dihapus setelah masa simpan (retention) habis.</a:t>
            </a:r>
          </a:p>
          <a:p>
            <a:pPr algn="l">
              <a:lnSpc>
                <a:spcPct val="115000"/>
              </a:lnSpc>
              <a:spcAft>
                <a:spcPts val="400"/>
              </a:spcAft>
            </a:pPr>
            <a:r>
              <a:rPr sz="1050" b="1" i="0">
                <a:solidFill>
                  <a:srgbClr val="1C4587"/>
                </a:solidFill>
                <a:latin typeface="Inter"/>
              </a:rPr>
              <a:t>Istilahnya</a:t>
            </a:r>
          </a:p>
          <a:p>
            <a:pPr marL="182880" indent="-182880" algn="l">
              <a:lnSpc>
                <a:spcPct val="115000"/>
              </a:lnSpc>
              <a:spcAft>
                <a:spcPts val="400"/>
              </a:spcAft>
              <a:buClr>
                <a:srgbClr val="E0764F"/>
              </a:buClr>
              <a:buSzPct val="100000"/>
              <a:buFont typeface="Arial"/>
              <a:buChar char="•"/>
            </a:pPr>
            <a:r>
              <a:rPr sz="950" b="1" i="0">
                <a:solidFill>
                  <a:srgbClr val="434343"/>
                </a:solidFill>
                <a:latin typeface="Inter"/>
              </a:rPr>
              <a:t>Topic</a:t>
            </a:r>
            <a:r>
              <a:rPr sz="950" b="0" i="0">
                <a:solidFill>
                  <a:srgbClr val="434343"/>
                </a:solidFill>
                <a:latin typeface="Inter"/>
              </a:rPr>
              <a:t>: nama log, misalnya </a:t>
            </a:r>
            <a:r>
              <a:rPr sz="950" b="0" i="0">
                <a:solidFill>
                  <a:srgbClr val="B5482A"/>
                </a:solidFill>
                <a:latin typeface="Inconsolata"/>
              </a:rPr>
              <a:t>orders</a:t>
            </a:r>
          </a:p>
          <a:p>
            <a:pPr marL="182880" indent="-182880" algn="l">
              <a:lnSpc>
                <a:spcPct val="115000"/>
              </a:lnSpc>
              <a:spcAft>
                <a:spcPts val="400"/>
              </a:spcAft>
              <a:buClr>
                <a:srgbClr val="E0764F"/>
              </a:buClr>
              <a:buSzPct val="100000"/>
              <a:buFont typeface="Arial"/>
              <a:buChar char="•"/>
            </a:pPr>
            <a:r>
              <a:rPr sz="950" b="1" i="0">
                <a:solidFill>
                  <a:srgbClr val="434343"/>
                </a:solidFill>
                <a:latin typeface="Inter"/>
              </a:rPr>
              <a:t>Partition</a:t>
            </a:r>
            <a:r>
              <a:rPr sz="950" b="0" i="0">
                <a:solidFill>
                  <a:srgbClr val="434343"/>
                </a:solidFill>
                <a:latin typeface="Inter"/>
              </a:rPr>
              <a:t>: bagian dari topic supaya bisa dibaca paralel</a:t>
            </a:r>
          </a:p>
          <a:p>
            <a:pPr marL="182880" indent="-182880" algn="l">
              <a:lnSpc>
                <a:spcPct val="115000"/>
              </a:lnSpc>
              <a:spcAft>
                <a:spcPts val="400"/>
              </a:spcAft>
              <a:buClr>
                <a:srgbClr val="E0764F"/>
              </a:buClr>
              <a:buSzPct val="100000"/>
              <a:buFont typeface="Arial"/>
              <a:buChar char="•"/>
            </a:pPr>
            <a:r>
              <a:rPr sz="950" b="1" i="0">
                <a:solidFill>
                  <a:srgbClr val="434343"/>
                </a:solidFill>
                <a:latin typeface="Inter"/>
              </a:rPr>
              <a:t>Offset</a:t>
            </a:r>
            <a:r>
              <a:rPr sz="950" b="0" i="0">
                <a:solidFill>
                  <a:srgbClr val="434343"/>
                </a:solidFill>
                <a:latin typeface="Inter"/>
              </a:rPr>
              <a:t>: nomor urut event di partition</a:t>
            </a:r>
          </a:p>
          <a:p>
            <a:pPr marL="182880" indent="-182880" algn="l">
              <a:lnSpc>
                <a:spcPct val="115000"/>
              </a:lnSpc>
              <a:spcAft>
                <a:spcPts val="400"/>
              </a:spcAft>
              <a:buClr>
                <a:srgbClr val="E0764F"/>
              </a:buClr>
              <a:buSzPct val="100000"/>
              <a:buFont typeface="Arial"/>
              <a:buChar char="•"/>
            </a:pPr>
            <a:r>
              <a:rPr sz="950" b="1" i="0">
                <a:solidFill>
                  <a:srgbClr val="434343"/>
                </a:solidFill>
                <a:latin typeface="Inter"/>
              </a:rPr>
              <a:t>Consumer group</a:t>
            </a:r>
            <a:r>
              <a:rPr sz="950" b="0" i="0">
                <a:solidFill>
                  <a:srgbClr val="434343"/>
                </a:solidFill>
                <a:latin typeface="Inter"/>
              </a:rPr>
              <a:t>: satu tim pembaca dengan offset sendiri</a:t>
            </a:r>
          </a:p>
        </p:txBody>
      </p:sp>
      <p:sp>
        <p:nvSpPr>
          <p:cNvPr id="23" name="Text 4"/>
          <p:cNvSpPr txBox="1"/>
          <p:nvPr/>
        </p:nvSpPr>
        <p:spPr>
          <a:xfrm>
            <a:off x="4892040" y="1463040"/>
            <a:ext cx="2286000" cy="274320"/>
          </a:xfrm>
          <a:prstGeom prst="rect">
            <a:avLst/>
          </a:prstGeom>
          <a:noFill/>
        </p:spPr>
        <p:txBody>
          <a:bodyPr wrap="square" lIns="45720" rIns="45720" anchor="t">
            <a:spAutoFit/>
          </a:bodyPr>
          <a:lstStyle/>
          <a:p>
            <a:pPr algn="l">
              <a:lnSpc>
                <a:spcPct val="115000"/>
              </a:lnSpc>
              <a:spcAft>
                <a:spcPts val="400"/>
              </a:spcAft>
            </a:pPr>
            <a:r>
              <a:rPr sz="900" b="1" i="0">
                <a:solidFill>
                  <a:srgbClr val="1C4587"/>
                </a:solidFill>
                <a:latin typeface="Inter"/>
              </a:rPr>
              <a:t>topic orders</a:t>
            </a:r>
          </a:p>
        </p:txBody>
      </p:sp>
      <p:sp>
        <p:nvSpPr>
          <p:cNvPr id="24" name="Text 5"/>
          <p:cNvSpPr txBox="1"/>
          <p:nvPr/>
        </p:nvSpPr>
        <p:spPr>
          <a:xfrm>
            <a:off x="4892040" y="1828800"/>
            <a:ext cx="777240" cy="274320"/>
          </a:xfrm>
          <a:prstGeom prst="rect">
            <a:avLst/>
          </a:prstGeom>
          <a:noFill/>
        </p:spPr>
        <p:txBody>
          <a:bodyPr wrap="square" lIns="45720" rIns="45720" anchor="t">
            <a:spAutoFit/>
          </a:bodyPr>
          <a:lstStyle/>
          <a:p>
            <a:pPr algn="l">
              <a:lnSpc>
                <a:spcPct val="115000"/>
              </a:lnSpc>
              <a:spcAft>
                <a:spcPts val="400"/>
              </a:spcAft>
            </a:pPr>
            <a:r>
              <a:rPr sz="800" b="0" i="0">
                <a:solidFill>
                  <a:srgbClr val="7A7A7A"/>
                </a:solidFill>
                <a:latin typeface="Inter"/>
              </a:rPr>
              <a:t>partition 0</a:t>
            </a:r>
          </a:p>
        </p:txBody>
      </p:sp>
      <p:sp>
        <p:nvSpPr>
          <p:cNvPr id="25" name="Box 6"/>
          <p:cNvSpPr/>
          <p:nvPr/>
        </p:nvSpPr>
        <p:spPr>
          <a:xfrm>
            <a:off x="5669280" y="1783080"/>
            <a:ext cx="347472" cy="347472"/>
          </a:xfrm>
          <a:prstGeom prst="roundRect">
            <a:avLst>
              <a:gd name="adj" fmla="val 31578"/>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800" b="1" i="0">
                <a:solidFill>
                  <a:srgbClr val="1C4587"/>
                </a:solidFill>
                <a:latin typeface="Inter"/>
              </a:rPr>
              <a:t>0</a:t>
            </a:r>
          </a:p>
        </p:txBody>
      </p:sp>
      <p:sp>
        <p:nvSpPr>
          <p:cNvPr id="26" name="Box 7"/>
          <p:cNvSpPr/>
          <p:nvPr/>
        </p:nvSpPr>
        <p:spPr>
          <a:xfrm>
            <a:off x="6053328" y="1783080"/>
            <a:ext cx="347472" cy="347472"/>
          </a:xfrm>
          <a:prstGeom prst="roundRect">
            <a:avLst>
              <a:gd name="adj" fmla="val 31578"/>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800" b="1" i="0">
                <a:solidFill>
                  <a:srgbClr val="1C4587"/>
                </a:solidFill>
                <a:latin typeface="Inter"/>
              </a:rPr>
              <a:t>1</a:t>
            </a:r>
          </a:p>
        </p:txBody>
      </p:sp>
      <p:sp>
        <p:nvSpPr>
          <p:cNvPr id="27" name="Box 8"/>
          <p:cNvSpPr/>
          <p:nvPr/>
        </p:nvSpPr>
        <p:spPr>
          <a:xfrm>
            <a:off x="6437376" y="1783080"/>
            <a:ext cx="347472" cy="347472"/>
          </a:xfrm>
          <a:prstGeom prst="roundRect">
            <a:avLst>
              <a:gd name="adj" fmla="val 31578"/>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800" b="1" i="0">
                <a:solidFill>
                  <a:srgbClr val="1C4587"/>
                </a:solidFill>
                <a:latin typeface="Inter"/>
              </a:rPr>
              <a:t>2</a:t>
            </a:r>
          </a:p>
        </p:txBody>
      </p:sp>
      <p:sp>
        <p:nvSpPr>
          <p:cNvPr id="28" name="Box 9"/>
          <p:cNvSpPr/>
          <p:nvPr/>
        </p:nvSpPr>
        <p:spPr>
          <a:xfrm>
            <a:off x="6821424" y="1783080"/>
            <a:ext cx="347472" cy="347472"/>
          </a:xfrm>
          <a:prstGeom prst="roundRect">
            <a:avLst>
              <a:gd name="adj" fmla="val 31578"/>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800" b="1" i="0">
                <a:solidFill>
                  <a:srgbClr val="1C4587"/>
                </a:solidFill>
                <a:latin typeface="Inter"/>
              </a:rPr>
              <a:t>3</a:t>
            </a:r>
          </a:p>
        </p:txBody>
      </p:sp>
      <p:sp>
        <p:nvSpPr>
          <p:cNvPr id="29" name="Text 10"/>
          <p:cNvSpPr txBox="1"/>
          <p:nvPr/>
        </p:nvSpPr>
        <p:spPr>
          <a:xfrm>
            <a:off x="4892040" y="2331720"/>
            <a:ext cx="777240" cy="274320"/>
          </a:xfrm>
          <a:prstGeom prst="rect">
            <a:avLst/>
          </a:prstGeom>
          <a:noFill/>
        </p:spPr>
        <p:txBody>
          <a:bodyPr wrap="square" lIns="45720" rIns="45720" anchor="t">
            <a:spAutoFit/>
          </a:bodyPr>
          <a:lstStyle/>
          <a:p>
            <a:pPr algn="l">
              <a:lnSpc>
                <a:spcPct val="115000"/>
              </a:lnSpc>
              <a:spcAft>
                <a:spcPts val="400"/>
              </a:spcAft>
            </a:pPr>
            <a:r>
              <a:rPr sz="800" b="0" i="0">
                <a:solidFill>
                  <a:srgbClr val="7A7A7A"/>
                </a:solidFill>
                <a:latin typeface="Inter"/>
              </a:rPr>
              <a:t>partition 1</a:t>
            </a:r>
          </a:p>
        </p:txBody>
      </p:sp>
      <p:sp>
        <p:nvSpPr>
          <p:cNvPr id="30" name="Box 11"/>
          <p:cNvSpPr/>
          <p:nvPr/>
        </p:nvSpPr>
        <p:spPr>
          <a:xfrm>
            <a:off x="5669280" y="2286000"/>
            <a:ext cx="347472" cy="347472"/>
          </a:xfrm>
          <a:prstGeom prst="roundRect">
            <a:avLst>
              <a:gd name="adj" fmla="val 31578"/>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800" b="1" i="0">
                <a:solidFill>
                  <a:srgbClr val="1C4587"/>
                </a:solidFill>
                <a:latin typeface="Inter"/>
              </a:rPr>
              <a:t>0</a:t>
            </a:r>
          </a:p>
        </p:txBody>
      </p:sp>
      <p:sp>
        <p:nvSpPr>
          <p:cNvPr id="31" name="Box 12"/>
          <p:cNvSpPr/>
          <p:nvPr/>
        </p:nvSpPr>
        <p:spPr>
          <a:xfrm>
            <a:off x="6053328" y="2286000"/>
            <a:ext cx="347472" cy="347472"/>
          </a:xfrm>
          <a:prstGeom prst="roundRect">
            <a:avLst>
              <a:gd name="adj" fmla="val 31578"/>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800" b="1" i="0">
                <a:solidFill>
                  <a:srgbClr val="1C4587"/>
                </a:solidFill>
                <a:latin typeface="Inter"/>
              </a:rPr>
              <a:t>1</a:t>
            </a:r>
          </a:p>
        </p:txBody>
      </p:sp>
      <p:sp>
        <p:nvSpPr>
          <p:cNvPr id="32" name="Box 13"/>
          <p:cNvSpPr/>
          <p:nvPr/>
        </p:nvSpPr>
        <p:spPr>
          <a:xfrm>
            <a:off x="6437376" y="2286000"/>
            <a:ext cx="347472" cy="347472"/>
          </a:xfrm>
          <a:prstGeom prst="roundRect">
            <a:avLst>
              <a:gd name="adj" fmla="val 31578"/>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800" b="1" i="0">
                <a:solidFill>
                  <a:srgbClr val="1C4587"/>
                </a:solidFill>
                <a:latin typeface="Inter"/>
              </a:rPr>
              <a:t>2</a:t>
            </a:r>
          </a:p>
        </p:txBody>
      </p:sp>
      <p:sp>
        <p:nvSpPr>
          <p:cNvPr id="33" name="Text 14"/>
          <p:cNvSpPr txBox="1"/>
          <p:nvPr/>
        </p:nvSpPr>
        <p:spPr>
          <a:xfrm>
            <a:off x="4892040" y="2834639"/>
            <a:ext cx="777240" cy="274320"/>
          </a:xfrm>
          <a:prstGeom prst="rect">
            <a:avLst/>
          </a:prstGeom>
          <a:noFill/>
        </p:spPr>
        <p:txBody>
          <a:bodyPr wrap="square" lIns="45720" rIns="45720" anchor="t">
            <a:spAutoFit/>
          </a:bodyPr>
          <a:lstStyle/>
          <a:p>
            <a:pPr algn="l">
              <a:lnSpc>
                <a:spcPct val="115000"/>
              </a:lnSpc>
              <a:spcAft>
                <a:spcPts val="400"/>
              </a:spcAft>
            </a:pPr>
            <a:r>
              <a:rPr sz="800" b="0" i="0">
                <a:solidFill>
                  <a:srgbClr val="7A7A7A"/>
                </a:solidFill>
                <a:latin typeface="Inter"/>
              </a:rPr>
              <a:t>partition 2</a:t>
            </a:r>
          </a:p>
        </p:txBody>
      </p:sp>
      <p:sp>
        <p:nvSpPr>
          <p:cNvPr id="34" name="Box 15"/>
          <p:cNvSpPr/>
          <p:nvPr/>
        </p:nvSpPr>
        <p:spPr>
          <a:xfrm>
            <a:off x="5669280" y="2788920"/>
            <a:ext cx="347472" cy="347472"/>
          </a:xfrm>
          <a:prstGeom prst="roundRect">
            <a:avLst>
              <a:gd name="adj" fmla="val 31578"/>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800" b="1" i="0">
                <a:solidFill>
                  <a:srgbClr val="1C4587"/>
                </a:solidFill>
                <a:latin typeface="Inter"/>
              </a:rPr>
              <a:t>0</a:t>
            </a:r>
          </a:p>
        </p:txBody>
      </p:sp>
      <p:sp>
        <p:nvSpPr>
          <p:cNvPr id="35" name="Box 16"/>
          <p:cNvSpPr/>
          <p:nvPr/>
        </p:nvSpPr>
        <p:spPr>
          <a:xfrm>
            <a:off x="6053328" y="2788920"/>
            <a:ext cx="347472" cy="347472"/>
          </a:xfrm>
          <a:prstGeom prst="roundRect">
            <a:avLst>
              <a:gd name="adj" fmla="val 31578"/>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800" b="1" i="0">
                <a:solidFill>
                  <a:srgbClr val="1C4587"/>
                </a:solidFill>
                <a:latin typeface="Inter"/>
              </a:rPr>
              <a:t>1</a:t>
            </a:r>
          </a:p>
        </p:txBody>
      </p:sp>
      <p:sp>
        <p:nvSpPr>
          <p:cNvPr id="36" name="Box 17"/>
          <p:cNvSpPr/>
          <p:nvPr/>
        </p:nvSpPr>
        <p:spPr>
          <a:xfrm>
            <a:off x="7498079" y="1783080"/>
            <a:ext cx="987552" cy="548640"/>
          </a:xfrm>
          <a:prstGeom prst="roundRect">
            <a:avLst>
              <a:gd name="adj" fmla="val 20000"/>
            </a:avLst>
          </a:prstGeom>
          <a:solidFill>
            <a:srgbClr val="1C458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850" b="1" i="0">
                <a:solidFill>
                  <a:srgbClr val="FFFFFF"/>
                </a:solidFill>
                <a:latin typeface="Inter"/>
              </a:rPr>
              <a:t>group</a:t>
            </a:r>
          </a:p>
          <a:p>
            <a:pPr algn="ctr">
              <a:lnSpc>
                <a:spcPct val="105000"/>
              </a:lnSpc>
              <a:spcAft>
                <a:spcPts val="200"/>
              </a:spcAft>
            </a:pPr>
            <a:r>
              <a:rPr sz="850" b="1" i="0">
                <a:solidFill>
                  <a:srgbClr val="FFFFFF"/>
                </a:solidFill>
                <a:latin typeface="Inter"/>
              </a:rPr>
              <a:t>email</a:t>
            </a:r>
          </a:p>
        </p:txBody>
      </p:sp>
      <p:sp>
        <p:nvSpPr>
          <p:cNvPr id="37" name="Box 18"/>
          <p:cNvSpPr/>
          <p:nvPr/>
        </p:nvSpPr>
        <p:spPr>
          <a:xfrm>
            <a:off x="7498079" y="2606040"/>
            <a:ext cx="987552" cy="548640"/>
          </a:xfrm>
          <a:prstGeom prst="roundRect">
            <a:avLst>
              <a:gd name="adj" fmla="val 20000"/>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850" b="1" i="0">
                <a:solidFill>
                  <a:srgbClr val="FFFFFF"/>
                </a:solidFill>
                <a:latin typeface="Inter"/>
              </a:rPr>
              <a:t>group</a:t>
            </a:r>
          </a:p>
          <a:p>
            <a:pPr algn="ctr">
              <a:lnSpc>
                <a:spcPct val="105000"/>
              </a:lnSpc>
              <a:spcAft>
                <a:spcPts val="200"/>
              </a:spcAft>
            </a:pPr>
            <a:r>
              <a:rPr sz="850" b="1" i="0">
                <a:solidFill>
                  <a:srgbClr val="FFFFFF"/>
                </a:solidFill>
                <a:latin typeface="Inter"/>
              </a:rPr>
              <a:t>analytics</a:t>
            </a:r>
          </a:p>
        </p:txBody>
      </p:sp>
      <p:sp>
        <p:nvSpPr>
          <p:cNvPr id="38" name="Text 19"/>
          <p:cNvSpPr txBox="1"/>
          <p:nvPr/>
        </p:nvSpPr>
        <p:spPr>
          <a:xfrm>
            <a:off x="4892040" y="3337560"/>
            <a:ext cx="3593592" cy="1097280"/>
          </a:xfrm>
          <a:prstGeom prst="rect">
            <a:avLst/>
          </a:prstGeom>
          <a:noFill/>
        </p:spPr>
        <p:txBody>
          <a:bodyPr wrap="square" lIns="45720" rIns="45720" anchor="t">
            <a:spAutoFit/>
          </a:bodyPr>
          <a:lstStyle/>
          <a:p>
            <a:pPr algn="l">
              <a:lnSpc>
                <a:spcPct val="115000"/>
              </a:lnSpc>
              <a:spcAft>
                <a:spcPts val="400"/>
              </a:spcAft>
            </a:pPr>
            <a:r>
              <a:rPr sz="900" b="0" i="0">
                <a:solidFill>
                  <a:srgbClr val="7A7A7A"/>
                </a:solidFill>
                <a:latin typeface="Inter"/>
              </a:rPr>
              <a:t>Setiap group membaca semua event dan mencatat offsetnya sendiri. Dalam satu group, satu partition dibaca oleh satu consumer, jadi consumer bisa ditambah sampai sebanyak jumlah partition.</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Kafka</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Kafka?</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Dengan RabbitMQ</a:t>
            </a:r>
          </a:p>
          <a:p>
            <a:pPr algn="l">
              <a:lnSpc>
                <a:spcPct val="115000"/>
              </a:lnSpc>
              <a:spcAft>
                <a:spcPts val="400"/>
              </a:spcAft>
            </a:pPr>
            <a:r>
              <a:rPr sz="950" b="0" i="0">
                <a:solidFill>
                  <a:srgbClr val="434343"/>
                </a:solidFill>
                <a:latin typeface="Inter"/>
              </a:rPr>
              <a:t>Pesan dihapus setelah di-ack. Queue yang baru dibuat hanya menerima pesan baru.</a:t>
            </a:r>
          </a:p>
          <a:p>
            <a:pPr algn="l">
              <a:lnSpc>
                <a:spcPct val="115000"/>
              </a:lnSpc>
              <a:spcAft>
                <a:spcPts val="400"/>
              </a:spcAft>
            </a:pPr>
            <a:r>
              <a:rPr sz="1050" b="1" i="0">
                <a:solidFill>
                  <a:srgbClr val="1C4587"/>
                </a:solidFill>
                <a:latin typeface="Inter"/>
              </a:rPr>
              <a:t>Jika kebutuhan datanya makin banyak</a:t>
            </a:r>
          </a:p>
          <a:p>
            <a:pPr algn="l">
              <a:lnSpc>
                <a:spcPct val="115000"/>
              </a:lnSpc>
              <a:spcAft>
                <a:spcPts val="400"/>
              </a:spcAft>
            </a:pPr>
            <a:r>
              <a:rPr sz="950" b="0" i="0">
                <a:solidFill>
                  <a:srgbClr val="434343"/>
                </a:solidFill>
                <a:latin typeface="Inter"/>
              </a:rPr>
              <a:t>Tim analytics yang baru bergabung tidak bisa membaca event lama, dan event kemarin tidak bisa diproses ulang setelah bug diperbaiki.</a:t>
            </a:r>
          </a:p>
          <a:p>
            <a:pPr algn="l">
              <a:lnSpc>
                <a:spcPct val="115000"/>
              </a:lnSpc>
              <a:spcAft>
                <a:spcPts val="400"/>
              </a:spcAft>
            </a:pPr>
            <a:r>
              <a:rPr sz="950" b="0" i="0">
                <a:solidFill>
                  <a:srgbClr val="434343"/>
                </a:solidFill>
                <a:latin typeface="Inter"/>
              </a:rPr>
              <a:t>Hal ini membuat event yang sudah diproses tidak bisa dipakai lagi.</a:t>
            </a:r>
          </a:p>
          <a:p>
            <a:pPr algn="l">
              <a:lnSpc>
                <a:spcPct val="115000"/>
              </a:lnSpc>
              <a:spcAft>
                <a:spcPts val="400"/>
              </a:spcAft>
            </a:pPr>
            <a:r>
              <a:rPr sz="1050" b="1" i="0">
                <a:solidFill>
                  <a:srgbClr val="1C4587"/>
                </a:solidFill>
                <a:latin typeface="Inter"/>
              </a:rPr>
              <a:t>Yang dipakai dari Kafka: offset dan consumer group</a:t>
            </a:r>
          </a:p>
          <a:p>
            <a:pPr algn="l">
              <a:lnSpc>
                <a:spcPct val="115000"/>
              </a:lnSpc>
              <a:spcAft>
                <a:spcPts val="400"/>
              </a:spcAft>
            </a:pPr>
            <a:r>
              <a:rPr sz="950" b="0" i="0">
                <a:solidFill>
                  <a:srgbClr val="434343"/>
                </a:solidFill>
                <a:latin typeface="Inter"/>
              </a:rPr>
              <a:t>Event dengan key yang sama selalu masuk partition yang sama, jadi urutannya terjaga. Group baru bisa membaca dari offset 0.</a:t>
            </a:r>
          </a:p>
        </p:txBody>
      </p:sp>
      <p:graphicFrame>
        <p:nvGraphicFramePr>
          <p:cNvPr id="23" name="Table 4"/>
          <p:cNvGraphicFramePr>
            <a:graphicFrameLocks noGrp="1"/>
          </p:cNvGraphicFramePr>
          <p:nvPr/>
        </p:nvGraphicFramePr>
        <p:xfrm>
          <a:off x="4800600" y="1481328"/>
          <a:ext cx="3685032" cy="2057400"/>
        </p:xfrm>
        <a:graphic>
          <a:graphicData uri="http://schemas.openxmlformats.org/drawingml/2006/table">
            <a:tbl>
              <a:tblPr firstRow="1" bandRow="1"/>
              <a:tblGrid>
                <a:gridCol w="2176272">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tblGrid>
              <a:tr h="411480">
                <a:tc>
                  <a:txBody>
                    <a:bodyPr/>
                    <a:lstStyle/>
                    <a:p>
                      <a:pPr algn="l">
                        <a:lnSpc>
                          <a:spcPct val="100000"/>
                        </a:lnSpc>
                        <a:spcAft>
                          <a:spcPts val="0"/>
                        </a:spcAft>
                      </a:pPr>
                      <a:r>
                        <a:rPr sz="850" b="1" i="0">
                          <a:solidFill>
                            <a:srgbClr val="FFFFFF"/>
                          </a:solidFill>
                          <a:latin typeface="Inter"/>
                        </a:rPr>
                        <a:t>Ditulis</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Artinya</a:t>
                      </a:r>
                    </a:p>
                  </a:txBody>
                  <a:tcPr marL="73152" marR="73152" marT="36576" marB="36576" anchor="ctr">
                    <a:solidFill>
                      <a:srgbClr val="1C4587"/>
                    </a:solidFill>
                  </a:tcPr>
                </a:tc>
                <a:extLst>
                  <a:ext uri="{0D108BD9-81ED-4DB2-BD59-A6C34878D82A}">
                    <a16:rowId xmlns:a16="http://schemas.microsoft.com/office/drawing/2014/main" val="10000"/>
                  </a:ext>
                </a:extLst>
              </a:tr>
              <a:tr h="411480">
                <a:tc>
                  <a:txBody>
                    <a:bodyPr/>
                    <a:lstStyle/>
                    <a:p>
                      <a:pPr algn="l">
                        <a:lnSpc>
                          <a:spcPct val="100000"/>
                        </a:lnSpc>
                        <a:spcAft>
                          <a:spcPts val="0"/>
                        </a:spcAft>
                      </a:pPr>
                      <a:r>
                        <a:rPr sz="850" b="1" i="0">
                          <a:solidFill>
                            <a:srgbClr val="1C4587"/>
                          </a:solidFill>
                          <a:latin typeface="Inter"/>
                        </a:rPr>
                        <a:t>produce(TOPIC, key=customer, ...)</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Key sama = partition sama</a:t>
                      </a:r>
                    </a:p>
                  </a:txBody>
                  <a:tcPr marL="73152" marR="73152" marT="36576" marB="36576" anchor="ctr">
                    <a:solidFill>
                      <a:srgbClr val="FFFFFF"/>
                    </a:solidFill>
                  </a:tcPr>
                </a:tc>
                <a:extLst>
                  <a:ext uri="{0D108BD9-81ED-4DB2-BD59-A6C34878D82A}">
                    <a16:rowId xmlns:a16="http://schemas.microsoft.com/office/drawing/2014/main" val="10001"/>
                  </a:ext>
                </a:extLst>
              </a:tr>
              <a:tr h="411480">
                <a:tc>
                  <a:txBody>
                    <a:bodyPr/>
                    <a:lstStyle/>
                    <a:p>
                      <a:pPr algn="l">
                        <a:lnSpc>
                          <a:spcPct val="100000"/>
                        </a:lnSpc>
                        <a:spcAft>
                          <a:spcPts val="0"/>
                        </a:spcAft>
                      </a:pPr>
                      <a:r>
                        <a:rPr sz="850" b="1" i="0">
                          <a:solidFill>
                            <a:srgbClr val="1C4587"/>
                          </a:solidFill>
                          <a:latin typeface="Inter"/>
                        </a:rPr>
                        <a:t>group.id</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Nama tim pembaca</a:t>
                      </a:r>
                    </a:p>
                  </a:txBody>
                  <a:tcPr marL="73152" marR="73152" marT="36576" marB="36576" anchor="ctr">
                    <a:solidFill>
                      <a:srgbClr val="F3F4F6"/>
                    </a:solidFill>
                  </a:tcPr>
                </a:tc>
                <a:extLst>
                  <a:ext uri="{0D108BD9-81ED-4DB2-BD59-A6C34878D82A}">
                    <a16:rowId xmlns:a16="http://schemas.microsoft.com/office/drawing/2014/main" val="10002"/>
                  </a:ext>
                </a:extLst>
              </a:tr>
              <a:tr h="411480">
                <a:tc>
                  <a:txBody>
                    <a:bodyPr/>
                    <a:lstStyle/>
                    <a:p>
                      <a:pPr algn="l">
                        <a:lnSpc>
                          <a:spcPct val="100000"/>
                        </a:lnSpc>
                        <a:spcAft>
                          <a:spcPts val="0"/>
                        </a:spcAft>
                      </a:pPr>
                      <a:r>
                        <a:rPr sz="850" b="1" i="0">
                          <a:solidFill>
                            <a:srgbClr val="1C4587"/>
                          </a:solidFill>
                          <a:latin typeface="Inter"/>
                        </a:rPr>
                        <a:t>auto.offset.reset = earliest</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Group baru mulai dari offset 0</a:t>
                      </a:r>
                    </a:p>
                  </a:txBody>
                  <a:tcPr marL="73152" marR="73152" marT="36576" marB="36576" anchor="ctr">
                    <a:solidFill>
                      <a:srgbClr val="FFFFFF"/>
                    </a:solidFill>
                  </a:tcPr>
                </a:tc>
                <a:extLst>
                  <a:ext uri="{0D108BD9-81ED-4DB2-BD59-A6C34878D82A}">
                    <a16:rowId xmlns:a16="http://schemas.microsoft.com/office/drawing/2014/main" val="10003"/>
                  </a:ext>
                </a:extLst>
              </a:tr>
              <a:tr h="411480">
                <a:tc>
                  <a:txBody>
                    <a:bodyPr/>
                    <a:lstStyle/>
                    <a:p>
                      <a:pPr algn="l">
                        <a:lnSpc>
                          <a:spcPct val="100000"/>
                        </a:lnSpc>
                        <a:spcAft>
                          <a:spcPts val="0"/>
                        </a:spcAft>
                      </a:pPr>
                      <a:r>
                        <a:rPr sz="850" b="1" i="0">
                          <a:solidFill>
                            <a:srgbClr val="1C4587"/>
                          </a:solidFill>
                          <a:latin typeface="Inter"/>
                        </a:rPr>
                        <a:t>consumer.commit(msg)</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Catat offset yang sudah dibaca</a:t>
                      </a:r>
                    </a:p>
                  </a:txBody>
                  <a:tcPr marL="73152" marR="73152" marT="36576" marB="36576" anchor="ctr">
                    <a:solidFill>
                      <a:srgbClr val="F3F4F6"/>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Kafka</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RabbitMQ, event hilang setelah di-ack</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06-kafka-basics/before.py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4277"/>
              </a:lnSpc>
              <a:spcAft>
                <a:spcPts val="0"/>
              </a:spcAft>
            </a:pPr>
            <a:r>
              <a:rPr sz="719" i="0">
                <a:solidFill>
                  <a:srgbClr val="5C6773"/>
                </a:solidFill>
                <a:latin typeface="Inconsolata"/>
              </a:rPr>
              <a:t>11  </a:t>
            </a:r>
            <a:r>
              <a:rPr sz="719" i="0">
                <a:solidFill>
                  <a:srgbClr val="FF8E6E"/>
                </a:solidFill>
                <a:latin typeface="Inconsolata"/>
              </a:rPr>
              <a:t>import</a:t>
            </a:r>
            <a:r>
              <a:rPr sz="719" i="0">
                <a:solidFill>
                  <a:srgbClr val="E6EDF3"/>
                </a:solidFill>
                <a:latin typeface="Inconsolata"/>
              </a:rPr>
              <a:t> json</a:t>
            </a:r>
          </a:p>
          <a:p>
            <a:pPr>
              <a:lnSpc>
                <a:spcPct val="104277"/>
              </a:lnSpc>
              <a:spcAft>
                <a:spcPts val="0"/>
              </a:spcAft>
            </a:pPr>
            <a:r>
              <a:rPr sz="719" i="0">
                <a:solidFill>
                  <a:srgbClr val="5C6773"/>
                </a:solidFill>
                <a:latin typeface="Inconsolata"/>
              </a:rPr>
              <a:t>12  </a:t>
            </a:r>
            <a:r>
              <a:rPr sz="719" i="0">
                <a:solidFill>
                  <a:srgbClr val="FF8E6E"/>
                </a:solidFill>
                <a:latin typeface="Inconsolata"/>
              </a:rPr>
              <a:t>import</a:t>
            </a:r>
            <a:r>
              <a:rPr sz="719" i="0">
                <a:solidFill>
                  <a:srgbClr val="E6EDF3"/>
                </a:solidFill>
                <a:latin typeface="Inconsolata"/>
              </a:rPr>
              <a:t> os</a:t>
            </a:r>
          </a:p>
          <a:p>
            <a:pPr>
              <a:lnSpc>
                <a:spcPct val="104277"/>
              </a:lnSpc>
              <a:spcAft>
                <a:spcPts val="0"/>
              </a:spcAft>
            </a:pPr>
            <a:r>
              <a:rPr sz="719" i="0">
                <a:solidFill>
                  <a:srgbClr val="5C6773"/>
                </a:solidFill>
                <a:latin typeface="Inconsolata"/>
              </a:rPr>
              <a:t>13  </a:t>
            </a:r>
            <a:r>
              <a:rPr sz="719" i="0">
                <a:solidFill>
                  <a:srgbClr val="E6EDF3"/>
                </a:solidFill>
                <a:latin typeface="Inconsolata"/>
              </a:rPr>
              <a:t> </a:t>
            </a:r>
          </a:p>
          <a:p>
            <a:pPr>
              <a:lnSpc>
                <a:spcPct val="104277"/>
              </a:lnSpc>
              <a:spcAft>
                <a:spcPts val="0"/>
              </a:spcAft>
            </a:pPr>
            <a:r>
              <a:rPr sz="719" i="0">
                <a:solidFill>
                  <a:srgbClr val="5C6773"/>
                </a:solidFill>
                <a:latin typeface="Inconsolata"/>
              </a:rPr>
              <a:t>14  </a:t>
            </a:r>
            <a:r>
              <a:rPr sz="719" i="0">
                <a:solidFill>
                  <a:srgbClr val="FF8E6E"/>
                </a:solidFill>
                <a:latin typeface="Inconsolata"/>
              </a:rPr>
              <a:t>import</a:t>
            </a:r>
            <a:r>
              <a:rPr sz="719" i="0">
                <a:solidFill>
                  <a:srgbClr val="E6EDF3"/>
                </a:solidFill>
                <a:latin typeface="Inconsolata"/>
              </a:rPr>
              <a:t> pika</a:t>
            </a:r>
          </a:p>
          <a:p>
            <a:pPr>
              <a:lnSpc>
                <a:spcPct val="104277"/>
              </a:lnSpc>
              <a:spcAft>
                <a:spcPts val="0"/>
              </a:spcAft>
            </a:pPr>
            <a:r>
              <a:rPr sz="719" i="0">
                <a:solidFill>
                  <a:srgbClr val="5C6773"/>
                </a:solidFill>
                <a:latin typeface="Inconsolata"/>
              </a:rPr>
              <a:t>15  </a:t>
            </a:r>
            <a:r>
              <a:rPr sz="719" i="0">
                <a:solidFill>
                  <a:srgbClr val="E6EDF3"/>
                </a:solidFill>
                <a:latin typeface="Inconsolata"/>
              </a:rPr>
              <a:t> </a:t>
            </a:r>
          </a:p>
          <a:p>
            <a:pPr>
              <a:lnSpc>
                <a:spcPct val="104277"/>
              </a:lnSpc>
              <a:spcAft>
                <a:spcPts val="0"/>
              </a:spcAft>
            </a:pPr>
            <a:r>
              <a:rPr sz="719" i="0">
                <a:solidFill>
                  <a:srgbClr val="5C6773"/>
                </a:solidFill>
                <a:latin typeface="Inconsolata"/>
              </a:rPr>
              <a:t>16  </a:t>
            </a:r>
            <a:r>
              <a:rPr sz="719" i="0">
                <a:solidFill>
                  <a:srgbClr val="7FDBCA"/>
                </a:solidFill>
                <a:latin typeface="Inconsolata"/>
              </a:rPr>
              <a:t>URL</a:t>
            </a:r>
            <a:r>
              <a:rPr sz="719" i="0">
                <a:solidFill>
                  <a:srgbClr val="E6EDF3"/>
                </a:solidFill>
                <a:latin typeface="Inconsolata"/>
              </a:rPr>
              <a:t> = os.getenv(</a:t>
            </a:r>
            <a:r>
              <a:rPr sz="719" i="0">
                <a:solidFill>
                  <a:srgbClr val="A5D6A7"/>
                </a:solidFill>
                <a:latin typeface="Inconsolata"/>
              </a:rPr>
              <a:t>"RABBITMQ_URL"</a:t>
            </a:r>
            <a:r>
              <a:rPr sz="719" i="0">
                <a:solidFill>
                  <a:srgbClr val="E6EDF3"/>
                </a:solidFill>
                <a:latin typeface="Inconsolata"/>
              </a:rPr>
              <a:t>, </a:t>
            </a:r>
            <a:r>
              <a:rPr sz="719" i="0">
                <a:solidFill>
                  <a:srgbClr val="A5D6A7"/>
                </a:solidFill>
                <a:latin typeface="Inconsolata"/>
              </a:rPr>
              <a:t>"amqp://guest:guest@localhost:5672/"</a:t>
            </a:r>
            <a:r>
              <a:rPr sz="719" i="0">
                <a:solidFill>
                  <a:srgbClr val="E6EDF3"/>
                </a:solidFill>
                <a:latin typeface="Inconsolata"/>
              </a:rPr>
              <a:t>)</a:t>
            </a:r>
          </a:p>
          <a:p>
            <a:pPr>
              <a:lnSpc>
                <a:spcPct val="104277"/>
              </a:lnSpc>
              <a:spcAft>
                <a:spcPts val="0"/>
              </a:spcAft>
            </a:pPr>
            <a:r>
              <a:rPr sz="719" i="0">
                <a:solidFill>
                  <a:srgbClr val="5C6773"/>
                </a:solidFill>
                <a:latin typeface="Inconsolata"/>
              </a:rPr>
              <a:t>17  </a:t>
            </a:r>
            <a:r>
              <a:rPr sz="719" i="0">
                <a:solidFill>
                  <a:srgbClr val="E6EDF3"/>
                </a:solidFill>
                <a:latin typeface="Inconsolata"/>
              </a:rPr>
              <a:t> </a:t>
            </a:r>
          </a:p>
          <a:p>
            <a:pPr>
              <a:lnSpc>
                <a:spcPct val="104277"/>
              </a:lnSpc>
              <a:spcAft>
                <a:spcPts val="0"/>
              </a:spcAft>
            </a:pPr>
            <a:r>
              <a:rPr sz="719" i="0">
                <a:solidFill>
                  <a:srgbClr val="5C6773"/>
                </a:solidFill>
                <a:latin typeface="Inconsolata"/>
              </a:rPr>
              <a:t>18  </a:t>
            </a:r>
            <a:r>
              <a:rPr sz="719" i="0">
                <a:solidFill>
                  <a:srgbClr val="E6EDF3"/>
                </a:solidFill>
                <a:latin typeface="Inconsolata"/>
              </a:rPr>
              <a:t> </a:t>
            </a:r>
          </a:p>
          <a:p>
            <a:pPr>
              <a:lnSpc>
                <a:spcPct val="104277"/>
              </a:lnSpc>
              <a:spcAft>
                <a:spcPts val="0"/>
              </a:spcAft>
            </a:pPr>
            <a:r>
              <a:rPr sz="719" i="0">
                <a:solidFill>
                  <a:srgbClr val="5C6773"/>
                </a:solidFill>
                <a:latin typeface="Inconsolata"/>
              </a:rPr>
              <a:t>19  </a:t>
            </a:r>
            <a:r>
              <a:rPr sz="719" i="0">
                <a:solidFill>
                  <a:srgbClr val="FF8E6E"/>
                </a:solidFill>
                <a:latin typeface="Inconsolata"/>
              </a:rPr>
              <a:t>def</a:t>
            </a:r>
            <a:r>
              <a:rPr sz="719" i="0">
                <a:solidFill>
                  <a:srgbClr val="E6EDF3"/>
                </a:solidFill>
                <a:latin typeface="Inconsolata"/>
              </a:rPr>
              <a:t> </a:t>
            </a:r>
            <a:r>
              <a:rPr sz="719" i="0">
                <a:solidFill>
                  <a:srgbClr val="82B1FF"/>
                </a:solidFill>
                <a:latin typeface="Inconsolata"/>
              </a:rPr>
              <a:t>consume</a:t>
            </a:r>
            <a:r>
              <a:rPr sz="719" i="0">
                <a:solidFill>
                  <a:srgbClr val="E6EDF3"/>
                </a:solidFill>
                <a:latin typeface="Inconsolata"/>
              </a:rPr>
              <a:t>(channel, queue) -&gt; </a:t>
            </a:r>
            <a:r>
              <a:rPr sz="719" i="0">
                <a:solidFill>
                  <a:srgbClr val="C3A6FF"/>
                </a:solidFill>
                <a:latin typeface="Inconsolata"/>
              </a:rPr>
              <a:t>int</a:t>
            </a:r>
            <a:r>
              <a:rPr sz="719" i="0">
                <a:solidFill>
                  <a:srgbClr val="E6EDF3"/>
                </a:solidFill>
                <a:latin typeface="Inconsolata"/>
              </a:rPr>
              <a:t>:</a:t>
            </a:r>
          </a:p>
          <a:p>
            <a:pPr>
              <a:lnSpc>
                <a:spcPct val="104277"/>
              </a:lnSpc>
              <a:spcAft>
                <a:spcPts val="0"/>
              </a:spcAft>
            </a:pPr>
            <a:r>
              <a:rPr sz="719" i="0">
                <a:solidFill>
                  <a:srgbClr val="5C6773"/>
                </a:solidFill>
                <a:latin typeface="Inconsolata"/>
              </a:rPr>
              <a:t>20  </a:t>
            </a:r>
            <a:r>
              <a:rPr sz="719" i="0">
                <a:solidFill>
                  <a:srgbClr val="E6EDF3"/>
                </a:solidFill>
                <a:latin typeface="Inconsolata"/>
              </a:rPr>
              <a:t>    received = </a:t>
            </a:r>
            <a:r>
              <a:rPr sz="719" i="0">
                <a:solidFill>
                  <a:srgbClr val="F9C97A"/>
                </a:solidFill>
                <a:latin typeface="Inconsolata"/>
              </a:rPr>
              <a:t>0</a:t>
            </a:r>
          </a:p>
          <a:p>
            <a:pPr>
              <a:lnSpc>
                <a:spcPct val="104277"/>
              </a:lnSpc>
              <a:spcAft>
                <a:spcPts val="0"/>
              </a:spcAft>
            </a:pPr>
            <a:r>
              <a:rPr sz="719" i="0">
                <a:solidFill>
                  <a:srgbClr val="5C6773"/>
                </a:solidFill>
                <a:latin typeface="Inconsolata"/>
              </a:rPr>
              <a:t>21  </a:t>
            </a:r>
            <a:r>
              <a:rPr sz="719" i="0">
                <a:solidFill>
                  <a:srgbClr val="E6EDF3"/>
                </a:solidFill>
                <a:latin typeface="Inconsolata"/>
              </a:rPr>
              <a:t>    </a:t>
            </a:r>
            <a:r>
              <a:rPr sz="719" i="0">
                <a:solidFill>
                  <a:srgbClr val="FF8E6E"/>
                </a:solidFill>
                <a:latin typeface="Inconsolata"/>
              </a:rPr>
              <a:t>for</a:t>
            </a:r>
            <a:r>
              <a:rPr sz="719" i="0">
                <a:solidFill>
                  <a:srgbClr val="E6EDF3"/>
                </a:solidFill>
                <a:latin typeface="Inconsolata"/>
              </a:rPr>
              <a:t> method, properties, body </a:t>
            </a:r>
            <a:r>
              <a:rPr sz="719" i="0">
                <a:solidFill>
                  <a:srgbClr val="FF8E6E"/>
                </a:solidFill>
                <a:latin typeface="Inconsolata"/>
              </a:rPr>
              <a:t>in</a:t>
            </a:r>
            <a:r>
              <a:rPr sz="719" i="0">
                <a:solidFill>
                  <a:srgbClr val="E6EDF3"/>
                </a:solidFill>
                <a:latin typeface="Inconsolata"/>
              </a:rPr>
              <a:t> channel.consume(</a:t>
            </a:r>
          </a:p>
          <a:p>
            <a:pPr>
              <a:lnSpc>
                <a:spcPct val="104277"/>
              </a:lnSpc>
              <a:spcAft>
                <a:spcPts val="0"/>
              </a:spcAft>
            </a:pPr>
            <a:r>
              <a:rPr sz="719" i="0">
                <a:solidFill>
                  <a:srgbClr val="5C6773"/>
                </a:solidFill>
                <a:latin typeface="Inconsolata"/>
              </a:rPr>
              <a:t>22  </a:t>
            </a:r>
            <a:r>
              <a:rPr sz="719" i="0">
                <a:solidFill>
                  <a:srgbClr val="E6EDF3"/>
                </a:solidFill>
                <a:latin typeface="Inconsolata"/>
              </a:rPr>
              <a:t>            queue, inactivity_timeout=</a:t>
            </a:r>
            <a:r>
              <a:rPr sz="719" i="0">
                <a:solidFill>
                  <a:srgbClr val="F9C97A"/>
                </a:solidFill>
                <a:latin typeface="Inconsolata"/>
              </a:rPr>
              <a:t>1</a:t>
            </a:r>
            <a:r>
              <a:rPr sz="719" i="0">
                <a:solidFill>
                  <a:srgbClr val="E6EDF3"/>
                </a:solidFill>
                <a:latin typeface="Inconsolata"/>
              </a:rPr>
              <a:t>):</a:t>
            </a:r>
          </a:p>
          <a:p>
            <a:pPr>
              <a:lnSpc>
                <a:spcPct val="104277"/>
              </a:lnSpc>
              <a:spcAft>
                <a:spcPts val="0"/>
              </a:spcAft>
            </a:pPr>
            <a:r>
              <a:rPr sz="719" i="0">
                <a:solidFill>
                  <a:srgbClr val="5C6773"/>
                </a:solidFill>
                <a:latin typeface="Inconsolata"/>
              </a:rPr>
              <a:t>23  </a:t>
            </a:r>
            <a:r>
              <a:rPr sz="719" i="0">
                <a:solidFill>
                  <a:srgbClr val="E6EDF3"/>
                </a:solidFill>
                <a:latin typeface="Inconsolata"/>
              </a:rPr>
              <a:t>        </a:t>
            </a:r>
            <a:r>
              <a:rPr sz="719" i="0">
                <a:solidFill>
                  <a:srgbClr val="FF8E6E"/>
                </a:solidFill>
                <a:latin typeface="Inconsolata"/>
              </a:rPr>
              <a:t>if</a:t>
            </a:r>
            <a:r>
              <a:rPr sz="719" i="0">
                <a:solidFill>
                  <a:srgbClr val="E6EDF3"/>
                </a:solidFill>
                <a:latin typeface="Inconsolata"/>
              </a:rPr>
              <a:t> method </a:t>
            </a:r>
            <a:r>
              <a:rPr sz="719" i="0">
                <a:solidFill>
                  <a:srgbClr val="FF8E6E"/>
                </a:solidFill>
                <a:latin typeface="Inconsolata"/>
              </a:rPr>
              <a:t>is</a:t>
            </a:r>
            <a:r>
              <a:rPr sz="719" i="0">
                <a:solidFill>
                  <a:srgbClr val="E6EDF3"/>
                </a:solidFill>
                <a:latin typeface="Inconsolata"/>
              </a:rPr>
              <a:t> </a:t>
            </a:r>
            <a:r>
              <a:rPr sz="719" i="0">
                <a:solidFill>
                  <a:srgbClr val="FF8E6E"/>
                </a:solidFill>
                <a:latin typeface="Inconsolata"/>
              </a:rPr>
              <a:t>None</a:t>
            </a:r>
            <a:r>
              <a:rPr sz="719" i="0">
                <a:solidFill>
                  <a:srgbClr val="E6EDF3"/>
                </a:solidFill>
                <a:latin typeface="Inconsolata"/>
              </a:rPr>
              <a:t>:</a:t>
            </a:r>
          </a:p>
          <a:p>
            <a:pPr>
              <a:lnSpc>
                <a:spcPct val="104277"/>
              </a:lnSpc>
              <a:spcAft>
                <a:spcPts val="0"/>
              </a:spcAft>
            </a:pPr>
            <a:r>
              <a:rPr sz="719" i="0">
                <a:solidFill>
                  <a:srgbClr val="5C6773"/>
                </a:solidFill>
                <a:latin typeface="Inconsolata"/>
              </a:rPr>
              <a:t>24  </a:t>
            </a:r>
            <a:r>
              <a:rPr sz="719" i="0">
                <a:solidFill>
                  <a:srgbClr val="E6EDF3"/>
                </a:solidFill>
                <a:latin typeface="Inconsolata"/>
              </a:rPr>
              <a:t>            </a:t>
            </a:r>
            <a:r>
              <a:rPr sz="719" i="0">
                <a:solidFill>
                  <a:srgbClr val="FF8E6E"/>
                </a:solidFill>
                <a:latin typeface="Inconsolata"/>
              </a:rPr>
              <a:t>break</a:t>
            </a:r>
          </a:p>
          <a:p>
            <a:pPr>
              <a:lnSpc>
                <a:spcPct val="104277"/>
              </a:lnSpc>
              <a:spcAft>
                <a:spcPts val="0"/>
              </a:spcAft>
            </a:pPr>
            <a:r>
              <a:rPr sz="719" i="0">
                <a:solidFill>
                  <a:srgbClr val="5C6773"/>
                </a:solidFill>
                <a:latin typeface="Inconsolata"/>
              </a:rPr>
              <a:t>25  </a:t>
            </a:r>
            <a:r>
              <a:rPr sz="719" i="0">
                <a:solidFill>
                  <a:srgbClr val="E6EDF3"/>
                </a:solidFill>
                <a:latin typeface="Inconsolata"/>
              </a:rPr>
              <a:t>        channel.basic_ack(method.delivery_tag)</a:t>
            </a:r>
          </a:p>
          <a:p>
            <a:pPr>
              <a:lnSpc>
                <a:spcPct val="104277"/>
              </a:lnSpc>
              <a:spcAft>
                <a:spcPts val="0"/>
              </a:spcAft>
            </a:pPr>
            <a:r>
              <a:rPr sz="719" i="0">
                <a:solidFill>
                  <a:srgbClr val="5C6773"/>
                </a:solidFill>
                <a:latin typeface="Inconsolata"/>
              </a:rPr>
              <a:t>26  </a:t>
            </a:r>
            <a:r>
              <a:rPr sz="719" i="0">
                <a:solidFill>
                  <a:srgbClr val="E6EDF3"/>
                </a:solidFill>
                <a:latin typeface="Inconsolata"/>
              </a:rPr>
              <a:t>        received += </a:t>
            </a:r>
            <a:r>
              <a:rPr sz="719" i="0">
                <a:solidFill>
                  <a:srgbClr val="F9C97A"/>
                </a:solidFill>
                <a:latin typeface="Inconsolata"/>
              </a:rPr>
              <a:t>1</a:t>
            </a:r>
          </a:p>
          <a:p>
            <a:pPr>
              <a:lnSpc>
                <a:spcPct val="104277"/>
              </a:lnSpc>
              <a:spcAft>
                <a:spcPts val="0"/>
              </a:spcAft>
            </a:pPr>
            <a:r>
              <a:rPr sz="719" i="0">
                <a:solidFill>
                  <a:srgbClr val="5C6773"/>
                </a:solidFill>
                <a:latin typeface="Inconsolata"/>
              </a:rPr>
              <a:t>27  </a:t>
            </a:r>
            <a:r>
              <a:rPr sz="719" i="0">
                <a:solidFill>
                  <a:srgbClr val="E6EDF3"/>
                </a:solidFill>
                <a:latin typeface="Inconsolata"/>
              </a:rPr>
              <a:t>    channel.cancel()</a:t>
            </a:r>
          </a:p>
          <a:p>
            <a:pPr>
              <a:lnSpc>
                <a:spcPct val="104277"/>
              </a:lnSpc>
              <a:spcAft>
                <a:spcPts val="0"/>
              </a:spcAft>
            </a:pPr>
            <a:r>
              <a:rPr sz="719" i="0">
                <a:solidFill>
                  <a:srgbClr val="5C6773"/>
                </a:solidFill>
                <a:latin typeface="Inconsolata"/>
              </a:rPr>
              <a:t>28  </a:t>
            </a:r>
            <a:r>
              <a:rPr sz="719" i="0">
                <a:solidFill>
                  <a:srgbClr val="E6EDF3"/>
                </a:solidFill>
                <a:latin typeface="Inconsolata"/>
              </a:rPr>
              <a:t>    </a:t>
            </a:r>
            <a:r>
              <a:rPr sz="719" i="0">
                <a:solidFill>
                  <a:srgbClr val="FF8E6E"/>
                </a:solidFill>
                <a:latin typeface="Inconsolata"/>
              </a:rPr>
              <a:t>return</a:t>
            </a:r>
            <a:r>
              <a:rPr sz="719" i="0">
                <a:solidFill>
                  <a:srgbClr val="E6EDF3"/>
                </a:solidFill>
                <a:latin typeface="Inconsolata"/>
              </a:rPr>
              <a:t> received</a:t>
            </a:r>
          </a:p>
          <a:p>
            <a:pPr>
              <a:lnSpc>
                <a:spcPct val="104277"/>
              </a:lnSpc>
              <a:spcAft>
                <a:spcPts val="0"/>
              </a:spcAft>
            </a:pPr>
            <a:r>
              <a:rPr sz="719" i="0">
                <a:solidFill>
                  <a:srgbClr val="5C6773"/>
                </a:solidFill>
                <a:latin typeface="Inconsolata"/>
              </a:rPr>
              <a:t>29  </a:t>
            </a:r>
            <a:r>
              <a:rPr sz="719" i="0">
                <a:solidFill>
                  <a:srgbClr val="E6EDF3"/>
                </a:solidFill>
                <a:latin typeface="Inconsolata"/>
              </a:rPr>
              <a:t> </a:t>
            </a:r>
          </a:p>
          <a:p>
            <a:pPr>
              <a:lnSpc>
                <a:spcPct val="104277"/>
              </a:lnSpc>
              <a:spcAft>
                <a:spcPts val="0"/>
              </a:spcAft>
            </a:pPr>
            <a:r>
              <a:rPr sz="719" i="0">
                <a:solidFill>
                  <a:srgbClr val="5C6773"/>
                </a:solidFill>
                <a:latin typeface="Inconsolata"/>
              </a:rPr>
              <a:t>30  </a:t>
            </a:r>
            <a:r>
              <a:rPr sz="719" i="0">
                <a:solidFill>
                  <a:srgbClr val="E6EDF3"/>
                </a:solidFill>
                <a:latin typeface="Inconsolata"/>
              </a:rPr>
              <a:t> </a:t>
            </a:r>
          </a:p>
          <a:p>
            <a:pPr>
              <a:lnSpc>
                <a:spcPct val="104277"/>
              </a:lnSpc>
              <a:spcAft>
                <a:spcPts val="0"/>
              </a:spcAft>
            </a:pPr>
            <a:r>
              <a:rPr sz="719" i="0">
                <a:solidFill>
                  <a:srgbClr val="5C6773"/>
                </a:solidFill>
                <a:latin typeface="Inconsolata"/>
              </a:rPr>
              <a:t>31  </a:t>
            </a:r>
            <a:r>
              <a:rPr sz="719" i="0">
                <a:solidFill>
                  <a:srgbClr val="FF8E6E"/>
                </a:solidFill>
                <a:latin typeface="Inconsolata"/>
              </a:rPr>
              <a:t>def</a:t>
            </a:r>
            <a:r>
              <a:rPr sz="719" i="0">
                <a:solidFill>
                  <a:srgbClr val="E6EDF3"/>
                </a:solidFill>
                <a:latin typeface="Inconsolata"/>
              </a:rPr>
              <a:t> </a:t>
            </a:r>
            <a:r>
              <a:rPr sz="719" i="0">
                <a:solidFill>
                  <a:srgbClr val="82B1FF"/>
                </a:solidFill>
                <a:latin typeface="Inconsolata"/>
              </a:rPr>
              <a:t>declare</a:t>
            </a:r>
            <a:r>
              <a:rPr sz="719" i="0">
                <a:solidFill>
                  <a:srgbClr val="E6EDF3"/>
                </a:solidFill>
                <a:latin typeface="Inconsolata"/>
              </a:rPr>
              <a:t>(channel, queue):</a:t>
            </a:r>
          </a:p>
          <a:p>
            <a:pPr>
              <a:lnSpc>
                <a:spcPct val="104277"/>
              </a:lnSpc>
              <a:spcAft>
                <a:spcPts val="0"/>
              </a:spcAft>
            </a:pPr>
            <a:r>
              <a:rPr sz="719" i="0">
                <a:solidFill>
                  <a:srgbClr val="5C6773"/>
                </a:solidFill>
                <a:latin typeface="Inconsolata"/>
              </a:rPr>
              <a:t>32  </a:t>
            </a:r>
            <a:r>
              <a:rPr sz="719" i="0">
                <a:solidFill>
                  <a:srgbClr val="E6EDF3"/>
                </a:solidFill>
                <a:latin typeface="Inconsolata"/>
              </a:rPr>
              <a:t>    channel.queue_declare(queue, durable=</a:t>
            </a:r>
            <a:r>
              <a:rPr sz="719" i="0">
                <a:solidFill>
                  <a:srgbClr val="FF8E6E"/>
                </a:solidFill>
                <a:latin typeface="Inconsolata"/>
              </a:rPr>
              <a:t>True</a:t>
            </a:r>
            <a:r>
              <a:rPr sz="719" i="0">
                <a:solidFill>
                  <a:srgbClr val="E6EDF3"/>
                </a:solidFill>
                <a:latin typeface="Inconsolata"/>
              </a:rPr>
              <a:t>)</a:t>
            </a:r>
          </a:p>
          <a:p>
            <a:pPr>
              <a:lnSpc>
                <a:spcPct val="104277"/>
              </a:lnSpc>
              <a:spcAft>
                <a:spcPts val="0"/>
              </a:spcAft>
            </a:pPr>
            <a:r>
              <a:rPr sz="719" i="0">
                <a:solidFill>
                  <a:srgbClr val="5C6773"/>
                </a:solidFill>
                <a:latin typeface="Inconsolata"/>
              </a:rPr>
              <a:t>33  </a:t>
            </a:r>
            <a:r>
              <a:rPr sz="719" i="0">
                <a:solidFill>
                  <a:srgbClr val="E6EDF3"/>
                </a:solidFill>
                <a:latin typeface="Inconsolata"/>
              </a:rPr>
              <a:t>    channel.queue_bind(queue, </a:t>
            </a:r>
            <a:r>
              <a:rPr sz="719" i="0">
                <a:solidFill>
                  <a:srgbClr val="A5D6A7"/>
                </a:solidFill>
                <a:latin typeface="Inconsolata"/>
              </a:rPr>
              <a:t>"orders"</a:t>
            </a:r>
            <a:r>
              <a:rPr sz="719" i="0">
                <a:solidFill>
                  <a:srgbClr val="E6EDF3"/>
                </a:solidFill>
                <a:latin typeface="Inconsolata"/>
              </a:rPr>
              <a:t>, routing_key=</a:t>
            </a:r>
            <a:r>
              <a:rPr sz="719" i="0">
                <a:solidFill>
                  <a:srgbClr val="A5D6A7"/>
                </a:solidFill>
                <a:latin typeface="Inconsolata"/>
              </a:rPr>
              <a:t>"#"</a:t>
            </a:r>
            <a:r>
              <a:rPr sz="719" i="0">
                <a:solidFill>
                  <a:srgbClr val="E6EDF3"/>
                </a:solidFill>
                <a:latin typeface="Inconsolata"/>
              </a:rPr>
              <a: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06-kafka-basics/before.py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4277"/>
              </a:lnSpc>
              <a:spcAft>
                <a:spcPts val="0"/>
              </a:spcAft>
            </a:pPr>
            <a:r>
              <a:rPr sz="719" i="0">
                <a:solidFill>
                  <a:srgbClr val="5C6773"/>
                </a:solidFill>
                <a:latin typeface="Inconsolata"/>
              </a:rPr>
              <a:t>36  </a:t>
            </a:r>
            <a:r>
              <a:rPr sz="719" i="0">
                <a:solidFill>
                  <a:srgbClr val="FF8E6E"/>
                </a:solidFill>
                <a:latin typeface="Inconsolata"/>
              </a:rPr>
              <a:t>if</a:t>
            </a:r>
            <a:r>
              <a:rPr sz="719" i="0">
                <a:solidFill>
                  <a:srgbClr val="E6EDF3"/>
                </a:solidFill>
                <a:latin typeface="Inconsolata"/>
              </a:rPr>
              <a:t> __name__ == </a:t>
            </a:r>
            <a:r>
              <a:rPr sz="719" i="0">
                <a:solidFill>
                  <a:srgbClr val="A5D6A7"/>
                </a:solidFill>
                <a:latin typeface="Inconsolata"/>
              </a:rPr>
              <a:t>"__main__"</a:t>
            </a:r>
            <a:r>
              <a:rPr sz="719" i="0">
                <a:solidFill>
                  <a:srgbClr val="E6EDF3"/>
                </a:solidFill>
                <a:latin typeface="Inconsolata"/>
              </a:rPr>
              <a:t>:</a:t>
            </a:r>
          </a:p>
          <a:p>
            <a:pPr>
              <a:lnSpc>
                <a:spcPct val="104277"/>
              </a:lnSpc>
              <a:spcAft>
                <a:spcPts val="0"/>
              </a:spcAft>
            </a:pPr>
            <a:r>
              <a:rPr sz="719" i="0">
                <a:solidFill>
                  <a:srgbClr val="5C6773"/>
                </a:solidFill>
                <a:latin typeface="Inconsolata"/>
              </a:rPr>
              <a:t>37  </a:t>
            </a:r>
            <a:r>
              <a:rPr sz="719" i="0">
                <a:solidFill>
                  <a:srgbClr val="E6EDF3"/>
                </a:solidFill>
                <a:latin typeface="Inconsolata"/>
              </a:rPr>
              <a:t>    </a:t>
            </a:r>
            <a:r>
              <a:rPr sz="719" i="0">
                <a:solidFill>
                  <a:srgbClr val="FF8E6E"/>
                </a:solidFill>
                <a:latin typeface="Inconsolata"/>
              </a:rPr>
              <a:t>with</a:t>
            </a:r>
            <a:r>
              <a:rPr sz="719" i="0">
                <a:solidFill>
                  <a:srgbClr val="E6EDF3"/>
                </a:solidFill>
                <a:latin typeface="Inconsolata"/>
              </a:rPr>
              <a:t> pika.</a:t>
            </a:r>
            <a:r>
              <a:rPr sz="719" i="0">
                <a:solidFill>
                  <a:srgbClr val="7FDBCA"/>
                </a:solidFill>
                <a:latin typeface="Inconsolata"/>
              </a:rPr>
              <a:t>BlockingConnection</a:t>
            </a:r>
            <a:r>
              <a:rPr sz="719" i="0">
                <a:solidFill>
                  <a:srgbClr val="E6EDF3"/>
                </a:solidFill>
                <a:latin typeface="Inconsolata"/>
              </a:rPr>
              <a:t>(pika.</a:t>
            </a:r>
            <a:r>
              <a:rPr sz="719" i="0">
                <a:solidFill>
                  <a:srgbClr val="7FDBCA"/>
                </a:solidFill>
                <a:latin typeface="Inconsolata"/>
              </a:rPr>
              <a:t>URLParameters</a:t>
            </a:r>
            <a:r>
              <a:rPr sz="719" i="0">
                <a:solidFill>
                  <a:srgbClr val="E6EDF3"/>
                </a:solidFill>
                <a:latin typeface="Inconsolata"/>
              </a:rPr>
              <a:t>(</a:t>
            </a:r>
            <a:r>
              <a:rPr sz="719" i="0">
                <a:solidFill>
                  <a:srgbClr val="7FDBCA"/>
                </a:solidFill>
                <a:latin typeface="Inconsolata"/>
              </a:rPr>
              <a:t>URL</a:t>
            </a:r>
            <a:r>
              <a:rPr sz="719" i="0">
                <a:solidFill>
                  <a:srgbClr val="E6EDF3"/>
                </a:solidFill>
                <a:latin typeface="Inconsolata"/>
              </a:rPr>
              <a:t>)) </a:t>
            </a:r>
            <a:r>
              <a:rPr sz="719" i="0">
                <a:solidFill>
                  <a:srgbClr val="FF8E6E"/>
                </a:solidFill>
                <a:latin typeface="Inconsolata"/>
              </a:rPr>
              <a:t>as</a:t>
            </a:r>
            <a:r>
              <a:rPr sz="719" i="0">
                <a:solidFill>
                  <a:srgbClr val="E6EDF3"/>
                </a:solidFill>
                <a:latin typeface="Inconsolata"/>
              </a:rPr>
              <a:t> conn:</a:t>
            </a:r>
          </a:p>
          <a:p>
            <a:pPr>
              <a:lnSpc>
                <a:spcPct val="104277"/>
              </a:lnSpc>
              <a:spcAft>
                <a:spcPts val="0"/>
              </a:spcAft>
            </a:pPr>
            <a:r>
              <a:rPr sz="719" i="0">
                <a:solidFill>
                  <a:srgbClr val="5C6773"/>
                </a:solidFill>
                <a:latin typeface="Inconsolata"/>
              </a:rPr>
              <a:t>38  </a:t>
            </a:r>
            <a:r>
              <a:rPr sz="719" i="0">
                <a:solidFill>
                  <a:srgbClr val="E6EDF3"/>
                </a:solidFill>
                <a:latin typeface="Inconsolata"/>
              </a:rPr>
              <a:t>        channel = conn.channel()</a:t>
            </a:r>
          </a:p>
          <a:p>
            <a:pPr>
              <a:lnSpc>
                <a:spcPct val="104277"/>
              </a:lnSpc>
              <a:spcAft>
                <a:spcPts val="0"/>
              </a:spcAft>
            </a:pPr>
            <a:r>
              <a:rPr sz="719" i="0">
                <a:solidFill>
                  <a:srgbClr val="5C6773"/>
                </a:solidFill>
                <a:latin typeface="Inconsolata"/>
              </a:rPr>
              <a:t>39  </a:t>
            </a:r>
            <a:r>
              <a:rPr sz="719" i="0">
                <a:solidFill>
                  <a:srgbClr val="E6EDF3"/>
                </a:solidFill>
                <a:latin typeface="Inconsolata"/>
              </a:rPr>
              <a:t>        channel.confirm_delivery()</a:t>
            </a:r>
          </a:p>
          <a:p>
            <a:pPr>
              <a:lnSpc>
                <a:spcPct val="104277"/>
              </a:lnSpc>
              <a:spcAft>
                <a:spcPts val="0"/>
              </a:spcAft>
            </a:pPr>
            <a:r>
              <a:rPr sz="719" i="0">
                <a:solidFill>
                  <a:srgbClr val="5C6773"/>
                </a:solidFill>
                <a:latin typeface="Inconsolata"/>
              </a:rPr>
              <a:t>40  </a:t>
            </a:r>
            <a:r>
              <a:rPr sz="719" i="0">
                <a:solidFill>
                  <a:srgbClr val="E6EDF3"/>
                </a:solidFill>
                <a:latin typeface="Inconsolata"/>
              </a:rPr>
              <a:t>        channel.exchange_declare(</a:t>
            </a:r>
            <a:r>
              <a:rPr sz="719" i="0">
                <a:solidFill>
                  <a:srgbClr val="A5D6A7"/>
                </a:solidFill>
                <a:latin typeface="Inconsolata"/>
              </a:rPr>
              <a:t>"orders"</a:t>
            </a:r>
            <a:r>
              <a:rPr sz="719" i="0">
                <a:solidFill>
                  <a:srgbClr val="E6EDF3"/>
                </a:solidFill>
                <a:latin typeface="Inconsolata"/>
              </a:rPr>
              <a:t>, exchange_type=</a:t>
            </a:r>
            <a:r>
              <a:rPr sz="719" i="0">
                <a:solidFill>
                  <a:srgbClr val="A5D6A7"/>
                </a:solidFill>
                <a:latin typeface="Inconsolata"/>
              </a:rPr>
              <a:t>"topic"</a:t>
            </a:r>
            <a:r>
              <a:rPr sz="719" i="0">
                <a:solidFill>
                  <a:srgbClr val="E6EDF3"/>
                </a:solidFill>
                <a:latin typeface="Inconsolata"/>
              </a:rPr>
              <a:t>,</a:t>
            </a:r>
          </a:p>
          <a:p>
            <a:pPr>
              <a:lnSpc>
                <a:spcPct val="104277"/>
              </a:lnSpc>
              <a:spcAft>
                <a:spcPts val="0"/>
              </a:spcAft>
            </a:pPr>
            <a:r>
              <a:rPr sz="719" i="0">
                <a:solidFill>
                  <a:srgbClr val="5C6773"/>
                </a:solidFill>
                <a:latin typeface="Inconsolata"/>
              </a:rPr>
              <a:t>41  </a:t>
            </a:r>
            <a:r>
              <a:rPr sz="719" i="0">
                <a:solidFill>
                  <a:srgbClr val="E6EDF3"/>
                </a:solidFill>
                <a:latin typeface="Inconsolata"/>
              </a:rPr>
              <a:t>                                 durable=</a:t>
            </a:r>
            <a:r>
              <a:rPr sz="719" i="0">
                <a:solidFill>
                  <a:srgbClr val="FF8E6E"/>
                </a:solidFill>
                <a:latin typeface="Inconsolata"/>
              </a:rPr>
              <a:t>True</a:t>
            </a:r>
            <a:r>
              <a:rPr sz="719" i="0">
                <a:solidFill>
                  <a:srgbClr val="E6EDF3"/>
                </a:solidFill>
                <a:latin typeface="Inconsolata"/>
              </a:rPr>
              <a:t>)</a:t>
            </a:r>
          </a:p>
          <a:p>
            <a:pPr>
              <a:lnSpc>
                <a:spcPct val="104277"/>
              </a:lnSpc>
              <a:spcAft>
                <a:spcPts val="0"/>
              </a:spcAft>
            </a:pPr>
            <a:r>
              <a:rPr sz="719" i="0">
                <a:solidFill>
                  <a:srgbClr val="5C6773"/>
                </a:solidFill>
                <a:latin typeface="Inconsolata"/>
              </a:rPr>
              <a:t>42  </a:t>
            </a:r>
            <a:r>
              <a:rPr sz="719" i="0">
                <a:solidFill>
                  <a:srgbClr val="E6EDF3"/>
                </a:solidFill>
                <a:latin typeface="Inconsolata"/>
              </a:rPr>
              <a:t>        </a:t>
            </a:r>
            <a:r>
              <a:rPr sz="719" i="0">
                <a:solidFill>
                  <a:srgbClr val="FF8E6E"/>
                </a:solidFill>
                <a:latin typeface="Inconsolata"/>
              </a:rPr>
              <a:t>for</a:t>
            </a:r>
            <a:r>
              <a:rPr sz="719" i="0">
                <a:solidFill>
                  <a:srgbClr val="E6EDF3"/>
                </a:solidFill>
                <a:latin typeface="Inconsolata"/>
              </a:rPr>
              <a:t> queue </a:t>
            </a:r>
            <a:r>
              <a:rPr sz="719" i="0">
                <a:solidFill>
                  <a:srgbClr val="FF8E6E"/>
                </a:solidFill>
                <a:latin typeface="Inconsolata"/>
              </a:rPr>
              <a:t>in</a:t>
            </a:r>
            <a:r>
              <a:rPr sz="719" i="0">
                <a:solidFill>
                  <a:srgbClr val="E6EDF3"/>
                </a:solidFill>
                <a:latin typeface="Inconsolata"/>
              </a:rPr>
              <a:t> (</a:t>
            </a:r>
            <a:r>
              <a:rPr sz="719" i="0">
                <a:solidFill>
                  <a:srgbClr val="A5D6A7"/>
                </a:solidFill>
                <a:latin typeface="Inconsolata"/>
              </a:rPr>
              <a:t>"email"</a:t>
            </a:r>
            <a:r>
              <a:rPr sz="719" i="0">
                <a:solidFill>
                  <a:srgbClr val="E6EDF3"/>
                </a:solidFill>
                <a:latin typeface="Inconsolata"/>
              </a:rPr>
              <a:t>, </a:t>
            </a:r>
            <a:r>
              <a:rPr sz="719" i="0">
                <a:solidFill>
                  <a:srgbClr val="A5D6A7"/>
                </a:solidFill>
                <a:latin typeface="Inconsolata"/>
              </a:rPr>
              <a:t>"analytics"</a:t>
            </a:r>
            <a:r>
              <a:rPr sz="719" i="0">
                <a:solidFill>
                  <a:srgbClr val="E6EDF3"/>
                </a:solidFill>
                <a:latin typeface="Inconsolata"/>
              </a:rPr>
              <a:t>):</a:t>
            </a:r>
          </a:p>
          <a:p>
            <a:pPr>
              <a:lnSpc>
                <a:spcPct val="104277"/>
              </a:lnSpc>
              <a:spcAft>
                <a:spcPts val="0"/>
              </a:spcAft>
            </a:pPr>
            <a:r>
              <a:rPr sz="719" i="0">
                <a:solidFill>
                  <a:srgbClr val="5C6773"/>
                </a:solidFill>
                <a:latin typeface="Inconsolata"/>
              </a:rPr>
              <a:t>43  </a:t>
            </a:r>
            <a:r>
              <a:rPr sz="719" i="0">
                <a:solidFill>
                  <a:srgbClr val="E6EDF3"/>
                </a:solidFill>
                <a:latin typeface="Inconsolata"/>
              </a:rPr>
              <a:t>            channel.queue_delete(queue)        </a:t>
            </a:r>
            <a:r>
              <a:rPr sz="719" i="1">
                <a:solidFill>
                  <a:srgbClr val="8B98A8"/>
                </a:solidFill>
                <a:latin typeface="Inconsolata"/>
              </a:rPr>
              <a:t># mulai dari kosong</a:t>
            </a:r>
          </a:p>
          <a:p>
            <a:pPr>
              <a:lnSpc>
                <a:spcPct val="104277"/>
              </a:lnSpc>
              <a:spcAft>
                <a:spcPts val="0"/>
              </a:spcAft>
            </a:pPr>
            <a:r>
              <a:rPr sz="719" i="0">
                <a:solidFill>
                  <a:srgbClr val="5C6773"/>
                </a:solidFill>
                <a:latin typeface="Inconsolata"/>
              </a:rPr>
              <a:t>44  </a:t>
            </a:r>
            <a:r>
              <a:rPr sz="719" i="0">
                <a:solidFill>
                  <a:srgbClr val="E6EDF3"/>
                </a:solidFill>
                <a:latin typeface="Inconsolata"/>
              </a:rPr>
              <a:t>        declare(channel, </a:t>
            </a:r>
            <a:r>
              <a:rPr sz="719" i="0">
                <a:solidFill>
                  <a:srgbClr val="A5D6A7"/>
                </a:solidFill>
                <a:latin typeface="Inconsolata"/>
              </a:rPr>
              <a:t>"email"</a:t>
            </a:r>
            <a:r>
              <a:rPr sz="719" i="0">
                <a:solidFill>
                  <a:srgbClr val="E6EDF3"/>
                </a:solidFill>
                <a:latin typeface="Inconsolata"/>
              </a:rPr>
              <a:t>)</a:t>
            </a:r>
          </a:p>
          <a:p>
            <a:pPr>
              <a:lnSpc>
                <a:spcPct val="104277"/>
              </a:lnSpc>
              <a:spcAft>
                <a:spcPts val="0"/>
              </a:spcAft>
            </a:pPr>
            <a:r>
              <a:rPr sz="719" i="0">
                <a:solidFill>
                  <a:srgbClr val="5C6773"/>
                </a:solidFill>
                <a:latin typeface="Inconsolata"/>
              </a:rPr>
              <a:t>45  </a:t>
            </a:r>
            <a:r>
              <a:rPr sz="719" i="0">
                <a:solidFill>
                  <a:srgbClr val="E6EDF3"/>
                </a:solidFill>
                <a:latin typeface="Inconsolata"/>
              </a:rPr>
              <a:t> </a:t>
            </a:r>
          </a:p>
          <a:p>
            <a:pPr>
              <a:lnSpc>
                <a:spcPct val="104277"/>
              </a:lnSpc>
              <a:spcAft>
                <a:spcPts val="0"/>
              </a:spcAft>
            </a:pPr>
            <a:r>
              <a:rPr sz="719" i="0">
                <a:solidFill>
                  <a:srgbClr val="5C6773"/>
                </a:solidFill>
                <a:latin typeface="Inconsolata"/>
              </a:rPr>
              <a:t>46  </a:t>
            </a:r>
            <a:r>
              <a:rPr sz="719" i="0">
                <a:solidFill>
                  <a:srgbClr val="E6EDF3"/>
                </a:solidFill>
                <a:latin typeface="Inconsolata"/>
              </a:rPr>
              <a:t>        </a:t>
            </a:r>
            <a:r>
              <a:rPr sz="719" i="0">
                <a:solidFill>
                  <a:srgbClr val="FF8E6E"/>
                </a:solidFill>
                <a:latin typeface="Inconsolata"/>
              </a:rPr>
              <a:t>for</a:t>
            </a:r>
            <a:r>
              <a:rPr sz="719" i="0">
                <a:solidFill>
                  <a:srgbClr val="E6EDF3"/>
                </a:solidFill>
                <a:latin typeface="Inconsolata"/>
              </a:rPr>
              <a:t> order_id </a:t>
            </a:r>
            <a:r>
              <a:rPr sz="719" i="0">
                <a:solidFill>
                  <a:srgbClr val="FF8E6E"/>
                </a:solidFill>
                <a:latin typeface="Inconsolata"/>
              </a:rPr>
              <a:t>in</a:t>
            </a:r>
            <a:r>
              <a:rPr sz="719" i="0">
                <a:solidFill>
                  <a:srgbClr val="E6EDF3"/>
                </a:solidFill>
                <a:latin typeface="Inconsolata"/>
              </a:rPr>
              <a:t> </a:t>
            </a:r>
            <a:r>
              <a:rPr sz="719" i="0">
                <a:solidFill>
                  <a:srgbClr val="C3A6FF"/>
                </a:solidFill>
                <a:latin typeface="Inconsolata"/>
              </a:rPr>
              <a:t>range</a:t>
            </a:r>
            <a:r>
              <a:rPr sz="719" i="0">
                <a:solidFill>
                  <a:srgbClr val="E6EDF3"/>
                </a:solidFill>
                <a:latin typeface="Inconsolata"/>
              </a:rPr>
              <a:t>(</a:t>
            </a:r>
            <a:r>
              <a:rPr sz="719" i="0">
                <a:solidFill>
                  <a:srgbClr val="F9C97A"/>
                </a:solidFill>
                <a:latin typeface="Inconsolata"/>
              </a:rPr>
              <a:t>1</a:t>
            </a:r>
            <a:r>
              <a:rPr sz="719" i="0">
                <a:solidFill>
                  <a:srgbClr val="E6EDF3"/>
                </a:solidFill>
                <a:latin typeface="Inconsolata"/>
              </a:rPr>
              <a:t>, </a:t>
            </a:r>
            <a:r>
              <a:rPr sz="719" i="0">
                <a:solidFill>
                  <a:srgbClr val="F9C97A"/>
                </a:solidFill>
                <a:latin typeface="Inconsolata"/>
              </a:rPr>
              <a:t>7</a:t>
            </a:r>
            <a:r>
              <a:rPr sz="719" i="0">
                <a:solidFill>
                  <a:srgbClr val="E6EDF3"/>
                </a:solidFill>
                <a:latin typeface="Inconsolata"/>
              </a:rPr>
              <a:t>):</a:t>
            </a:r>
          </a:p>
          <a:p>
            <a:pPr>
              <a:lnSpc>
                <a:spcPct val="104277"/>
              </a:lnSpc>
              <a:spcAft>
                <a:spcPts val="0"/>
              </a:spcAft>
            </a:pPr>
            <a:r>
              <a:rPr sz="719" i="0">
                <a:solidFill>
                  <a:srgbClr val="5C6773"/>
                </a:solidFill>
                <a:latin typeface="Inconsolata"/>
              </a:rPr>
              <a:t>47  </a:t>
            </a:r>
            <a:r>
              <a:rPr sz="719" i="0">
                <a:solidFill>
                  <a:srgbClr val="E6EDF3"/>
                </a:solidFill>
                <a:latin typeface="Inconsolata"/>
              </a:rPr>
              <a:t>            event = {</a:t>
            </a:r>
            <a:r>
              <a:rPr sz="719" i="0">
                <a:solidFill>
                  <a:srgbClr val="A5D6A7"/>
                </a:solidFill>
                <a:latin typeface="Inconsolata"/>
              </a:rPr>
              <a:t>"type"</a:t>
            </a:r>
            <a:r>
              <a:rPr sz="719" i="0">
                <a:solidFill>
                  <a:srgbClr val="E6EDF3"/>
                </a:solidFill>
                <a:latin typeface="Inconsolata"/>
              </a:rPr>
              <a:t>: </a:t>
            </a:r>
            <a:r>
              <a:rPr sz="719" i="0">
                <a:solidFill>
                  <a:srgbClr val="A5D6A7"/>
                </a:solidFill>
                <a:latin typeface="Inconsolata"/>
              </a:rPr>
              <a:t>"order.placed"</a:t>
            </a:r>
            <a:r>
              <a:rPr sz="719" i="0">
                <a:solidFill>
                  <a:srgbClr val="E6EDF3"/>
                </a:solidFill>
                <a:latin typeface="Inconsolata"/>
              </a:rPr>
              <a:t>, </a:t>
            </a:r>
            <a:r>
              <a:rPr sz="719" i="0">
                <a:solidFill>
                  <a:srgbClr val="A5D6A7"/>
                </a:solidFill>
                <a:latin typeface="Inconsolata"/>
              </a:rPr>
              <a:t>"order_id"</a:t>
            </a:r>
            <a:r>
              <a:rPr sz="719" i="0">
                <a:solidFill>
                  <a:srgbClr val="E6EDF3"/>
                </a:solidFill>
                <a:latin typeface="Inconsolata"/>
              </a:rPr>
              <a:t>: order_id}</a:t>
            </a:r>
          </a:p>
          <a:p>
            <a:pPr>
              <a:lnSpc>
                <a:spcPct val="104277"/>
              </a:lnSpc>
              <a:spcAft>
                <a:spcPts val="0"/>
              </a:spcAft>
            </a:pPr>
            <a:r>
              <a:rPr sz="719" i="0">
                <a:solidFill>
                  <a:srgbClr val="5C6773"/>
                </a:solidFill>
                <a:latin typeface="Inconsolata"/>
              </a:rPr>
              <a:t>48  </a:t>
            </a:r>
            <a:r>
              <a:rPr sz="719" i="0">
                <a:solidFill>
                  <a:srgbClr val="E6EDF3"/>
                </a:solidFill>
                <a:latin typeface="Inconsolata"/>
              </a:rPr>
              <a:t>            channel.basic_publish(</a:t>
            </a:r>
            <a:r>
              <a:rPr sz="719" i="0">
                <a:solidFill>
                  <a:srgbClr val="A5D6A7"/>
                </a:solidFill>
                <a:latin typeface="Inconsolata"/>
              </a:rPr>
              <a:t>"orders"</a:t>
            </a:r>
            <a:r>
              <a:rPr sz="719" i="0">
                <a:solidFill>
                  <a:srgbClr val="E6EDF3"/>
                </a:solidFill>
                <a:latin typeface="Inconsolata"/>
              </a:rPr>
              <a:t>, </a:t>
            </a:r>
            <a:r>
              <a:rPr sz="719" i="0">
                <a:solidFill>
                  <a:srgbClr val="A5D6A7"/>
                </a:solidFill>
                <a:latin typeface="Inconsolata"/>
              </a:rPr>
              <a:t>"order.placed"</a:t>
            </a:r>
            <a:r>
              <a:rPr sz="719" i="0">
                <a:solidFill>
                  <a:srgbClr val="E6EDF3"/>
                </a:solidFill>
                <a:latin typeface="Inconsolata"/>
              </a:rPr>
              <a:t>,</a:t>
            </a:r>
          </a:p>
          <a:p>
            <a:pPr>
              <a:lnSpc>
                <a:spcPct val="104277"/>
              </a:lnSpc>
              <a:spcAft>
                <a:spcPts val="0"/>
              </a:spcAft>
            </a:pPr>
            <a:r>
              <a:rPr sz="719" i="0">
                <a:solidFill>
                  <a:srgbClr val="5C6773"/>
                </a:solidFill>
                <a:latin typeface="Inconsolata"/>
              </a:rPr>
              <a:t>49  </a:t>
            </a:r>
            <a:r>
              <a:rPr sz="719" i="0">
                <a:solidFill>
                  <a:srgbClr val="E6EDF3"/>
                </a:solidFill>
                <a:latin typeface="Inconsolata"/>
              </a:rPr>
              <a:t>                                  json.dumps(event))</a:t>
            </a:r>
          </a:p>
          <a:p>
            <a:pPr>
              <a:lnSpc>
                <a:spcPct val="104277"/>
              </a:lnSpc>
              <a:spcAft>
                <a:spcPts val="0"/>
              </a:spcAft>
            </a:pPr>
            <a:r>
              <a:rPr sz="719" i="0">
                <a:solidFill>
                  <a:srgbClr val="5C6773"/>
                </a:solidFill>
                <a:latin typeface="Inconsolata"/>
              </a:rPr>
              <a:t>50  </a:t>
            </a:r>
            <a:r>
              <a:rPr sz="719" i="0">
                <a:solidFill>
                  <a:srgbClr val="E6EDF3"/>
                </a:solidFill>
                <a:latin typeface="Inconsolata"/>
              </a:rPr>
              <a:t> </a:t>
            </a:r>
          </a:p>
          <a:p>
            <a:pPr>
              <a:lnSpc>
                <a:spcPct val="104277"/>
              </a:lnSpc>
              <a:spcAft>
                <a:spcPts val="0"/>
              </a:spcAft>
            </a:pPr>
            <a:r>
              <a:rPr sz="719" i="0">
                <a:solidFill>
                  <a:srgbClr val="5C6773"/>
                </a:solidFill>
                <a:latin typeface="Inconsolata"/>
              </a:rPr>
              <a:t>51  </a:t>
            </a:r>
            <a:r>
              <a:rPr sz="719" i="0">
                <a:solidFill>
                  <a:srgbClr val="E6EDF3"/>
                </a:solidFill>
                <a:latin typeface="Inconsolata"/>
              </a:rPr>
              <a:t>        </a:t>
            </a:r>
            <a:r>
              <a:rPr sz="719" i="0">
                <a:solidFill>
                  <a:srgbClr val="C3A6FF"/>
                </a:solidFill>
                <a:latin typeface="Inconsolata"/>
              </a:rPr>
              <a:t>print</a:t>
            </a:r>
            <a:r>
              <a:rPr sz="719" i="0">
                <a:solidFill>
                  <a:srgbClr val="E6EDF3"/>
                </a:solidFill>
                <a:latin typeface="Inconsolata"/>
              </a:rPr>
              <a:t>(</a:t>
            </a:r>
            <a:r>
              <a:rPr sz="719" i="0">
                <a:solidFill>
                  <a:srgbClr val="A5D6A7"/>
                </a:solidFill>
                <a:latin typeface="Inconsolata"/>
              </a:rPr>
              <a:t>f"Consumer email           : "</a:t>
            </a:r>
          </a:p>
          <a:p>
            <a:pPr>
              <a:lnSpc>
                <a:spcPct val="104277"/>
              </a:lnSpc>
              <a:spcAft>
                <a:spcPts val="0"/>
              </a:spcAft>
            </a:pPr>
            <a:r>
              <a:rPr sz="719" i="0">
                <a:solidFill>
                  <a:srgbClr val="5C6773"/>
                </a:solidFill>
                <a:latin typeface="Inconsolata"/>
              </a:rPr>
              <a:t>52  </a:t>
            </a:r>
            <a:r>
              <a:rPr sz="719" i="0">
                <a:solidFill>
                  <a:srgbClr val="E6EDF3"/>
                </a:solidFill>
                <a:latin typeface="Inconsolata"/>
              </a:rPr>
              <a:t>              </a:t>
            </a:r>
            <a:r>
              <a:rPr sz="719" i="0">
                <a:solidFill>
                  <a:srgbClr val="A5D6A7"/>
                </a:solidFill>
                <a:latin typeface="Inconsolata"/>
              </a:rPr>
              <a:t>f"{consume(channel, 'email')} event"</a:t>
            </a:r>
            <a:r>
              <a:rPr sz="719" i="0">
                <a:solidFill>
                  <a:srgbClr val="E6EDF3"/>
                </a:solidFill>
                <a:latin typeface="Inconsolata"/>
              </a:rPr>
              <a:t>)</a:t>
            </a:r>
          </a:p>
          <a:p>
            <a:pPr>
              <a:lnSpc>
                <a:spcPct val="104277"/>
              </a:lnSpc>
              <a:spcAft>
                <a:spcPts val="0"/>
              </a:spcAft>
            </a:pPr>
            <a:r>
              <a:rPr sz="719" i="0">
                <a:solidFill>
                  <a:srgbClr val="5C6773"/>
                </a:solidFill>
                <a:latin typeface="Inconsolata"/>
              </a:rPr>
              <a:t>53  </a:t>
            </a:r>
            <a:r>
              <a:rPr sz="719" i="0">
                <a:solidFill>
                  <a:srgbClr val="E6EDF3"/>
                </a:solidFill>
                <a:latin typeface="Inconsolata"/>
              </a:rPr>
              <a:t>        </a:t>
            </a:r>
            <a:r>
              <a:rPr sz="719" i="0">
                <a:solidFill>
                  <a:srgbClr val="C3A6FF"/>
                </a:solidFill>
                <a:latin typeface="Inconsolata"/>
              </a:rPr>
              <a:t>print</a:t>
            </a:r>
            <a:r>
              <a:rPr sz="719" i="0">
                <a:solidFill>
                  <a:srgbClr val="E6EDF3"/>
                </a:solidFill>
                <a:latin typeface="Inconsolata"/>
              </a:rPr>
              <a:t>(</a:t>
            </a:r>
            <a:r>
              <a:rPr sz="719" i="0">
                <a:solidFill>
                  <a:srgbClr val="A5D6A7"/>
                </a:solidFill>
                <a:latin typeface="Inconsolata"/>
              </a:rPr>
              <a:t>f"Consumer email baca ulang: "</a:t>
            </a:r>
          </a:p>
          <a:p>
            <a:pPr>
              <a:lnSpc>
                <a:spcPct val="104277"/>
              </a:lnSpc>
              <a:spcAft>
                <a:spcPts val="0"/>
              </a:spcAft>
            </a:pPr>
            <a:r>
              <a:rPr sz="719" i="0">
                <a:solidFill>
                  <a:srgbClr val="5C6773"/>
                </a:solidFill>
                <a:latin typeface="Inconsolata"/>
              </a:rPr>
              <a:t>54  </a:t>
            </a:r>
            <a:r>
              <a:rPr sz="719" i="0">
                <a:solidFill>
                  <a:srgbClr val="E6EDF3"/>
                </a:solidFill>
                <a:latin typeface="Inconsolata"/>
              </a:rPr>
              <a:t>              </a:t>
            </a:r>
            <a:r>
              <a:rPr sz="719" i="0">
                <a:solidFill>
                  <a:srgbClr val="A5D6A7"/>
                </a:solidFill>
                <a:latin typeface="Inconsolata"/>
              </a:rPr>
              <a:t>f"{consume(channel, 'email')} event"</a:t>
            </a:r>
            <a:r>
              <a:rPr sz="719" i="0">
                <a:solidFill>
                  <a:srgbClr val="E6EDF3"/>
                </a:solidFill>
                <a:latin typeface="Inconsolata"/>
              </a:rPr>
              <a:t>)</a:t>
            </a:r>
          </a:p>
          <a:p>
            <a:pPr>
              <a:lnSpc>
                <a:spcPct val="104277"/>
              </a:lnSpc>
              <a:spcAft>
                <a:spcPts val="0"/>
              </a:spcAft>
            </a:pPr>
            <a:r>
              <a:rPr sz="719" i="0">
                <a:solidFill>
                  <a:srgbClr val="5C6773"/>
                </a:solidFill>
                <a:latin typeface="Inconsolata"/>
              </a:rPr>
              <a:t>55  </a:t>
            </a:r>
            <a:r>
              <a:rPr sz="719" i="0">
                <a:solidFill>
                  <a:srgbClr val="E6EDF3"/>
                </a:solidFill>
                <a:latin typeface="Inconsolata"/>
              </a:rPr>
              <a:t> </a:t>
            </a:r>
          </a:p>
          <a:p>
            <a:pPr>
              <a:lnSpc>
                <a:spcPct val="104277"/>
              </a:lnSpc>
              <a:spcAft>
                <a:spcPts val="0"/>
              </a:spcAft>
            </a:pPr>
            <a:r>
              <a:rPr sz="719" i="0">
                <a:solidFill>
                  <a:srgbClr val="5C6773"/>
                </a:solidFill>
                <a:latin typeface="Inconsolata"/>
              </a:rPr>
              <a:t>56  </a:t>
            </a:r>
            <a:r>
              <a:rPr sz="719" i="0">
                <a:solidFill>
                  <a:srgbClr val="E6EDF3"/>
                </a:solidFill>
                <a:latin typeface="Inconsolata"/>
              </a:rPr>
              <a:t>        declare(channel, </a:t>
            </a:r>
            <a:r>
              <a:rPr sz="719" i="0">
                <a:solidFill>
                  <a:srgbClr val="A5D6A7"/>
                </a:solidFill>
                <a:latin typeface="Inconsolata"/>
              </a:rPr>
              <a:t>"analytics"</a:t>
            </a:r>
            <a:r>
              <a:rPr sz="719" i="0">
                <a:solidFill>
                  <a:srgbClr val="E6EDF3"/>
                </a:solidFill>
                <a:latin typeface="Inconsolata"/>
              </a:rPr>
              <a:t>)   </a:t>
            </a:r>
            <a:r>
              <a:rPr sz="719" i="1">
                <a:solidFill>
                  <a:srgbClr val="8B98A8"/>
                </a:solidFill>
                <a:latin typeface="Inconsolata"/>
              </a:rPr>
              <a:t># tim analytics baru bergabung</a:t>
            </a:r>
          </a:p>
          <a:p>
            <a:pPr>
              <a:lnSpc>
                <a:spcPct val="104277"/>
              </a:lnSpc>
              <a:spcAft>
                <a:spcPts val="0"/>
              </a:spcAft>
            </a:pPr>
            <a:r>
              <a:rPr sz="719" i="0">
                <a:solidFill>
                  <a:srgbClr val="5C6773"/>
                </a:solidFill>
                <a:latin typeface="Inconsolata"/>
              </a:rPr>
              <a:t>57  </a:t>
            </a:r>
            <a:r>
              <a:rPr sz="719" i="0">
                <a:solidFill>
                  <a:srgbClr val="E6EDF3"/>
                </a:solidFill>
                <a:latin typeface="Inconsolata"/>
              </a:rPr>
              <a:t>        </a:t>
            </a:r>
            <a:r>
              <a:rPr sz="719" i="0">
                <a:solidFill>
                  <a:srgbClr val="C3A6FF"/>
                </a:solidFill>
                <a:latin typeface="Inconsolata"/>
              </a:rPr>
              <a:t>print</a:t>
            </a:r>
            <a:r>
              <a:rPr sz="719" i="0">
                <a:solidFill>
                  <a:srgbClr val="E6EDF3"/>
                </a:solidFill>
                <a:latin typeface="Inconsolata"/>
              </a:rPr>
              <a:t>(</a:t>
            </a:r>
            <a:r>
              <a:rPr sz="719" i="0">
                <a:solidFill>
                  <a:srgbClr val="A5D6A7"/>
                </a:solidFill>
                <a:latin typeface="Inconsolata"/>
              </a:rPr>
              <a:t>f"Consumer analytics (baru): "</a:t>
            </a:r>
          </a:p>
          <a:p>
            <a:pPr>
              <a:lnSpc>
                <a:spcPct val="104277"/>
              </a:lnSpc>
              <a:spcAft>
                <a:spcPts val="0"/>
              </a:spcAft>
            </a:pPr>
            <a:r>
              <a:rPr sz="719" i="0">
                <a:solidFill>
                  <a:srgbClr val="5C6773"/>
                </a:solidFill>
                <a:latin typeface="Inconsolata"/>
              </a:rPr>
              <a:t>58  </a:t>
            </a:r>
            <a:r>
              <a:rPr sz="719" i="0">
                <a:solidFill>
                  <a:srgbClr val="E6EDF3"/>
                </a:solidFill>
                <a:latin typeface="Inconsolata"/>
              </a:rPr>
              <a:t>              </a:t>
            </a:r>
            <a:r>
              <a:rPr sz="719" i="0">
                <a:solidFill>
                  <a:srgbClr val="A5D6A7"/>
                </a:solidFill>
                <a:latin typeface="Inconsolata"/>
              </a:rPr>
              <a:t>f"{consume(channel, 'analytics')} event"</a:t>
            </a:r>
            <a:r>
              <a:rPr sz="719" i="0">
                <a:solidFill>
                  <a:srgbClr val="E6EDF3"/>
                </a:solidFill>
                <a:latin typeface="Inconsolata"/>
              </a:rPr>
              <a:t>)</a:t>
            </a:r>
          </a:p>
        </p:txBody>
      </p:sp>
      <p:sp>
        <p:nvSpPr>
          <p:cNvPr id="36" name="Box 21"/>
          <p:cNvSpPr/>
          <p:nvPr/>
        </p:nvSpPr>
        <p:spPr>
          <a:xfrm>
            <a:off x="704088" y="3425571"/>
            <a:ext cx="3694176" cy="107442"/>
          </a:xfrm>
          <a:prstGeom prst="roundRect">
            <a:avLst>
              <a:gd name="adj" fmla="val 42553"/>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33604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3768471"/>
            <a:ext cx="3694176" cy="107442"/>
          </a:xfrm>
          <a:prstGeom prst="roundRect">
            <a:avLst>
              <a:gd name="adj" fmla="val 42553"/>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37033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4111371"/>
            <a:ext cx="3694176" cy="107442"/>
          </a:xfrm>
          <a:prstGeom prst="roundRect">
            <a:avLst>
              <a:gd name="adj" fmla="val 42553"/>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40462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Kafka</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06-kafka-basics/before.py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621792"/>
          </a:xfrm>
          <a:prstGeom prst="roundRect">
            <a:avLst>
              <a:gd name="adj" fmla="val 2941"/>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621792"/>
          </a:xfrm>
          <a:prstGeom prst="rect">
            <a:avLst/>
          </a:prstGeom>
          <a:noFill/>
        </p:spPr>
        <p:txBody>
          <a:bodyPr wrap="none" lIns="146304" tIns="91440" rIns="146304" bIns="54864">
            <a:spAutoFit/>
          </a:bodyPr>
          <a:lstStyle/>
          <a:p>
            <a:pPr>
              <a:lnSpc>
                <a:spcPct val="107843"/>
              </a:lnSpc>
              <a:spcAft>
                <a:spcPts val="0"/>
              </a:spcAft>
            </a:pPr>
            <a:r>
              <a:rPr sz="850" i="0">
                <a:solidFill>
                  <a:srgbClr val="82B1FF"/>
                </a:solidFill>
                <a:latin typeface="Inconsolata"/>
              </a:rPr>
              <a:t>$ cd sesi-08-event-driven-rabbitmq-kafka/06-kafka-basics</a:t>
            </a:r>
          </a:p>
          <a:p>
            <a:pPr>
              <a:lnSpc>
                <a:spcPct val="107843"/>
              </a:lnSpc>
              <a:spcAft>
                <a:spcPts val="0"/>
              </a:spcAft>
            </a:pPr>
            <a:r>
              <a:rPr sz="850" i="0">
                <a:solidFill>
                  <a:srgbClr val="82B1FF"/>
                </a:solidFill>
                <a:latin typeface="Inconsolata"/>
              </a:rPr>
              <a:t>$ docker compose -f ../docker-compose.yml up -d rabbitmq</a:t>
            </a:r>
          </a:p>
          <a:p>
            <a:pPr>
              <a:lnSpc>
                <a:spcPct val="107843"/>
              </a:lnSpc>
              <a:spcAft>
                <a:spcPts val="0"/>
              </a:spcAft>
            </a:pPr>
            <a:r>
              <a:rPr sz="850" i="0">
                <a:solidFill>
                  <a:srgbClr val="82B1FF"/>
                </a:solidFill>
                <a:latin typeface="Inconsolata"/>
              </a:rPr>
              <a:t>$ python before.py</a:t>
            </a:r>
          </a:p>
        </p:txBody>
      </p:sp>
      <p:pic>
        <p:nvPicPr>
          <p:cNvPr id="29" name="Image 12" descr="s08-06-kafka-basics-before.png"/>
          <p:cNvPicPr>
            <a:picLocks noChangeAspect="1"/>
          </p:cNvPicPr>
          <p:nvPr/>
        </p:nvPicPr>
        <p:blipFill>
          <a:blip r:embed="rId2"/>
          <a:stretch>
            <a:fillRect/>
          </a:stretch>
        </p:blipFill>
        <p:spPr>
          <a:xfrm>
            <a:off x="621792" y="2459736"/>
            <a:ext cx="4297680" cy="791678"/>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Pesan di-ack, lalu dihapus dari queue (baris 25)</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Consumer email membaca ulang (baris 53)</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Queue analytics baru dibuat setelah event dikirim (baris 56)</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Baca ulang dan analytics: 0 event.</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Kafka</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topic, partition, dan consumer group (1/2)</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06-kafka-basics/after.py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2868"/>
              </a:lnSpc>
              <a:spcAft>
                <a:spcPts val="0"/>
              </a:spcAft>
            </a:pPr>
            <a:r>
              <a:rPr sz="729" i="0">
                <a:solidFill>
                  <a:srgbClr val="5C6773"/>
                </a:solidFill>
                <a:latin typeface="Inconsolata"/>
              </a:rPr>
              <a:t>16  </a:t>
            </a:r>
            <a:r>
              <a:rPr sz="729" i="0">
                <a:solidFill>
                  <a:srgbClr val="FF8E6E"/>
                </a:solidFill>
                <a:latin typeface="Inconsolata"/>
              </a:rPr>
              <a:t>import</a:t>
            </a:r>
            <a:r>
              <a:rPr sz="729" i="0">
                <a:solidFill>
                  <a:srgbClr val="E6EDF3"/>
                </a:solidFill>
                <a:latin typeface="Inconsolata"/>
              </a:rPr>
              <a:t> json</a:t>
            </a:r>
          </a:p>
          <a:p>
            <a:pPr>
              <a:lnSpc>
                <a:spcPct val="102868"/>
              </a:lnSpc>
              <a:spcAft>
                <a:spcPts val="0"/>
              </a:spcAft>
            </a:pPr>
            <a:r>
              <a:rPr sz="729" i="0">
                <a:solidFill>
                  <a:srgbClr val="5C6773"/>
                </a:solidFill>
                <a:latin typeface="Inconsolata"/>
              </a:rPr>
              <a:t>17  </a:t>
            </a:r>
            <a:r>
              <a:rPr sz="729" i="0">
                <a:solidFill>
                  <a:srgbClr val="FF8E6E"/>
                </a:solidFill>
                <a:latin typeface="Inconsolata"/>
              </a:rPr>
              <a:t>import</a:t>
            </a:r>
            <a:r>
              <a:rPr sz="729" i="0">
                <a:solidFill>
                  <a:srgbClr val="E6EDF3"/>
                </a:solidFill>
                <a:latin typeface="Inconsolata"/>
              </a:rPr>
              <a:t> os</a:t>
            </a:r>
          </a:p>
          <a:p>
            <a:pPr>
              <a:lnSpc>
                <a:spcPct val="102868"/>
              </a:lnSpc>
              <a:spcAft>
                <a:spcPts val="0"/>
              </a:spcAft>
            </a:pPr>
            <a:r>
              <a:rPr sz="729" i="0">
                <a:solidFill>
                  <a:srgbClr val="5C6773"/>
                </a:solidFill>
                <a:latin typeface="Inconsolata"/>
              </a:rPr>
              <a:t>18  </a:t>
            </a:r>
            <a:r>
              <a:rPr sz="729" i="0">
                <a:solidFill>
                  <a:srgbClr val="FF8E6E"/>
                </a:solidFill>
                <a:latin typeface="Inconsolata"/>
              </a:rPr>
              <a:t>import</a:t>
            </a:r>
            <a:r>
              <a:rPr sz="729" i="0">
                <a:solidFill>
                  <a:srgbClr val="E6EDF3"/>
                </a:solidFill>
                <a:latin typeface="Inconsolata"/>
              </a:rPr>
              <a:t> time</a:t>
            </a:r>
          </a:p>
          <a:p>
            <a:pPr>
              <a:lnSpc>
                <a:spcPct val="102868"/>
              </a:lnSpc>
              <a:spcAft>
                <a:spcPts val="0"/>
              </a:spcAft>
            </a:pPr>
            <a:r>
              <a:rPr sz="729" i="0">
                <a:solidFill>
                  <a:srgbClr val="5C6773"/>
                </a:solidFill>
                <a:latin typeface="Inconsolata"/>
              </a:rPr>
              <a:t>19  </a:t>
            </a:r>
            <a:r>
              <a:rPr sz="729" i="0">
                <a:solidFill>
                  <a:srgbClr val="FF8E6E"/>
                </a:solidFill>
                <a:latin typeface="Inconsolata"/>
              </a:rPr>
              <a:t>from</a:t>
            </a:r>
            <a:r>
              <a:rPr sz="729" i="0">
                <a:solidFill>
                  <a:srgbClr val="E6EDF3"/>
                </a:solidFill>
                <a:latin typeface="Inconsolata"/>
              </a:rPr>
              <a:t> collections </a:t>
            </a:r>
            <a:r>
              <a:rPr sz="729" i="0">
                <a:solidFill>
                  <a:srgbClr val="FF8E6E"/>
                </a:solidFill>
                <a:latin typeface="Inconsolata"/>
              </a:rPr>
              <a:t>import</a:t>
            </a:r>
            <a:r>
              <a:rPr sz="729" i="0">
                <a:solidFill>
                  <a:srgbClr val="E6EDF3"/>
                </a:solidFill>
                <a:latin typeface="Inconsolata"/>
              </a:rPr>
              <a:t> defaultdict</a:t>
            </a:r>
          </a:p>
          <a:p>
            <a:pPr>
              <a:lnSpc>
                <a:spcPct val="102868"/>
              </a:lnSpc>
              <a:spcAft>
                <a:spcPts val="0"/>
              </a:spcAft>
            </a:pPr>
            <a:r>
              <a:rPr sz="729" i="0">
                <a:solidFill>
                  <a:srgbClr val="5C6773"/>
                </a:solidFill>
                <a:latin typeface="Inconsolata"/>
              </a:rPr>
              <a:t>20  </a:t>
            </a:r>
            <a:r>
              <a:rPr sz="729" i="0">
                <a:solidFill>
                  <a:srgbClr val="E6EDF3"/>
                </a:solidFill>
                <a:latin typeface="Inconsolata"/>
              </a:rPr>
              <a:t> </a:t>
            </a:r>
          </a:p>
          <a:p>
            <a:pPr>
              <a:lnSpc>
                <a:spcPct val="102868"/>
              </a:lnSpc>
              <a:spcAft>
                <a:spcPts val="0"/>
              </a:spcAft>
            </a:pPr>
            <a:r>
              <a:rPr sz="729" i="0">
                <a:solidFill>
                  <a:srgbClr val="5C6773"/>
                </a:solidFill>
                <a:latin typeface="Inconsolata"/>
              </a:rPr>
              <a:t>21  </a:t>
            </a:r>
            <a:r>
              <a:rPr sz="729" i="0">
                <a:solidFill>
                  <a:srgbClr val="FF8E6E"/>
                </a:solidFill>
                <a:latin typeface="Inconsolata"/>
              </a:rPr>
              <a:t>from</a:t>
            </a:r>
            <a:r>
              <a:rPr sz="729" i="0">
                <a:solidFill>
                  <a:srgbClr val="E6EDF3"/>
                </a:solidFill>
                <a:latin typeface="Inconsolata"/>
              </a:rPr>
              <a:t> confluent_kafka </a:t>
            </a:r>
            <a:r>
              <a:rPr sz="729" i="0">
                <a:solidFill>
                  <a:srgbClr val="FF8E6E"/>
                </a:solidFill>
                <a:latin typeface="Inconsolata"/>
              </a:rPr>
              <a:t>import</a:t>
            </a:r>
            <a:r>
              <a:rPr sz="729" i="0">
                <a:solidFill>
                  <a:srgbClr val="E6EDF3"/>
                </a:solidFill>
                <a:latin typeface="Inconsolata"/>
              </a:rPr>
              <a:t> </a:t>
            </a:r>
            <a:r>
              <a:rPr sz="729" i="0">
                <a:solidFill>
                  <a:srgbClr val="7FDBCA"/>
                </a:solidFill>
                <a:latin typeface="Inconsolata"/>
              </a:rPr>
              <a:t>Consumer</a:t>
            </a:r>
            <a:r>
              <a:rPr sz="729" i="0">
                <a:solidFill>
                  <a:srgbClr val="E6EDF3"/>
                </a:solidFill>
                <a:latin typeface="Inconsolata"/>
              </a:rPr>
              <a:t>, </a:t>
            </a:r>
            <a:r>
              <a:rPr sz="729" i="0">
                <a:solidFill>
                  <a:srgbClr val="7FDBCA"/>
                </a:solidFill>
                <a:latin typeface="Inconsolata"/>
              </a:rPr>
              <a:t>Producer</a:t>
            </a:r>
          </a:p>
          <a:p>
            <a:pPr>
              <a:lnSpc>
                <a:spcPct val="102868"/>
              </a:lnSpc>
              <a:spcAft>
                <a:spcPts val="0"/>
              </a:spcAft>
            </a:pPr>
            <a:r>
              <a:rPr sz="729" i="0">
                <a:solidFill>
                  <a:srgbClr val="5C6773"/>
                </a:solidFill>
                <a:latin typeface="Inconsolata"/>
              </a:rPr>
              <a:t>22  </a:t>
            </a:r>
            <a:r>
              <a:rPr sz="729" i="0">
                <a:solidFill>
                  <a:srgbClr val="FF8E6E"/>
                </a:solidFill>
                <a:latin typeface="Inconsolata"/>
              </a:rPr>
              <a:t>from</a:t>
            </a:r>
            <a:r>
              <a:rPr sz="729" i="0">
                <a:solidFill>
                  <a:srgbClr val="E6EDF3"/>
                </a:solidFill>
                <a:latin typeface="Inconsolata"/>
              </a:rPr>
              <a:t> confluent_kafka.admin </a:t>
            </a:r>
            <a:r>
              <a:rPr sz="729" i="0">
                <a:solidFill>
                  <a:srgbClr val="FF8E6E"/>
                </a:solidFill>
                <a:latin typeface="Inconsolata"/>
              </a:rPr>
              <a:t>import</a:t>
            </a:r>
            <a:r>
              <a:rPr sz="729" i="0">
                <a:solidFill>
                  <a:srgbClr val="E6EDF3"/>
                </a:solidFill>
                <a:latin typeface="Inconsolata"/>
              </a:rPr>
              <a:t> </a:t>
            </a:r>
            <a:r>
              <a:rPr sz="729" i="0">
                <a:solidFill>
                  <a:srgbClr val="7FDBCA"/>
                </a:solidFill>
                <a:latin typeface="Inconsolata"/>
              </a:rPr>
              <a:t>AdminClient</a:t>
            </a:r>
            <a:r>
              <a:rPr sz="729" i="0">
                <a:solidFill>
                  <a:srgbClr val="E6EDF3"/>
                </a:solidFill>
                <a:latin typeface="Inconsolata"/>
              </a:rPr>
              <a:t>, </a:t>
            </a:r>
            <a:r>
              <a:rPr sz="729" i="0">
                <a:solidFill>
                  <a:srgbClr val="7FDBCA"/>
                </a:solidFill>
                <a:latin typeface="Inconsolata"/>
              </a:rPr>
              <a:t>NewTopic</a:t>
            </a:r>
          </a:p>
          <a:p>
            <a:pPr>
              <a:lnSpc>
                <a:spcPct val="102868"/>
              </a:lnSpc>
              <a:spcAft>
                <a:spcPts val="0"/>
              </a:spcAft>
            </a:pPr>
            <a:r>
              <a:rPr sz="729" i="0">
                <a:solidFill>
                  <a:srgbClr val="5C6773"/>
                </a:solidFill>
                <a:latin typeface="Inconsolata"/>
              </a:rPr>
              <a:t>23  </a:t>
            </a:r>
            <a:r>
              <a:rPr sz="729" i="0">
                <a:solidFill>
                  <a:srgbClr val="E6EDF3"/>
                </a:solidFill>
                <a:latin typeface="Inconsolata"/>
              </a:rPr>
              <a:t> </a:t>
            </a:r>
          </a:p>
          <a:p>
            <a:pPr>
              <a:lnSpc>
                <a:spcPct val="102868"/>
              </a:lnSpc>
              <a:spcAft>
                <a:spcPts val="0"/>
              </a:spcAft>
            </a:pPr>
            <a:r>
              <a:rPr sz="729" i="0">
                <a:solidFill>
                  <a:srgbClr val="5C6773"/>
                </a:solidFill>
                <a:latin typeface="Inconsolata"/>
              </a:rPr>
              <a:t>24  </a:t>
            </a:r>
            <a:r>
              <a:rPr sz="729" i="0">
                <a:solidFill>
                  <a:srgbClr val="7FDBCA"/>
                </a:solidFill>
                <a:latin typeface="Inconsolata"/>
              </a:rPr>
              <a:t>BOOTSTRAP</a:t>
            </a:r>
            <a:r>
              <a:rPr sz="729" i="0">
                <a:solidFill>
                  <a:srgbClr val="E6EDF3"/>
                </a:solidFill>
                <a:latin typeface="Inconsolata"/>
              </a:rPr>
              <a:t> = os.getenv(</a:t>
            </a:r>
            <a:r>
              <a:rPr sz="729" i="0">
                <a:solidFill>
                  <a:srgbClr val="A5D6A7"/>
                </a:solidFill>
                <a:latin typeface="Inconsolata"/>
              </a:rPr>
              <a:t>"KAFKA_BOOTSTRAP"</a:t>
            </a:r>
            <a:r>
              <a:rPr sz="729" i="0">
                <a:solidFill>
                  <a:srgbClr val="E6EDF3"/>
                </a:solidFill>
                <a:latin typeface="Inconsolata"/>
              </a:rPr>
              <a:t>, </a:t>
            </a:r>
            <a:r>
              <a:rPr sz="729" i="0">
                <a:solidFill>
                  <a:srgbClr val="A5D6A7"/>
                </a:solidFill>
                <a:latin typeface="Inconsolata"/>
              </a:rPr>
              <a:t>"localhost:9092"</a:t>
            </a:r>
            <a:r>
              <a:rPr sz="729" i="0">
                <a:solidFill>
                  <a:srgbClr val="E6EDF3"/>
                </a:solidFill>
                <a:latin typeface="Inconsolata"/>
              </a:rPr>
              <a:t>)</a:t>
            </a:r>
          </a:p>
          <a:p>
            <a:pPr>
              <a:lnSpc>
                <a:spcPct val="102868"/>
              </a:lnSpc>
              <a:spcAft>
                <a:spcPts val="0"/>
              </a:spcAft>
            </a:pPr>
            <a:r>
              <a:rPr sz="729" i="0">
                <a:solidFill>
                  <a:srgbClr val="5C6773"/>
                </a:solidFill>
                <a:latin typeface="Inconsolata"/>
              </a:rPr>
              <a:t>25  </a:t>
            </a:r>
            <a:r>
              <a:rPr sz="729" i="0">
                <a:solidFill>
                  <a:srgbClr val="7FDBCA"/>
                </a:solidFill>
                <a:latin typeface="Inconsolata"/>
              </a:rPr>
              <a:t>TOPIC</a:t>
            </a:r>
            <a:r>
              <a:rPr sz="729" i="0">
                <a:solidFill>
                  <a:srgbClr val="E6EDF3"/>
                </a:solidFill>
                <a:latin typeface="Inconsolata"/>
              </a:rPr>
              <a:t> = </a:t>
            </a:r>
            <a:r>
              <a:rPr sz="729" i="0">
                <a:solidFill>
                  <a:srgbClr val="A5D6A7"/>
                </a:solidFill>
                <a:latin typeface="Inconsolata"/>
              </a:rPr>
              <a:t>"orders"</a:t>
            </a:r>
          </a:p>
          <a:p>
            <a:pPr>
              <a:lnSpc>
                <a:spcPct val="102868"/>
              </a:lnSpc>
              <a:spcAft>
                <a:spcPts val="0"/>
              </a:spcAft>
            </a:pPr>
            <a:r>
              <a:rPr sz="729" i="0">
                <a:solidFill>
                  <a:srgbClr val="5C6773"/>
                </a:solidFill>
                <a:latin typeface="Inconsolata"/>
              </a:rPr>
              <a:t>26  </a:t>
            </a:r>
            <a:r>
              <a:rPr sz="729" i="0">
                <a:solidFill>
                  <a:srgbClr val="E6EDF3"/>
                </a:solidFill>
                <a:latin typeface="Inconsolata"/>
              </a:rPr>
              <a:t> </a:t>
            </a:r>
          </a:p>
          <a:p>
            <a:pPr>
              <a:lnSpc>
                <a:spcPct val="102868"/>
              </a:lnSpc>
              <a:spcAft>
                <a:spcPts val="0"/>
              </a:spcAft>
            </a:pPr>
            <a:r>
              <a:rPr sz="729" i="0">
                <a:solidFill>
                  <a:srgbClr val="5C6773"/>
                </a:solidFill>
                <a:latin typeface="Inconsolata"/>
              </a:rPr>
              <a:t>27  </a:t>
            </a:r>
            <a:r>
              <a:rPr sz="729" i="0">
                <a:solidFill>
                  <a:srgbClr val="7FDBCA"/>
                </a:solidFill>
                <a:latin typeface="Inconsolata"/>
              </a:rPr>
              <a:t>EVENTS</a:t>
            </a:r>
            <a:r>
              <a:rPr sz="729" i="0">
                <a:solidFill>
                  <a:srgbClr val="E6EDF3"/>
                </a:solidFill>
                <a:latin typeface="Inconsolata"/>
              </a:rPr>
              <a:t> = [(</a:t>
            </a:r>
            <a:r>
              <a:rPr sz="729" i="0">
                <a:solidFill>
                  <a:srgbClr val="F9C97A"/>
                </a:solidFill>
                <a:latin typeface="Inconsolata"/>
              </a:rPr>
              <a:t>1</a:t>
            </a:r>
            <a:r>
              <a:rPr sz="729" i="0">
                <a:solidFill>
                  <a:srgbClr val="E6EDF3"/>
                </a:solidFill>
                <a:latin typeface="Inconsolata"/>
              </a:rPr>
              <a:t>, </a:t>
            </a:r>
            <a:r>
              <a:rPr sz="729" i="0">
                <a:solidFill>
                  <a:srgbClr val="A5D6A7"/>
                </a:solidFill>
                <a:latin typeface="Inconsolata"/>
              </a:rPr>
              <a:t>"budi"</a:t>
            </a:r>
            <a:r>
              <a:rPr sz="729" i="0">
                <a:solidFill>
                  <a:srgbClr val="E6EDF3"/>
                </a:solidFill>
                <a:latin typeface="Inconsolata"/>
              </a:rPr>
              <a:t>), (</a:t>
            </a:r>
            <a:r>
              <a:rPr sz="729" i="0">
                <a:solidFill>
                  <a:srgbClr val="F9C97A"/>
                </a:solidFill>
                <a:latin typeface="Inconsolata"/>
              </a:rPr>
              <a:t>2</a:t>
            </a:r>
            <a:r>
              <a:rPr sz="729" i="0">
                <a:solidFill>
                  <a:srgbClr val="E6EDF3"/>
                </a:solidFill>
                <a:latin typeface="Inconsolata"/>
              </a:rPr>
              <a:t>, </a:t>
            </a:r>
            <a:r>
              <a:rPr sz="729" i="0">
                <a:solidFill>
                  <a:srgbClr val="A5D6A7"/>
                </a:solidFill>
                <a:latin typeface="Inconsolata"/>
              </a:rPr>
              <a:t>"ani"</a:t>
            </a:r>
            <a:r>
              <a:rPr sz="729" i="0">
                <a:solidFill>
                  <a:srgbClr val="E6EDF3"/>
                </a:solidFill>
                <a:latin typeface="Inconsolata"/>
              </a:rPr>
              <a:t>), (</a:t>
            </a:r>
            <a:r>
              <a:rPr sz="729" i="0">
                <a:solidFill>
                  <a:srgbClr val="F9C97A"/>
                </a:solidFill>
                <a:latin typeface="Inconsolata"/>
              </a:rPr>
              <a:t>3</a:t>
            </a:r>
            <a:r>
              <a:rPr sz="729" i="0">
                <a:solidFill>
                  <a:srgbClr val="E6EDF3"/>
                </a:solidFill>
                <a:latin typeface="Inconsolata"/>
              </a:rPr>
              <a:t>, </a:t>
            </a:r>
            <a:r>
              <a:rPr sz="729" i="0">
                <a:solidFill>
                  <a:srgbClr val="A5D6A7"/>
                </a:solidFill>
                <a:latin typeface="Inconsolata"/>
              </a:rPr>
              <a:t>"budi"</a:t>
            </a:r>
            <a:r>
              <a:rPr sz="729" i="0">
                <a:solidFill>
                  <a:srgbClr val="E6EDF3"/>
                </a:solidFill>
                <a:latin typeface="Inconsolata"/>
              </a:rPr>
              <a:t>),</a:t>
            </a:r>
          </a:p>
          <a:p>
            <a:pPr>
              <a:lnSpc>
                <a:spcPct val="102868"/>
              </a:lnSpc>
              <a:spcAft>
                <a:spcPts val="0"/>
              </a:spcAft>
            </a:pPr>
            <a:r>
              <a:rPr sz="729" i="0">
                <a:solidFill>
                  <a:srgbClr val="5C6773"/>
                </a:solidFill>
                <a:latin typeface="Inconsolata"/>
              </a:rPr>
              <a:t>28  </a:t>
            </a:r>
            <a:r>
              <a:rPr sz="729" i="0">
                <a:solidFill>
                  <a:srgbClr val="E6EDF3"/>
                </a:solidFill>
                <a:latin typeface="Inconsolata"/>
              </a:rPr>
              <a:t>          (</a:t>
            </a:r>
            <a:r>
              <a:rPr sz="729" i="0">
                <a:solidFill>
                  <a:srgbClr val="F9C97A"/>
                </a:solidFill>
                <a:latin typeface="Inconsolata"/>
              </a:rPr>
              <a:t>4</a:t>
            </a:r>
            <a:r>
              <a:rPr sz="729" i="0">
                <a:solidFill>
                  <a:srgbClr val="E6EDF3"/>
                </a:solidFill>
                <a:latin typeface="Inconsolata"/>
              </a:rPr>
              <a:t>, </a:t>
            </a:r>
            <a:r>
              <a:rPr sz="729" i="0">
                <a:solidFill>
                  <a:srgbClr val="A5D6A7"/>
                </a:solidFill>
                <a:latin typeface="Inconsolata"/>
              </a:rPr>
              <a:t>"siti"</a:t>
            </a:r>
            <a:r>
              <a:rPr sz="729" i="0">
                <a:solidFill>
                  <a:srgbClr val="E6EDF3"/>
                </a:solidFill>
                <a:latin typeface="Inconsolata"/>
              </a:rPr>
              <a:t>), (</a:t>
            </a:r>
            <a:r>
              <a:rPr sz="729" i="0">
                <a:solidFill>
                  <a:srgbClr val="F9C97A"/>
                </a:solidFill>
                <a:latin typeface="Inconsolata"/>
              </a:rPr>
              <a:t>5</a:t>
            </a:r>
            <a:r>
              <a:rPr sz="729" i="0">
                <a:solidFill>
                  <a:srgbClr val="E6EDF3"/>
                </a:solidFill>
                <a:latin typeface="Inconsolata"/>
              </a:rPr>
              <a:t>, </a:t>
            </a:r>
            <a:r>
              <a:rPr sz="729" i="0">
                <a:solidFill>
                  <a:srgbClr val="A5D6A7"/>
                </a:solidFill>
                <a:latin typeface="Inconsolata"/>
              </a:rPr>
              <a:t>"ani"</a:t>
            </a:r>
            <a:r>
              <a:rPr sz="729" i="0">
                <a:solidFill>
                  <a:srgbClr val="E6EDF3"/>
                </a:solidFill>
                <a:latin typeface="Inconsolata"/>
              </a:rPr>
              <a:t>), (</a:t>
            </a:r>
            <a:r>
              <a:rPr sz="729" i="0">
                <a:solidFill>
                  <a:srgbClr val="F9C97A"/>
                </a:solidFill>
                <a:latin typeface="Inconsolata"/>
              </a:rPr>
              <a:t>6</a:t>
            </a:r>
            <a:r>
              <a:rPr sz="729" i="0">
                <a:solidFill>
                  <a:srgbClr val="E6EDF3"/>
                </a:solidFill>
                <a:latin typeface="Inconsolata"/>
              </a:rPr>
              <a:t>, </a:t>
            </a:r>
            <a:r>
              <a:rPr sz="729" i="0">
                <a:solidFill>
                  <a:srgbClr val="A5D6A7"/>
                </a:solidFill>
                <a:latin typeface="Inconsolata"/>
              </a:rPr>
              <a:t>"budi"</a:t>
            </a:r>
            <a:r>
              <a:rPr sz="729" i="0">
                <a:solidFill>
                  <a:srgbClr val="E6EDF3"/>
                </a:solidFill>
                <a:latin typeface="Inconsolata"/>
              </a:rPr>
              <a: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06-kafka-basics/after.py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2868"/>
              </a:lnSpc>
              <a:spcAft>
                <a:spcPts val="0"/>
              </a:spcAft>
            </a:pPr>
            <a:r>
              <a:rPr sz="729" i="0">
                <a:solidFill>
                  <a:srgbClr val="5C6773"/>
                </a:solidFill>
                <a:latin typeface="Inconsolata"/>
              </a:rPr>
              <a:t>31  </a:t>
            </a:r>
            <a:r>
              <a:rPr sz="729" i="0">
                <a:solidFill>
                  <a:srgbClr val="FF8E6E"/>
                </a:solidFill>
                <a:latin typeface="Inconsolata"/>
              </a:rPr>
              <a:t>def</a:t>
            </a:r>
            <a:r>
              <a:rPr sz="729" i="0">
                <a:solidFill>
                  <a:srgbClr val="E6EDF3"/>
                </a:solidFill>
                <a:latin typeface="Inconsolata"/>
              </a:rPr>
              <a:t> </a:t>
            </a:r>
            <a:r>
              <a:rPr sz="729" i="0">
                <a:solidFill>
                  <a:srgbClr val="82B1FF"/>
                </a:solidFill>
                <a:latin typeface="Inconsolata"/>
              </a:rPr>
              <a:t>create_topic</a:t>
            </a:r>
            <a:r>
              <a:rPr sz="729" i="0">
                <a:solidFill>
                  <a:srgbClr val="E6EDF3"/>
                </a:solidFill>
                <a:latin typeface="Inconsolata"/>
              </a:rPr>
              <a:t>():</a:t>
            </a:r>
          </a:p>
          <a:p>
            <a:pPr>
              <a:lnSpc>
                <a:spcPct val="102868"/>
              </a:lnSpc>
              <a:spcAft>
                <a:spcPts val="0"/>
              </a:spcAft>
            </a:pPr>
            <a:r>
              <a:rPr sz="729" i="0">
                <a:solidFill>
                  <a:srgbClr val="5C6773"/>
                </a:solidFill>
                <a:latin typeface="Inconsolata"/>
              </a:rPr>
              <a:t>32  </a:t>
            </a:r>
            <a:r>
              <a:rPr sz="729" i="0">
                <a:solidFill>
                  <a:srgbClr val="E6EDF3"/>
                </a:solidFill>
                <a:latin typeface="Inconsolata"/>
              </a:rPr>
              <a:t>    admin = </a:t>
            </a:r>
            <a:r>
              <a:rPr sz="729" i="0">
                <a:solidFill>
                  <a:srgbClr val="7FDBCA"/>
                </a:solidFill>
                <a:latin typeface="Inconsolata"/>
              </a:rPr>
              <a:t>AdminClient</a:t>
            </a:r>
            <a:r>
              <a:rPr sz="729" i="0">
                <a:solidFill>
                  <a:srgbClr val="E6EDF3"/>
                </a:solidFill>
                <a:latin typeface="Inconsolata"/>
              </a:rPr>
              <a:t>({</a:t>
            </a:r>
            <a:r>
              <a:rPr sz="729" i="0">
                <a:solidFill>
                  <a:srgbClr val="A5D6A7"/>
                </a:solidFill>
                <a:latin typeface="Inconsolata"/>
              </a:rPr>
              <a:t>"bootstrap.servers"</a:t>
            </a:r>
            <a:r>
              <a:rPr sz="729" i="0">
                <a:solidFill>
                  <a:srgbClr val="E6EDF3"/>
                </a:solidFill>
                <a:latin typeface="Inconsolata"/>
              </a:rPr>
              <a:t>: </a:t>
            </a:r>
            <a:r>
              <a:rPr sz="729" i="0">
                <a:solidFill>
                  <a:srgbClr val="7FDBCA"/>
                </a:solidFill>
                <a:latin typeface="Inconsolata"/>
              </a:rPr>
              <a:t>BOOTSTRAP</a:t>
            </a:r>
            <a:r>
              <a:rPr sz="729" i="0">
                <a:solidFill>
                  <a:srgbClr val="E6EDF3"/>
                </a:solidFill>
                <a:latin typeface="Inconsolata"/>
              </a:rPr>
              <a:t>})</a:t>
            </a:r>
          </a:p>
          <a:p>
            <a:pPr>
              <a:lnSpc>
                <a:spcPct val="102868"/>
              </a:lnSpc>
              <a:spcAft>
                <a:spcPts val="0"/>
              </a:spcAft>
            </a:pPr>
            <a:r>
              <a:rPr sz="729" i="0">
                <a:solidFill>
                  <a:srgbClr val="5C6773"/>
                </a:solidFill>
                <a:latin typeface="Inconsolata"/>
              </a:rPr>
              <a:t>33  </a:t>
            </a:r>
            <a:r>
              <a:rPr sz="729" i="0">
                <a:solidFill>
                  <a:srgbClr val="E6EDF3"/>
                </a:solidFill>
                <a:latin typeface="Inconsolata"/>
              </a:rPr>
              <a:t>    topics = admin.list_topics(timeout=</a:t>
            </a:r>
            <a:r>
              <a:rPr sz="729" i="0">
                <a:solidFill>
                  <a:srgbClr val="F9C97A"/>
                </a:solidFill>
                <a:latin typeface="Inconsolata"/>
              </a:rPr>
              <a:t>10</a:t>
            </a:r>
            <a:r>
              <a:rPr sz="729" i="0">
                <a:solidFill>
                  <a:srgbClr val="E6EDF3"/>
                </a:solidFill>
                <a:latin typeface="Inconsolata"/>
              </a:rPr>
              <a:t>).topics</a:t>
            </a:r>
          </a:p>
          <a:p>
            <a:pPr>
              <a:lnSpc>
                <a:spcPct val="102868"/>
              </a:lnSpc>
              <a:spcAft>
                <a:spcPts val="0"/>
              </a:spcAft>
            </a:pPr>
            <a:r>
              <a:rPr sz="729" i="0">
                <a:solidFill>
                  <a:srgbClr val="5C6773"/>
                </a:solidFill>
                <a:latin typeface="Inconsolata"/>
              </a:rPr>
              <a:t>34  </a:t>
            </a:r>
            <a:r>
              <a:rPr sz="729" i="0">
                <a:solidFill>
                  <a:srgbClr val="E6EDF3"/>
                </a:solidFill>
                <a:latin typeface="Inconsolata"/>
              </a:rPr>
              <a:t>    </a:t>
            </a:r>
            <a:r>
              <a:rPr sz="729" i="0">
                <a:solidFill>
                  <a:srgbClr val="FF8E6E"/>
                </a:solidFill>
                <a:latin typeface="Inconsolata"/>
              </a:rPr>
              <a:t>if</a:t>
            </a:r>
            <a:r>
              <a:rPr sz="729" i="0">
                <a:solidFill>
                  <a:srgbClr val="E6EDF3"/>
                </a:solidFill>
                <a:latin typeface="Inconsolata"/>
              </a:rPr>
              <a:t> </a:t>
            </a:r>
            <a:r>
              <a:rPr sz="729" i="0">
                <a:solidFill>
                  <a:srgbClr val="7FDBCA"/>
                </a:solidFill>
                <a:latin typeface="Inconsolata"/>
              </a:rPr>
              <a:t>TOPIC</a:t>
            </a:r>
            <a:r>
              <a:rPr sz="729" i="0">
                <a:solidFill>
                  <a:srgbClr val="E6EDF3"/>
                </a:solidFill>
                <a:latin typeface="Inconsolata"/>
              </a:rPr>
              <a:t> </a:t>
            </a:r>
            <a:r>
              <a:rPr sz="729" i="0">
                <a:solidFill>
                  <a:srgbClr val="FF8E6E"/>
                </a:solidFill>
                <a:latin typeface="Inconsolata"/>
              </a:rPr>
              <a:t>in</a:t>
            </a:r>
            <a:r>
              <a:rPr sz="729" i="0">
                <a:solidFill>
                  <a:srgbClr val="E6EDF3"/>
                </a:solidFill>
                <a:latin typeface="Inconsolata"/>
              </a:rPr>
              <a:t> topics:                     </a:t>
            </a:r>
            <a:r>
              <a:rPr sz="729" i="1">
                <a:solidFill>
                  <a:srgbClr val="8B98A8"/>
                </a:solidFill>
                <a:latin typeface="Inconsolata"/>
              </a:rPr>
              <a:t># mulai dari topic kosong</a:t>
            </a:r>
          </a:p>
          <a:p>
            <a:pPr>
              <a:lnSpc>
                <a:spcPct val="102868"/>
              </a:lnSpc>
              <a:spcAft>
                <a:spcPts val="0"/>
              </a:spcAft>
            </a:pPr>
            <a:r>
              <a:rPr sz="729" i="0">
                <a:solidFill>
                  <a:srgbClr val="5C6773"/>
                </a:solidFill>
                <a:latin typeface="Inconsolata"/>
              </a:rPr>
              <a:t>35  </a:t>
            </a:r>
            <a:r>
              <a:rPr sz="729" i="0">
                <a:solidFill>
                  <a:srgbClr val="E6EDF3"/>
                </a:solidFill>
                <a:latin typeface="Inconsolata"/>
              </a:rPr>
              <a:t>        admin.delete_topics([</a:t>
            </a:r>
            <a:r>
              <a:rPr sz="729" i="0">
                <a:solidFill>
                  <a:srgbClr val="7FDBCA"/>
                </a:solidFill>
                <a:latin typeface="Inconsolata"/>
              </a:rPr>
              <a:t>TOPIC</a:t>
            </a:r>
            <a:r>
              <a:rPr sz="729" i="0">
                <a:solidFill>
                  <a:srgbClr val="E6EDF3"/>
                </a:solidFill>
                <a:latin typeface="Inconsolata"/>
              </a:rPr>
              <a:t>])[</a:t>
            </a:r>
            <a:r>
              <a:rPr sz="729" i="0">
                <a:solidFill>
                  <a:srgbClr val="7FDBCA"/>
                </a:solidFill>
                <a:latin typeface="Inconsolata"/>
              </a:rPr>
              <a:t>TOPIC</a:t>
            </a:r>
            <a:r>
              <a:rPr sz="729" i="0">
                <a:solidFill>
                  <a:srgbClr val="E6EDF3"/>
                </a:solidFill>
                <a:latin typeface="Inconsolata"/>
              </a:rPr>
              <a:t>].result()</a:t>
            </a:r>
          </a:p>
          <a:p>
            <a:pPr>
              <a:lnSpc>
                <a:spcPct val="102868"/>
              </a:lnSpc>
              <a:spcAft>
                <a:spcPts val="0"/>
              </a:spcAft>
            </a:pPr>
            <a:r>
              <a:rPr sz="729" i="0">
                <a:solidFill>
                  <a:srgbClr val="5C6773"/>
                </a:solidFill>
                <a:latin typeface="Inconsolata"/>
              </a:rPr>
              <a:t>36  </a:t>
            </a:r>
            <a:r>
              <a:rPr sz="729" i="0">
                <a:solidFill>
                  <a:srgbClr val="E6EDF3"/>
                </a:solidFill>
                <a:latin typeface="Inconsolata"/>
              </a:rPr>
              <a:t>        </a:t>
            </a:r>
            <a:r>
              <a:rPr sz="729" i="0">
                <a:solidFill>
                  <a:srgbClr val="FF8E6E"/>
                </a:solidFill>
                <a:latin typeface="Inconsolata"/>
              </a:rPr>
              <a:t>while</a:t>
            </a:r>
            <a:r>
              <a:rPr sz="729" i="0">
                <a:solidFill>
                  <a:srgbClr val="E6EDF3"/>
                </a:solidFill>
                <a:latin typeface="Inconsolata"/>
              </a:rPr>
              <a:t> </a:t>
            </a:r>
            <a:r>
              <a:rPr sz="729" i="0">
                <a:solidFill>
                  <a:srgbClr val="7FDBCA"/>
                </a:solidFill>
                <a:latin typeface="Inconsolata"/>
              </a:rPr>
              <a:t>TOPIC</a:t>
            </a:r>
            <a:r>
              <a:rPr sz="729" i="0">
                <a:solidFill>
                  <a:srgbClr val="E6EDF3"/>
                </a:solidFill>
                <a:latin typeface="Inconsolata"/>
              </a:rPr>
              <a:t> </a:t>
            </a:r>
            <a:r>
              <a:rPr sz="729" i="0">
                <a:solidFill>
                  <a:srgbClr val="FF8E6E"/>
                </a:solidFill>
                <a:latin typeface="Inconsolata"/>
              </a:rPr>
              <a:t>in</a:t>
            </a:r>
            <a:r>
              <a:rPr sz="729" i="0">
                <a:solidFill>
                  <a:srgbClr val="E6EDF3"/>
                </a:solidFill>
                <a:latin typeface="Inconsolata"/>
              </a:rPr>
              <a:t> admin.list_topics(timeout=</a:t>
            </a:r>
            <a:r>
              <a:rPr sz="729" i="0">
                <a:solidFill>
                  <a:srgbClr val="F9C97A"/>
                </a:solidFill>
                <a:latin typeface="Inconsolata"/>
              </a:rPr>
              <a:t>10</a:t>
            </a:r>
            <a:r>
              <a:rPr sz="729" i="0">
                <a:solidFill>
                  <a:srgbClr val="E6EDF3"/>
                </a:solidFill>
                <a:latin typeface="Inconsolata"/>
              </a:rPr>
              <a:t>).topics:</a:t>
            </a:r>
          </a:p>
          <a:p>
            <a:pPr>
              <a:lnSpc>
                <a:spcPct val="102868"/>
              </a:lnSpc>
              <a:spcAft>
                <a:spcPts val="0"/>
              </a:spcAft>
            </a:pPr>
            <a:r>
              <a:rPr sz="729" i="0">
                <a:solidFill>
                  <a:srgbClr val="5C6773"/>
                </a:solidFill>
                <a:latin typeface="Inconsolata"/>
              </a:rPr>
              <a:t>37  </a:t>
            </a:r>
            <a:r>
              <a:rPr sz="729" i="0">
                <a:solidFill>
                  <a:srgbClr val="E6EDF3"/>
                </a:solidFill>
                <a:latin typeface="Inconsolata"/>
              </a:rPr>
              <a:t>            time.sleep(</a:t>
            </a:r>
            <a:r>
              <a:rPr sz="729" i="0">
                <a:solidFill>
                  <a:srgbClr val="F9C97A"/>
                </a:solidFill>
                <a:latin typeface="Inconsolata"/>
              </a:rPr>
              <a:t>0</a:t>
            </a:r>
            <a:r>
              <a:rPr sz="729" i="0">
                <a:solidFill>
                  <a:srgbClr val="E6EDF3"/>
                </a:solidFill>
                <a:latin typeface="Inconsolata"/>
              </a:rPr>
              <a:t>.</a:t>
            </a:r>
            <a:r>
              <a:rPr sz="729" i="0">
                <a:solidFill>
                  <a:srgbClr val="F9C97A"/>
                </a:solidFill>
                <a:latin typeface="Inconsolata"/>
              </a:rPr>
              <a:t>5</a:t>
            </a:r>
            <a:r>
              <a:rPr sz="729" i="0">
                <a:solidFill>
                  <a:srgbClr val="E6EDF3"/>
                </a:solidFill>
                <a:latin typeface="Inconsolata"/>
              </a:rPr>
              <a:t>)</a:t>
            </a:r>
          </a:p>
          <a:p>
            <a:pPr>
              <a:lnSpc>
                <a:spcPct val="102868"/>
              </a:lnSpc>
              <a:spcAft>
                <a:spcPts val="0"/>
              </a:spcAft>
            </a:pPr>
            <a:r>
              <a:rPr sz="729" i="0">
                <a:solidFill>
                  <a:srgbClr val="5C6773"/>
                </a:solidFill>
                <a:latin typeface="Inconsolata"/>
              </a:rPr>
              <a:t>38  </a:t>
            </a:r>
            <a:r>
              <a:rPr sz="729" i="0">
                <a:solidFill>
                  <a:srgbClr val="E6EDF3"/>
                </a:solidFill>
                <a:latin typeface="Inconsolata"/>
              </a:rPr>
              <a:t>    new = </a:t>
            </a:r>
            <a:r>
              <a:rPr sz="729" i="0">
                <a:solidFill>
                  <a:srgbClr val="7FDBCA"/>
                </a:solidFill>
                <a:latin typeface="Inconsolata"/>
              </a:rPr>
              <a:t>NewTopic</a:t>
            </a:r>
            <a:r>
              <a:rPr sz="729" i="0">
                <a:solidFill>
                  <a:srgbClr val="E6EDF3"/>
                </a:solidFill>
                <a:latin typeface="Inconsolata"/>
              </a:rPr>
              <a:t>(</a:t>
            </a:r>
            <a:r>
              <a:rPr sz="729" i="0">
                <a:solidFill>
                  <a:srgbClr val="7FDBCA"/>
                </a:solidFill>
                <a:latin typeface="Inconsolata"/>
              </a:rPr>
              <a:t>TOPIC</a:t>
            </a:r>
            <a:r>
              <a:rPr sz="729" i="0">
                <a:solidFill>
                  <a:srgbClr val="E6EDF3"/>
                </a:solidFill>
                <a:latin typeface="Inconsolata"/>
              </a:rPr>
              <a:t>, num_partitions=</a:t>
            </a:r>
            <a:r>
              <a:rPr sz="729" i="0">
                <a:solidFill>
                  <a:srgbClr val="F9C97A"/>
                </a:solidFill>
                <a:latin typeface="Inconsolata"/>
              </a:rPr>
              <a:t>3</a:t>
            </a:r>
            <a:r>
              <a:rPr sz="729" i="0">
                <a:solidFill>
                  <a:srgbClr val="E6EDF3"/>
                </a:solidFill>
                <a:latin typeface="Inconsolata"/>
              </a:rPr>
              <a:t>)</a:t>
            </a:r>
          </a:p>
          <a:p>
            <a:pPr>
              <a:lnSpc>
                <a:spcPct val="102868"/>
              </a:lnSpc>
              <a:spcAft>
                <a:spcPts val="0"/>
              </a:spcAft>
            </a:pPr>
            <a:r>
              <a:rPr sz="729" i="0">
                <a:solidFill>
                  <a:srgbClr val="5C6773"/>
                </a:solidFill>
                <a:latin typeface="Inconsolata"/>
              </a:rPr>
              <a:t>39  </a:t>
            </a:r>
            <a:r>
              <a:rPr sz="729" i="0">
                <a:solidFill>
                  <a:srgbClr val="E6EDF3"/>
                </a:solidFill>
                <a:latin typeface="Inconsolata"/>
              </a:rPr>
              <a:t>    admin.create_topics([new])[</a:t>
            </a:r>
            <a:r>
              <a:rPr sz="729" i="0">
                <a:solidFill>
                  <a:srgbClr val="7FDBCA"/>
                </a:solidFill>
                <a:latin typeface="Inconsolata"/>
              </a:rPr>
              <a:t>TOPIC</a:t>
            </a:r>
            <a:r>
              <a:rPr sz="729" i="0">
                <a:solidFill>
                  <a:srgbClr val="E6EDF3"/>
                </a:solidFill>
                <a:latin typeface="Inconsolata"/>
              </a:rPr>
              <a:t>].result()</a:t>
            </a:r>
          </a:p>
          <a:p>
            <a:pPr>
              <a:lnSpc>
                <a:spcPct val="102868"/>
              </a:lnSpc>
              <a:spcAft>
                <a:spcPts val="0"/>
              </a:spcAft>
            </a:pPr>
            <a:r>
              <a:rPr sz="729" i="0">
                <a:solidFill>
                  <a:srgbClr val="5C6773"/>
                </a:solidFill>
                <a:latin typeface="Inconsolata"/>
              </a:rPr>
              <a:t>40  </a:t>
            </a:r>
            <a:r>
              <a:rPr sz="729" i="0">
                <a:solidFill>
                  <a:srgbClr val="E6EDF3"/>
                </a:solidFill>
                <a:latin typeface="Inconsolata"/>
              </a:rPr>
              <a:t> </a:t>
            </a:r>
          </a:p>
          <a:p>
            <a:pPr>
              <a:lnSpc>
                <a:spcPct val="102868"/>
              </a:lnSpc>
              <a:spcAft>
                <a:spcPts val="0"/>
              </a:spcAft>
            </a:pPr>
            <a:r>
              <a:rPr sz="729" i="0">
                <a:solidFill>
                  <a:srgbClr val="5C6773"/>
                </a:solidFill>
                <a:latin typeface="Inconsolata"/>
              </a:rPr>
              <a:t>41  </a:t>
            </a:r>
            <a:r>
              <a:rPr sz="729" i="0">
                <a:solidFill>
                  <a:srgbClr val="E6EDF3"/>
                </a:solidFill>
                <a:latin typeface="Inconsolata"/>
              </a:rPr>
              <a:t> </a:t>
            </a:r>
          </a:p>
          <a:p>
            <a:pPr>
              <a:lnSpc>
                <a:spcPct val="102868"/>
              </a:lnSpc>
              <a:spcAft>
                <a:spcPts val="0"/>
              </a:spcAft>
            </a:pPr>
            <a:r>
              <a:rPr sz="729" i="0">
                <a:solidFill>
                  <a:srgbClr val="5C6773"/>
                </a:solidFill>
                <a:latin typeface="Inconsolata"/>
              </a:rPr>
              <a:t>42  </a:t>
            </a:r>
            <a:r>
              <a:rPr sz="729" i="0">
                <a:solidFill>
                  <a:srgbClr val="FF8E6E"/>
                </a:solidFill>
                <a:latin typeface="Inconsolata"/>
              </a:rPr>
              <a:t>def</a:t>
            </a:r>
            <a:r>
              <a:rPr sz="729" i="0">
                <a:solidFill>
                  <a:srgbClr val="E6EDF3"/>
                </a:solidFill>
                <a:latin typeface="Inconsolata"/>
              </a:rPr>
              <a:t> </a:t>
            </a:r>
            <a:r>
              <a:rPr sz="729" i="0">
                <a:solidFill>
                  <a:srgbClr val="82B1FF"/>
                </a:solidFill>
                <a:latin typeface="Inconsolata"/>
              </a:rPr>
              <a:t>publish</a:t>
            </a:r>
            <a:r>
              <a:rPr sz="729" i="0">
                <a:solidFill>
                  <a:srgbClr val="E6EDF3"/>
                </a:solidFill>
                <a:latin typeface="Inconsolata"/>
              </a:rPr>
              <a:t>():</a:t>
            </a:r>
          </a:p>
          <a:p>
            <a:pPr>
              <a:lnSpc>
                <a:spcPct val="102868"/>
              </a:lnSpc>
              <a:spcAft>
                <a:spcPts val="0"/>
              </a:spcAft>
            </a:pPr>
            <a:r>
              <a:rPr sz="729" i="0">
                <a:solidFill>
                  <a:srgbClr val="5C6773"/>
                </a:solidFill>
                <a:latin typeface="Inconsolata"/>
              </a:rPr>
              <a:t>43  </a:t>
            </a:r>
            <a:r>
              <a:rPr sz="729" i="0">
                <a:solidFill>
                  <a:srgbClr val="E6EDF3"/>
                </a:solidFill>
                <a:latin typeface="Inconsolata"/>
              </a:rPr>
              <a:t>    </a:t>
            </a:r>
            <a:r>
              <a:rPr sz="729" i="1">
                <a:solidFill>
                  <a:srgbClr val="8B98A8"/>
                </a:solidFill>
                <a:latin typeface="Inconsolata"/>
              </a:rPr>
              <a:t># partitioner sama dengan client Java</a:t>
            </a:r>
          </a:p>
          <a:p>
            <a:pPr>
              <a:lnSpc>
                <a:spcPct val="102868"/>
              </a:lnSpc>
              <a:spcAft>
                <a:spcPts val="0"/>
              </a:spcAft>
            </a:pPr>
            <a:r>
              <a:rPr sz="729" i="0">
                <a:solidFill>
                  <a:srgbClr val="5C6773"/>
                </a:solidFill>
                <a:latin typeface="Inconsolata"/>
              </a:rPr>
              <a:t>44  </a:t>
            </a:r>
            <a:r>
              <a:rPr sz="729" i="0">
                <a:solidFill>
                  <a:srgbClr val="E6EDF3"/>
                </a:solidFill>
                <a:latin typeface="Inconsolata"/>
              </a:rPr>
              <a:t>    producer = </a:t>
            </a:r>
            <a:r>
              <a:rPr sz="729" i="0">
                <a:solidFill>
                  <a:srgbClr val="7FDBCA"/>
                </a:solidFill>
                <a:latin typeface="Inconsolata"/>
              </a:rPr>
              <a:t>Producer</a:t>
            </a:r>
            <a:r>
              <a:rPr sz="729" i="0">
                <a:solidFill>
                  <a:srgbClr val="E6EDF3"/>
                </a:solidFill>
                <a:latin typeface="Inconsolata"/>
              </a:rPr>
              <a:t>({</a:t>
            </a:r>
            <a:r>
              <a:rPr sz="729" i="0">
                <a:solidFill>
                  <a:srgbClr val="A5D6A7"/>
                </a:solidFill>
                <a:latin typeface="Inconsolata"/>
              </a:rPr>
              <a:t>"bootstrap.servers"</a:t>
            </a:r>
            <a:r>
              <a:rPr sz="729" i="0">
                <a:solidFill>
                  <a:srgbClr val="E6EDF3"/>
                </a:solidFill>
                <a:latin typeface="Inconsolata"/>
              </a:rPr>
              <a:t>: </a:t>
            </a:r>
            <a:r>
              <a:rPr sz="729" i="0">
                <a:solidFill>
                  <a:srgbClr val="7FDBCA"/>
                </a:solidFill>
                <a:latin typeface="Inconsolata"/>
              </a:rPr>
              <a:t>BOOTSTRAP</a:t>
            </a:r>
            <a:r>
              <a:rPr sz="729" i="0">
                <a:solidFill>
                  <a:srgbClr val="E6EDF3"/>
                </a:solidFill>
                <a:latin typeface="Inconsolata"/>
              </a:rPr>
              <a:t>,</a:t>
            </a:r>
          </a:p>
          <a:p>
            <a:pPr>
              <a:lnSpc>
                <a:spcPct val="102868"/>
              </a:lnSpc>
              <a:spcAft>
                <a:spcPts val="0"/>
              </a:spcAft>
            </a:pPr>
            <a:r>
              <a:rPr sz="729" i="0">
                <a:solidFill>
                  <a:srgbClr val="5C6773"/>
                </a:solidFill>
                <a:latin typeface="Inconsolata"/>
              </a:rPr>
              <a:t>45  </a:t>
            </a:r>
            <a:r>
              <a:rPr sz="729" i="0">
                <a:solidFill>
                  <a:srgbClr val="E6EDF3"/>
                </a:solidFill>
                <a:latin typeface="Inconsolata"/>
              </a:rPr>
              <a:t>                         </a:t>
            </a:r>
            <a:r>
              <a:rPr sz="729" i="0">
                <a:solidFill>
                  <a:srgbClr val="A5D6A7"/>
                </a:solidFill>
                <a:latin typeface="Inconsolata"/>
              </a:rPr>
              <a:t>"partitioner"</a:t>
            </a:r>
            <a:r>
              <a:rPr sz="729" i="0">
                <a:solidFill>
                  <a:srgbClr val="E6EDF3"/>
                </a:solidFill>
                <a:latin typeface="Inconsolata"/>
              </a:rPr>
              <a:t>: </a:t>
            </a:r>
            <a:r>
              <a:rPr sz="729" i="0">
                <a:solidFill>
                  <a:srgbClr val="A5D6A7"/>
                </a:solidFill>
                <a:latin typeface="Inconsolata"/>
              </a:rPr>
              <a:t>"murmur2_random"</a:t>
            </a:r>
            <a:r>
              <a:rPr sz="729" i="0">
                <a:solidFill>
                  <a:srgbClr val="E6EDF3"/>
                </a:solidFill>
                <a:latin typeface="Inconsolata"/>
              </a:rPr>
              <a:t>})</a:t>
            </a:r>
          </a:p>
          <a:p>
            <a:pPr>
              <a:lnSpc>
                <a:spcPct val="102868"/>
              </a:lnSpc>
              <a:spcAft>
                <a:spcPts val="0"/>
              </a:spcAft>
            </a:pPr>
            <a:r>
              <a:rPr sz="729" i="0">
                <a:solidFill>
                  <a:srgbClr val="5C6773"/>
                </a:solidFill>
                <a:latin typeface="Inconsolata"/>
              </a:rPr>
              <a:t>46  </a:t>
            </a:r>
            <a:r>
              <a:rPr sz="729" i="0">
                <a:solidFill>
                  <a:srgbClr val="E6EDF3"/>
                </a:solidFill>
                <a:latin typeface="Inconsolata"/>
              </a:rPr>
              <a:t>    </a:t>
            </a:r>
            <a:r>
              <a:rPr sz="729" i="0">
                <a:solidFill>
                  <a:srgbClr val="FF8E6E"/>
                </a:solidFill>
                <a:latin typeface="Inconsolata"/>
              </a:rPr>
              <a:t>for</a:t>
            </a:r>
            <a:r>
              <a:rPr sz="729" i="0">
                <a:solidFill>
                  <a:srgbClr val="E6EDF3"/>
                </a:solidFill>
                <a:latin typeface="Inconsolata"/>
              </a:rPr>
              <a:t> order_id, customer </a:t>
            </a:r>
            <a:r>
              <a:rPr sz="729" i="0">
                <a:solidFill>
                  <a:srgbClr val="FF8E6E"/>
                </a:solidFill>
                <a:latin typeface="Inconsolata"/>
              </a:rPr>
              <a:t>in</a:t>
            </a:r>
            <a:r>
              <a:rPr sz="729" i="0">
                <a:solidFill>
                  <a:srgbClr val="E6EDF3"/>
                </a:solidFill>
                <a:latin typeface="Inconsolata"/>
              </a:rPr>
              <a:t> </a:t>
            </a:r>
            <a:r>
              <a:rPr sz="729" i="0">
                <a:solidFill>
                  <a:srgbClr val="7FDBCA"/>
                </a:solidFill>
                <a:latin typeface="Inconsolata"/>
              </a:rPr>
              <a:t>EVENTS</a:t>
            </a:r>
            <a:r>
              <a:rPr sz="729" i="0">
                <a:solidFill>
                  <a:srgbClr val="E6EDF3"/>
                </a:solidFill>
                <a:latin typeface="Inconsolata"/>
              </a:rPr>
              <a:t>:</a:t>
            </a:r>
          </a:p>
          <a:p>
            <a:pPr>
              <a:lnSpc>
                <a:spcPct val="102868"/>
              </a:lnSpc>
              <a:spcAft>
                <a:spcPts val="0"/>
              </a:spcAft>
            </a:pPr>
            <a:r>
              <a:rPr sz="729" i="0">
                <a:solidFill>
                  <a:srgbClr val="5C6773"/>
                </a:solidFill>
                <a:latin typeface="Inconsolata"/>
              </a:rPr>
              <a:t>47  </a:t>
            </a:r>
            <a:r>
              <a:rPr sz="729" i="0">
                <a:solidFill>
                  <a:srgbClr val="E6EDF3"/>
                </a:solidFill>
                <a:latin typeface="Inconsolata"/>
              </a:rPr>
              <a:t>        event = {</a:t>
            </a:r>
            <a:r>
              <a:rPr sz="729" i="0">
                <a:solidFill>
                  <a:srgbClr val="A5D6A7"/>
                </a:solidFill>
                <a:latin typeface="Inconsolata"/>
              </a:rPr>
              <a:t>"type"</a:t>
            </a:r>
            <a:r>
              <a:rPr sz="729" i="0">
                <a:solidFill>
                  <a:srgbClr val="E6EDF3"/>
                </a:solidFill>
                <a:latin typeface="Inconsolata"/>
              </a:rPr>
              <a:t>: </a:t>
            </a:r>
            <a:r>
              <a:rPr sz="729" i="0">
                <a:solidFill>
                  <a:srgbClr val="A5D6A7"/>
                </a:solidFill>
                <a:latin typeface="Inconsolata"/>
              </a:rPr>
              <a:t>"order.placed"</a:t>
            </a:r>
            <a:r>
              <a:rPr sz="729" i="0">
                <a:solidFill>
                  <a:srgbClr val="E6EDF3"/>
                </a:solidFill>
                <a:latin typeface="Inconsolata"/>
              </a:rPr>
              <a:t>, </a:t>
            </a:r>
            <a:r>
              <a:rPr sz="729" i="0">
                <a:solidFill>
                  <a:srgbClr val="A5D6A7"/>
                </a:solidFill>
                <a:latin typeface="Inconsolata"/>
              </a:rPr>
              <a:t>"order_id"</a:t>
            </a:r>
            <a:r>
              <a:rPr sz="729" i="0">
                <a:solidFill>
                  <a:srgbClr val="E6EDF3"/>
                </a:solidFill>
                <a:latin typeface="Inconsolata"/>
              </a:rPr>
              <a:t>: order_id,</a:t>
            </a:r>
          </a:p>
          <a:p>
            <a:pPr>
              <a:lnSpc>
                <a:spcPct val="102868"/>
              </a:lnSpc>
              <a:spcAft>
                <a:spcPts val="0"/>
              </a:spcAft>
            </a:pPr>
            <a:r>
              <a:rPr sz="729" i="0">
                <a:solidFill>
                  <a:srgbClr val="5C6773"/>
                </a:solidFill>
                <a:latin typeface="Inconsolata"/>
              </a:rPr>
              <a:t>48  </a:t>
            </a:r>
            <a:r>
              <a:rPr sz="729" i="0">
                <a:solidFill>
                  <a:srgbClr val="E6EDF3"/>
                </a:solidFill>
                <a:latin typeface="Inconsolata"/>
              </a:rPr>
              <a:t>                 </a:t>
            </a:r>
            <a:r>
              <a:rPr sz="729" i="0">
                <a:solidFill>
                  <a:srgbClr val="A5D6A7"/>
                </a:solidFill>
                <a:latin typeface="Inconsolata"/>
              </a:rPr>
              <a:t>"customer"</a:t>
            </a:r>
            <a:r>
              <a:rPr sz="729" i="0">
                <a:solidFill>
                  <a:srgbClr val="E6EDF3"/>
                </a:solidFill>
                <a:latin typeface="Inconsolata"/>
              </a:rPr>
              <a:t>: customer}</a:t>
            </a:r>
          </a:p>
          <a:p>
            <a:pPr>
              <a:lnSpc>
                <a:spcPct val="102868"/>
              </a:lnSpc>
              <a:spcAft>
                <a:spcPts val="0"/>
              </a:spcAft>
            </a:pPr>
            <a:r>
              <a:rPr sz="729" i="0">
                <a:solidFill>
                  <a:srgbClr val="5C6773"/>
                </a:solidFill>
                <a:latin typeface="Inconsolata"/>
              </a:rPr>
              <a:t>49  </a:t>
            </a:r>
            <a:r>
              <a:rPr sz="729" i="0">
                <a:solidFill>
                  <a:srgbClr val="E6EDF3"/>
                </a:solidFill>
                <a:latin typeface="Inconsolata"/>
              </a:rPr>
              <a:t>        </a:t>
            </a:r>
            <a:r>
              <a:rPr sz="729" i="1">
                <a:solidFill>
                  <a:srgbClr val="8B98A8"/>
                </a:solidFill>
                <a:latin typeface="Inconsolata"/>
              </a:rPr>
              <a:t># key menentukan partition: customer sama = partition sama</a:t>
            </a:r>
          </a:p>
          <a:p>
            <a:pPr>
              <a:lnSpc>
                <a:spcPct val="102868"/>
              </a:lnSpc>
              <a:spcAft>
                <a:spcPts val="0"/>
              </a:spcAft>
            </a:pPr>
            <a:r>
              <a:rPr sz="729" i="0">
                <a:solidFill>
                  <a:srgbClr val="5C6773"/>
                </a:solidFill>
                <a:latin typeface="Inconsolata"/>
              </a:rPr>
              <a:t>50  </a:t>
            </a:r>
            <a:r>
              <a:rPr sz="729" i="0">
                <a:solidFill>
                  <a:srgbClr val="E6EDF3"/>
                </a:solidFill>
                <a:latin typeface="Inconsolata"/>
              </a:rPr>
              <a:t>        producer.produce(</a:t>
            </a:r>
            <a:r>
              <a:rPr sz="729" i="0">
                <a:solidFill>
                  <a:srgbClr val="7FDBCA"/>
                </a:solidFill>
                <a:latin typeface="Inconsolata"/>
              </a:rPr>
              <a:t>TOPIC</a:t>
            </a:r>
            <a:r>
              <a:rPr sz="729" i="0">
                <a:solidFill>
                  <a:srgbClr val="E6EDF3"/>
                </a:solidFill>
                <a:latin typeface="Inconsolata"/>
              </a:rPr>
              <a:t>, key=customer,</a:t>
            </a:r>
          </a:p>
          <a:p>
            <a:pPr>
              <a:lnSpc>
                <a:spcPct val="102868"/>
              </a:lnSpc>
              <a:spcAft>
                <a:spcPts val="0"/>
              </a:spcAft>
            </a:pPr>
            <a:r>
              <a:rPr sz="729" i="0">
                <a:solidFill>
                  <a:srgbClr val="5C6773"/>
                </a:solidFill>
                <a:latin typeface="Inconsolata"/>
              </a:rPr>
              <a:t>51  </a:t>
            </a:r>
            <a:r>
              <a:rPr sz="729" i="0">
                <a:solidFill>
                  <a:srgbClr val="E6EDF3"/>
                </a:solidFill>
                <a:latin typeface="Inconsolata"/>
              </a:rPr>
              <a:t>                         value=json.dumps(event))</a:t>
            </a:r>
          </a:p>
          <a:p>
            <a:pPr>
              <a:lnSpc>
                <a:spcPct val="102868"/>
              </a:lnSpc>
              <a:spcAft>
                <a:spcPts val="0"/>
              </a:spcAft>
            </a:pPr>
            <a:r>
              <a:rPr sz="729" i="0">
                <a:solidFill>
                  <a:srgbClr val="5C6773"/>
                </a:solidFill>
                <a:latin typeface="Inconsolata"/>
              </a:rPr>
              <a:t>52  </a:t>
            </a:r>
            <a:r>
              <a:rPr sz="729" i="0">
                <a:solidFill>
                  <a:srgbClr val="E6EDF3"/>
                </a:solidFill>
                <a:latin typeface="Inconsolata"/>
              </a:rPr>
              <a:t>    producer.flush()</a:t>
            </a:r>
          </a:p>
        </p:txBody>
      </p:sp>
      <p:sp>
        <p:nvSpPr>
          <p:cNvPr id="36" name="Box 21"/>
          <p:cNvSpPr/>
          <p:nvPr/>
        </p:nvSpPr>
        <p:spPr>
          <a:xfrm>
            <a:off x="4709159" y="2625471"/>
            <a:ext cx="3694176" cy="107442"/>
          </a:xfrm>
          <a:prstGeom prst="roundRect">
            <a:avLst>
              <a:gd name="adj" fmla="val 42553"/>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8284463" y="256032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3997071"/>
            <a:ext cx="3694176" cy="107442"/>
          </a:xfrm>
          <a:prstGeom prst="roundRect">
            <a:avLst>
              <a:gd name="adj" fmla="val 42553"/>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393192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Kafka</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topic, partition, dan consumer group (2/2)</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06-kafka-basics/after.py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7095"/>
              </a:lnSpc>
              <a:spcAft>
                <a:spcPts val="0"/>
              </a:spcAft>
            </a:pPr>
            <a:r>
              <a:rPr sz="700" i="0">
                <a:solidFill>
                  <a:srgbClr val="5C6773"/>
                </a:solidFill>
                <a:latin typeface="Inconsolata"/>
              </a:rPr>
              <a:t>55  </a:t>
            </a: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consume</a:t>
            </a:r>
            <a:r>
              <a:rPr sz="700" i="0">
                <a:solidFill>
                  <a:srgbClr val="E6EDF3"/>
                </a:solidFill>
                <a:latin typeface="Inconsolata"/>
              </a:rPr>
              <a:t>(group_id: </a:t>
            </a:r>
            <a:r>
              <a:rPr sz="700" i="0">
                <a:solidFill>
                  <a:srgbClr val="C3A6FF"/>
                </a:solidFill>
                <a:latin typeface="Inconsolata"/>
              </a:rPr>
              <a:t>str</a:t>
            </a:r>
            <a:r>
              <a:rPr sz="700" i="0">
                <a:solidFill>
                  <a:srgbClr val="E6EDF3"/>
                </a:solidFill>
                <a:latin typeface="Inconsolata"/>
              </a:rPr>
              <a:t>) -&gt; </a:t>
            </a:r>
            <a:r>
              <a:rPr sz="700" i="0">
                <a:solidFill>
                  <a:srgbClr val="C3A6FF"/>
                </a:solidFill>
                <a:latin typeface="Inconsolata"/>
              </a:rPr>
              <a:t>dict</a:t>
            </a:r>
            <a:r>
              <a:rPr sz="700" i="0">
                <a:solidFill>
                  <a:srgbClr val="E6EDF3"/>
                </a:solidFill>
                <a:latin typeface="Inconsolata"/>
              </a:rPr>
              <a:t>:</a:t>
            </a:r>
          </a:p>
          <a:p>
            <a:pPr>
              <a:lnSpc>
                <a:spcPct val="107095"/>
              </a:lnSpc>
              <a:spcAft>
                <a:spcPts val="0"/>
              </a:spcAft>
            </a:pPr>
            <a:r>
              <a:rPr sz="700" i="0">
                <a:solidFill>
                  <a:srgbClr val="5C6773"/>
                </a:solidFill>
                <a:latin typeface="Inconsolata"/>
              </a:rPr>
              <a:t>56  </a:t>
            </a:r>
            <a:r>
              <a:rPr sz="700" i="0">
                <a:solidFill>
                  <a:srgbClr val="E6EDF3"/>
                </a:solidFill>
                <a:latin typeface="Inconsolata"/>
              </a:rPr>
              <a:t>    consumer = </a:t>
            </a:r>
            <a:r>
              <a:rPr sz="700" i="0">
                <a:solidFill>
                  <a:srgbClr val="7FDBCA"/>
                </a:solidFill>
                <a:latin typeface="Inconsolata"/>
              </a:rPr>
              <a:t>Consumer</a:t>
            </a:r>
            <a:r>
              <a:rPr sz="700" i="0">
                <a:solidFill>
                  <a:srgbClr val="E6EDF3"/>
                </a:solidFill>
                <a:latin typeface="Inconsolata"/>
              </a:rPr>
              <a:t>({</a:t>
            </a:r>
            <a:r>
              <a:rPr sz="700" i="0">
                <a:solidFill>
                  <a:srgbClr val="A5D6A7"/>
                </a:solidFill>
                <a:latin typeface="Inconsolata"/>
              </a:rPr>
              <a:t>"bootstrap.servers"</a:t>
            </a:r>
            <a:r>
              <a:rPr sz="700" i="0">
                <a:solidFill>
                  <a:srgbClr val="E6EDF3"/>
                </a:solidFill>
                <a:latin typeface="Inconsolata"/>
              </a:rPr>
              <a:t>: </a:t>
            </a:r>
            <a:r>
              <a:rPr sz="700" i="0">
                <a:solidFill>
                  <a:srgbClr val="7FDBCA"/>
                </a:solidFill>
                <a:latin typeface="Inconsolata"/>
              </a:rPr>
              <a:t>BOOTSTRAP</a:t>
            </a:r>
            <a:r>
              <a:rPr sz="700" i="0">
                <a:solidFill>
                  <a:srgbClr val="E6EDF3"/>
                </a:solidFill>
                <a:latin typeface="Inconsolata"/>
              </a:rPr>
              <a:t>,</a:t>
            </a:r>
          </a:p>
          <a:p>
            <a:pPr>
              <a:lnSpc>
                <a:spcPct val="107095"/>
              </a:lnSpc>
              <a:spcAft>
                <a:spcPts val="0"/>
              </a:spcAft>
            </a:pPr>
            <a:r>
              <a:rPr sz="700" i="0">
                <a:solidFill>
                  <a:srgbClr val="5C6773"/>
                </a:solidFill>
                <a:latin typeface="Inconsolata"/>
              </a:rPr>
              <a:t>57  </a:t>
            </a:r>
            <a:r>
              <a:rPr sz="700" i="0">
                <a:solidFill>
                  <a:srgbClr val="E6EDF3"/>
                </a:solidFill>
                <a:latin typeface="Inconsolata"/>
              </a:rPr>
              <a:t>                         </a:t>
            </a:r>
            <a:r>
              <a:rPr sz="700" i="0">
                <a:solidFill>
                  <a:srgbClr val="A5D6A7"/>
                </a:solidFill>
                <a:latin typeface="Inconsolata"/>
              </a:rPr>
              <a:t>"group.id"</a:t>
            </a:r>
            <a:r>
              <a:rPr sz="700" i="0">
                <a:solidFill>
                  <a:srgbClr val="E6EDF3"/>
                </a:solidFill>
                <a:latin typeface="Inconsolata"/>
              </a:rPr>
              <a:t>: group_id,</a:t>
            </a:r>
          </a:p>
          <a:p>
            <a:pPr>
              <a:lnSpc>
                <a:spcPct val="107095"/>
              </a:lnSpc>
              <a:spcAft>
                <a:spcPts val="0"/>
              </a:spcAft>
            </a:pPr>
            <a:r>
              <a:rPr sz="700" i="0">
                <a:solidFill>
                  <a:srgbClr val="5C6773"/>
                </a:solidFill>
                <a:latin typeface="Inconsolata"/>
              </a:rPr>
              <a:t>58  </a:t>
            </a:r>
            <a:r>
              <a:rPr sz="700" i="0">
                <a:solidFill>
                  <a:srgbClr val="E6EDF3"/>
                </a:solidFill>
                <a:latin typeface="Inconsolata"/>
              </a:rPr>
              <a:t>                         </a:t>
            </a:r>
            <a:r>
              <a:rPr sz="700" i="0">
                <a:solidFill>
                  <a:srgbClr val="A5D6A7"/>
                </a:solidFill>
                <a:latin typeface="Inconsolata"/>
              </a:rPr>
              <a:t>"auto.offset.reset"</a:t>
            </a:r>
            <a:r>
              <a:rPr sz="700" i="0">
                <a:solidFill>
                  <a:srgbClr val="E6EDF3"/>
                </a:solidFill>
                <a:latin typeface="Inconsolata"/>
              </a:rPr>
              <a:t>: </a:t>
            </a:r>
            <a:r>
              <a:rPr sz="700" i="0">
                <a:solidFill>
                  <a:srgbClr val="A5D6A7"/>
                </a:solidFill>
                <a:latin typeface="Inconsolata"/>
              </a:rPr>
              <a:t>"earliest"</a:t>
            </a:r>
            <a:r>
              <a:rPr sz="700" i="0">
                <a:solidFill>
                  <a:srgbClr val="E6EDF3"/>
                </a:solidFill>
                <a:latin typeface="Inconsolata"/>
              </a:rPr>
              <a:t>,</a:t>
            </a:r>
          </a:p>
          <a:p>
            <a:pPr>
              <a:lnSpc>
                <a:spcPct val="107095"/>
              </a:lnSpc>
              <a:spcAft>
                <a:spcPts val="0"/>
              </a:spcAft>
            </a:pPr>
            <a:r>
              <a:rPr sz="700" i="0">
                <a:solidFill>
                  <a:srgbClr val="5C6773"/>
                </a:solidFill>
                <a:latin typeface="Inconsolata"/>
              </a:rPr>
              <a:t>59  </a:t>
            </a:r>
            <a:r>
              <a:rPr sz="700" i="0">
                <a:solidFill>
                  <a:srgbClr val="E6EDF3"/>
                </a:solidFill>
                <a:latin typeface="Inconsolata"/>
              </a:rPr>
              <a:t>                         </a:t>
            </a:r>
            <a:r>
              <a:rPr sz="700" i="0">
                <a:solidFill>
                  <a:srgbClr val="A5D6A7"/>
                </a:solidFill>
                <a:latin typeface="Inconsolata"/>
              </a:rPr>
              <a:t>"enable.auto.commit"</a:t>
            </a:r>
            <a:r>
              <a:rPr sz="700" i="0">
                <a:solidFill>
                  <a:srgbClr val="E6EDF3"/>
                </a:solidFill>
                <a:latin typeface="Inconsolata"/>
              </a:rPr>
              <a:t>: </a:t>
            </a:r>
            <a:r>
              <a:rPr sz="700" i="0">
                <a:solidFill>
                  <a:srgbClr val="FF8E6E"/>
                </a:solidFill>
                <a:latin typeface="Inconsolata"/>
              </a:rPr>
              <a:t>False</a:t>
            </a:r>
            <a:r>
              <a:rPr sz="700" i="0">
                <a:solidFill>
                  <a:srgbClr val="E6EDF3"/>
                </a:solidFill>
                <a:latin typeface="Inconsolata"/>
              </a:rPr>
              <a:t>})</a:t>
            </a:r>
          </a:p>
          <a:p>
            <a:pPr>
              <a:lnSpc>
                <a:spcPct val="107095"/>
              </a:lnSpc>
              <a:spcAft>
                <a:spcPts val="0"/>
              </a:spcAft>
            </a:pPr>
            <a:r>
              <a:rPr sz="700" i="0">
                <a:solidFill>
                  <a:srgbClr val="5C6773"/>
                </a:solidFill>
                <a:latin typeface="Inconsolata"/>
              </a:rPr>
              <a:t>60  </a:t>
            </a:r>
            <a:r>
              <a:rPr sz="700" i="0">
                <a:solidFill>
                  <a:srgbClr val="E6EDF3"/>
                </a:solidFill>
                <a:latin typeface="Inconsolata"/>
              </a:rPr>
              <a:t>    consumer.subscribe([</a:t>
            </a:r>
            <a:r>
              <a:rPr sz="700" i="0">
                <a:solidFill>
                  <a:srgbClr val="7FDBCA"/>
                </a:solidFill>
                <a:latin typeface="Inconsolata"/>
              </a:rPr>
              <a:t>TOPIC</a:t>
            </a:r>
            <a:r>
              <a:rPr sz="700" i="0">
                <a:solidFill>
                  <a:srgbClr val="E6EDF3"/>
                </a:solidFill>
                <a:latin typeface="Inconsolata"/>
              </a:rPr>
              <a:t>])</a:t>
            </a:r>
          </a:p>
          <a:p>
            <a:pPr>
              <a:lnSpc>
                <a:spcPct val="107095"/>
              </a:lnSpc>
              <a:spcAft>
                <a:spcPts val="0"/>
              </a:spcAft>
            </a:pPr>
            <a:r>
              <a:rPr sz="700" i="0">
                <a:solidFill>
                  <a:srgbClr val="5C6773"/>
                </a:solidFill>
                <a:latin typeface="Inconsolata"/>
              </a:rPr>
              <a:t>61  </a:t>
            </a:r>
            <a:r>
              <a:rPr sz="700" i="0">
                <a:solidFill>
                  <a:srgbClr val="E6EDF3"/>
                </a:solidFill>
                <a:latin typeface="Inconsolata"/>
              </a:rPr>
              <a:t>    received = defaultdict(</a:t>
            </a:r>
            <a:r>
              <a:rPr sz="700" i="0">
                <a:solidFill>
                  <a:srgbClr val="C3A6FF"/>
                </a:solidFill>
                <a:latin typeface="Inconsolata"/>
              </a:rPr>
              <a:t>list</a:t>
            </a:r>
            <a:r>
              <a:rPr sz="700" i="0">
                <a:solidFill>
                  <a:srgbClr val="E6EDF3"/>
                </a:solidFill>
                <a:latin typeface="Inconsolata"/>
              </a:rPr>
              <a:t>)</a:t>
            </a:r>
          </a:p>
          <a:p>
            <a:pPr>
              <a:lnSpc>
                <a:spcPct val="107095"/>
              </a:lnSpc>
              <a:spcAft>
                <a:spcPts val="0"/>
              </a:spcAft>
            </a:pPr>
            <a:r>
              <a:rPr sz="700" i="0">
                <a:solidFill>
                  <a:srgbClr val="5C6773"/>
                </a:solidFill>
                <a:latin typeface="Inconsolata"/>
              </a:rPr>
              <a:t>62  </a:t>
            </a:r>
            <a:r>
              <a:rPr sz="700" i="0">
                <a:solidFill>
                  <a:srgbClr val="E6EDF3"/>
                </a:solidFill>
                <a:latin typeface="Inconsolata"/>
              </a:rPr>
              <a:t>    idle = </a:t>
            </a:r>
            <a:r>
              <a:rPr sz="700" i="0">
                <a:solidFill>
                  <a:srgbClr val="F9C97A"/>
                </a:solidFill>
                <a:latin typeface="Inconsolata"/>
              </a:rPr>
              <a:t>0</a:t>
            </a:r>
          </a:p>
          <a:p>
            <a:pPr>
              <a:lnSpc>
                <a:spcPct val="107095"/>
              </a:lnSpc>
              <a:spcAft>
                <a:spcPts val="0"/>
              </a:spcAft>
            </a:pPr>
            <a:r>
              <a:rPr sz="700" i="0">
                <a:solidFill>
                  <a:srgbClr val="5C6773"/>
                </a:solidFill>
                <a:latin typeface="Inconsolata"/>
              </a:rPr>
              <a:t>63  </a:t>
            </a:r>
            <a:r>
              <a:rPr sz="700" i="0">
                <a:solidFill>
                  <a:srgbClr val="E6EDF3"/>
                </a:solidFill>
                <a:latin typeface="Inconsolata"/>
              </a:rPr>
              <a:t>    </a:t>
            </a:r>
            <a:r>
              <a:rPr sz="700" i="0">
                <a:solidFill>
                  <a:srgbClr val="FF8E6E"/>
                </a:solidFill>
                <a:latin typeface="Inconsolata"/>
              </a:rPr>
              <a:t>while</a:t>
            </a:r>
            <a:r>
              <a:rPr sz="700" i="0">
                <a:solidFill>
                  <a:srgbClr val="E6EDF3"/>
                </a:solidFill>
                <a:latin typeface="Inconsolata"/>
              </a:rPr>
              <a:t> idle &lt; </a:t>
            </a:r>
            <a:r>
              <a:rPr sz="700" i="0">
                <a:solidFill>
                  <a:srgbClr val="F9C97A"/>
                </a:solidFill>
                <a:latin typeface="Inconsolata"/>
              </a:rPr>
              <a:t>2</a:t>
            </a:r>
            <a:r>
              <a:rPr sz="700" i="0">
                <a:solidFill>
                  <a:srgbClr val="E6EDF3"/>
                </a:solidFill>
                <a:latin typeface="Inconsolata"/>
              </a:rPr>
              <a:t>:          </a:t>
            </a:r>
            <a:r>
              <a:rPr sz="700" i="1">
                <a:solidFill>
                  <a:srgbClr val="8B98A8"/>
                </a:solidFill>
                <a:latin typeface="Inconsolata"/>
              </a:rPr>
              <a:t># demo: berhenti jika 2 s tanpa event</a:t>
            </a:r>
          </a:p>
          <a:p>
            <a:pPr>
              <a:lnSpc>
                <a:spcPct val="107095"/>
              </a:lnSpc>
              <a:spcAft>
                <a:spcPts val="0"/>
              </a:spcAft>
            </a:pPr>
            <a:r>
              <a:rPr sz="700" i="0">
                <a:solidFill>
                  <a:srgbClr val="5C6773"/>
                </a:solidFill>
                <a:latin typeface="Inconsolata"/>
              </a:rPr>
              <a:t>64  </a:t>
            </a:r>
            <a:r>
              <a:rPr sz="700" i="0">
                <a:solidFill>
                  <a:srgbClr val="E6EDF3"/>
                </a:solidFill>
                <a:latin typeface="Inconsolata"/>
              </a:rPr>
              <a:t>        msg = consumer.poll(</a:t>
            </a:r>
            <a:r>
              <a:rPr sz="700" i="0">
                <a:solidFill>
                  <a:srgbClr val="F9C97A"/>
                </a:solidFill>
                <a:latin typeface="Inconsolata"/>
              </a:rPr>
              <a:t>1</a:t>
            </a:r>
            <a:r>
              <a:rPr sz="700" i="0">
                <a:solidFill>
                  <a:srgbClr val="E6EDF3"/>
                </a:solidFill>
                <a:latin typeface="Inconsolata"/>
              </a:rPr>
              <a:t>.</a:t>
            </a:r>
            <a:r>
              <a:rPr sz="700" i="0">
                <a:solidFill>
                  <a:srgbClr val="F9C97A"/>
                </a:solidFill>
                <a:latin typeface="Inconsolata"/>
              </a:rPr>
              <a:t>0</a:t>
            </a:r>
            <a:r>
              <a:rPr sz="700" i="0">
                <a:solidFill>
                  <a:srgbClr val="E6EDF3"/>
                </a:solidFill>
                <a:latin typeface="Inconsolata"/>
              </a:rPr>
              <a:t>)</a:t>
            </a:r>
          </a:p>
          <a:p>
            <a:pPr>
              <a:lnSpc>
                <a:spcPct val="107095"/>
              </a:lnSpc>
              <a:spcAft>
                <a:spcPts val="0"/>
              </a:spcAft>
            </a:pPr>
            <a:r>
              <a:rPr sz="700" i="0">
                <a:solidFill>
                  <a:srgbClr val="5C6773"/>
                </a:solidFill>
                <a:latin typeface="Inconsolata"/>
              </a:rPr>
              <a:t>65  </a:t>
            </a:r>
            <a:r>
              <a:rPr sz="700" i="0">
                <a:solidFill>
                  <a:srgbClr val="E6EDF3"/>
                </a:solidFill>
                <a:latin typeface="Inconsolata"/>
              </a:rPr>
              <a:t>        </a:t>
            </a:r>
            <a:r>
              <a:rPr sz="700" i="0">
                <a:solidFill>
                  <a:srgbClr val="FF8E6E"/>
                </a:solidFill>
                <a:latin typeface="Inconsolata"/>
              </a:rPr>
              <a:t>if</a:t>
            </a:r>
            <a:r>
              <a:rPr sz="700" i="0">
                <a:solidFill>
                  <a:srgbClr val="E6EDF3"/>
                </a:solidFill>
                <a:latin typeface="Inconsolata"/>
              </a:rPr>
              <a:t> msg </a:t>
            </a:r>
            <a:r>
              <a:rPr sz="700" i="0">
                <a:solidFill>
                  <a:srgbClr val="FF8E6E"/>
                </a:solidFill>
                <a:latin typeface="Inconsolata"/>
              </a:rPr>
              <a:t>is</a:t>
            </a:r>
            <a:r>
              <a:rPr sz="700" i="0">
                <a:solidFill>
                  <a:srgbClr val="E6EDF3"/>
                </a:solidFill>
                <a:latin typeface="Inconsolata"/>
              </a:rPr>
              <a:t> </a:t>
            </a:r>
            <a:r>
              <a:rPr sz="700" i="0">
                <a:solidFill>
                  <a:srgbClr val="FF8E6E"/>
                </a:solidFill>
                <a:latin typeface="Inconsolata"/>
              </a:rPr>
              <a:t>None</a:t>
            </a:r>
            <a:r>
              <a:rPr sz="700" i="0">
                <a:solidFill>
                  <a:srgbClr val="E6EDF3"/>
                </a:solidFill>
                <a:latin typeface="Inconsolata"/>
              </a:rPr>
              <a:t>:</a:t>
            </a:r>
          </a:p>
          <a:p>
            <a:pPr>
              <a:lnSpc>
                <a:spcPct val="107095"/>
              </a:lnSpc>
              <a:spcAft>
                <a:spcPts val="0"/>
              </a:spcAft>
            </a:pPr>
            <a:r>
              <a:rPr sz="700" i="0">
                <a:solidFill>
                  <a:srgbClr val="5C6773"/>
                </a:solidFill>
                <a:latin typeface="Inconsolata"/>
              </a:rPr>
              <a:t>66  </a:t>
            </a:r>
            <a:r>
              <a:rPr sz="700" i="0">
                <a:solidFill>
                  <a:srgbClr val="E6EDF3"/>
                </a:solidFill>
                <a:latin typeface="Inconsolata"/>
              </a:rPr>
              <a:t>            idle += </a:t>
            </a:r>
            <a:r>
              <a:rPr sz="700" i="0">
                <a:solidFill>
                  <a:srgbClr val="F9C97A"/>
                </a:solidFill>
                <a:latin typeface="Inconsolata"/>
              </a:rPr>
              <a:t>1</a:t>
            </a:r>
            <a:r>
              <a:rPr sz="700" i="0">
                <a:solidFill>
                  <a:srgbClr val="E6EDF3"/>
                </a:solidFill>
                <a:latin typeface="Inconsolata"/>
              </a:rPr>
              <a:t> </a:t>
            </a:r>
            <a:r>
              <a:rPr sz="700" i="0">
                <a:solidFill>
                  <a:srgbClr val="FF8E6E"/>
                </a:solidFill>
                <a:latin typeface="Inconsolata"/>
              </a:rPr>
              <a:t>if</a:t>
            </a:r>
            <a:r>
              <a:rPr sz="700" i="0">
                <a:solidFill>
                  <a:srgbClr val="E6EDF3"/>
                </a:solidFill>
                <a:latin typeface="Inconsolata"/>
              </a:rPr>
              <a:t> consumer.assignment() </a:t>
            </a:r>
            <a:r>
              <a:rPr sz="700" i="0">
                <a:solidFill>
                  <a:srgbClr val="FF8E6E"/>
                </a:solidFill>
                <a:latin typeface="Inconsolata"/>
              </a:rPr>
              <a:t>else</a:t>
            </a:r>
            <a:r>
              <a:rPr sz="700" i="0">
                <a:solidFill>
                  <a:srgbClr val="E6EDF3"/>
                </a:solidFill>
                <a:latin typeface="Inconsolata"/>
              </a:rPr>
              <a:t> </a:t>
            </a:r>
            <a:r>
              <a:rPr sz="700" i="0">
                <a:solidFill>
                  <a:srgbClr val="F9C97A"/>
                </a:solidFill>
                <a:latin typeface="Inconsolata"/>
              </a:rPr>
              <a:t>0</a:t>
            </a:r>
          </a:p>
          <a:p>
            <a:pPr>
              <a:lnSpc>
                <a:spcPct val="107095"/>
              </a:lnSpc>
              <a:spcAft>
                <a:spcPts val="0"/>
              </a:spcAft>
            </a:pPr>
            <a:r>
              <a:rPr sz="700" i="0">
                <a:solidFill>
                  <a:srgbClr val="5C6773"/>
                </a:solidFill>
                <a:latin typeface="Inconsolata"/>
              </a:rPr>
              <a:t>67  </a:t>
            </a:r>
            <a:r>
              <a:rPr sz="700" i="0">
                <a:solidFill>
                  <a:srgbClr val="E6EDF3"/>
                </a:solidFill>
                <a:latin typeface="Inconsolata"/>
              </a:rPr>
              <a:t>            </a:t>
            </a:r>
            <a:r>
              <a:rPr sz="700" i="0">
                <a:solidFill>
                  <a:srgbClr val="FF8E6E"/>
                </a:solidFill>
                <a:latin typeface="Inconsolata"/>
              </a:rPr>
              <a:t>continue</a:t>
            </a:r>
          </a:p>
          <a:p>
            <a:pPr>
              <a:lnSpc>
                <a:spcPct val="107095"/>
              </a:lnSpc>
              <a:spcAft>
                <a:spcPts val="0"/>
              </a:spcAft>
            </a:pPr>
            <a:r>
              <a:rPr sz="700" i="0">
                <a:solidFill>
                  <a:srgbClr val="5C6773"/>
                </a:solidFill>
                <a:latin typeface="Inconsolata"/>
              </a:rPr>
              <a:t>68  </a:t>
            </a:r>
            <a:r>
              <a:rPr sz="700" i="0">
                <a:solidFill>
                  <a:srgbClr val="E6EDF3"/>
                </a:solidFill>
                <a:latin typeface="Inconsolata"/>
              </a:rPr>
              <a:t>        event = json.loads(msg.value())</a:t>
            </a:r>
          </a:p>
          <a:p>
            <a:pPr>
              <a:lnSpc>
                <a:spcPct val="107095"/>
              </a:lnSpc>
              <a:spcAft>
                <a:spcPts val="0"/>
              </a:spcAft>
            </a:pPr>
            <a:r>
              <a:rPr sz="700" i="0">
                <a:solidFill>
                  <a:srgbClr val="5C6773"/>
                </a:solidFill>
                <a:latin typeface="Inconsolata"/>
              </a:rPr>
              <a:t>69  </a:t>
            </a:r>
            <a:r>
              <a:rPr sz="700" i="0">
                <a:solidFill>
                  <a:srgbClr val="E6EDF3"/>
                </a:solidFill>
                <a:latin typeface="Inconsolata"/>
              </a:rPr>
              <a:t>        order = </a:t>
            </a:r>
            <a:r>
              <a:rPr sz="700" i="0">
                <a:solidFill>
                  <a:srgbClr val="A5D6A7"/>
                </a:solidFill>
                <a:latin typeface="Inconsolata"/>
              </a:rPr>
              <a:t>f"#{event['order_id']} {event['customer']}"</a:t>
            </a:r>
          </a:p>
          <a:p>
            <a:pPr>
              <a:lnSpc>
                <a:spcPct val="107095"/>
              </a:lnSpc>
              <a:spcAft>
                <a:spcPts val="0"/>
              </a:spcAft>
            </a:pPr>
            <a:r>
              <a:rPr sz="700" i="0">
                <a:solidFill>
                  <a:srgbClr val="5C6773"/>
                </a:solidFill>
                <a:latin typeface="Inconsolata"/>
              </a:rPr>
              <a:t>70  </a:t>
            </a:r>
            <a:r>
              <a:rPr sz="700" i="0">
                <a:solidFill>
                  <a:srgbClr val="E6EDF3"/>
                </a:solidFill>
                <a:latin typeface="Inconsolata"/>
              </a:rPr>
              <a:t>        received[msg.partition()].append((msg.offset(), order))</a:t>
            </a:r>
          </a:p>
          <a:p>
            <a:pPr>
              <a:lnSpc>
                <a:spcPct val="107095"/>
              </a:lnSpc>
              <a:spcAft>
                <a:spcPts val="0"/>
              </a:spcAft>
            </a:pPr>
            <a:r>
              <a:rPr sz="700" i="0">
                <a:solidFill>
                  <a:srgbClr val="5C6773"/>
                </a:solidFill>
                <a:latin typeface="Inconsolata"/>
              </a:rPr>
              <a:t>71  </a:t>
            </a:r>
            <a:r>
              <a:rPr sz="700" i="0">
                <a:solidFill>
                  <a:srgbClr val="E6EDF3"/>
                </a:solidFill>
                <a:latin typeface="Inconsolata"/>
              </a:rPr>
              <a:t>        consumer.commit(msg)   </a:t>
            </a:r>
            <a:r>
              <a:rPr sz="700" i="1">
                <a:solidFill>
                  <a:srgbClr val="8B98A8"/>
                </a:solidFill>
                <a:latin typeface="Inconsolata"/>
              </a:rPr>
              <a:t># catat: group ini sudah baca sampai sini</a:t>
            </a:r>
          </a:p>
          <a:p>
            <a:pPr>
              <a:lnSpc>
                <a:spcPct val="107095"/>
              </a:lnSpc>
              <a:spcAft>
                <a:spcPts val="0"/>
              </a:spcAft>
            </a:pPr>
            <a:r>
              <a:rPr sz="700" i="0">
                <a:solidFill>
                  <a:srgbClr val="5C6773"/>
                </a:solidFill>
                <a:latin typeface="Inconsolata"/>
              </a:rPr>
              <a:t>72  </a:t>
            </a:r>
            <a:r>
              <a:rPr sz="700" i="0">
                <a:solidFill>
                  <a:srgbClr val="E6EDF3"/>
                </a:solidFill>
                <a:latin typeface="Inconsolata"/>
              </a:rPr>
              <a:t>    consumer.close()</a:t>
            </a:r>
          </a:p>
          <a:p>
            <a:pPr>
              <a:lnSpc>
                <a:spcPct val="107095"/>
              </a:lnSpc>
              <a:spcAft>
                <a:spcPts val="0"/>
              </a:spcAft>
            </a:pPr>
            <a:r>
              <a:rPr sz="700" i="0">
                <a:solidFill>
                  <a:srgbClr val="5C6773"/>
                </a:solidFill>
                <a:latin typeface="Inconsolata"/>
              </a:rPr>
              <a:t>73  </a:t>
            </a:r>
            <a:r>
              <a:rPr sz="700" i="0">
                <a:solidFill>
                  <a:srgbClr val="E6EDF3"/>
                </a:solidFill>
                <a:latin typeface="Inconsolata"/>
              </a:rPr>
              <a:t>    </a:t>
            </a:r>
            <a:r>
              <a:rPr sz="700" i="0">
                <a:solidFill>
                  <a:srgbClr val="FF8E6E"/>
                </a:solidFill>
                <a:latin typeface="Inconsolata"/>
              </a:rPr>
              <a:t>return</a:t>
            </a:r>
            <a:r>
              <a:rPr sz="700" i="0">
                <a:solidFill>
                  <a:srgbClr val="E6EDF3"/>
                </a:solidFill>
                <a:latin typeface="Inconsolata"/>
              </a:rPr>
              <a:t> received</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06-kafka-basics/after.py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7095"/>
              </a:lnSpc>
              <a:spcAft>
                <a:spcPts val="0"/>
              </a:spcAft>
            </a:pPr>
            <a:r>
              <a:rPr sz="700" i="0">
                <a:solidFill>
                  <a:srgbClr val="5C6773"/>
                </a:solidFill>
                <a:latin typeface="Inconsolata"/>
              </a:rPr>
              <a:t>76  </a:t>
            </a: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show</a:t>
            </a:r>
            <a:r>
              <a:rPr sz="700" i="0">
                <a:solidFill>
                  <a:srgbClr val="E6EDF3"/>
                </a:solidFill>
                <a:latin typeface="Inconsolata"/>
              </a:rPr>
              <a:t>(label: </a:t>
            </a:r>
            <a:r>
              <a:rPr sz="700" i="0">
                <a:solidFill>
                  <a:srgbClr val="C3A6FF"/>
                </a:solidFill>
                <a:latin typeface="Inconsolata"/>
              </a:rPr>
              <a:t>str</a:t>
            </a:r>
            <a:r>
              <a:rPr sz="700" i="0">
                <a:solidFill>
                  <a:srgbClr val="E6EDF3"/>
                </a:solidFill>
                <a:latin typeface="Inconsolata"/>
              </a:rPr>
              <a:t>, received: </a:t>
            </a:r>
            <a:r>
              <a:rPr sz="700" i="0">
                <a:solidFill>
                  <a:srgbClr val="C3A6FF"/>
                </a:solidFill>
                <a:latin typeface="Inconsolata"/>
              </a:rPr>
              <a:t>dict</a:t>
            </a:r>
            <a:r>
              <a:rPr sz="700" i="0">
                <a:solidFill>
                  <a:srgbClr val="E6EDF3"/>
                </a:solidFill>
                <a:latin typeface="Inconsolata"/>
              </a:rPr>
              <a:t>):</a:t>
            </a:r>
          </a:p>
          <a:p>
            <a:pPr>
              <a:lnSpc>
                <a:spcPct val="107095"/>
              </a:lnSpc>
              <a:spcAft>
                <a:spcPts val="0"/>
              </a:spcAft>
            </a:pPr>
            <a:r>
              <a:rPr sz="700" i="0">
                <a:solidFill>
                  <a:srgbClr val="5C6773"/>
                </a:solidFill>
                <a:latin typeface="Inconsolata"/>
              </a:rPr>
              <a:t>77  </a:t>
            </a:r>
            <a:r>
              <a:rPr sz="700" i="0">
                <a:solidFill>
                  <a:srgbClr val="E6EDF3"/>
                </a:solidFill>
                <a:latin typeface="Inconsolata"/>
              </a:rPr>
              <a:t>    total = </a:t>
            </a:r>
            <a:r>
              <a:rPr sz="700" i="0">
                <a:solidFill>
                  <a:srgbClr val="C3A6FF"/>
                </a:solidFill>
                <a:latin typeface="Inconsolata"/>
              </a:rPr>
              <a:t>sum</a:t>
            </a:r>
            <a:r>
              <a:rPr sz="700" i="0">
                <a:solidFill>
                  <a:srgbClr val="E6EDF3"/>
                </a:solidFill>
                <a:latin typeface="Inconsolata"/>
              </a:rPr>
              <a:t>(</a:t>
            </a:r>
            <a:r>
              <a:rPr sz="700" i="0">
                <a:solidFill>
                  <a:srgbClr val="C3A6FF"/>
                </a:solidFill>
                <a:latin typeface="Inconsolata"/>
              </a:rPr>
              <a:t>len</a:t>
            </a:r>
            <a:r>
              <a:rPr sz="700" i="0">
                <a:solidFill>
                  <a:srgbClr val="E6EDF3"/>
                </a:solidFill>
                <a:latin typeface="Inconsolata"/>
              </a:rPr>
              <a:t>(rows) </a:t>
            </a:r>
            <a:r>
              <a:rPr sz="700" i="0">
                <a:solidFill>
                  <a:srgbClr val="FF8E6E"/>
                </a:solidFill>
                <a:latin typeface="Inconsolata"/>
              </a:rPr>
              <a:t>for</a:t>
            </a:r>
            <a:r>
              <a:rPr sz="700" i="0">
                <a:solidFill>
                  <a:srgbClr val="E6EDF3"/>
                </a:solidFill>
                <a:latin typeface="Inconsolata"/>
              </a:rPr>
              <a:t> rows </a:t>
            </a:r>
            <a:r>
              <a:rPr sz="700" i="0">
                <a:solidFill>
                  <a:srgbClr val="FF8E6E"/>
                </a:solidFill>
                <a:latin typeface="Inconsolata"/>
              </a:rPr>
              <a:t>in</a:t>
            </a:r>
            <a:r>
              <a:rPr sz="700" i="0">
                <a:solidFill>
                  <a:srgbClr val="E6EDF3"/>
                </a:solidFill>
                <a:latin typeface="Inconsolata"/>
              </a:rPr>
              <a:t> received.values())</a:t>
            </a:r>
          </a:p>
          <a:p>
            <a:pPr>
              <a:lnSpc>
                <a:spcPct val="107095"/>
              </a:lnSpc>
              <a:spcAft>
                <a:spcPts val="0"/>
              </a:spcAft>
            </a:pPr>
            <a:r>
              <a:rPr sz="700" i="0">
                <a:solidFill>
                  <a:srgbClr val="5C6773"/>
                </a:solidFill>
                <a:latin typeface="Inconsolata"/>
              </a:rPr>
              <a:t>78  </a:t>
            </a:r>
            <a:r>
              <a:rPr sz="700" i="0">
                <a:solidFill>
                  <a:srgbClr val="E6EDF3"/>
                </a:solidFill>
                <a:latin typeface="Inconsolata"/>
              </a:rPr>
              <a:t>    </a:t>
            </a:r>
            <a:r>
              <a:rPr sz="700" i="0">
                <a:solidFill>
                  <a:srgbClr val="C3A6FF"/>
                </a:solidFill>
                <a:latin typeface="Inconsolata"/>
              </a:rPr>
              <a:t>print</a:t>
            </a:r>
            <a:r>
              <a:rPr sz="700" i="0">
                <a:solidFill>
                  <a:srgbClr val="E6EDF3"/>
                </a:solidFill>
                <a:latin typeface="Inconsolata"/>
              </a:rPr>
              <a:t>(</a:t>
            </a:r>
            <a:r>
              <a:rPr sz="700" i="0">
                <a:solidFill>
                  <a:srgbClr val="A5D6A7"/>
                </a:solidFill>
                <a:latin typeface="Inconsolata"/>
              </a:rPr>
              <a:t>f"{label}: {total} event"</a:t>
            </a:r>
            <a:r>
              <a:rPr sz="700" i="0">
                <a:solidFill>
                  <a:srgbClr val="E6EDF3"/>
                </a:solidFill>
                <a:latin typeface="Inconsolata"/>
              </a:rPr>
              <a:t>)</a:t>
            </a:r>
          </a:p>
          <a:p>
            <a:pPr>
              <a:lnSpc>
                <a:spcPct val="107095"/>
              </a:lnSpc>
              <a:spcAft>
                <a:spcPts val="0"/>
              </a:spcAft>
            </a:pPr>
            <a:r>
              <a:rPr sz="700" i="0">
                <a:solidFill>
                  <a:srgbClr val="5C6773"/>
                </a:solidFill>
                <a:latin typeface="Inconsolata"/>
              </a:rPr>
              <a:t>79  </a:t>
            </a:r>
            <a:r>
              <a:rPr sz="700" i="0">
                <a:solidFill>
                  <a:srgbClr val="E6EDF3"/>
                </a:solidFill>
                <a:latin typeface="Inconsolata"/>
              </a:rPr>
              <a:t>    </a:t>
            </a:r>
            <a:r>
              <a:rPr sz="700" i="0">
                <a:solidFill>
                  <a:srgbClr val="FF8E6E"/>
                </a:solidFill>
                <a:latin typeface="Inconsolata"/>
              </a:rPr>
              <a:t>for</a:t>
            </a:r>
            <a:r>
              <a:rPr sz="700" i="0">
                <a:solidFill>
                  <a:srgbClr val="E6EDF3"/>
                </a:solidFill>
                <a:latin typeface="Inconsolata"/>
              </a:rPr>
              <a:t> partition, rows </a:t>
            </a:r>
            <a:r>
              <a:rPr sz="700" i="0">
                <a:solidFill>
                  <a:srgbClr val="FF8E6E"/>
                </a:solidFill>
                <a:latin typeface="Inconsolata"/>
              </a:rPr>
              <a:t>in</a:t>
            </a:r>
            <a:r>
              <a:rPr sz="700" i="0">
                <a:solidFill>
                  <a:srgbClr val="E6EDF3"/>
                </a:solidFill>
                <a:latin typeface="Inconsolata"/>
              </a:rPr>
              <a:t> sorted(received.items()):</a:t>
            </a:r>
          </a:p>
          <a:p>
            <a:pPr>
              <a:lnSpc>
                <a:spcPct val="107095"/>
              </a:lnSpc>
              <a:spcAft>
                <a:spcPts val="0"/>
              </a:spcAft>
            </a:pPr>
            <a:r>
              <a:rPr sz="700" i="0">
                <a:solidFill>
                  <a:srgbClr val="5C6773"/>
                </a:solidFill>
                <a:latin typeface="Inconsolata"/>
              </a:rPr>
              <a:t>80  </a:t>
            </a:r>
            <a:r>
              <a:rPr sz="700" i="0">
                <a:solidFill>
                  <a:srgbClr val="E6EDF3"/>
                </a:solidFill>
                <a:latin typeface="Inconsolata"/>
              </a:rPr>
              <a:t>        offsets = </a:t>
            </a:r>
            <a:r>
              <a:rPr sz="700" i="0">
                <a:solidFill>
                  <a:srgbClr val="A5D6A7"/>
                </a:solidFill>
                <a:latin typeface="Inconsolata"/>
              </a:rPr>
              <a:t>","</a:t>
            </a:r>
            <a:r>
              <a:rPr sz="700" i="0">
                <a:solidFill>
                  <a:srgbClr val="E6EDF3"/>
                </a:solidFill>
                <a:latin typeface="Inconsolata"/>
              </a:rPr>
              <a:t>.join(</a:t>
            </a:r>
            <a:r>
              <a:rPr sz="700" i="0">
                <a:solidFill>
                  <a:srgbClr val="C3A6FF"/>
                </a:solidFill>
                <a:latin typeface="Inconsolata"/>
              </a:rPr>
              <a:t>str</a:t>
            </a:r>
            <a:r>
              <a:rPr sz="700" i="0">
                <a:solidFill>
                  <a:srgbClr val="E6EDF3"/>
                </a:solidFill>
                <a:latin typeface="Inconsolata"/>
              </a:rPr>
              <a:t>(offset) </a:t>
            </a:r>
            <a:r>
              <a:rPr sz="700" i="0">
                <a:solidFill>
                  <a:srgbClr val="FF8E6E"/>
                </a:solidFill>
                <a:latin typeface="Inconsolata"/>
              </a:rPr>
              <a:t>for</a:t>
            </a:r>
            <a:r>
              <a:rPr sz="700" i="0">
                <a:solidFill>
                  <a:srgbClr val="E6EDF3"/>
                </a:solidFill>
                <a:latin typeface="Inconsolata"/>
              </a:rPr>
              <a:t> offset, _ </a:t>
            </a:r>
            <a:r>
              <a:rPr sz="700" i="0">
                <a:solidFill>
                  <a:srgbClr val="FF8E6E"/>
                </a:solidFill>
                <a:latin typeface="Inconsolata"/>
              </a:rPr>
              <a:t>in</a:t>
            </a:r>
            <a:r>
              <a:rPr sz="700" i="0">
                <a:solidFill>
                  <a:srgbClr val="E6EDF3"/>
                </a:solidFill>
                <a:latin typeface="Inconsolata"/>
              </a:rPr>
              <a:t> rows)</a:t>
            </a:r>
          </a:p>
          <a:p>
            <a:pPr>
              <a:lnSpc>
                <a:spcPct val="107095"/>
              </a:lnSpc>
              <a:spcAft>
                <a:spcPts val="0"/>
              </a:spcAft>
            </a:pPr>
            <a:r>
              <a:rPr sz="700" i="0">
                <a:solidFill>
                  <a:srgbClr val="5C6773"/>
                </a:solidFill>
                <a:latin typeface="Inconsolata"/>
              </a:rPr>
              <a:t>81  </a:t>
            </a:r>
            <a:r>
              <a:rPr sz="700" i="0">
                <a:solidFill>
                  <a:srgbClr val="E6EDF3"/>
                </a:solidFill>
                <a:latin typeface="Inconsolata"/>
              </a:rPr>
              <a:t>        orders = </a:t>
            </a:r>
            <a:r>
              <a:rPr sz="700" i="0">
                <a:solidFill>
                  <a:srgbClr val="A5D6A7"/>
                </a:solidFill>
                <a:latin typeface="Inconsolata"/>
              </a:rPr>
              <a:t>", "</a:t>
            </a:r>
            <a:r>
              <a:rPr sz="700" i="0">
                <a:solidFill>
                  <a:srgbClr val="E6EDF3"/>
                </a:solidFill>
                <a:latin typeface="Inconsolata"/>
              </a:rPr>
              <a:t>.join(order </a:t>
            </a:r>
            <a:r>
              <a:rPr sz="700" i="0">
                <a:solidFill>
                  <a:srgbClr val="FF8E6E"/>
                </a:solidFill>
                <a:latin typeface="Inconsolata"/>
              </a:rPr>
              <a:t>for</a:t>
            </a:r>
            <a:r>
              <a:rPr sz="700" i="0">
                <a:solidFill>
                  <a:srgbClr val="E6EDF3"/>
                </a:solidFill>
                <a:latin typeface="Inconsolata"/>
              </a:rPr>
              <a:t> _, order </a:t>
            </a:r>
            <a:r>
              <a:rPr sz="700" i="0">
                <a:solidFill>
                  <a:srgbClr val="FF8E6E"/>
                </a:solidFill>
                <a:latin typeface="Inconsolata"/>
              </a:rPr>
              <a:t>in</a:t>
            </a:r>
            <a:r>
              <a:rPr sz="700" i="0">
                <a:solidFill>
                  <a:srgbClr val="E6EDF3"/>
                </a:solidFill>
                <a:latin typeface="Inconsolata"/>
              </a:rPr>
              <a:t> rows)</a:t>
            </a:r>
          </a:p>
          <a:p>
            <a:pPr>
              <a:lnSpc>
                <a:spcPct val="107095"/>
              </a:lnSpc>
              <a:spcAft>
                <a:spcPts val="0"/>
              </a:spcAft>
            </a:pPr>
            <a:r>
              <a:rPr sz="700" i="0">
                <a:solidFill>
                  <a:srgbClr val="5C6773"/>
                </a:solidFill>
                <a:latin typeface="Inconsolata"/>
              </a:rPr>
              <a:t>82  </a:t>
            </a:r>
            <a:r>
              <a:rPr sz="700" i="0">
                <a:solidFill>
                  <a:srgbClr val="E6EDF3"/>
                </a:solidFill>
                <a:latin typeface="Inconsolata"/>
              </a:rPr>
              <a:t>        </a:t>
            </a:r>
            <a:r>
              <a:rPr sz="700" i="0">
                <a:solidFill>
                  <a:srgbClr val="C3A6FF"/>
                </a:solidFill>
                <a:latin typeface="Inconsolata"/>
              </a:rPr>
              <a:t>print</a:t>
            </a:r>
            <a:r>
              <a:rPr sz="700" i="0">
                <a:solidFill>
                  <a:srgbClr val="E6EDF3"/>
                </a:solidFill>
                <a:latin typeface="Inconsolata"/>
              </a:rPr>
              <a:t>(</a:t>
            </a:r>
            <a:r>
              <a:rPr sz="700" i="0">
                <a:solidFill>
                  <a:srgbClr val="A5D6A7"/>
                </a:solidFill>
                <a:latin typeface="Inconsolata"/>
              </a:rPr>
              <a:t>f"  partition {partition}, offset {offsets}: {orders}"</a:t>
            </a:r>
            <a:r>
              <a:rPr sz="700" i="0">
                <a:solidFill>
                  <a:srgbClr val="E6EDF3"/>
                </a:solidFill>
                <a:latin typeface="Inconsolata"/>
              </a:rPr>
              <a:t>)</a:t>
            </a:r>
          </a:p>
          <a:p>
            <a:pPr>
              <a:lnSpc>
                <a:spcPct val="107095"/>
              </a:lnSpc>
              <a:spcAft>
                <a:spcPts val="0"/>
              </a:spcAft>
            </a:pPr>
            <a:r>
              <a:rPr sz="700" i="0">
                <a:solidFill>
                  <a:srgbClr val="5C6773"/>
                </a:solidFill>
                <a:latin typeface="Inconsolata"/>
              </a:rPr>
              <a:t>83  </a:t>
            </a:r>
            <a:r>
              <a:rPr sz="700" i="0">
                <a:solidFill>
                  <a:srgbClr val="E6EDF3"/>
                </a:solidFill>
                <a:latin typeface="Inconsolata"/>
              </a:rPr>
              <a:t> </a:t>
            </a:r>
          </a:p>
          <a:p>
            <a:pPr>
              <a:lnSpc>
                <a:spcPct val="107095"/>
              </a:lnSpc>
              <a:spcAft>
                <a:spcPts val="0"/>
              </a:spcAft>
            </a:pPr>
            <a:r>
              <a:rPr sz="700" i="0">
                <a:solidFill>
                  <a:srgbClr val="5C6773"/>
                </a:solidFill>
                <a:latin typeface="Inconsolata"/>
              </a:rPr>
              <a:t>84  </a:t>
            </a:r>
            <a:r>
              <a:rPr sz="700" i="0">
                <a:solidFill>
                  <a:srgbClr val="E6EDF3"/>
                </a:solidFill>
                <a:latin typeface="Inconsolata"/>
              </a:rPr>
              <a:t> </a:t>
            </a:r>
          </a:p>
          <a:p>
            <a:pPr>
              <a:lnSpc>
                <a:spcPct val="107095"/>
              </a:lnSpc>
              <a:spcAft>
                <a:spcPts val="0"/>
              </a:spcAft>
            </a:pPr>
            <a:r>
              <a:rPr sz="700" i="0">
                <a:solidFill>
                  <a:srgbClr val="5C6773"/>
                </a:solidFill>
                <a:latin typeface="Inconsolata"/>
              </a:rPr>
              <a:t>85  </a:t>
            </a:r>
            <a:r>
              <a:rPr sz="700" i="0">
                <a:solidFill>
                  <a:srgbClr val="FF8E6E"/>
                </a:solidFill>
                <a:latin typeface="Inconsolata"/>
              </a:rPr>
              <a:t>if</a:t>
            </a:r>
            <a:r>
              <a:rPr sz="700" i="0">
                <a:solidFill>
                  <a:srgbClr val="E6EDF3"/>
                </a:solidFill>
                <a:latin typeface="Inconsolata"/>
              </a:rPr>
              <a:t> __name__ == </a:t>
            </a:r>
            <a:r>
              <a:rPr sz="700" i="0">
                <a:solidFill>
                  <a:srgbClr val="A5D6A7"/>
                </a:solidFill>
                <a:latin typeface="Inconsolata"/>
              </a:rPr>
              <a:t>"__main__"</a:t>
            </a:r>
            <a:r>
              <a:rPr sz="700" i="0">
                <a:solidFill>
                  <a:srgbClr val="E6EDF3"/>
                </a:solidFill>
                <a:latin typeface="Inconsolata"/>
              </a:rPr>
              <a:t>:</a:t>
            </a:r>
          </a:p>
          <a:p>
            <a:pPr>
              <a:lnSpc>
                <a:spcPct val="107095"/>
              </a:lnSpc>
              <a:spcAft>
                <a:spcPts val="0"/>
              </a:spcAft>
            </a:pPr>
            <a:r>
              <a:rPr sz="700" i="0">
                <a:solidFill>
                  <a:srgbClr val="5C6773"/>
                </a:solidFill>
                <a:latin typeface="Inconsolata"/>
              </a:rPr>
              <a:t>86  </a:t>
            </a:r>
            <a:r>
              <a:rPr sz="700" i="0">
                <a:solidFill>
                  <a:srgbClr val="E6EDF3"/>
                </a:solidFill>
                <a:latin typeface="Inconsolata"/>
              </a:rPr>
              <a:t>    create_topic()</a:t>
            </a:r>
          </a:p>
          <a:p>
            <a:pPr>
              <a:lnSpc>
                <a:spcPct val="107095"/>
              </a:lnSpc>
              <a:spcAft>
                <a:spcPts val="0"/>
              </a:spcAft>
            </a:pPr>
            <a:r>
              <a:rPr sz="700" i="0">
                <a:solidFill>
                  <a:srgbClr val="5C6773"/>
                </a:solidFill>
                <a:latin typeface="Inconsolata"/>
              </a:rPr>
              <a:t>87  </a:t>
            </a:r>
            <a:r>
              <a:rPr sz="700" i="0">
                <a:solidFill>
                  <a:srgbClr val="E6EDF3"/>
                </a:solidFill>
                <a:latin typeface="Inconsolata"/>
              </a:rPr>
              <a:t>    publish()</a:t>
            </a:r>
          </a:p>
          <a:p>
            <a:pPr>
              <a:lnSpc>
                <a:spcPct val="107095"/>
              </a:lnSpc>
              <a:spcAft>
                <a:spcPts val="0"/>
              </a:spcAft>
            </a:pPr>
            <a:r>
              <a:rPr sz="700" i="0">
                <a:solidFill>
                  <a:srgbClr val="5C6773"/>
                </a:solidFill>
                <a:latin typeface="Inconsolata"/>
              </a:rPr>
              <a:t>88  </a:t>
            </a:r>
            <a:r>
              <a:rPr sz="700" i="0">
                <a:solidFill>
                  <a:srgbClr val="E6EDF3"/>
                </a:solidFill>
                <a:latin typeface="Inconsolata"/>
              </a:rPr>
              <a:t>    show(</a:t>
            </a:r>
            <a:r>
              <a:rPr sz="700" i="0">
                <a:solidFill>
                  <a:srgbClr val="A5D6A7"/>
                </a:solidFill>
                <a:latin typeface="Inconsolata"/>
              </a:rPr>
              <a:t>"Consumer group email           "</a:t>
            </a:r>
            <a:r>
              <a:rPr sz="700" i="0">
                <a:solidFill>
                  <a:srgbClr val="E6EDF3"/>
                </a:solidFill>
                <a:latin typeface="Inconsolata"/>
              </a:rPr>
              <a:t>, consume(</a:t>
            </a:r>
            <a:r>
              <a:rPr sz="700" i="0">
                <a:solidFill>
                  <a:srgbClr val="A5D6A7"/>
                </a:solidFill>
                <a:latin typeface="Inconsolata"/>
              </a:rPr>
              <a:t>"email"</a:t>
            </a:r>
            <a:r>
              <a:rPr sz="700" i="0">
                <a:solidFill>
                  <a:srgbClr val="E6EDF3"/>
                </a:solidFill>
                <a:latin typeface="Inconsolata"/>
              </a:rPr>
              <a:t>))</a:t>
            </a:r>
          </a:p>
          <a:p>
            <a:pPr>
              <a:lnSpc>
                <a:spcPct val="107095"/>
              </a:lnSpc>
              <a:spcAft>
                <a:spcPts val="0"/>
              </a:spcAft>
            </a:pPr>
            <a:r>
              <a:rPr sz="700" i="0">
                <a:solidFill>
                  <a:srgbClr val="5C6773"/>
                </a:solidFill>
                <a:latin typeface="Inconsolata"/>
              </a:rPr>
              <a:t>89  </a:t>
            </a:r>
            <a:r>
              <a:rPr sz="700" i="0">
                <a:solidFill>
                  <a:srgbClr val="E6EDF3"/>
                </a:solidFill>
                <a:latin typeface="Inconsolata"/>
              </a:rPr>
              <a:t>    show(</a:t>
            </a:r>
            <a:r>
              <a:rPr sz="700" i="0">
                <a:solidFill>
                  <a:srgbClr val="A5D6A7"/>
                </a:solidFill>
                <a:latin typeface="Inconsolata"/>
              </a:rPr>
              <a:t>"Consumer group email baca ulang"</a:t>
            </a:r>
            <a:r>
              <a:rPr sz="700" i="0">
                <a:solidFill>
                  <a:srgbClr val="E6EDF3"/>
                </a:solidFill>
                <a:latin typeface="Inconsolata"/>
              </a:rPr>
              <a:t>, consume(</a:t>
            </a:r>
            <a:r>
              <a:rPr sz="700" i="0">
                <a:solidFill>
                  <a:srgbClr val="A5D6A7"/>
                </a:solidFill>
                <a:latin typeface="Inconsolata"/>
              </a:rPr>
              <a:t>"email"</a:t>
            </a:r>
            <a:r>
              <a:rPr sz="700" i="0">
                <a:solidFill>
                  <a:srgbClr val="E6EDF3"/>
                </a:solidFill>
                <a:latin typeface="Inconsolata"/>
              </a:rPr>
              <a:t>))</a:t>
            </a:r>
          </a:p>
          <a:p>
            <a:pPr>
              <a:lnSpc>
                <a:spcPct val="107095"/>
              </a:lnSpc>
              <a:spcAft>
                <a:spcPts val="0"/>
              </a:spcAft>
            </a:pPr>
            <a:r>
              <a:rPr sz="700" i="0">
                <a:solidFill>
                  <a:srgbClr val="5C6773"/>
                </a:solidFill>
                <a:latin typeface="Inconsolata"/>
              </a:rPr>
              <a:t>90  </a:t>
            </a:r>
            <a:r>
              <a:rPr sz="700" i="0">
                <a:solidFill>
                  <a:srgbClr val="E6EDF3"/>
                </a:solidFill>
                <a:latin typeface="Inconsolata"/>
              </a:rPr>
              <a:t>    show(</a:t>
            </a:r>
            <a:r>
              <a:rPr sz="700" i="0">
                <a:solidFill>
                  <a:srgbClr val="A5D6A7"/>
                </a:solidFill>
                <a:latin typeface="Inconsolata"/>
              </a:rPr>
              <a:t>"Consumer group analytics (baru)"</a:t>
            </a:r>
            <a:r>
              <a:rPr sz="700" i="0">
                <a:solidFill>
                  <a:srgbClr val="E6EDF3"/>
                </a:solidFill>
                <a:latin typeface="Inconsolata"/>
              </a:rPr>
              <a:t>, consume(</a:t>
            </a:r>
            <a:r>
              <a:rPr sz="700" i="0">
                <a:solidFill>
                  <a:srgbClr val="A5D6A7"/>
                </a:solidFill>
                <a:latin typeface="Inconsolata"/>
              </a:rPr>
              <a:t>"analytics"</a:t>
            </a:r>
            <a:r>
              <a:rPr sz="700" i="0">
                <a:solidFill>
                  <a:srgbClr val="E6EDF3"/>
                </a:solidFill>
                <a:latin typeface="Inconsolata"/>
              </a:rPr>
              <a:t>))</a:t>
            </a:r>
          </a:p>
        </p:txBody>
      </p:sp>
      <p:sp>
        <p:nvSpPr>
          <p:cNvPr id="36" name="Box 21"/>
          <p:cNvSpPr/>
          <p:nvPr/>
        </p:nvSpPr>
        <p:spPr>
          <a:xfrm>
            <a:off x="704088" y="2168271"/>
            <a:ext cx="3694176" cy="107442"/>
          </a:xfrm>
          <a:prstGeom prst="roundRect">
            <a:avLst>
              <a:gd name="adj" fmla="val 42553"/>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210312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8" name="Box 23"/>
          <p:cNvSpPr/>
          <p:nvPr/>
        </p:nvSpPr>
        <p:spPr>
          <a:xfrm>
            <a:off x="704088" y="3654171"/>
            <a:ext cx="3694176" cy="107442"/>
          </a:xfrm>
          <a:prstGeom prst="roundRect">
            <a:avLst>
              <a:gd name="adj" fmla="val 42553"/>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Kafka</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06-kafka-basics/after.py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621792"/>
          </a:xfrm>
          <a:prstGeom prst="roundRect">
            <a:avLst>
              <a:gd name="adj" fmla="val 2941"/>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621792"/>
          </a:xfrm>
          <a:prstGeom prst="rect">
            <a:avLst/>
          </a:prstGeom>
          <a:noFill/>
        </p:spPr>
        <p:txBody>
          <a:bodyPr wrap="none" lIns="146304" tIns="91440" rIns="146304" bIns="54864">
            <a:spAutoFit/>
          </a:bodyPr>
          <a:lstStyle/>
          <a:p>
            <a:pPr>
              <a:lnSpc>
                <a:spcPct val="107843"/>
              </a:lnSpc>
              <a:spcAft>
                <a:spcPts val="0"/>
              </a:spcAft>
            </a:pPr>
            <a:r>
              <a:rPr sz="850" i="0">
                <a:solidFill>
                  <a:srgbClr val="82B1FF"/>
                </a:solidFill>
                <a:latin typeface="Inconsolata"/>
              </a:rPr>
              <a:t>$ cd sesi-08-event-driven-rabbitmq-kafka/06-kafka-basics</a:t>
            </a:r>
          </a:p>
          <a:p>
            <a:pPr>
              <a:lnSpc>
                <a:spcPct val="107843"/>
              </a:lnSpc>
              <a:spcAft>
                <a:spcPts val="0"/>
              </a:spcAft>
            </a:pPr>
            <a:r>
              <a:rPr sz="850" i="0">
                <a:solidFill>
                  <a:srgbClr val="82B1FF"/>
                </a:solidFill>
                <a:latin typeface="Inconsolata"/>
              </a:rPr>
              <a:t>$ docker compose -f ../docker-compose.yml up -d kafka</a:t>
            </a:r>
          </a:p>
          <a:p>
            <a:pPr>
              <a:lnSpc>
                <a:spcPct val="107843"/>
              </a:lnSpc>
              <a:spcAft>
                <a:spcPts val="0"/>
              </a:spcAft>
            </a:pPr>
            <a:r>
              <a:rPr sz="850" i="0">
                <a:solidFill>
                  <a:srgbClr val="82B1FF"/>
                </a:solidFill>
                <a:latin typeface="Inconsolata"/>
              </a:rPr>
              <a:t>$ python after.py</a:t>
            </a:r>
          </a:p>
        </p:txBody>
      </p:sp>
      <p:pic>
        <p:nvPicPr>
          <p:cNvPr id="29" name="Image 12" descr="s08-06-kafka-basics-after.png"/>
          <p:cNvPicPr>
            <a:picLocks noChangeAspect="1"/>
          </p:cNvPicPr>
          <p:nvPr/>
        </p:nvPicPr>
        <p:blipFill>
          <a:blip r:embed="rId2"/>
          <a:stretch>
            <a:fillRect/>
          </a:stretch>
        </p:blipFill>
        <p:spPr>
          <a:xfrm>
            <a:off x="621792" y="2459736"/>
            <a:ext cx="4297680" cy="1475914"/>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Topic </a:t>
            </a:r>
            <a:r>
              <a:rPr sz="950" b="0" i="0">
                <a:solidFill>
                  <a:srgbClr val="B5482A"/>
                </a:solidFill>
                <a:latin typeface="Inconsolata"/>
              </a:rPr>
              <a:t>orders</a:t>
            </a:r>
            <a:r>
              <a:rPr sz="950" b="0" i="0">
                <a:solidFill>
                  <a:srgbClr val="434343"/>
                </a:solidFill>
                <a:latin typeface="Inter"/>
              </a:rPr>
              <a:t> dengan 3 partition (baris 38)</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Key = customer, jadi order customer yang sama selalu di partition yang sama (baris 50)</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Group baru mulai dari awal, offset dicatat setelah dibaca (baris 58, 71)</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Group email baca ulang: 0 event. Group analytics baru: 6 event.</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RabbitMQ vs Kafka</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Perbedaan RabbitMQ dan Kafka</a:t>
            </a:r>
          </a:p>
        </p:txBody>
      </p:sp>
      <p:graphicFrame>
        <p:nvGraphicFramePr>
          <p:cNvPr id="22" name="Table 3"/>
          <p:cNvGraphicFramePr>
            <a:graphicFrameLocks noGrp="1"/>
          </p:cNvGraphicFramePr>
          <p:nvPr/>
        </p:nvGraphicFramePr>
        <p:xfrm>
          <a:off x="621792" y="1481328"/>
          <a:ext cx="7863840" cy="3072384"/>
        </p:xfrm>
        <a:graphic>
          <a:graphicData uri="http://schemas.openxmlformats.org/drawingml/2006/table">
            <a:tbl>
              <a:tblPr firstRow="1" bandRow="1"/>
              <a:tblGrid>
                <a:gridCol w="155448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gridCol w="3154680">
                  <a:extLst>
                    <a:ext uri="{9D8B030D-6E8A-4147-A177-3AD203B41FA5}">
                      <a16:colId xmlns:a16="http://schemas.microsoft.com/office/drawing/2014/main" val="20002"/>
                    </a:ext>
                  </a:extLst>
                </a:gridCol>
              </a:tblGrid>
              <a:tr h="384048">
                <a:tc>
                  <a:txBody>
                    <a:bodyPr/>
                    <a:lstStyle/>
                    <a:p>
                      <a:pPr algn="l">
                        <a:lnSpc>
                          <a:spcPct val="100000"/>
                        </a:lnSpc>
                        <a:spcAft>
                          <a:spcPts val="0"/>
                        </a:spcAft>
                      </a:pPr>
                      <a:endParaRPr/>
                    </a:p>
                  </a:txBody>
                  <a:tcPr marL="73152" marR="73152" marT="36576" marB="36576" anchor="ctr">
                    <a:solidFill>
                      <a:srgbClr val="1C4587"/>
                    </a:solidFill>
                  </a:tcPr>
                </a:tc>
                <a:tc>
                  <a:txBody>
                    <a:bodyPr/>
                    <a:lstStyle/>
                    <a:p>
                      <a:pPr algn="l">
                        <a:lnSpc>
                          <a:spcPct val="100000"/>
                        </a:lnSpc>
                        <a:spcAft>
                          <a:spcPts val="0"/>
                        </a:spcAft>
                      </a:pPr>
                      <a:r>
                        <a:rPr sz="900" b="1" i="0">
                          <a:solidFill>
                            <a:srgbClr val="FFFFFF"/>
                          </a:solidFill>
                          <a:latin typeface="Inter"/>
                        </a:rPr>
                        <a:t>RabbitMQ</a:t>
                      </a:r>
                    </a:p>
                  </a:txBody>
                  <a:tcPr marL="73152" marR="73152" marT="36576" marB="36576" anchor="ctr">
                    <a:solidFill>
                      <a:srgbClr val="1C4587"/>
                    </a:solidFill>
                  </a:tcPr>
                </a:tc>
                <a:tc>
                  <a:txBody>
                    <a:bodyPr/>
                    <a:lstStyle/>
                    <a:p>
                      <a:pPr algn="l">
                        <a:lnSpc>
                          <a:spcPct val="100000"/>
                        </a:lnSpc>
                        <a:spcAft>
                          <a:spcPts val="0"/>
                        </a:spcAft>
                      </a:pPr>
                      <a:r>
                        <a:rPr sz="900" b="1" i="0">
                          <a:solidFill>
                            <a:srgbClr val="FFFFFF"/>
                          </a:solidFill>
                          <a:latin typeface="Inter"/>
                        </a:rPr>
                        <a:t>Kafka</a:t>
                      </a:r>
                    </a:p>
                  </a:txBody>
                  <a:tcPr marL="73152" marR="73152" marT="36576" marB="36576" anchor="ctr">
                    <a:solidFill>
                      <a:srgbClr val="1C4587"/>
                    </a:solidFill>
                  </a:tcPr>
                </a:tc>
                <a:extLst>
                  <a:ext uri="{0D108BD9-81ED-4DB2-BD59-A6C34878D82A}">
                    <a16:rowId xmlns:a16="http://schemas.microsoft.com/office/drawing/2014/main" val="10000"/>
                  </a:ext>
                </a:extLst>
              </a:tr>
              <a:tr h="384048">
                <a:tc>
                  <a:txBody>
                    <a:bodyPr/>
                    <a:lstStyle/>
                    <a:p>
                      <a:pPr algn="l">
                        <a:lnSpc>
                          <a:spcPct val="100000"/>
                        </a:lnSpc>
                        <a:spcAft>
                          <a:spcPts val="0"/>
                        </a:spcAft>
                      </a:pPr>
                      <a:r>
                        <a:rPr sz="900" b="1" i="0">
                          <a:solidFill>
                            <a:srgbClr val="1C4587"/>
                          </a:solidFill>
                          <a:latin typeface="Inter"/>
                        </a:rPr>
                        <a:t>Model</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Message queue: daftar job yang dikerjakan</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Event streaming: log event yang disimpan</a:t>
                      </a:r>
                    </a:p>
                  </a:txBody>
                  <a:tcPr marL="73152" marR="73152" marT="36576" marB="36576" anchor="ctr">
                    <a:solidFill>
                      <a:srgbClr val="FFFFFF"/>
                    </a:solidFill>
                  </a:tcPr>
                </a:tc>
                <a:extLst>
                  <a:ext uri="{0D108BD9-81ED-4DB2-BD59-A6C34878D82A}">
                    <a16:rowId xmlns:a16="http://schemas.microsoft.com/office/drawing/2014/main" val="10001"/>
                  </a:ext>
                </a:extLst>
              </a:tr>
              <a:tr h="384048">
                <a:tc>
                  <a:txBody>
                    <a:bodyPr/>
                    <a:lstStyle/>
                    <a:p>
                      <a:pPr algn="l">
                        <a:lnSpc>
                          <a:spcPct val="100000"/>
                        </a:lnSpc>
                        <a:spcAft>
                          <a:spcPts val="0"/>
                        </a:spcAft>
                      </a:pPr>
                      <a:r>
                        <a:rPr sz="900" b="1" i="0">
                          <a:solidFill>
                            <a:srgbClr val="1C4587"/>
                          </a:solidFill>
                          <a:latin typeface="Inter"/>
                        </a:rPr>
                        <a:t>Setelah dibaca</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Dihapus setelah ack</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Tetap ada sampai retention habis</a:t>
                      </a:r>
                    </a:p>
                  </a:txBody>
                  <a:tcPr marL="73152" marR="73152" marT="36576" marB="36576" anchor="ctr">
                    <a:solidFill>
                      <a:srgbClr val="F3F4F6"/>
                    </a:solidFill>
                  </a:tcPr>
                </a:tc>
                <a:extLst>
                  <a:ext uri="{0D108BD9-81ED-4DB2-BD59-A6C34878D82A}">
                    <a16:rowId xmlns:a16="http://schemas.microsoft.com/office/drawing/2014/main" val="10002"/>
                  </a:ext>
                </a:extLst>
              </a:tr>
              <a:tr h="384048">
                <a:tc>
                  <a:txBody>
                    <a:bodyPr/>
                    <a:lstStyle/>
                    <a:p>
                      <a:pPr algn="l">
                        <a:lnSpc>
                          <a:spcPct val="100000"/>
                        </a:lnSpc>
                        <a:spcAft>
                          <a:spcPts val="0"/>
                        </a:spcAft>
                      </a:pPr>
                      <a:r>
                        <a:rPr sz="900" b="1" i="0">
                          <a:solidFill>
                            <a:srgbClr val="1C4587"/>
                          </a:solidFill>
                          <a:latin typeface="Inter"/>
                        </a:rPr>
                        <a:t>Routing</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Fleksibel: exchange, binding, routing key</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Per topic, consumer memilih topic</a:t>
                      </a:r>
                    </a:p>
                  </a:txBody>
                  <a:tcPr marL="73152" marR="73152" marT="36576" marB="36576" anchor="ctr">
                    <a:solidFill>
                      <a:srgbClr val="FFFFFF"/>
                    </a:solidFill>
                  </a:tcPr>
                </a:tc>
                <a:extLst>
                  <a:ext uri="{0D108BD9-81ED-4DB2-BD59-A6C34878D82A}">
                    <a16:rowId xmlns:a16="http://schemas.microsoft.com/office/drawing/2014/main" val="10003"/>
                  </a:ext>
                </a:extLst>
              </a:tr>
              <a:tr h="384048">
                <a:tc>
                  <a:txBody>
                    <a:bodyPr/>
                    <a:lstStyle/>
                    <a:p>
                      <a:pPr algn="l">
                        <a:lnSpc>
                          <a:spcPct val="100000"/>
                        </a:lnSpc>
                        <a:spcAft>
                          <a:spcPts val="0"/>
                        </a:spcAft>
                      </a:pPr>
                      <a:r>
                        <a:rPr sz="900" b="1" i="0">
                          <a:solidFill>
                            <a:srgbClr val="1C4587"/>
                          </a:solidFill>
                          <a:latin typeface="Inter"/>
                        </a:rPr>
                        <a:t>Urutan</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Per queue</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Per partition (key sama = urut)</a:t>
                      </a:r>
                    </a:p>
                  </a:txBody>
                  <a:tcPr marL="73152" marR="73152" marT="36576" marB="36576" anchor="ctr">
                    <a:solidFill>
                      <a:srgbClr val="F3F4F6"/>
                    </a:solidFill>
                  </a:tcPr>
                </a:tc>
                <a:extLst>
                  <a:ext uri="{0D108BD9-81ED-4DB2-BD59-A6C34878D82A}">
                    <a16:rowId xmlns:a16="http://schemas.microsoft.com/office/drawing/2014/main" val="10004"/>
                  </a:ext>
                </a:extLst>
              </a:tr>
              <a:tr h="384048">
                <a:tc>
                  <a:txBody>
                    <a:bodyPr/>
                    <a:lstStyle/>
                    <a:p>
                      <a:pPr algn="l">
                        <a:lnSpc>
                          <a:spcPct val="100000"/>
                        </a:lnSpc>
                        <a:spcAft>
                          <a:spcPts val="0"/>
                        </a:spcAft>
                      </a:pPr>
                      <a:r>
                        <a:rPr sz="900" b="1" i="0">
                          <a:solidFill>
                            <a:srgbClr val="1C4587"/>
                          </a:solidFill>
                          <a:latin typeface="Inter"/>
                        </a:rPr>
                        <a:t>Baca ulang</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Tidak bisa</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Bisa: consumer group baru atau geser offset</a:t>
                      </a:r>
                    </a:p>
                  </a:txBody>
                  <a:tcPr marL="73152" marR="73152" marT="36576" marB="36576" anchor="ctr">
                    <a:solidFill>
                      <a:srgbClr val="FFFFFF"/>
                    </a:solidFill>
                  </a:tcPr>
                </a:tc>
                <a:extLst>
                  <a:ext uri="{0D108BD9-81ED-4DB2-BD59-A6C34878D82A}">
                    <a16:rowId xmlns:a16="http://schemas.microsoft.com/office/drawing/2014/main" val="10005"/>
                  </a:ext>
                </a:extLst>
              </a:tr>
              <a:tr h="384048">
                <a:tc>
                  <a:txBody>
                    <a:bodyPr/>
                    <a:lstStyle/>
                    <a:p>
                      <a:pPr algn="l">
                        <a:lnSpc>
                          <a:spcPct val="100000"/>
                        </a:lnSpc>
                        <a:spcAft>
                          <a:spcPts val="0"/>
                        </a:spcAft>
                      </a:pPr>
                      <a:r>
                        <a:rPr sz="900" b="1" i="0">
                          <a:solidFill>
                            <a:srgbClr val="1C4587"/>
                          </a:solidFill>
                          <a:latin typeface="Inter"/>
                        </a:rPr>
                        <a:t>Retry dan DLQ</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Bawaan (nack, dead letter exchange)</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Dibuat sendiri (topic retry atau DLQ)</a:t>
                      </a:r>
                    </a:p>
                  </a:txBody>
                  <a:tcPr marL="73152" marR="73152" marT="36576" marB="36576" anchor="ctr">
                    <a:solidFill>
                      <a:srgbClr val="F3F4F6"/>
                    </a:solidFill>
                  </a:tcPr>
                </a:tc>
                <a:extLst>
                  <a:ext uri="{0D108BD9-81ED-4DB2-BD59-A6C34878D82A}">
                    <a16:rowId xmlns:a16="http://schemas.microsoft.com/office/drawing/2014/main" val="10006"/>
                  </a:ext>
                </a:extLst>
              </a:tr>
              <a:tr h="384048">
                <a:tc>
                  <a:txBody>
                    <a:bodyPr/>
                    <a:lstStyle/>
                    <a:p>
                      <a:pPr algn="l">
                        <a:lnSpc>
                          <a:spcPct val="100000"/>
                        </a:lnSpc>
                        <a:spcAft>
                          <a:spcPts val="0"/>
                        </a:spcAft>
                      </a:pPr>
                      <a:r>
                        <a:rPr sz="900" b="1" i="0">
                          <a:solidFill>
                            <a:srgbClr val="1C4587"/>
                          </a:solidFill>
                          <a:latin typeface="Inter"/>
                        </a:rPr>
                        <a:t>Cocok untuk</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Notifikasi, job, workflow antar service</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Event bervolume besar, analytics, banyak consumer</a:t>
                      </a:r>
                    </a:p>
                  </a:txBody>
                  <a:tcPr marL="73152" marR="73152" marT="36576" marB="36576" anchor="ctr">
                    <a:solidFill>
                      <a:srgbClr val="FFFFFF"/>
                    </a:solidFill>
                  </a:tcPr>
                </a:tc>
                <a:extLst>
                  <a:ext uri="{0D108BD9-81ED-4DB2-BD59-A6C34878D82A}">
                    <a16:rowId xmlns:a16="http://schemas.microsoft.com/office/drawing/2014/main" val="10007"/>
                  </a:ext>
                </a:extLst>
              </a:tr>
            </a:tbl>
          </a:graphicData>
        </a:graphic>
      </p:graphicFrame>
      <p:sp>
        <p:nvSpPr>
          <p:cNvPr id="23" name="Text 4"/>
          <p:cNvSpPr txBox="1"/>
          <p:nvPr/>
        </p:nvSpPr>
        <p:spPr>
          <a:xfrm>
            <a:off x="621792" y="4572000"/>
            <a:ext cx="7863840" cy="274320"/>
          </a:xfrm>
          <a:prstGeom prst="rect">
            <a:avLst/>
          </a:prstGeom>
          <a:noFill/>
        </p:spPr>
        <p:txBody>
          <a:bodyPr wrap="square" lIns="45720" rIns="45720" anchor="t">
            <a:spAutoFit/>
          </a:bodyPr>
          <a:lstStyle/>
          <a:p>
            <a:pPr algn="l">
              <a:lnSpc>
                <a:spcPct val="115000"/>
              </a:lnSpc>
              <a:spcAft>
                <a:spcPts val="400"/>
              </a:spcAft>
            </a:pPr>
            <a:r>
              <a:rPr sz="950" b="0" i="0">
                <a:solidFill>
                  <a:srgbClr val="1C4587"/>
                </a:solidFill>
                <a:latin typeface="Inter"/>
              </a:rPr>
              <a:t>Di hands-on kita memakai RabbitMQ, karena notifikasi butuh retry dan DLQ.</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56</a:t>
            </a:fld>
            <a:endParaRPr/>
          </a:p>
        </p:txBody>
      </p:sp>
      <p:sp>
        <p:nvSpPr>
          <p:cNvPr id="31" name="Text 1"/>
          <p:cNvSpPr txBox="1"/>
          <p:nvPr/>
        </p:nvSpPr>
        <p:spPr>
          <a:xfrm>
            <a:off x="822960" y="1600200"/>
            <a:ext cx="7315200" cy="365760"/>
          </a:xfrm>
          <a:prstGeom prst="rect">
            <a:avLst/>
          </a:prstGeom>
          <a:noFill/>
        </p:spPr>
        <p:txBody>
          <a:bodyPr wrap="square" lIns="45720" rIns="45720" anchor="t">
            <a:spAutoFit/>
          </a:bodyPr>
          <a:lstStyle/>
          <a:p>
            <a:pPr algn="l">
              <a:lnSpc>
                <a:spcPct val="115000"/>
              </a:lnSpc>
              <a:spcAft>
                <a:spcPts val="400"/>
              </a:spcAft>
            </a:pPr>
            <a:r>
              <a:rPr sz="1400" b="0" i="0">
                <a:solidFill>
                  <a:srgbClr val="CFE0FA"/>
                </a:solidFill>
                <a:latin typeface="Inter"/>
              </a:rPr>
              <a:t>Bagian 04</a:t>
            </a:r>
          </a:p>
        </p:txBody>
      </p:sp>
      <p:sp>
        <p:nvSpPr>
          <p:cNvPr id="32" name="Text 2"/>
          <p:cNvSpPr txBox="1"/>
          <p:nvPr/>
        </p:nvSpPr>
        <p:spPr>
          <a:xfrm>
            <a:off x="822960" y="1920240"/>
            <a:ext cx="7315200" cy="822960"/>
          </a:xfrm>
          <a:prstGeom prst="rect">
            <a:avLst/>
          </a:prstGeom>
          <a:noFill/>
        </p:spPr>
        <p:txBody>
          <a:bodyPr wrap="square" lIns="45720" rIns="45720" anchor="t">
            <a:spAutoFit/>
          </a:bodyPr>
          <a:lstStyle/>
          <a:p>
            <a:pPr algn="l">
              <a:lnSpc>
                <a:spcPct val="115000"/>
              </a:lnSpc>
              <a:spcAft>
                <a:spcPts val="400"/>
              </a:spcAft>
            </a:pPr>
            <a:r>
              <a:rPr sz="3000" b="0" i="0">
                <a:solidFill>
                  <a:srgbClr val="FFFFFF"/>
                </a:solidFill>
                <a:latin typeface="Work Sans ExtraBold"/>
              </a:rPr>
              <a:t>Hands-on: Event Order dengan RabbitMQ</a:t>
            </a:r>
          </a:p>
        </p:txBody>
      </p:sp>
      <p:sp>
        <p:nvSpPr>
          <p:cNvPr id="33" name="Text 3"/>
          <p:cNvSpPr txBox="1"/>
          <p:nvPr/>
        </p:nvSpPr>
        <p:spPr>
          <a:xfrm>
            <a:off x="822960" y="3246120"/>
            <a:ext cx="6583680" cy="731520"/>
          </a:xfrm>
          <a:prstGeom prst="rect">
            <a:avLst/>
          </a:prstGeom>
          <a:noFill/>
        </p:spPr>
        <p:txBody>
          <a:bodyPr wrap="square" lIns="45720" rIns="45720" anchor="t">
            <a:spAutoFit/>
          </a:bodyPr>
          <a:lstStyle/>
          <a:p>
            <a:pPr algn="l">
              <a:lnSpc>
                <a:spcPct val="115000"/>
              </a:lnSpc>
              <a:spcAft>
                <a:spcPts val="400"/>
              </a:spcAft>
            </a:pPr>
            <a:r>
              <a:rPr sz="1200" b="0" i="0">
                <a:solidFill>
                  <a:srgbClr val="E3ECFA"/>
                </a:solidFill>
                <a:latin typeface="Inter"/>
              </a:rPr>
              <a:t>Dikerjakan bersama mentor, langkah demi langkah. Notifikasi pindah ke consumer.</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Kondisi Awal</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Hasil Sesi 7: OrderService Menyuruh Kirim Notifikasi</a:t>
            </a:r>
          </a:p>
        </p:txBody>
      </p:sp>
      <p:sp>
        <p:nvSpPr>
          <p:cNvPr id="22" name="CodeTab 4"/>
          <p:cNvSpPr/>
          <p:nvPr/>
        </p:nvSpPr>
        <p:spPr>
          <a:xfrm>
            <a:off x="621792" y="1481328"/>
            <a:ext cx="51206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4805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07-event-driven-orders/before/app</a:t>
            </a:r>
          </a:p>
        </p:txBody>
      </p:sp>
      <p:sp>
        <p:nvSpPr>
          <p:cNvPr id="27" name="CodeBg 10"/>
          <p:cNvSpPr/>
          <p:nvPr/>
        </p:nvSpPr>
        <p:spPr>
          <a:xfrm>
            <a:off x="621792" y="1719072"/>
            <a:ext cx="51206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120640" cy="2980944"/>
          </a:xfrm>
          <a:prstGeom prst="rect">
            <a:avLst/>
          </a:prstGeom>
          <a:noFill/>
        </p:spPr>
        <p:txBody>
          <a:bodyPr wrap="none" lIns="146304" tIns="91440" rIns="146304" bIns="54864">
            <a:spAutoFit/>
          </a:bodyPr>
          <a:lstStyle/>
          <a:p>
            <a:pPr>
              <a:lnSpc>
                <a:spcPct val="103448"/>
              </a:lnSpc>
              <a:spcAft>
                <a:spcPts val="0"/>
              </a:spcAft>
            </a:pPr>
            <a:r>
              <a:rPr sz="725" i="1">
                <a:solidFill>
                  <a:srgbClr val="8B98A8"/>
                </a:solidFill>
                <a:latin typeface="Inconsolata"/>
              </a:rPr>
              <a:t># application/order_service.py</a:t>
            </a:r>
          </a:p>
          <a:p>
            <a:pPr>
              <a:lnSpc>
                <a:spcPct val="103448"/>
              </a:lnSpc>
              <a:spcAft>
                <a:spcPts val="0"/>
              </a:spcAft>
            </a:pPr>
            <a:r>
              <a:rPr sz="725" i="0">
                <a:solidFill>
                  <a:srgbClr val="E6EDF3"/>
                </a:solidFill>
                <a:latin typeface="Inconsolata"/>
              </a:rPr>
              <a:t>            </a:t>
            </a:r>
            <a:r>
              <a:rPr sz="725" i="0">
                <a:solidFill>
                  <a:srgbClr val="C3A6FF"/>
                </a:solidFill>
                <a:latin typeface="Inconsolata"/>
              </a:rPr>
              <a:t>self</a:t>
            </a:r>
            <a:r>
              <a:rPr sz="725" i="0">
                <a:solidFill>
                  <a:srgbClr val="E6EDF3"/>
                </a:solidFill>
                <a:latin typeface="Inconsolata"/>
              </a:rPr>
              <a:t>.uow.commit()</a:t>
            </a:r>
          </a:p>
          <a:p>
            <a:pPr>
              <a:lnSpc>
                <a:spcPct val="103448"/>
              </a:lnSpc>
              <a:spcAft>
                <a:spcPts val="0"/>
              </a:spcAft>
            </a:pPr>
            <a:r>
              <a:rPr sz="725" i="0">
                <a:solidFill>
                  <a:srgbClr val="E6EDF3"/>
                </a:solidFill>
                <a:latin typeface="Inconsolata"/>
              </a:rPr>
              <a:t> </a:t>
            </a:r>
          </a:p>
          <a:p>
            <a:pPr>
              <a:lnSpc>
                <a:spcPct val="103448"/>
              </a:lnSpc>
              <a:spcAft>
                <a:spcPts val="0"/>
              </a:spcAft>
            </a:pPr>
            <a:r>
              <a:rPr sz="725" i="0">
                <a:solidFill>
                  <a:srgbClr val="E6EDF3"/>
                </a:solidFill>
                <a:latin typeface="Inconsolata"/>
              </a:rPr>
              <a:t>        </a:t>
            </a:r>
            <a:r>
              <a:rPr sz="725" i="0">
                <a:solidFill>
                  <a:srgbClr val="C3A6FF"/>
                </a:solidFill>
                <a:latin typeface="Inconsolata"/>
              </a:rPr>
              <a:t>self</a:t>
            </a:r>
            <a:r>
              <a:rPr sz="725" i="0">
                <a:solidFill>
                  <a:srgbClr val="E6EDF3"/>
                </a:solidFill>
                <a:latin typeface="Inconsolata"/>
              </a:rPr>
              <a:t>.notifier.send(customer, </a:t>
            </a:r>
            <a:r>
              <a:rPr sz="725" i="0">
                <a:solidFill>
                  <a:srgbClr val="A5D6A7"/>
                </a:solidFill>
                <a:latin typeface="Inconsolata"/>
              </a:rPr>
              <a:t>f"Order #{order.id} total Rp{order.total.amount:,}"</a:t>
            </a:r>
            <a:r>
              <a:rPr sz="725" i="0">
                <a:solidFill>
                  <a:srgbClr val="E6EDF3"/>
                </a:solidFill>
                <a:latin typeface="Inconsolata"/>
              </a:rPr>
              <a:t>)</a:t>
            </a:r>
          </a:p>
          <a:p>
            <a:pPr>
              <a:lnSpc>
                <a:spcPct val="103448"/>
              </a:lnSpc>
              <a:spcAft>
                <a:spcPts val="0"/>
              </a:spcAft>
            </a:pPr>
            <a:r>
              <a:rPr sz="725" i="0">
                <a:solidFill>
                  <a:srgbClr val="E6EDF3"/>
                </a:solidFill>
                <a:latin typeface="Inconsolata"/>
              </a:rPr>
              <a:t>        </a:t>
            </a:r>
            <a:r>
              <a:rPr sz="725" i="0">
                <a:solidFill>
                  <a:srgbClr val="FF8E6E"/>
                </a:solidFill>
                <a:latin typeface="Inconsolata"/>
              </a:rPr>
              <a:t>return</a:t>
            </a:r>
            <a:r>
              <a:rPr sz="725" i="0">
                <a:solidFill>
                  <a:srgbClr val="E6EDF3"/>
                </a:solidFill>
                <a:latin typeface="Inconsolata"/>
              </a:rPr>
              <a:t> order</a:t>
            </a:r>
          </a:p>
          <a:p>
            <a:pPr>
              <a:lnSpc>
                <a:spcPct val="103448"/>
              </a:lnSpc>
              <a:spcAft>
                <a:spcPts val="0"/>
              </a:spcAft>
            </a:pPr>
            <a:r>
              <a:rPr sz="725" i="0">
                <a:solidFill>
                  <a:srgbClr val="E6EDF3"/>
                </a:solidFill>
                <a:latin typeface="Inconsolata"/>
              </a:rPr>
              <a:t> </a:t>
            </a:r>
          </a:p>
          <a:p>
            <a:pPr>
              <a:lnSpc>
                <a:spcPct val="103448"/>
              </a:lnSpc>
              <a:spcAft>
                <a:spcPts val="0"/>
              </a:spcAft>
            </a:pPr>
            <a:r>
              <a:rPr sz="725" i="1">
                <a:solidFill>
                  <a:srgbClr val="8B98A8"/>
                </a:solidFill>
                <a:latin typeface="Inconsolata"/>
              </a:rPr>
              <a:t># worker/notifier.py</a:t>
            </a:r>
          </a:p>
          <a:p>
            <a:pPr>
              <a:lnSpc>
                <a:spcPct val="103448"/>
              </a:lnSpc>
              <a:spcAft>
                <a:spcPts val="0"/>
              </a:spcAft>
            </a:pPr>
            <a:r>
              <a:rPr sz="725" i="0">
                <a:solidFill>
                  <a:srgbClr val="FF8E6E"/>
                </a:solidFill>
                <a:latin typeface="Inconsolata"/>
              </a:rPr>
              <a:t>class</a:t>
            </a:r>
            <a:r>
              <a:rPr sz="725" i="0">
                <a:solidFill>
                  <a:srgbClr val="E6EDF3"/>
                </a:solidFill>
                <a:latin typeface="Inconsolata"/>
              </a:rPr>
              <a:t> </a:t>
            </a:r>
            <a:r>
              <a:rPr sz="725" i="0">
                <a:solidFill>
                  <a:srgbClr val="7FDBCA"/>
                </a:solidFill>
                <a:latin typeface="Inconsolata"/>
              </a:rPr>
              <a:t>QueuedNotifier</a:t>
            </a:r>
            <a:r>
              <a:rPr sz="725" i="0">
                <a:solidFill>
                  <a:srgbClr val="E6EDF3"/>
                </a:solidFill>
                <a:latin typeface="Inconsolata"/>
              </a:rPr>
              <a:t>:</a:t>
            </a:r>
          </a:p>
          <a:p>
            <a:pPr>
              <a:lnSpc>
                <a:spcPct val="103448"/>
              </a:lnSpc>
              <a:spcAft>
                <a:spcPts val="0"/>
              </a:spcAft>
            </a:pPr>
            <a:r>
              <a:rPr sz="725" i="0">
                <a:solidFill>
                  <a:srgbClr val="E6EDF3"/>
                </a:solidFill>
                <a:latin typeface="Inconsolata"/>
              </a:rPr>
              <a:t>    </a:t>
            </a:r>
            <a:r>
              <a:rPr sz="725" i="0">
                <a:solidFill>
                  <a:srgbClr val="FF8E6E"/>
                </a:solidFill>
                <a:latin typeface="Inconsolata"/>
              </a:rPr>
              <a:t>def</a:t>
            </a:r>
            <a:r>
              <a:rPr sz="725" i="0">
                <a:solidFill>
                  <a:srgbClr val="E6EDF3"/>
                </a:solidFill>
                <a:latin typeface="Inconsolata"/>
              </a:rPr>
              <a:t> </a:t>
            </a:r>
            <a:r>
              <a:rPr sz="725" i="0">
                <a:solidFill>
                  <a:srgbClr val="82B1FF"/>
                </a:solidFill>
                <a:latin typeface="Inconsolata"/>
              </a:rPr>
              <a:t>send</a:t>
            </a:r>
            <a:r>
              <a:rPr sz="725" i="0">
                <a:solidFill>
                  <a:srgbClr val="E6EDF3"/>
                </a:solidFill>
                <a:latin typeface="Inconsolata"/>
              </a:rPr>
              <a:t>(</a:t>
            </a:r>
            <a:r>
              <a:rPr sz="725" i="0">
                <a:solidFill>
                  <a:srgbClr val="C3A6FF"/>
                </a:solidFill>
                <a:latin typeface="Inconsolata"/>
              </a:rPr>
              <a:t>self</a:t>
            </a:r>
            <a:r>
              <a:rPr sz="725" i="0">
                <a:solidFill>
                  <a:srgbClr val="E6EDF3"/>
                </a:solidFill>
                <a:latin typeface="Inconsolata"/>
              </a:rPr>
              <a:t>, to: </a:t>
            </a:r>
            <a:r>
              <a:rPr sz="725" i="0">
                <a:solidFill>
                  <a:srgbClr val="C3A6FF"/>
                </a:solidFill>
                <a:latin typeface="Inconsolata"/>
              </a:rPr>
              <a:t>str</a:t>
            </a:r>
            <a:r>
              <a:rPr sz="725" i="0">
                <a:solidFill>
                  <a:srgbClr val="E6EDF3"/>
                </a:solidFill>
                <a:latin typeface="Inconsolata"/>
              </a:rPr>
              <a:t>, message: </a:t>
            </a:r>
            <a:r>
              <a:rPr sz="725" i="0">
                <a:solidFill>
                  <a:srgbClr val="C3A6FF"/>
                </a:solidFill>
                <a:latin typeface="Inconsolata"/>
              </a:rPr>
              <a:t>str</a:t>
            </a:r>
            <a:r>
              <a:rPr sz="725" i="0">
                <a:solidFill>
                  <a:srgbClr val="E6EDF3"/>
                </a:solidFill>
                <a:latin typeface="Inconsolata"/>
              </a:rPr>
              <a:t>) -&gt; </a:t>
            </a:r>
            <a:r>
              <a:rPr sz="725" i="0">
                <a:solidFill>
                  <a:srgbClr val="FF8E6E"/>
                </a:solidFill>
                <a:latin typeface="Inconsolata"/>
              </a:rPr>
              <a:t>None</a:t>
            </a:r>
            <a:r>
              <a:rPr sz="725" i="0">
                <a:solidFill>
                  <a:srgbClr val="E6EDF3"/>
                </a:solidFill>
                <a:latin typeface="Inconsolata"/>
              </a:rPr>
              <a:t>:</a:t>
            </a:r>
          </a:p>
          <a:p>
            <a:pPr>
              <a:lnSpc>
                <a:spcPct val="103448"/>
              </a:lnSpc>
              <a:spcAft>
                <a:spcPts val="0"/>
              </a:spcAft>
            </a:pPr>
            <a:r>
              <a:rPr sz="725" i="0">
                <a:solidFill>
                  <a:srgbClr val="E6EDF3"/>
                </a:solidFill>
                <a:latin typeface="Inconsolata"/>
              </a:rPr>
              <a:t>        key = hashlib.sha256(</a:t>
            </a:r>
            <a:r>
              <a:rPr sz="725" i="0">
                <a:solidFill>
                  <a:srgbClr val="A5D6A7"/>
                </a:solidFill>
                <a:latin typeface="Inconsolata"/>
              </a:rPr>
              <a:t>f"{to}|{message}"</a:t>
            </a:r>
            <a:r>
              <a:rPr sz="725" i="0">
                <a:solidFill>
                  <a:srgbClr val="E6EDF3"/>
                </a:solidFill>
                <a:latin typeface="Inconsolata"/>
              </a:rPr>
              <a:t>.encode()).hexdigest()   </a:t>
            </a:r>
            <a:r>
              <a:rPr sz="725" i="1">
                <a:solidFill>
                  <a:srgbClr val="8B98A8"/>
                </a:solidFill>
                <a:latin typeface="Inconsolata"/>
              </a:rPr>
              <a:t># notifikasi sama = key sama</a:t>
            </a:r>
          </a:p>
          <a:p>
            <a:pPr>
              <a:lnSpc>
                <a:spcPct val="103448"/>
              </a:lnSpc>
              <a:spcAft>
                <a:spcPts val="0"/>
              </a:spcAft>
            </a:pPr>
            <a:r>
              <a:rPr sz="725" i="0">
                <a:solidFill>
                  <a:srgbClr val="E6EDF3"/>
                </a:solidFill>
                <a:latin typeface="Inconsolata"/>
              </a:rPr>
              <a:t>        send_notification.delay(key, to, message)</a:t>
            </a:r>
          </a:p>
        </p:txBody>
      </p:sp>
      <p:sp>
        <p:nvSpPr>
          <p:cNvPr id="29" name="Box 12"/>
          <p:cNvSpPr/>
          <p:nvPr/>
        </p:nvSpPr>
        <p:spPr>
          <a:xfrm>
            <a:off x="704088" y="2168271"/>
            <a:ext cx="4956048" cy="107442"/>
          </a:xfrm>
          <a:prstGeom prst="roundRect">
            <a:avLst>
              <a:gd name="adj" fmla="val 42553"/>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541264" y="21031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5897879" y="1481328"/>
            <a:ext cx="2587752" cy="3218688"/>
          </a:xfrm>
          <a:prstGeom prst="roundRect">
            <a:avLst>
              <a:gd name="adj" fmla="val 424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Text 15"/>
          <p:cNvSpPr txBox="1"/>
          <p:nvPr/>
        </p:nvSpPr>
        <p:spPr>
          <a:xfrm>
            <a:off x="6035040" y="1572768"/>
            <a:ext cx="231343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3" name="Text 16"/>
          <p:cNvSpPr txBox="1"/>
          <p:nvPr/>
        </p:nvSpPr>
        <p:spPr>
          <a:xfrm>
            <a:off x="6035040" y="1892808"/>
            <a:ext cx="231343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OrderService</a:t>
            </a:r>
            <a:r>
              <a:rPr sz="950" b="0" i="0">
                <a:solidFill>
                  <a:srgbClr val="434343"/>
                </a:solidFill>
                <a:latin typeface="Inter"/>
              </a:rPr>
              <a:t> menentukan sendiri bahwa setelah order harus ada notifikasi</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Layanan baru (poin, analytics) berarti mengubah </a:t>
            </a:r>
            <a:r>
              <a:rPr sz="950" b="0" i="0">
                <a:solidFill>
                  <a:srgbClr val="B5482A"/>
                </a:solidFill>
                <a:latin typeface="Inconsolata"/>
              </a:rPr>
              <a:t>OrderService</a:t>
            </a:r>
            <a:r>
              <a:rPr sz="950" b="0" i="0">
                <a:solidFill>
                  <a:srgbClr val="434343"/>
                </a:solidFill>
                <a:latin typeface="Inter"/>
              </a:rPr>
              <a:t> lagi</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Kode inilah yang kita kembangkan di hands-on.</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mulai dari 07-event-driven-orders/before/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Tujuan &amp; Kriteria Selesai</a:t>
            </a:r>
          </a:p>
        </p:txBody>
      </p:sp>
      <p:sp>
        <p:nvSpPr>
          <p:cNvPr id="22" name="Box 3"/>
          <p:cNvSpPr/>
          <p:nvPr/>
        </p:nvSpPr>
        <p:spPr>
          <a:xfrm>
            <a:off x="621792" y="1481328"/>
            <a:ext cx="3840480" cy="3218688"/>
          </a:xfrm>
          <a:prstGeom prst="roundRect">
            <a:avLst>
              <a:gd name="adj" fmla="val 3409"/>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Text 4"/>
          <p:cNvSpPr txBox="1"/>
          <p:nvPr/>
        </p:nvSpPr>
        <p:spPr>
          <a:xfrm>
            <a:off x="758952" y="1572768"/>
            <a:ext cx="3566160" cy="310896"/>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Kriteria selesai</a:t>
            </a:r>
          </a:p>
        </p:txBody>
      </p:sp>
      <p:sp>
        <p:nvSpPr>
          <p:cNvPr id="24" name="Text 5"/>
          <p:cNvSpPr txBox="1"/>
          <p:nvPr/>
        </p:nvSpPr>
        <p:spPr>
          <a:xfrm>
            <a:off x="758952" y="1892808"/>
            <a:ext cx="3566160"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Arial"/>
              <a:buChar char="•"/>
            </a:pPr>
            <a:r>
              <a:rPr sz="900" b="0" i="0">
                <a:solidFill>
                  <a:srgbClr val="B5482A"/>
                </a:solidFill>
                <a:latin typeface="Inconsolata"/>
              </a:rPr>
              <a:t>OrderService</a:t>
            </a:r>
            <a:r>
              <a:rPr sz="900" b="0" i="0">
                <a:solidFill>
                  <a:srgbClr val="434343"/>
                </a:solidFill>
                <a:latin typeface="Inter"/>
              </a:rPr>
              <a:t> mengirim </a:t>
            </a:r>
            <a:r>
              <a:rPr sz="900" b="0" i="0">
                <a:solidFill>
                  <a:srgbClr val="B5482A"/>
                </a:solidFill>
                <a:latin typeface="Inconsolata"/>
              </a:rPr>
              <a:t>order.placed</a:t>
            </a:r>
            <a:r>
              <a:rPr sz="900" b="0" i="0">
                <a:solidFill>
                  <a:srgbClr val="434343"/>
                </a:solidFill>
                <a:latin typeface="Inter"/>
              </a:rPr>
              <a:t>, </a:t>
            </a:r>
            <a:r>
              <a:rPr sz="900" b="0" i="0">
                <a:solidFill>
                  <a:srgbClr val="B5482A"/>
                </a:solidFill>
                <a:latin typeface="Inconsolata"/>
              </a:rPr>
              <a:t>order.paid</a:t>
            </a:r>
            <a:r>
              <a:rPr sz="900" b="0" i="0">
                <a:solidFill>
                  <a:srgbClr val="434343"/>
                </a:solidFill>
                <a:latin typeface="Inter"/>
              </a:rPr>
              <a:t>, </a:t>
            </a:r>
            <a:r>
              <a:rPr sz="900" b="0" i="0">
                <a:solidFill>
                  <a:srgbClr val="B5482A"/>
                </a:solidFill>
                <a:latin typeface="Inconsolata"/>
              </a:rPr>
              <a:t>order.cancelled</a:t>
            </a:r>
            <a:r>
              <a:rPr sz="900" b="0" i="0">
                <a:solidFill>
                  <a:srgbClr val="434343"/>
                </a:solidFill>
                <a:latin typeface="Inter"/>
              </a:rPr>
              <a:t> setelah commit, lewat port </a:t>
            </a:r>
            <a:r>
              <a:rPr sz="900" b="0" i="0">
                <a:solidFill>
                  <a:srgbClr val="B5482A"/>
                </a:solidFill>
                <a:latin typeface="Inconsolata"/>
              </a:rPr>
              <a:t>EventPublisher</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Event dikirim ke exchange </a:t>
            </a:r>
            <a:r>
              <a:rPr sz="900" b="0" i="0">
                <a:solidFill>
                  <a:srgbClr val="B5482A"/>
                </a:solidFill>
                <a:latin typeface="Inconsolata"/>
              </a:rPr>
              <a:t>orders</a:t>
            </a:r>
            <a:r>
              <a:rPr sz="900" b="0" i="0">
                <a:solidFill>
                  <a:srgbClr val="434343"/>
                </a:solidFill>
                <a:latin typeface="Inter"/>
              </a:rPr>
              <a:t>, queue </a:t>
            </a:r>
            <a:r>
              <a:rPr sz="900" b="0" i="0">
                <a:solidFill>
                  <a:srgbClr val="B5482A"/>
                </a:solidFill>
                <a:latin typeface="Inconsolata"/>
              </a:rPr>
              <a:t>notifications</a:t>
            </a:r>
            <a:r>
              <a:rPr sz="900" b="0" i="0">
                <a:solidFill>
                  <a:srgbClr val="434343"/>
                </a:solidFill>
                <a:latin typeface="Inter"/>
              </a:rPr>
              <a:t> di-bind dengan </a:t>
            </a:r>
            <a:r>
              <a:rPr sz="900" b="0" i="0">
                <a:solidFill>
                  <a:srgbClr val="B5482A"/>
                </a:solidFill>
                <a:latin typeface="Inconsolata"/>
              </a:rPr>
              <a:t>order.*</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Consumer memakai ack manual dan </a:t>
            </a:r>
            <a:r>
              <a:rPr sz="900" b="0" i="0">
                <a:solidFill>
                  <a:srgbClr val="B5482A"/>
                </a:solidFill>
                <a:latin typeface="Inconsolata"/>
              </a:rPr>
              <a:t>prefetch_count=1</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Error sementara di-retry dengan jeda, pesan rusak masuk DLQ</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Event yang datang dua kali tidak membuat notifikasi terkirim dua kali</a:t>
            </a:r>
          </a:p>
          <a:p>
            <a:pPr marL="182880" indent="-182880" algn="l">
              <a:lnSpc>
                <a:spcPct val="115000"/>
              </a:lnSpc>
              <a:spcAft>
                <a:spcPts val="400"/>
              </a:spcAft>
              <a:buClr>
                <a:srgbClr val="E0764F"/>
              </a:buClr>
              <a:buSzPct val="100000"/>
              <a:buFont typeface="Arial"/>
              <a:buChar char="•"/>
            </a:pPr>
            <a:r>
              <a:rPr sz="900" b="0" i="0">
                <a:solidFill>
                  <a:srgbClr val="B5482A"/>
                </a:solidFill>
                <a:latin typeface="Inconsolata"/>
              </a:rPr>
              <a:t>pytest</a:t>
            </a:r>
            <a:r>
              <a:rPr sz="900" b="0" i="0">
                <a:solidFill>
                  <a:srgbClr val="434343"/>
                </a:solidFill>
                <a:latin typeface="Inter"/>
              </a:rPr>
              <a:t> hijau tanpa RabbitMQ</a:t>
            </a:r>
          </a:p>
        </p:txBody>
      </p:sp>
      <p:sp>
        <p:nvSpPr>
          <p:cNvPr id="25" name="CodeTab 7"/>
          <p:cNvSpPr/>
          <p:nvPr/>
        </p:nvSpPr>
        <p:spPr>
          <a:xfrm>
            <a:off x="4617720" y="1481328"/>
            <a:ext cx="3867912"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6" name="Dot 8"/>
          <p:cNvSpPr/>
          <p:nvPr/>
        </p:nvSpPr>
        <p:spPr>
          <a:xfrm>
            <a:off x="472744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Dot 9"/>
          <p:cNvSpPr/>
          <p:nvPr/>
        </p:nvSpPr>
        <p:spPr>
          <a:xfrm>
            <a:off x="486460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Dot 10"/>
          <p:cNvSpPr/>
          <p:nvPr/>
        </p:nvSpPr>
        <p:spPr>
          <a:xfrm>
            <a:off x="500176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 11"/>
          <p:cNvSpPr txBox="1"/>
          <p:nvPr/>
        </p:nvSpPr>
        <p:spPr>
          <a:xfrm>
            <a:off x="5166359" y="1490472"/>
            <a:ext cx="3227832"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target struktur</a:t>
            </a:r>
          </a:p>
        </p:txBody>
      </p:sp>
      <p:sp>
        <p:nvSpPr>
          <p:cNvPr id="30" name="CodeBg 13"/>
          <p:cNvSpPr/>
          <p:nvPr/>
        </p:nvSpPr>
        <p:spPr>
          <a:xfrm>
            <a:off x="4617720" y="1719072"/>
            <a:ext cx="3867912"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Code 14"/>
          <p:cNvSpPr txBox="1"/>
          <p:nvPr/>
        </p:nvSpPr>
        <p:spPr>
          <a:xfrm>
            <a:off x="4617720" y="1719072"/>
            <a:ext cx="3867912" cy="2980944"/>
          </a:xfrm>
          <a:prstGeom prst="rect">
            <a:avLst/>
          </a:prstGeom>
          <a:noFill/>
        </p:spPr>
        <p:txBody>
          <a:bodyPr wrap="none" lIns="146304" tIns="91440" rIns="146304" bIns="54864">
            <a:spAutoFit/>
          </a:bodyPr>
          <a:lstStyle/>
          <a:p>
            <a:pPr>
              <a:lnSpc>
                <a:spcPct val="111111"/>
              </a:lnSpc>
              <a:spcAft>
                <a:spcPts val="0"/>
              </a:spcAft>
            </a:pPr>
            <a:r>
              <a:rPr sz="750" i="0">
                <a:solidFill>
                  <a:srgbClr val="E6EDF3"/>
                </a:solidFill>
                <a:latin typeface="Inconsolata"/>
              </a:rPr>
              <a:t>latihan/</a:t>
            </a:r>
          </a:p>
          <a:p>
            <a:pPr>
              <a:lnSpc>
                <a:spcPct val="111111"/>
              </a:lnSpc>
              <a:spcAft>
                <a:spcPts val="0"/>
              </a:spcAft>
            </a:pPr>
            <a:r>
              <a:rPr sz="750" i="0">
                <a:solidFill>
                  <a:srgbClr val="E6EDF3"/>
                </a:solidFill>
                <a:latin typeface="Inconsolata"/>
              </a:rPr>
              <a:t>  app/</a:t>
            </a:r>
          </a:p>
          <a:p>
            <a:pPr>
              <a:lnSpc>
                <a:spcPct val="111111"/>
              </a:lnSpc>
              <a:spcAft>
                <a:spcPts val="0"/>
              </a:spcAft>
            </a:pPr>
            <a:r>
              <a:rPr sz="750" i="0">
                <a:solidFill>
                  <a:srgbClr val="E6EDF3"/>
                </a:solidFill>
                <a:latin typeface="Inconsolata"/>
              </a:rPr>
              <a:t>    application/</a:t>
            </a:r>
          </a:p>
          <a:p>
            <a:pPr>
              <a:lnSpc>
                <a:spcPct val="111111"/>
              </a:lnSpc>
              <a:spcAft>
                <a:spcPts val="0"/>
              </a:spcAft>
            </a:pPr>
            <a:r>
              <a:rPr sz="750" i="0">
                <a:solidFill>
                  <a:srgbClr val="E6EDF3"/>
                </a:solidFill>
                <a:latin typeface="Inconsolata"/>
              </a:rPr>
              <a:t>      events.py          # langkah 2</a:t>
            </a:r>
          </a:p>
          <a:p>
            <a:pPr>
              <a:lnSpc>
                <a:spcPct val="111111"/>
              </a:lnSpc>
              <a:spcAft>
                <a:spcPts val="0"/>
              </a:spcAft>
            </a:pPr>
            <a:r>
              <a:rPr sz="750" i="0">
                <a:solidFill>
                  <a:srgbClr val="E6EDF3"/>
                </a:solidFill>
                <a:latin typeface="Inconsolata"/>
              </a:rPr>
              <a:t>      ports.py           # langkah 3</a:t>
            </a:r>
          </a:p>
          <a:p>
            <a:pPr>
              <a:lnSpc>
                <a:spcPct val="111111"/>
              </a:lnSpc>
              <a:spcAft>
                <a:spcPts val="0"/>
              </a:spcAft>
            </a:pPr>
            <a:r>
              <a:rPr sz="750" i="0">
                <a:solidFill>
                  <a:srgbClr val="E6EDF3"/>
                </a:solidFill>
                <a:latin typeface="Inconsolata"/>
              </a:rPr>
              <a:t>      order_service.py   # langkah 3</a:t>
            </a:r>
          </a:p>
          <a:p>
            <a:pPr>
              <a:lnSpc>
                <a:spcPct val="111111"/>
              </a:lnSpc>
              <a:spcAft>
                <a:spcPts val="0"/>
              </a:spcAft>
            </a:pPr>
            <a:r>
              <a:rPr sz="750" i="0">
                <a:solidFill>
                  <a:srgbClr val="E6EDF3"/>
                </a:solidFill>
                <a:latin typeface="Inconsolata"/>
              </a:rPr>
              <a:t>      notification_service.py # 5</a:t>
            </a:r>
          </a:p>
          <a:p>
            <a:pPr>
              <a:lnSpc>
                <a:spcPct val="111111"/>
              </a:lnSpc>
              <a:spcAft>
                <a:spcPts val="0"/>
              </a:spcAft>
            </a:pPr>
            <a:r>
              <a:rPr sz="750" i="0">
                <a:solidFill>
                  <a:srgbClr val="E6EDF3"/>
                </a:solidFill>
                <a:latin typeface="Inconsolata"/>
              </a:rPr>
              <a:t>    infrastructure/</a:t>
            </a:r>
          </a:p>
          <a:p>
            <a:pPr>
              <a:lnSpc>
                <a:spcPct val="111111"/>
              </a:lnSpc>
              <a:spcAft>
                <a:spcPts val="0"/>
              </a:spcAft>
            </a:pPr>
            <a:r>
              <a:rPr sz="750" i="0">
                <a:solidFill>
                  <a:srgbClr val="E6EDF3"/>
                </a:solidFill>
                <a:latin typeface="Inconsolata"/>
              </a:rPr>
              <a:t>      config.py          # langkah 4</a:t>
            </a:r>
          </a:p>
          <a:p>
            <a:pPr>
              <a:lnSpc>
                <a:spcPct val="111111"/>
              </a:lnSpc>
              <a:spcAft>
                <a:spcPts val="0"/>
              </a:spcAft>
            </a:pPr>
            <a:r>
              <a:rPr sz="750" i="0">
                <a:solidFill>
                  <a:srgbClr val="E6EDF3"/>
                </a:solidFill>
                <a:latin typeface="Inconsolata"/>
              </a:rPr>
              <a:t>      rabbitmq.py        # langkah 4</a:t>
            </a:r>
          </a:p>
          <a:p>
            <a:pPr>
              <a:lnSpc>
                <a:spcPct val="111111"/>
              </a:lnSpc>
              <a:spcAft>
                <a:spcPts val="0"/>
              </a:spcAft>
            </a:pPr>
            <a:r>
              <a:rPr sz="750" i="0">
                <a:solidFill>
                  <a:srgbClr val="E6EDF3"/>
                </a:solidFill>
                <a:latin typeface="Inconsolata"/>
              </a:rPr>
              <a:t>    consumers/</a:t>
            </a:r>
          </a:p>
          <a:p>
            <a:pPr>
              <a:lnSpc>
                <a:spcPct val="111111"/>
              </a:lnSpc>
              <a:spcAft>
                <a:spcPts val="0"/>
              </a:spcAft>
            </a:pPr>
            <a:r>
              <a:rPr sz="750" i="0">
                <a:solidFill>
                  <a:srgbClr val="E6EDF3"/>
                </a:solidFill>
                <a:latin typeface="Inconsolata"/>
              </a:rPr>
              <a:t>      notification_consumer.py # 6</a:t>
            </a:r>
          </a:p>
          <a:p>
            <a:pPr>
              <a:lnSpc>
                <a:spcPct val="111111"/>
              </a:lnSpc>
              <a:spcAft>
                <a:spcPts val="0"/>
              </a:spcAft>
            </a:pPr>
            <a:r>
              <a:rPr sz="750" i="0">
                <a:solidFill>
                  <a:srgbClr val="E6EDF3"/>
                </a:solidFill>
                <a:latin typeface="Inconsolata"/>
              </a:rPr>
              <a:t>    api/dependencies.py  # langkah 7</a:t>
            </a:r>
          </a:p>
          <a:p>
            <a:pPr>
              <a:lnSpc>
                <a:spcPct val="111111"/>
              </a:lnSpc>
              <a:spcAft>
                <a:spcPts val="0"/>
              </a:spcAft>
            </a:pPr>
            <a:r>
              <a:rPr sz="750" i="0">
                <a:solidFill>
                  <a:srgbClr val="E6EDF3"/>
                </a:solidFill>
                <a:latin typeface="Inconsolata"/>
              </a:rPr>
              <a:t>    worker/tasks.py      # langkah 7</a:t>
            </a:r>
          </a:p>
          <a:p>
            <a:pPr>
              <a:lnSpc>
                <a:spcPct val="111111"/>
              </a:lnSpc>
              <a:spcAft>
                <a:spcPts val="0"/>
              </a:spcAft>
            </a:pPr>
            <a:r>
              <a:rPr sz="750" i="0">
                <a:solidFill>
                  <a:srgbClr val="E6EDF3"/>
                </a:solidFill>
                <a:latin typeface="Inconsolata"/>
              </a:rPr>
              <a:t>  tests/                 # langkah 8</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1 dari 9</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Siapkan folder latihan</a:t>
            </a:r>
          </a:p>
        </p:txBody>
      </p:sp>
      <p:sp>
        <p:nvSpPr>
          <p:cNvPr id="22" name="CodeTab 4"/>
          <p:cNvSpPr/>
          <p:nvPr/>
        </p:nvSpPr>
        <p:spPr>
          <a:xfrm>
            <a:off x="621792" y="1481328"/>
            <a:ext cx="48920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2519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terminal</a:t>
            </a:r>
          </a:p>
        </p:txBody>
      </p:sp>
      <p:sp>
        <p:nvSpPr>
          <p:cNvPr id="27" name="CodeBg 10"/>
          <p:cNvSpPr/>
          <p:nvPr/>
        </p:nvSpPr>
        <p:spPr>
          <a:xfrm>
            <a:off x="621792" y="1719072"/>
            <a:ext cx="48920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892040" cy="2980944"/>
          </a:xfrm>
          <a:prstGeom prst="rect">
            <a:avLst/>
          </a:prstGeom>
          <a:noFill/>
        </p:spPr>
        <p:txBody>
          <a:bodyPr wrap="none" lIns="146304" tIns="91440" rIns="146304" bIns="54864">
            <a:spAutoFit/>
          </a:bodyPr>
          <a:lstStyle/>
          <a:p>
            <a:pPr>
              <a:lnSpc>
                <a:spcPct val="107843"/>
              </a:lnSpc>
              <a:spcAft>
                <a:spcPts val="0"/>
              </a:spcAft>
            </a:pPr>
            <a:r>
              <a:rPr sz="850" i="0">
                <a:solidFill>
                  <a:srgbClr val="82B1FF"/>
                </a:solidFill>
                <a:latin typeface="Inconsolata"/>
              </a:rPr>
              <a:t>$ cd sesi-08-event-driven-rabbitmq-kafka</a:t>
            </a:r>
          </a:p>
          <a:p>
            <a:pPr>
              <a:lnSpc>
                <a:spcPct val="107843"/>
              </a:lnSpc>
              <a:spcAft>
                <a:spcPts val="0"/>
              </a:spcAft>
            </a:pPr>
            <a:r>
              <a:rPr sz="850" i="0">
                <a:solidFill>
                  <a:srgbClr val="82B1FF"/>
                </a:solidFill>
                <a:latin typeface="Inconsolata"/>
              </a:rPr>
              <a:t>$ pip install -r requirements.txt</a:t>
            </a:r>
          </a:p>
          <a:p>
            <a:pPr>
              <a:lnSpc>
                <a:spcPct val="107843"/>
              </a:lnSpc>
              <a:spcAft>
                <a:spcPts val="0"/>
              </a:spcAft>
            </a:pPr>
            <a:r>
              <a:rPr sz="850" i="0">
                <a:solidFill>
                  <a:srgbClr val="82B1FF"/>
                </a:solidFill>
                <a:latin typeface="Inconsolata"/>
              </a:rPr>
              <a:t>$ docker compose up -d                # PostgreSQL, Redis, RabbitMQ, Kafka</a:t>
            </a:r>
          </a:p>
          <a:p>
            <a:pPr>
              <a:lnSpc>
                <a:spcPct val="107843"/>
              </a:lnSpc>
              <a:spcAft>
                <a:spcPts val="0"/>
              </a:spcAft>
            </a:pPr>
            <a:r>
              <a:rPr sz="850" i="0">
                <a:solidFill>
                  <a:srgbClr val="82B1FF"/>
                </a:solidFill>
                <a:latin typeface="Inconsolata"/>
              </a:rPr>
              <a:t>$ cd 07-event-driven-orders</a:t>
            </a:r>
          </a:p>
          <a:p>
            <a:pPr>
              <a:lnSpc>
                <a:spcPct val="107843"/>
              </a:lnSpc>
              <a:spcAft>
                <a:spcPts val="0"/>
              </a:spcAft>
            </a:pPr>
            <a:r>
              <a:rPr sz="850" i="0">
                <a:solidFill>
                  <a:srgbClr val="82B1FF"/>
                </a:solidFill>
                <a:latin typeface="Inconsolata"/>
              </a:rPr>
              <a:t>$ cp -r before latihan</a:t>
            </a:r>
          </a:p>
          <a:p>
            <a:pPr>
              <a:lnSpc>
                <a:spcPct val="107843"/>
              </a:lnSpc>
              <a:spcAft>
                <a:spcPts val="0"/>
              </a:spcAft>
            </a:pPr>
            <a:r>
              <a:rPr sz="850" i="0">
                <a:solidFill>
                  <a:srgbClr val="82B1FF"/>
                </a:solidFill>
                <a:latin typeface="Inconsolata"/>
              </a:rPr>
              <a:t>$ cd latihan</a:t>
            </a:r>
          </a:p>
          <a:p>
            <a:pPr>
              <a:lnSpc>
                <a:spcPct val="107843"/>
              </a:lnSpc>
              <a:spcAft>
                <a:spcPts val="0"/>
              </a:spcAft>
            </a:pPr>
            <a:r>
              <a:rPr sz="850" i="0">
                <a:solidFill>
                  <a:srgbClr val="82B1FF"/>
                </a:solidFill>
                <a:latin typeface="Inconsolata"/>
              </a:rPr>
              <a:t>$ pytest -q</a:t>
            </a:r>
          </a:p>
          <a:p>
            <a:pPr>
              <a:lnSpc>
                <a:spcPct val="107843"/>
              </a:lnSpc>
              <a:spcAft>
                <a:spcPts val="0"/>
              </a:spcAft>
            </a:pPr>
            <a:endParaRPr sz="850" i="0">
              <a:solidFill>
                <a:srgbClr val="82B1FF"/>
              </a:solidFill>
              <a:latin typeface="Inconsolata"/>
            </a:endParaRPr>
          </a:p>
          <a:p>
            <a:pPr>
              <a:lnSpc>
                <a:spcPct val="107843"/>
              </a:lnSpc>
              <a:spcAft>
                <a:spcPts val="0"/>
              </a:spcAft>
            </a:pPr>
            <a:r>
              <a:rPr sz="850" i="1">
                <a:solidFill>
                  <a:srgbClr val="8B98A8"/>
                </a:solidFill>
                <a:latin typeface="Inconsolata"/>
              </a:rPr>
              <a:t># dashboard RabbitMQ: http://localhost:15672 (guest / guest)</a:t>
            </a:r>
          </a:p>
        </p:txBody>
      </p:sp>
      <p:sp>
        <p:nvSpPr>
          <p:cNvPr id="29" name="Box 12"/>
          <p:cNvSpPr/>
          <p:nvPr/>
        </p:nvSpPr>
        <p:spPr>
          <a:xfrm>
            <a:off x="5669279" y="1481328"/>
            <a:ext cx="2816352"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Text 13"/>
          <p:cNvSpPr txBox="1"/>
          <p:nvPr/>
        </p:nvSpPr>
        <p:spPr>
          <a:xfrm>
            <a:off x="5806440" y="157276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1" name="Text 14"/>
          <p:cNvSpPr txBox="1"/>
          <p:nvPr/>
        </p:nvSpPr>
        <p:spPr>
          <a:xfrm>
            <a:off x="5806440" y="1892808"/>
            <a:ext cx="2542032"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Install dependency (</a:t>
            </a:r>
            <a:r>
              <a:rPr sz="900" b="0" i="0">
                <a:solidFill>
                  <a:srgbClr val="B5482A"/>
                </a:solidFill>
                <a:latin typeface="Inconsolata"/>
              </a:rPr>
              <a:t>pika</a:t>
            </a:r>
            <a:r>
              <a:rPr sz="900" b="0" i="0">
                <a:solidFill>
                  <a:srgbClr val="434343"/>
                </a:solidFill>
                <a:latin typeface="Inter"/>
              </a:rPr>
              <a:t> dan </a:t>
            </a:r>
            <a:r>
              <a:rPr sz="900" b="0" i="0">
                <a:solidFill>
                  <a:srgbClr val="B5482A"/>
                </a:solidFill>
                <a:latin typeface="Inconsolata"/>
              </a:rPr>
              <a:t>confluent-kafka</a:t>
            </a:r>
            <a:r>
              <a:rPr sz="900" b="0" i="0">
                <a:solidFill>
                  <a:srgbClr val="434343"/>
                </a:solidFill>
                <a:latin typeface="Inter"/>
              </a:rPr>
              <a:t> sudah ada di </a:t>
            </a:r>
            <a:r>
              <a:rPr sz="900" b="0" i="0">
                <a:solidFill>
                  <a:srgbClr val="B5482A"/>
                </a:solidFill>
                <a:latin typeface="Inconsolata"/>
              </a:rPr>
              <a:t>requirements.txt</a:t>
            </a:r>
            <a:r>
              <a:rPr sz="900" b="0" i="0">
                <a:solidFill>
                  <a:srgbClr val="434343"/>
                </a:solidFill>
                <a:latin typeface="Inter"/>
              </a:rPr>
              <a:t>)</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Jalankan semua service dengan Docker</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Salin </a:t>
            </a:r>
            <a:r>
              <a:rPr sz="900" b="0" i="0">
                <a:solidFill>
                  <a:srgbClr val="B5482A"/>
                </a:solidFill>
                <a:latin typeface="Inconsolata"/>
              </a:rPr>
              <a:t>before/</a:t>
            </a:r>
            <a:r>
              <a:rPr sz="900" b="0" i="0">
                <a:solidFill>
                  <a:srgbClr val="434343"/>
                </a:solidFill>
                <a:latin typeface="Inter"/>
              </a:rPr>
              <a:t> jadi </a:t>
            </a:r>
            <a:r>
              <a:rPr sz="900" b="0" i="0">
                <a:solidFill>
                  <a:srgbClr val="B5482A"/>
                </a:solidFill>
                <a:latin typeface="Inconsolata"/>
              </a:rPr>
              <a:t>latihan/</a:t>
            </a:r>
            <a:r>
              <a:rPr sz="900" b="0" i="0">
                <a:solidFill>
                  <a:srgbClr val="434343"/>
                </a:solidFill>
                <a:latin typeface="Inter"/>
              </a:rPr>
              <a:t>, pastikan test awal hijau</a:t>
            </a:r>
          </a:p>
        </p:txBody>
      </p:sp>
      <p:sp>
        <p:nvSpPr>
          <p:cNvPr id="32" name="Box 15"/>
          <p:cNvSpPr/>
          <p:nvPr/>
        </p:nvSpPr>
        <p:spPr>
          <a:xfrm>
            <a:off x="5669279" y="3721608"/>
            <a:ext cx="2816352"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3" name="Text 16"/>
          <p:cNvSpPr txBox="1"/>
          <p:nvPr/>
        </p:nvSpPr>
        <p:spPr>
          <a:xfrm>
            <a:off x="5806440" y="381304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34" name="Text 17"/>
          <p:cNvSpPr txBox="1"/>
          <p:nvPr/>
        </p:nvSpPr>
        <p:spPr>
          <a:xfrm>
            <a:off x="5806440" y="4133088"/>
            <a:ext cx="2542032"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Test awal PASSED, dashboard RabbitMQ bisa dibuka.</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2 dari 9</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application/events.py: bentuk event</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app/application/events.py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07843"/>
              </a:lnSpc>
              <a:spcAft>
                <a:spcPts val="0"/>
              </a:spcAft>
            </a:pPr>
            <a:r>
              <a:rPr sz="850" i="0">
                <a:solidFill>
                  <a:srgbClr val="7FDBCA"/>
                </a:solidFill>
                <a:latin typeface="Inconsolata"/>
              </a:rPr>
              <a:t>ORDER_PLACED</a:t>
            </a:r>
            <a:r>
              <a:rPr sz="850" i="0">
                <a:solidFill>
                  <a:srgbClr val="E6EDF3"/>
                </a:solidFill>
                <a:latin typeface="Inconsolata"/>
              </a:rPr>
              <a:t> = </a:t>
            </a:r>
            <a:r>
              <a:rPr sz="850" i="0">
                <a:solidFill>
                  <a:srgbClr val="A5D6A7"/>
                </a:solidFill>
                <a:latin typeface="Inconsolata"/>
              </a:rPr>
              <a:t>"order.placed"</a:t>
            </a:r>
          </a:p>
          <a:p>
            <a:pPr>
              <a:lnSpc>
                <a:spcPct val="107843"/>
              </a:lnSpc>
              <a:spcAft>
                <a:spcPts val="0"/>
              </a:spcAft>
            </a:pPr>
            <a:r>
              <a:rPr sz="850" i="0">
                <a:solidFill>
                  <a:srgbClr val="7FDBCA"/>
                </a:solidFill>
                <a:latin typeface="Inconsolata"/>
              </a:rPr>
              <a:t>ORDER_PAID</a:t>
            </a:r>
            <a:r>
              <a:rPr sz="850" i="0">
                <a:solidFill>
                  <a:srgbClr val="E6EDF3"/>
                </a:solidFill>
                <a:latin typeface="Inconsolata"/>
              </a:rPr>
              <a:t> = </a:t>
            </a:r>
            <a:r>
              <a:rPr sz="850" i="0">
                <a:solidFill>
                  <a:srgbClr val="A5D6A7"/>
                </a:solidFill>
                <a:latin typeface="Inconsolata"/>
              </a:rPr>
              <a:t>"order.paid"</a:t>
            </a:r>
          </a:p>
          <a:p>
            <a:pPr>
              <a:lnSpc>
                <a:spcPct val="107843"/>
              </a:lnSpc>
              <a:spcAft>
                <a:spcPts val="0"/>
              </a:spcAft>
            </a:pPr>
            <a:r>
              <a:rPr sz="850" i="0">
                <a:solidFill>
                  <a:srgbClr val="7FDBCA"/>
                </a:solidFill>
                <a:latin typeface="Inconsolata"/>
              </a:rPr>
              <a:t>ORDER_CANCELLED</a:t>
            </a:r>
            <a:r>
              <a:rPr sz="850" i="0">
                <a:solidFill>
                  <a:srgbClr val="E6EDF3"/>
                </a:solidFill>
                <a:latin typeface="Inconsolata"/>
              </a:rPr>
              <a:t> = </a:t>
            </a:r>
            <a:r>
              <a:rPr sz="850" i="0">
                <a:solidFill>
                  <a:srgbClr val="A5D6A7"/>
                </a:solidFill>
                <a:latin typeface="Inconsolata"/>
              </a:rPr>
              <a:t>"order.cancelled"</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order_event</a:t>
            </a:r>
            <a:r>
              <a:rPr sz="850" i="0">
                <a:solidFill>
                  <a:srgbClr val="E6EDF3"/>
                </a:solidFill>
                <a:latin typeface="Inconsolata"/>
              </a:rPr>
              <a:t>(event_type: </a:t>
            </a:r>
            <a:r>
              <a:rPr sz="850" i="0">
                <a:solidFill>
                  <a:srgbClr val="C3A6FF"/>
                </a:solidFill>
                <a:latin typeface="Inconsolata"/>
              </a:rPr>
              <a:t>str</a:t>
            </a:r>
            <a:r>
              <a:rPr sz="850" i="0">
                <a:solidFill>
                  <a:srgbClr val="E6EDF3"/>
                </a:solidFill>
                <a:latin typeface="Inconsolata"/>
              </a:rPr>
              <a:t>, order: </a:t>
            </a:r>
            <a:r>
              <a:rPr sz="850" i="0">
                <a:solidFill>
                  <a:srgbClr val="7FDBCA"/>
                </a:solidFill>
                <a:latin typeface="Inconsolata"/>
              </a:rPr>
              <a:t>Order</a:t>
            </a:r>
            <a:r>
              <a:rPr sz="850" i="0">
                <a:solidFill>
                  <a:srgbClr val="E6EDF3"/>
                </a:solidFill>
                <a:latin typeface="Inconsolata"/>
              </a:rPr>
              <a:t>) -&gt; </a:t>
            </a:r>
            <a:r>
              <a:rPr sz="850" i="0">
                <a:solidFill>
                  <a:srgbClr val="C3A6FF"/>
                </a:solidFill>
                <a:latin typeface="Inconsolata"/>
              </a:rPr>
              <a:t>dict</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a:t>
            </a:r>
          </a:p>
          <a:p>
            <a:pPr>
              <a:lnSpc>
                <a:spcPct val="107843"/>
              </a:lnSpc>
              <a:spcAft>
                <a:spcPts val="0"/>
              </a:spcAft>
            </a:pPr>
            <a:r>
              <a:rPr sz="850" i="0">
                <a:solidFill>
                  <a:srgbClr val="E6EDF3"/>
                </a:solidFill>
                <a:latin typeface="Inconsolata"/>
              </a:rPr>
              <a:t>        </a:t>
            </a:r>
            <a:r>
              <a:rPr sz="850" i="0">
                <a:solidFill>
                  <a:srgbClr val="A5D6A7"/>
                </a:solidFill>
                <a:latin typeface="Inconsolata"/>
              </a:rPr>
              <a:t>"event_id"</a:t>
            </a:r>
            <a:r>
              <a:rPr sz="850" i="0">
                <a:solidFill>
                  <a:srgbClr val="E6EDF3"/>
                </a:solidFill>
                <a:latin typeface="Inconsolata"/>
              </a:rPr>
              <a:t>: </a:t>
            </a:r>
            <a:r>
              <a:rPr sz="850" i="0">
                <a:solidFill>
                  <a:srgbClr val="C3A6FF"/>
                </a:solidFill>
                <a:latin typeface="Inconsolata"/>
              </a:rPr>
              <a:t>str</a:t>
            </a:r>
            <a:r>
              <a:rPr sz="850" i="0">
                <a:solidFill>
                  <a:srgbClr val="E6EDF3"/>
                </a:solidFill>
                <a:latin typeface="Inconsolata"/>
              </a:rPr>
              <a:t>(uuid.uuid4()),</a:t>
            </a:r>
          </a:p>
          <a:p>
            <a:pPr>
              <a:lnSpc>
                <a:spcPct val="107843"/>
              </a:lnSpc>
              <a:spcAft>
                <a:spcPts val="0"/>
              </a:spcAft>
            </a:pPr>
            <a:r>
              <a:rPr sz="850" i="0">
                <a:solidFill>
                  <a:srgbClr val="E6EDF3"/>
                </a:solidFill>
                <a:latin typeface="Inconsolata"/>
              </a:rPr>
              <a:t>        </a:t>
            </a:r>
            <a:r>
              <a:rPr sz="850" i="0">
                <a:solidFill>
                  <a:srgbClr val="A5D6A7"/>
                </a:solidFill>
                <a:latin typeface="Inconsolata"/>
              </a:rPr>
              <a:t>"type"</a:t>
            </a:r>
            <a:r>
              <a:rPr sz="850" i="0">
                <a:solidFill>
                  <a:srgbClr val="E6EDF3"/>
                </a:solidFill>
                <a:latin typeface="Inconsolata"/>
              </a:rPr>
              <a:t>: event_type,</a:t>
            </a:r>
          </a:p>
          <a:p>
            <a:pPr>
              <a:lnSpc>
                <a:spcPct val="107843"/>
              </a:lnSpc>
              <a:spcAft>
                <a:spcPts val="0"/>
              </a:spcAft>
            </a:pPr>
            <a:r>
              <a:rPr sz="850" i="0">
                <a:solidFill>
                  <a:srgbClr val="E6EDF3"/>
                </a:solidFill>
                <a:latin typeface="Inconsolata"/>
              </a:rPr>
              <a:t>        </a:t>
            </a:r>
            <a:r>
              <a:rPr sz="850" i="0">
                <a:solidFill>
                  <a:srgbClr val="A5D6A7"/>
                </a:solidFill>
                <a:latin typeface="Inconsolata"/>
              </a:rPr>
              <a:t>"occurred_at"</a:t>
            </a:r>
            <a:r>
              <a:rPr sz="850" i="0">
                <a:solidFill>
                  <a:srgbClr val="E6EDF3"/>
                </a:solidFill>
                <a:latin typeface="Inconsolata"/>
              </a:rPr>
              <a:t>: datetime.now(timezone.utc).isoformat(),</a:t>
            </a:r>
          </a:p>
          <a:p>
            <a:pPr>
              <a:lnSpc>
                <a:spcPct val="107843"/>
              </a:lnSpc>
              <a:spcAft>
                <a:spcPts val="0"/>
              </a:spcAft>
            </a:pPr>
            <a:r>
              <a:rPr sz="850" i="0">
                <a:solidFill>
                  <a:srgbClr val="E6EDF3"/>
                </a:solidFill>
                <a:latin typeface="Inconsolata"/>
              </a:rPr>
              <a:t>        </a:t>
            </a:r>
            <a:r>
              <a:rPr sz="850" i="0">
                <a:solidFill>
                  <a:srgbClr val="A5D6A7"/>
                </a:solidFill>
                <a:latin typeface="Inconsolata"/>
              </a:rPr>
              <a:t>"order_id"</a:t>
            </a:r>
            <a:r>
              <a:rPr sz="850" i="0">
                <a:solidFill>
                  <a:srgbClr val="E6EDF3"/>
                </a:solidFill>
                <a:latin typeface="Inconsolata"/>
              </a:rPr>
              <a:t>: order.id,</a:t>
            </a:r>
          </a:p>
          <a:p>
            <a:pPr>
              <a:lnSpc>
                <a:spcPct val="107843"/>
              </a:lnSpc>
              <a:spcAft>
                <a:spcPts val="0"/>
              </a:spcAft>
            </a:pPr>
            <a:r>
              <a:rPr sz="850" i="0">
                <a:solidFill>
                  <a:srgbClr val="E6EDF3"/>
                </a:solidFill>
                <a:latin typeface="Inconsolata"/>
              </a:rPr>
              <a:t>        </a:t>
            </a:r>
            <a:r>
              <a:rPr sz="850" i="0">
                <a:solidFill>
                  <a:srgbClr val="A5D6A7"/>
                </a:solidFill>
                <a:latin typeface="Inconsolata"/>
              </a:rPr>
              <a:t>"customer"</a:t>
            </a:r>
            <a:r>
              <a:rPr sz="850" i="0">
                <a:solidFill>
                  <a:srgbClr val="E6EDF3"/>
                </a:solidFill>
                <a:latin typeface="Inconsolata"/>
              </a:rPr>
              <a:t>: order.customer,</a:t>
            </a:r>
          </a:p>
          <a:p>
            <a:pPr>
              <a:lnSpc>
                <a:spcPct val="107843"/>
              </a:lnSpc>
              <a:spcAft>
                <a:spcPts val="0"/>
              </a:spcAft>
            </a:pPr>
            <a:r>
              <a:rPr sz="850" i="0">
                <a:solidFill>
                  <a:srgbClr val="E6EDF3"/>
                </a:solidFill>
                <a:latin typeface="Inconsolata"/>
              </a:rPr>
              <a:t>        </a:t>
            </a:r>
            <a:r>
              <a:rPr sz="850" i="0">
                <a:solidFill>
                  <a:srgbClr val="A5D6A7"/>
                </a:solidFill>
                <a:latin typeface="Inconsolata"/>
              </a:rPr>
              <a:t>"total"</a:t>
            </a:r>
            <a:r>
              <a:rPr sz="850" i="0">
                <a:solidFill>
                  <a:srgbClr val="E6EDF3"/>
                </a:solidFill>
                <a:latin typeface="Inconsolata"/>
              </a:rPr>
              <a:t>: order.total.amount,</a:t>
            </a:r>
          </a:p>
          <a:p>
            <a:pPr>
              <a:lnSpc>
                <a:spcPct val="107843"/>
              </a:lnSpc>
              <a:spcAft>
                <a:spcPts val="0"/>
              </a:spcAft>
            </a:pPr>
            <a:r>
              <a:rPr sz="850" i="0">
                <a:solidFill>
                  <a:srgbClr val="E6EDF3"/>
                </a:solidFill>
                <a:latin typeface="Inconsolata"/>
              </a:rPr>
              <a:t>    }</a:t>
            </a:r>
          </a:p>
        </p:txBody>
      </p:sp>
      <p:sp>
        <p:nvSpPr>
          <p:cNvPr id="29" name="Box 12"/>
          <p:cNvSpPr/>
          <p:nvPr/>
        </p:nvSpPr>
        <p:spPr>
          <a:xfrm>
            <a:off x="704088" y="1828673"/>
            <a:ext cx="5230368" cy="410718"/>
          </a:xfrm>
          <a:prstGeom prst="roundRect">
            <a:avLst>
              <a:gd name="adj" fmla="val 11131"/>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191516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666873"/>
            <a:ext cx="5230368" cy="131318"/>
          </a:xfrm>
          <a:prstGeom prst="roundRect">
            <a:avLst>
              <a:gd name="adj" fmla="val 34816"/>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261366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3085973"/>
            <a:ext cx="5230368" cy="410718"/>
          </a:xfrm>
          <a:prstGeom prst="roundRect">
            <a:avLst>
              <a:gd name="adj" fmla="val 11131"/>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815584" y="317246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Text 19"/>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7" name="Text 20"/>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Nama event = routing key di RabbitMQ</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event_id</a:t>
            </a:r>
            <a:r>
              <a:rPr sz="900" b="0" i="0">
                <a:solidFill>
                  <a:srgbClr val="434343"/>
                </a:solidFill>
                <a:latin typeface="Inter"/>
              </a:rPr>
              <a:t> unik, dipakai consumer untuk idempotency (contoh 05)</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Isinya cukup data yang dibutuhkan consumer</a:t>
            </a:r>
          </a:p>
        </p:txBody>
      </p:sp>
      <p:sp>
        <p:nvSpPr>
          <p:cNvPr id="38" name="Box 21"/>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Text 22"/>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40" name="Text 23"/>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Event = fakta yang sudah terjadi, bukan perintah.</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3 dari 9</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OrderService mengirim event setelah commit</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ports.py  +  order_service.py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11111"/>
              </a:lnSpc>
              <a:spcAft>
                <a:spcPts val="0"/>
              </a:spcAft>
            </a:pPr>
            <a:r>
              <a:rPr sz="750" i="1">
                <a:solidFill>
                  <a:srgbClr val="8B98A8"/>
                </a:solidFill>
                <a:latin typeface="Inconsolata"/>
              </a:rPr>
              <a:t># app/application/ports.py</a:t>
            </a:r>
          </a:p>
          <a:p>
            <a:pPr>
              <a:lnSpc>
                <a:spcPct val="111111"/>
              </a:lnSpc>
              <a:spcAft>
                <a:spcPts val="0"/>
              </a:spcAft>
            </a:pPr>
            <a:r>
              <a:rPr sz="750" i="0">
                <a:solidFill>
                  <a:srgbClr val="FF8E6E"/>
                </a:solidFill>
                <a:latin typeface="Inconsolata"/>
              </a:rPr>
              <a:t>class</a:t>
            </a:r>
            <a:r>
              <a:rPr sz="750" i="0">
                <a:solidFill>
                  <a:srgbClr val="E6EDF3"/>
                </a:solidFill>
                <a:latin typeface="Inconsolata"/>
              </a:rPr>
              <a:t> </a:t>
            </a:r>
            <a:r>
              <a:rPr sz="750" i="0">
                <a:solidFill>
                  <a:srgbClr val="7FDBCA"/>
                </a:solidFill>
                <a:latin typeface="Inconsolata"/>
              </a:rPr>
              <a:t>EventPublisher</a:t>
            </a:r>
            <a:r>
              <a:rPr sz="750" i="0">
                <a:solidFill>
                  <a:srgbClr val="E6EDF3"/>
                </a:solidFill>
                <a:latin typeface="Inconsolata"/>
              </a:rPr>
              <a:t>(</a:t>
            </a:r>
            <a:r>
              <a:rPr sz="750" i="0">
                <a:solidFill>
                  <a:srgbClr val="7FDBCA"/>
                </a:solidFill>
                <a:latin typeface="Inconsolata"/>
              </a:rPr>
              <a:t>Protocol</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A5D6A7"/>
                </a:solidFill>
                <a:latin typeface="Inconsolata"/>
              </a:rPr>
              <a:t>"""Mengumumkan event ke message broker."""</a:t>
            </a:r>
          </a:p>
          <a:p>
            <a:pPr>
              <a:lnSpc>
                <a:spcPct val="111111"/>
              </a:lnSpc>
              <a:spcAft>
                <a:spcPts val="0"/>
              </a:spcAft>
            </a:pPr>
            <a:r>
              <a:rPr sz="750" i="0">
                <a:solidFill>
                  <a:srgbClr val="E6EDF3"/>
                </a:solidFill>
                <a:latin typeface="Inconsolata"/>
              </a:rPr>
              <a:t>    </a:t>
            </a: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publish</a:t>
            </a:r>
            <a:r>
              <a:rPr sz="750" i="0">
                <a:solidFill>
                  <a:srgbClr val="E6EDF3"/>
                </a:solidFill>
                <a:latin typeface="Inconsolata"/>
              </a:rPr>
              <a:t>(</a:t>
            </a:r>
            <a:r>
              <a:rPr sz="750" i="0">
                <a:solidFill>
                  <a:srgbClr val="C3A6FF"/>
                </a:solidFill>
                <a:latin typeface="Inconsolata"/>
              </a:rPr>
              <a:t>self</a:t>
            </a:r>
            <a:r>
              <a:rPr sz="750" i="0">
                <a:solidFill>
                  <a:srgbClr val="E6EDF3"/>
                </a:solidFill>
                <a:latin typeface="Inconsolata"/>
              </a:rPr>
              <a:t>, event: </a:t>
            </a:r>
            <a:r>
              <a:rPr sz="750" i="0">
                <a:solidFill>
                  <a:srgbClr val="C3A6FF"/>
                </a:solidFill>
                <a:latin typeface="Inconsolata"/>
              </a:rPr>
              <a:t>dict</a:t>
            </a:r>
            <a:r>
              <a:rPr sz="750" i="0">
                <a:solidFill>
                  <a:srgbClr val="E6EDF3"/>
                </a:solidFill>
                <a:latin typeface="Inconsolata"/>
              </a:rPr>
              <a:t>) -&gt; </a:t>
            </a:r>
            <a:r>
              <a:rPr sz="750" i="0">
                <a:solidFill>
                  <a:srgbClr val="FF8E6E"/>
                </a:solidFill>
                <a:latin typeface="Inconsolata"/>
              </a:rPr>
              <a:t>None</a:t>
            </a:r>
            <a:r>
              <a:rPr sz="750" i="0">
                <a:solidFill>
                  <a:srgbClr val="E6EDF3"/>
                </a:solidFill>
                <a:latin typeface="Inconsolata"/>
              </a:rPr>
              <a:t>: ...</a:t>
            </a:r>
          </a:p>
          <a:p>
            <a:pPr>
              <a:lnSpc>
                <a:spcPct val="111111"/>
              </a:lnSpc>
              <a:spcAft>
                <a:spcPts val="0"/>
              </a:spcAft>
            </a:pPr>
            <a:r>
              <a:rPr sz="750" i="0">
                <a:solidFill>
                  <a:srgbClr val="E6EDF3"/>
                </a:solidFill>
                <a:latin typeface="Inconsolata"/>
              </a:rPr>
              <a:t> </a:t>
            </a:r>
          </a:p>
          <a:p>
            <a:pPr>
              <a:lnSpc>
                <a:spcPct val="111111"/>
              </a:lnSpc>
              <a:spcAft>
                <a:spcPts val="0"/>
              </a:spcAft>
            </a:pPr>
            <a:r>
              <a:rPr sz="750" i="1">
                <a:solidFill>
                  <a:srgbClr val="8B98A8"/>
                </a:solidFill>
                <a:latin typeface="Inconsolata"/>
              </a:rPr>
              <a:t># app/application/order_service.py</a:t>
            </a:r>
          </a:p>
          <a:p>
            <a:pPr>
              <a:lnSpc>
                <a:spcPct val="111111"/>
              </a:lnSpc>
              <a:spcAft>
                <a:spcPts val="0"/>
              </a:spcAft>
            </a:pPr>
            <a:r>
              <a:rPr sz="750" i="0">
                <a:solidFill>
                  <a:srgbClr val="FF8E6E"/>
                </a:solidFill>
                <a:latin typeface="Inconsolata"/>
              </a:rPr>
              <a:t>class</a:t>
            </a:r>
            <a:r>
              <a:rPr sz="750" i="0">
                <a:solidFill>
                  <a:srgbClr val="E6EDF3"/>
                </a:solidFill>
                <a:latin typeface="Inconsolata"/>
              </a:rPr>
              <a:t> </a:t>
            </a:r>
            <a:r>
              <a:rPr sz="750" i="0">
                <a:solidFill>
                  <a:srgbClr val="7FDBCA"/>
                </a:solidFill>
                <a:latin typeface="Inconsolata"/>
              </a:rPr>
              <a:t>OrderService</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__init__</a:t>
            </a:r>
            <a:r>
              <a:rPr sz="750" i="0">
                <a:solidFill>
                  <a:srgbClr val="E6EDF3"/>
                </a:solidFill>
                <a:latin typeface="Inconsolata"/>
              </a:rPr>
              <a:t>(</a:t>
            </a:r>
            <a:r>
              <a:rPr sz="750" i="0">
                <a:solidFill>
                  <a:srgbClr val="C3A6FF"/>
                </a:solidFill>
                <a:latin typeface="Inconsolata"/>
              </a:rPr>
              <a:t>self</a:t>
            </a:r>
            <a:r>
              <a:rPr sz="750" i="0">
                <a:solidFill>
                  <a:srgbClr val="E6EDF3"/>
                </a:solidFill>
                <a:latin typeface="Inconsolata"/>
              </a:rPr>
              <a:t>, uow: </a:t>
            </a:r>
            <a:r>
              <a:rPr sz="750" i="0">
                <a:solidFill>
                  <a:srgbClr val="7FDBCA"/>
                </a:solidFill>
                <a:latin typeface="Inconsolata"/>
              </a:rPr>
              <a:t>UnitOfWork</a:t>
            </a:r>
            <a:r>
              <a:rPr sz="750" i="0">
                <a:solidFill>
                  <a:srgbClr val="E6EDF3"/>
                </a:solidFill>
                <a:latin typeface="Inconsolata"/>
              </a:rPr>
              <a:t>, events: </a:t>
            </a:r>
            <a:r>
              <a:rPr sz="750" i="0">
                <a:solidFill>
                  <a:srgbClr val="7FDBCA"/>
                </a:solidFill>
                <a:latin typeface="Inconsolata"/>
              </a:rPr>
              <a:t>EventPublisher</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C3A6FF"/>
                </a:solidFill>
                <a:latin typeface="Inconsolata"/>
              </a:rPr>
              <a:t>self</a:t>
            </a:r>
            <a:r>
              <a:rPr sz="750" i="0">
                <a:solidFill>
                  <a:srgbClr val="E6EDF3"/>
                </a:solidFill>
                <a:latin typeface="Inconsolata"/>
              </a:rPr>
              <a:t>.uow = uow</a:t>
            </a:r>
          </a:p>
          <a:p>
            <a:pPr>
              <a:lnSpc>
                <a:spcPct val="111111"/>
              </a:lnSpc>
              <a:spcAft>
                <a:spcPts val="0"/>
              </a:spcAft>
            </a:pPr>
            <a:r>
              <a:rPr sz="750" i="0">
                <a:solidFill>
                  <a:srgbClr val="E6EDF3"/>
                </a:solidFill>
                <a:latin typeface="Inconsolata"/>
              </a:rPr>
              <a:t>        </a:t>
            </a:r>
            <a:r>
              <a:rPr sz="750" i="0">
                <a:solidFill>
                  <a:srgbClr val="C3A6FF"/>
                </a:solidFill>
                <a:latin typeface="Inconsolata"/>
              </a:rPr>
              <a:t>self</a:t>
            </a:r>
            <a:r>
              <a:rPr sz="750" i="0">
                <a:solidFill>
                  <a:srgbClr val="E6EDF3"/>
                </a:solidFill>
                <a:latin typeface="Inconsolata"/>
              </a:rPr>
              <a:t>.events = events</a:t>
            </a:r>
          </a:p>
          <a:p>
            <a:pPr>
              <a:lnSpc>
                <a:spcPct val="111111"/>
              </a:lnSpc>
              <a:spcAft>
                <a:spcPts val="0"/>
              </a:spcAft>
            </a:pPr>
            <a:r>
              <a:rPr sz="750" i="0">
                <a:solidFill>
                  <a:srgbClr val="E6EDF3"/>
                </a:solidFill>
                <a:latin typeface="Inconsolata"/>
              </a:rPr>
              <a:t>        </a:t>
            </a:r>
            <a:r>
              <a:rPr sz="750" i="0">
                <a:solidFill>
                  <a:srgbClr val="C3A6FF"/>
                </a:solidFill>
                <a:latin typeface="Inconsolata"/>
              </a:rPr>
              <a:t>self</a:t>
            </a:r>
            <a:r>
              <a:rPr sz="750" i="0">
                <a:solidFill>
                  <a:srgbClr val="E6EDF3"/>
                </a:solidFill>
                <a:latin typeface="Inconsolata"/>
              </a:rPr>
              <a:t>.discount_policy = </a:t>
            </a:r>
            <a:r>
              <a:rPr sz="750" i="0">
                <a:solidFill>
                  <a:srgbClr val="7FDBCA"/>
                </a:solidFill>
                <a:latin typeface="Inconsolata"/>
              </a:rPr>
              <a:t>DiscountPolicy</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p>
          <a:p>
            <a:pPr>
              <a:lnSpc>
                <a:spcPct val="111111"/>
              </a:lnSpc>
              <a:spcAft>
                <a:spcPts val="0"/>
              </a:spcAft>
            </a:pPr>
            <a:r>
              <a:rPr sz="750" i="0">
                <a:solidFill>
                  <a:srgbClr val="E6EDF3"/>
                </a:solidFill>
                <a:latin typeface="Inconsolata"/>
              </a:rPr>
              <a:t>            </a:t>
            </a:r>
            <a:r>
              <a:rPr sz="750" i="0">
                <a:solidFill>
                  <a:srgbClr val="C3A6FF"/>
                </a:solidFill>
                <a:latin typeface="Inconsolata"/>
              </a:rPr>
              <a:t>self</a:t>
            </a:r>
            <a:r>
              <a:rPr sz="750" i="0">
                <a:solidFill>
                  <a:srgbClr val="E6EDF3"/>
                </a:solidFill>
                <a:latin typeface="Inconsolata"/>
              </a:rPr>
              <a:t>.uow.orders.add(order)</a:t>
            </a:r>
          </a:p>
          <a:p>
            <a:pPr>
              <a:lnSpc>
                <a:spcPct val="111111"/>
              </a:lnSpc>
              <a:spcAft>
                <a:spcPts val="0"/>
              </a:spcAft>
            </a:pPr>
            <a:r>
              <a:rPr sz="750" i="0">
                <a:solidFill>
                  <a:srgbClr val="E6EDF3"/>
                </a:solidFill>
                <a:latin typeface="Inconsolata"/>
              </a:rPr>
              <a:t>            </a:t>
            </a:r>
            <a:r>
              <a:rPr sz="750" i="0">
                <a:solidFill>
                  <a:srgbClr val="C3A6FF"/>
                </a:solidFill>
                <a:latin typeface="Inconsolata"/>
              </a:rPr>
              <a:t>self</a:t>
            </a:r>
            <a:r>
              <a:rPr sz="750" i="0">
                <a:solidFill>
                  <a:srgbClr val="E6EDF3"/>
                </a:solidFill>
                <a:latin typeface="Inconsolata"/>
              </a:rPr>
              <a:t>.uow.commit()</a:t>
            </a:r>
          </a:p>
          <a:p>
            <a:pPr>
              <a:lnSpc>
                <a:spcPct val="111111"/>
              </a:lnSpc>
              <a:spcAft>
                <a:spcPts val="0"/>
              </a:spcAft>
            </a:pPr>
            <a:r>
              <a:rPr sz="750" i="0">
                <a:solidFill>
                  <a:srgbClr val="E6EDF3"/>
                </a:solidFill>
                <a:latin typeface="Inconsolata"/>
              </a:rPr>
              <a:t> </a:t>
            </a:r>
          </a:p>
          <a:p>
            <a:pPr>
              <a:lnSpc>
                <a:spcPct val="111111"/>
              </a:lnSpc>
              <a:spcAft>
                <a:spcPts val="0"/>
              </a:spcAft>
            </a:pPr>
            <a:r>
              <a:rPr sz="750" i="0">
                <a:solidFill>
                  <a:srgbClr val="E6EDF3"/>
                </a:solidFill>
                <a:latin typeface="Inconsolata"/>
              </a:rPr>
              <a:t>        </a:t>
            </a:r>
            <a:r>
              <a:rPr sz="750" i="0">
                <a:solidFill>
                  <a:srgbClr val="C3A6FF"/>
                </a:solidFill>
                <a:latin typeface="Inconsolata"/>
              </a:rPr>
              <a:t>self</a:t>
            </a:r>
            <a:r>
              <a:rPr sz="750" i="0">
                <a:solidFill>
                  <a:srgbClr val="E6EDF3"/>
                </a:solidFill>
                <a:latin typeface="Inconsolata"/>
              </a:rPr>
              <a:t>.events.publish(order_event(</a:t>
            </a:r>
            <a:r>
              <a:rPr sz="750" i="0">
                <a:solidFill>
                  <a:srgbClr val="7FDBCA"/>
                </a:solidFill>
                <a:latin typeface="Inconsolata"/>
              </a:rPr>
              <a:t>ORDER_PLACED</a:t>
            </a:r>
            <a:r>
              <a:rPr sz="750" i="0">
                <a:solidFill>
                  <a:srgbClr val="E6EDF3"/>
                </a:solidFill>
                <a:latin typeface="Inconsolata"/>
              </a:rPr>
              <a:t>, order))</a:t>
            </a:r>
          </a:p>
          <a:p>
            <a:pPr>
              <a:lnSpc>
                <a:spcPct val="111111"/>
              </a:lnSpc>
              <a:spcAft>
                <a:spcPts val="0"/>
              </a:spcAft>
            </a:pPr>
            <a:r>
              <a:rPr sz="750" i="0">
                <a:solidFill>
                  <a:srgbClr val="E6EDF3"/>
                </a:solidFill>
                <a:latin typeface="Inconsolata"/>
              </a:rPr>
              <a:t>        </a:t>
            </a:r>
            <a:r>
              <a:rPr sz="750" i="0">
                <a:solidFill>
                  <a:srgbClr val="FF8E6E"/>
                </a:solidFill>
                <a:latin typeface="Inconsolata"/>
              </a:rPr>
              <a:t>return</a:t>
            </a:r>
            <a:r>
              <a:rPr sz="750" i="0">
                <a:solidFill>
                  <a:srgbClr val="E6EDF3"/>
                </a:solidFill>
                <a:latin typeface="Inconsolata"/>
              </a:rPr>
              <a:t> order</a:t>
            </a:r>
          </a:p>
        </p:txBody>
      </p:sp>
      <p:sp>
        <p:nvSpPr>
          <p:cNvPr id="29" name="Box 12"/>
          <p:cNvSpPr/>
          <p:nvPr/>
        </p:nvSpPr>
        <p:spPr>
          <a:xfrm>
            <a:off x="704088" y="1954022"/>
            <a:ext cx="5230368" cy="373380"/>
          </a:xfrm>
          <a:prstGeom prst="roundRect">
            <a:avLst>
              <a:gd name="adj" fmla="val 12244"/>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2021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716022"/>
            <a:ext cx="5230368" cy="373380"/>
          </a:xfrm>
          <a:prstGeom prst="roundRect">
            <a:avLst>
              <a:gd name="adj" fmla="val 12244"/>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2783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3732022"/>
            <a:ext cx="523036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815584" y="3672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Text 19"/>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7" name="Text 20"/>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Port </a:t>
            </a:r>
            <a:r>
              <a:rPr sz="900" b="0" i="0">
                <a:solidFill>
                  <a:srgbClr val="B5482A"/>
                </a:solidFill>
                <a:latin typeface="Inconsolata"/>
              </a:rPr>
              <a:t>EventPublisher</a:t>
            </a:r>
            <a:r>
              <a:rPr sz="900" b="0" i="0">
                <a:solidFill>
                  <a:srgbClr val="434343"/>
                </a:solidFill>
                <a:latin typeface="Inter"/>
              </a:rPr>
              <a:t>: application tidak tahu RabbitMQ</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OrderService</a:t>
            </a:r>
            <a:r>
              <a:rPr sz="900" b="0" i="0">
                <a:solidFill>
                  <a:srgbClr val="434343"/>
                </a:solidFill>
                <a:latin typeface="Inter"/>
              </a:rPr>
              <a:t> menerima </a:t>
            </a:r>
            <a:r>
              <a:rPr sz="900" b="0" i="0">
                <a:solidFill>
                  <a:srgbClr val="B5482A"/>
                </a:solidFill>
                <a:latin typeface="Inconsolata"/>
              </a:rPr>
              <a:t>events</a:t>
            </a:r>
            <a:r>
              <a:rPr sz="900" b="0" i="0">
                <a:solidFill>
                  <a:srgbClr val="434343"/>
                </a:solidFill>
                <a:latin typeface="Inter"/>
              </a:rPr>
              <a:t>, bukan </a:t>
            </a:r>
            <a:r>
              <a:rPr sz="900" b="0" i="0">
                <a:solidFill>
                  <a:srgbClr val="B5482A"/>
                </a:solidFill>
                <a:latin typeface="Inconsolata"/>
              </a:rPr>
              <a:t>notifier</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Event dikirim </a:t>
            </a:r>
            <a:r>
              <a:rPr sz="900" b="1" i="0">
                <a:solidFill>
                  <a:srgbClr val="434343"/>
                </a:solidFill>
                <a:latin typeface="Inter"/>
              </a:rPr>
              <a:t>setelah</a:t>
            </a:r>
            <a:r>
              <a:rPr sz="900" b="0" i="0">
                <a:solidFill>
                  <a:srgbClr val="434343"/>
                </a:solidFill>
                <a:latin typeface="Inter"/>
              </a:rPr>
              <a:t> commit, </a:t>
            </a:r>
            <a:r>
              <a:rPr sz="900" b="0" i="0">
                <a:solidFill>
                  <a:srgbClr val="B5482A"/>
                </a:solidFill>
                <a:latin typeface="Inconsolata"/>
              </a:rPr>
              <a:t>pay_order</a:t>
            </a:r>
            <a:r>
              <a:rPr sz="900" b="0" i="0">
                <a:solidFill>
                  <a:srgbClr val="434343"/>
                </a:solidFill>
                <a:latin typeface="Inter"/>
              </a:rPr>
              <a:t> dan </a:t>
            </a:r>
            <a:r>
              <a:rPr sz="900" b="0" i="0">
                <a:solidFill>
                  <a:srgbClr val="B5482A"/>
                </a:solidFill>
                <a:latin typeface="Inconsolata"/>
              </a:rPr>
              <a:t>cancel_order</a:t>
            </a:r>
            <a:r>
              <a:rPr sz="900" b="0" i="0">
                <a:solidFill>
                  <a:srgbClr val="434343"/>
                </a:solidFill>
                <a:latin typeface="Inter"/>
              </a:rPr>
              <a:t> sama polanya</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Tambahkan juga port </a:t>
            </a:r>
            <a:r>
              <a:rPr sz="900" b="0" i="0">
                <a:solidFill>
                  <a:srgbClr val="B5482A"/>
                </a:solidFill>
                <a:latin typeface="Inconsolata"/>
              </a:rPr>
              <a:t>NotificationLog</a:t>
            </a:r>
          </a:p>
        </p:txBody>
      </p:sp>
      <p:sp>
        <p:nvSpPr>
          <p:cNvPr id="38" name="Box 21"/>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Text 22"/>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40" name="Text 23"/>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Order gagal = tidak ada event.</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4 dari 9</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infrastructure/rabbitmq.py: topologi dan publisher</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app/infrastructure/rabbitmq.py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11111"/>
              </a:lnSpc>
              <a:spcAft>
                <a:spcPts val="0"/>
              </a:spcAft>
            </a:pPr>
            <a:r>
              <a:rPr sz="600" i="0">
                <a:solidFill>
                  <a:srgbClr val="FF8E6E"/>
                </a:solidFill>
                <a:latin typeface="Inconsolata"/>
              </a:rPr>
              <a:t>def</a:t>
            </a:r>
            <a:r>
              <a:rPr sz="600" i="0">
                <a:solidFill>
                  <a:srgbClr val="E6EDF3"/>
                </a:solidFill>
                <a:latin typeface="Inconsolata"/>
              </a:rPr>
              <a:t> </a:t>
            </a:r>
            <a:r>
              <a:rPr sz="600" i="0">
                <a:solidFill>
                  <a:srgbClr val="82B1FF"/>
                </a:solidFill>
                <a:latin typeface="Inconsolata"/>
              </a:rPr>
              <a:t>declare_topology</a:t>
            </a:r>
            <a:r>
              <a:rPr sz="600" i="0">
                <a:solidFill>
                  <a:srgbClr val="E6EDF3"/>
                </a:solidFill>
                <a:latin typeface="Inconsolata"/>
              </a:rPr>
              <a:t>(channel) -&gt; </a:t>
            </a:r>
            <a:r>
              <a:rPr sz="600" i="0">
                <a:solidFill>
                  <a:srgbClr val="FF8E6E"/>
                </a:solidFill>
                <a:latin typeface="Inconsolata"/>
              </a:rPr>
              <a:t>None</a:t>
            </a:r>
            <a:r>
              <a:rPr sz="600" i="0">
                <a:solidFill>
                  <a:srgbClr val="E6EDF3"/>
                </a:solidFill>
                <a:latin typeface="Inconsolata"/>
              </a:rPr>
              <a:t>:</a:t>
            </a:r>
          </a:p>
          <a:p>
            <a:pPr>
              <a:lnSpc>
                <a:spcPct val="111111"/>
              </a:lnSpc>
              <a:spcAft>
                <a:spcPts val="0"/>
              </a:spcAft>
            </a:pPr>
            <a:r>
              <a:rPr sz="600" i="0">
                <a:solidFill>
                  <a:srgbClr val="E6EDF3"/>
                </a:solidFill>
                <a:latin typeface="Inconsolata"/>
              </a:rPr>
              <a:t>    channel.exchange_declare(</a:t>
            </a:r>
            <a:r>
              <a:rPr sz="600" i="0">
                <a:solidFill>
                  <a:srgbClr val="7FDBCA"/>
                </a:solidFill>
                <a:latin typeface="Inconsolata"/>
              </a:rPr>
              <a:t>EXCHANGE</a:t>
            </a:r>
            <a:r>
              <a:rPr sz="600" i="0">
                <a:solidFill>
                  <a:srgbClr val="E6EDF3"/>
                </a:solidFill>
                <a:latin typeface="Inconsolata"/>
              </a:rPr>
              <a:t>, exchange_type=</a:t>
            </a:r>
            <a:r>
              <a:rPr sz="600" i="0">
                <a:solidFill>
                  <a:srgbClr val="A5D6A7"/>
                </a:solidFill>
                <a:latin typeface="Inconsolata"/>
              </a:rPr>
              <a:t>"topic"</a:t>
            </a:r>
            <a:r>
              <a:rPr sz="600" i="0">
                <a:solidFill>
                  <a:srgbClr val="E6EDF3"/>
                </a:solidFill>
                <a:latin typeface="Inconsolata"/>
              </a:rPr>
              <a:t>, durable=</a:t>
            </a:r>
            <a:r>
              <a:rPr sz="600" i="0">
                <a:solidFill>
                  <a:srgbClr val="FF8E6E"/>
                </a:solidFill>
                <a:latin typeface="Inconsolata"/>
              </a:rPr>
              <a:t>True</a:t>
            </a:r>
            <a:r>
              <a:rPr sz="600" i="0">
                <a:solidFill>
                  <a:srgbClr val="E6EDF3"/>
                </a:solidFill>
                <a:latin typeface="Inconsolata"/>
              </a:rPr>
              <a:t>)</a:t>
            </a:r>
          </a:p>
          <a:p>
            <a:pPr>
              <a:lnSpc>
                <a:spcPct val="111111"/>
              </a:lnSpc>
              <a:spcAft>
                <a:spcPts val="0"/>
              </a:spcAft>
            </a:pPr>
            <a:r>
              <a:rPr sz="600" i="0">
                <a:solidFill>
                  <a:srgbClr val="E6EDF3"/>
                </a:solidFill>
                <a:latin typeface="Inconsolata"/>
              </a:rPr>
              <a:t>    channel.queue_declare(</a:t>
            </a:r>
            <a:r>
              <a:rPr sz="600" i="0">
                <a:solidFill>
                  <a:srgbClr val="7FDBCA"/>
                </a:solidFill>
                <a:latin typeface="Inconsolata"/>
              </a:rPr>
              <a:t>DEAD_LETTER_QUEUE</a:t>
            </a:r>
            <a:r>
              <a:rPr sz="600" i="0">
                <a:solidFill>
                  <a:srgbClr val="E6EDF3"/>
                </a:solidFill>
                <a:latin typeface="Inconsolata"/>
              </a:rPr>
              <a:t>, durable=</a:t>
            </a:r>
            <a:r>
              <a:rPr sz="600" i="0">
                <a:solidFill>
                  <a:srgbClr val="FF8E6E"/>
                </a:solidFill>
                <a:latin typeface="Inconsolata"/>
              </a:rPr>
              <a:t>True</a:t>
            </a:r>
            <a:r>
              <a:rPr sz="600" i="0">
                <a:solidFill>
                  <a:srgbClr val="E6EDF3"/>
                </a:solidFill>
                <a:latin typeface="Inconsolata"/>
              </a:rPr>
              <a:t>)</a:t>
            </a:r>
          </a:p>
          <a:p>
            <a:pPr>
              <a:lnSpc>
                <a:spcPct val="111111"/>
              </a:lnSpc>
              <a:spcAft>
                <a:spcPts val="0"/>
              </a:spcAft>
            </a:pPr>
            <a:r>
              <a:rPr sz="600" i="0">
                <a:solidFill>
                  <a:srgbClr val="E6EDF3"/>
                </a:solidFill>
                <a:latin typeface="Inconsolata"/>
              </a:rPr>
              <a:t>    channel.queue_declare(</a:t>
            </a:r>
            <a:r>
              <a:rPr sz="600" i="0">
                <a:solidFill>
                  <a:srgbClr val="7FDBCA"/>
                </a:solidFill>
                <a:latin typeface="Inconsolata"/>
              </a:rPr>
              <a:t>QUEUE</a:t>
            </a:r>
            <a:r>
              <a:rPr sz="600" i="0">
                <a:solidFill>
                  <a:srgbClr val="E6EDF3"/>
                </a:solidFill>
                <a:latin typeface="Inconsolata"/>
              </a:rPr>
              <a:t>, durable=</a:t>
            </a:r>
            <a:r>
              <a:rPr sz="600" i="0">
                <a:solidFill>
                  <a:srgbClr val="FF8E6E"/>
                </a:solidFill>
                <a:latin typeface="Inconsolata"/>
              </a:rPr>
              <a:t>True</a:t>
            </a:r>
            <a:r>
              <a:rPr sz="600" i="0">
                <a:solidFill>
                  <a:srgbClr val="E6EDF3"/>
                </a:solidFill>
                <a:latin typeface="Inconsolata"/>
              </a:rPr>
              <a:t>, arguments={</a:t>
            </a:r>
          </a:p>
          <a:p>
            <a:pPr>
              <a:lnSpc>
                <a:spcPct val="111111"/>
              </a:lnSpc>
              <a:spcAft>
                <a:spcPts val="0"/>
              </a:spcAft>
            </a:pPr>
            <a:r>
              <a:rPr sz="600" i="0">
                <a:solidFill>
                  <a:srgbClr val="E6EDF3"/>
                </a:solidFill>
                <a:latin typeface="Inconsolata"/>
              </a:rPr>
              <a:t>        </a:t>
            </a:r>
            <a:r>
              <a:rPr sz="600" i="0">
                <a:solidFill>
                  <a:srgbClr val="A5D6A7"/>
                </a:solidFill>
                <a:latin typeface="Inconsolata"/>
              </a:rPr>
              <a:t>"x-dead-letter-exchange"</a:t>
            </a:r>
            <a:r>
              <a:rPr sz="600" i="0">
                <a:solidFill>
                  <a:srgbClr val="E6EDF3"/>
                </a:solidFill>
                <a:latin typeface="Inconsolata"/>
              </a:rPr>
              <a:t>: </a:t>
            </a:r>
            <a:r>
              <a:rPr sz="600" i="0">
                <a:solidFill>
                  <a:srgbClr val="A5D6A7"/>
                </a:solidFill>
                <a:latin typeface="Inconsolata"/>
              </a:rPr>
              <a:t>""</a:t>
            </a:r>
            <a:r>
              <a:rPr sz="600" i="0">
                <a:solidFill>
                  <a:srgbClr val="E6EDF3"/>
                </a:solidFill>
                <a:latin typeface="Inconsolata"/>
              </a:rPr>
              <a:t>, </a:t>
            </a:r>
            <a:r>
              <a:rPr sz="600" i="0">
                <a:solidFill>
                  <a:srgbClr val="A5D6A7"/>
                </a:solidFill>
                <a:latin typeface="Inconsolata"/>
              </a:rPr>
              <a:t>"x-dead-letter-routing-key"</a:t>
            </a:r>
            <a:r>
              <a:rPr sz="600" i="0">
                <a:solidFill>
                  <a:srgbClr val="E6EDF3"/>
                </a:solidFill>
                <a:latin typeface="Inconsolata"/>
              </a:rPr>
              <a:t>: </a:t>
            </a:r>
            <a:r>
              <a:rPr sz="600" i="0">
                <a:solidFill>
                  <a:srgbClr val="7FDBCA"/>
                </a:solidFill>
                <a:latin typeface="Inconsolata"/>
              </a:rPr>
              <a:t>DEAD_LETTER_QUEUE</a:t>
            </a:r>
            <a:r>
              <a:rPr sz="600" i="0">
                <a:solidFill>
                  <a:srgbClr val="E6EDF3"/>
                </a:solidFill>
                <a:latin typeface="Inconsolata"/>
              </a:rPr>
              <a:t>})</a:t>
            </a:r>
          </a:p>
          <a:p>
            <a:pPr>
              <a:lnSpc>
                <a:spcPct val="111111"/>
              </a:lnSpc>
              <a:spcAft>
                <a:spcPts val="0"/>
              </a:spcAft>
            </a:pPr>
            <a:r>
              <a:rPr sz="600" i="0">
                <a:solidFill>
                  <a:srgbClr val="E6EDF3"/>
                </a:solidFill>
                <a:latin typeface="Inconsolata"/>
              </a:rPr>
              <a:t>    channel.queue_bind(</a:t>
            </a:r>
            <a:r>
              <a:rPr sz="600" i="0">
                <a:solidFill>
                  <a:srgbClr val="7FDBCA"/>
                </a:solidFill>
                <a:latin typeface="Inconsolata"/>
              </a:rPr>
              <a:t>QUEUE</a:t>
            </a:r>
            <a:r>
              <a:rPr sz="600" i="0">
                <a:solidFill>
                  <a:srgbClr val="E6EDF3"/>
                </a:solidFill>
                <a:latin typeface="Inconsolata"/>
              </a:rPr>
              <a:t>, </a:t>
            </a:r>
            <a:r>
              <a:rPr sz="600" i="0">
                <a:solidFill>
                  <a:srgbClr val="7FDBCA"/>
                </a:solidFill>
                <a:latin typeface="Inconsolata"/>
              </a:rPr>
              <a:t>EXCHANGE</a:t>
            </a:r>
            <a:r>
              <a:rPr sz="600" i="0">
                <a:solidFill>
                  <a:srgbClr val="E6EDF3"/>
                </a:solidFill>
                <a:latin typeface="Inconsolata"/>
              </a:rPr>
              <a:t>, routing_key=</a:t>
            </a:r>
            <a:r>
              <a:rPr sz="600" i="0">
                <a:solidFill>
                  <a:srgbClr val="A5D6A7"/>
                </a:solidFill>
                <a:latin typeface="Inconsolata"/>
              </a:rPr>
              <a:t>"order.*"</a:t>
            </a:r>
            <a:r>
              <a:rPr sz="600" i="0">
                <a:solidFill>
                  <a:srgbClr val="E6EDF3"/>
                </a:solidFill>
                <a:latin typeface="Inconsolata"/>
              </a:rPr>
              <a:t>)</a:t>
            </a:r>
          </a:p>
          <a:p>
            <a:pPr>
              <a:lnSpc>
                <a:spcPct val="111111"/>
              </a:lnSpc>
              <a:spcAft>
                <a:spcPts val="0"/>
              </a:spcAft>
            </a:pPr>
            <a:r>
              <a:rPr sz="600" i="0">
                <a:solidFill>
                  <a:srgbClr val="E6EDF3"/>
                </a:solidFill>
                <a:latin typeface="Inconsolata"/>
              </a:rPr>
              <a:t>    channel.queue_declare(</a:t>
            </a:r>
            <a:r>
              <a:rPr sz="600" i="0">
                <a:solidFill>
                  <a:srgbClr val="7FDBCA"/>
                </a:solidFill>
                <a:latin typeface="Inconsolata"/>
              </a:rPr>
              <a:t>RETRY_QUEUE</a:t>
            </a:r>
            <a:r>
              <a:rPr sz="600" i="0">
                <a:solidFill>
                  <a:srgbClr val="E6EDF3"/>
                </a:solidFill>
                <a:latin typeface="Inconsolata"/>
              </a:rPr>
              <a:t>, durable=</a:t>
            </a:r>
            <a:r>
              <a:rPr sz="600" i="0">
                <a:solidFill>
                  <a:srgbClr val="FF8E6E"/>
                </a:solidFill>
                <a:latin typeface="Inconsolata"/>
              </a:rPr>
              <a:t>True</a:t>
            </a:r>
            <a:r>
              <a:rPr sz="600" i="0">
                <a:solidFill>
                  <a:srgbClr val="E6EDF3"/>
                </a:solidFill>
                <a:latin typeface="Inconsolata"/>
              </a:rPr>
              <a:t>, arguments={</a:t>
            </a:r>
          </a:p>
          <a:p>
            <a:pPr>
              <a:lnSpc>
                <a:spcPct val="111111"/>
              </a:lnSpc>
              <a:spcAft>
                <a:spcPts val="0"/>
              </a:spcAft>
            </a:pPr>
            <a:r>
              <a:rPr sz="600" i="0">
                <a:solidFill>
                  <a:srgbClr val="E6EDF3"/>
                </a:solidFill>
                <a:latin typeface="Inconsolata"/>
              </a:rPr>
              <a:t>        </a:t>
            </a:r>
            <a:r>
              <a:rPr sz="600" i="0">
                <a:solidFill>
                  <a:srgbClr val="A5D6A7"/>
                </a:solidFill>
                <a:latin typeface="Inconsolata"/>
              </a:rPr>
              <a:t>"x-dead-letter-exchange"</a:t>
            </a:r>
            <a:r>
              <a:rPr sz="600" i="0">
                <a:solidFill>
                  <a:srgbClr val="E6EDF3"/>
                </a:solidFill>
                <a:latin typeface="Inconsolata"/>
              </a:rPr>
              <a:t>: </a:t>
            </a:r>
            <a:r>
              <a:rPr sz="600" i="0">
                <a:solidFill>
                  <a:srgbClr val="A5D6A7"/>
                </a:solidFill>
                <a:latin typeface="Inconsolata"/>
              </a:rPr>
              <a:t>""</a:t>
            </a:r>
            <a:r>
              <a:rPr sz="600" i="0">
                <a:solidFill>
                  <a:srgbClr val="E6EDF3"/>
                </a:solidFill>
                <a:latin typeface="Inconsolata"/>
              </a:rPr>
              <a:t>, </a:t>
            </a:r>
            <a:r>
              <a:rPr sz="600" i="0">
                <a:solidFill>
                  <a:srgbClr val="A5D6A7"/>
                </a:solidFill>
                <a:latin typeface="Inconsolata"/>
              </a:rPr>
              <a:t>"x-dead-letter-routing-key"</a:t>
            </a:r>
            <a:r>
              <a:rPr sz="600" i="0">
                <a:solidFill>
                  <a:srgbClr val="E6EDF3"/>
                </a:solidFill>
                <a:latin typeface="Inconsolata"/>
              </a:rPr>
              <a:t>: </a:t>
            </a:r>
            <a:r>
              <a:rPr sz="600" i="0">
                <a:solidFill>
                  <a:srgbClr val="7FDBCA"/>
                </a:solidFill>
                <a:latin typeface="Inconsolata"/>
              </a:rPr>
              <a:t>QUEUE</a:t>
            </a:r>
            <a:r>
              <a:rPr sz="600" i="0">
                <a:solidFill>
                  <a:srgbClr val="E6EDF3"/>
                </a:solidFill>
                <a:latin typeface="Inconsolata"/>
              </a:rPr>
              <a:t>})</a:t>
            </a:r>
          </a:p>
          <a:p>
            <a:pPr>
              <a:lnSpc>
                <a:spcPct val="111111"/>
              </a:lnSpc>
              <a:spcAft>
                <a:spcPts val="0"/>
              </a:spcAft>
            </a:pPr>
            <a:r>
              <a:rPr sz="600" i="0">
                <a:solidFill>
                  <a:srgbClr val="E6EDF3"/>
                </a:solidFill>
                <a:latin typeface="Inconsolata"/>
              </a:rPr>
              <a:t>...</a:t>
            </a:r>
          </a:p>
          <a:p>
            <a:pPr>
              <a:lnSpc>
                <a:spcPct val="111111"/>
              </a:lnSpc>
              <a:spcAft>
                <a:spcPts val="0"/>
              </a:spcAft>
            </a:pPr>
            <a:r>
              <a:rPr sz="600" i="0">
                <a:solidFill>
                  <a:srgbClr val="E6EDF3"/>
                </a:solidFill>
                <a:latin typeface="Inconsolata"/>
              </a:rPr>
              <a:t>    </a:t>
            </a:r>
            <a:r>
              <a:rPr sz="600" i="0">
                <a:solidFill>
                  <a:srgbClr val="FF8E6E"/>
                </a:solidFill>
                <a:latin typeface="Inconsolata"/>
              </a:rPr>
              <a:t>def</a:t>
            </a:r>
            <a:r>
              <a:rPr sz="600" i="0">
                <a:solidFill>
                  <a:srgbClr val="E6EDF3"/>
                </a:solidFill>
                <a:latin typeface="Inconsolata"/>
              </a:rPr>
              <a:t> </a:t>
            </a:r>
            <a:r>
              <a:rPr sz="600" i="0">
                <a:solidFill>
                  <a:srgbClr val="82B1FF"/>
                </a:solidFill>
                <a:latin typeface="Inconsolata"/>
              </a:rPr>
              <a:t>publish</a:t>
            </a:r>
            <a:r>
              <a:rPr sz="600" i="0">
                <a:solidFill>
                  <a:srgbClr val="E6EDF3"/>
                </a:solidFill>
                <a:latin typeface="Inconsolata"/>
              </a:rPr>
              <a:t>(</a:t>
            </a:r>
            <a:r>
              <a:rPr sz="600" i="0">
                <a:solidFill>
                  <a:srgbClr val="C3A6FF"/>
                </a:solidFill>
                <a:latin typeface="Inconsolata"/>
              </a:rPr>
              <a:t>self</a:t>
            </a:r>
            <a:r>
              <a:rPr sz="600" i="0">
                <a:solidFill>
                  <a:srgbClr val="E6EDF3"/>
                </a:solidFill>
                <a:latin typeface="Inconsolata"/>
              </a:rPr>
              <a:t>, event: </a:t>
            </a:r>
            <a:r>
              <a:rPr sz="600" i="0">
                <a:solidFill>
                  <a:srgbClr val="C3A6FF"/>
                </a:solidFill>
                <a:latin typeface="Inconsolata"/>
              </a:rPr>
              <a:t>dict</a:t>
            </a:r>
            <a:r>
              <a:rPr sz="600" i="0">
                <a:solidFill>
                  <a:srgbClr val="E6EDF3"/>
                </a:solidFill>
                <a:latin typeface="Inconsolata"/>
              </a:rPr>
              <a:t>) -&gt; </a:t>
            </a:r>
            <a:r>
              <a:rPr sz="600" i="0">
                <a:solidFill>
                  <a:srgbClr val="FF8E6E"/>
                </a:solidFill>
                <a:latin typeface="Inconsolata"/>
              </a:rPr>
              <a:t>None</a:t>
            </a:r>
            <a:r>
              <a:rPr sz="600" i="0">
                <a:solidFill>
                  <a:srgbClr val="E6EDF3"/>
                </a:solidFill>
                <a:latin typeface="Inconsolata"/>
              </a:rPr>
              <a:t>:</a:t>
            </a:r>
          </a:p>
          <a:p>
            <a:pPr>
              <a:lnSpc>
                <a:spcPct val="111111"/>
              </a:lnSpc>
              <a:spcAft>
                <a:spcPts val="0"/>
              </a:spcAft>
            </a:pPr>
            <a:r>
              <a:rPr sz="600" i="0">
                <a:solidFill>
                  <a:srgbClr val="E6EDF3"/>
                </a:solidFill>
                <a:latin typeface="Inconsolata"/>
              </a:rPr>
              <a:t>        </a:t>
            </a:r>
            <a:r>
              <a:rPr sz="600" i="0">
                <a:solidFill>
                  <a:srgbClr val="FF8E6E"/>
                </a:solidFill>
                <a:latin typeface="Inconsolata"/>
              </a:rPr>
              <a:t>try</a:t>
            </a:r>
            <a:r>
              <a:rPr sz="600" i="0">
                <a:solidFill>
                  <a:srgbClr val="E6EDF3"/>
                </a:solidFill>
                <a:latin typeface="Inconsolata"/>
              </a:rPr>
              <a:t>:</a:t>
            </a:r>
          </a:p>
          <a:p>
            <a:pPr>
              <a:lnSpc>
                <a:spcPct val="111111"/>
              </a:lnSpc>
              <a:spcAft>
                <a:spcPts val="0"/>
              </a:spcAft>
            </a:pPr>
            <a:r>
              <a:rPr sz="600" i="0">
                <a:solidFill>
                  <a:srgbClr val="E6EDF3"/>
                </a:solidFill>
                <a:latin typeface="Inconsolata"/>
              </a:rPr>
              <a:t>            </a:t>
            </a:r>
            <a:r>
              <a:rPr sz="600" i="0">
                <a:solidFill>
                  <a:srgbClr val="FF8E6E"/>
                </a:solidFill>
                <a:latin typeface="Inconsolata"/>
              </a:rPr>
              <a:t>with</a:t>
            </a:r>
            <a:r>
              <a:rPr sz="600" i="0">
                <a:solidFill>
                  <a:srgbClr val="E6EDF3"/>
                </a:solidFill>
                <a:latin typeface="Inconsolata"/>
              </a:rPr>
              <a:t> connect(</a:t>
            </a:r>
            <a:r>
              <a:rPr sz="600" i="0">
                <a:solidFill>
                  <a:srgbClr val="C3A6FF"/>
                </a:solidFill>
                <a:latin typeface="Inconsolata"/>
              </a:rPr>
              <a:t>self</a:t>
            </a:r>
            <a:r>
              <a:rPr sz="600" i="0">
                <a:solidFill>
                  <a:srgbClr val="E6EDF3"/>
                </a:solidFill>
                <a:latin typeface="Inconsolata"/>
              </a:rPr>
              <a:t>.url) </a:t>
            </a:r>
            <a:r>
              <a:rPr sz="600" i="0">
                <a:solidFill>
                  <a:srgbClr val="FF8E6E"/>
                </a:solidFill>
                <a:latin typeface="Inconsolata"/>
              </a:rPr>
              <a:t>as</a:t>
            </a:r>
            <a:r>
              <a:rPr sz="600" i="0">
                <a:solidFill>
                  <a:srgbClr val="E6EDF3"/>
                </a:solidFill>
                <a:latin typeface="Inconsolata"/>
              </a:rPr>
              <a:t> connection:</a:t>
            </a:r>
          </a:p>
          <a:p>
            <a:pPr>
              <a:lnSpc>
                <a:spcPct val="111111"/>
              </a:lnSpc>
              <a:spcAft>
                <a:spcPts val="0"/>
              </a:spcAft>
            </a:pPr>
            <a:r>
              <a:rPr sz="600" i="0">
                <a:solidFill>
                  <a:srgbClr val="E6EDF3"/>
                </a:solidFill>
                <a:latin typeface="Inconsolata"/>
              </a:rPr>
              <a:t>                channel = connection.channel()</a:t>
            </a:r>
          </a:p>
          <a:p>
            <a:pPr>
              <a:lnSpc>
                <a:spcPct val="111111"/>
              </a:lnSpc>
              <a:spcAft>
                <a:spcPts val="0"/>
              </a:spcAft>
            </a:pPr>
            <a:r>
              <a:rPr sz="600" i="0">
                <a:solidFill>
                  <a:srgbClr val="E6EDF3"/>
                </a:solidFill>
                <a:latin typeface="Inconsolata"/>
              </a:rPr>
              <a:t>                channel.confirm_delivery()                  </a:t>
            </a:r>
            <a:r>
              <a:rPr sz="600" i="1">
                <a:solidFill>
                  <a:srgbClr val="8B98A8"/>
                </a:solidFill>
                <a:latin typeface="Inconsolata"/>
              </a:rPr>
              <a:t># tunggu RabbitMQ konfirmasi pesan diterima</a:t>
            </a:r>
          </a:p>
          <a:p>
            <a:pPr>
              <a:lnSpc>
                <a:spcPct val="111111"/>
              </a:lnSpc>
              <a:spcAft>
                <a:spcPts val="0"/>
              </a:spcAft>
            </a:pPr>
            <a:r>
              <a:rPr sz="600" i="0">
                <a:solidFill>
                  <a:srgbClr val="E6EDF3"/>
                </a:solidFill>
                <a:latin typeface="Inconsolata"/>
              </a:rPr>
              <a:t>                declare_topology(channel)</a:t>
            </a:r>
          </a:p>
          <a:p>
            <a:pPr>
              <a:lnSpc>
                <a:spcPct val="111111"/>
              </a:lnSpc>
              <a:spcAft>
                <a:spcPts val="0"/>
              </a:spcAft>
            </a:pPr>
            <a:r>
              <a:rPr sz="600" i="0">
                <a:solidFill>
                  <a:srgbClr val="E6EDF3"/>
                </a:solidFill>
                <a:latin typeface="Inconsolata"/>
              </a:rPr>
              <a:t>                channel.basic_publish(</a:t>
            </a:r>
            <a:r>
              <a:rPr sz="600" i="0">
                <a:solidFill>
                  <a:srgbClr val="7FDBCA"/>
                </a:solidFill>
                <a:latin typeface="Inconsolata"/>
              </a:rPr>
              <a:t>EXCHANGE</a:t>
            </a:r>
            <a:r>
              <a:rPr sz="600" i="0">
                <a:solidFill>
                  <a:srgbClr val="E6EDF3"/>
                </a:solidFill>
                <a:latin typeface="Inconsolata"/>
              </a:rPr>
              <a:t>, event[</a:t>
            </a:r>
            <a:r>
              <a:rPr sz="600" i="0">
                <a:solidFill>
                  <a:srgbClr val="A5D6A7"/>
                </a:solidFill>
                <a:latin typeface="Inconsolata"/>
              </a:rPr>
              <a:t>"type"</a:t>
            </a:r>
            <a:r>
              <a:rPr sz="600" i="0">
                <a:solidFill>
                  <a:srgbClr val="E6EDF3"/>
                </a:solidFill>
                <a:latin typeface="Inconsolata"/>
              </a:rPr>
              <a:t>], json.dumps(event), pika.</a:t>
            </a:r>
            <a:r>
              <a:rPr sz="600" i="0">
                <a:solidFill>
                  <a:srgbClr val="7FDBCA"/>
                </a:solidFill>
                <a:latin typeface="Inconsolata"/>
              </a:rPr>
              <a:t>BasicProperties</a:t>
            </a:r>
            <a:r>
              <a:rPr sz="600" i="0">
                <a:solidFill>
                  <a:srgbClr val="E6EDF3"/>
                </a:solidFill>
                <a:latin typeface="Inconsolata"/>
              </a:rPr>
              <a:t>(</a:t>
            </a:r>
          </a:p>
          <a:p>
            <a:pPr>
              <a:lnSpc>
                <a:spcPct val="111111"/>
              </a:lnSpc>
              <a:spcAft>
                <a:spcPts val="0"/>
              </a:spcAft>
            </a:pPr>
            <a:r>
              <a:rPr sz="600" i="0">
                <a:solidFill>
                  <a:srgbClr val="E6EDF3"/>
                </a:solidFill>
                <a:latin typeface="Inconsolata"/>
              </a:rPr>
              <a:t>                    content_type=</a:t>
            </a:r>
            <a:r>
              <a:rPr sz="600" i="0">
                <a:solidFill>
                  <a:srgbClr val="A5D6A7"/>
                </a:solidFill>
                <a:latin typeface="Inconsolata"/>
              </a:rPr>
              <a:t>"application/json"</a:t>
            </a:r>
            <a:r>
              <a:rPr sz="600" i="0">
                <a:solidFill>
                  <a:srgbClr val="E6EDF3"/>
                </a:solidFill>
                <a:latin typeface="Inconsolata"/>
              </a:rPr>
              <a:t>, message_id=event[</a:t>
            </a:r>
            <a:r>
              <a:rPr sz="600" i="0">
                <a:solidFill>
                  <a:srgbClr val="A5D6A7"/>
                </a:solidFill>
                <a:latin typeface="Inconsolata"/>
              </a:rPr>
              <a:t>"event_id"</a:t>
            </a:r>
            <a:r>
              <a:rPr sz="600" i="0">
                <a:solidFill>
                  <a:srgbClr val="E6EDF3"/>
                </a:solidFill>
                <a:latin typeface="Inconsolata"/>
              </a:rPr>
              <a:t>],</a:t>
            </a:r>
          </a:p>
          <a:p>
            <a:pPr>
              <a:lnSpc>
                <a:spcPct val="111111"/>
              </a:lnSpc>
              <a:spcAft>
                <a:spcPts val="0"/>
              </a:spcAft>
            </a:pPr>
            <a:r>
              <a:rPr sz="600" i="0">
                <a:solidFill>
                  <a:srgbClr val="E6EDF3"/>
                </a:solidFill>
                <a:latin typeface="Inconsolata"/>
              </a:rPr>
              <a:t>                    delivery_mode=pika.</a:t>
            </a:r>
            <a:r>
              <a:rPr sz="600" i="0">
                <a:solidFill>
                  <a:srgbClr val="7FDBCA"/>
                </a:solidFill>
                <a:latin typeface="Inconsolata"/>
              </a:rPr>
              <a:t>DeliveryMode</a:t>
            </a:r>
            <a:r>
              <a:rPr sz="600" i="0">
                <a:solidFill>
                  <a:srgbClr val="E6EDF3"/>
                </a:solidFill>
                <a:latin typeface="Inconsolata"/>
              </a:rPr>
              <a:t>.</a:t>
            </a:r>
            <a:r>
              <a:rPr sz="600" i="0">
                <a:solidFill>
                  <a:srgbClr val="7FDBCA"/>
                </a:solidFill>
                <a:latin typeface="Inconsolata"/>
              </a:rPr>
              <a:t>Persistent</a:t>
            </a:r>
            <a:r>
              <a:rPr sz="600" i="0">
                <a:solidFill>
                  <a:srgbClr val="E6EDF3"/>
                </a:solidFill>
                <a:latin typeface="Inconsolata"/>
              </a:rPr>
              <a:t>))</a:t>
            </a:r>
          </a:p>
          <a:p>
            <a:pPr>
              <a:lnSpc>
                <a:spcPct val="111111"/>
              </a:lnSpc>
              <a:spcAft>
                <a:spcPts val="0"/>
              </a:spcAft>
            </a:pPr>
            <a:r>
              <a:rPr sz="600" i="0">
                <a:solidFill>
                  <a:srgbClr val="E6EDF3"/>
                </a:solidFill>
                <a:latin typeface="Inconsolata"/>
              </a:rPr>
              <a:t>        </a:t>
            </a:r>
            <a:r>
              <a:rPr sz="600" i="0">
                <a:solidFill>
                  <a:srgbClr val="FF8E6E"/>
                </a:solidFill>
                <a:latin typeface="Inconsolata"/>
              </a:rPr>
              <a:t>except</a:t>
            </a:r>
            <a:r>
              <a:rPr sz="600" i="0">
                <a:solidFill>
                  <a:srgbClr val="E6EDF3"/>
                </a:solidFill>
                <a:latin typeface="Inconsolata"/>
              </a:rPr>
              <a:t> pika.exceptions.</a:t>
            </a:r>
            <a:r>
              <a:rPr sz="600" i="0">
                <a:solidFill>
                  <a:srgbClr val="7FDBCA"/>
                </a:solidFill>
                <a:latin typeface="Inconsolata"/>
              </a:rPr>
              <a:t>AMQPError</a:t>
            </a:r>
            <a:r>
              <a:rPr sz="600" i="0">
                <a:solidFill>
                  <a:srgbClr val="E6EDF3"/>
                </a:solidFill>
                <a:latin typeface="Inconsolata"/>
              </a:rPr>
              <a:t>:</a:t>
            </a:r>
          </a:p>
          <a:p>
            <a:pPr>
              <a:lnSpc>
                <a:spcPct val="111111"/>
              </a:lnSpc>
              <a:spcAft>
                <a:spcPts val="0"/>
              </a:spcAft>
            </a:pPr>
            <a:r>
              <a:rPr sz="600" i="0">
                <a:solidFill>
                  <a:srgbClr val="E6EDF3"/>
                </a:solidFill>
                <a:latin typeface="Inconsolata"/>
              </a:rPr>
              <a:t>            </a:t>
            </a:r>
            <a:r>
              <a:rPr sz="600" i="1">
                <a:solidFill>
                  <a:srgbClr val="8B98A8"/>
                </a:solidFill>
                <a:latin typeface="Inconsolata"/>
              </a:rPr>
              <a:t># order sudah ter-commit, jadi request tidak digagalkan. Event-nya hilang dan tercatat di log.</a:t>
            </a:r>
          </a:p>
          <a:p>
            <a:pPr>
              <a:lnSpc>
                <a:spcPct val="111111"/>
              </a:lnSpc>
              <a:spcAft>
                <a:spcPts val="0"/>
              </a:spcAft>
            </a:pPr>
            <a:r>
              <a:rPr sz="600" i="0">
                <a:solidFill>
                  <a:srgbClr val="E6EDF3"/>
                </a:solidFill>
                <a:latin typeface="Inconsolata"/>
              </a:rPr>
              <a:t>            logger.exception(</a:t>
            </a:r>
            <a:r>
              <a:rPr sz="600" i="0">
                <a:solidFill>
                  <a:srgbClr val="A5D6A7"/>
                </a:solidFill>
                <a:latin typeface="Inconsolata"/>
              </a:rPr>
              <a:t>"Gagal publish event %s %s"</a:t>
            </a:r>
            <a:r>
              <a:rPr sz="600" i="0">
                <a:solidFill>
                  <a:srgbClr val="E6EDF3"/>
                </a:solidFill>
                <a:latin typeface="Inconsolata"/>
              </a:rPr>
              <a:t>, event[</a:t>
            </a:r>
            <a:r>
              <a:rPr sz="600" i="0">
                <a:solidFill>
                  <a:srgbClr val="A5D6A7"/>
                </a:solidFill>
                <a:latin typeface="Inconsolata"/>
              </a:rPr>
              <a:t>"type"</a:t>
            </a:r>
            <a:r>
              <a:rPr sz="600" i="0">
                <a:solidFill>
                  <a:srgbClr val="E6EDF3"/>
                </a:solidFill>
                <a:latin typeface="Inconsolata"/>
              </a:rPr>
              <a:t>], event[</a:t>
            </a:r>
            <a:r>
              <a:rPr sz="600" i="0">
                <a:solidFill>
                  <a:srgbClr val="A5D6A7"/>
                </a:solidFill>
                <a:latin typeface="Inconsolata"/>
              </a:rPr>
              <a:t>"event_id"</a:t>
            </a:r>
            <a:r>
              <a:rPr sz="600" i="0">
                <a:solidFill>
                  <a:srgbClr val="E6EDF3"/>
                </a:solidFill>
                <a:latin typeface="Inconsolata"/>
              </a:rPr>
              <a:t>])</a:t>
            </a:r>
          </a:p>
        </p:txBody>
      </p:sp>
      <p:sp>
        <p:nvSpPr>
          <p:cNvPr id="29" name="Box 12"/>
          <p:cNvSpPr/>
          <p:nvPr/>
        </p:nvSpPr>
        <p:spPr>
          <a:xfrm>
            <a:off x="704088" y="1823720"/>
            <a:ext cx="5230368" cy="806703"/>
          </a:xfrm>
          <a:prstGeom prst="roundRect">
            <a:avLst>
              <a:gd name="adj" fmla="val 566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21082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347720"/>
            <a:ext cx="5230368" cy="298704"/>
          </a:xfrm>
          <a:prstGeom prst="roundRect">
            <a:avLst>
              <a:gd name="adj" fmla="val 15306"/>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33782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3652520"/>
            <a:ext cx="5230368" cy="298704"/>
          </a:xfrm>
          <a:prstGeom prst="roundRect">
            <a:avLst>
              <a:gd name="adj" fmla="val 15306"/>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815584" y="36830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Text 19"/>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7" name="Text 20"/>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Topologi: exchange </a:t>
            </a:r>
            <a:r>
              <a:rPr sz="900" b="0" i="0">
                <a:solidFill>
                  <a:srgbClr val="B5482A"/>
                </a:solidFill>
                <a:latin typeface="Inconsolata"/>
              </a:rPr>
              <a:t>orders</a:t>
            </a:r>
            <a:r>
              <a:rPr sz="900" b="0" i="0">
                <a:solidFill>
                  <a:srgbClr val="434343"/>
                </a:solidFill>
                <a:latin typeface="Inter"/>
              </a:rPr>
              <a:t>, queue </a:t>
            </a:r>
            <a:r>
              <a:rPr sz="900" b="0" i="0">
                <a:solidFill>
                  <a:srgbClr val="B5482A"/>
                </a:solidFill>
                <a:latin typeface="Inconsolata"/>
              </a:rPr>
              <a:t>notifications</a:t>
            </a:r>
            <a:r>
              <a:rPr sz="900" b="0" i="0">
                <a:solidFill>
                  <a:srgbClr val="434343"/>
                </a:solidFill>
                <a:latin typeface="Inter"/>
              </a:rPr>
              <a:t>, retry, dan DLQ (contoh 02 dan 04)</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RabbitMQPublisher.publish</a:t>
            </a:r>
            <a:r>
              <a:rPr sz="900" b="0" i="0">
                <a:solidFill>
                  <a:srgbClr val="434343"/>
                </a:solidFill>
                <a:latin typeface="Inter"/>
              </a:rPr>
              <a:t>: kirim event dengan routing key jenis event</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RabbitMQ gagal: error dicatat di log</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config.py</a:t>
            </a:r>
            <a:r>
              <a:rPr sz="900" b="0" i="0">
                <a:solidFill>
                  <a:srgbClr val="434343"/>
                </a:solidFill>
                <a:latin typeface="Inter"/>
              </a:rPr>
              <a:t>: tambah </a:t>
            </a:r>
            <a:r>
              <a:rPr sz="900" b="0" i="0">
                <a:solidFill>
                  <a:srgbClr val="B5482A"/>
                </a:solidFill>
                <a:latin typeface="Inconsolata"/>
              </a:rPr>
              <a:t>rabbitmq_url</a:t>
            </a:r>
            <a:r>
              <a:rPr sz="900" b="0" i="0">
                <a:solidFill>
                  <a:srgbClr val="434343"/>
                </a:solidFill>
                <a:latin typeface="Inter"/>
              </a:rPr>
              <a:t> dan setting retry</a:t>
            </a:r>
          </a:p>
        </p:txBody>
      </p:sp>
      <p:sp>
        <p:nvSpPr>
          <p:cNvPr id="38" name="Box 21"/>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Text 22"/>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40" name="Text 23"/>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Adapter untuk port EventPublisher.</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5 dari 9</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NotificationService: use case dari event</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app/application/notification_service.py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11111"/>
              </a:lnSpc>
              <a:spcAft>
                <a:spcPts val="0"/>
              </a:spcAft>
            </a:pPr>
            <a:r>
              <a:rPr sz="750" i="0">
                <a:solidFill>
                  <a:srgbClr val="FF8E6E"/>
                </a:solidFill>
                <a:latin typeface="Inconsolata"/>
              </a:rPr>
              <a:t>class</a:t>
            </a:r>
            <a:r>
              <a:rPr sz="750" i="0">
                <a:solidFill>
                  <a:srgbClr val="E6EDF3"/>
                </a:solidFill>
                <a:latin typeface="Inconsolata"/>
              </a:rPr>
              <a:t> </a:t>
            </a:r>
            <a:r>
              <a:rPr sz="750" i="0">
                <a:solidFill>
                  <a:srgbClr val="7FDBCA"/>
                </a:solidFill>
                <a:latin typeface="Inconsolata"/>
              </a:rPr>
              <a:t>NotificationService</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__init__</a:t>
            </a:r>
            <a:r>
              <a:rPr sz="750" i="0">
                <a:solidFill>
                  <a:srgbClr val="E6EDF3"/>
                </a:solidFill>
                <a:latin typeface="Inconsolata"/>
              </a:rPr>
              <a:t>(</a:t>
            </a:r>
            <a:r>
              <a:rPr sz="750" i="0">
                <a:solidFill>
                  <a:srgbClr val="C3A6FF"/>
                </a:solidFill>
                <a:latin typeface="Inconsolata"/>
              </a:rPr>
              <a:t>self</a:t>
            </a:r>
            <a:r>
              <a:rPr sz="750" i="0">
                <a:solidFill>
                  <a:srgbClr val="E6EDF3"/>
                </a:solidFill>
                <a:latin typeface="Inconsolata"/>
              </a:rPr>
              <a:t>, notifier: </a:t>
            </a:r>
            <a:r>
              <a:rPr sz="750" i="0">
                <a:solidFill>
                  <a:srgbClr val="7FDBCA"/>
                </a:solidFill>
                <a:latin typeface="Inconsolata"/>
              </a:rPr>
              <a:t>Notifier</a:t>
            </a:r>
            <a:r>
              <a:rPr sz="750" i="0">
                <a:solidFill>
                  <a:srgbClr val="E6EDF3"/>
                </a:solidFill>
                <a:latin typeface="Inconsolata"/>
              </a:rPr>
              <a:t>, log: </a:t>
            </a:r>
            <a:r>
              <a:rPr sz="750" i="0">
                <a:solidFill>
                  <a:srgbClr val="7FDBCA"/>
                </a:solidFill>
                <a:latin typeface="Inconsolata"/>
              </a:rPr>
              <a:t>NotificationLog</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C3A6FF"/>
                </a:solidFill>
                <a:latin typeface="Inconsolata"/>
              </a:rPr>
              <a:t>self</a:t>
            </a:r>
            <a:r>
              <a:rPr sz="750" i="0">
                <a:solidFill>
                  <a:srgbClr val="E6EDF3"/>
                </a:solidFill>
                <a:latin typeface="Inconsolata"/>
              </a:rPr>
              <a:t>.notifier = notifier</a:t>
            </a:r>
          </a:p>
          <a:p>
            <a:pPr>
              <a:lnSpc>
                <a:spcPct val="111111"/>
              </a:lnSpc>
              <a:spcAft>
                <a:spcPts val="0"/>
              </a:spcAft>
            </a:pPr>
            <a:r>
              <a:rPr sz="750" i="0">
                <a:solidFill>
                  <a:srgbClr val="E6EDF3"/>
                </a:solidFill>
                <a:latin typeface="Inconsolata"/>
              </a:rPr>
              <a:t>        </a:t>
            </a:r>
            <a:r>
              <a:rPr sz="750" i="0">
                <a:solidFill>
                  <a:srgbClr val="C3A6FF"/>
                </a:solidFill>
                <a:latin typeface="Inconsolata"/>
              </a:rPr>
              <a:t>self</a:t>
            </a:r>
            <a:r>
              <a:rPr sz="750" i="0">
                <a:solidFill>
                  <a:srgbClr val="E6EDF3"/>
                </a:solidFill>
                <a:latin typeface="Inconsolata"/>
              </a:rPr>
              <a:t>.log = log</a:t>
            </a:r>
          </a:p>
          <a:p>
            <a:pPr>
              <a:lnSpc>
                <a:spcPct val="111111"/>
              </a:lnSpc>
              <a:spcAft>
                <a:spcPts val="0"/>
              </a:spcAft>
            </a:pPr>
            <a:r>
              <a:rPr sz="750" i="0">
                <a:solidFill>
                  <a:srgbClr val="E6EDF3"/>
                </a:solidFill>
                <a:latin typeface="Inconsolata"/>
              </a:rPr>
              <a:t> </a:t>
            </a:r>
          </a:p>
          <a:p>
            <a:pPr>
              <a:lnSpc>
                <a:spcPct val="111111"/>
              </a:lnSpc>
              <a:spcAft>
                <a:spcPts val="0"/>
              </a:spcAft>
            </a:pPr>
            <a:r>
              <a:rPr sz="750" i="0">
                <a:solidFill>
                  <a:srgbClr val="E6EDF3"/>
                </a:solidFill>
                <a:latin typeface="Inconsolata"/>
              </a:rPr>
              <a:t>    </a:t>
            </a: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handle</a:t>
            </a:r>
            <a:r>
              <a:rPr sz="750" i="0">
                <a:solidFill>
                  <a:srgbClr val="E6EDF3"/>
                </a:solidFill>
                <a:latin typeface="Inconsolata"/>
              </a:rPr>
              <a:t>(</a:t>
            </a:r>
            <a:r>
              <a:rPr sz="750" i="0">
                <a:solidFill>
                  <a:srgbClr val="C3A6FF"/>
                </a:solidFill>
                <a:latin typeface="Inconsolata"/>
              </a:rPr>
              <a:t>self</a:t>
            </a:r>
            <a:r>
              <a:rPr sz="750" i="0">
                <a:solidFill>
                  <a:srgbClr val="E6EDF3"/>
                </a:solidFill>
                <a:latin typeface="Inconsolata"/>
              </a:rPr>
              <a:t>, event: </a:t>
            </a:r>
            <a:r>
              <a:rPr sz="750" i="0">
                <a:solidFill>
                  <a:srgbClr val="C3A6FF"/>
                </a:solidFill>
                <a:latin typeface="Inconsolata"/>
              </a:rPr>
              <a:t>dict</a:t>
            </a:r>
            <a:r>
              <a:rPr sz="750" i="0">
                <a:solidFill>
                  <a:srgbClr val="E6EDF3"/>
                </a:solidFill>
                <a:latin typeface="Inconsolata"/>
              </a:rPr>
              <a:t>) -&gt; </a:t>
            </a:r>
            <a:r>
              <a:rPr sz="750" i="0">
                <a:solidFill>
                  <a:srgbClr val="C3A6FF"/>
                </a:solidFill>
                <a:latin typeface="Inconsolata"/>
              </a:rPr>
              <a:t>str</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FF8E6E"/>
                </a:solidFill>
                <a:latin typeface="Inconsolata"/>
              </a:rPr>
              <a:t>try</a:t>
            </a:r>
            <a:r>
              <a:rPr sz="750" i="0">
                <a:solidFill>
                  <a:srgbClr val="E6EDF3"/>
                </a:solidFill>
                <a:latin typeface="Inconsolata"/>
              </a:rPr>
              <a:t>:</a:t>
            </a:r>
          </a:p>
          <a:p>
            <a:pPr>
              <a:lnSpc>
                <a:spcPct val="111111"/>
              </a:lnSpc>
              <a:spcAft>
                <a:spcPts val="0"/>
              </a:spcAft>
            </a:pPr>
            <a:r>
              <a:rPr sz="750" i="0">
                <a:solidFill>
                  <a:srgbClr val="E6EDF3"/>
                </a:solidFill>
                <a:latin typeface="Inconsolata"/>
              </a:rPr>
              <a:t>            key, to, template = event[</a:t>
            </a:r>
            <a:r>
              <a:rPr sz="750" i="0">
                <a:solidFill>
                  <a:srgbClr val="A5D6A7"/>
                </a:solidFill>
                <a:latin typeface="Inconsolata"/>
              </a:rPr>
              <a:t>"event_id"</a:t>
            </a:r>
            <a:r>
              <a:rPr sz="750" i="0">
                <a:solidFill>
                  <a:srgbClr val="E6EDF3"/>
                </a:solidFill>
                <a:latin typeface="Inconsolata"/>
              </a:rPr>
              <a:t>], event[</a:t>
            </a:r>
            <a:r>
              <a:rPr sz="750" i="0">
                <a:solidFill>
                  <a:srgbClr val="A5D6A7"/>
                </a:solidFill>
                <a:latin typeface="Inconsolata"/>
              </a:rPr>
              <a:t>"customer"</a:t>
            </a:r>
            <a:r>
              <a:rPr sz="750" i="0">
                <a:solidFill>
                  <a:srgbClr val="E6EDF3"/>
                </a:solidFill>
                <a:latin typeface="Inconsolata"/>
              </a:rPr>
              <a:t>], </a:t>
            </a:r>
            <a:r>
              <a:rPr sz="750" i="0">
                <a:solidFill>
                  <a:srgbClr val="7FDBCA"/>
                </a:solidFill>
                <a:latin typeface="Inconsolata"/>
              </a:rPr>
              <a:t>MESSAGES</a:t>
            </a:r>
            <a:r>
              <a:rPr sz="750" i="0">
                <a:solidFill>
                  <a:srgbClr val="E6EDF3"/>
                </a:solidFill>
                <a:latin typeface="Inconsolata"/>
              </a:rPr>
              <a:t>[event[</a:t>
            </a:r>
            <a:r>
              <a:rPr sz="750" i="0">
                <a:solidFill>
                  <a:srgbClr val="A5D6A7"/>
                </a:solidFill>
                <a:latin typeface="Inconsolata"/>
              </a:rPr>
              <a:t>"type"</a:t>
            </a:r>
            <a:r>
              <a:rPr sz="750" i="0">
                <a:solidFill>
                  <a:srgbClr val="E6EDF3"/>
                </a:solidFill>
                <a:latin typeface="Inconsolata"/>
              </a:rPr>
              <a:t>]]</a:t>
            </a:r>
          </a:p>
          <a:p>
            <a:pPr>
              <a:lnSpc>
                <a:spcPct val="111111"/>
              </a:lnSpc>
              <a:spcAft>
                <a:spcPts val="0"/>
              </a:spcAft>
            </a:pPr>
            <a:r>
              <a:rPr sz="750" i="0">
                <a:solidFill>
                  <a:srgbClr val="E6EDF3"/>
                </a:solidFill>
                <a:latin typeface="Inconsolata"/>
              </a:rPr>
              <a:t>            message = template.format(**event)</a:t>
            </a:r>
          </a:p>
          <a:p>
            <a:pPr>
              <a:lnSpc>
                <a:spcPct val="111111"/>
              </a:lnSpc>
              <a:spcAft>
                <a:spcPts val="0"/>
              </a:spcAft>
            </a:pPr>
            <a:r>
              <a:rPr sz="750" i="0">
                <a:solidFill>
                  <a:srgbClr val="E6EDF3"/>
                </a:solidFill>
                <a:latin typeface="Inconsolata"/>
              </a:rPr>
              <a:t>        </a:t>
            </a:r>
            <a:r>
              <a:rPr sz="750" i="0">
                <a:solidFill>
                  <a:srgbClr val="FF8E6E"/>
                </a:solidFill>
                <a:latin typeface="Inconsolata"/>
              </a:rPr>
              <a:t>except</a:t>
            </a:r>
            <a:r>
              <a:rPr sz="750" i="0">
                <a:solidFill>
                  <a:srgbClr val="E6EDF3"/>
                </a:solidFill>
                <a:latin typeface="Inconsolata"/>
              </a:rPr>
              <a:t> (</a:t>
            </a:r>
            <a:r>
              <a:rPr sz="750" i="0">
                <a:solidFill>
                  <a:srgbClr val="7FDBCA"/>
                </a:solidFill>
                <a:latin typeface="Inconsolata"/>
              </a:rPr>
              <a:t>KeyError</a:t>
            </a:r>
            <a:r>
              <a:rPr sz="750" i="0">
                <a:solidFill>
                  <a:srgbClr val="E6EDF3"/>
                </a:solidFill>
                <a:latin typeface="Inconsolata"/>
              </a:rPr>
              <a:t>, </a:t>
            </a:r>
            <a:r>
              <a:rPr sz="750" i="0">
                <a:solidFill>
                  <a:srgbClr val="7FDBCA"/>
                </a:solidFill>
                <a:latin typeface="Inconsolata"/>
              </a:rPr>
              <a:t>TypeError</a:t>
            </a:r>
            <a:r>
              <a:rPr sz="750" i="0">
                <a:solidFill>
                  <a:srgbClr val="E6EDF3"/>
                </a:solidFill>
                <a:latin typeface="Inconsolata"/>
              </a:rPr>
              <a:t>, </a:t>
            </a:r>
            <a:r>
              <a:rPr sz="750" i="0">
                <a:solidFill>
                  <a:srgbClr val="7FDBCA"/>
                </a:solidFill>
                <a:latin typeface="Inconsolata"/>
              </a:rPr>
              <a:t>ValueError</a:t>
            </a:r>
            <a:r>
              <a:rPr sz="750" i="0">
                <a:solidFill>
                  <a:srgbClr val="E6EDF3"/>
                </a:solidFill>
                <a:latin typeface="Inconsolata"/>
              </a:rPr>
              <a:t>) </a:t>
            </a:r>
            <a:r>
              <a:rPr sz="750" i="0">
                <a:solidFill>
                  <a:srgbClr val="FF8E6E"/>
                </a:solidFill>
                <a:latin typeface="Inconsolata"/>
              </a:rPr>
              <a:t>as</a:t>
            </a:r>
            <a:r>
              <a:rPr sz="750" i="0">
                <a:solidFill>
                  <a:srgbClr val="E6EDF3"/>
                </a:solidFill>
                <a:latin typeface="Inconsolata"/>
              </a:rPr>
              <a:t> exc:</a:t>
            </a:r>
          </a:p>
          <a:p>
            <a:pPr>
              <a:lnSpc>
                <a:spcPct val="111111"/>
              </a:lnSpc>
              <a:spcAft>
                <a:spcPts val="0"/>
              </a:spcAft>
            </a:pPr>
            <a:r>
              <a:rPr sz="750" i="0">
                <a:solidFill>
                  <a:srgbClr val="E6EDF3"/>
                </a:solidFill>
                <a:latin typeface="Inconsolata"/>
              </a:rPr>
              <a:t>            </a:t>
            </a:r>
            <a:r>
              <a:rPr sz="750" i="0">
                <a:solidFill>
                  <a:srgbClr val="FF8E6E"/>
                </a:solidFill>
                <a:latin typeface="Inconsolata"/>
              </a:rPr>
              <a:t>raise</a:t>
            </a:r>
            <a:r>
              <a:rPr sz="750" i="0">
                <a:solidFill>
                  <a:srgbClr val="E6EDF3"/>
                </a:solidFill>
                <a:latin typeface="Inconsolata"/>
              </a:rPr>
              <a:t> </a:t>
            </a:r>
            <a:r>
              <a:rPr sz="750" i="0">
                <a:solidFill>
                  <a:srgbClr val="7FDBCA"/>
                </a:solidFill>
                <a:latin typeface="Inconsolata"/>
              </a:rPr>
              <a:t>InvalidEvent</a:t>
            </a:r>
            <a:r>
              <a:rPr sz="750" i="0">
                <a:solidFill>
                  <a:srgbClr val="E6EDF3"/>
                </a:solidFill>
                <a:latin typeface="Inconsolata"/>
              </a:rPr>
              <a:t>(</a:t>
            </a:r>
            <a:r>
              <a:rPr sz="750" i="0">
                <a:solidFill>
                  <a:srgbClr val="A5D6A7"/>
                </a:solidFill>
                <a:latin typeface="Inconsolata"/>
              </a:rPr>
              <a:t>f"event tidak valid: {exc}"</a:t>
            </a:r>
            <a:r>
              <a:rPr sz="750" i="0">
                <a:solidFill>
                  <a:srgbClr val="E6EDF3"/>
                </a:solidFill>
                <a:latin typeface="Inconsolata"/>
              </a:rPr>
              <a:t>) </a:t>
            </a:r>
            <a:r>
              <a:rPr sz="750" i="0">
                <a:solidFill>
                  <a:srgbClr val="FF8E6E"/>
                </a:solidFill>
                <a:latin typeface="Inconsolata"/>
              </a:rPr>
              <a:t>from</a:t>
            </a:r>
            <a:r>
              <a:rPr sz="750" i="0">
                <a:solidFill>
                  <a:srgbClr val="E6EDF3"/>
                </a:solidFill>
                <a:latin typeface="Inconsolata"/>
              </a:rPr>
              <a:t> exc</a:t>
            </a:r>
          </a:p>
          <a:p>
            <a:pPr>
              <a:lnSpc>
                <a:spcPct val="111111"/>
              </a:lnSpc>
              <a:spcAft>
                <a:spcPts val="0"/>
              </a:spcAft>
            </a:pPr>
            <a:r>
              <a:rPr sz="750" i="0">
                <a:solidFill>
                  <a:srgbClr val="E6EDF3"/>
                </a:solidFill>
                <a:latin typeface="Inconsolata"/>
              </a:rPr>
              <a:t> </a:t>
            </a:r>
          </a:p>
          <a:p>
            <a:pPr>
              <a:lnSpc>
                <a:spcPct val="111111"/>
              </a:lnSpc>
              <a:spcAft>
                <a:spcPts val="0"/>
              </a:spcAft>
            </a:pPr>
            <a:r>
              <a:rPr sz="750" i="0">
                <a:solidFill>
                  <a:srgbClr val="E6EDF3"/>
                </a:solidFill>
                <a:latin typeface="Inconsolata"/>
              </a:rPr>
              <a:t>        </a:t>
            </a:r>
            <a:r>
              <a:rPr sz="750" i="0">
                <a:solidFill>
                  <a:srgbClr val="FF8E6E"/>
                </a:solidFill>
                <a:latin typeface="Inconsolata"/>
              </a:rPr>
              <a:t>if</a:t>
            </a:r>
            <a:r>
              <a:rPr sz="750" i="0">
                <a:solidFill>
                  <a:srgbClr val="E6EDF3"/>
                </a:solidFill>
                <a:latin typeface="Inconsolata"/>
              </a:rPr>
              <a:t> </a:t>
            </a:r>
            <a:r>
              <a:rPr sz="750" i="0">
                <a:solidFill>
                  <a:srgbClr val="C3A6FF"/>
                </a:solidFill>
                <a:latin typeface="Inconsolata"/>
              </a:rPr>
              <a:t>self</a:t>
            </a:r>
            <a:r>
              <a:rPr sz="750" i="0">
                <a:solidFill>
                  <a:srgbClr val="E6EDF3"/>
                </a:solidFill>
                <a:latin typeface="Inconsolata"/>
              </a:rPr>
              <a:t>.log.already_sent(key):</a:t>
            </a:r>
          </a:p>
          <a:p>
            <a:pPr>
              <a:lnSpc>
                <a:spcPct val="111111"/>
              </a:lnSpc>
              <a:spcAft>
                <a:spcPts val="0"/>
              </a:spcAft>
            </a:pPr>
            <a:r>
              <a:rPr sz="750" i="0">
                <a:solidFill>
                  <a:srgbClr val="E6EDF3"/>
                </a:solidFill>
                <a:latin typeface="Inconsolata"/>
              </a:rPr>
              <a:t>            </a:t>
            </a:r>
            <a:r>
              <a:rPr sz="750" i="0">
                <a:solidFill>
                  <a:srgbClr val="FF8E6E"/>
                </a:solidFill>
                <a:latin typeface="Inconsolata"/>
              </a:rPr>
              <a:t>return</a:t>
            </a:r>
            <a:r>
              <a:rPr sz="750" i="0">
                <a:solidFill>
                  <a:srgbClr val="E6EDF3"/>
                </a:solidFill>
                <a:latin typeface="Inconsolata"/>
              </a:rPr>
              <a:t> </a:t>
            </a:r>
            <a:r>
              <a:rPr sz="750" i="0">
                <a:solidFill>
                  <a:srgbClr val="A5D6A7"/>
                </a:solidFill>
                <a:latin typeface="Inconsolata"/>
              </a:rPr>
              <a:t>"skipped"</a:t>
            </a:r>
          </a:p>
          <a:p>
            <a:pPr>
              <a:lnSpc>
                <a:spcPct val="111111"/>
              </a:lnSpc>
              <a:spcAft>
                <a:spcPts val="0"/>
              </a:spcAft>
            </a:pPr>
            <a:r>
              <a:rPr sz="750" i="0">
                <a:solidFill>
                  <a:srgbClr val="E6EDF3"/>
                </a:solidFill>
                <a:latin typeface="Inconsolata"/>
              </a:rPr>
              <a:t>        </a:t>
            </a:r>
            <a:r>
              <a:rPr sz="750" i="0">
                <a:solidFill>
                  <a:srgbClr val="C3A6FF"/>
                </a:solidFill>
                <a:latin typeface="Inconsolata"/>
              </a:rPr>
              <a:t>self</a:t>
            </a:r>
            <a:r>
              <a:rPr sz="750" i="0">
                <a:solidFill>
                  <a:srgbClr val="E6EDF3"/>
                </a:solidFill>
                <a:latin typeface="Inconsolata"/>
              </a:rPr>
              <a:t>.notifier.send(to, message)</a:t>
            </a:r>
          </a:p>
          <a:p>
            <a:pPr>
              <a:lnSpc>
                <a:spcPct val="111111"/>
              </a:lnSpc>
              <a:spcAft>
                <a:spcPts val="0"/>
              </a:spcAft>
            </a:pPr>
            <a:r>
              <a:rPr sz="750" i="0">
                <a:solidFill>
                  <a:srgbClr val="E6EDF3"/>
                </a:solidFill>
                <a:latin typeface="Inconsolata"/>
              </a:rPr>
              <a:t>        </a:t>
            </a:r>
            <a:r>
              <a:rPr sz="750" i="0">
                <a:solidFill>
                  <a:srgbClr val="C3A6FF"/>
                </a:solidFill>
                <a:latin typeface="Inconsolata"/>
              </a:rPr>
              <a:t>self</a:t>
            </a:r>
            <a:r>
              <a:rPr sz="750" i="0">
                <a:solidFill>
                  <a:srgbClr val="E6EDF3"/>
                </a:solidFill>
                <a:latin typeface="Inconsolata"/>
              </a:rPr>
              <a:t>.log.mark_sent(key)</a:t>
            </a:r>
          </a:p>
          <a:p>
            <a:pPr>
              <a:lnSpc>
                <a:spcPct val="111111"/>
              </a:lnSpc>
              <a:spcAft>
                <a:spcPts val="0"/>
              </a:spcAft>
            </a:pPr>
            <a:r>
              <a:rPr sz="750" i="0">
                <a:solidFill>
                  <a:srgbClr val="E6EDF3"/>
                </a:solidFill>
                <a:latin typeface="Inconsolata"/>
              </a:rPr>
              <a:t>        </a:t>
            </a:r>
            <a:r>
              <a:rPr sz="750" i="0">
                <a:solidFill>
                  <a:srgbClr val="FF8E6E"/>
                </a:solidFill>
                <a:latin typeface="Inconsolata"/>
              </a:rPr>
              <a:t>return</a:t>
            </a:r>
            <a:r>
              <a:rPr sz="750" i="0">
                <a:solidFill>
                  <a:srgbClr val="E6EDF3"/>
                </a:solidFill>
                <a:latin typeface="Inconsolata"/>
              </a:rPr>
              <a:t> </a:t>
            </a:r>
            <a:r>
              <a:rPr sz="750" i="0">
                <a:solidFill>
                  <a:srgbClr val="A5D6A7"/>
                </a:solidFill>
                <a:latin typeface="Inconsolata"/>
              </a:rPr>
              <a:t>"sent"</a:t>
            </a:r>
          </a:p>
        </p:txBody>
      </p:sp>
      <p:sp>
        <p:nvSpPr>
          <p:cNvPr id="29" name="Box 12"/>
          <p:cNvSpPr/>
          <p:nvPr/>
        </p:nvSpPr>
        <p:spPr>
          <a:xfrm>
            <a:off x="704088" y="2589022"/>
            <a:ext cx="5230368" cy="627380"/>
          </a:xfrm>
          <a:prstGeom prst="roundRect">
            <a:avLst>
              <a:gd name="adj" fmla="val 728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2783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351022"/>
            <a:ext cx="5230368" cy="246380"/>
          </a:xfrm>
          <a:prstGeom prst="roundRect">
            <a:avLst>
              <a:gd name="adj" fmla="val 18556"/>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33553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3605022"/>
            <a:ext cx="5230368" cy="246380"/>
          </a:xfrm>
          <a:prstGeom prst="roundRect">
            <a:avLst>
              <a:gd name="adj" fmla="val 18556"/>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815584" y="36093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Text 19"/>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7" name="Text 20"/>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Event yang isinya salah = </a:t>
            </a:r>
            <a:r>
              <a:rPr sz="900" b="0" i="0">
                <a:solidFill>
                  <a:srgbClr val="B5482A"/>
                </a:solidFill>
                <a:latin typeface="Inconsolata"/>
              </a:rPr>
              <a:t>InvalidEvent</a:t>
            </a:r>
            <a:r>
              <a:rPr sz="900" b="0" i="0">
                <a:solidFill>
                  <a:srgbClr val="434343"/>
                </a:solidFill>
                <a:latin typeface="Inter"/>
              </a:rPr>
              <a:t>, nanti dikirim ke DLQ</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event_id</a:t>
            </a:r>
            <a:r>
              <a:rPr sz="900" b="0" i="0">
                <a:solidFill>
                  <a:srgbClr val="434343"/>
                </a:solidFill>
                <a:latin typeface="Inter"/>
              </a:rPr>
              <a:t> sudah tercatat = skip (idempotent, contoh 05)</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Kirim notifikasi, lalu catat </a:t>
            </a:r>
            <a:r>
              <a:rPr sz="900" b="0" i="0">
                <a:solidFill>
                  <a:srgbClr val="B5482A"/>
                </a:solidFill>
                <a:latin typeface="Inconsolata"/>
              </a:rPr>
              <a:t>event_id</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Tambahkan </a:t>
            </a:r>
            <a:r>
              <a:rPr sz="900" b="0" i="0">
                <a:solidFill>
                  <a:srgbClr val="B5482A"/>
                </a:solidFill>
                <a:latin typeface="Inconsolata"/>
              </a:rPr>
              <a:t>InvalidEvent</a:t>
            </a:r>
            <a:r>
              <a:rPr sz="900" b="0" i="0">
                <a:solidFill>
                  <a:srgbClr val="434343"/>
                </a:solidFill>
                <a:latin typeface="Inter"/>
              </a:rPr>
              <a:t> di </a:t>
            </a:r>
            <a:r>
              <a:rPr sz="900" b="0" i="0">
                <a:solidFill>
                  <a:srgbClr val="B5482A"/>
                </a:solidFill>
                <a:latin typeface="Inconsolata"/>
              </a:rPr>
              <a:t>errors.py</a:t>
            </a:r>
          </a:p>
        </p:txBody>
      </p:sp>
      <p:sp>
        <p:nvSpPr>
          <p:cNvPr id="38" name="Box 21"/>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Text 22"/>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40" name="Text 23"/>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Use case tidak tahu RabbitMQ.</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6 dari 9</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consumers/: ack, nack, retry, DLQ</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app/consumers/notification_consumer.py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11111"/>
              </a:lnSpc>
              <a:spcAft>
                <a:spcPts val="0"/>
              </a:spcAft>
            </a:pPr>
            <a:r>
              <a:rPr sz="600" i="0">
                <a:solidFill>
                  <a:srgbClr val="FF8E6E"/>
                </a:solidFill>
                <a:latin typeface="Inconsolata"/>
              </a:rPr>
              <a:t>def</a:t>
            </a:r>
            <a:r>
              <a:rPr sz="600" i="0">
                <a:solidFill>
                  <a:srgbClr val="E6EDF3"/>
                </a:solidFill>
                <a:latin typeface="Inconsolata"/>
              </a:rPr>
              <a:t> </a:t>
            </a:r>
            <a:r>
              <a:rPr sz="600" i="0">
                <a:solidFill>
                  <a:srgbClr val="82B1FF"/>
                </a:solidFill>
                <a:latin typeface="Inconsolata"/>
              </a:rPr>
              <a:t>process_message</a:t>
            </a:r>
            <a:r>
              <a:rPr sz="600" i="0">
                <a:solidFill>
                  <a:srgbClr val="E6EDF3"/>
                </a:solidFill>
                <a:latin typeface="Inconsolata"/>
              </a:rPr>
              <a:t>(channel, method, properties, body: bytes, service: </a:t>
            </a:r>
            <a:r>
              <a:rPr sz="600" i="0">
                <a:solidFill>
                  <a:srgbClr val="7FDBCA"/>
                </a:solidFill>
                <a:latin typeface="Inconsolata"/>
              </a:rPr>
              <a:t>NotificationService</a:t>
            </a:r>
            <a:r>
              <a:rPr sz="600" i="0">
                <a:solidFill>
                  <a:srgbClr val="E6EDF3"/>
                </a:solidFill>
                <a:latin typeface="Inconsolata"/>
              </a:rPr>
              <a:t>,</a:t>
            </a:r>
          </a:p>
          <a:p>
            <a:pPr>
              <a:lnSpc>
                <a:spcPct val="111111"/>
              </a:lnSpc>
              <a:spcAft>
                <a:spcPts val="0"/>
              </a:spcAft>
            </a:pPr>
            <a:r>
              <a:rPr sz="600" i="0">
                <a:solidFill>
                  <a:srgbClr val="E6EDF3"/>
                </a:solidFill>
                <a:latin typeface="Inconsolata"/>
              </a:rPr>
              <a:t>                    max_retries: </a:t>
            </a:r>
            <a:r>
              <a:rPr sz="600" i="0">
                <a:solidFill>
                  <a:srgbClr val="C3A6FF"/>
                </a:solidFill>
                <a:latin typeface="Inconsolata"/>
              </a:rPr>
              <a:t>int</a:t>
            </a:r>
            <a:r>
              <a:rPr sz="600" i="0">
                <a:solidFill>
                  <a:srgbClr val="E6EDF3"/>
                </a:solidFill>
                <a:latin typeface="Inconsolata"/>
              </a:rPr>
              <a:t>, retry_delay_ms: </a:t>
            </a:r>
            <a:r>
              <a:rPr sz="600" i="0">
                <a:solidFill>
                  <a:srgbClr val="C3A6FF"/>
                </a:solidFill>
                <a:latin typeface="Inconsolata"/>
              </a:rPr>
              <a:t>int</a:t>
            </a:r>
            <a:r>
              <a:rPr sz="600" i="0">
                <a:solidFill>
                  <a:srgbClr val="E6EDF3"/>
                </a:solidFill>
                <a:latin typeface="Inconsolata"/>
              </a:rPr>
              <a:t>) -&gt; </a:t>
            </a:r>
            <a:r>
              <a:rPr sz="600" i="0">
                <a:solidFill>
                  <a:srgbClr val="C3A6FF"/>
                </a:solidFill>
                <a:latin typeface="Inconsolata"/>
              </a:rPr>
              <a:t>str</a:t>
            </a:r>
            <a:r>
              <a:rPr sz="600" i="0">
                <a:solidFill>
                  <a:srgbClr val="E6EDF3"/>
                </a:solidFill>
                <a:latin typeface="Inconsolata"/>
              </a:rPr>
              <a:t>:</a:t>
            </a:r>
          </a:p>
          <a:p>
            <a:pPr>
              <a:lnSpc>
                <a:spcPct val="111111"/>
              </a:lnSpc>
              <a:spcAft>
                <a:spcPts val="0"/>
              </a:spcAft>
            </a:pPr>
            <a:r>
              <a:rPr sz="600" i="0">
                <a:solidFill>
                  <a:srgbClr val="E6EDF3"/>
                </a:solidFill>
                <a:latin typeface="Inconsolata"/>
              </a:rPr>
              <a:t>    retries = (properties.headers </a:t>
            </a:r>
            <a:r>
              <a:rPr sz="600" i="0">
                <a:solidFill>
                  <a:srgbClr val="FF8E6E"/>
                </a:solidFill>
                <a:latin typeface="Inconsolata"/>
              </a:rPr>
              <a:t>or</a:t>
            </a:r>
            <a:r>
              <a:rPr sz="600" i="0">
                <a:solidFill>
                  <a:srgbClr val="E6EDF3"/>
                </a:solidFill>
                <a:latin typeface="Inconsolata"/>
              </a:rPr>
              <a:t> {}).get(</a:t>
            </a:r>
            <a:r>
              <a:rPr sz="600" i="0">
                <a:solidFill>
                  <a:srgbClr val="A5D6A7"/>
                </a:solidFill>
                <a:latin typeface="Inconsolata"/>
              </a:rPr>
              <a:t>"x-retries"</a:t>
            </a:r>
            <a:r>
              <a:rPr sz="600" i="0">
                <a:solidFill>
                  <a:srgbClr val="E6EDF3"/>
                </a:solidFill>
                <a:latin typeface="Inconsolata"/>
              </a:rPr>
              <a:t>, </a:t>
            </a:r>
            <a:r>
              <a:rPr sz="600" i="0">
                <a:solidFill>
                  <a:srgbClr val="F9C97A"/>
                </a:solidFill>
                <a:latin typeface="Inconsolata"/>
              </a:rPr>
              <a:t>0</a:t>
            </a:r>
            <a:r>
              <a:rPr sz="600" i="0">
                <a:solidFill>
                  <a:srgbClr val="E6EDF3"/>
                </a:solidFill>
                <a:latin typeface="Inconsolata"/>
              </a:rPr>
              <a:t>)</a:t>
            </a:r>
          </a:p>
          <a:p>
            <a:pPr>
              <a:lnSpc>
                <a:spcPct val="111111"/>
              </a:lnSpc>
              <a:spcAft>
                <a:spcPts val="0"/>
              </a:spcAft>
            </a:pPr>
            <a:r>
              <a:rPr sz="600" i="0">
                <a:solidFill>
                  <a:srgbClr val="E6EDF3"/>
                </a:solidFill>
                <a:latin typeface="Inconsolata"/>
              </a:rPr>
              <a:t>    </a:t>
            </a:r>
            <a:r>
              <a:rPr sz="600" i="0">
                <a:solidFill>
                  <a:srgbClr val="FF8E6E"/>
                </a:solidFill>
                <a:latin typeface="Inconsolata"/>
              </a:rPr>
              <a:t>try</a:t>
            </a:r>
            <a:r>
              <a:rPr sz="600" i="0">
                <a:solidFill>
                  <a:srgbClr val="E6EDF3"/>
                </a:solidFill>
                <a:latin typeface="Inconsolata"/>
              </a:rPr>
              <a:t>:</a:t>
            </a:r>
          </a:p>
          <a:p>
            <a:pPr>
              <a:lnSpc>
                <a:spcPct val="111111"/>
              </a:lnSpc>
              <a:spcAft>
                <a:spcPts val="0"/>
              </a:spcAft>
            </a:pPr>
            <a:r>
              <a:rPr sz="600" i="0">
                <a:solidFill>
                  <a:srgbClr val="E6EDF3"/>
                </a:solidFill>
                <a:latin typeface="Inconsolata"/>
              </a:rPr>
              <a:t>        result = service.handle(json.loads(body))</a:t>
            </a:r>
          </a:p>
          <a:p>
            <a:pPr>
              <a:lnSpc>
                <a:spcPct val="111111"/>
              </a:lnSpc>
              <a:spcAft>
                <a:spcPts val="0"/>
              </a:spcAft>
            </a:pPr>
            <a:r>
              <a:rPr sz="600" i="0">
                <a:solidFill>
                  <a:srgbClr val="E6EDF3"/>
                </a:solidFill>
                <a:latin typeface="Inconsolata"/>
              </a:rPr>
              <a:t>        channel.basic_ack(method.delivery_tag)</a:t>
            </a:r>
          </a:p>
          <a:p>
            <a:pPr>
              <a:lnSpc>
                <a:spcPct val="111111"/>
              </a:lnSpc>
              <a:spcAft>
                <a:spcPts val="0"/>
              </a:spcAft>
            </a:pPr>
            <a:r>
              <a:rPr sz="600" i="0">
                <a:solidFill>
                  <a:srgbClr val="E6EDF3"/>
                </a:solidFill>
                <a:latin typeface="Inconsolata"/>
              </a:rPr>
              <a:t>        </a:t>
            </a:r>
            <a:r>
              <a:rPr sz="600" i="0">
                <a:solidFill>
                  <a:srgbClr val="FF8E6E"/>
                </a:solidFill>
                <a:latin typeface="Inconsolata"/>
              </a:rPr>
              <a:t>return</a:t>
            </a:r>
            <a:r>
              <a:rPr sz="600" i="0">
                <a:solidFill>
                  <a:srgbClr val="E6EDF3"/>
                </a:solidFill>
                <a:latin typeface="Inconsolata"/>
              </a:rPr>
              <a:t> result</a:t>
            </a:r>
          </a:p>
          <a:p>
            <a:pPr>
              <a:lnSpc>
                <a:spcPct val="111111"/>
              </a:lnSpc>
              <a:spcAft>
                <a:spcPts val="0"/>
              </a:spcAft>
            </a:pPr>
            <a:r>
              <a:rPr sz="600" i="0">
                <a:solidFill>
                  <a:srgbClr val="E6EDF3"/>
                </a:solidFill>
                <a:latin typeface="Inconsolata"/>
              </a:rPr>
              <a:t>    </a:t>
            </a:r>
            <a:r>
              <a:rPr sz="600" i="0">
                <a:solidFill>
                  <a:srgbClr val="FF8E6E"/>
                </a:solidFill>
                <a:latin typeface="Inconsolata"/>
              </a:rPr>
              <a:t>except</a:t>
            </a:r>
            <a:r>
              <a:rPr sz="600" i="0">
                <a:solidFill>
                  <a:srgbClr val="E6EDF3"/>
                </a:solidFill>
                <a:latin typeface="Inconsolata"/>
              </a:rPr>
              <a:t> (</a:t>
            </a:r>
            <a:r>
              <a:rPr sz="600" i="0">
                <a:solidFill>
                  <a:srgbClr val="7FDBCA"/>
                </a:solidFill>
                <a:latin typeface="Inconsolata"/>
              </a:rPr>
              <a:t>ValueError</a:t>
            </a:r>
            <a:r>
              <a:rPr sz="600" i="0">
                <a:solidFill>
                  <a:srgbClr val="E6EDF3"/>
                </a:solidFill>
                <a:latin typeface="Inconsolata"/>
              </a:rPr>
              <a:t>, </a:t>
            </a:r>
            <a:r>
              <a:rPr sz="600" i="0">
                <a:solidFill>
                  <a:srgbClr val="7FDBCA"/>
                </a:solidFill>
                <a:latin typeface="Inconsolata"/>
              </a:rPr>
              <a:t>InvalidEvent</a:t>
            </a:r>
            <a:r>
              <a:rPr sz="600" i="0">
                <a:solidFill>
                  <a:srgbClr val="E6EDF3"/>
                </a:solidFill>
                <a:latin typeface="Inconsolata"/>
              </a:rPr>
              <a:t>) </a:t>
            </a:r>
            <a:r>
              <a:rPr sz="600" i="0">
                <a:solidFill>
                  <a:srgbClr val="FF8E6E"/>
                </a:solidFill>
                <a:latin typeface="Inconsolata"/>
              </a:rPr>
              <a:t>as</a:t>
            </a:r>
            <a:r>
              <a:rPr sz="600" i="0">
                <a:solidFill>
                  <a:srgbClr val="E6EDF3"/>
                </a:solidFill>
                <a:latin typeface="Inconsolata"/>
              </a:rPr>
              <a:t> exc:                 </a:t>
            </a:r>
            <a:r>
              <a:rPr sz="600" i="1">
                <a:solidFill>
                  <a:srgbClr val="8B98A8"/>
                </a:solidFill>
                <a:latin typeface="Inconsolata"/>
              </a:rPr>
              <a:t># JSON rusak atau isi event salah</a:t>
            </a:r>
          </a:p>
          <a:p>
            <a:pPr>
              <a:lnSpc>
                <a:spcPct val="111111"/>
              </a:lnSpc>
              <a:spcAft>
                <a:spcPts val="0"/>
              </a:spcAft>
            </a:pPr>
            <a:r>
              <a:rPr sz="600" i="0">
                <a:solidFill>
                  <a:srgbClr val="E6EDF3"/>
                </a:solidFill>
                <a:latin typeface="Inconsolata"/>
              </a:rPr>
              <a:t>        logger.error(</a:t>
            </a:r>
            <a:r>
              <a:rPr sz="600" i="0">
                <a:solidFill>
                  <a:srgbClr val="A5D6A7"/>
                </a:solidFill>
                <a:latin typeface="Inconsolata"/>
              </a:rPr>
              <a:t>"Pesan rusak, dipindah ke DLQ: %s"</a:t>
            </a:r>
            <a:r>
              <a:rPr sz="600" i="0">
                <a:solidFill>
                  <a:srgbClr val="E6EDF3"/>
                </a:solidFill>
                <a:latin typeface="Inconsolata"/>
              </a:rPr>
              <a:t>, exc)</a:t>
            </a:r>
          </a:p>
          <a:p>
            <a:pPr>
              <a:lnSpc>
                <a:spcPct val="111111"/>
              </a:lnSpc>
              <a:spcAft>
                <a:spcPts val="0"/>
              </a:spcAft>
            </a:pPr>
            <a:r>
              <a:rPr sz="600" i="0">
                <a:solidFill>
                  <a:srgbClr val="E6EDF3"/>
                </a:solidFill>
                <a:latin typeface="Inconsolata"/>
              </a:rPr>
              <a:t>        channel.basic_nack(method.delivery_tag, requeue=</a:t>
            </a:r>
            <a:r>
              <a:rPr sz="600" i="0">
                <a:solidFill>
                  <a:srgbClr val="FF8E6E"/>
                </a:solidFill>
                <a:latin typeface="Inconsolata"/>
              </a:rPr>
              <a:t>False</a:t>
            </a:r>
            <a:r>
              <a:rPr sz="600" i="0">
                <a:solidFill>
                  <a:srgbClr val="E6EDF3"/>
                </a:solidFill>
                <a:latin typeface="Inconsolata"/>
              </a:rPr>
              <a:t>)</a:t>
            </a:r>
          </a:p>
          <a:p>
            <a:pPr>
              <a:lnSpc>
                <a:spcPct val="111111"/>
              </a:lnSpc>
              <a:spcAft>
                <a:spcPts val="0"/>
              </a:spcAft>
            </a:pPr>
            <a:r>
              <a:rPr sz="600" i="0">
                <a:solidFill>
                  <a:srgbClr val="E6EDF3"/>
                </a:solidFill>
                <a:latin typeface="Inconsolata"/>
              </a:rPr>
              <a:t>        </a:t>
            </a:r>
            <a:r>
              <a:rPr sz="600" i="0">
                <a:solidFill>
                  <a:srgbClr val="FF8E6E"/>
                </a:solidFill>
                <a:latin typeface="Inconsolata"/>
              </a:rPr>
              <a:t>return</a:t>
            </a:r>
            <a:r>
              <a:rPr sz="600" i="0">
                <a:solidFill>
                  <a:srgbClr val="E6EDF3"/>
                </a:solidFill>
                <a:latin typeface="Inconsolata"/>
              </a:rPr>
              <a:t> </a:t>
            </a:r>
            <a:r>
              <a:rPr sz="600" i="0">
                <a:solidFill>
                  <a:srgbClr val="A5D6A7"/>
                </a:solidFill>
                <a:latin typeface="Inconsolata"/>
              </a:rPr>
              <a:t>"dead_lettered"</a:t>
            </a:r>
          </a:p>
          <a:p>
            <a:pPr>
              <a:lnSpc>
                <a:spcPct val="111111"/>
              </a:lnSpc>
              <a:spcAft>
                <a:spcPts val="0"/>
              </a:spcAft>
            </a:pPr>
            <a:r>
              <a:rPr sz="600" i="0">
                <a:solidFill>
                  <a:srgbClr val="E6EDF3"/>
                </a:solidFill>
                <a:latin typeface="Inconsolata"/>
              </a:rPr>
              <a:t>    </a:t>
            </a:r>
            <a:r>
              <a:rPr sz="600" i="0">
                <a:solidFill>
                  <a:srgbClr val="FF8E6E"/>
                </a:solidFill>
                <a:latin typeface="Inconsolata"/>
              </a:rPr>
              <a:t>except</a:t>
            </a:r>
            <a:r>
              <a:rPr sz="600" i="0">
                <a:solidFill>
                  <a:srgbClr val="E6EDF3"/>
                </a:solidFill>
                <a:latin typeface="Inconsolata"/>
              </a:rPr>
              <a:t> </a:t>
            </a:r>
            <a:r>
              <a:rPr sz="600" i="0">
                <a:solidFill>
                  <a:srgbClr val="7FDBCA"/>
                </a:solidFill>
                <a:latin typeface="Inconsolata"/>
              </a:rPr>
              <a:t>NotificationServiceDown</a:t>
            </a:r>
            <a:r>
              <a:rPr sz="600" i="0">
                <a:solidFill>
                  <a:srgbClr val="E6EDF3"/>
                </a:solidFill>
                <a:latin typeface="Inconsolata"/>
              </a:rPr>
              <a:t> </a:t>
            </a:r>
            <a:r>
              <a:rPr sz="600" i="0">
                <a:solidFill>
                  <a:srgbClr val="FF8E6E"/>
                </a:solidFill>
                <a:latin typeface="Inconsolata"/>
              </a:rPr>
              <a:t>as</a:t>
            </a:r>
            <a:r>
              <a:rPr sz="600" i="0">
                <a:solidFill>
                  <a:srgbClr val="E6EDF3"/>
                </a:solidFill>
                <a:latin typeface="Inconsolata"/>
              </a:rPr>
              <a:t> exc:</a:t>
            </a:r>
          </a:p>
          <a:p>
            <a:pPr>
              <a:lnSpc>
                <a:spcPct val="111111"/>
              </a:lnSpc>
              <a:spcAft>
                <a:spcPts val="0"/>
              </a:spcAft>
            </a:pPr>
            <a:r>
              <a:rPr sz="600" i="0">
                <a:solidFill>
                  <a:srgbClr val="E6EDF3"/>
                </a:solidFill>
                <a:latin typeface="Inconsolata"/>
              </a:rPr>
              <a:t>        </a:t>
            </a:r>
            <a:r>
              <a:rPr sz="600" i="0">
                <a:solidFill>
                  <a:srgbClr val="FF8E6E"/>
                </a:solidFill>
                <a:latin typeface="Inconsolata"/>
              </a:rPr>
              <a:t>if</a:t>
            </a:r>
            <a:r>
              <a:rPr sz="600" i="0">
                <a:solidFill>
                  <a:srgbClr val="E6EDF3"/>
                </a:solidFill>
                <a:latin typeface="Inconsolata"/>
              </a:rPr>
              <a:t> retries &gt;= max_retries:</a:t>
            </a:r>
          </a:p>
          <a:p>
            <a:pPr>
              <a:lnSpc>
                <a:spcPct val="111111"/>
              </a:lnSpc>
              <a:spcAft>
                <a:spcPts val="0"/>
              </a:spcAft>
            </a:pPr>
            <a:r>
              <a:rPr sz="600" i="0">
                <a:solidFill>
                  <a:srgbClr val="E6EDF3"/>
                </a:solidFill>
                <a:latin typeface="Inconsolata"/>
              </a:rPr>
              <a:t>            logger.error(</a:t>
            </a:r>
            <a:r>
              <a:rPr sz="600" i="0">
                <a:solidFill>
                  <a:srgbClr val="A5D6A7"/>
                </a:solidFill>
                <a:latin typeface="Inconsolata"/>
              </a:rPr>
              <a:t>"[ALERT] Gagal %s kali, dipindah ke DLQ: %s"</a:t>
            </a:r>
            <a:r>
              <a:rPr sz="600" i="0">
                <a:solidFill>
                  <a:srgbClr val="E6EDF3"/>
                </a:solidFill>
                <a:latin typeface="Inconsolata"/>
              </a:rPr>
              <a:t>, retries + </a:t>
            </a:r>
            <a:r>
              <a:rPr sz="600" i="0">
                <a:solidFill>
                  <a:srgbClr val="F9C97A"/>
                </a:solidFill>
                <a:latin typeface="Inconsolata"/>
              </a:rPr>
              <a:t>1</a:t>
            </a:r>
            <a:r>
              <a:rPr sz="600" i="0">
                <a:solidFill>
                  <a:srgbClr val="E6EDF3"/>
                </a:solidFill>
                <a:latin typeface="Inconsolata"/>
              </a:rPr>
              <a:t>, exc)</a:t>
            </a:r>
          </a:p>
          <a:p>
            <a:pPr>
              <a:lnSpc>
                <a:spcPct val="111111"/>
              </a:lnSpc>
              <a:spcAft>
                <a:spcPts val="0"/>
              </a:spcAft>
            </a:pPr>
            <a:r>
              <a:rPr sz="600" i="0">
                <a:solidFill>
                  <a:srgbClr val="E6EDF3"/>
                </a:solidFill>
                <a:latin typeface="Inconsolata"/>
              </a:rPr>
              <a:t>            channel.basic_nack(method.delivery_tag, requeue=</a:t>
            </a:r>
            <a:r>
              <a:rPr sz="600" i="0">
                <a:solidFill>
                  <a:srgbClr val="FF8E6E"/>
                </a:solidFill>
                <a:latin typeface="Inconsolata"/>
              </a:rPr>
              <a:t>False</a:t>
            </a:r>
            <a:r>
              <a:rPr sz="600" i="0">
                <a:solidFill>
                  <a:srgbClr val="E6EDF3"/>
                </a:solidFill>
                <a:latin typeface="Inconsolata"/>
              </a:rPr>
              <a:t>)</a:t>
            </a:r>
          </a:p>
          <a:p>
            <a:pPr>
              <a:lnSpc>
                <a:spcPct val="111111"/>
              </a:lnSpc>
              <a:spcAft>
                <a:spcPts val="0"/>
              </a:spcAft>
            </a:pPr>
            <a:r>
              <a:rPr sz="600" i="0">
                <a:solidFill>
                  <a:srgbClr val="E6EDF3"/>
                </a:solidFill>
                <a:latin typeface="Inconsolata"/>
              </a:rPr>
              <a:t>            </a:t>
            </a:r>
            <a:r>
              <a:rPr sz="600" i="0">
                <a:solidFill>
                  <a:srgbClr val="FF8E6E"/>
                </a:solidFill>
                <a:latin typeface="Inconsolata"/>
              </a:rPr>
              <a:t>return</a:t>
            </a:r>
            <a:r>
              <a:rPr sz="600" i="0">
                <a:solidFill>
                  <a:srgbClr val="E6EDF3"/>
                </a:solidFill>
                <a:latin typeface="Inconsolata"/>
              </a:rPr>
              <a:t> </a:t>
            </a:r>
            <a:r>
              <a:rPr sz="600" i="0">
                <a:solidFill>
                  <a:srgbClr val="A5D6A7"/>
                </a:solidFill>
                <a:latin typeface="Inconsolata"/>
              </a:rPr>
              <a:t>"dead_lettered"</a:t>
            </a:r>
          </a:p>
          <a:p>
            <a:pPr>
              <a:lnSpc>
                <a:spcPct val="111111"/>
              </a:lnSpc>
              <a:spcAft>
                <a:spcPts val="0"/>
              </a:spcAft>
            </a:pPr>
            <a:r>
              <a:rPr sz="600" i="0">
                <a:solidFill>
                  <a:srgbClr val="E6EDF3"/>
                </a:solidFill>
                <a:latin typeface="Inconsolata"/>
              </a:rPr>
              <a:t>        delay_ms = retry_delay_ms * </a:t>
            </a:r>
            <a:r>
              <a:rPr sz="600" i="0">
                <a:solidFill>
                  <a:srgbClr val="F9C97A"/>
                </a:solidFill>
                <a:latin typeface="Inconsolata"/>
              </a:rPr>
              <a:t>2</a:t>
            </a:r>
            <a:r>
              <a:rPr sz="600" i="0">
                <a:solidFill>
                  <a:srgbClr val="E6EDF3"/>
                </a:solidFill>
                <a:latin typeface="Inconsolata"/>
              </a:rPr>
              <a:t> ** retries</a:t>
            </a:r>
          </a:p>
          <a:p>
            <a:pPr>
              <a:lnSpc>
                <a:spcPct val="111111"/>
              </a:lnSpc>
              <a:spcAft>
                <a:spcPts val="0"/>
              </a:spcAft>
            </a:pPr>
            <a:r>
              <a:rPr sz="600" i="0">
                <a:solidFill>
                  <a:srgbClr val="E6EDF3"/>
                </a:solidFill>
                <a:latin typeface="Inconsolata"/>
              </a:rPr>
              <a:t>        channel.basic_publish(</a:t>
            </a:r>
            <a:r>
              <a:rPr sz="600" i="0">
                <a:solidFill>
                  <a:srgbClr val="A5D6A7"/>
                </a:solidFill>
                <a:latin typeface="Inconsolata"/>
              </a:rPr>
              <a:t>""</a:t>
            </a:r>
            <a:r>
              <a:rPr sz="600" i="0">
                <a:solidFill>
                  <a:srgbClr val="E6EDF3"/>
                </a:solidFill>
                <a:latin typeface="Inconsolata"/>
              </a:rPr>
              <a:t>, </a:t>
            </a:r>
            <a:r>
              <a:rPr sz="600" i="0">
                <a:solidFill>
                  <a:srgbClr val="7FDBCA"/>
                </a:solidFill>
                <a:latin typeface="Inconsolata"/>
              </a:rPr>
              <a:t>RETRY_QUEUE</a:t>
            </a:r>
            <a:r>
              <a:rPr sz="600" i="0">
                <a:solidFill>
                  <a:srgbClr val="E6EDF3"/>
                </a:solidFill>
                <a:latin typeface="Inconsolata"/>
              </a:rPr>
              <a:t>, body, pika.</a:t>
            </a:r>
            <a:r>
              <a:rPr sz="600" i="0">
                <a:solidFill>
                  <a:srgbClr val="7FDBCA"/>
                </a:solidFill>
                <a:latin typeface="Inconsolata"/>
              </a:rPr>
              <a:t>BasicProperties</a:t>
            </a:r>
            <a:r>
              <a:rPr sz="600" i="0">
                <a:solidFill>
                  <a:srgbClr val="E6EDF3"/>
                </a:solidFill>
                <a:latin typeface="Inconsolata"/>
              </a:rPr>
              <a:t>(</a:t>
            </a:r>
          </a:p>
          <a:p>
            <a:pPr>
              <a:lnSpc>
                <a:spcPct val="111111"/>
              </a:lnSpc>
              <a:spcAft>
                <a:spcPts val="0"/>
              </a:spcAft>
            </a:pPr>
            <a:r>
              <a:rPr sz="600" i="0">
                <a:solidFill>
                  <a:srgbClr val="E6EDF3"/>
                </a:solidFill>
                <a:latin typeface="Inconsolata"/>
              </a:rPr>
              <a:t>            content_type=</a:t>
            </a:r>
            <a:r>
              <a:rPr sz="600" i="0">
                <a:solidFill>
                  <a:srgbClr val="A5D6A7"/>
                </a:solidFill>
                <a:latin typeface="Inconsolata"/>
              </a:rPr>
              <a:t>"application/json"</a:t>
            </a:r>
            <a:r>
              <a:rPr sz="600" i="0">
                <a:solidFill>
                  <a:srgbClr val="E6EDF3"/>
                </a:solidFill>
                <a:latin typeface="Inconsolata"/>
              </a:rPr>
              <a:t>, message_id=properties.message_id,</a:t>
            </a:r>
          </a:p>
          <a:p>
            <a:pPr>
              <a:lnSpc>
                <a:spcPct val="111111"/>
              </a:lnSpc>
              <a:spcAft>
                <a:spcPts val="0"/>
              </a:spcAft>
            </a:pPr>
            <a:r>
              <a:rPr sz="600" i="0">
                <a:solidFill>
                  <a:srgbClr val="E6EDF3"/>
                </a:solidFill>
                <a:latin typeface="Inconsolata"/>
              </a:rPr>
              <a:t>            headers={</a:t>
            </a:r>
            <a:r>
              <a:rPr sz="600" i="0">
                <a:solidFill>
                  <a:srgbClr val="A5D6A7"/>
                </a:solidFill>
                <a:latin typeface="Inconsolata"/>
              </a:rPr>
              <a:t>"x-retries"</a:t>
            </a:r>
            <a:r>
              <a:rPr sz="600" i="0">
                <a:solidFill>
                  <a:srgbClr val="E6EDF3"/>
                </a:solidFill>
                <a:latin typeface="Inconsolata"/>
              </a:rPr>
              <a:t>: retries + </a:t>
            </a:r>
            <a:r>
              <a:rPr sz="600" i="0">
                <a:solidFill>
                  <a:srgbClr val="F9C97A"/>
                </a:solidFill>
                <a:latin typeface="Inconsolata"/>
              </a:rPr>
              <a:t>1</a:t>
            </a:r>
            <a:r>
              <a:rPr sz="600" i="0">
                <a:solidFill>
                  <a:srgbClr val="E6EDF3"/>
                </a:solidFill>
                <a:latin typeface="Inconsolata"/>
              </a:rPr>
              <a:t>}, expiration=</a:t>
            </a:r>
            <a:r>
              <a:rPr sz="600" i="0">
                <a:solidFill>
                  <a:srgbClr val="C3A6FF"/>
                </a:solidFill>
                <a:latin typeface="Inconsolata"/>
              </a:rPr>
              <a:t>str</a:t>
            </a:r>
            <a:r>
              <a:rPr sz="600" i="0">
                <a:solidFill>
                  <a:srgbClr val="E6EDF3"/>
                </a:solidFill>
                <a:latin typeface="Inconsolata"/>
              </a:rPr>
              <a:t>(delay_ms),</a:t>
            </a:r>
          </a:p>
          <a:p>
            <a:pPr>
              <a:lnSpc>
                <a:spcPct val="111111"/>
              </a:lnSpc>
              <a:spcAft>
                <a:spcPts val="0"/>
              </a:spcAft>
            </a:pPr>
            <a:r>
              <a:rPr sz="600" i="0">
                <a:solidFill>
                  <a:srgbClr val="E6EDF3"/>
                </a:solidFill>
                <a:latin typeface="Inconsolata"/>
              </a:rPr>
              <a:t>            delivery_mode=pika.</a:t>
            </a:r>
            <a:r>
              <a:rPr sz="600" i="0">
                <a:solidFill>
                  <a:srgbClr val="7FDBCA"/>
                </a:solidFill>
                <a:latin typeface="Inconsolata"/>
              </a:rPr>
              <a:t>DeliveryMode</a:t>
            </a:r>
            <a:r>
              <a:rPr sz="600" i="0">
                <a:solidFill>
                  <a:srgbClr val="E6EDF3"/>
                </a:solidFill>
                <a:latin typeface="Inconsolata"/>
              </a:rPr>
              <a:t>.</a:t>
            </a:r>
            <a:r>
              <a:rPr sz="600" i="0">
                <a:solidFill>
                  <a:srgbClr val="7FDBCA"/>
                </a:solidFill>
                <a:latin typeface="Inconsolata"/>
              </a:rPr>
              <a:t>Persistent</a:t>
            </a:r>
            <a:r>
              <a:rPr sz="600" i="0">
                <a:solidFill>
                  <a:srgbClr val="E6EDF3"/>
                </a:solidFill>
                <a:latin typeface="Inconsolata"/>
              </a:rPr>
              <a:t>))</a:t>
            </a:r>
          </a:p>
          <a:p>
            <a:pPr>
              <a:lnSpc>
                <a:spcPct val="111111"/>
              </a:lnSpc>
              <a:spcAft>
                <a:spcPts val="0"/>
              </a:spcAft>
            </a:pPr>
            <a:r>
              <a:rPr sz="600" i="0">
                <a:solidFill>
                  <a:srgbClr val="E6EDF3"/>
                </a:solidFill>
                <a:latin typeface="Inconsolata"/>
              </a:rPr>
              <a:t>        channel.basic_ack(method.delivery_tag)</a:t>
            </a:r>
          </a:p>
        </p:txBody>
      </p:sp>
      <p:sp>
        <p:nvSpPr>
          <p:cNvPr id="29" name="Box 12"/>
          <p:cNvSpPr/>
          <p:nvPr/>
        </p:nvSpPr>
        <p:spPr>
          <a:xfrm>
            <a:off x="704088" y="2230120"/>
            <a:ext cx="5230368" cy="298704"/>
          </a:xfrm>
          <a:prstGeom prst="roundRect">
            <a:avLst>
              <a:gd name="adj" fmla="val 15306"/>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22606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534920"/>
            <a:ext cx="5230368" cy="400304"/>
          </a:xfrm>
          <a:prstGeom prst="roundRect">
            <a:avLst>
              <a:gd name="adj" fmla="val 11421"/>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26162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2941320"/>
            <a:ext cx="5230368" cy="1111504"/>
          </a:xfrm>
          <a:prstGeom prst="roundRect">
            <a:avLst>
              <a:gd name="adj" fmla="val 4113"/>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815584" y="33782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Text 19"/>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7" name="Text 20"/>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Berhasil atau sudah pernah dikirim: ack (contoh 03)</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Pesan rusak: langsung ke DLQ (contoh 04)</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Error sementara: retry dengan jeda, lewat batas ke DLQ</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main()</a:t>
            </a:r>
            <a:r>
              <a:rPr sz="900" b="0" i="0">
                <a:solidFill>
                  <a:srgbClr val="434343"/>
                </a:solidFill>
                <a:latin typeface="Inter"/>
              </a:rPr>
              <a:t>: consume queue dengan </a:t>
            </a:r>
            <a:r>
              <a:rPr sz="900" b="0" i="0">
                <a:solidFill>
                  <a:srgbClr val="B5482A"/>
                </a:solidFill>
                <a:latin typeface="Inconsolata"/>
              </a:rPr>
              <a:t>prefetch_count=1</a:t>
            </a:r>
          </a:p>
        </p:txBody>
      </p:sp>
      <p:sp>
        <p:nvSpPr>
          <p:cNvPr id="38" name="Box 21"/>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Text 22"/>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40" name="Text 23"/>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Consumer = pintu masuk seperti route.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7 dari 9</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API memakai publisher, Celery tinggal report</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api/dependencies.py  +  worker/tasks.py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11111"/>
              </a:lnSpc>
              <a:spcAft>
                <a:spcPts val="0"/>
              </a:spcAft>
            </a:pPr>
            <a:r>
              <a:rPr sz="750" i="1">
                <a:solidFill>
                  <a:srgbClr val="8B98A8"/>
                </a:solidFill>
                <a:latin typeface="Inconsolata"/>
              </a:rPr>
              <a:t># app/api/dependencies.py</a:t>
            </a:r>
          </a:p>
          <a:p>
            <a:pPr>
              <a:lnSpc>
                <a:spcPct val="111111"/>
              </a:lnSpc>
              <a:spcAft>
                <a:spcPts val="0"/>
              </a:spcAft>
            </a:pP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get_event_publisher</a:t>
            </a:r>
            <a:r>
              <a:rPr sz="750" i="0">
                <a:solidFill>
                  <a:srgbClr val="E6EDF3"/>
                </a:solidFill>
                <a:latin typeface="Inconsolata"/>
              </a:rPr>
              <a:t>() -&gt; </a:t>
            </a:r>
            <a:r>
              <a:rPr sz="750" i="0">
                <a:solidFill>
                  <a:srgbClr val="7FDBCA"/>
                </a:solidFill>
                <a:latin typeface="Inconsolata"/>
              </a:rPr>
              <a:t>EventPublisher</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FF8E6E"/>
                </a:solidFill>
                <a:latin typeface="Inconsolata"/>
              </a:rPr>
              <a:t>return</a:t>
            </a:r>
            <a:r>
              <a:rPr sz="750" i="0">
                <a:solidFill>
                  <a:srgbClr val="E6EDF3"/>
                </a:solidFill>
                <a:latin typeface="Inconsolata"/>
              </a:rPr>
              <a:t> </a:t>
            </a:r>
            <a:r>
              <a:rPr sz="750" i="0">
                <a:solidFill>
                  <a:srgbClr val="7FDBCA"/>
                </a:solidFill>
                <a:latin typeface="Inconsolata"/>
              </a:rPr>
              <a:t>RabbitMQPublisher</a:t>
            </a:r>
            <a:r>
              <a:rPr sz="750" i="0">
                <a:solidFill>
                  <a:srgbClr val="E6EDF3"/>
                </a:solidFill>
                <a:latin typeface="Inconsolata"/>
              </a:rPr>
              <a:t>(get_settings().rabbitmq_url)</a:t>
            </a:r>
          </a:p>
          <a:p>
            <a:pPr>
              <a:lnSpc>
                <a:spcPct val="111111"/>
              </a:lnSpc>
              <a:spcAft>
                <a:spcPts val="0"/>
              </a:spcAft>
            </a:pPr>
            <a:r>
              <a:rPr sz="750" i="0">
                <a:solidFill>
                  <a:srgbClr val="E6EDF3"/>
                </a:solidFill>
                <a:latin typeface="Inconsolata"/>
              </a:rPr>
              <a:t> </a:t>
            </a:r>
          </a:p>
          <a:p>
            <a:pPr>
              <a:lnSpc>
                <a:spcPct val="111111"/>
              </a:lnSpc>
              <a:spcAft>
                <a:spcPts val="0"/>
              </a:spcAft>
            </a:pP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get_order_service</a:t>
            </a:r>
            <a:r>
              <a:rPr sz="750" i="0">
                <a:solidFill>
                  <a:srgbClr val="E6EDF3"/>
                </a:solidFill>
                <a:latin typeface="Inconsolata"/>
              </a:rPr>
              <a:t>(uow: </a:t>
            </a:r>
            <a:r>
              <a:rPr sz="750" i="0">
                <a:solidFill>
                  <a:srgbClr val="7FDBCA"/>
                </a:solidFill>
                <a:latin typeface="Inconsolata"/>
              </a:rPr>
              <a:t>UnitOfWork</a:t>
            </a:r>
            <a:r>
              <a:rPr sz="750" i="0">
                <a:solidFill>
                  <a:srgbClr val="E6EDF3"/>
                </a:solidFill>
                <a:latin typeface="Inconsolata"/>
              </a:rPr>
              <a:t> = </a:t>
            </a:r>
            <a:r>
              <a:rPr sz="750" i="0">
                <a:solidFill>
                  <a:srgbClr val="7FDBCA"/>
                </a:solidFill>
                <a:latin typeface="Inconsolata"/>
              </a:rPr>
              <a:t>Depends</a:t>
            </a:r>
            <a:r>
              <a:rPr sz="750" i="0">
                <a:solidFill>
                  <a:srgbClr val="E6EDF3"/>
                </a:solidFill>
                <a:latin typeface="Inconsolata"/>
              </a:rPr>
              <a:t>(get_uow),</a:t>
            </a:r>
          </a:p>
          <a:p>
            <a:pPr>
              <a:lnSpc>
                <a:spcPct val="111111"/>
              </a:lnSpc>
              <a:spcAft>
                <a:spcPts val="0"/>
              </a:spcAft>
            </a:pPr>
            <a:r>
              <a:rPr sz="750" i="0">
                <a:solidFill>
                  <a:srgbClr val="E6EDF3"/>
                </a:solidFill>
                <a:latin typeface="Inconsolata"/>
              </a:rPr>
              <a:t>                      events: </a:t>
            </a:r>
            <a:r>
              <a:rPr sz="750" i="0">
                <a:solidFill>
                  <a:srgbClr val="7FDBCA"/>
                </a:solidFill>
                <a:latin typeface="Inconsolata"/>
              </a:rPr>
              <a:t>EventPublisher</a:t>
            </a:r>
            <a:r>
              <a:rPr sz="750" i="0">
                <a:solidFill>
                  <a:srgbClr val="E6EDF3"/>
                </a:solidFill>
                <a:latin typeface="Inconsolata"/>
              </a:rPr>
              <a:t> = </a:t>
            </a:r>
            <a:r>
              <a:rPr sz="750" i="0">
                <a:solidFill>
                  <a:srgbClr val="7FDBCA"/>
                </a:solidFill>
                <a:latin typeface="Inconsolata"/>
              </a:rPr>
              <a:t>Depends</a:t>
            </a:r>
            <a:r>
              <a:rPr sz="750" i="0">
                <a:solidFill>
                  <a:srgbClr val="E6EDF3"/>
                </a:solidFill>
                <a:latin typeface="Inconsolata"/>
              </a:rPr>
              <a:t>(get_event_publisher)) -&gt; </a:t>
            </a:r>
            <a:r>
              <a:rPr sz="750" i="0">
                <a:solidFill>
                  <a:srgbClr val="7FDBCA"/>
                </a:solidFill>
                <a:latin typeface="Inconsolata"/>
              </a:rPr>
              <a:t>OrderService</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FF8E6E"/>
                </a:solidFill>
                <a:latin typeface="Inconsolata"/>
              </a:rPr>
              <a:t>return</a:t>
            </a:r>
            <a:r>
              <a:rPr sz="750" i="0">
                <a:solidFill>
                  <a:srgbClr val="E6EDF3"/>
                </a:solidFill>
                <a:latin typeface="Inconsolata"/>
              </a:rPr>
              <a:t> </a:t>
            </a:r>
            <a:r>
              <a:rPr sz="750" i="0">
                <a:solidFill>
                  <a:srgbClr val="7FDBCA"/>
                </a:solidFill>
                <a:latin typeface="Inconsolata"/>
              </a:rPr>
              <a:t>OrderService</a:t>
            </a:r>
            <a:r>
              <a:rPr sz="750" i="0">
                <a:solidFill>
                  <a:srgbClr val="E6EDF3"/>
                </a:solidFill>
                <a:latin typeface="Inconsolata"/>
              </a:rPr>
              <a:t>(uow, events)</a:t>
            </a:r>
          </a:p>
          <a:p>
            <a:pPr>
              <a:lnSpc>
                <a:spcPct val="111111"/>
              </a:lnSpc>
              <a:spcAft>
                <a:spcPts val="0"/>
              </a:spcAft>
            </a:pPr>
            <a:r>
              <a:rPr sz="750" i="0">
                <a:solidFill>
                  <a:srgbClr val="E6EDF3"/>
                </a:solidFill>
                <a:latin typeface="Inconsolata"/>
              </a:rPr>
              <a:t> </a:t>
            </a:r>
          </a:p>
          <a:p>
            <a:pPr>
              <a:lnSpc>
                <a:spcPct val="111111"/>
              </a:lnSpc>
              <a:spcAft>
                <a:spcPts val="0"/>
              </a:spcAft>
            </a:pPr>
            <a:r>
              <a:rPr sz="750" i="1">
                <a:solidFill>
                  <a:srgbClr val="8B98A8"/>
                </a:solidFill>
                <a:latin typeface="Inconsolata"/>
              </a:rPr>
              <a:t># app/worker/tasks.py</a:t>
            </a:r>
          </a:p>
          <a:p>
            <a:pPr>
              <a:lnSpc>
                <a:spcPct val="111111"/>
              </a:lnSpc>
              <a:spcAft>
                <a:spcPts val="0"/>
              </a:spcAft>
            </a:pPr>
            <a:r>
              <a:rPr sz="750" i="0">
                <a:solidFill>
                  <a:srgbClr val="F9C97A"/>
                </a:solidFill>
                <a:latin typeface="Inconsolata"/>
              </a:rPr>
              <a:t>@celery_app.task</a:t>
            </a:r>
            <a:r>
              <a:rPr sz="750" i="0">
                <a:solidFill>
                  <a:srgbClr val="E6EDF3"/>
                </a:solidFill>
                <a:latin typeface="Inconsolata"/>
              </a:rPr>
              <a:t>(base=</a:t>
            </a:r>
            <a:r>
              <a:rPr sz="750" i="0">
                <a:solidFill>
                  <a:srgbClr val="7FDBCA"/>
                </a:solidFill>
                <a:latin typeface="Inconsolata"/>
              </a:rPr>
              <a:t>AlertingTask</a:t>
            </a:r>
            <a:r>
              <a:rPr sz="750" i="0">
                <a:solidFill>
                  <a:srgbClr val="E6EDF3"/>
                </a:solidFill>
                <a:latin typeface="Inconsolata"/>
              </a:rPr>
              <a:t>, soft_time_limit=</a:t>
            </a:r>
            <a:r>
              <a:rPr sz="750" i="0">
                <a:solidFill>
                  <a:srgbClr val="F9C97A"/>
                </a:solidFill>
                <a:latin typeface="Inconsolata"/>
              </a:rPr>
              <a:t>120</a:t>
            </a:r>
            <a:r>
              <a:rPr sz="750" i="0">
                <a:solidFill>
                  <a:srgbClr val="E6EDF3"/>
                </a:solidFill>
                <a:latin typeface="Inconsolata"/>
              </a:rPr>
              <a:t>, time_limit=</a:t>
            </a:r>
            <a:r>
              <a:rPr sz="750" i="0">
                <a:solidFill>
                  <a:srgbClr val="F9C97A"/>
                </a:solidFill>
                <a:latin typeface="Inconsolata"/>
              </a:rPr>
              <a:t>150</a:t>
            </a:r>
            <a:r>
              <a:rPr sz="750" i="0">
                <a:solidFill>
                  <a:srgbClr val="E6EDF3"/>
                </a:solidFill>
                <a:latin typeface="Inconsolata"/>
              </a:rPr>
              <a:t>)</a:t>
            </a:r>
          </a:p>
          <a:p>
            <a:pPr>
              <a:lnSpc>
                <a:spcPct val="111111"/>
              </a:lnSpc>
              <a:spcAft>
                <a:spcPts val="0"/>
              </a:spcAft>
            </a:pP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generate_sales_report</a:t>
            </a:r>
            <a:r>
              <a:rPr sz="750" i="0">
                <a:solidFill>
                  <a:srgbClr val="E6EDF3"/>
                </a:solidFill>
                <a:latin typeface="Inconsolata"/>
              </a:rPr>
              <a:t>() -&gt; </a:t>
            </a:r>
            <a:r>
              <a:rPr sz="750" i="0">
                <a:solidFill>
                  <a:srgbClr val="C3A6FF"/>
                </a:solidFill>
                <a:latin typeface="Inconsolata"/>
              </a:rPr>
              <a:t>dict</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FF8E6E"/>
                </a:solidFill>
                <a:latin typeface="Inconsolata"/>
              </a:rPr>
              <a:t>return</a:t>
            </a:r>
            <a:r>
              <a:rPr sz="750" i="0">
                <a:solidFill>
                  <a:srgbClr val="E6EDF3"/>
                </a:solidFill>
                <a:latin typeface="Inconsolata"/>
              </a:rPr>
              <a:t> </a:t>
            </a:r>
            <a:r>
              <a:rPr sz="750" i="0">
                <a:solidFill>
                  <a:srgbClr val="7FDBCA"/>
                </a:solidFill>
                <a:latin typeface="Inconsolata"/>
              </a:rPr>
              <a:t>ReportService</a:t>
            </a:r>
            <a:r>
              <a:rPr sz="750" i="0">
                <a:solidFill>
                  <a:srgbClr val="E6EDF3"/>
                </a:solidFill>
                <a:latin typeface="Inconsolata"/>
              </a:rPr>
              <a:t>(</a:t>
            </a:r>
            <a:r>
              <a:rPr sz="750" i="0">
                <a:solidFill>
                  <a:srgbClr val="7FDBCA"/>
                </a:solidFill>
                <a:latin typeface="Inconsolata"/>
              </a:rPr>
              <a:t>SqlAlchemyUnitOfWork</a:t>
            </a:r>
            <a:r>
              <a:rPr sz="750" i="0">
                <a:solidFill>
                  <a:srgbClr val="E6EDF3"/>
                </a:solidFill>
                <a:latin typeface="Inconsolata"/>
              </a:rPr>
              <a:t>(get_session_factory())).sales_summary()</a:t>
            </a:r>
          </a:p>
        </p:txBody>
      </p:sp>
      <p:sp>
        <p:nvSpPr>
          <p:cNvPr id="29" name="Box 12"/>
          <p:cNvSpPr/>
          <p:nvPr/>
        </p:nvSpPr>
        <p:spPr>
          <a:xfrm>
            <a:off x="704088" y="1954022"/>
            <a:ext cx="5230368" cy="246380"/>
          </a:xfrm>
          <a:prstGeom prst="roundRect">
            <a:avLst>
              <a:gd name="adj" fmla="val 18556"/>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19583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335022"/>
            <a:ext cx="5230368" cy="373380"/>
          </a:xfrm>
          <a:prstGeom prst="roundRect">
            <a:avLst>
              <a:gd name="adj" fmla="val 12244"/>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2402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3097022"/>
            <a:ext cx="523036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815584" y="3037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Text 19"/>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7" name="Text 20"/>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get_event_publisher</a:t>
            </a:r>
            <a:r>
              <a:rPr sz="900" b="0" i="0">
                <a:solidFill>
                  <a:srgbClr val="434343"/>
                </a:solidFill>
                <a:latin typeface="Inter"/>
              </a:rPr>
              <a:t> menggantikan </a:t>
            </a:r>
            <a:r>
              <a:rPr sz="900" b="0" i="0">
                <a:solidFill>
                  <a:srgbClr val="B5482A"/>
                </a:solidFill>
                <a:latin typeface="Inconsolata"/>
              </a:rPr>
              <a:t>get_notifier</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OrderService</a:t>
            </a:r>
            <a:r>
              <a:rPr sz="900" b="0" i="0">
                <a:solidFill>
                  <a:srgbClr val="434343"/>
                </a:solidFill>
                <a:latin typeface="Inter"/>
              </a:rPr>
              <a:t> menerima publisher lewat </a:t>
            </a:r>
            <a:r>
              <a:rPr sz="900" b="0" i="0">
                <a:solidFill>
                  <a:srgbClr val="B5482A"/>
                </a:solidFill>
                <a:latin typeface="Inconsolata"/>
              </a:rPr>
              <a:t>Depends</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Task </a:t>
            </a:r>
            <a:r>
              <a:rPr sz="900" b="0" i="0">
                <a:solidFill>
                  <a:srgbClr val="B5482A"/>
                </a:solidFill>
                <a:latin typeface="Inconsolata"/>
              </a:rPr>
              <a:t>send_notification</a:t>
            </a:r>
            <a:r>
              <a:rPr sz="900" b="0" i="0">
                <a:solidFill>
                  <a:srgbClr val="434343"/>
                </a:solidFill>
                <a:latin typeface="Inter"/>
              </a:rPr>
              <a:t> dan </a:t>
            </a:r>
            <a:r>
              <a:rPr sz="900" b="0" i="0">
                <a:solidFill>
                  <a:srgbClr val="B5482A"/>
                </a:solidFill>
                <a:latin typeface="Inconsolata"/>
              </a:rPr>
              <a:t>worker/notifier.py</a:t>
            </a:r>
            <a:r>
              <a:rPr sz="900" b="0" i="0">
                <a:solidFill>
                  <a:srgbClr val="434343"/>
                </a:solidFill>
                <a:latin typeface="Inter"/>
              </a:rPr>
              <a:t> dihapus, Celery tinggal report</a:t>
            </a:r>
          </a:p>
        </p:txBody>
      </p:sp>
      <p:sp>
        <p:nvSpPr>
          <p:cNvPr id="38" name="Box 21"/>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Text 22"/>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40" name="Text 23"/>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Notifikasi sekarang reaksi atas event.</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8 dari 9</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tests/: consumer tanpa RabbitMQ</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tests/test_notification_consumer.py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07143"/>
              </a:lnSpc>
              <a:spcAft>
                <a:spcPts val="0"/>
              </a:spcAft>
            </a:pPr>
            <a:r>
              <a:rPr sz="700" i="0">
                <a:solidFill>
                  <a:srgbClr val="FF8E6E"/>
                </a:solidFill>
                <a:latin typeface="Inconsolata"/>
              </a:rPr>
              <a:t>class</a:t>
            </a:r>
            <a:r>
              <a:rPr sz="700" i="0">
                <a:solidFill>
                  <a:srgbClr val="E6EDF3"/>
                </a:solidFill>
                <a:latin typeface="Inconsolata"/>
              </a:rPr>
              <a:t> </a:t>
            </a:r>
            <a:r>
              <a:rPr sz="700" i="0">
                <a:solidFill>
                  <a:srgbClr val="7FDBCA"/>
                </a:solidFill>
                <a:latin typeface="Inconsolata"/>
              </a:rPr>
              <a:t>FakeChannel</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__init__</a:t>
            </a:r>
            <a:r>
              <a:rPr sz="700" i="0">
                <a:solidFill>
                  <a:srgbClr val="E6EDF3"/>
                </a:solidFill>
                <a:latin typeface="Inconsolata"/>
              </a:rPr>
              <a:t>(</a:t>
            </a:r>
            <a:r>
              <a:rPr sz="700" i="0">
                <a:solidFill>
                  <a:srgbClr val="C3A6FF"/>
                </a:solidFill>
                <a:latin typeface="Inconsolata"/>
              </a:rPr>
              <a:t>self</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C3A6FF"/>
                </a:solidFill>
                <a:latin typeface="Inconsolata"/>
              </a:rPr>
              <a:t>self</a:t>
            </a:r>
            <a:r>
              <a:rPr sz="700" i="0">
                <a:solidFill>
                  <a:srgbClr val="E6EDF3"/>
                </a:solidFill>
                <a:latin typeface="Inconsolata"/>
              </a:rPr>
              <a:t>.acked, </a:t>
            </a:r>
            <a:r>
              <a:rPr sz="700" i="0">
                <a:solidFill>
                  <a:srgbClr val="C3A6FF"/>
                </a:solidFill>
                <a:latin typeface="Inconsolata"/>
              </a:rPr>
              <a:t>self</a:t>
            </a:r>
            <a:r>
              <a:rPr sz="700" i="0">
                <a:solidFill>
                  <a:srgbClr val="E6EDF3"/>
                </a:solidFill>
                <a:latin typeface="Inconsolata"/>
              </a:rPr>
              <a:t>.nacked, </a:t>
            </a:r>
            <a:r>
              <a:rPr sz="700" i="0">
                <a:solidFill>
                  <a:srgbClr val="C3A6FF"/>
                </a:solidFill>
                <a:latin typeface="Inconsolata"/>
              </a:rPr>
              <a:t>self</a:t>
            </a:r>
            <a:r>
              <a:rPr sz="700" i="0">
                <a:solidFill>
                  <a:srgbClr val="E6EDF3"/>
                </a:solidFill>
                <a:latin typeface="Inconsolata"/>
              </a:rPr>
              <a:t>.published = [], [], []</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E6EDF3"/>
                </a:solidFill>
                <a:latin typeface="Inconsolata"/>
              </a:rPr>
              <a:t>    </a:t>
            </a: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basic_ack</a:t>
            </a:r>
            <a:r>
              <a:rPr sz="700" i="0">
                <a:solidFill>
                  <a:srgbClr val="E6EDF3"/>
                </a:solidFill>
                <a:latin typeface="Inconsolata"/>
              </a:rPr>
              <a:t>(</a:t>
            </a:r>
            <a:r>
              <a:rPr sz="700" i="0">
                <a:solidFill>
                  <a:srgbClr val="C3A6FF"/>
                </a:solidFill>
                <a:latin typeface="Inconsolata"/>
              </a:rPr>
              <a:t>self</a:t>
            </a:r>
            <a:r>
              <a:rPr sz="700" i="0">
                <a:solidFill>
                  <a:srgbClr val="E6EDF3"/>
                </a:solidFill>
                <a:latin typeface="Inconsolata"/>
              </a:rPr>
              <a:t>, delivery_tag):</a:t>
            </a:r>
          </a:p>
          <a:p>
            <a:pPr>
              <a:lnSpc>
                <a:spcPct val="107143"/>
              </a:lnSpc>
              <a:spcAft>
                <a:spcPts val="0"/>
              </a:spcAft>
            </a:pPr>
            <a:r>
              <a:rPr sz="700" i="0">
                <a:solidFill>
                  <a:srgbClr val="E6EDF3"/>
                </a:solidFill>
                <a:latin typeface="Inconsolata"/>
              </a:rPr>
              <a:t>        </a:t>
            </a:r>
            <a:r>
              <a:rPr sz="700" i="0">
                <a:solidFill>
                  <a:srgbClr val="C3A6FF"/>
                </a:solidFill>
                <a:latin typeface="Inconsolata"/>
              </a:rPr>
              <a:t>self</a:t>
            </a:r>
            <a:r>
              <a:rPr sz="700" i="0">
                <a:solidFill>
                  <a:srgbClr val="E6EDF3"/>
                </a:solidFill>
                <a:latin typeface="Inconsolata"/>
              </a:rPr>
              <a:t>.acked.append(delivery_tag)</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E6EDF3"/>
                </a:solidFill>
                <a:latin typeface="Inconsolata"/>
              </a:rPr>
              <a:t>    </a:t>
            </a: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basic_nack</a:t>
            </a:r>
            <a:r>
              <a:rPr sz="700" i="0">
                <a:solidFill>
                  <a:srgbClr val="E6EDF3"/>
                </a:solidFill>
                <a:latin typeface="Inconsolata"/>
              </a:rPr>
              <a:t>(</a:t>
            </a:r>
            <a:r>
              <a:rPr sz="700" i="0">
                <a:solidFill>
                  <a:srgbClr val="C3A6FF"/>
                </a:solidFill>
                <a:latin typeface="Inconsolata"/>
              </a:rPr>
              <a:t>self</a:t>
            </a:r>
            <a:r>
              <a:rPr sz="700" i="0">
                <a:solidFill>
                  <a:srgbClr val="E6EDF3"/>
                </a:solidFill>
                <a:latin typeface="Inconsolata"/>
              </a:rPr>
              <a:t>, delivery_tag, requeue=</a:t>
            </a:r>
            <a:r>
              <a:rPr sz="700" i="0">
                <a:solidFill>
                  <a:srgbClr val="FF8E6E"/>
                </a:solidFill>
                <a:latin typeface="Inconsolata"/>
              </a:rPr>
              <a:t>True</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C3A6FF"/>
                </a:solidFill>
                <a:latin typeface="Inconsolata"/>
              </a:rPr>
              <a:t>self</a:t>
            </a:r>
            <a:r>
              <a:rPr sz="700" i="0">
                <a:solidFill>
                  <a:srgbClr val="E6EDF3"/>
                </a:solidFill>
                <a:latin typeface="Inconsolata"/>
              </a:rPr>
              <a:t>.nacked.append((delivery_tag, requeue))</a:t>
            </a:r>
          </a:p>
          <a:p>
            <a:pPr>
              <a:lnSpc>
                <a:spcPct val="107143"/>
              </a:lnSpc>
              <a:spcAft>
                <a:spcPts val="0"/>
              </a:spcAft>
            </a:pPr>
            <a:r>
              <a:rPr sz="700" i="0">
                <a:solidFill>
                  <a:srgbClr val="E6EDF3"/>
                </a:solidFill>
                <a:latin typeface="Inconsolata"/>
              </a:rPr>
              <a:t>...</a:t>
            </a:r>
          </a:p>
          <a:p>
            <a:pPr>
              <a:lnSpc>
                <a:spcPct val="107143"/>
              </a:lnSpc>
              <a:spcAft>
                <a:spcPts val="0"/>
              </a:spcAft>
            </a:pP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test_event_dobel_hanya_dikirim_sekali</a:t>
            </a:r>
            <a:r>
              <a:rPr sz="700" i="0">
                <a:solidFill>
                  <a:srgbClr val="E6EDF3"/>
                </a:solidFill>
                <a:latin typeface="Inconsolata"/>
              </a:rPr>
              <a:t>(service, notifier):</a:t>
            </a:r>
          </a:p>
          <a:p>
            <a:pPr>
              <a:lnSpc>
                <a:spcPct val="107143"/>
              </a:lnSpc>
              <a:spcAft>
                <a:spcPts val="0"/>
              </a:spcAft>
            </a:pPr>
            <a:r>
              <a:rPr sz="700" i="0">
                <a:solidFill>
                  <a:srgbClr val="E6EDF3"/>
                </a:solidFill>
                <a:latin typeface="Inconsolata"/>
              </a:rPr>
              <a:t>    deliver(service, json.dumps(</a:t>
            </a:r>
            <a:r>
              <a:rPr sz="700" i="0">
                <a:solidFill>
                  <a:srgbClr val="7FDBCA"/>
                </a:solidFill>
                <a:latin typeface="Inconsolata"/>
              </a:rPr>
              <a:t>EVENT</a:t>
            </a:r>
            <a:r>
              <a:rPr sz="700" i="0">
                <a:solidFill>
                  <a:srgbClr val="E6EDF3"/>
                </a:solidFill>
                <a:latin typeface="Inconsolata"/>
              </a:rPr>
              <a:t>))</a:t>
            </a:r>
          </a:p>
          <a:p>
            <a:pPr>
              <a:lnSpc>
                <a:spcPct val="107143"/>
              </a:lnSpc>
              <a:spcAft>
                <a:spcPts val="0"/>
              </a:spcAft>
            </a:pPr>
            <a:r>
              <a:rPr sz="700" i="0">
                <a:solidFill>
                  <a:srgbClr val="E6EDF3"/>
                </a:solidFill>
                <a:latin typeface="Inconsolata"/>
              </a:rPr>
              <a:t>    result, channel = deliver(service, json.dumps(</a:t>
            </a:r>
            <a:r>
              <a:rPr sz="700" i="0">
                <a:solidFill>
                  <a:srgbClr val="7FDBCA"/>
                </a:solidFill>
                <a:latin typeface="Inconsolata"/>
              </a:rPr>
              <a:t>EVENT</a:t>
            </a:r>
            <a:r>
              <a:rPr sz="700" i="0">
                <a:solidFill>
                  <a:srgbClr val="E6EDF3"/>
                </a:solidFill>
                <a:latin typeface="Inconsolata"/>
              </a:rPr>
              <a:t>), tag=</a:t>
            </a:r>
            <a:r>
              <a:rPr sz="700" i="0">
                <a:solidFill>
                  <a:srgbClr val="F9C97A"/>
                </a:solidFill>
                <a:latin typeface="Inconsolata"/>
              </a:rPr>
              <a:t>2</a:t>
            </a:r>
            <a:r>
              <a:rPr sz="700" i="0">
                <a:solidFill>
                  <a:srgbClr val="E6EDF3"/>
                </a:solidFill>
                <a:latin typeface="Inconsolata"/>
              </a:rPr>
              <a:t>)      </a:t>
            </a:r>
            <a:r>
              <a:rPr sz="700" i="1">
                <a:solidFill>
                  <a:srgbClr val="8B98A8"/>
                </a:solidFill>
                <a:latin typeface="Inconsolata"/>
              </a:rPr>
              <a:t># redelivery, event_id sama</a:t>
            </a:r>
          </a:p>
          <a:p>
            <a:pPr>
              <a:lnSpc>
                <a:spcPct val="107143"/>
              </a:lnSpc>
              <a:spcAft>
                <a:spcPts val="0"/>
              </a:spcAft>
            </a:pPr>
            <a:r>
              <a:rPr sz="700" i="0">
                <a:solidFill>
                  <a:srgbClr val="E6EDF3"/>
                </a:solidFill>
                <a:latin typeface="Inconsolata"/>
              </a:rPr>
              <a:t>    </a:t>
            </a:r>
            <a:r>
              <a:rPr sz="700" i="0">
                <a:solidFill>
                  <a:srgbClr val="FF8E6E"/>
                </a:solidFill>
                <a:latin typeface="Inconsolata"/>
              </a:rPr>
              <a:t>assert</a:t>
            </a:r>
            <a:r>
              <a:rPr sz="700" i="0">
                <a:solidFill>
                  <a:srgbClr val="E6EDF3"/>
                </a:solidFill>
                <a:latin typeface="Inconsolata"/>
              </a:rPr>
              <a:t> result == </a:t>
            </a:r>
            <a:r>
              <a:rPr sz="700" i="0">
                <a:solidFill>
                  <a:srgbClr val="A5D6A7"/>
                </a:solidFill>
                <a:latin typeface="Inconsolata"/>
              </a:rPr>
              <a:t>"skipped"</a:t>
            </a:r>
          </a:p>
          <a:p>
            <a:pPr>
              <a:lnSpc>
                <a:spcPct val="107143"/>
              </a:lnSpc>
              <a:spcAft>
                <a:spcPts val="0"/>
              </a:spcAft>
            </a:pPr>
            <a:r>
              <a:rPr sz="700" i="0">
                <a:solidFill>
                  <a:srgbClr val="E6EDF3"/>
                </a:solidFill>
                <a:latin typeface="Inconsolata"/>
              </a:rPr>
              <a:t>    </a:t>
            </a:r>
            <a:r>
              <a:rPr sz="700" i="0">
                <a:solidFill>
                  <a:srgbClr val="FF8E6E"/>
                </a:solidFill>
                <a:latin typeface="Inconsolata"/>
              </a:rPr>
              <a:t>assert</a:t>
            </a:r>
            <a:r>
              <a:rPr sz="700" i="0">
                <a:solidFill>
                  <a:srgbClr val="E6EDF3"/>
                </a:solidFill>
                <a:latin typeface="Inconsolata"/>
              </a:rPr>
              <a:t> </a:t>
            </a:r>
            <a:r>
              <a:rPr sz="700" i="0">
                <a:solidFill>
                  <a:srgbClr val="C3A6FF"/>
                </a:solidFill>
                <a:latin typeface="Inconsolata"/>
              </a:rPr>
              <a:t>len</a:t>
            </a:r>
            <a:r>
              <a:rPr sz="700" i="0">
                <a:solidFill>
                  <a:srgbClr val="E6EDF3"/>
                </a:solidFill>
                <a:latin typeface="Inconsolata"/>
              </a:rPr>
              <a:t>(notifier.sent) == </a:t>
            </a:r>
            <a:r>
              <a:rPr sz="700" i="0">
                <a:solidFill>
                  <a:srgbClr val="F9C97A"/>
                </a:solidFill>
                <a:latin typeface="Inconsolata"/>
              </a:rPr>
              <a:t>1</a:t>
            </a:r>
          </a:p>
          <a:p>
            <a:pPr>
              <a:lnSpc>
                <a:spcPct val="107143"/>
              </a:lnSpc>
              <a:spcAft>
                <a:spcPts val="0"/>
              </a:spcAft>
            </a:pPr>
            <a:r>
              <a:rPr sz="700" i="0">
                <a:solidFill>
                  <a:srgbClr val="E6EDF3"/>
                </a:solidFill>
                <a:latin typeface="Inconsolata"/>
              </a:rPr>
              <a:t>    </a:t>
            </a:r>
            <a:r>
              <a:rPr sz="700" i="0">
                <a:solidFill>
                  <a:srgbClr val="FF8E6E"/>
                </a:solidFill>
                <a:latin typeface="Inconsolata"/>
              </a:rPr>
              <a:t>assert</a:t>
            </a:r>
            <a:r>
              <a:rPr sz="700" i="0">
                <a:solidFill>
                  <a:srgbClr val="E6EDF3"/>
                </a:solidFill>
                <a:latin typeface="Inconsolata"/>
              </a:rPr>
              <a:t> channel.acked == [</a:t>
            </a:r>
            <a:r>
              <a:rPr sz="700" i="0">
                <a:solidFill>
                  <a:srgbClr val="F9C97A"/>
                </a:solidFill>
                <a:latin typeface="Inconsolata"/>
              </a:rPr>
              <a:t>2</a:t>
            </a:r>
            <a:r>
              <a:rPr sz="700" i="0">
                <a:solidFill>
                  <a:srgbClr val="E6EDF3"/>
                </a:solidFill>
                <a:latin typeface="Inconsolata"/>
              </a:rPr>
              <a:t>]                                       </a:t>
            </a:r>
            <a:r>
              <a:rPr sz="700" i="1">
                <a:solidFill>
                  <a:srgbClr val="8B98A8"/>
                </a:solidFill>
                <a:latin typeface="Inconsolata"/>
              </a:rPr>
              <a:t># tetap di-ack supaya tidak datang lagi</a:t>
            </a:r>
          </a:p>
        </p:txBody>
      </p:sp>
      <p:sp>
        <p:nvSpPr>
          <p:cNvPr id="29" name="Box 12"/>
          <p:cNvSpPr/>
          <p:nvPr/>
        </p:nvSpPr>
        <p:spPr>
          <a:xfrm>
            <a:off x="704088" y="1825371"/>
            <a:ext cx="5230368" cy="1021842"/>
          </a:xfrm>
          <a:prstGeom prst="roundRect">
            <a:avLst>
              <a:gd name="adj" fmla="val 4474"/>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221742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968371"/>
            <a:ext cx="5230368" cy="678942"/>
          </a:xfrm>
          <a:prstGeom prst="roundRect">
            <a:avLst>
              <a:gd name="adj" fmla="val 6734"/>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318897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Text 17"/>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5" name="Text 18"/>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FakeChannel</a:t>
            </a:r>
            <a:r>
              <a:rPr sz="900" b="0" i="0">
                <a:solidFill>
                  <a:srgbClr val="434343"/>
                </a:solidFill>
                <a:latin typeface="Inter"/>
              </a:rPr>
              <a:t> mencatat ack, nack, dan publish ke retry queue</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Test: berhasil, pesan yang sama datang lagi, retry dengan jeda, lewat batas retry, dan pesan rusak</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API memakai </a:t>
            </a:r>
            <a:r>
              <a:rPr sz="900" b="0" i="0">
                <a:solidFill>
                  <a:srgbClr val="B5482A"/>
                </a:solidFill>
                <a:latin typeface="Inconsolata"/>
              </a:rPr>
              <a:t>FakeEventPublisher</a:t>
            </a:r>
            <a:r>
              <a:rPr sz="900" b="0" i="0">
                <a:solidFill>
                  <a:srgbClr val="434343"/>
                </a:solidFill>
                <a:latin typeface="Inter"/>
              </a:rPr>
              <a:t>, event yang dikirim bisa dicek</a:t>
            </a:r>
          </a:p>
        </p:txBody>
      </p:sp>
      <p:sp>
        <p:nvSpPr>
          <p:cNvPr id="36" name="Box 19"/>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Text 20"/>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38" name="Text 21"/>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pytest tidak butuh RabbitMQ.</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9 dari 9</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Jalankan Consumer dan Coba Buat Order</a:t>
            </a:r>
          </a:p>
        </p:txBody>
      </p:sp>
      <p:sp>
        <p:nvSpPr>
          <p:cNvPr id="22" name="CodeTab 4"/>
          <p:cNvSpPr/>
          <p:nvPr/>
        </p:nvSpPr>
        <p:spPr>
          <a:xfrm>
            <a:off x="621792" y="1481328"/>
            <a:ext cx="3108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2468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terminal, dari folder latihan/</a:t>
            </a:r>
          </a:p>
        </p:txBody>
      </p:sp>
      <p:sp>
        <p:nvSpPr>
          <p:cNvPr id="27" name="CodeBg 10"/>
          <p:cNvSpPr/>
          <p:nvPr/>
        </p:nvSpPr>
        <p:spPr>
          <a:xfrm>
            <a:off x="621792" y="1719072"/>
            <a:ext cx="3108960" cy="1088136"/>
          </a:xfrm>
          <a:prstGeom prst="roundRect">
            <a:avLst>
              <a:gd name="adj" fmla="val 1680"/>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108960" cy="1088136"/>
          </a:xfrm>
          <a:prstGeom prst="rect">
            <a:avLst/>
          </a:prstGeom>
          <a:noFill/>
        </p:spPr>
        <p:txBody>
          <a:bodyPr wrap="none" lIns="146304" tIns="91440" rIns="146304" bIns="54864">
            <a:spAutoFit/>
          </a:bodyPr>
          <a:lstStyle/>
          <a:p>
            <a:pPr>
              <a:lnSpc>
                <a:spcPct val="111111"/>
              </a:lnSpc>
              <a:spcAft>
                <a:spcPts val="0"/>
              </a:spcAft>
            </a:pPr>
            <a:r>
              <a:rPr sz="750" i="1">
                <a:solidFill>
                  <a:srgbClr val="8B98A8"/>
                </a:solidFill>
                <a:latin typeface="Inconsolata"/>
              </a:rPr>
              <a:t># terminal 1 (PowerShell)</a:t>
            </a:r>
          </a:p>
          <a:p>
            <a:pPr>
              <a:lnSpc>
                <a:spcPct val="111111"/>
              </a:lnSpc>
              <a:spcAft>
                <a:spcPts val="0"/>
              </a:spcAft>
            </a:pPr>
            <a:r>
              <a:rPr sz="750" i="0">
                <a:solidFill>
                  <a:srgbClr val="82B1FF"/>
                </a:solidFill>
                <a:latin typeface="Inconsolata"/>
              </a:rPr>
              <a:t>$env:NOTIFICATION_FAIL_RATE="0.5"</a:t>
            </a:r>
          </a:p>
          <a:p>
            <a:pPr>
              <a:lnSpc>
                <a:spcPct val="111111"/>
              </a:lnSpc>
              <a:spcAft>
                <a:spcPts val="0"/>
              </a:spcAft>
            </a:pPr>
            <a:r>
              <a:rPr sz="750" i="0">
                <a:solidFill>
                  <a:srgbClr val="E6EDF3"/>
                </a:solidFill>
                <a:latin typeface="Inconsolata"/>
              </a:rPr>
              <a:t>python -m app.consumers.notification_consumer</a:t>
            </a:r>
          </a:p>
          <a:p>
            <a:pPr>
              <a:lnSpc>
                <a:spcPct val="111111"/>
              </a:lnSpc>
              <a:spcAft>
                <a:spcPts val="0"/>
              </a:spcAft>
            </a:pPr>
            <a:endParaRPr sz="750" i="0">
              <a:solidFill>
                <a:srgbClr val="E6EDF3"/>
              </a:solidFill>
              <a:latin typeface="Inconsolata"/>
            </a:endParaRPr>
          </a:p>
          <a:p>
            <a:pPr>
              <a:lnSpc>
                <a:spcPct val="111111"/>
              </a:lnSpc>
              <a:spcAft>
                <a:spcPts val="0"/>
              </a:spcAft>
            </a:pPr>
            <a:r>
              <a:rPr sz="750" i="1">
                <a:solidFill>
                  <a:srgbClr val="8B98A8"/>
                </a:solidFill>
                <a:latin typeface="Inconsolata"/>
              </a:rPr>
              <a:t># terminal 2</a:t>
            </a:r>
          </a:p>
          <a:p>
            <a:pPr>
              <a:lnSpc>
                <a:spcPct val="111111"/>
              </a:lnSpc>
              <a:spcAft>
                <a:spcPts val="0"/>
              </a:spcAft>
            </a:pPr>
            <a:r>
              <a:rPr sz="750" i="0">
                <a:solidFill>
                  <a:srgbClr val="E6EDF3"/>
                </a:solidFill>
                <a:latin typeface="Inconsolata"/>
              </a:rPr>
              <a:t>uvicorn app.main:app --reload</a:t>
            </a:r>
          </a:p>
        </p:txBody>
      </p:sp>
      <p:sp>
        <p:nvSpPr>
          <p:cNvPr id="29" name="Text 12"/>
          <p:cNvSpPr txBox="1"/>
          <p:nvPr/>
        </p:nvSpPr>
        <p:spPr>
          <a:xfrm>
            <a:off x="621792" y="2926080"/>
            <a:ext cx="3108960" cy="1737360"/>
          </a:xfrm>
          <a:prstGeom prst="rect">
            <a:avLst/>
          </a:prstGeom>
          <a:noFill/>
        </p:spPr>
        <p:txBody>
          <a:bodyPr wrap="square" lIns="45720" rIns="45720" anchor="t">
            <a:spAutoFit/>
          </a:bodyPr>
          <a:lstStyle/>
          <a:p>
            <a:pPr algn="l">
              <a:lnSpc>
                <a:spcPct val="115000"/>
              </a:lnSpc>
              <a:spcAft>
                <a:spcPts val="400"/>
              </a:spcAft>
            </a:pPr>
            <a:r>
              <a:rPr sz="1000" b="1" i="0">
                <a:solidFill>
                  <a:srgbClr val="1C4587"/>
                </a:solidFill>
                <a:latin typeface="Inter"/>
              </a:rPr>
              <a:t>Yang terlihat</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Order dan pay mengirim event, response langsung keluar</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Server email error = event di-retry dengan jeda</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Queue notifikasi dibuat otomatis</a:t>
            </a:r>
          </a:p>
        </p:txBody>
      </p:sp>
      <p:pic>
        <p:nvPicPr>
          <p:cNvPr id="30" name="Image 13" descr="s08-consumer.png"/>
          <p:cNvPicPr>
            <a:picLocks noChangeAspect="1"/>
          </p:cNvPicPr>
          <p:nvPr/>
        </p:nvPicPr>
        <p:blipFill>
          <a:blip r:embed="rId2"/>
          <a:stretch>
            <a:fillRect/>
          </a:stretch>
        </p:blipFill>
        <p:spPr>
          <a:xfrm>
            <a:off x="3886200" y="1481328"/>
            <a:ext cx="4599432" cy="1129416"/>
          </a:xfrm>
          <a:prstGeom prst="rect">
            <a:avLst/>
          </a:prstGeom>
          <a:ln w="9525">
            <a:solidFill>
              <a:srgbClr val="D0D5DD"/>
            </a:solidFill>
          </a:ln>
        </p:spPr>
      </p:pic>
      <p:pic>
        <p:nvPicPr>
          <p:cNvPr id="31" name="Image 14" descr="s08-rabbit-queues.png"/>
          <p:cNvPicPr>
            <a:picLocks noChangeAspect="1"/>
          </p:cNvPicPr>
          <p:nvPr/>
        </p:nvPicPr>
        <p:blipFill>
          <a:blip r:embed="rId3"/>
          <a:stretch>
            <a:fillRect/>
          </a:stretch>
        </p:blipFill>
        <p:spPr>
          <a:xfrm>
            <a:off x="3886200" y="2720472"/>
            <a:ext cx="4599432" cy="602526"/>
          </a:xfrm>
          <a:prstGeom prst="rect">
            <a:avLst/>
          </a:prstGeom>
          <a:ln w="9525">
            <a:solidFill>
              <a:srgbClr val="D0D5DD"/>
            </a:solidFill>
          </a:ln>
        </p:spPr>
      </p:pic>
      <p:sp>
        <p:nvSpPr>
          <p:cNvPr id="32" name="Text 15"/>
          <p:cNvSpPr txBox="1"/>
          <p:nvPr/>
        </p:nvSpPr>
        <p:spPr>
          <a:xfrm>
            <a:off x="3886200" y="3350429"/>
            <a:ext cx="4599432" cy="27432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Dashboard RabbitMQ (localhost:15672), tab Queues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9 dari 9</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Jalankan Test</a:t>
            </a:r>
          </a:p>
        </p:txBody>
      </p:sp>
      <p:pic>
        <p:nvPicPr>
          <p:cNvPr id="22" name="Image 3" descr="s08-pytest.png"/>
          <p:cNvPicPr>
            <a:picLocks noChangeAspect="1"/>
          </p:cNvPicPr>
          <p:nvPr/>
        </p:nvPicPr>
        <p:blipFill>
          <a:blip r:embed="rId2"/>
          <a:stretch>
            <a:fillRect/>
          </a:stretch>
        </p:blipFill>
        <p:spPr>
          <a:xfrm>
            <a:off x="621792" y="1481328"/>
            <a:ext cx="2589072" cy="3218687"/>
          </a:xfrm>
          <a:prstGeom prst="rect">
            <a:avLst/>
          </a:prstGeom>
          <a:ln w="9525">
            <a:solidFill>
              <a:srgbClr val="D0D5DD"/>
            </a:solidFill>
          </a:ln>
        </p:spPr>
      </p:pic>
      <p:sp>
        <p:nvSpPr>
          <p:cNvPr id="23" name="Box 4"/>
          <p:cNvSpPr/>
          <p:nvPr/>
        </p:nvSpPr>
        <p:spPr>
          <a:xfrm>
            <a:off x="3393744" y="1481328"/>
            <a:ext cx="5091887" cy="3218688"/>
          </a:xfrm>
          <a:prstGeom prst="roundRect">
            <a:avLst>
              <a:gd name="adj" fmla="val 3409"/>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Text 5"/>
          <p:cNvSpPr txBox="1"/>
          <p:nvPr/>
        </p:nvSpPr>
        <p:spPr>
          <a:xfrm>
            <a:off x="3530904" y="1572768"/>
            <a:ext cx="4817567" cy="310896"/>
          </a:xfrm>
          <a:prstGeom prst="rect">
            <a:avLst/>
          </a:prstGeom>
          <a:noFill/>
        </p:spPr>
        <p:txBody>
          <a:bodyPr wrap="square" lIns="45720" rIns="45720" anchor="t">
            <a:spAutoFit/>
          </a:bodyPr>
          <a:lstStyle/>
          <a:p>
            <a:pPr algn="l">
              <a:lnSpc>
                <a:spcPct val="115000"/>
              </a:lnSpc>
              <a:spcAft>
                <a:spcPts val="400"/>
              </a:spcAft>
            </a:pPr>
            <a:r>
              <a:rPr sz="1100" b="1" i="0">
                <a:solidFill>
                  <a:srgbClr val="E0764F"/>
                </a:solidFill>
                <a:latin typeface="Inter"/>
              </a:rPr>
              <a:t>Yang dikerjakan</a:t>
            </a:r>
          </a:p>
        </p:txBody>
      </p:sp>
      <p:sp>
        <p:nvSpPr>
          <p:cNvPr id="25" name="Text 6"/>
          <p:cNvSpPr txBox="1"/>
          <p:nvPr/>
        </p:nvSpPr>
        <p:spPr>
          <a:xfrm>
            <a:off x="3530904" y="1892808"/>
            <a:ext cx="4817567"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Masuk ke folder </a:t>
            </a:r>
            <a:r>
              <a:rPr sz="950" b="0" i="0">
                <a:solidFill>
                  <a:srgbClr val="B5482A"/>
                </a:solidFill>
                <a:latin typeface="Inconsolata"/>
              </a:rPr>
              <a:t>latihan/</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Jalankan </a:t>
            </a:r>
            <a:r>
              <a:rPr sz="950" b="0" i="0">
                <a:solidFill>
                  <a:srgbClr val="B5482A"/>
                </a:solidFill>
                <a:latin typeface="Inconsolata"/>
              </a:rPr>
              <a:t>pytest -v</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Semua test harus </a:t>
            </a:r>
            <a:r>
              <a:rPr sz="950" b="1" i="0">
                <a:solidFill>
                  <a:srgbClr val="434343"/>
                </a:solidFill>
                <a:latin typeface="Inter"/>
              </a:rPr>
              <a:t>PASSED</a:t>
            </a:r>
          </a:p>
          <a:p>
            <a:pPr algn="l">
              <a:lnSpc>
                <a:spcPct val="115000"/>
              </a:lnSpc>
              <a:spcAft>
                <a:spcPts val="0"/>
              </a:spcAft>
            </a:pPr>
            <a:endParaRPr sz="950" b="1" i="0">
              <a:solidFill>
                <a:srgbClr val="434343"/>
              </a:solidFill>
              <a:latin typeface="Inter"/>
            </a:endParaRPr>
          </a:p>
          <a:p>
            <a:pPr algn="l">
              <a:lnSpc>
                <a:spcPct val="115000"/>
              </a:lnSpc>
              <a:spcAft>
                <a:spcPts val="400"/>
              </a:spcAft>
            </a:pPr>
            <a:r>
              <a:rPr sz="950" b="0" i="0">
                <a:solidFill>
                  <a:srgbClr val="434343"/>
                </a:solidFill>
                <a:latin typeface="Inter"/>
              </a:rPr>
              <a:t>Test consumer memakai </a:t>
            </a:r>
            <a:r>
              <a:rPr sz="950" b="0" i="0">
                <a:solidFill>
                  <a:srgbClr val="B5482A"/>
                </a:solidFill>
                <a:latin typeface="Inconsolata"/>
              </a:rPr>
              <a:t>FakeChannel</a:t>
            </a:r>
            <a:r>
              <a:rPr sz="950" b="0" i="0">
                <a:solidFill>
                  <a:srgbClr val="434343"/>
                </a:solidFill>
                <a:latin typeface="Inter"/>
              </a:rPr>
              <a:t>, jadi tidak butuh RabbitMQ.</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Cek Kriteria Selesai</a:t>
            </a:r>
          </a:p>
        </p:txBody>
      </p:sp>
      <p:graphicFrame>
        <p:nvGraphicFramePr>
          <p:cNvPr id="22" name="Table 3"/>
          <p:cNvGraphicFramePr>
            <a:graphicFrameLocks noGrp="1"/>
          </p:cNvGraphicFramePr>
          <p:nvPr/>
        </p:nvGraphicFramePr>
        <p:xfrm>
          <a:off x="621792" y="1481328"/>
          <a:ext cx="7863840" cy="2880360"/>
        </p:xfrm>
        <a:graphic>
          <a:graphicData uri="http://schemas.openxmlformats.org/drawingml/2006/table">
            <a:tbl>
              <a:tblPr firstRow="1" bandRow="1"/>
              <a:tblGrid>
                <a:gridCol w="35661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tblGrid>
              <a:tr h="411480">
                <a:tc>
                  <a:txBody>
                    <a:bodyPr/>
                    <a:lstStyle/>
                    <a:p>
                      <a:pPr algn="l">
                        <a:lnSpc>
                          <a:spcPct val="100000"/>
                        </a:lnSpc>
                        <a:spcAft>
                          <a:spcPts val="0"/>
                        </a:spcAft>
                      </a:pPr>
                      <a:r>
                        <a:rPr sz="900" b="1" i="0">
                          <a:solidFill>
                            <a:srgbClr val="FFFFFF"/>
                          </a:solidFill>
                          <a:latin typeface="Inter"/>
                        </a:rPr>
                        <a:t>Kriteria</a:t>
                      </a:r>
                    </a:p>
                  </a:txBody>
                  <a:tcPr marL="73152" marR="73152" marT="36576" marB="36576" anchor="ctr">
                    <a:solidFill>
                      <a:srgbClr val="1C4587"/>
                    </a:solidFill>
                  </a:tcPr>
                </a:tc>
                <a:tc>
                  <a:txBody>
                    <a:bodyPr/>
                    <a:lstStyle/>
                    <a:p>
                      <a:pPr algn="l">
                        <a:lnSpc>
                          <a:spcPct val="100000"/>
                        </a:lnSpc>
                        <a:spcAft>
                          <a:spcPts val="0"/>
                        </a:spcAft>
                      </a:pPr>
                      <a:r>
                        <a:rPr sz="900" b="1" i="0">
                          <a:solidFill>
                            <a:srgbClr val="FFFFFF"/>
                          </a:solidFill>
                          <a:latin typeface="Inter"/>
                        </a:rPr>
                        <a:t>Cara mengecek</a:t>
                      </a:r>
                    </a:p>
                  </a:txBody>
                  <a:tcPr marL="73152" marR="73152" marT="36576" marB="36576" anchor="ctr">
                    <a:solidFill>
                      <a:srgbClr val="1C4587"/>
                    </a:solidFill>
                  </a:tcPr>
                </a:tc>
                <a:extLst>
                  <a:ext uri="{0D108BD9-81ED-4DB2-BD59-A6C34878D82A}">
                    <a16:rowId xmlns:a16="http://schemas.microsoft.com/office/drawing/2014/main" val="10000"/>
                  </a:ext>
                </a:extLst>
              </a:tr>
              <a:tr h="411480">
                <a:tc>
                  <a:txBody>
                    <a:bodyPr/>
                    <a:lstStyle/>
                    <a:p>
                      <a:pPr algn="l">
                        <a:lnSpc>
                          <a:spcPct val="100000"/>
                        </a:lnSpc>
                        <a:spcAft>
                          <a:spcPts val="0"/>
                        </a:spcAft>
                      </a:pPr>
                      <a:r>
                        <a:rPr sz="900" b="1" i="0">
                          <a:solidFill>
                            <a:srgbClr val="1C4587"/>
                          </a:solidFill>
                          <a:latin typeface="Inter"/>
                        </a:rPr>
                        <a:t>OrderService mengirim event setelah commit</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test_order_service: event tercatat di FakeEventPublisher</a:t>
                      </a:r>
                    </a:p>
                  </a:txBody>
                  <a:tcPr marL="73152" marR="73152" marT="36576" marB="36576" anchor="ctr">
                    <a:solidFill>
                      <a:srgbClr val="FFFFFF"/>
                    </a:solidFill>
                  </a:tcPr>
                </a:tc>
                <a:extLst>
                  <a:ext uri="{0D108BD9-81ED-4DB2-BD59-A6C34878D82A}">
                    <a16:rowId xmlns:a16="http://schemas.microsoft.com/office/drawing/2014/main" val="10001"/>
                  </a:ext>
                </a:extLst>
              </a:tr>
              <a:tr h="411480">
                <a:tc>
                  <a:txBody>
                    <a:bodyPr/>
                    <a:lstStyle/>
                    <a:p>
                      <a:pPr algn="l">
                        <a:lnSpc>
                          <a:spcPct val="100000"/>
                        </a:lnSpc>
                        <a:spcAft>
                          <a:spcPts val="0"/>
                        </a:spcAft>
                      </a:pPr>
                      <a:r>
                        <a:rPr sz="900" b="1" i="0">
                          <a:solidFill>
                            <a:srgbClr val="1C4587"/>
                          </a:solidFill>
                          <a:latin typeface="Inter"/>
                        </a:rPr>
                        <a:t>Exchange orders, queue notifications (order.*)</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Dashboard RabbitMQ: tab Exchanges dan Queues</a:t>
                      </a:r>
                    </a:p>
                  </a:txBody>
                  <a:tcPr marL="73152" marR="73152" marT="36576" marB="36576" anchor="ctr">
                    <a:solidFill>
                      <a:srgbClr val="F3F4F6"/>
                    </a:solidFill>
                  </a:tcPr>
                </a:tc>
                <a:extLst>
                  <a:ext uri="{0D108BD9-81ED-4DB2-BD59-A6C34878D82A}">
                    <a16:rowId xmlns:a16="http://schemas.microsoft.com/office/drawing/2014/main" val="10002"/>
                  </a:ext>
                </a:extLst>
              </a:tr>
              <a:tr h="411480">
                <a:tc>
                  <a:txBody>
                    <a:bodyPr/>
                    <a:lstStyle/>
                    <a:p>
                      <a:pPr algn="l">
                        <a:lnSpc>
                          <a:spcPct val="100000"/>
                        </a:lnSpc>
                        <a:spcAft>
                          <a:spcPts val="0"/>
                        </a:spcAft>
                      </a:pPr>
                      <a:r>
                        <a:rPr sz="900" b="1" i="0">
                          <a:solidFill>
                            <a:srgbClr val="1C4587"/>
                          </a:solidFill>
                          <a:latin typeface="Inter"/>
                        </a:rPr>
                        <a:t>Ack manual dan prefetch_count=1</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notification_consumer.py</a:t>
                      </a:r>
                    </a:p>
                  </a:txBody>
                  <a:tcPr marL="73152" marR="73152" marT="36576" marB="36576" anchor="ctr">
                    <a:solidFill>
                      <a:srgbClr val="FFFFFF"/>
                    </a:solidFill>
                  </a:tcPr>
                </a:tc>
                <a:extLst>
                  <a:ext uri="{0D108BD9-81ED-4DB2-BD59-A6C34878D82A}">
                    <a16:rowId xmlns:a16="http://schemas.microsoft.com/office/drawing/2014/main" val="10003"/>
                  </a:ext>
                </a:extLst>
              </a:tr>
              <a:tr h="411480">
                <a:tc>
                  <a:txBody>
                    <a:bodyPr/>
                    <a:lstStyle/>
                    <a:p>
                      <a:pPr algn="l">
                        <a:lnSpc>
                          <a:spcPct val="100000"/>
                        </a:lnSpc>
                        <a:spcAft>
                          <a:spcPts val="0"/>
                        </a:spcAft>
                      </a:pPr>
                      <a:r>
                        <a:rPr sz="900" b="1" i="0">
                          <a:solidFill>
                            <a:srgbClr val="1C4587"/>
                          </a:solidFill>
                          <a:latin typeface="Inter"/>
                        </a:rPr>
                        <a:t>Retry dengan jeda, pesan rusak ke DLQ</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Log consumer dengan NOTIFICATION_FAIL_RATE=0.5</a:t>
                      </a:r>
                    </a:p>
                  </a:txBody>
                  <a:tcPr marL="73152" marR="73152" marT="36576" marB="36576" anchor="ctr">
                    <a:solidFill>
                      <a:srgbClr val="F3F4F6"/>
                    </a:solidFill>
                  </a:tcPr>
                </a:tc>
                <a:extLst>
                  <a:ext uri="{0D108BD9-81ED-4DB2-BD59-A6C34878D82A}">
                    <a16:rowId xmlns:a16="http://schemas.microsoft.com/office/drawing/2014/main" val="10004"/>
                  </a:ext>
                </a:extLst>
              </a:tr>
              <a:tr h="411480">
                <a:tc>
                  <a:txBody>
                    <a:bodyPr/>
                    <a:lstStyle/>
                    <a:p>
                      <a:pPr algn="l">
                        <a:lnSpc>
                          <a:spcPct val="100000"/>
                        </a:lnSpc>
                        <a:spcAft>
                          <a:spcPts val="0"/>
                        </a:spcAft>
                      </a:pPr>
                      <a:r>
                        <a:rPr sz="900" b="1" i="0">
                          <a:solidFill>
                            <a:srgbClr val="1C4587"/>
                          </a:solidFill>
                          <a:latin typeface="Inter"/>
                        </a:rPr>
                        <a:t>Tidak terkirim dua kali</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test_event_dobel_hanya_dikirim_sekali</a:t>
                      </a:r>
                    </a:p>
                  </a:txBody>
                  <a:tcPr marL="73152" marR="73152" marT="36576" marB="36576" anchor="ctr">
                    <a:solidFill>
                      <a:srgbClr val="FFFFFF"/>
                    </a:solidFill>
                  </a:tcPr>
                </a:tc>
                <a:extLst>
                  <a:ext uri="{0D108BD9-81ED-4DB2-BD59-A6C34878D82A}">
                    <a16:rowId xmlns:a16="http://schemas.microsoft.com/office/drawing/2014/main" val="10005"/>
                  </a:ext>
                </a:extLst>
              </a:tr>
              <a:tr h="411480">
                <a:tc>
                  <a:txBody>
                    <a:bodyPr/>
                    <a:lstStyle/>
                    <a:p>
                      <a:pPr algn="l">
                        <a:lnSpc>
                          <a:spcPct val="100000"/>
                        </a:lnSpc>
                        <a:spcAft>
                          <a:spcPts val="0"/>
                        </a:spcAft>
                      </a:pPr>
                      <a:r>
                        <a:rPr sz="900" b="1" i="0">
                          <a:solidFill>
                            <a:srgbClr val="1C4587"/>
                          </a:solidFill>
                          <a:latin typeface="Inter"/>
                        </a:rPr>
                        <a:t>pytest hijau tanpa RabbitMQ</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pytest -v: semua PASSED</a:t>
                      </a:r>
                    </a:p>
                  </a:txBody>
                  <a:tcPr marL="73152" marR="73152" marT="36576" marB="36576" anchor="ctr">
                    <a:solidFill>
                      <a:srgbClr val="F3F4F6"/>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Request Flow: Event Order sampai Notifikasi</a:t>
            </a:r>
          </a:p>
        </p:txBody>
      </p:sp>
      <p:sp>
        <p:nvSpPr>
          <p:cNvPr id="22" name="CodeTab 4"/>
          <p:cNvSpPr/>
          <p:nvPr/>
        </p:nvSpPr>
        <p:spPr>
          <a:xfrm>
            <a:off x="621792" y="1481328"/>
            <a:ext cx="525780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61772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latihan/app: order_service.py → rabbitmq.py → notification_consumer.py</a:t>
            </a:r>
          </a:p>
        </p:txBody>
      </p:sp>
      <p:sp>
        <p:nvSpPr>
          <p:cNvPr id="27" name="CodeBg 10"/>
          <p:cNvSpPr/>
          <p:nvPr/>
        </p:nvSpPr>
        <p:spPr>
          <a:xfrm>
            <a:off x="621792" y="1719072"/>
            <a:ext cx="525780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257800" cy="2980944"/>
          </a:xfrm>
          <a:prstGeom prst="rect">
            <a:avLst/>
          </a:prstGeom>
          <a:noFill/>
        </p:spPr>
        <p:txBody>
          <a:bodyPr wrap="none" lIns="146304" tIns="91440" rIns="146304" bIns="54864">
            <a:spAutoFit/>
          </a:bodyPr>
          <a:lstStyle/>
          <a:p>
            <a:pPr>
              <a:lnSpc>
                <a:spcPct val="102564"/>
              </a:lnSpc>
              <a:spcAft>
                <a:spcPts val="0"/>
              </a:spcAft>
            </a:pPr>
            <a:r>
              <a:rPr sz="650" i="1">
                <a:solidFill>
                  <a:srgbClr val="8B98A8"/>
                </a:solidFill>
                <a:latin typeface="Inconsolata"/>
              </a:rPr>
              <a:t># application/order_service.py</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.uow.commit()</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.events.publish(order_event(</a:t>
            </a:r>
            <a:r>
              <a:rPr sz="650" i="0">
                <a:solidFill>
                  <a:srgbClr val="7FDBCA"/>
                </a:solidFill>
                <a:latin typeface="Inconsolata"/>
              </a:rPr>
              <a:t>ORDER_PLACED</a:t>
            </a:r>
            <a:r>
              <a:rPr sz="650" i="0">
                <a:solidFill>
                  <a:srgbClr val="E6EDF3"/>
                </a:solidFill>
                <a:latin typeface="Inconsolata"/>
              </a:rPr>
              <a:t>, order))</a:t>
            </a:r>
          </a:p>
          <a:p>
            <a:pPr>
              <a:lnSpc>
                <a:spcPct val="102564"/>
              </a:lnSpc>
              <a:spcAft>
                <a:spcPts val="0"/>
              </a:spcAft>
            </a:pPr>
            <a:r>
              <a:rPr sz="650" i="0">
                <a:solidFill>
                  <a:srgbClr val="E6EDF3"/>
                </a:solidFill>
                <a:latin typeface="Inconsolata"/>
              </a:rPr>
              <a:t> </a:t>
            </a:r>
          </a:p>
          <a:p>
            <a:pPr>
              <a:lnSpc>
                <a:spcPct val="102564"/>
              </a:lnSpc>
              <a:spcAft>
                <a:spcPts val="0"/>
              </a:spcAft>
            </a:pPr>
            <a:r>
              <a:rPr sz="650" i="1">
                <a:solidFill>
                  <a:srgbClr val="8B98A8"/>
                </a:solidFill>
                <a:latin typeface="Inconsolata"/>
              </a:rPr>
              <a:t># infrastructure/rabbitmq.py</a:t>
            </a:r>
          </a:p>
          <a:p>
            <a:pPr>
              <a:lnSpc>
                <a:spcPct val="102564"/>
              </a:lnSpc>
              <a:spcAft>
                <a:spcPts val="0"/>
              </a:spcAft>
            </a:pPr>
            <a:r>
              <a:rPr sz="650" i="0">
                <a:solidFill>
                  <a:srgbClr val="E6EDF3"/>
                </a:solidFill>
                <a:latin typeface="Inconsolata"/>
              </a:rPr>
              <a:t>                channel.basic_publish(</a:t>
            </a:r>
            <a:r>
              <a:rPr sz="650" i="0">
                <a:solidFill>
                  <a:srgbClr val="7FDBCA"/>
                </a:solidFill>
                <a:latin typeface="Inconsolata"/>
              </a:rPr>
              <a:t>EXCHANGE</a:t>
            </a:r>
            <a:r>
              <a:rPr sz="650" i="0">
                <a:solidFill>
                  <a:srgbClr val="E6EDF3"/>
                </a:solidFill>
                <a:latin typeface="Inconsolata"/>
              </a:rPr>
              <a:t>, event[</a:t>
            </a:r>
            <a:r>
              <a:rPr sz="650" i="0">
                <a:solidFill>
                  <a:srgbClr val="A5D6A7"/>
                </a:solidFill>
                <a:latin typeface="Inconsolata"/>
              </a:rPr>
              <a:t>"type"</a:t>
            </a:r>
            <a:r>
              <a:rPr sz="650" i="0">
                <a:solidFill>
                  <a:srgbClr val="E6EDF3"/>
                </a:solidFill>
                <a:latin typeface="Inconsolata"/>
              </a:rPr>
              <a:t>], json.dumps(event), pika.</a:t>
            </a:r>
            <a:r>
              <a:rPr sz="650" i="0">
                <a:solidFill>
                  <a:srgbClr val="7FDBCA"/>
                </a:solidFill>
                <a:latin typeface="Inconsolata"/>
              </a:rPr>
              <a:t>BasicProperties</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p>
          <a:p>
            <a:pPr>
              <a:lnSpc>
                <a:spcPct val="102564"/>
              </a:lnSpc>
              <a:spcAft>
                <a:spcPts val="0"/>
              </a:spcAft>
            </a:pPr>
            <a:r>
              <a:rPr sz="650" i="1">
                <a:solidFill>
                  <a:srgbClr val="8B98A8"/>
                </a:solidFill>
                <a:latin typeface="Inconsolata"/>
              </a:rPr>
              <a:t># consumers/notification_consumer.py</a:t>
            </a:r>
          </a:p>
          <a:p>
            <a:pPr>
              <a:lnSpc>
                <a:spcPct val="102564"/>
              </a:lnSpc>
              <a:spcAft>
                <a:spcPts val="0"/>
              </a:spcAft>
            </a:pPr>
            <a:r>
              <a:rPr sz="650" i="0">
                <a:solidFill>
                  <a:srgbClr val="E6EDF3"/>
                </a:solidFill>
                <a:latin typeface="Inconsolata"/>
              </a:rPr>
              <a:t>        </a:t>
            </a:r>
            <a:r>
              <a:rPr sz="650" i="0">
                <a:solidFill>
                  <a:srgbClr val="FF8E6E"/>
                </a:solidFill>
                <a:latin typeface="Inconsolata"/>
              </a:rPr>
              <a:t>for</a:t>
            </a:r>
            <a:r>
              <a:rPr sz="650" i="0">
                <a:solidFill>
                  <a:srgbClr val="E6EDF3"/>
                </a:solidFill>
                <a:latin typeface="Inconsolata"/>
              </a:rPr>
              <a:t> method, properties, body </a:t>
            </a:r>
            <a:r>
              <a:rPr sz="650" i="0">
                <a:solidFill>
                  <a:srgbClr val="FF8E6E"/>
                </a:solidFill>
                <a:latin typeface="Inconsolata"/>
              </a:rPr>
              <a:t>in</a:t>
            </a:r>
            <a:r>
              <a:rPr sz="650" i="0">
                <a:solidFill>
                  <a:srgbClr val="E6EDF3"/>
                </a:solidFill>
                <a:latin typeface="Inconsolata"/>
              </a:rPr>
              <a:t> channel.consume(</a:t>
            </a:r>
            <a:r>
              <a:rPr sz="650" i="0">
                <a:solidFill>
                  <a:srgbClr val="7FDBCA"/>
                </a:solidFill>
                <a:latin typeface="Inconsolata"/>
              </a:rPr>
              <a:t>QUEUE</a:t>
            </a:r>
            <a:r>
              <a:rPr sz="650" i="0">
                <a:solidFill>
                  <a:srgbClr val="E6EDF3"/>
                </a:solidFill>
                <a:latin typeface="Inconsolata"/>
              </a:rPr>
              <a:t>):</a:t>
            </a:r>
          </a:p>
          <a:p>
            <a:pPr>
              <a:lnSpc>
                <a:spcPct val="102564"/>
              </a:lnSpc>
              <a:spcAft>
                <a:spcPts val="0"/>
              </a:spcAft>
            </a:pPr>
            <a:r>
              <a:rPr sz="650" i="0">
                <a:solidFill>
                  <a:srgbClr val="E6EDF3"/>
                </a:solidFill>
                <a:latin typeface="Inconsolata"/>
              </a:rPr>
              <a:t>            result = process_message(channel, method, properties, body, service,</a:t>
            </a:r>
          </a:p>
          <a:p>
            <a:pPr>
              <a:lnSpc>
                <a:spcPct val="102564"/>
              </a:lnSpc>
              <a:spcAft>
                <a:spcPts val="0"/>
              </a:spcAft>
            </a:pPr>
            <a:r>
              <a:rPr sz="650" i="0">
                <a:solidFill>
                  <a:srgbClr val="E6EDF3"/>
                </a:solidFill>
                <a:latin typeface="Inconsolata"/>
              </a:rPr>
              <a:t> </a:t>
            </a:r>
          </a:p>
          <a:p>
            <a:pPr>
              <a:lnSpc>
                <a:spcPct val="102564"/>
              </a:lnSpc>
              <a:spcAft>
                <a:spcPts val="0"/>
              </a:spcAft>
            </a:pPr>
            <a:r>
              <a:rPr sz="650" i="1">
                <a:solidFill>
                  <a:srgbClr val="8B98A8"/>
                </a:solidFill>
                <a:latin typeface="Inconsolata"/>
              </a:rPr>
              <a:t># application/notification_service.py</a:t>
            </a:r>
          </a:p>
          <a:p>
            <a:pPr>
              <a:lnSpc>
                <a:spcPct val="102564"/>
              </a:lnSpc>
              <a:spcAft>
                <a:spcPts val="0"/>
              </a:spcAft>
            </a:pPr>
            <a:r>
              <a:rPr sz="650" i="0">
                <a:solidFill>
                  <a:srgbClr val="E6EDF3"/>
                </a:solidFill>
                <a:latin typeface="Inconsolata"/>
              </a:rPr>
              <a:t>        </a:t>
            </a:r>
            <a:r>
              <a:rPr sz="650" i="0">
                <a:solidFill>
                  <a:srgbClr val="FF8E6E"/>
                </a:solidFill>
                <a:latin typeface="Inconsolata"/>
              </a:rPr>
              <a:t>if</a:t>
            </a: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.log.already_sent(key):</a:t>
            </a:r>
          </a:p>
          <a:p>
            <a:pPr>
              <a:lnSpc>
                <a:spcPct val="102564"/>
              </a:lnSpc>
              <a:spcAft>
                <a:spcPts val="0"/>
              </a:spcAft>
            </a:pPr>
            <a:r>
              <a:rPr sz="650" i="0">
                <a:solidFill>
                  <a:srgbClr val="E6EDF3"/>
                </a:solidFill>
                <a:latin typeface="Inconsolata"/>
              </a:rPr>
              <a:t>            </a:t>
            </a:r>
            <a:r>
              <a:rPr sz="650" i="0">
                <a:solidFill>
                  <a:srgbClr val="FF8E6E"/>
                </a:solidFill>
                <a:latin typeface="Inconsolata"/>
              </a:rPr>
              <a:t>return</a:t>
            </a:r>
            <a:r>
              <a:rPr sz="650" i="0">
                <a:solidFill>
                  <a:srgbClr val="E6EDF3"/>
                </a:solidFill>
                <a:latin typeface="Inconsolata"/>
              </a:rPr>
              <a:t> </a:t>
            </a:r>
            <a:r>
              <a:rPr sz="650" i="0">
                <a:solidFill>
                  <a:srgbClr val="A5D6A7"/>
                </a:solidFill>
                <a:latin typeface="Inconsolata"/>
              </a:rPr>
              <a:t>"skipped"</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.notifier.send(to, message)</a:t>
            </a:r>
          </a:p>
        </p:txBody>
      </p:sp>
      <p:sp>
        <p:nvSpPr>
          <p:cNvPr id="29" name="Box 12"/>
          <p:cNvSpPr/>
          <p:nvPr/>
        </p:nvSpPr>
        <p:spPr>
          <a:xfrm>
            <a:off x="704088" y="1925320"/>
            <a:ext cx="509320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678424" y="18542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128520"/>
            <a:ext cx="509320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678424" y="20574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2433320"/>
            <a:ext cx="509320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678424" y="23622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704088" y="2738120"/>
            <a:ext cx="509320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Box 19"/>
          <p:cNvSpPr/>
          <p:nvPr/>
        </p:nvSpPr>
        <p:spPr>
          <a:xfrm>
            <a:off x="5678424" y="26670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4</a:t>
            </a:r>
          </a:p>
        </p:txBody>
      </p:sp>
      <p:sp>
        <p:nvSpPr>
          <p:cNvPr id="37" name="Box 20"/>
          <p:cNvSpPr/>
          <p:nvPr/>
        </p:nvSpPr>
        <p:spPr>
          <a:xfrm>
            <a:off x="704088" y="3144520"/>
            <a:ext cx="509320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8" name="Box 21"/>
          <p:cNvSpPr/>
          <p:nvPr/>
        </p:nvSpPr>
        <p:spPr>
          <a:xfrm>
            <a:off x="5678424" y="30734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5</a:t>
            </a:r>
          </a:p>
        </p:txBody>
      </p:sp>
      <p:sp>
        <p:nvSpPr>
          <p:cNvPr id="39" name="Box 22"/>
          <p:cNvSpPr/>
          <p:nvPr/>
        </p:nvSpPr>
        <p:spPr>
          <a:xfrm>
            <a:off x="6062472" y="1499616"/>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1</a:t>
            </a:r>
          </a:p>
        </p:txBody>
      </p:sp>
      <p:sp>
        <p:nvSpPr>
          <p:cNvPr id="40" name="Text 23"/>
          <p:cNvSpPr txBox="1"/>
          <p:nvPr/>
        </p:nvSpPr>
        <p:spPr>
          <a:xfrm>
            <a:off x="6391656" y="1463040"/>
            <a:ext cx="2093975"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Order tersimpan. Belum ada event jika transaksi gagal</a:t>
            </a:r>
          </a:p>
        </p:txBody>
      </p:sp>
      <p:sp>
        <p:nvSpPr>
          <p:cNvPr id="41" name="Box 24"/>
          <p:cNvSpPr/>
          <p:nvPr/>
        </p:nvSpPr>
        <p:spPr>
          <a:xfrm>
            <a:off x="6062472" y="2143353"/>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2</a:t>
            </a:r>
          </a:p>
        </p:txBody>
      </p:sp>
      <p:sp>
        <p:nvSpPr>
          <p:cNvPr id="42" name="Text 25"/>
          <p:cNvSpPr txBox="1"/>
          <p:nvPr/>
        </p:nvSpPr>
        <p:spPr>
          <a:xfrm>
            <a:off x="6391656" y="2106777"/>
            <a:ext cx="2093975"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OrderService mengirim event </a:t>
            </a:r>
            <a:r>
              <a:rPr sz="850" b="0" i="0">
                <a:solidFill>
                  <a:srgbClr val="B5482A"/>
                </a:solidFill>
                <a:latin typeface="Inconsolata"/>
              </a:rPr>
              <a:t>order.placed</a:t>
            </a:r>
            <a:r>
              <a:rPr sz="850" b="0" i="0">
                <a:solidFill>
                  <a:srgbClr val="434343"/>
                </a:solidFill>
                <a:latin typeface="Inter"/>
              </a:rPr>
              <a:t>, response langsung dikirim</a:t>
            </a:r>
          </a:p>
        </p:txBody>
      </p:sp>
      <p:sp>
        <p:nvSpPr>
          <p:cNvPr id="43" name="Box 26"/>
          <p:cNvSpPr/>
          <p:nvPr/>
        </p:nvSpPr>
        <p:spPr>
          <a:xfrm>
            <a:off x="6062472" y="2787091"/>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3</a:t>
            </a:r>
          </a:p>
        </p:txBody>
      </p:sp>
      <p:sp>
        <p:nvSpPr>
          <p:cNvPr id="44" name="Text 27"/>
          <p:cNvSpPr txBox="1"/>
          <p:nvPr/>
        </p:nvSpPr>
        <p:spPr>
          <a:xfrm>
            <a:off x="6391656" y="2750515"/>
            <a:ext cx="2093975"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Publisher mengirim ke exchange </a:t>
            </a:r>
            <a:r>
              <a:rPr sz="850" b="0" i="0">
                <a:solidFill>
                  <a:srgbClr val="B5482A"/>
                </a:solidFill>
                <a:latin typeface="Inconsolata"/>
              </a:rPr>
              <a:t>orders</a:t>
            </a:r>
            <a:r>
              <a:rPr sz="850" b="0" i="0">
                <a:solidFill>
                  <a:srgbClr val="434343"/>
                </a:solidFill>
                <a:latin typeface="Inter"/>
              </a:rPr>
              <a:t>, diteruskan ke queue </a:t>
            </a:r>
            <a:r>
              <a:rPr sz="850" b="0" i="0">
                <a:solidFill>
                  <a:srgbClr val="B5482A"/>
                </a:solidFill>
                <a:latin typeface="Inconsolata"/>
              </a:rPr>
              <a:t>notifications</a:t>
            </a:r>
          </a:p>
        </p:txBody>
      </p:sp>
      <p:sp>
        <p:nvSpPr>
          <p:cNvPr id="45" name="Box 28"/>
          <p:cNvSpPr/>
          <p:nvPr/>
        </p:nvSpPr>
        <p:spPr>
          <a:xfrm>
            <a:off x="6062472" y="3430828"/>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4</a:t>
            </a:r>
          </a:p>
        </p:txBody>
      </p:sp>
      <p:sp>
        <p:nvSpPr>
          <p:cNvPr id="46" name="Text 29"/>
          <p:cNvSpPr txBox="1"/>
          <p:nvPr/>
        </p:nvSpPr>
        <p:spPr>
          <a:xfrm>
            <a:off x="6391656" y="3394252"/>
            <a:ext cx="2093975"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Consumer mengambil event, lalu memanggil use case</a:t>
            </a:r>
          </a:p>
        </p:txBody>
      </p:sp>
      <p:sp>
        <p:nvSpPr>
          <p:cNvPr id="47" name="Box 30"/>
          <p:cNvSpPr/>
          <p:nvPr/>
        </p:nvSpPr>
        <p:spPr>
          <a:xfrm>
            <a:off x="6062472" y="4074566"/>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5</a:t>
            </a:r>
          </a:p>
        </p:txBody>
      </p:sp>
      <p:sp>
        <p:nvSpPr>
          <p:cNvPr id="48" name="Text 31"/>
          <p:cNvSpPr txBox="1"/>
          <p:nvPr/>
        </p:nvSpPr>
        <p:spPr>
          <a:xfrm>
            <a:off x="6391656" y="4037990"/>
            <a:ext cx="2093975"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Use case cek event_id, kirim email, lalu consumer mengirim ack</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71</a:t>
            </a:fld>
            <a:endParaRPr/>
          </a:p>
        </p:txBody>
      </p:sp>
      <p:sp>
        <p:nvSpPr>
          <p:cNvPr id="31" name="Text 1"/>
          <p:cNvSpPr txBox="1"/>
          <p:nvPr/>
        </p:nvSpPr>
        <p:spPr>
          <a:xfrm>
            <a:off x="822960" y="1600200"/>
            <a:ext cx="7315200" cy="365760"/>
          </a:xfrm>
          <a:prstGeom prst="rect">
            <a:avLst/>
          </a:prstGeom>
          <a:noFill/>
        </p:spPr>
        <p:txBody>
          <a:bodyPr wrap="square" lIns="45720" rIns="45720" anchor="t">
            <a:spAutoFit/>
          </a:bodyPr>
          <a:lstStyle/>
          <a:p>
            <a:pPr algn="l">
              <a:lnSpc>
                <a:spcPct val="115000"/>
              </a:lnSpc>
              <a:spcAft>
                <a:spcPts val="400"/>
              </a:spcAft>
            </a:pPr>
            <a:r>
              <a:rPr sz="1400" b="0" i="0">
                <a:solidFill>
                  <a:srgbClr val="CFE0FA"/>
                </a:solidFill>
                <a:latin typeface="Inter"/>
              </a:rPr>
              <a:t>Bagian 05</a:t>
            </a:r>
          </a:p>
        </p:txBody>
      </p:sp>
      <p:sp>
        <p:nvSpPr>
          <p:cNvPr id="32" name="Text 2"/>
          <p:cNvSpPr txBox="1"/>
          <p:nvPr/>
        </p:nvSpPr>
        <p:spPr>
          <a:xfrm>
            <a:off x="822960" y="1920240"/>
            <a:ext cx="7315200" cy="822960"/>
          </a:xfrm>
          <a:prstGeom prst="rect">
            <a:avLst/>
          </a:prstGeom>
          <a:noFill/>
        </p:spPr>
        <p:txBody>
          <a:bodyPr wrap="square" lIns="45720" rIns="45720" anchor="t">
            <a:spAutoFit/>
          </a:bodyPr>
          <a:lstStyle/>
          <a:p>
            <a:pPr algn="l">
              <a:lnSpc>
                <a:spcPct val="115000"/>
              </a:lnSpc>
              <a:spcAft>
                <a:spcPts val="400"/>
              </a:spcAft>
            </a:pPr>
            <a:r>
              <a:rPr sz="3000" b="0" i="0">
                <a:solidFill>
                  <a:srgbClr val="FFFFFF"/>
                </a:solidFill>
                <a:latin typeface="Work Sans ExtraBold"/>
              </a:rPr>
              <a:t>Studi Kasus: Poin Loyalty</a:t>
            </a:r>
          </a:p>
        </p:txBody>
      </p:sp>
      <p:sp>
        <p:nvSpPr>
          <p:cNvPr id="33" name="Text 3"/>
          <p:cNvSpPr txBox="1"/>
          <p:nvPr/>
        </p:nvSpPr>
        <p:spPr>
          <a:xfrm>
            <a:off x="822960" y="3246120"/>
            <a:ext cx="6583680" cy="731520"/>
          </a:xfrm>
          <a:prstGeom prst="rect">
            <a:avLst/>
          </a:prstGeom>
          <a:noFill/>
        </p:spPr>
        <p:txBody>
          <a:bodyPr wrap="square" lIns="45720" rIns="45720" anchor="t">
            <a:spAutoFit/>
          </a:bodyPr>
          <a:lstStyle/>
          <a:p>
            <a:pPr algn="l">
              <a:lnSpc>
                <a:spcPct val="115000"/>
              </a:lnSpc>
              <a:spcAft>
                <a:spcPts val="400"/>
              </a:spcAft>
            </a:pPr>
            <a:r>
              <a:rPr sz="1200" b="0" i="0">
                <a:solidFill>
                  <a:srgbClr val="E3ECFA"/>
                </a:solidFill>
                <a:latin typeface="Inter"/>
              </a:rPr>
              <a:t>Dikerjakan mandiri. Menggabungkan materi Sesi 7 dan Sesi 8.</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Studi Kasus  ·  mulai dari 08-studi-kasus-poin/before/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Instruksi &amp; Requirement</a:t>
            </a:r>
          </a:p>
        </p:txBody>
      </p:sp>
      <p:sp>
        <p:nvSpPr>
          <p:cNvPr id="22" name="Text 3"/>
          <p:cNvSpPr txBox="1"/>
          <p:nvPr/>
        </p:nvSpPr>
        <p:spPr>
          <a:xfrm>
            <a:off x="621792" y="1481328"/>
            <a:ext cx="4434840" cy="3200400"/>
          </a:xfrm>
          <a:prstGeom prst="rect">
            <a:avLst/>
          </a:prstGeom>
          <a:noFill/>
        </p:spPr>
        <p:txBody>
          <a:bodyPr wrap="square" lIns="45720" rIns="45720" anchor="t">
            <a:spAutoFit/>
          </a:bodyPr>
          <a:lstStyle/>
          <a:p>
            <a:pPr algn="l">
              <a:lnSpc>
                <a:spcPct val="115000"/>
              </a:lnSpc>
              <a:spcAft>
                <a:spcPts val="400"/>
              </a:spcAft>
            </a:pPr>
            <a:r>
              <a:rPr sz="950" b="1" i="0">
                <a:solidFill>
                  <a:srgbClr val="1C4587"/>
                </a:solidFill>
                <a:latin typeface="Inter"/>
              </a:rPr>
              <a:t>Latar belakang</a:t>
            </a:r>
          </a:p>
          <a:p>
            <a:pPr algn="l">
              <a:lnSpc>
                <a:spcPct val="115000"/>
              </a:lnSpc>
              <a:spcAft>
                <a:spcPts val="400"/>
              </a:spcAft>
            </a:pPr>
            <a:r>
              <a:rPr sz="850" b="0" i="0">
                <a:solidFill>
                  <a:srgbClr val="434343"/>
                </a:solidFill>
                <a:latin typeface="Inter"/>
              </a:rPr>
              <a:t>Tim marketing ingin memberi </a:t>
            </a:r>
            <a:r>
              <a:rPr sz="850" b="1" i="0">
                <a:solidFill>
                  <a:srgbClr val="434343"/>
                </a:solidFill>
                <a:latin typeface="Inter"/>
              </a:rPr>
              <a:t>poin loyalty</a:t>
            </a:r>
            <a:r>
              <a:rPr sz="850" b="0" i="0">
                <a:solidFill>
                  <a:srgbClr val="434343"/>
                </a:solidFill>
                <a:latin typeface="Inter"/>
              </a:rPr>
              <a:t>: setiap order yang dibayar memberi 1 poin per Rp10.000. Poin tidak boleh membuat pembayaran lebih lambat, dan tidak boleh bertambah dua kali.</a:t>
            </a:r>
          </a:p>
          <a:p>
            <a:pPr algn="l">
              <a:lnSpc>
                <a:spcPct val="115000"/>
              </a:lnSpc>
              <a:spcAft>
                <a:spcPts val="400"/>
              </a:spcAft>
            </a:pPr>
            <a:r>
              <a:rPr sz="950" b="1" i="0">
                <a:solidFill>
                  <a:srgbClr val="1C4587"/>
                </a:solidFill>
                <a:latin typeface="Inter"/>
              </a:rPr>
              <a:t>Requirement</a:t>
            </a:r>
          </a:p>
          <a:p>
            <a:pPr marL="182880" indent="-182880" algn="l">
              <a:lnSpc>
                <a:spcPct val="115000"/>
              </a:lnSpc>
              <a:spcAft>
                <a:spcPts val="400"/>
              </a:spcAft>
              <a:buClr>
                <a:srgbClr val="E0764F"/>
              </a:buClr>
              <a:buSzPct val="100000"/>
              <a:buFont typeface="Arial"/>
              <a:buChar char="•"/>
            </a:pPr>
            <a:r>
              <a:rPr sz="850" b="0" i="0">
                <a:solidFill>
                  <a:srgbClr val="434343"/>
                </a:solidFill>
                <a:latin typeface="Inter"/>
              </a:rPr>
              <a:t>Queue baru </a:t>
            </a:r>
            <a:r>
              <a:rPr sz="850" b="0" i="0">
                <a:solidFill>
                  <a:srgbClr val="B5482A"/>
                </a:solidFill>
                <a:latin typeface="Inconsolata"/>
              </a:rPr>
              <a:t>points</a:t>
            </a:r>
            <a:r>
              <a:rPr sz="850" b="0" i="0">
                <a:solidFill>
                  <a:srgbClr val="434343"/>
                </a:solidFill>
                <a:latin typeface="Inter"/>
              </a:rPr>
              <a:t>, di-bind dengan </a:t>
            </a:r>
            <a:r>
              <a:rPr sz="850" b="0" i="0">
                <a:solidFill>
                  <a:srgbClr val="B5482A"/>
                </a:solidFill>
                <a:latin typeface="Inconsolata"/>
              </a:rPr>
              <a:t>order.paid</a:t>
            </a:r>
            <a:r>
              <a:rPr sz="850" b="0" i="0">
                <a:solidFill>
                  <a:srgbClr val="434343"/>
                </a:solidFill>
                <a:latin typeface="Inter"/>
              </a:rPr>
              <a:t>, pesan rusak ke </a:t>
            </a:r>
            <a:r>
              <a:rPr sz="850" b="0" i="0">
                <a:solidFill>
                  <a:srgbClr val="B5482A"/>
                </a:solidFill>
                <a:latin typeface="Inconsolata"/>
              </a:rPr>
              <a:t>points.dlq</a:t>
            </a:r>
          </a:p>
          <a:p>
            <a:pPr marL="182880" indent="-182880" algn="l">
              <a:lnSpc>
                <a:spcPct val="115000"/>
              </a:lnSpc>
              <a:spcAft>
                <a:spcPts val="400"/>
              </a:spcAft>
              <a:buClr>
                <a:srgbClr val="E0764F"/>
              </a:buClr>
              <a:buSzPct val="100000"/>
              <a:buFont typeface="Arial"/>
              <a:buChar char="•"/>
            </a:pPr>
            <a:r>
              <a:rPr sz="850" b="0" i="0">
                <a:solidFill>
                  <a:srgbClr val="434343"/>
                </a:solidFill>
                <a:latin typeface="Inter"/>
              </a:rPr>
              <a:t>Consumer baru </a:t>
            </a:r>
            <a:r>
              <a:rPr sz="850" b="0" i="0">
                <a:solidFill>
                  <a:srgbClr val="B5482A"/>
                </a:solidFill>
                <a:latin typeface="Inconsolata"/>
              </a:rPr>
              <a:t>python -m app.consumers.points_consumer</a:t>
            </a:r>
          </a:p>
          <a:p>
            <a:pPr marL="182880" indent="-182880" algn="l">
              <a:lnSpc>
                <a:spcPct val="115000"/>
              </a:lnSpc>
              <a:spcAft>
                <a:spcPts val="400"/>
              </a:spcAft>
              <a:buClr>
                <a:srgbClr val="E0764F"/>
              </a:buClr>
              <a:buSzPct val="100000"/>
              <a:buFont typeface="Arial"/>
              <a:buChar char="•"/>
            </a:pPr>
            <a:r>
              <a:rPr sz="850" b="0" i="0">
                <a:solidFill>
                  <a:srgbClr val="434343"/>
                </a:solidFill>
                <a:latin typeface="Inter"/>
              </a:rPr>
              <a:t>Poin = </a:t>
            </a:r>
            <a:r>
              <a:rPr sz="850" b="0" i="0">
                <a:solidFill>
                  <a:srgbClr val="B5482A"/>
                </a:solidFill>
                <a:latin typeface="Inconsolata"/>
              </a:rPr>
              <a:t>total // 10_000</a:t>
            </a:r>
            <a:r>
              <a:rPr sz="850" b="0" i="0">
                <a:solidFill>
                  <a:srgbClr val="434343"/>
                </a:solidFill>
                <a:latin typeface="Inter"/>
              </a:rPr>
              <a:t>, event lain diabaikan</a:t>
            </a:r>
          </a:p>
          <a:p>
            <a:pPr marL="182880" indent="-182880" algn="l">
              <a:lnSpc>
                <a:spcPct val="115000"/>
              </a:lnSpc>
              <a:spcAft>
                <a:spcPts val="400"/>
              </a:spcAft>
              <a:buClr>
                <a:srgbClr val="E0764F"/>
              </a:buClr>
              <a:buSzPct val="100000"/>
              <a:buFont typeface="Arial"/>
              <a:buChar char="•"/>
            </a:pPr>
            <a:r>
              <a:rPr sz="850" b="0" i="0">
                <a:solidFill>
                  <a:srgbClr val="434343"/>
                </a:solidFill>
                <a:latin typeface="Inter"/>
              </a:rPr>
              <a:t>Idempotent: event_id dan poin dicatat dalam satu transaksi</a:t>
            </a:r>
          </a:p>
          <a:p>
            <a:pPr marL="182880" indent="-182880" algn="l">
              <a:lnSpc>
                <a:spcPct val="115000"/>
              </a:lnSpc>
              <a:spcAft>
                <a:spcPts val="400"/>
              </a:spcAft>
              <a:buClr>
                <a:srgbClr val="E0764F"/>
              </a:buClr>
              <a:buSzPct val="100000"/>
              <a:buFont typeface="Arial"/>
              <a:buChar char="•"/>
            </a:pPr>
            <a:r>
              <a:rPr sz="850" b="0" i="0">
                <a:solidFill>
                  <a:srgbClr val="B5482A"/>
                </a:solidFill>
                <a:latin typeface="Inconsolata"/>
              </a:rPr>
              <a:t>GET /customers/{customer}/points</a:t>
            </a:r>
          </a:p>
        </p:txBody>
      </p:sp>
      <p:sp>
        <p:nvSpPr>
          <p:cNvPr id="23" name="Box 4"/>
          <p:cNvSpPr/>
          <p:nvPr/>
        </p:nvSpPr>
        <p:spPr>
          <a:xfrm>
            <a:off x="5212080" y="1481328"/>
            <a:ext cx="3273552" cy="1600200"/>
          </a:xfrm>
          <a:prstGeom prst="roundRect">
            <a:avLst>
              <a:gd name="adj" fmla="val 6857"/>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Text 5"/>
          <p:cNvSpPr txBox="1"/>
          <p:nvPr/>
        </p:nvSpPr>
        <p:spPr>
          <a:xfrm>
            <a:off x="5349240" y="1572768"/>
            <a:ext cx="2999232"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Aturan arsitektur</a:t>
            </a:r>
          </a:p>
        </p:txBody>
      </p:sp>
      <p:sp>
        <p:nvSpPr>
          <p:cNvPr id="25" name="Text 6"/>
          <p:cNvSpPr txBox="1"/>
          <p:nvPr/>
        </p:nvSpPr>
        <p:spPr>
          <a:xfrm>
            <a:off x="5349240" y="1892808"/>
            <a:ext cx="2999232" cy="109728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Arial"/>
              <a:buChar char="•"/>
            </a:pPr>
            <a:r>
              <a:rPr sz="900" b="0" i="0">
                <a:solidFill>
                  <a:srgbClr val="B5482A"/>
                </a:solidFill>
                <a:latin typeface="Inconsolata"/>
              </a:rPr>
              <a:t>OrderService</a:t>
            </a:r>
            <a:r>
              <a:rPr sz="900" b="0" i="0">
                <a:solidFill>
                  <a:srgbClr val="434343"/>
                </a:solidFill>
                <a:latin typeface="Inter"/>
              </a:rPr>
              <a:t> tidak diubah</a:t>
            </a:r>
          </a:p>
          <a:p>
            <a:pPr marL="182880" indent="-182880" algn="l">
              <a:lnSpc>
                <a:spcPct val="115000"/>
              </a:lnSpc>
              <a:spcAft>
                <a:spcPts val="400"/>
              </a:spcAft>
              <a:buClr>
                <a:srgbClr val="E0764F"/>
              </a:buClr>
              <a:buSzPct val="100000"/>
              <a:buFont typeface="Arial"/>
              <a:buChar char="•"/>
            </a:pPr>
            <a:r>
              <a:rPr sz="900" b="0" i="0">
                <a:solidFill>
                  <a:srgbClr val="B5482A"/>
                </a:solidFill>
                <a:latin typeface="Inconsolata"/>
              </a:rPr>
              <a:t>domain/</a:t>
            </a:r>
            <a:r>
              <a:rPr sz="900" b="0" i="0">
                <a:solidFill>
                  <a:srgbClr val="434343"/>
                </a:solidFill>
                <a:latin typeface="Inter"/>
              </a:rPr>
              <a:t> dan </a:t>
            </a:r>
            <a:r>
              <a:rPr sz="900" b="0" i="0">
                <a:solidFill>
                  <a:srgbClr val="B5482A"/>
                </a:solidFill>
                <a:latin typeface="Inconsolata"/>
              </a:rPr>
              <a:t>application/</a:t>
            </a:r>
            <a:r>
              <a:rPr sz="900" b="0" i="0">
                <a:solidFill>
                  <a:srgbClr val="434343"/>
                </a:solidFill>
                <a:latin typeface="Inter"/>
              </a:rPr>
              <a:t> tetap tanpa </a:t>
            </a:r>
            <a:r>
              <a:rPr sz="900" b="0" i="0">
                <a:solidFill>
                  <a:srgbClr val="B5482A"/>
                </a:solidFill>
                <a:latin typeface="Inconsolata"/>
              </a:rPr>
              <a:t>fastapi</a:t>
            </a:r>
            <a:r>
              <a:rPr sz="900" b="0" i="0">
                <a:solidFill>
                  <a:srgbClr val="434343"/>
                </a:solidFill>
                <a:latin typeface="Inter"/>
              </a:rPr>
              <a:t>, </a:t>
            </a:r>
            <a:r>
              <a:rPr sz="900" b="0" i="0">
                <a:solidFill>
                  <a:srgbClr val="B5482A"/>
                </a:solidFill>
                <a:latin typeface="Inconsolata"/>
              </a:rPr>
              <a:t>sqlalchemy</a:t>
            </a:r>
            <a:r>
              <a:rPr sz="900" b="0" i="0">
                <a:solidFill>
                  <a:srgbClr val="434343"/>
                </a:solidFill>
                <a:latin typeface="Inter"/>
              </a:rPr>
              <a:t>, dan </a:t>
            </a:r>
            <a:r>
              <a:rPr sz="900" b="0" i="0">
                <a:solidFill>
                  <a:srgbClr val="B5482A"/>
                </a:solidFill>
                <a:latin typeface="Inconsolata"/>
              </a:rPr>
              <a:t>pika</a:t>
            </a:r>
          </a:p>
        </p:txBody>
      </p:sp>
      <p:sp>
        <p:nvSpPr>
          <p:cNvPr id="26" name="CodeTab 8"/>
          <p:cNvSpPr/>
          <p:nvPr/>
        </p:nvSpPr>
        <p:spPr>
          <a:xfrm>
            <a:off x="5212080" y="3200400"/>
            <a:ext cx="3273552"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7" name="Dot 9"/>
          <p:cNvSpPr/>
          <p:nvPr/>
        </p:nvSpPr>
        <p:spPr>
          <a:xfrm>
            <a:off x="5321808" y="3278124"/>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Dot 10"/>
          <p:cNvSpPr/>
          <p:nvPr/>
        </p:nvSpPr>
        <p:spPr>
          <a:xfrm>
            <a:off x="5458968" y="3278124"/>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Dot 11"/>
          <p:cNvSpPr/>
          <p:nvPr/>
        </p:nvSpPr>
        <p:spPr>
          <a:xfrm>
            <a:off x="5596128" y="3278124"/>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 12"/>
          <p:cNvSpPr txBox="1"/>
          <p:nvPr/>
        </p:nvSpPr>
        <p:spPr>
          <a:xfrm>
            <a:off x="5760720" y="3209544"/>
            <a:ext cx="2633472"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contoh response</a:t>
            </a:r>
          </a:p>
        </p:txBody>
      </p:sp>
      <p:sp>
        <p:nvSpPr>
          <p:cNvPr id="31" name="CodeBg 14"/>
          <p:cNvSpPr/>
          <p:nvPr/>
        </p:nvSpPr>
        <p:spPr>
          <a:xfrm>
            <a:off x="5212080" y="3438144"/>
            <a:ext cx="3273552" cy="1261872"/>
          </a:xfrm>
          <a:prstGeom prst="roundRect">
            <a:avLst>
              <a:gd name="adj" fmla="val 1449"/>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Code 15"/>
          <p:cNvSpPr txBox="1"/>
          <p:nvPr/>
        </p:nvSpPr>
        <p:spPr>
          <a:xfrm>
            <a:off x="5212080" y="3438144"/>
            <a:ext cx="3273552" cy="1261872"/>
          </a:xfrm>
          <a:prstGeom prst="rect">
            <a:avLst/>
          </a:prstGeom>
          <a:noFill/>
        </p:spPr>
        <p:txBody>
          <a:bodyPr wrap="none" lIns="146304" tIns="91440" rIns="146304" bIns="54864">
            <a:spAutoFit/>
          </a:bodyPr>
          <a:lstStyle/>
          <a:p>
            <a:pPr>
              <a:lnSpc>
                <a:spcPct val="104167"/>
              </a:lnSpc>
              <a:spcAft>
                <a:spcPts val="0"/>
              </a:spcAft>
            </a:pPr>
            <a:r>
              <a:rPr sz="800" i="0">
                <a:solidFill>
                  <a:srgbClr val="E6EDF3"/>
                </a:solidFill>
                <a:latin typeface="Inconsolata"/>
              </a:rPr>
              <a:t>GET /customers/budi@mail.com/points</a:t>
            </a:r>
          </a:p>
          <a:p>
            <a:pPr>
              <a:lnSpc>
                <a:spcPct val="104167"/>
              </a:lnSpc>
              <a:spcAft>
                <a:spcPts val="0"/>
              </a:spcAft>
            </a:pPr>
            <a:endParaRPr sz="800" i="0">
              <a:solidFill>
                <a:srgbClr val="E6EDF3"/>
              </a:solidFill>
              <a:latin typeface="Inconsolata"/>
            </a:endParaRPr>
          </a:p>
          <a:p>
            <a:pPr>
              <a:lnSpc>
                <a:spcPct val="104167"/>
              </a:lnSpc>
              <a:spcAft>
                <a:spcPts val="0"/>
              </a:spcAft>
            </a:pPr>
            <a:r>
              <a:rPr sz="800" i="0">
                <a:solidFill>
                  <a:srgbClr val="E6EDF3"/>
                </a:solidFill>
                <a:latin typeface="Inconsolata"/>
              </a:rPr>
              <a:t>{"customer": "budi@mail.com",</a:t>
            </a:r>
          </a:p>
          <a:p>
            <a:pPr>
              <a:lnSpc>
                <a:spcPct val="104167"/>
              </a:lnSpc>
              <a:spcAft>
                <a:spcPts val="0"/>
              </a:spcAft>
            </a:pPr>
            <a:r>
              <a:rPr sz="800" i="0">
                <a:solidFill>
                  <a:srgbClr val="E6EDF3"/>
                </a:solidFill>
                <a:latin typeface="Inconsolata"/>
              </a:rPr>
              <a:t> "points": 90}</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Studi Kasus</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Langkah Singkat</a:t>
            </a:r>
          </a:p>
        </p:txBody>
      </p:sp>
      <p:sp>
        <p:nvSpPr>
          <p:cNvPr id="22" name="Box 3"/>
          <p:cNvSpPr/>
          <p:nvPr/>
        </p:nvSpPr>
        <p:spPr>
          <a:xfrm>
            <a:off x="621792" y="1481328"/>
            <a:ext cx="274320" cy="274320"/>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1</a:t>
            </a:r>
          </a:p>
        </p:txBody>
      </p:sp>
      <p:sp>
        <p:nvSpPr>
          <p:cNvPr id="23" name="Text 4"/>
          <p:cNvSpPr txBox="1"/>
          <p:nvPr/>
        </p:nvSpPr>
        <p:spPr>
          <a:xfrm>
            <a:off x="987552" y="1453896"/>
            <a:ext cx="4206240" cy="530352"/>
          </a:xfrm>
          <a:prstGeom prst="rect">
            <a:avLst/>
          </a:prstGeom>
          <a:noFill/>
        </p:spPr>
        <p:txBody>
          <a:bodyPr wrap="square" lIns="45720" rIns="45720" anchor="t">
            <a:spAutoFit/>
          </a:bodyPr>
          <a:lstStyle/>
          <a:p>
            <a:pPr algn="l">
              <a:lnSpc>
                <a:spcPct val="115000"/>
              </a:lnSpc>
              <a:spcAft>
                <a:spcPts val="400"/>
              </a:spcAft>
            </a:pPr>
            <a:r>
              <a:rPr sz="950" b="0" i="0">
                <a:solidFill>
                  <a:srgbClr val="434343"/>
                </a:solidFill>
                <a:latin typeface="Inter"/>
              </a:rPr>
              <a:t>Port </a:t>
            </a:r>
            <a:r>
              <a:rPr sz="950" b="0" i="0">
                <a:solidFill>
                  <a:srgbClr val="B5482A"/>
                </a:solidFill>
                <a:latin typeface="Inconsolata"/>
              </a:rPr>
              <a:t>PointsLedger</a:t>
            </a:r>
            <a:r>
              <a:rPr sz="950" b="0" i="0">
                <a:solidFill>
                  <a:srgbClr val="434343"/>
                </a:solidFill>
                <a:latin typeface="Inter"/>
              </a:rPr>
              <a:t> dan </a:t>
            </a:r>
            <a:r>
              <a:rPr sz="950" b="0" i="0">
                <a:solidFill>
                  <a:srgbClr val="B5482A"/>
                </a:solidFill>
                <a:latin typeface="Inconsolata"/>
              </a:rPr>
              <a:t>PointsService</a:t>
            </a:r>
            <a:r>
              <a:rPr sz="950" b="0" i="0">
                <a:solidFill>
                  <a:srgbClr val="434343"/>
                </a:solidFill>
                <a:latin typeface="Inter"/>
              </a:rPr>
              <a:t> di application</a:t>
            </a:r>
          </a:p>
        </p:txBody>
      </p:sp>
      <p:sp>
        <p:nvSpPr>
          <p:cNvPr id="24" name="Box 5"/>
          <p:cNvSpPr/>
          <p:nvPr/>
        </p:nvSpPr>
        <p:spPr>
          <a:xfrm>
            <a:off x="621792" y="2011680"/>
            <a:ext cx="274320" cy="274320"/>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2</a:t>
            </a:r>
          </a:p>
        </p:txBody>
      </p:sp>
      <p:sp>
        <p:nvSpPr>
          <p:cNvPr id="25" name="Text 6"/>
          <p:cNvSpPr txBox="1"/>
          <p:nvPr/>
        </p:nvSpPr>
        <p:spPr>
          <a:xfrm>
            <a:off x="987552" y="1984248"/>
            <a:ext cx="4206240" cy="530352"/>
          </a:xfrm>
          <a:prstGeom prst="rect">
            <a:avLst/>
          </a:prstGeom>
          <a:noFill/>
        </p:spPr>
        <p:txBody>
          <a:bodyPr wrap="square" lIns="45720" rIns="45720" anchor="t">
            <a:spAutoFit/>
          </a:bodyPr>
          <a:lstStyle/>
          <a:p>
            <a:pPr algn="l">
              <a:lnSpc>
                <a:spcPct val="115000"/>
              </a:lnSpc>
              <a:spcAft>
                <a:spcPts val="400"/>
              </a:spcAft>
            </a:pPr>
            <a:r>
              <a:rPr sz="950" b="0" i="0">
                <a:solidFill>
                  <a:srgbClr val="434343"/>
                </a:solidFill>
                <a:latin typeface="Inter"/>
              </a:rPr>
              <a:t>Tabel </a:t>
            </a:r>
            <a:r>
              <a:rPr sz="950" b="0" i="0">
                <a:solidFill>
                  <a:srgbClr val="B5482A"/>
                </a:solidFill>
                <a:latin typeface="Inconsolata"/>
              </a:rPr>
              <a:t>customer_points</a:t>
            </a:r>
            <a:r>
              <a:rPr sz="950" b="0" i="0">
                <a:solidFill>
                  <a:srgbClr val="434343"/>
                </a:solidFill>
                <a:latin typeface="Inter"/>
              </a:rPr>
              <a:t> dan </a:t>
            </a:r>
            <a:r>
              <a:rPr sz="950" b="0" i="0">
                <a:solidFill>
                  <a:srgbClr val="B5482A"/>
                </a:solidFill>
                <a:latin typeface="Inconsolata"/>
              </a:rPr>
              <a:t>point_events</a:t>
            </a:r>
            <a:r>
              <a:rPr sz="950" b="0" i="0">
                <a:solidFill>
                  <a:srgbClr val="434343"/>
                </a:solidFill>
                <a:latin typeface="Inter"/>
              </a:rPr>
              <a:t> di models</a:t>
            </a:r>
          </a:p>
        </p:txBody>
      </p:sp>
      <p:sp>
        <p:nvSpPr>
          <p:cNvPr id="26" name="Box 7"/>
          <p:cNvSpPr/>
          <p:nvPr/>
        </p:nvSpPr>
        <p:spPr>
          <a:xfrm>
            <a:off x="621792" y="2542032"/>
            <a:ext cx="274320" cy="274320"/>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3</a:t>
            </a:r>
          </a:p>
        </p:txBody>
      </p:sp>
      <p:sp>
        <p:nvSpPr>
          <p:cNvPr id="27" name="Text 8"/>
          <p:cNvSpPr txBox="1"/>
          <p:nvPr/>
        </p:nvSpPr>
        <p:spPr>
          <a:xfrm>
            <a:off x="987552" y="2514600"/>
            <a:ext cx="4206240" cy="530352"/>
          </a:xfrm>
          <a:prstGeom prst="rect">
            <a:avLst/>
          </a:prstGeom>
          <a:noFill/>
        </p:spPr>
        <p:txBody>
          <a:bodyPr wrap="square" lIns="45720" rIns="45720" anchor="t">
            <a:spAutoFit/>
          </a:bodyPr>
          <a:lstStyle/>
          <a:p>
            <a:pPr algn="l">
              <a:lnSpc>
                <a:spcPct val="115000"/>
              </a:lnSpc>
              <a:spcAft>
                <a:spcPts val="400"/>
              </a:spcAft>
            </a:pPr>
            <a:r>
              <a:rPr sz="950" b="0" i="0">
                <a:solidFill>
                  <a:srgbClr val="B5482A"/>
                </a:solidFill>
                <a:latin typeface="Inconsolata"/>
              </a:rPr>
              <a:t>SqlAlchemyPointsLedger</a:t>
            </a:r>
            <a:r>
              <a:rPr sz="950" b="0" i="0">
                <a:solidFill>
                  <a:srgbClr val="434343"/>
                </a:solidFill>
                <a:latin typeface="Inter"/>
              </a:rPr>
              <a:t>: event_id dan poin dalam satu transaksi</a:t>
            </a:r>
          </a:p>
        </p:txBody>
      </p:sp>
      <p:sp>
        <p:nvSpPr>
          <p:cNvPr id="28" name="Box 9"/>
          <p:cNvSpPr/>
          <p:nvPr/>
        </p:nvSpPr>
        <p:spPr>
          <a:xfrm>
            <a:off x="621792" y="3072384"/>
            <a:ext cx="274320" cy="274320"/>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4</a:t>
            </a:r>
          </a:p>
        </p:txBody>
      </p:sp>
      <p:sp>
        <p:nvSpPr>
          <p:cNvPr id="29" name="Text 10"/>
          <p:cNvSpPr txBox="1"/>
          <p:nvPr/>
        </p:nvSpPr>
        <p:spPr>
          <a:xfrm>
            <a:off x="987552" y="3044952"/>
            <a:ext cx="4206240" cy="530352"/>
          </a:xfrm>
          <a:prstGeom prst="rect">
            <a:avLst/>
          </a:prstGeom>
          <a:noFill/>
        </p:spPr>
        <p:txBody>
          <a:bodyPr wrap="square" lIns="45720" rIns="45720" anchor="t">
            <a:spAutoFit/>
          </a:bodyPr>
          <a:lstStyle/>
          <a:p>
            <a:pPr algn="l">
              <a:lnSpc>
                <a:spcPct val="115000"/>
              </a:lnSpc>
              <a:spcAft>
                <a:spcPts val="400"/>
              </a:spcAft>
            </a:pPr>
            <a:r>
              <a:rPr sz="950" b="0" i="0">
                <a:solidFill>
                  <a:srgbClr val="434343"/>
                </a:solidFill>
                <a:latin typeface="Inter"/>
              </a:rPr>
              <a:t>Queue </a:t>
            </a:r>
            <a:r>
              <a:rPr sz="950" b="0" i="0">
                <a:solidFill>
                  <a:srgbClr val="B5482A"/>
                </a:solidFill>
                <a:latin typeface="Inconsolata"/>
              </a:rPr>
              <a:t>points</a:t>
            </a:r>
            <a:r>
              <a:rPr sz="950" b="0" i="0">
                <a:solidFill>
                  <a:srgbClr val="434343"/>
                </a:solidFill>
                <a:latin typeface="Inter"/>
              </a:rPr>
              <a:t> dan </a:t>
            </a:r>
            <a:r>
              <a:rPr sz="950" b="0" i="0">
                <a:solidFill>
                  <a:srgbClr val="B5482A"/>
                </a:solidFill>
                <a:latin typeface="Inconsolata"/>
              </a:rPr>
              <a:t>points.dlq</a:t>
            </a:r>
            <a:r>
              <a:rPr sz="950" b="0" i="0">
                <a:solidFill>
                  <a:srgbClr val="434343"/>
                </a:solidFill>
                <a:latin typeface="Inter"/>
              </a:rPr>
              <a:t> di </a:t>
            </a:r>
            <a:r>
              <a:rPr sz="950" b="0" i="0">
                <a:solidFill>
                  <a:srgbClr val="B5482A"/>
                </a:solidFill>
                <a:latin typeface="Inconsolata"/>
              </a:rPr>
              <a:t>declare_topology</a:t>
            </a:r>
          </a:p>
        </p:txBody>
      </p:sp>
      <p:sp>
        <p:nvSpPr>
          <p:cNvPr id="30" name="Box 11"/>
          <p:cNvSpPr/>
          <p:nvPr/>
        </p:nvSpPr>
        <p:spPr>
          <a:xfrm>
            <a:off x="621792" y="3602736"/>
            <a:ext cx="274320" cy="274320"/>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5</a:t>
            </a:r>
          </a:p>
        </p:txBody>
      </p:sp>
      <p:sp>
        <p:nvSpPr>
          <p:cNvPr id="31" name="Text 12"/>
          <p:cNvSpPr txBox="1"/>
          <p:nvPr/>
        </p:nvSpPr>
        <p:spPr>
          <a:xfrm>
            <a:off x="987552" y="3575304"/>
            <a:ext cx="4206240" cy="530352"/>
          </a:xfrm>
          <a:prstGeom prst="rect">
            <a:avLst/>
          </a:prstGeom>
          <a:noFill/>
        </p:spPr>
        <p:txBody>
          <a:bodyPr wrap="square" lIns="45720" rIns="45720" anchor="t">
            <a:spAutoFit/>
          </a:bodyPr>
          <a:lstStyle/>
          <a:p>
            <a:pPr algn="l">
              <a:lnSpc>
                <a:spcPct val="115000"/>
              </a:lnSpc>
              <a:spcAft>
                <a:spcPts val="400"/>
              </a:spcAft>
            </a:pPr>
            <a:r>
              <a:rPr sz="950" b="0" i="0">
                <a:solidFill>
                  <a:srgbClr val="434343"/>
                </a:solidFill>
                <a:latin typeface="Inter"/>
              </a:rPr>
              <a:t>Consumer </a:t>
            </a:r>
            <a:r>
              <a:rPr sz="950" b="0" i="0">
                <a:solidFill>
                  <a:srgbClr val="B5482A"/>
                </a:solidFill>
                <a:latin typeface="Inconsolata"/>
              </a:rPr>
              <a:t>points_consumer.py</a:t>
            </a:r>
            <a:r>
              <a:rPr sz="950" b="0" i="0">
                <a:solidFill>
                  <a:srgbClr val="434343"/>
                </a:solidFill>
                <a:latin typeface="Inter"/>
              </a:rPr>
              <a:t>, pola sama dengan consumer notifikasi</a:t>
            </a:r>
          </a:p>
        </p:txBody>
      </p:sp>
      <p:sp>
        <p:nvSpPr>
          <p:cNvPr id="32" name="Box 13"/>
          <p:cNvSpPr/>
          <p:nvPr/>
        </p:nvSpPr>
        <p:spPr>
          <a:xfrm>
            <a:off x="621792" y="4133087"/>
            <a:ext cx="274320" cy="274320"/>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6</a:t>
            </a:r>
          </a:p>
        </p:txBody>
      </p:sp>
      <p:sp>
        <p:nvSpPr>
          <p:cNvPr id="33" name="Text 14"/>
          <p:cNvSpPr txBox="1"/>
          <p:nvPr/>
        </p:nvSpPr>
        <p:spPr>
          <a:xfrm>
            <a:off x="987552" y="4105655"/>
            <a:ext cx="4206240" cy="530352"/>
          </a:xfrm>
          <a:prstGeom prst="rect">
            <a:avLst/>
          </a:prstGeom>
          <a:noFill/>
        </p:spPr>
        <p:txBody>
          <a:bodyPr wrap="square" lIns="45720" rIns="45720" anchor="t">
            <a:spAutoFit/>
          </a:bodyPr>
          <a:lstStyle/>
          <a:p>
            <a:pPr algn="l">
              <a:lnSpc>
                <a:spcPct val="115000"/>
              </a:lnSpc>
              <a:spcAft>
                <a:spcPts val="400"/>
              </a:spcAft>
            </a:pPr>
            <a:r>
              <a:rPr sz="950" b="0" i="0">
                <a:solidFill>
                  <a:srgbClr val="434343"/>
                </a:solidFill>
                <a:latin typeface="Inter"/>
              </a:rPr>
              <a:t>Schema, dependency, dan router </a:t>
            </a:r>
            <a:r>
              <a:rPr sz="950" b="0" i="0">
                <a:solidFill>
                  <a:srgbClr val="B5482A"/>
                </a:solidFill>
                <a:latin typeface="Inconsolata"/>
              </a:rPr>
              <a:t>customers.py</a:t>
            </a:r>
            <a:r>
              <a:rPr sz="950" b="0" i="0">
                <a:solidFill>
                  <a:srgbClr val="434343"/>
                </a:solidFill>
                <a:latin typeface="Inter"/>
              </a:rPr>
              <a:t>, lalu test</a:t>
            </a:r>
          </a:p>
        </p:txBody>
      </p:sp>
      <p:sp>
        <p:nvSpPr>
          <p:cNvPr id="34" name="CodeTab 16"/>
          <p:cNvSpPr/>
          <p:nvPr/>
        </p:nvSpPr>
        <p:spPr>
          <a:xfrm>
            <a:off x="5349240" y="1481328"/>
            <a:ext cx="3136392"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Dot 17"/>
          <p:cNvSpPr/>
          <p:nvPr/>
        </p:nvSpPr>
        <p:spPr>
          <a:xfrm>
            <a:off x="545896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Dot 18"/>
          <p:cNvSpPr/>
          <p:nvPr/>
        </p:nvSpPr>
        <p:spPr>
          <a:xfrm>
            <a:off x="559612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Dot 19"/>
          <p:cNvSpPr/>
          <p:nvPr/>
        </p:nvSpPr>
        <p:spPr>
          <a:xfrm>
            <a:off x="573328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 20"/>
          <p:cNvSpPr txBox="1"/>
          <p:nvPr/>
        </p:nvSpPr>
        <p:spPr>
          <a:xfrm>
            <a:off x="5897879" y="1490472"/>
            <a:ext cx="2496312"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file yang disentuh</a:t>
            </a:r>
          </a:p>
        </p:txBody>
      </p:sp>
      <p:sp>
        <p:nvSpPr>
          <p:cNvPr id="39" name="CodeBg 22"/>
          <p:cNvSpPr/>
          <p:nvPr/>
        </p:nvSpPr>
        <p:spPr>
          <a:xfrm>
            <a:off x="5349240" y="1719072"/>
            <a:ext cx="3136392"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0" name="Code 23"/>
          <p:cNvSpPr txBox="1"/>
          <p:nvPr/>
        </p:nvSpPr>
        <p:spPr>
          <a:xfrm>
            <a:off x="5349240" y="1719072"/>
            <a:ext cx="3136392" cy="2980944"/>
          </a:xfrm>
          <a:prstGeom prst="rect">
            <a:avLst/>
          </a:prstGeom>
          <a:noFill/>
        </p:spPr>
        <p:txBody>
          <a:bodyPr wrap="none" lIns="146304" tIns="91440" rIns="146304" bIns="54864">
            <a:spAutoFit/>
          </a:bodyPr>
          <a:lstStyle/>
          <a:p>
            <a:pPr>
              <a:lnSpc>
                <a:spcPct val="104167"/>
              </a:lnSpc>
              <a:spcAft>
                <a:spcPts val="0"/>
              </a:spcAft>
            </a:pPr>
            <a:r>
              <a:rPr sz="800" i="0">
                <a:solidFill>
                  <a:srgbClr val="E6EDF3"/>
                </a:solidFill>
                <a:latin typeface="Inconsolata"/>
              </a:rPr>
              <a:t>app/</a:t>
            </a:r>
          </a:p>
          <a:p>
            <a:pPr>
              <a:lnSpc>
                <a:spcPct val="104167"/>
              </a:lnSpc>
              <a:spcAft>
                <a:spcPts val="0"/>
              </a:spcAft>
            </a:pPr>
            <a:r>
              <a:rPr sz="800" i="0">
                <a:solidFill>
                  <a:srgbClr val="E6EDF3"/>
                </a:solidFill>
                <a:latin typeface="Inconsolata"/>
              </a:rPr>
              <a:t>  application/</a:t>
            </a:r>
          </a:p>
          <a:p>
            <a:pPr>
              <a:lnSpc>
                <a:spcPct val="104167"/>
              </a:lnSpc>
              <a:spcAft>
                <a:spcPts val="0"/>
              </a:spcAft>
            </a:pPr>
            <a:r>
              <a:rPr sz="800" i="0">
                <a:solidFill>
                  <a:srgbClr val="E6EDF3"/>
                </a:solidFill>
                <a:latin typeface="Inconsolata"/>
              </a:rPr>
              <a:t>    ports.py</a:t>
            </a:r>
          </a:p>
          <a:p>
            <a:pPr>
              <a:lnSpc>
                <a:spcPct val="104167"/>
              </a:lnSpc>
              <a:spcAft>
                <a:spcPts val="0"/>
              </a:spcAft>
            </a:pPr>
            <a:r>
              <a:rPr sz="800" i="0">
                <a:solidFill>
                  <a:srgbClr val="E6EDF3"/>
                </a:solidFill>
                <a:latin typeface="Inconsolata"/>
              </a:rPr>
              <a:t>    points_service.py   # baru</a:t>
            </a:r>
          </a:p>
          <a:p>
            <a:pPr>
              <a:lnSpc>
                <a:spcPct val="104167"/>
              </a:lnSpc>
              <a:spcAft>
                <a:spcPts val="0"/>
              </a:spcAft>
            </a:pPr>
            <a:r>
              <a:rPr sz="800" i="0">
                <a:solidFill>
                  <a:srgbClr val="E6EDF3"/>
                </a:solidFill>
                <a:latin typeface="Inconsolata"/>
              </a:rPr>
              <a:t>  infrastructure/</a:t>
            </a:r>
          </a:p>
          <a:p>
            <a:pPr>
              <a:lnSpc>
                <a:spcPct val="104167"/>
              </a:lnSpc>
              <a:spcAft>
                <a:spcPts val="0"/>
              </a:spcAft>
            </a:pPr>
            <a:r>
              <a:rPr sz="800" i="0">
                <a:solidFill>
                  <a:srgbClr val="E6EDF3"/>
                </a:solidFill>
                <a:latin typeface="Inconsolata"/>
              </a:rPr>
              <a:t>    models.py</a:t>
            </a:r>
          </a:p>
          <a:p>
            <a:pPr>
              <a:lnSpc>
                <a:spcPct val="104167"/>
              </a:lnSpc>
              <a:spcAft>
                <a:spcPts val="0"/>
              </a:spcAft>
            </a:pPr>
            <a:r>
              <a:rPr sz="800" i="0">
                <a:solidFill>
                  <a:srgbClr val="E6EDF3"/>
                </a:solidFill>
                <a:latin typeface="Inconsolata"/>
              </a:rPr>
              <a:t>    points_ledger.py    # baru</a:t>
            </a:r>
          </a:p>
          <a:p>
            <a:pPr>
              <a:lnSpc>
                <a:spcPct val="104167"/>
              </a:lnSpc>
              <a:spcAft>
                <a:spcPts val="0"/>
              </a:spcAft>
            </a:pPr>
            <a:r>
              <a:rPr sz="800" i="0">
                <a:solidFill>
                  <a:srgbClr val="E6EDF3"/>
                </a:solidFill>
                <a:latin typeface="Inconsolata"/>
              </a:rPr>
              <a:t>    rabbitmq.py</a:t>
            </a:r>
          </a:p>
          <a:p>
            <a:pPr>
              <a:lnSpc>
                <a:spcPct val="104167"/>
              </a:lnSpc>
              <a:spcAft>
                <a:spcPts val="0"/>
              </a:spcAft>
            </a:pPr>
            <a:r>
              <a:rPr sz="800" i="0">
                <a:solidFill>
                  <a:srgbClr val="E6EDF3"/>
                </a:solidFill>
                <a:latin typeface="Inconsolata"/>
              </a:rPr>
              <a:t>  consumers/</a:t>
            </a:r>
          </a:p>
          <a:p>
            <a:pPr>
              <a:lnSpc>
                <a:spcPct val="104167"/>
              </a:lnSpc>
              <a:spcAft>
                <a:spcPts val="0"/>
              </a:spcAft>
            </a:pPr>
            <a:r>
              <a:rPr sz="800" i="0">
                <a:solidFill>
                  <a:srgbClr val="E6EDF3"/>
                </a:solidFill>
                <a:latin typeface="Inconsolata"/>
              </a:rPr>
              <a:t>    points_consumer.py  # baru</a:t>
            </a:r>
          </a:p>
          <a:p>
            <a:pPr>
              <a:lnSpc>
                <a:spcPct val="104167"/>
              </a:lnSpc>
              <a:spcAft>
                <a:spcPts val="0"/>
              </a:spcAft>
            </a:pPr>
            <a:r>
              <a:rPr sz="800" i="0">
                <a:solidFill>
                  <a:srgbClr val="E6EDF3"/>
                </a:solidFill>
                <a:latin typeface="Inconsolata"/>
              </a:rPr>
              <a:t>  api/</a:t>
            </a:r>
          </a:p>
          <a:p>
            <a:pPr>
              <a:lnSpc>
                <a:spcPct val="104167"/>
              </a:lnSpc>
              <a:spcAft>
                <a:spcPts val="0"/>
              </a:spcAft>
            </a:pPr>
            <a:r>
              <a:rPr sz="800" i="0">
                <a:solidFill>
                  <a:srgbClr val="E6EDF3"/>
                </a:solidFill>
                <a:latin typeface="Inconsolata"/>
              </a:rPr>
              <a:t>    schemas.py, dependencies.py</a:t>
            </a:r>
          </a:p>
          <a:p>
            <a:pPr>
              <a:lnSpc>
                <a:spcPct val="104167"/>
              </a:lnSpc>
              <a:spcAft>
                <a:spcPts val="0"/>
              </a:spcAft>
            </a:pPr>
            <a:r>
              <a:rPr sz="800" i="0">
                <a:solidFill>
                  <a:srgbClr val="E6EDF3"/>
                </a:solidFill>
                <a:latin typeface="Inconsolata"/>
              </a:rPr>
              <a:t>    routers/customers.py # baru</a:t>
            </a:r>
          </a:p>
          <a:p>
            <a:pPr>
              <a:lnSpc>
                <a:spcPct val="104167"/>
              </a:lnSpc>
              <a:spcAft>
                <a:spcPts val="0"/>
              </a:spcAft>
            </a:pPr>
            <a:r>
              <a:rPr sz="800" i="0">
                <a:solidFill>
                  <a:srgbClr val="E6EDF3"/>
                </a:solidFill>
                <a:latin typeface="Inconsolata"/>
              </a:rPr>
              <a:t>tests/test_points.py    # baru</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Studi Kasus</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Contoh Hasil yang Diharapkan</a:t>
            </a:r>
          </a:p>
        </p:txBody>
      </p:sp>
      <p:pic>
        <p:nvPicPr>
          <p:cNvPr id="22" name="Image 3" descr="s08-case-consumer.png"/>
          <p:cNvPicPr>
            <a:picLocks noChangeAspect="1"/>
          </p:cNvPicPr>
          <p:nvPr/>
        </p:nvPicPr>
        <p:blipFill>
          <a:blip r:embed="rId2"/>
          <a:stretch>
            <a:fillRect/>
          </a:stretch>
        </p:blipFill>
        <p:spPr>
          <a:xfrm>
            <a:off x="621792" y="1481328"/>
            <a:ext cx="5486400" cy="932688"/>
          </a:xfrm>
          <a:prstGeom prst="rect">
            <a:avLst/>
          </a:prstGeom>
          <a:ln w="9525">
            <a:solidFill>
              <a:srgbClr val="D0D5DD"/>
            </a:solidFill>
          </a:ln>
        </p:spPr>
      </p:pic>
      <p:sp>
        <p:nvSpPr>
          <p:cNvPr id="23" name="Text 4"/>
          <p:cNvSpPr txBox="1"/>
          <p:nvPr/>
        </p:nvSpPr>
        <p:spPr>
          <a:xfrm>
            <a:off x="621792" y="2459736"/>
            <a:ext cx="5486400" cy="27432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Order vip Keyboard 2 dibayar (total 900.000): consumer poin menerima order.paid</a:t>
            </a:r>
          </a:p>
        </p:txBody>
      </p:sp>
      <p:pic>
        <p:nvPicPr>
          <p:cNvPr id="24" name="Image 5" descr="s08-case-points-resp.png"/>
          <p:cNvPicPr>
            <a:picLocks noChangeAspect="1"/>
          </p:cNvPicPr>
          <p:nvPr/>
        </p:nvPicPr>
        <p:blipFill>
          <a:blip r:embed="rId3"/>
          <a:stretch>
            <a:fillRect/>
          </a:stretch>
        </p:blipFill>
        <p:spPr>
          <a:xfrm>
            <a:off x="621792" y="2871216"/>
            <a:ext cx="5486400" cy="1268005"/>
          </a:xfrm>
          <a:prstGeom prst="rect">
            <a:avLst/>
          </a:prstGeom>
          <a:ln w="9525">
            <a:solidFill>
              <a:srgbClr val="D0D5DD"/>
            </a:solidFill>
          </a:ln>
        </p:spPr>
      </p:pic>
      <p:sp>
        <p:nvSpPr>
          <p:cNvPr id="25" name="Text 6"/>
          <p:cNvSpPr txBox="1"/>
          <p:nvPr/>
        </p:nvSpPr>
        <p:spPr>
          <a:xfrm>
            <a:off x="621792" y="4184940"/>
            <a:ext cx="5486400" cy="27432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GET /customers/budi@mail.com/points: 90 poin</a:t>
            </a:r>
          </a:p>
        </p:txBody>
      </p:sp>
      <p:sp>
        <p:nvSpPr>
          <p:cNvPr id="26" name="Text 7"/>
          <p:cNvSpPr txBox="1"/>
          <p:nvPr/>
        </p:nvSpPr>
        <p:spPr>
          <a:xfrm>
            <a:off x="6309360" y="1481328"/>
            <a:ext cx="2176272" cy="320040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Yang terlihat</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Consumer poin hanya menerima </a:t>
            </a:r>
            <a:r>
              <a:rPr sz="950" b="0" i="0">
                <a:solidFill>
                  <a:srgbClr val="B5482A"/>
                </a:solidFill>
                <a:latin typeface="Inconsolata"/>
              </a:rPr>
              <a:t>order.paid</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900.000 / 10.000 = 90 poin</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Event yang sama datang lagi = </a:t>
            </a:r>
            <a:r>
              <a:rPr sz="950" b="0" i="0">
                <a:solidFill>
                  <a:srgbClr val="B5482A"/>
                </a:solidFill>
                <a:latin typeface="Inconsolata"/>
              </a:rPr>
              <a:t>skipped</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Studi Kasus</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Kriteria Selesai</a:t>
            </a:r>
          </a:p>
        </p:txBody>
      </p:sp>
      <p:sp>
        <p:nvSpPr>
          <p:cNvPr id="22" name="Box 3"/>
          <p:cNvSpPr/>
          <p:nvPr/>
        </p:nvSpPr>
        <p:spPr>
          <a:xfrm>
            <a:off x="621792" y="1481328"/>
            <a:ext cx="3931920"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Text 4"/>
          <p:cNvSpPr txBox="1"/>
          <p:nvPr/>
        </p:nvSpPr>
        <p:spPr>
          <a:xfrm>
            <a:off x="758952" y="1572768"/>
            <a:ext cx="3657600"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Checklist</a:t>
            </a:r>
          </a:p>
        </p:txBody>
      </p:sp>
      <p:sp>
        <p:nvSpPr>
          <p:cNvPr id="24" name="Text 5"/>
          <p:cNvSpPr txBox="1"/>
          <p:nvPr/>
        </p:nvSpPr>
        <p:spPr>
          <a:xfrm>
            <a:off x="758952" y="1892808"/>
            <a:ext cx="3657600"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Queue </a:t>
            </a:r>
            <a:r>
              <a:rPr sz="950" b="0" i="0">
                <a:solidFill>
                  <a:srgbClr val="B5482A"/>
                </a:solidFill>
                <a:latin typeface="Inconsolata"/>
              </a:rPr>
              <a:t>points</a:t>
            </a:r>
            <a:r>
              <a:rPr sz="950" b="0" i="0">
                <a:solidFill>
                  <a:srgbClr val="434343"/>
                </a:solidFill>
                <a:latin typeface="Inter"/>
              </a:rPr>
              <a:t> hanya menerima </a:t>
            </a:r>
            <a:r>
              <a:rPr sz="950" b="0" i="0">
                <a:solidFill>
                  <a:srgbClr val="B5482A"/>
                </a:solidFill>
                <a:latin typeface="Inconsolata"/>
              </a:rPr>
              <a:t>order.paid</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Order dibayar menambah poin </a:t>
            </a:r>
            <a:r>
              <a:rPr sz="950" b="0" i="0">
                <a:solidFill>
                  <a:srgbClr val="B5482A"/>
                </a:solidFill>
                <a:latin typeface="Inconsolata"/>
              </a:rPr>
              <a:t>total // 10_000</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Event yang sama dikirim ulang tidak menambah poin lagi</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Pesan rusak masuk </a:t>
            </a:r>
            <a:r>
              <a:rPr sz="950" b="0" i="0">
                <a:solidFill>
                  <a:srgbClr val="B5482A"/>
                </a:solidFill>
                <a:latin typeface="Inconsolata"/>
              </a:rPr>
              <a:t>points.dlq</a:t>
            </a:r>
          </a:p>
          <a:p>
            <a:pPr marL="182880" indent="-182880" algn="l">
              <a:lnSpc>
                <a:spcPct val="115000"/>
              </a:lnSpc>
              <a:spcAft>
                <a:spcPts val="400"/>
              </a:spcAft>
              <a:buClr>
                <a:srgbClr val="E0764F"/>
              </a:buClr>
              <a:buSzPct val="100000"/>
              <a:buFont typeface="Arial"/>
              <a:buChar char="•"/>
            </a:pPr>
            <a:r>
              <a:rPr sz="950" b="0" i="0">
                <a:solidFill>
                  <a:srgbClr val="B5482A"/>
                </a:solidFill>
                <a:latin typeface="Inconsolata"/>
              </a:rPr>
              <a:t>GET /customers/{customer}/points</a:t>
            </a:r>
            <a:r>
              <a:rPr sz="950" b="0" i="0">
                <a:solidFill>
                  <a:srgbClr val="434343"/>
                </a:solidFill>
                <a:latin typeface="Inter"/>
              </a:rPr>
              <a:t> menampilkan saldo</a:t>
            </a:r>
          </a:p>
          <a:p>
            <a:pPr marL="182880" indent="-182880" algn="l">
              <a:lnSpc>
                <a:spcPct val="115000"/>
              </a:lnSpc>
              <a:spcAft>
                <a:spcPts val="400"/>
              </a:spcAft>
              <a:buClr>
                <a:srgbClr val="E0764F"/>
              </a:buClr>
              <a:buSzPct val="100000"/>
              <a:buFont typeface="Arial"/>
              <a:buChar char="•"/>
            </a:pPr>
            <a:r>
              <a:rPr sz="950" b="0" i="0">
                <a:solidFill>
                  <a:srgbClr val="B5482A"/>
                </a:solidFill>
                <a:latin typeface="Inconsolata"/>
              </a:rPr>
              <a:t>OrderService</a:t>
            </a:r>
            <a:r>
              <a:rPr sz="950" b="0" i="0">
                <a:solidFill>
                  <a:srgbClr val="434343"/>
                </a:solidFill>
                <a:latin typeface="Inter"/>
              </a:rPr>
              <a:t> tidak diubah, </a:t>
            </a:r>
            <a:r>
              <a:rPr sz="950" b="0" i="0">
                <a:solidFill>
                  <a:srgbClr val="B5482A"/>
                </a:solidFill>
                <a:latin typeface="Inconsolata"/>
              </a:rPr>
              <a:t>pytest</a:t>
            </a:r>
            <a:r>
              <a:rPr sz="950" b="0" i="0">
                <a:solidFill>
                  <a:srgbClr val="434343"/>
                </a:solidFill>
                <a:latin typeface="Inter"/>
              </a:rPr>
              <a:t> hijau</a:t>
            </a:r>
          </a:p>
        </p:txBody>
      </p:sp>
      <p:pic>
        <p:nvPicPr>
          <p:cNvPr id="25" name="Image 6" descr="s08-case-pytest.png"/>
          <p:cNvPicPr>
            <a:picLocks noChangeAspect="1"/>
          </p:cNvPicPr>
          <p:nvPr/>
        </p:nvPicPr>
        <p:blipFill>
          <a:blip r:embed="rId2"/>
          <a:stretch>
            <a:fillRect/>
          </a:stretch>
        </p:blipFill>
        <p:spPr>
          <a:xfrm>
            <a:off x="4709160" y="1481328"/>
            <a:ext cx="1986455" cy="2880360"/>
          </a:xfrm>
          <a:prstGeom prst="rect">
            <a:avLst/>
          </a:prstGeom>
          <a:ln w="9525">
            <a:solidFill>
              <a:srgbClr val="D0D5DD"/>
            </a:solidFill>
          </a:ln>
        </p:spPr>
      </p:pic>
      <p:sp>
        <p:nvSpPr>
          <p:cNvPr id="26" name="Text 7"/>
          <p:cNvSpPr txBox="1"/>
          <p:nvPr/>
        </p:nvSpPr>
        <p:spPr>
          <a:xfrm>
            <a:off x="4709160" y="4434840"/>
            <a:ext cx="3776472" cy="274320"/>
          </a:xfrm>
          <a:prstGeom prst="rect">
            <a:avLst/>
          </a:prstGeom>
          <a:noFill/>
        </p:spPr>
        <p:txBody>
          <a:bodyPr wrap="square" lIns="45720" rIns="45720" anchor="t">
            <a:spAutoFit/>
          </a:bodyPr>
          <a:lstStyle/>
          <a:p>
            <a:pPr algn="l">
              <a:lnSpc>
                <a:spcPct val="115000"/>
              </a:lnSpc>
              <a:spcAft>
                <a:spcPts val="400"/>
              </a:spcAft>
            </a:pPr>
            <a:r>
              <a:rPr sz="900" b="0" i="0">
                <a:solidFill>
                  <a:srgbClr val="7A7A7A"/>
                </a:solidFill>
                <a:latin typeface="Inter"/>
              </a:rPr>
              <a:t>Output </a:t>
            </a:r>
            <a:r>
              <a:rPr sz="900" b="0" i="0">
                <a:solidFill>
                  <a:srgbClr val="B5482A"/>
                </a:solidFill>
                <a:latin typeface="Inconsolata"/>
              </a:rPr>
              <a:t>pytest -v</a:t>
            </a:r>
            <a:r>
              <a:rPr sz="900" b="0" i="0">
                <a:solidFill>
                  <a:srgbClr val="7A7A7A"/>
                </a:solidFill>
                <a:latin typeface="Inter"/>
              </a:rPr>
              <a:t>: 47 passed.</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Penutup</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Rangkuman</a:t>
            </a:r>
          </a:p>
        </p:txBody>
      </p:sp>
      <p:sp>
        <p:nvSpPr>
          <p:cNvPr id="22" name="Box 3"/>
          <p:cNvSpPr/>
          <p:nvPr/>
        </p:nvSpPr>
        <p:spPr>
          <a:xfrm>
            <a:off x="621792" y="155448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Text 4"/>
          <p:cNvSpPr txBox="1"/>
          <p:nvPr/>
        </p:nvSpPr>
        <p:spPr>
          <a:xfrm>
            <a:off x="758952" y="164592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Sync vs Async</a:t>
            </a:r>
          </a:p>
        </p:txBody>
      </p:sp>
      <p:sp>
        <p:nvSpPr>
          <p:cNvPr id="24" name="Text 5"/>
          <p:cNvSpPr txBox="1"/>
          <p:nvPr/>
        </p:nvSpPr>
        <p:spPr>
          <a:xfrm>
            <a:off x="758952" y="196596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Sync jika butuh jawaban saat itu juga, async untuk proses yang boleh menyusul</a:t>
            </a:r>
          </a:p>
        </p:txBody>
      </p:sp>
      <p:sp>
        <p:nvSpPr>
          <p:cNvPr id="25" name="Box 6"/>
          <p:cNvSpPr/>
          <p:nvPr/>
        </p:nvSpPr>
        <p:spPr>
          <a:xfrm>
            <a:off x="3291840" y="155448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6" name="Text 7"/>
          <p:cNvSpPr txBox="1"/>
          <p:nvPr/>
        </p:nvSpPr>
        <p:spPr>
          <a:xfrm>
            <a:off x="3429000" y="164592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Exchange &amp; Binding</a:t>
            </a:r>
          </a:p>
        </p:txBody>
      </p:sp>
      <p:sp>
        <p:nvSpPr>
          <p:cNvPr id="27" name="Text 8"/>
          <p:cNvSpPr txBox="1"/>
          <p:nvPr/>
        </p:nvSpPr>
        <p:spPr>
          <a:xfrm>
            <a:off x="3429000" y="196596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Producer kirim ke exchange, consumer memilih event lewat binding</a:t>
            </a:r>
          </a:p>
        </p:txBody>
      </p:sp>
      <p:sp>
        <p:nvSpPr>
          <p:cNvPr id="28" name="Box 9"/>
          <p:cNvSpPr/>
          <p:nvPr/>
        </p:nvSpPr>
        <p:spPr>
          <a:xfrm>
            <a:off x="5961888" y="155448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Text 10"/>
          <p:cNvSpPr txBox="1"/>
          <p:nvPr/>
        </p:nvSpPr>
        <p:spPr>
          <a:xfrm>
            <a:off x="6099048" y="164592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Ack &amp; Prefetch</a:t>
            </a:r>
          </a:p>
        </p:txBody>
      </p:sp>
      <p:sp>
        <p:nvSpPr>
          <p:cNvPr id="30" name="Text 11"/>
          <p:cNvSpPr txBox="1"/>
          <p:nvPr/>
        </p:nvSpPr>
        <p:spPr>
          <a:xfrm>
            <a:off x="6099048" y="196596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Ack setelah proses selesai, supaya pesan tidak hilang</a:t>
            </a:r>
          </a:p>
        </p:txBody>
      </p:sp>
      <p:sp>
        <p:nvSpPr>
          <p:cNvPr id="31" name="Box 12"/>
          <p:cNvSpPr/>
          <p:nvPr/>
        </p:nvSpPr>
        <p:spPr>
          <a:xfrm>
            <a:off x="621792" y="310896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Text 13"/>
          <p:cNvSpPr txBox="1"/>
          <p:nvPr/>
        </p:nvSpPr>
        <p:spPr>
          <a:xfrm>
            <a:off x="758952" y="320040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Retry &amp; DLQ</a:t>
            </a:r>
          </a:p>
        </p:txBody>
      </p:sp>
      <p:sp>
        <p:nvSpPr>
          <p:cNvPr id="33" name="Text 14"/>
          <p:cNvSpPr txBox="1"/>
          <p:nvPr/>
        </p:nvSpPr>
        <p:spPr>
          <a:xfrm>
            <a:off x="758952" y="352044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Retry dengan jeda untuk error sementara, pesan rusak ke DLQ</a:t>
            </a:r>
          </a:p>
        </p:txBody>
      </p:sp>
      <p:sp>
        <p:nvSpPr>
          <p:cNvPr id="34" name="Box 15"/>
          <p:cNvSpPr/>
          <p:nvPr/>
        </p:nvSpPr>
        <p:spPr>
          <a:xfrm>
            <a:off x="3291840" y="310896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Text 16"/>
          <p:cNvSpPr txBox="1"/>
          <p:nvPr/>
        </p:nvSpPr>
        <p:spPr>
          <a:xfrm>
            <a:off x="3429000" y="320040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Idempotent Consumer</a:t>
            </a:r>
          </a:p>
        </p:txBody>
      </p:sp>
      <p:sp>
        <p:nvSpPr>
          <p:cNvPr id="36" name="Text 17"/>
          <p:cNvSpPr txBox="1"/>
          <p:nvPr/>
        </p:nvSpPr>
        <p:spPr>
          <a:xfrm>
            <a:off x="3429000" y="352044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Catat event_id dalam transaksi yang sama</a:t>
            </a:r>
          </a:p>
        </p:txBody>
      </p:sp>
      <p:sp>
        <p:nvSpPr>
          <p:cNvPr id="37" name="Box 18"/>
          <p:cNvSpPr/>
          <p:nvPr/>
        </p:nvSpPr>
        <p:spPr>
          <a:xfrm>
            <a:off x="5961888" y="310896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8" name="Text 19"/>
          <p:cNvSpPr txBox="1"/>
          <p:nvPr/>
        </p:nvSpPr>
        <p:spPr>
          <a:xfrm>
            <a:off x="6099048" y="320040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Kafka</a:t>
            </a:r>
          </a:p>
        </p:txBody>
      </p:sp>
      <p:sp>
        <p:nvSpPr>
          <p:cNvPr id="39" name="Text 20"/>
          <p:cNvSpPr txBox="1"/>
          <p:nvPr/>
        </p:nvSpPr>
        <p:spPr>
          <a:xfrm>
            <a:off x="6099048" y="352044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Log event yang bisa dibaca ulang, urut per partition</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pic>
        <p:nvPicPr>
          <p:cNvPr id="253" name="Google Shape;253;g2907dbd8723_0_0"/>
          <p:cNvPicPr preferRelativeResize="0"/>
          <p:nvPr/>
        </p:nvPicPr>
        <p:blipFill rotWithShape="1">
          <a:blip r:embed="rId3">
            <a:alphaModFix/>
          </a:blip>
          <a:srcRect/>
          <a:stretch/>
        </p:blipFill>
        <p:spPr>
          <a:xfrm>
            <a:off x="2843401" y="4399825"/>
            <a:ext cx="244986" cy="201168"/>
          </a:xfrm>
          <a:prstGeom prst="rect">
            <a:avLst/>
          </a:prstGeom>
          <a:noFill/>
          <a:ln>
            <a:noFill/>
          </a:ln>
        </p:spPr>
      </p:pic>
      <p:sp>
        <p:nvSpPr>
          <p:cNvPr id="254" name="Google Shape;254;g2907dbd8723_0_0"/>
          <p:cNvSpPr txBox="1"/>
          <p:nvPr/>
        </p:nvSpPr>
        <p:spPr>
          <a:xfrm>
            <a:off x="843350" y="1097280"/>
            <a:ext cx="4977000" cy="6348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7200"/>
              <a:buFont typeface="Arial"/>
              <a:buNone/>
            </a:pPr>
            <a:r>
              <a:rPr lang="en" sz="3000" b="0" i="0" u="none" strike="noStrike" cap="none">
                <a:solidFill>
                  <a:srgbClr val="FFFFFF"/>
                </a:solidFill>
                <a:latin typeface="Work Sans ExtraBold"/>
                <a:ea typeface="Work Sans ExtraBold"/>
                <a:cs typeface="Work Sans ExtraBold"/>
                <a:sym typeface="Work Sans ExtraBold"/>
              </a:rPr>
              <a:t>Source Code</a:t>
            </a:r>
            <a:endParaRPr sz="3000" b="0" i="0" u="none" strike="noStrike" cap="none">
              <a:solidFill>
                <a:srgbClr val="FFFFFF"/>
              </a:solidFill>
              <a:latin typeface="Work Sans ExtraBold"/>
              <a:ea typeface="Work Sans ExtraBold"/>
              <a:cs typeface="Work Sans ExtraBold"/>
              <a:sym typeface="Work Sans ExtraBold"/>
            </a:endParaRPr>
          </a:p>
        </p:txBody>
      </p:sp>
      <p:sp>
        <p:nvSpPr>
          <p:cNvPr id="255" name="Google Shape;255;g2907dbd8723_0_0"/>
          <p:cNvSpPr txBox="1"/>
          <p:nvPr/>
        </p:nvSpPr>
        <p:spPr>
          <a:xfrm>
            <a:off x="1230650" y="1934520"/>
            <a:ext cx="1920240" cy="451500"/>
          </a:xfrm>
          <a:prstGeom prst="rect">
            <a:avLst/>
          </a:prstGeom>
          <a:noFill/>
          <a:ln>
            <a:noFill/>
          </a:ln>
        </p:spPr>
        <p:txBody>
          <a:bodyPr spcFirstLastPara="1" wrap="none" lIns="91425" tIns="91425" rIns="91425" bIns="91425"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1300" b="1" i="0" u="none" strike="noStrike" cap="none">
                <a:solidFill>
                  <a:srgbClr val="FFFFFF"/>
                </a:solidFill>
                <a:latin typeface="Inter"/>
                <a:ea typeface="Inter"/>
                <a:cs typeface="Inter"/>
                <a:sym typeface="Inter"/>
              </a:rPr>
              <a:t>Sesi 8</a:t>
            </a:r>
            <a:endParaRPr sz="1500" b="0" i="1" u="none" strike="noStrike" cap="none">
              <a:solidFill>
                <a:srgbClr val="000000"/>
              </a:solidFill>
              <a:latin typeface="Inter"/>
              <a:ea typeface="Inter"/>
              <a:cs typeface="Inter"/>
              <a:sym typeface="Inter"/>
            </a:endParaRPr>
          </a:p>
        </p:txBody>
      </p:sp>
      <p:sp>
        <p:nvSpPr>
          <p:cNvPr id="256" name="Google Shape;256;g2907dbd8723_0_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77</a:t>
            </a:fld>
            <a:endParaRPr/>
          </a:p>
        </p:txBody>
      </p:sp>
      <p:pic>
        <p:nvPicPr>
          <p:cNvPr id="257" name="Google Shape;257;g2907dbd8723_0_0"/>
          <p:cNvPicPr preferRelativeResize="0"/>
          <p:nvPr/>
        </p:nvPicPr>
        <p:blipFill rotWithShape="1">
          <a:blip r:embed="rId4">
            <a:alphaModFix/>
          </a:blip>
          <a:srcRect/>
          <a:stretch/>
        </p:blipFill>
        <p:spPr>
          <a:xfrm>
            <a:off x="4654775" y="4399825"/>
            <a:ext cx="284713" cy="201168"/>
          </a:xfrm>
          <a:prstGeom prst="rect">
            <a:avLst/>
          </a:prstGeom>
          <a:noFill/>
          <a:ln>
            <a:noFill/>
          </a:ln>
        </p:spPr>
      </p:pic>
      <p:pic>
        <p:nvPicPr>
          <p:cNvPr id="258" name="Google Shape;258;g2907dbd8723_0_0"/>
          <p:cNvPicPr preferRelativeResize="0"/>
          <p:nvPr/>
        </p:nvPicPr>
        <p:blipFill rotWithShape="1">
          <a:blip r:embed="rId5">
            <a:alphaModFix/>
          </a:blip>
          <a:srcRect/>
          <a:stretch/>
        </p:blipFill>
        <p:spPr>
          <a:xfrm>
            <a:off x="6505899" y="4399825"/>
            <a:ext cx="198637" cy="201168"/>
          </a:xfrm>
          <a:prstGeom prst="rect">
            <a:avLst/>
          </a:prstGeom>
          <a:noFill/>
          <a:ln>
            <a:noFill/>
          </a:ln>
        </p:spPr>
      </p:pic>
      <p:pic>
        <p:nvPicPr>
          <p:cNvPr id="259" name="Google Shape;259;g2907dbd8723_0_0"/>
          <p:cNvPicPr preferRelativeResize="0"/>
          <p:nvPr/>
        </p:nvPicPr>
        <p:blipFill rotWithShape="1">
          <a:blip r:embed="rId6">
            <a:alphaModFix/>
          </a:blip>
          <a:srcRect/>
          <a:stretch/>
        </p:blipFill>
        <p:spPr>
          <a:xfrm>
            <a:off x="1028695" y="4399825"/>
            <a:ext cx="201948" cy="201168"/>
          </a:xfrm>
          <a:prstGeom prst="rect">
            <a:avLst/>
          </a:prstGeom>
          <a:noFill/>
          <a:ln>
            <a:noFill/>
          </a:ln>
        </p:spPr>
      </p:pic>
      <p:sp>
        <p:nvSpPr>
          <p:cNvPr id="260" name="Google Shape;260;g2907dbd8723_0_0"/>
          <p:cNvSpPr txBox="1"/>
          <p:nvPr/>
        </p:nvSpPr>
        <p:spPr>
          <a:xfrm>
            <a:off x="1230650" y="4338863"/>
            <a:ext cx="888900" cy="323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chemeClr val="lt1"/>
                </a:solidFill>
                <a:latin typeface="Inter"/>
                <a:ea typeface="Inter"/>
                <a:cs typeface="Inter"/>
                <a:sym typeface="Inter"/>
              </a:rPr>
              <a:t>Hacktiv8id</a:t>
            </a:r>
            <a:endParaRPr sz="900" b="0" i="0" u="none" strike="noStrike" cap="none">
              <a:solidFill>
                <a:srgbClr val="000000"/>
              </a:solidFill>
              <a:latin typeface="Arial"/>
              <a:ea typeface="Arial"/>
              <a:cs typeface="Arial"/>
              <a:sym typeface="Arial"/>
            </a:endParaRPr>
          </a:p>
        </p:txBody>
      </p:sp>
      <p:sp>
        <p:nvSpPr>
          <p:cNvPr id="261" name="Google Shape;261;g2907dbd8723_0_0"/>
          <p:cNvSpPr txBox="1"/>
          <p:nvPr/>
        </p:nvSpPr>
        <p:spPr>
          <a:xfrm>
            <a:off x="3088375" y="4338863"/>
            <a:ext cx="888900" cy="323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chemeClr val="lt1"/>
                </a:solidFill>
                <a:latin typeface="Inter"/>
                <a:ea typeface="Inter"/>
                <a:cs typeface="Inter"/>
                <a:sym typeface="Inter"/>
              </a:rPr>
              <a:t>Hacktiv8id</a:t>
            </a:r>
            <a:endParaRPr sz="900" b="0" i="0" u="none" strike="noStrike" cap="none">
              <a:solidFill>
                <a:srgbClr val="000000"/>
              </a:solidFill>
              <a:latin typeface="Arial"/>
              <a:ea typeface="Arial"/>
              <a:cs typeface="Arial"/>
              <a:sym typeface="Arial"/>
            </a:endParaRPr>
          </a:p>
        </p:txBody>
      </p:sp>
      <p:sp>
        <p:nvSpPr>
          <p:cNvPr id="262" name="Google Shape;262;g2907dbd8723_0_0"/>
          <p:cNvSpPr txBox="1"/>
          <p:nvPr/>
        </p:nvSpPr>
        <p:spPr>
          <a:xfrm>
            <a:off x="4946100" y="4338863"/>
            <a:ext cx="888900" cy="323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chemeClr val="lt1"/>
                </a:solidFill>
                <a:latin typeface="Inter"/>
                <a:ea typeface="Inter"/>
                <a:cs typeface="Inter"/>
                <a:sym typeface="Inter"/>
              </a:rPr>
              <a:t>Hacktiv8</a:t>
            </a:r>
            <a:endParaRPr sz="900" b="0" i="0" u="none" strike="noStrike" cap="none">
              <a:solidFill>
                <a:srgbClr val="000000"/>
              </a:solidFill>
              <a:latin typeface="Arial"/>
              <a:ea typeface="Arial"/>
              <a:cs typeface="Arial"/>
              <a:sym typeface="Arial"/>
            </a:endParaRPr>
          </a:p>
        </p:txBody>
      </p:sp>
      <p:sp>
        <p:nvSpPr>
          <p:cNvPr id="263" name="Google Shape;263;g2907dbd8723_0_0"/>
          <p:cNvSpPr txBox="1"/>
          <p:nvPr/>
        </p:nvSpPr>
        <p:spPr>
          <a:xfrm>
            <a:off x="6704525" y="4338875"/>
            <a:ext cx="1423500" cy="323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chemeClr val="lt1"/>
                </a:solidFill>
                <a:latin typeface="Inter"/>
                <a:ea typeface="Inter"/>
                <a:cs typeface="Inter"/>
                <a:sym typeface="Inter"/>
              </a:rPr>
              <a:t>Hacktiv8 Indonesia</a:t>
            </a:r>
            <a:endParaRPr sz="900" b="0" i="0" u="none" strike="noStrike" cap="none">
              <a:solidFill>
                <a:srgbClr val="000000"/>
              </a:solidFill>
              <a:latin typeface="Arial"/>
              <a:ea typeface="Arial"/>
              <a:cs typeface="Arial"/>
              <a:sym typeface="Arial"/>
            </a:endParaRPr>
          </a:p>
        </p:txBody>
      </p:sp>
      <p:cxnSp>
        <p:nvCxnSpPr>
          <p:cNvPr id="264" name="Google Shape;264;g2907dbd8723_0_0"/>
          <p:cNvCxnSpPr/>
          <p:nvPr/>
        </p:nvCxnSpPr>
        <p:spPr>
          <a:xfrm>
            <a:off x="3063240" y="2160270"/>
            <a:ext cx="914400" cy="9600"/>
          </a:xfrm>
          <a:prstGeom prst="straightConnector1">
            <a:avLst/>
          </a:prstGeom>
          <a:noFill/>
          <a:ln w="19050" cap="flat" cmpd="sng">
            <a:solidFill>
              <a:srgbClr val="FFF5D8"/>
            </a:solidFill>
            <a:prstDash val="solid"/>
            <a:round/>
            <a:headEnd type="none" w="sm" len="sm"/>
            <a:tailEnd type="none" w="sm" len="sm"/>
          </a:ln>
        </p:spPr>
      </p:cxnSp>
      <p:sp>
        <p:nvSpPr>
          <p:cNvPr id="265" name="Google Shape;265;g2907dbd8723_0_0">
            <a:hlinkClick r:id="rId7"/>
          </p:cNvPr>
          <p:cNvSpPr txBox="1"/>
          <p:nvPr/>
        </p:nvSpPr>
        <p:spPr>
          <a:xfrm>
            <a:off x="4206240" y="1934520"/>
            <a:ext cx="4023360" cy="451500"/>
          </a:xfrm>
          <a:prstGeom prst="rect">
            <a:avLst/>
          </a:prstGeom>
          <a:noFill/>
          <a:ln>
            <a:noFill/>
          </a:ln>
        </p:spPr>
        <p:txBody>
          <a:bodyPr spcFirstLastPara="1" wrap="none" lIns="91425" tIns="91425" rIns="91425" bIns="91425"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1200" b="0" i="1" u="sng" strike="noStrike" cap="none">
                <a:solidFill>
                  <a:schemeClr val="hlink"/>
                </a:solidFill>
                <a:latin typeface="Inter"/>
                <a:ea typeface="Inter"/>
                <a:cs typeface="Inter"/>
                <a:sym typeface="Inter"/>
                <a:hlinkClick r:id="rId8"/>
              </a:rPr>
              <a:t>github.com/bagusedghar/fastapi-intermediate</a:t>
            </a:r>
            <a:endParaRPr sz="1500" b="0" i="1" u="sng" strike="noStrike" cap="none">
              <a:solidFill>
                <a:schemeClr val="lt1"/>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47</TotalTime>
  <Words>12750</Words>
  <Application>Microsoft Office PowerPoint</Application>
  <PresentationFormat>On-screen Show (16:9)</PresentationFormat>
  <Paragraphs>1792</Paragraphs>
  <Slides>77</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77</vt:i4>
      </vt:variant>
    </vt:vector>
  </HeadingPairs>
  <TitlesOfParts>
    <vt:vector size="83" baseType="lpstr">
      <vt:lpstr>Work Sans ExtraBold</vt:lpstr>
      <vt:lpstr>Arial</vt:lpstr>
      <vt:lpstr>Inconsolata</vt:lpstr>
      <vt:lpstr>Work Sans Medium</vt:lpstr>
      <vt:lpstr>Inter</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Bagus Edghar</cp:lastModifiedBy>
  <cp:revision>3</cp:revision>
  <dcterms:modified xsi:type="dcterms:W3CDTF">2026-10-28T19:35:43Z</dcterms:modified>
</cp:coreProperties>
</file>