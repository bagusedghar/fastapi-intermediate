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77" r:id="rId18"/>
    <p:sldId id="278" r:id="rId19"/>
    <p:sldId id="279" r:id="rId20"/>
    <p:sldId id="280" r:id="rId21"/>
    <p:sldId id="281" r:id="rId22"/>
    <p:sldId id="282" r:id="rId23"/>
    <p:sldId id="283" r:id="rId24"/>
    <p:sldId id="284" r:id="rId25"/>
    <p:sldId id="285" r:id="rId17"/>
    <p:sldId id="286" r:id="rId16"/>
    <p:sldId id="287" r:id="rId15"/>
    <p:sldId id="288" r:id="rId14"/>
    <p:sldId id="289" r:id="rId13"/>
    <p:sldId id="290" r:id="rId12"/>
    <p:sldId id="291" r:id="rId11"/>
    <p:sldId id="292" r:id="rId10"/>
    <p:sldId id="293" r:id="rId9"/>
    <p:sldId id="294" r:id="rId8"/>
    <p:sldId id="295" r:id="rId36"/>
    <p:sldId id="296" r:id="rId37"/>
    <p:sldId id="297" r:id="rId38"/>
    <p:sldId id="298" r:id="rId39"/>
    <p:sldId id="299" r:id="rId40"/>
    <p:sldId id="300" r:id="rId41"/>
    <p:sldId id="301"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 id="319" r:id="rId60"/>
    <p:sldId id="320" r:id="rId61"/>
    <p:sldId id="321" r:id="rId62"/>
    <p:sldId id="322" r:id="rId63"/>
    <p:sldId id="323" r:id="rId64"/>
    <p:sldId id="324" r:id="rId65"/>
    <p:sldId id="325" r:id="rId66"/>
    <p:sldId id="326" r:id="rId67"/>
    <p:sldId id="327" r:id="rId68"/>
    <p:sldId id="328" r:id="rId69"/>
    <p:sldId id="329" r:id="rId70"/>
    <p:sldId id="330" r:id="rId71"/>
    <p:sldId id="331" r:id="rId72"/>
    <p:sldId id="332" r:id="rId73"/>
    <p:sldId id="333" r:id="rId74"/>
    <p:sldId id="334" r:id="rId75"/>
    <p:sldId id="335" r:id="rId76"/>
    <p:sldId id="336" r:id="rId77"/>
    <p:sldId id="337" r:id="rId78"/>
    <p:sldId id="338" r:id="rId79"/>
    <p:sldId id="339" r:id="rId80"/>
    <p:sldId id="340" r:id="rId81"/>
    <p:sldId id="341" r:id="rId82"/>
    <p:sldId id="342" r:id="rId83"/>
    <p:sldId id="343" r:id="rId84"/>
    <p:sldId id="276" r:id="rId26"/>
  </p:sldIdLst>
  <p:sldSz cy="5143500" cx="9144000"/>
  <p:notesSz cx="6858000" cy="9144000"/>
  <p:embeddedFontLst>
    <p:embeddedFont>
      <p:font typeface="Inter"/>
      <p:regular r:id="rId27"/>
      <p:bold r:id="rId28"/>
    </p:embeddedFont>
    <p:embeddedFont>
      <p:font typeface="Work Sans Medium"/>
      <p:regular r:id="rId29"/>
      <p:bold r:id="rId30"/>
      <p:italic r:id="rId31"/>
      <p:boldItalic r:id="rId32"/>
    </p:embeddedFont>
    <p:embeddedFont>
      <p:font typeface="Work Sans ExtraBold"/>
      <p:bold r:id="rId33"/>
      <p:boldItalic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http://customooxmlschemas.google.com/">
      <go:slidesCustomData xmlns:go="http://customooxmlschemas.google.com/" r:id="rId35" roundtripDataSignature="AMtx7misuxx245f/qKiEmR3PX6YRe0tIP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20.xml"/><Relationship Id="rId9" Type="http://schemas.openxmlformats.org/officeDocument/2006/relationships/slide" Target="slides/slide19.xml"/><Relationship Id="rId10" Type="http://schemas.openxmlformats.org/officeDocument/2006/relationships/slide" Target="slides/slide18.xml"/><Relationship Id="rId11" Type="http://schemas.openxmlformats.org/officeDocument/2006/relationships/slide" Target="slides/slide17.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13.xml"/><Relationship Id="rId16" Type="http://schemas.openxmlformats.org/officeDocument/2006/relationships/slide" Target="slides/slide12.xml"/><Relationship Id="rId17" Type="http://schemas.openxmlformats.org/officeDocument/2006/relationships/slide" Target="slides/slide1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70.xml"/><Relationship Id="rId27" Type="http://schemas.openxmlformats.org/officeDocument/2006/relationships/font" Target="fonts/Inter-regular.fntdata"/><Relationship Id="rId28" Type="http://schemas.openxmlformats.org/officeDocument/2006/relationships/font" Target="fonts/Inter-bold.fntdata"/><Relationship Id="rId29" Type="http://schemas.openxmlformats.org/officeDocument/2006/relationships/font" Target="fonts/WorkSansMedium-regular.fntdata"/><Relationship Id="rId30" Type="http://schemas.openxmlformats.org/officeDocument/2006/relationships/font" Target="fonts/WorkSansMedium-bold.fntdata"/><Relationship Id="rId31" Type="http://schemas.openxmlformats.org/officeDocument/2006/relationships/font" Target="fonts/WorkSansMedium-italic.fntdata"/><Relationship Id="rId32" Type="http://schemas.openxmlformats.org/officeDocument/2006/relationships/font" Target="fonts/WorkSansMedium-boldItalic.fntdata"/><Relationship Id="rId33" Type="http://schemas.openxmlformats.org/officeDocument/2006/relationships/font" Target="fonts/WorkSansExtraBold-bold.fntdata"/><Relationship Id="rId34" Type="http://schemas.openxmlformats.org/officeDocument/2006/relationships/font" Target="fonts/WorkSansExtraBold-boldItalic.fntdata"/><Relationship Id="rId35" Type="http://customschemas.google.com/relationships/presentationmetadata" Target="metadata"/><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 Id="rId83" Type="http://schemas.openxmlformats.org/officeDocument/2006/relationships/slide" Target="slides/slide68.xml"/><Relationship Id="rId84"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2" name="Google Shape;8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2442ffe4c8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 name="Google Shape;89;g2442ffe4c8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Peserta hands-on bersama mentor, jawaban sudah ada di folder after/.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2907dbd872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1" name="Google Shape;251;g2907dbd872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b="0" l="0" r="0" t="0"/>
          <a:stretch/>
        </p:blipFill>
        <p:spPr>
          <a:xfrm>
            <a:off x="-7200" y="-15150"/>
            <a:ext cx="9190446" cy="5169626"/>
          </a:xfrm>
          <a:prstGeom prst="rect">
            <a:avLst/>
          </a:prstGeom>
          <a:noFill/>
          <a:ln>
            <a:noFill/>
          </a:ln>
        </p:spPr>
      </p:pic>
      <p:sp>
        <p:nvSpPr>
          <p:cNvPr id="11" name="Google Shape;11;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b="0" l="0" r="0" t="0"/>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b="0" l="0" r="0" t="0"/>
          <a:stretch/>
        </p:blipFill>
        <p:spPr>
          <a:xfrm>
            <a:off x="0" y="-1"/>
            <a:ext cx="9144003" cy="5143504"/>
          </a:xfrm>
          <a:prstGeom prst="rect">
            <a:avLst/>
          </a:prstGeom>
          <a:noFill/>
          <a:ln>
            <a:noFill/>
          </a:ln>
        </p:spPr>
      </p:pic>
      <p:sp>
        <p:nvSpPr>
          <p:cNvPr id="15" name="Google Shape;15;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b="0" l="0" r="0" t="0"/>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3">
    <p:spTree>
      <p:nvGrpSpPr>
        <p:cNvPr id="17"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b="0" l="0" r="0" t="0"/>
          <a:stretch/>
        </p:blipFill>
        <p:spPr>
          <a:xfrm>
            <a:off x="0" y="-1"/>
            <a:ext cx="9206026" cy="5178401"/>
          </a:xfrm>
          <a:prstGeom prst="rect">
            <a:avLst/>
          </a:prstGeom>
          <a:noFill/>
          <a:ln>
            <a:noFill/>
          </a:ln>
        </p:spPr>
      </p:pic>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b="0" l="0" r="0" t="0"/>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1">
  <p:cSld name="TITLE_2_1_1">
    <p:spTree>
      <p:nvGrpSpPr>
        <p:cNvPr id="21" name="Shape 21"/>
        <p:cNvGrpSpPr/>
        <p:nvPr/>
      </p:nvGrpSpPr>
      <p:grpSpPr>
        <a:xfrm>
          <a:off x="0" y="0"/>
          <a:ext cx="0" cy="0"/>
          <a:chOff x="0" y="0"/>
          <a:chExt cx="0" cy="0"/>
        </a:xfrm>
      </p:grpSpPr>
      <p:sp>
        <p:nvSpPr>
          <p:cNvPr id="22" name="Google Shape;22;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b="0" l="-11869" r="-10498" t="0"/>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b="0" l="0" r="0" t="0"/>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SECTION_HEADER_4">
    <p:spTree>
      <p:nvGrpSpPr>
        <p:cNvPr id="25"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b="0" l="0" r="0" t="0"/>
          <a:stretch/>
        </p:blipFill>
        <p:spPr>
          <a:xfrm>
            <a:off x="0" y="-1"/>
            <a:ext cx="9143992" cy="5143501"/>
          </a:xfrm>
          <a:prstGeom prst="rect">
            <a:avLst/>
          </a:prstGeom>
          <a:noFill/>
          <a:ln>
            <a:noFill/>
          </a:ln>
        </p:spPr>
      </p:pic>
      <p:sp>
        <p:nvSpPr>
          <p:cNvPr id="27" name="Google Shape;27;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b="0" l="0" r="0" t="0"/>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_2_1">
    <p:spTree>
      <p:nvGrpSpPr>
        <p:cNvPr id="29" name="Shape 29"/>
        <p:cNvGrpSpPr/>
        <p:nvPr/>
      </p:nvGrpSpPr>
      <p:grpSpPr>
        <a:xfrm>
          <a:off x="0" y="0"/>
          <a:ext cx="0" cy="0"/>
          <a:chOff x="0" y="0"/>
          <a:chExt cx="0" cy="0"/>
        </a:xfrm>
      </p:grpSpPr>
      <p:sp>
        <p:nvSpPr>
          <p:cNvPr id="30" name="Google Shape;30;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b="0" l="0" r="0" t="0"/>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b="0" l="-11869" r="-10498" t="0"/>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spTree>
      <p:nvGrpSpPr>
        <p:cNvPr id="33"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b="0" l="0" r="0" t="0"/>
          <a:stretch/>
        </p:blipFill>
        <p:spPr>
          <a:xfrm>
            <a:off x="-14350" y="-6375"/>
            <a:ext cx="9160668" cy="5152876"/>
          </a:xfrm>
          <a:prstGeom prst="rect">
            <a:avLst/>
          </a:prstGeom>
          <a:noFill/>
          <a:ln>
            <a:noFill/>
          </a:ln>
        </p:spPr>
      </p:pic>
      <p:sp>
        <p:nvSpPr>
          <p:cNvPr id="35" name="Google Shape;35;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b="0" l="-11869" r="-10498" t="0"/>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7" name="Shape 37"/>
        <p:cNvGrpSpPr/>
        <p:nvPr/>
      </p:nvGrpSpPr>
      <p:grpSpPr>
        <a:xfrm>
          <a:off x="0" y="0"/>
          <a:ext cx="0" cy="0"/>
          <a:chOff x="0" y="0"/>
          <a:chExt cx="0" cy="0"/>
        </a:xfrm>
      </p:grpSpPr>
      <p:sp>
        <p:nvSpPr>
          <p:cNvPr id="38" name="Google Shape;38;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9" name="Google Shape;39;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1" name="Shape 41"/>
        <p:cNvGrpSpPr/>
        <p:nvPr/>
      </p:nvGrpSpPr>
      <p:grpSpPr>
        <a:xfrm>
          <a:off x="0" y="0"/>
          <a:ext cx="0" cy="0"/>
          <a:chOff x="0" y="0"/>
          <a:chExt cx="0" cy="0"/>
        </a:xfrm>
      </p:grpSpPr>
      <p:sp>
        <p:nvSpPr>
          <p:cNvPr id="42" name="Google Shape;42;p5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3" name="Google Shape;43;p51"/>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4" name="Google Shape;44;p51"/>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5" name="Google Shape;45;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6" name="Shape 46"/>
        <p:cNvGrpSpPr/>
        <p:nvPr/>
      </p:nvGrpSpPr>
      <p:grpSpPr>
        <a:xfrm>
          <a:off x="0" y="0"/>
          <a:ext cx="0" cy="0"/>
          <a:chOff x="0" y="0"/>
          <a:chExt cx="0" cy="0"/>
        </a:xfrm>
      </p:grpSpPr>
      <p:sp>
        <p:nvSpPr>
          <p:cNvPr id="47" name="Google Shape;47;p5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8" name="Google Shape;48;p5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9" name="Shape 49"/>
        <p:cNvGrpSpPr/>
        <p:nvPr/>
      </p:nvGrpSpPr>
      <p:grpSpPr>
        <a:xfrm>
          <a:off x="0" y="0"/>
          <a:ext cx="0" cy="0"/>
          <a:chOff x="0" y="0"/>
          <a:chExt cx="0" cy="0"/>
        </a:xfrm>
      </p:grpSpPr>
      <p:sp>
        <p:nvSpPr>
          <p:cNvPr id="50" name="Google Shape;50;p5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51" name="Google Shape;51;p5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 name="Google Shape;52;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3" name="Shape 53"/>
        <p:cNvGrpSpPr/>
        <p:nvPr/>
      </p:nvGrpSpPr>
      <p:grpSpPr>
        <a:xfrm>
          <a:off x="0" y="0"/>
          <a:ext cx="0" cy="0"/>
          <a:chOff x="0" y="0"/>
          <a:chExt cx="0" cy="0"/>
        </a:xfrm>
      </p:grpSpPr>
      <p:sp>
        <p:nvSpPr>
          <p:cNvPr id="54" name="Google Shape;54;p54"/>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55" name="Google Shape;55;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6"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55"/>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59" name="Google Shape;59;p55"/>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60" name="Google Shape;60;p55"/>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1" name="Google Shape;61;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sp>
        <p:nvSpPr>
          <p:cNvPr id="63" name="Google Shape;63;p56"/>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64" name="Google Shape;64;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5" name="Shape 65"/>
        <p:cNvGrpSpPr/>
        <p:nvPr/>
      </p:nvGrpSpPr>
      <p:grpSpPr>
        <a:xfrm>
          <a:off x="0" y="0"/>
          <a:ext cx="0" cy="0"/>
          <a:chOff x="0" y="0"/>
          <a:chExt cx="0" cy="0"/>
        </a:xfrm>
      </p:grpSpPr>
      <p:sp>
        <p:nvSpPr>
          <p:cNvPr id="66" name="Google Shape;66;p57"/>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68" name="Google Shape;68;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9" name="Shape 69"/>
        <p:cNvGrpSpPr/>
        <p:nvPr/>
      </p:nvGrpSpPr>
      <p:grpSpPr>
        <a:xfrm>
          <a:off x="0" y="0"/>
          <a:ext cx="0" cy="0"/>
          <a:chOff x="0" y="0"/>
          <a:chExt cx="0" cy="0"/>
        </a:xfrm>
      </p:grpSpPr>
      <p:sp>
        <p:nvSpPr>
          <p:cNvPr id="70" name="Google Shape;70;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71" name="Shape 71"/>
        <p:cNvGrpSpPr/>
        <p:nvPr/>
      </p:nvGrpSpPr>
      <p:grpSpPr>
        <a:xfrm>
          <a:off x="0" y="0"/>
          <a:ext cx="0" cy="0"/>
          <a:chOff x="0" y="0"/>
          <a:chExt cx="0" cy="0"/>
        </a:xfrm>
      </p:grpSpPr>
      <p:sp>
        <p:nvSpPr>
          <p:cNvPr id="72" name="Google Shape;72;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cap="flat" cmpd="sng" w="9525">
            <a:solidFill>
              <a:srgbClr val="FFFFFF"/>
            </a:solidFill>
            <a:prstDash val="solid"/>
            <a:round/>
            <a:headEnd len="sm" w="sm" type="none"/>
            <a:tailEnd len="sm" w="sm"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1">
  <p:cSld name="TITLE_1_1">
    <p:spTree>
      <p:nvGrpSpPr>
        <p:cNvPr id="74" name="Shape 74"/>
        <p:cNvGrpSpPr/>
        <p:nvPr/>
      </p:nvGrpSpPr>
      <p:grpSpPr>
        <a:xfrm>
          <a:off x="0" y="0"/>
          <a:ext cx="0" cy="0"/>
          <a:chOff x="0" y="0"/>
          <a:chExt cx="0" cy="0"/>
        </a:xfrm>
      </p:grpSpPr>
      <p:sp>
        <p:nvSpPr>
          <p:cNvPr id="75" name="Google Shape;7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cap="flat" cmpd="sng" w="9525">
            <a:solidFill>
              <a:srgbClr val="FFFFFF"/>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2">
    <p:spTree>
      <p:nvGrpSpPr>
        <p:cNvPr id="77" name="Shape 77"/>
        <p:cNvGrpSpPr/>
        <p:nvPr/>
      </p:nvGrpSpPr>
      <p:grpSpPr>
        <a:xfrm>
          <a:off x="0" y="0"/>
          <a:ext cx="0" cy="0"/>
          <a:chOff x="0" y="0"/>
          <a:chExt cx="0" cy="0"/>
        </a:xfrm>
      </p:grpSpPr>
      <p:sp>
        <p:nvSpPr>
          <p:cNvPr id="78" name="Google Shape;78;p6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pic>
        <p:nvPicPr>
          <p:cNvPr id="79" name="Google Shape;79;p61"/>
          <p:cNvPicPr preferRelativeResize="0"/>
          <p:nvPr/>
        </p:nvPicPr>
        <p:blipFill rotWithShape="1">
          <a:blip r:embed="rId2">
            <a:alphaModFix/>
          </a:blip>
          <a:srcRect b="34000" l="0" r="0" t="31469"/>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hyperlink" Target="https://colab.research.google.com/github/FTDS-learning-materials/phase-2/blob/master/w2/P2W2D1PM%20-%20Data%20Ethics%20&amp;%20Data%20Validation.ipynb" TargetMode="External"/><Relationship Id="rId8" Type="http://schemas.openxmlformats.org/officeDocument/2006/relationships/hyperlink" Target="https://github.com/bagusedghar/fastapi-intermediate/tree/main/sesi-01-design-pattern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85" name="Google Shape;85;p5"/>
          <p:cNvSpPr txBox="1"/>
          <p:nvPr/>
        </p:nvSpPr>
        <p:spPr>
          <a:xfrm>
            <a:off x="763050" y="2010750"/>
            <a:ext cx="8258100" cy="11034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Python Design Patterns for Backend</a:t>
            </a:r>
            <a:endParaRPr b="0" i="0" sz="3500" u="none" cap="none" strike="noStrik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1500"/>
              <a:buFont typeface="Arial"/>
              <a:buNone/>
            </a:pPr>
            <a:r>
              <a:rPr b="0" i="0" lang="en" sz="1500" u="none" cap="none" strike="noStrike">
                <a:solidFill>
                  <a:schemeClr val="dk2"/>
                </a:solidFill>
                <a:latin typeface="Work Sans Medium"/>
                <a:ea typeface="Work Sans Medium"/>
                <a:cs typeface="Work Sans Medium"/>
                <a:sym typeface="Work Sans Medium"/>
              </a:rPr>
              <a:t>Intermediate Backend Developer with FastAPI  -  Sesi 1</a:t>
            </a:r>
            <a:endParaRPr b="0" i="0" sz="1500" u="none" cap="none" strike="noStrik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g2442ffe4c8e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en"/>
              <a:t>‹#›</a:t>
            </a:fld>
            <a:endParaRPr/>
          </a:p>
        </p:txBody>
      </p:sp>
      <p:sp>
        <p:nvSpPr>
          <p:cNvPr id="92" name="Google Shape;92;g2442ffe4c8e_0_0"/>
          <p:cNvSpPr txBox="1"/>
          <p:nvPr/>
        </p:nvSpPr>
        <p:spPr>
          <a:xfrm>
            <a:off x="310675" y="249275"/>
            <a:ext cx="44568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300"/>
              <a:buFont typeface="Arial"/>
              <a:buNone/>
            </a:pPr>
            <a:r>
              <a:rPr b="0" i="0" lang="en" sz="2300" u="none" cap="none" strike="noStrike">
                <a:solidFill>
                  <a:srgbClr val="1D3D70"/>
                </a:solidFill>
                <a:latin typeface="Work Sans ExtraBold"/>
                <a:ea typeface="Work Sans ExtraBold"/>
                <a:cs typeface="Work Sans ExtraBold"/>
                <a:sym typeface="Work Sans ExtraBold"/>
              </a:rPr>
              <a:t>Contents</a:t>
            </a:r>
            <a:endParaRPr b="0" i="0" sz="2300" u="none" cap="none" strike="noStrik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anchor="ctr" lIns="45720" rIns="45720">
            <a:spAutoFit/>
          </a:bodyPr>
          <a:lstStyle/>
          <a:p>
            <a:pPr algn="r">
              <a:lnSpc>
                <a:spcPct val="115000"/>
              </a:lnSpc>
              <a:spcAft>
                <a:spcPts val="400"/>
              </a:spcAft>
            </a:pPr>
            <a:r>
              <a:rPr sz="1000" i="0" b="0">
                <a:solidFill>
                  <a:srgbClr val="434343"/>
                </a:solidFill>
                <a:latin typeface="Inter"/>
              </a:rPr>
              <a:t>Empat Pattern Dasar</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anchor="ctr" lIns="45720" rIns="45720">
            <a:spAutoFit/>
          </a:bodyPr>
          <a:lstStyle/>
          <a:p>
            <a:pPr algn="l">
              <a:lnSpc>
                <a:spcPct val="115000"/>
              </a:lnSpc>
              <a:spcAft>
                <a:spcPts val="400"/>
              </a:spcAft>
            </a:pPr>
            <a:r>
              <a:rPr sz="1000" i="1" b="1">
                <a:solidFill>
                  <a:srgbClr val="E0764F"/>
                </a:solidFill>
                <a:latin typeface="Inter"/>
              </a:rPr>
              <a:t>09</a:t>
            </a:r>
          </a:p>
        </p:txBody>
      </p:sp>
      <p:sp>
        <p:nvSpPr>
          <p:cNvPr id="96" name="Text 4"/>
          <p:cNvSpPr txBox="1"/>
          <p:nvPr/>
        </p:nvSpPr>
        <p:spPr>
          <a:xfrm>
            <a:off x="548640" y="1527048"/>
            <a:ext cx="5669280" cy="292608"/>
          </a:xfrm>
          <a:prstGeom prst="rect">
            <a:avLst/>
          </a:prstGeom>
          <a:noFill/>
        </p:spPr>
        <p:txBody>
          <a:bodyPr wrap="square" anchor="ctr" lIns="45720" rIns="45720">
            <a:spAutoFit/>
          </a:bodyPr>
          <a:lstStyle/>
          <a:p>
            <a:pPr algn="r">
              <a:lnSpc>
                <a:spcPct val="115000"/>
              </a:lnSpc>
              <a:spcAft>
                <a:spcPts val="400"/>
              </a:spcAft>
            </a:pPr>
            <a:r>
              <a:rPr sz="1000" i="0" b="0">
                <a:solidFill>
                  <a:srgbClr val="434343"/>
                </a:solidFill>
                <a:latin typeface="Inter"/>
              </a:rPr>
              <a:t>Service Layer</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anchor="ctr" lIns="45720" rIns="45720">
            <a:spAutoFit/>
          </a:bodyPr>
          <a:lstStyle/>
          <a:p>
            <a:pPr algn="l">
              <a:lnSpc>
                <a:spcPct val="115000"/>
              </a:lnSpc>
              <a:spcAft>
                <a:spcPts val="400"/>
              </a:spcAft>
            </a:pPr>
            <a:r>
              <a:rPr sz="1000" i="1" b="1">
                <a:solidFill>
                  <a:srgbClr val="E0764F"/>
                </a:solidFill>
                <a:latin typeface="Inter"/>
              </a:rPr>
              <a:t>46</a:t>
            </a:r>
          </a:p>
        </p:txBody>
      </p:sp>
      <p:sp>
        <p:nvSpPr>
          <p:cNvPr id="99" name="Text 7"/>
          <p:cNvSpPr txBox="1"/>
          <p:nvPr/>
        </p:nvSpPr>
        <p:spPr>
          <a:xfrm>
            <a:off x="548640" y="1911095"/>
            <a:ext cx="5669280" cy="292608"/>
          </a:xfrm>
          <a:prstGeom prst="rect">
            <a:avLst/>
          </a:prstGeom>
          <a:noFill/>
        </p:spPr>
        <p:txBody>
          <a:bodyPr wrap="square" anchor="ctr" lIns="45720" rIns="45720">
            <a:spAutoFit/>
          </a:bodyPr>
          <a:lstStyle/>
          <a:p>
            <a:pPr algn="r">
              <a:lnSpc>
                <a:spcPct val="115000"/>
              </a:lnSpc>
              <a:spcAft>
                <a:spcPts val="400"/>
              </a:spcAft>
            </a:pPr>
            <a:r>
              <a:rPr sz="1000" i="0" b="0">
                <a:solidFill>
                  <a:srgbClr val="434343"/>
                </a:solidFill>
                <a:latin typeface="Inter"/>
              </a:rPr>
              <a:t>Hands-on: Refactor Order API</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anchor="ctr" lIns="45720" rIns="45720">
            <a:spAutoFit/>
          </a:bodyPr>
          <a:lstStyle/>
          <a:p>
            <a:pPr algn="l">
              <a:lnSpc>
                <a:spcPct val="115000"/>
              </a:lnSpc>
              <a:spcAft>
                <a:spcPts val="400"/>
              </a:spcAft>
            </a:pPr>
            <a:r>
              <a:rPr sz="1000" i="1" b="1">
                <a:solidFill>
                  <a:srgbClr val="E0764F"/>
                </a:solidFill>
                <a:latin typeface="Inter"/>
              </a:rPr>
              <a:t>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Sesi 1</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1100" i="0" b="1">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anchor="ctr" lIns="45720" rIns="45720">
            <a:spAutoFit/>
          </a:bodyPr>
          <a:lstStyle/>
          <a:p>
            <a:pPr algn="l">
              <a:lnSpc>
                <a:spcPct val="115000"/>
              </a:lnSpc>
              <a:spcAft>
                <a:spcPts val="400"/>
              </a:spcAft>
            </a:pPr>
            <a:r>
              <a:rPr sz="1200" i="0" b="1">
                <a:solidFill>
                  <a:srgbClr val="1C4587"/>
                </a:solidFill>
                <a:latin typeface="Inter"/>
              </a:rPr>
              <a:t>Membandingkan pattern</a:t>
            </a:r>
          </a:p>
        </p:txBody>
      </p:sp>
      <p:sp>
        <p:nvSpPr>
          <p:cNvPr id="25" name="Text 6"/>
          <p:cNvSpPr txBox="1"/>
          <p:nvPr/>
        </p:nvSpPr>
        <p:spPr>
          <a:xfrm>
            <a:off x="758952" y="2148840"/>
            <a:ext cx="2249424" cy="1371600"/>
          </a:xfrm>
          <a:prstGeom prst="rect">
            <a:avLst/>
          </a:prstGeom>
          <a:noFill/>
        </p:spPr>
        <p:txBody>
          <a:bodyPr wrap="square" anchor="t" lIns="45720" rIns="45720">
            <a:spAutoFit/>
          </a:bodyPr>
          <a:lstStyle/>
          <a:p>
            <a:pPr algn="l">
              <a:lnSpc>
                <a:spcPct val="115000"/>
              </a:lnSpc>
              <a:spcAft>
                <a:spcPts val="400"/>
              </a:spcAft>
            </a:pPr>
            <a:r>
              <a:rPr sz="1050" i="0" b="0">
                <a:solidFill>
                  <a:srgbClr val="434343"/>
                </a:solidFill>
                <a:latin typeface="Inter"/>
              </a:rPr>
              <a:t>Factory, Singleton, Strategy, Repository: kapan dipakai, apa trade-off-nya.</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1100" i="0" b="1">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anchor="ctr" lIns="45720" rIns="45720">
            <a:spAutoFit/>
          </a:bodyPr>
          <a:lstStyle/>
          <a:p>
            <a:pPr algn="l">
              <a:lnSpc>
                <a:spcPct val="115000"/>
              </a:lnSpc>
              <a:spcAft>
                <a:spcPts val="400"/>
              </a:spcAft>
            </a:pPr>
            <a:r>
              <a:rPr sz="1200" i="0" b="1">
                <a:solidFill>
                  <a:srgbClr val="1C4587"/>
                </a:solidFill>
                <a:latin typeface="Inter"/>
              </a:rPr>
              <a:t>Memisahkan logic</a:t>
            </a:r>
          </a:p>
        </p:txBody>
      </p:sp>
      <p:sp>
        <p:nvSpPr>
          <p:cNvPr id="29" name="Text 10"/>
          <p:cNvSpPr txBox="1"/>
          <p:nvPr/>
        </p:nvSpPr>
        <p:spPr>
          <a:xfrm>
            <a:off x="3429000" y="2148840"/>
            <a:ext cx="2249424" cy="1371600"/>
          </a:xfrm>
          <a:prstGeom prst="rect">
            <a:avLst/>
          </a:prstGeom>
          <a:noFill/>
        </p:spPr>
        <p:txBody>
          <a:bodyPr wrap="square" anchor="t" lIns="45720" rIns="45720">
            <a:spAutoFit/>
          </a:bodyPr>
          <a:lstStyle/>
          <a:p>
            <a:pPr algn="l">
              <a:lnSpc>
                <a:spcPct val="115000"/>
              </a:lnSpc>
              <a:spcAft>
                <a:spcPts val="400"/>
              </a:spcAft>
            </a:pPr>
            <a:r>
              <a:rPr sz="1050" i="0" b="0">
                <a:solidFill>
                  <a:srgbClr val="434343"/>
                </a:solidFill>
                <a:latin typeface="Inter"/>
              </a:rPr>
              <a:t>Business logic dipisah dari persistence logic lewat Repository &amp; Service Layer.</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1100" i="0" b="1">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anchor="ctr" lIns="45720" rIns="45720">
            <a:spAutoFit/>
          </a:bodyPr>
          <a:lstStyle/>
          <a:p>
            <a:pPr algn="l">
              <a:lnSpc>
                <a:spcPct val="115000"/>
              </a:lnSpc>
              <a:spcAft>
                <a:spcPts val="400"/>
              </a:spcAft>
            </a:pPr>
            <a:r>
              <a:rPr sz="1200" i="0" b="1">
                <a:solidFill>
                  <a:srgbClr val="1C4587"/>
                </a:solidFill>
                <a:latin typeface="Inter"/>
              </a:rPr>
              <a:t>Refactor FastAPI</a:t>
            </a:r>
          </a:p>
        </p:txBody>
      </p:sp>
      <p:sp>
        <p:nvSpPr>
          <p:cNvPr id="33" name="Text 14"/>
          <p:cNvSpPr txBox="1"/>
          <p:nvPr/>
        </p:nvSpPr>
        <p:spPr>
          <a:xfrm>
            <a:off x="6099048" y="2148840"/>
            <a:ext cx="2249424" cy="1371600"/>
          </a:xfrm>
          <a:prstGeom prst="rect">
            <a:avLst/>
          </a:prstGeom>
          <a:noFill/>
        </p:spPr>
        <p:txBody>
          <a:bodyPr wrap="square" anchor="t" lIns="45720" rIns="45720">
            <a:spAutoFit/>
          </a:bodyPr>
          <a:lstStyle/>
          <a:p>
            <a:pPr algn="l">
              <a:lnSpc>
                <a:spcPct val="115000"/>
              </a:lnSpc>
              <a:spcAft>
                <a:spcPts val="400"/>
              </a:spcAft>
            </a:pPr>
            <a:r>
              <a:rPr sz="1050" i="0" b="0">
                <a:solidFill>
                  <a:srgbClr val="434343"/>
                </a:solidFill>
                <a:latin typeface="Inter"/>
              </a:rPr>
              <a:t>Mengubah modul FastAPI supaya mudah dites, mudah dikembangkan fiturnya, dan mudah dimaintain.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Pada training ini, kita akan memakai satu tema yang sama dari awal sampai akhir, yaitu </a:t>
            </a:r>
            <a:r>
              <a:rPr sz="1000" i="0" b="1">
                <a:solidFill>
                  <a:srgbClr val="434343"/>
                </a:solidFill>
                <a:latin typeface="Inter"/>
              </a:rPr>
              <a:t>Order Management API</a:t>
            </a:r>
            <a:r>
              <a:rPr sz="1000" i="0" b="0">
                <a:solidFill>
                  <a:srgbClr val="434343"/>
                </a:solidFill>
                <a:latin typeface="Inter"/>
              </a:rPr>
              <a:t>: API sederhana untuk menerima order, menghitung diskon, menyimpan data order, dan mengirim notifikasi ke customer.</a:t>
            </a:r>
          </a:p>
          <a:p>
            <a:pPr algn="l">
              <a:lnSpc>
                <a:spcPct val="115000"/>
              </a:lnSpc>
              <a:spcAft>
                <a:spcPts val="0"/>
              </a:spcAft>
            </a:pPr>
            <a:r>
              <a:rPr sz="600"/>
              <a:t/>
            </a:r>
          </a:p>
          <a:p>
            <a:pPr algn="l">
              <a:lnSpc>
                <a:spcPct val="115000"/>
              </a:lnSpc>
              <a:spcAft>
                <a:spcPts val="400"/>
              </a:spcAft>
            </a:pPr>
            <a:r>
              <a:rPr sz="1000" i="0" b="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r>
              <a:rPr sz="600"/>
              <a:t/>
            </a:r>
          </a:p>
          <a:p>
            <a:pPr algn="l">
              <a:lnSpc>
                <a:spcPct val="115000"/>
              </a:lnSpc>
              <a:spcAft>
                <a:spcPts val="400"/>
              </a:spcAft>
            </a:pPr>
            <a:r>
              <a:rPr sz="1000" i="0" b="0">
                <a:solidFill>
                  <a:srgbClr val="434343"/>
                </a:solidFill>
                <a:latin typeface="Inter"/>
              </a:rPr>
              <a:t>Di Sesi 1 (Design Patterns): kode satu file dirapikan: Factory, Singleton, Strategy, Repository, Service Layer.</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anchor="t" lIns="45720" rIns="45720">
            <a:spAutoFit/>
          </a:bodyPr>
          <a:lstStyle/>
          <a:p>
            <a:pPr algn="l">
              <a:lnSpc>
                <a:spcPct val="115000"/>
              </a:lnSpc>
              <a:spcAft>
                <a:spcPts val="400"/>
              </a:spcAft>
            </a:pPr>
            <a:r>
              <a:rPr sz="900" i="0" b="1">
                <a:solidFill>
                  <a:srgbClr val="7A7A7A"/>
                </a:solidFill>
                <a:latin typeface="Inter"/>
              </a:rPr>
              <a:t>Aturan diskon</a:t>
            </a:r>
          </a:p>
          <a:p>
            <a:pPr algn="l">
              <a:lnSpc>
                <a:spcPct val="115000"/>
              </a:lnSpc>
              <a:spcAft>
                <a:spcPts val="400"/>
              </a:spcAft>
            </a:pPr>
            <a:r>
              <a:rPr sz="900" i="0" b="0">
                <a:solidFill>
                  <a:srgbClr val="7A7A7A"/>
                </a:solidFill>
                <a:latin typeface="Inter"/>
              </a:rPr>
              <a:t>regular: 0%</a:t>
            </a:r>
          </a:p>
          <a:p>
            <a:pPr algn="l">
              <a:lnSpc>
                <a:spcPct val="115000"/>
              </a:lnSpc>
              <a:spcAft>
                <a:spcPts val="400"/>
              </a:spcAft>
            </a:pPr>
            <a:r>
              <a:rPr sz="900" i="0" b="0">
                <a:solidFill>
                  <a:srgbClr val="7A7A7A"/>
                </a:solidFill>
                <a:latin typeface="Inter"/>
              </a:rPr>
              <a:t>member: 5%</a:t>
            </a:r>
          </a:p>
          <a:p>
            <a:pPr algn="l">
              <a:lnSpc>
                <a:spcPct val="115000"/>
              </a:lnSpc>
              <a:spcAft>
                <a:spcPts val="400"/>
              </a:spcAft>
            </a:pPr>
            <a:r>
              <a:rPr sz="900" i="0" b="0">
                <a:solidFill>
                  <a:srgbClr val="7A7A7A"/>
                </a:solidFill>
                <a:latin typeface="Inter"/>
              </a:rPr>
              <a:t>vip: 10%</a:t>
            </a:r>
          </a:p>
          <a:p>
            <a:pPr algn="l">
              <a:lnSpc>
                <a:spcPct val="115000"/>
              </a:lnSpc>
              <a:spcAft>
                <a:spcPts val="0"/>
              </a:spcAft>
            </a:pPr>
            <a:r>
              <a:rPr sz="540"/>
              <a:t/>
            </a:r>
          </a:p>
          <a:p>
            <a:pPr algn="l">
              <a:lnSpc>
                <a:spcPct val="115000"/>
              </a:lnSpc>
              <a:spcAft>
                <a:spcPts val="400"/>
              </a:spcAft>
            </a:pPr>
            <a:r>
              <a:rPr sz="900" i="0" b="1">
                <a:solidFill>
                  <a:srgbClr val="7A7A7A"/>
                </a:solidFill>
                <a:latin typeface="Inter"/>
              </a:rPr>
              <a:t>Notifikasi</a:t>
            </a:r>
          </a:p>
          <a:p>
            <a:pPr algn="l">
              <a:lnSpc>
                <a:spcPct val="115000"/>
              </a:lnSpc>
              <a:spcAft>
                <a:spcPts val="400"/>
              </a:spcAft>
            </a:pPr>
            <a:r>
              <a:rPr sz="900" i="0" b="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gridCol w="2057400"/>
                <a:gridCol w="4846320"/>
              </a:tblGrid>
              <a:tr h="233172">
                <a:tc>
                  <a:txBody>
                    <a:bodyPr wrap="square"/>
                    <a:lstStyle/>
                    <a:p>
                      <a:pPr algn="l">
                        <a:lnSpc>
                          <a:spcPct val="100000"/>
                        </a:lnSpc>
                        <a:spcAft>
                          <a:spcPts val="0"/>
                        </a:spcAft>
                      </a:pPr>
                      <a:r>
                        <a:rPr sz="800" i="0" b="1">
                          <a:solidFill>
                            <a:srgbClr val="FFFFFF"/>
                          </a:solidFill>
                          <a:latin typeface="Inter"/>
                        </a:rPr>
                        <a:t>Sesi</a:t>
                      </a:r>
                    </a:p>
                  </a:txBody>
                  <a:tcPr marL="73152" marR="73152" marT="36576" marB="36576" anchor="ctr">
                    <a:solidFill>
                      <a:srgbClr val="1C4587"/>
                    </a:solidFill>
                  </a:tcPr>
                </a:tc>
                <a:tc>
                  <a:txBody>
                    <a:bodyPr wrap="square"/>
                    <a:lstStyle/>
                    <a:p>
                      <a:pPr algn="l">
                        <a:lnSpc>
                          <a:spcPct val="100000"/>
                        </a:lnSpc>
                        <a:spcAft>
                          <a:spcPts val="0"/>
                        </a:spcAft>
                      </a:pPr>
                      <a:r>
                        <a:rPr sz="800" i="0" b="1">
                          <a:solidFill>
                            <a:srgbClr val="FFFFFF"/>
                          </a:solidFill>
                          <a:latin typeface="Inter"/>
                        </a:rPr>
                        <a:t>Topik</a:t>
                      </a:r>
                    </a:p>
                  </a:txBody>
                  <a:tcPr marL="73152" marR="73152" marT="36576" marB="36576" anchor="ctr">
                    <a:solidFill>
                      <a:srgbClr val="1C4587"/>
                    </a:solidFill>
                  </a:tcPr>
                </a:tc>
                <a:tc>
                  <a:txBody>
                    <a:bodyPr wrap="square"/>
                    <a:lstStyle/>
                    <a:p>
                      <a:pPr algn="l">
                        <a:lnSpc>
                          <a:spcPct val="100000"/>
                        </a:lnSpc>
                        <a:spcAft>
                          <a:spcPts val="0"/>
                        </a:spcAft>
                      </a:pPr>
                      <a:r>
                        <a:rPr sz="800" i="0" b="1">
                          <a:solidFill>
                            <a:srgbClr val="FFFFFF"/>
                          </a:solidFill>
                          <a:latin typeface="Inter"/>
                        </a:rPr>
                        <a:t>Yang ditambahkan ke Order API</a:t>
                      </a:r>
                    </a:p>
                  </a:txBody>
                  <a:tcPr marL="73152" marR="73152" marT="36576" marB="36576" anchor="ctr">
                    <a:solidFill>
                      <a:srgbClr val="1C4587"/>
                    </a:solidFill>
                  </a:tcPr>
                </a:tc>
              </a:tr>
              <a:tr h="233172">
                <a:tc>
                  <a:txBody>
                    <a:bodyPr wrap="square"/>
                    <a:lstStyle/>
                    <a:p>
                      <a:pPr algn="l">
                        <a:lnSpc>
                          <a:spcPct val="100000"/>
                        </a:lnSpc>
                        <a:spcAft>
                          <a:spcPts val="0"/>
                        </a:spcAft>
                      </a:pPr>
                      <a:r>
                        <a:rPr sz="800" i="0" b="1">
                          <a:solidFill>
                            <a:srgbClr val="1C4587"/>
                          </a:solidFill>
                          <a:latin typeface="Inter"/>
                        </a:rPr>
                        <a:t>1  (sesi ini)</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Design Patterns</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Kode satu file dirapikan: Factory, Singleton, Strategy, Repository, Service Layer</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2</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SOLID &amp; Clean Architecture</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Dipisah per layer: domain, application, infrastructure, api</a:t>
                      </a:r>
                    </a:p>
                  </a:txBody>
                  <a:tcPr marL="73152" marR="73152" marT="36576" marB="36576" anchor="ctr">
                    <a:solidFill>
                      <a:srgbClr val="F3F4F6"/>
                    </a:solidFill>
                  </a:tcPr>
                </a:tc>
              </a:tr>
              <a:tr h="233172">
                <a:tc>
                  <a:txBody>
                    <a:bodyPr wrap="square"/>
                    <a:lstStyle/>
                    <a:p>
                      <a:pPr algn="l">
                        <a:lnSpc>
                          <a:spcPct val="100000"/>
                        </a:lnSpc>
                        <a:spcAft>
                          <a:spcPts val="0"/>
                        </a:spcAft>
                      </a:pPr>
                      <a:r>
                        <a:rPr sz="800" i="0" b="1">
                          <a:solidFill>
                            <a:srgbClr val="1C4587"/>
                          </a:solidFill>
                          <a:latin typeface="Inter"/>
                        </a:rPr>
                        <a:t>3</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Domain-Driven Design</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Order jadi aggregate, Money value object, aturan bayar &amp; batal</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4</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Modular FastAPI &amp; ORM</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Router per modul, SQLAlchemy, Unit of Work, format error</a:t>
                      </a:r>
                    </a:p>
                  </a:txBody>
                  <a:tcPr marL="73152" marR="73152" marT="36576" marB="36576" anchor="ctr">
                    <a:solidFill>
                      <a:srgbClr val="F3F4F6"/>
                    </a:solidFill>
                  </a:tcPr>
                </a:tc>
              </a:tr>
              <a:tr h="233172">
                <a:tc>
                  <a:txBody>
                    <a:bodyPr wrap="square"/>
                    <a:lstStyle/>
                    <a:p>
                      <a:pPr algn="l">
                        <a:lnSpc>
                          <a:spcPct val="100000"/>
                        </a:lnSpc>
                        <a:spcAft>
                          <a:spcPts val="0"/>
                        </a:spcAft>
                      </a:pPr>
                      <a:r>
                        <a:rPr sz="800" i="0" b="1">
                          <a:solidFill>
                            <a:srgbClr val="1C4587"/>
                          </a:solidFill>
                          <a:latin typeface="Inter"/>
                        </a:rPr>
                        <a:t>5</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Celery &amp; Redis</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Notifikasi dan report dikerjakan di background job</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6</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Caching &amp; Rate Limiting</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Data produk di-cache di Redis, request dibatasi</a:t>
                      </a:r>
                    </a:p>
                  </a:txBody>
                  <a:tcPr marL="73152" marR="73152" marT="36576" marB="36576" anchor="ctr">
                    <a:solidFill>
                      <a:srgbClr val="F3F4F6"/>
                    </a:solidFill>
                  </a:tcPr>
                </a:tc>
              </a:tr>
              <a:tr h="233172">
                <a:tc>
                  <a:txBody>
                    <a:bodyPr wrap="square"/>
                    <a:lstStyle/>
                    <a:p>
                      <a:pPr algn="l">
                        <a:lnSpc>
                          <a:spcPct val="100000"/>
                        </a:lnSpc>
                        <a:spcAft>
                          <a:spcPts val="0"/>
                        </a:spcAft>
                      </a:pPr>
                      <a:r>
                        <a:rPr sz="800" i="0" b="1">
                          <a:solidFill>
                            <a:srgbClr val="1C4587"/>
                          </a:solidFill>
                          <a:latin typeface="Inter"/>
                        </a:rPr>
                        <a:t>7</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Database Optimization</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PostgreSQL, index, tanpa N+1, pagination</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8</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RabbitMQ &amp; Kafka</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Event order, consumer notifikasi yang retry-safe</a:t>
                      </a:r>
                    </a:p>
                  </a:txBody>
                  <a:tcPr marL="73152" marR="73152" marT="36576" marB="36576" anchor="ctr">
                    <a:solidFill>
                      <a:srgbClr val="F3F4F6"/>
                    </a:solidFill>
                  </a:tcPr>
                </a:tc>
              </a:tr>
              <a:tr h="233172">
                <a:tc>
                  <a:txBody>
                    <a:bodyPr wrap="square"/>
                    <a:lstStyle/>
                    <a:p>
                      <a:pPr algn="l">
                        <a:lnSpc>
                          <a:spcPct val="100000"/>
                        </a:lnSpc>
                        <a:spcAft>
                          <a:spcPts val="0"/>
                        </a:spcAft>
                      </a:pPr>
                      <a:r>
                        <a:rPr sz="800" i="0" b="1">
                          <a:solidFill>
                            <a:srgbClr val="1C4587"/>
                          </a:solidFill>
                          <a:latin typeface="Inter"/>
                        </a:rPr>
                        <a:t>9</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Observability</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Log terstruktur, metrics, dan tracing</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10</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API Security</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Login OAuth2/JWT, hak akses per role</a:t>
                      </a:r>
                    </a:p>
                  </a:txBody>
                  <a:tcPr marL="73152" marR="73152" marT="36576" marB="36576" anchor="ctr">
                    <a:solidFill>
                      <a:srgbClr val="F3F4F6"/>
                    </a:solidFill>
                  </a:tcPr>
                </a:tc>
              </a:tr>
              <a:tr h="233172">
                <a:tc>
                  <a:txBody>
                    <a:bodyPr wrap="square"/>
                    <a:lstStyle/>
                    <a:p>
                      <a:pPr algn="l">
                        <a:lnSpc>
                          <a:spcPct val="100000"/>
                        </a:lnSpc>
                        <a:spcAft>
                          <a:spcPts val="0"/>
                        </a:spcAft>
                      </a:pPr>
                      <a:r>
                        <a:rPr sz="800" i="0" b="1">
                          <a:solidFill>
                            <a:srgbClr val="1C4587"/>
                          </a:solidFill>
                          <a:latin typeface="Inter"/>
                        </a:rPr>
                        <a:t>11</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Docker &amp; CI/CD</a:t>
                      </a:r>
                    </a:p>
                  </a:txBody>
                  <a:tcPr marL="73152" marR="73152" marT="36576" marB="36576" anchor="ctr">
                    <a:solidFill>
                      <a:srgbClr val="FFFFFF"/>
                    </a:solidFill>
                  </a:tcPr>
                </a:tc>
                <a:tc>
                  <a:txBody>
                    <a:bodyPr wrap="square"/>
                    <a:lstStyle/>
                    <a:p>
                      <a:pPr algn="l">
                        <a:lnSpc>
                          <a:spcPct val="100000"/>
                        </a:lnSpc>
                        <a:spcAft>
                          <a:spcPts val="0"/>
                        </a:spcAft>
                      </a:pPr>
                      <a:r>
                        <a:rPr sz="800" i="0" b="0">
                          <a:solidFill>
                            <a:srgbClr val="434343"/>
                          </a:solidFill>
                          <a:latin typeface="Inter"/>
                        </a:rPr>
                        <a:t>Docker image, Compose, dan pipeline otomatis</a:t>
                      </a:r>
                    </a:p>
                  </a:txBody>
                  <a:tcPr marL="73152" marR="73152" marT="36576" marB="36576" anchor="ctr">
                    <a:solidFill>
                      <a:srgbClr val="FFFFFF"/>
                    </a:solidFill>
                  </a:tcPr>
                </a:tc>
              </a:tr>
              <a:tr h="233172">
                <a:tc>
                  <a:txBody>
                    <a:bodyPr wrap="square"/>
                    <a:lstStyle/>
                    <a:p>
                      <a:pPr algn="l">
                        <a:lnSpc>
                          <a:spcPct val="100000"/>
                        </a:lnSpc>
                        <a:spcAft>
                          <a:spcPts val="0"/>
                        </a:spcAft>
                      </a:pPr>
                      <a:r>
                        <a:rPr sz="800" i="0" b="1">
                          <a:solidFill>
                            <a:srgbClr val="1C4587"/>
                          </a:solidFill>
                          <a:latin typeface="Inter"/>
                        </a:rPr>
                        <a:t>12</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Final Project</a:t>
                      </a:r>
                    </a:p>
                  </a:txBody>
                  <a:tcPr marL="73152" marR="73152" marT="36576" marB="36576" anchor="ctr">
                    <a:solidFill>
                      <a:srgbClr val="F3F4F6"/>
                    </a:solidFill>
                  </a:tcPr>
                </a:tc>
                <a:tc>
                  <a:txBody>
                    <a:bodyPr wrap="square"/>
                    <a:lstStyle/>
                    <a:p>
                      <a:pPr algn="l">
                        <a:lnSpc>
                          <a:spcPct val="100000"/>
                        </a:lnSpc>
                        <a:spcAft>
                          <a:spcPts val="0"/>
                        </a:spcAft>
                      </a:pPr>
                      <a:r>
                        <a:rPr sz="800" i="0" b="0">
                          <a:solidFill>
                            <a:srgbClr val="434343"/>
                          </a:solidFill>
                          <a:latin typeface="Inter"/>
                        </a:rPr>
                        <a:t>Order API yang siap production</a:t>
                      </a:r>
                    </a:p>
                  </a:txBody>
                  <a:tcPr marL="73152" marR="73152" marT="36576" marB="36576" anchor="ctr">
                    <a:solidFill>
                      <a:srgbClr val="F3F4F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Design Pattern Itu Apa?</a:t>
            </a:r>
          </a:p>
        </p:txBody>
      </p:sp>
      <p:sp>
        <p:nvSpPr>
          <p:cNvPr id="22" name="Text 3"/>
          <p:cNvSpPr txBox="1"/>
          <p:nvPr/>
        </p:nvSpPr>
        <p:spPr>
          <a:xfrm>
            <a:off x="621792" y="1417320"/>
            <a:ext cx="7863840" cy="54864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Design pattern adalah </a:t>
            </a:r>
            <a:r>
              <a:rPr sz="1000" i="0" b="1">
                <a:solidFill>
                  <a:srgbClr val="434343"/>
                </a:solidFill>
                <a:latin typeface="Inter"/>
              </a:rPr>
              <a:t>solusi umum untuk masalah desain kode yang sering muncul</a:t>
            </a:r>
            <a:r>
              <a:rPr sz="1000" i="0" b="0">
                <a:solidFill>
                  <a:srgbClr val="434343"/>
                </a:solidFill>
                <a:latin typeface="Inter"/>
              </a:rPr>
              <a:t>. Bentuknya ide atau cara menyusun kode, bukan library yang di-install. Menurut kegunaannya, pattern di sesi ini dibagi jadi tiga jenis:</a:t>
            </a:r>
          </a:p>
        </p:txBody>
      </p:sp>
      <p:sp>
        <p:nvSpPr>
          <p:cNvPr id="23" name="Box 4"/>
          <p:cNvSpPr/>
          <p:nvPr/>
        </p:nvSpPr>
        <p:spPr>
          <a:xfrm>
            <a:off x="621792" y="2148840"/>
            <a:ext cx="2377440" cy="731520"/>
          </a:xfrm>
          <a:prstGeom prst="roundRect">
            <a:avLst>
              <a:gd name="adj" fmla="val 15000"/>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Cara membuat object</a:t>
            </a:r>
          </a:p>
          <a:p>
            <a:pPr algn="ctr">
              <a:lnSpc>
                <a:spcPct val="105000"/>
              </a:lnSpc>
              <a:spcAft>
                <a:spcPts val="200"/>
              </a:spcAft>
            </a:pPr>
            <a:r>
              <a:rPr sz="950" i="0" b="1">
                <a:solidFill>
                  <a:srgbClr val="FFFFFF"/>
                </a:solidFill>
                <a:latin typeface="Inter"/>
              </a:rPr>
              <a:t>(Creational)</a:t>
            </a:r>
          </a:p>
        </p:txBody>
      </p:sp>
      <p:cxnSp>
        <p:nvCxnSpPr>
          <p:cNvPr id="24" name="Arrow 5"/>
          <p:cNvCxnSpPr/>
          <p:nvPr/>
        </p:nvCxnSpPr>
        <p:spPr>
          <a:xfrm>
            <a:off x="3017520" y="2514600"/>
            <a:ext cx="320040" cy="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Box 6"/>
          <p:cNvSpPr/>
          <p:nvPr/>
        </p:nvSpPr>
        <p:spPr>
          <a:xfrm>
            <a:off x="3337560" y="2148840"/>
            <a:ext cx="1417320" cy="731520"/>
          </a:xfrm>
          <a:prstGeom prst="roundRect">
            <a:avLst>
              <a:gd name="adj" fmla="val 15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Factory</a:t>
            </a:r>
          </a:p>
          <a:p>
            <a:pPr algn="ctr">
              <a:lnSpc>
                <a:spcPct val="105000"/>
              </a:lnSpc>
              <a:spcAft>
                <a:spcPts val="200"/>
              </a:spcAft>
            </a:pPr>
            <a:r>
              <a:rPr sz="950" i="0" b="1">
                <a:solidFill>
                  <a:srgbClr val="1C4587"/>
                </a:solidFill>
                <a:latin typeface="Inter"/>
              </a:rPr>
              <a:t>Singleton</a:t>
            </a:r>
          </a:p>
        </p:txBody>
      </p:sp>
      <p:sp>
        <p:nvSpPr>
          <p:cNvPr id="26" name="Text 7"/>
          <p:cNvSpPr txBox="1"/>
          <p:nvPr/>
        </p:nvSpPr>
        <p:spPr>
          <a:xfrm>
            <a:off x="4892040" y="2148840"/>
            <a:ext cx="3593592" cy="731520"/>
          </a:xfrm>
          <a:prstGeom prst="rect">
            <a:avLst/>
          </a:prstGeom>
          <a:noFill/>
        </p:spPr>
        <p:txBody>
          <a:bodyPr wrap="square" anchor="ctr" lIns="45720" rIns="45720">
            <a:spAutoFit/>
          </a:bodyPr>
          <a:lstStyle/>
          <a:p>
            <a:pPr algn="l">
              <a:lnSpc>
                <a:spcPct val="115000"/>
              </a:lnSpc>
              <a:spcAft>
                <a:spcPts val="400"/>
              </a:spcAft>
            </a:pPr>
            <a:r>
              <a:rPr sz="900" i="0" b="1">
                <a:solidFill>
                  <a:srgbClr val="434343"/>
                </a:solidFill>
                <a:latin typeface="Inter"/>
              </a:rPr>
              <a:t>Factory</a:t>
            </a:r>
            <a:r>
              <a:rPr sz="900" i="0" b="0">
                <a:solidFill>
                  <a:srgbClr val="434343"/>
                </a:solidFill>
                <a:latin typeface="Inter"/>
              </a:rPr>
              <a:t>: memilih class dari nama, misalnya </a:t>
            </a:r>
            <a:r>
              <a:rPr sz="900" i="0" b="0">
                <a:solidFill>
                  <a:srgbClr val="B5482A"/>
                </a:solidFill>
                <a:latin typeface="Consolas"/>
              </a:rPr>
              <a:t>create_notifier("email")</a:t>
            </a:r>
          </a:p>
          <a:p>
            <a:pPr algn="l">
              <a:lnSpc>
                <a:spcPct val="115000"/>
              </a:lnSpc>
              <a:spcAft>
                <a:spcPts val="400"/>
              </a:spcAft>
            </a:pPr>
            <a:r>
              <a:rPr sz="900" i="0" b="1">
                <a:solidFill>
                  <a:srgbClr val="434343"/>
                </a:solidFill>
                <a:latin typeface="Inter"/>
              </a:rPr>
              <a:t>Singleton</a:t>
            </a:r>
            <a:r>
              <a:rPr sz="900" i="0" b="0">
                <a:solidFill>
                  <a:srgbClr val="434343"/>
                </a:solidFill>
                <a:latin typeface="Inter"/>
              </a:rPr>
              <a:t>: object dibuat sekali, dipakai bersama, misalnya config</a:t>
            </a:r>
          </a:p>
        </p:txBody>
      </p:sp>
      <p:sp>
        <p:nvSpPr>
          <p:cNvPr id="27" name="Box 8"/>
          <p:cNvSpPr/>
          <p:nvPr/>
        </p:nvSpPr>
        <p:spPr>
          <a:xfrm>
            <a:off x="621792" y="3017520"/>
            <a:ext cx="2377440" cy="731520"/>
          </a:xfrm>
          <a:prstGeom prst="roundRect">
            <a:avLst>
              <a:gd name="adj" fmla="val 15000"/>
            </a:avLst>
          </a:prstGeom>
          <a:solidFill>
            <a:srgbClr val="3D6CB4"/>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Cara mengatur perilaku object</a:t>
            </a:r>
          </a:p>
          <a:p>
            <a:pPr algn="ctr">
              <a:lnSpc>
                <a:spcPct val="105000"/>
              </a:lnSpc>
              <a:spcAft>
                <a:spcPts val="200"/>
              </a:spcAft>
            </a:pPr>
            <a:r>
              <a:rPr sz="950" i="0" b="1">
                <a:solidFill>
                  <a:srgbClr val="FFFFFF"/>
                </a:solidFill>
                <a:latin typeface="Inter"/>
              </a:rPr>
              <a:t>(Behavioral)</a:t>
            </a:r>
          </a:p>
        </p:txBody>
      </p:sp>
      <p:cxnSp>
        <p:nvCxnSpPr>
          <p:cNvPr id="28" name="Arrow 9"/>
          <p:cNvCxnSpPr/>
          <p:nvPr/>
        </p:nvCxnSpPr>
        <p:spPr>
          <a:xfrm>
            <a:off x="3017520" y="3383279"/>
            <a:ext cx="320040" cy="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Box 10"/>
          <p:cNvSpPr/>
          <p:nvPr/>
        </p:nvSpPr>
        <p:spPr>
          <a:xfrm>
            <a:off x="3337560" y="3017520"/>
            <a:ext cx="1417320" cy="731520"/>
          </a:xfrm>
          <a:prstGeom prst="roundRect">
            <a:avLst>
              <a:gd name="adj" fmla="val 15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Strategy</a:t>
            </a:r>
          </a:p>
        </p:txBody>
      </p:sp>
      <p:sp>
        <p:nvSpPr>
          <p:cNvPr id="30" name="Text 11"/>
          <p:cNvSpPr txBox="1"/>
          <p:nvPr/>
        </p:nvSpPr>
        <p:spPr>
          <a:xfrm>
            <a:off x="4892040" y="3017520"/>
            <a:ext cx="3593592" cy="731520"/>
          </a:xfrm>
          <a:prstGeom prst="rect">
            <a:avLst/>
          </a:prstGeom>
          <a:noFill/>
        </p:spPr>
        <p:txBody>
          <a:bodyPr wrap="square" anchor="ctr" lIns="45720" rIns="45720">
            <a:spAutoFit/>
          </a:bodyPr>
          <a:lstStyle/>
          <a:p>
            <a:pPr algn="l">
              <a:lnSpc>
                <a:spcPct val="115000"/>
              </a:lnSpc>
              <a:spcAft>
                <a:spcPts val="400"/>
              </a:spcAft>
            </a:pPr>
            <a:r>
              <a:rPr sz="900" i="0" b="1">
                <a:solidFill>
                  <a:srgbClr val="434343"/>
                </a:solidFill>
                <a:latin typeface="Inter"/>
              </a:rPr>
              <a:t>Strategy</a:t>
            </a:r>
            <a:r>
              <a:rPr sz="900" i="0" b="0">
                <a:solidFill>
                  <a:srgbClr val="434343"/>
                </a:solidFill>
                <a:latin typeface="Inter"/>
              </a:rPr>
              <a:t>: setiap aturan diskon (member, vip) jadi class sendiri. Saat program jalan, tinggal pilih class mana yang dipakai, tanpa if/elif</a:t>
            </a:r>
          </a:p>
        </p:txBody>
      </p:sp>
      <p:sp>
        <p:nvSpPr>
          <p:cNvPr id="31" name="Box 12"/>
          <p:cNvSpPr/>
          <p:nvPr/>
        </p:nvSpPr>
        <p:spPr>
          <a:xfrm>
            <a:off x="621792" y="3886200"/>
            <a:ext cx="2377440" cy="731520"/>
          </a:xfrm>
          <a:prstGeom prst="roundRect">
            <a:avLst>
              <a:gd name="adj" fmla="val 15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Cara membagi kode aplikasi</a:t>
            </a:r>
          </a:p>
          <a:p>
            <a:pPr algn="ctr">
              <a:lnSpc>
                <a:spcPct val="105000"/>
              </a:lnSpc>
              <a:spcAft>
                <a:spcPts val="200"/>
              </a:spcAft>
            </a:pPr>
            <a:r>
              <a:rPr sz="950" i="0" b="1">
                <a:solidFill>
                  <a:srgbClr val="FFFFFF"/>
                </a:solidFill>
                <a:latin typeface="Inter"/>
              </a:rPr>
              <a:t>(Architectural)</a:t>
            </a:r>
          </a:p>
        </p:txBody>
      </p:sp>
      <p:cxnSp>
        <p:nvCxnSpPr>
          <p:cNvPr id="32" name="Arrow 13"/>
          <p:cNvCxnSpPr/>
          <p:nvPr/>
        </p:nvCxnSpPr>
        <p:spPr>
          <a:xfrm>
            <a:off x="3017520" y="4251960"/>
            <a:ext cx="320040" cy="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Box 14"/>
          <p:cNvSpPr/>
          <p:nvPr/>
        </p:nvSpPr>
        <p:spPr>
          <a:xfrm>
            <a:off x="3337560" y="3886200"/>
            <a:ext cx="1417320" cy="731520"/>
          </a:xfrm>
          <a:prstGeom prst="roundRect">
            <a:avLst>
              <a:gd name="adj" fmla="val 15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Repository</a:t>
            </a:r>
          </a:p>
          <a:p>
            <a:pPr algn="ctr">
              <a:lnSpc>
                <a:spcPct val="105000"/>
              </a:lnSpc>
              <a:spcAft>
                <a:spcPts val="200"/>
              </a:spcAft>
            </a:pPr>
            <a:r>
              <a:rPr sz="950" i="0" b="1">
                <a:solidFill>
                  <a:srgbClr val="1C4587"/>
                </a:solidFill>
                <a:latin typeface="Inter"/>
              </a:rPr>
              <a:t>Service Layer</a:t>
            </a:r>
          </a:p>
        </p:txBody>
      </p:sp>
      <p:sp>
        <p:nvSpPr>
          <p:cNvPr id="34" name="Text 15"/>
          <p:cNvSpPr txBox="1"/>
          <p:nvPr/>
        </p:nvSpPr>
        <p:spPr>
          <a:xfrm>
            <a:off x="4892040" y="3886200"/>
            <a:ext cx="3593592" cy="731520"/>
          </a:xfrm>
          <a:prstGeom prst="rect">
            <a:avLst/>
          </a:prstGeom>
          <a:noFill/>
        </p:spPr>
        <p:txBody>
          <a:bodyPr wrap="square" anchor="ctr" lIns="45720" rIns="45720">
            <a:spAutoFit/>
          </a:bodyPr>
          <a:lstStyle/>
          <a:p>
            <a:pPr algn="l">
              <a:lnSpc>
                <a:spcPct val="115000"/>
              </a:lnSpc>
              <a:spcAft>
                <a:spcPts val="400"/>
              </a:spcAft>
            </a:pPr>
            <a:r>
              <a:rPr sz="900" i="0" b="1">
                <a:solidFill>
                  <a:srgbClr val="434343"/>
                </a:solidFill>
                <a:latin typeface="Inter"/>
              </a:rPr>
              <a:t>Repository</a:t>
            </a:r>
            <a:r>
              <a:rPr sz="900" i="0" b="0">
                <a:solidFill>
                  <a:srgbClr val="434343"/>
                </a:solidFill>
                <a:latin typeface="Inter"/>
              </a:rPr>
              <a:t>: semua akses database di satu tempat</a:t>
            </a:r>
          </a:p>
          <a:p>
            <a:pPr algn="l">
              <a:lnSpc>
                <a:spcPct val="115000"/>
              </a:lnSpc>
              <a:spcAft>
                <a:spcPts val="400"/>
              </a:spcAft>
            </a:pPr>
            <a:r>
              <a:rPr sz="900" i="0" b="1">
                <a:solidFill>
                  <a:srgbClr val="434343"/>
                </a:solidFill>
                <a:latin typeface="Inter"/>
              </a:rPr>
              <a:t>Service Layer</a:t>
            </a:r>
            <a:r>
              <a:rPr sz="900" i="0" b="0">
                <a:solidFill>
                  <a:srgbClr val="434343"/>
                </a:solidFill>
                <a:latin typeface="Inter"/>
              </a:rPr>
              <a:t>: semua business logic, terpisah dari route dan database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Design Pattern, Library, dan Fitur Python: Bedanya?</a:t>
            </a:r>
          </a:p>
        </p:txBody>
      </p:sp>
      <p:graphicFrame>
        <p:nvGraphicFramePr>
          <p:cNvPr id="22" name="Table 3"/>
          <p:cNvGraphicFramePr>
            <a:graphicFrameLocks noGrp="1"/>
          </p:cNvGraphicFramePr>
          <p:nvPr/>
        </p:nvGraphicFramePr>
        <p:xfrm>
          <a:off x="621792" y="1481328"/>
          <a:ext cx="7863840" cy="1828800"/>
        </p:xfrm>
        <a:graphic>
          <a:graphicData uri="http://schemas.openxmlformats.org/drawingml/2006/table">
            <a:tbl>
              <a:tblPr firstRow="1" bandRow="1"/>
              <a:tblGrid>
                <a:gridCol w="1280160"/>
                <a:gridCol w="2286000"/>
                <a:gridCol w="2103120"/>
                <a:gridCol w="2194560"/>
              </a:tblGrid>
              <a:tr h="457200">
                <a:tc>
                  <a:txBody>
                    <a:bodyPr wrap="square"/>
                    <a:lstStyle/>
                    <a:p>
                      <a:pPr algn="l">
                        <a:lnSpc>
                          <a:spcPct val="100000"/>
                        </a:lnSpc>
                        <a:spcAft>
                          <a:spcPts val="0"/>
                        </a:spcAft>
                      </a:pPr>
                      <a:r>
                        <a:rPr sz="540"/>
                        <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Design pattern</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Library / framework</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Fitur bawaan Python</a:t>
                      </a:r>
                    </a:p>
                  </a:txBody>
                  <a:tcPr marL="73152" marR="73152" marT="36576" marB="36576" anchor="ctr">
                    <a:solidFill>
                      <a:srgbClr val="1C4587"/>
                    </a:solidFill>
                  </a:tcPr>
                </a:tc>
              </a:tr>
              <a:tr h="457200">
                <a:tc>
                  <a:txBody>
                    <a:bodyPr wrap="square"/>
                    <a:lstStyle/>
                    <a:p>
                      <a:pPr algn="l">
                        <a:lnSpc>
                          <a:spcPct val="100000"/>
                        </a:lnSpc>
                        <a:spcAft>
                          <a:spcPts val="0"/>
                        </a:spcAft>
                      </a:pPr>
                      <a:r>
                        <a:rPr sz="900" i="0" b="1">
                          <a:solidFill>
                            <a:srgbClr val="1C4587"/>
                          </a:solidFill>
                          <a:latin typeface="Inter"/>
                        </a:rPr>
                        <a:t>Bentuknya</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Ide, cara menyusun kode</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Kerangka kerja yang siap pakai</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Bagian dari bahasa Python</a:t>
                      </a:r>
                    </a:p>
                  </a:txBody>
                  <a:tcPr marL="73152" marR="73152" marT="36576" marB="36576" anchor="ctr">
                    <a:solidFill>
                      <a:srgbClr val="FFFFFF"/>
                    </a:solidFill>
                  </a:tcPr>
                </a:tc>
              </a:tr>
              <a:tr h="457200">
                <a:tc>
                  <a:txBody>
                    <a:bodyPr wrap="square"/>
                    <a:lstStyle/>
                    <a:p>
                      <a:pPr algn="l">
                        <a:lnSpc>
                          <a:spcPct val="100000"/>
                        </a:lnSpc>
                        <a:spcAft>
                          <a:spcPts val="0"/>
                        </a:spcAft>
                      </a:pPr>
                      <a:r>
                        <a:rPr sz="900" i="0" b="1">
                          <a:solidFill>
                            <a:srgbClr val="1C4587"/>
                          </a:solidFill>
                          <a:latin typeface="Inter"/>
                        </a:rPr>
                        <a:t>Contoh</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Factory, Singleton, Strategy, Repository</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FastAPI, SQLAlchemy, Pydantic</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dict, class, @lru_cache, Protocol</a:t>
                      </a:r>
                    </a:p>
                  </a:txBody>
                  <a:tcPr marL="73152" marR="73152" marT="36576" marB="36576" anchor="ctr">
                    <a:solidFill>
                      <a:srgbClr val="F3F4F6"/>
                    </a:solidFill>
                  </a:tcPr>
                </a:tc>
              </a:tr>
              <a:tr h="457200">
                <a:tc>
                  <a:txBody>
                    <a:bodyPr wrap="square"/>
                    <a:lstStyle/>
                    <a:p>
                      <a:pPr algn="l">
                        <a:lnSpc>
                          <a:spcPct val="100000"/>
                        </a:lnSpc>
                        <a:spcAft>
                          <a:spcPts val="0"/>
                        </a:spcAft>
                      </a:pPr>
                      <a:r>
                        <a:rPr sz="900" i="0" b="1">
                          <a:solidFill>
                            <a:srgbClr val="1C4587"/>
                          </a:solidFill>
                          <a:latin typeface="Inter"/>
                        </a:rPr>
                        <a:t>Cara memakai</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Kita tulis sendiri mengikuti polanya</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pip install, lalu import</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Langsung dipakai</a:t>
                      </a:r>
                    </a:p>
                  </a:txBody>
                  <a:tcPr marL="73152" marR="73152" marT="36576" marB="36576" anchor="ctr">
                    <a:solidFill>
                      <a:srgbClr val="FFFFFF"/>
                    </a:solidFill>
                  </a:tcPr>
                </a:tc>
              </a:tr>
            </a:tbl>
          </a:graphicData>
        </a:graphic>
      </p:graphicFrame>
      <p:sp>
        <p:nvSpPr>
          <p:cNvPr id="23" name="Text 4"/>
          <p:cNvSpPr txBox="1"/>
          <p:nvPr/>
        </p:nvSpPr>
        <p:spPr>
          <a:xfrm>
            <a:off x="621792" y="3520440"/>
            <a:ext cx="7863840" cy="1188720"/>
          </a:xfrm>
          <a:prstGeom prst="rect">
            <a:avLst/>
          </a:prstGeom>
          <a:noFill/>
        </p:spPr>
        <p:txBody>
          <a:bodyPr wrap="square" anchor="t" lIns="45720" rIns="45720">
            <a:spAutoFit/>
          </a:bodyPr>
          <a:lstStyle/>
          <a:p>
            <a:pPr algn="l">
              <a:lnSpc>
                <a:spcPct val="115000"/>
              </a:lnSpc>
              <a:spcAft>
                <a:spcPts val="400"/>
              </a:spcAft>
            </a:pPr>
            <a:r>
              <a:rPr sz="1100" i="0" b="1">
                <a:solidFill>
                  <a:srgbClr val="1C4587"/>
                </a:solidFill>
                <a:latin typeface="Inter"/>
              </a:rPr>
              <a:t>Hubungannya</a:t>
            </a:r>
          </a:p>
          <a:p>
            <a:pPr algn="l">
              <a:lnSpc>
                <a:spcPct val="115000"/>
              </a:lnSpc>
              <a:spcAft>
                <a:spcPts val="400"/>
              </a:spcAft>
            </a:pPr>
            <a:r>
              <a:rPr sz="1000" i="0" b="0">
                <a:solidFill>
                  <a:srgbClr val="434343"/>
                </a:solidFill>
                <a:latin typeface="Inter"/>
              </a:rPr>
              <a:t>Design pattern </a:t>
            </a:r>
            <a:r>
              <a:rPr sz="1000" i="0" b="1">
                <a:solidFill>
                  <a:srgbClr val="434343"/>
                </a:solidFill>
                <a:latin typeface="Inter"/>
              </a:rPr>
              <a:t>ditulis memakai</a:t>
            </a:r>
            <a:r>
              <a:rPr sz="1000" i="0" b="0">
                <a:solidFill>
                  <a:srgbClr val="434343"/>
                </a:solidFill>
                <a:latin typeface="Inter"/>
              </a:rPr>
              <a:t> fitur Python. Di sesi ini Factory ditulis dengan </a:t>
            </a:r>
            <a:r>
              <a:rPr sz="1000" i="0" b="0">
                <a:solidFill>
                  <a:srgbClr val="B5482A"/>
                </a:solidFill>
                <a:latin typeface="Consolas"/>
              </a:rPr>
              <a:t>dict</a:t>
            </a:r>
            <a:r>
              <a:rPr sz="1000" i="0" b="0">
                <a:solidFill>
                  <a:srgbClr val="434343"/>
                </a:solidFill>
                <a:latin typeface="Inter"/>
              </a:rPr>
              <a:t> + function biasa, Singleton ditulis dengan </a:t>
            </a:r>
            <a:r>
              <a:rPr sz="1000" i="0" b="0">
                <a:solidFill>
                  <a:srgbClr val="B5482A"/>
                </a:solidFill>
                <a:latin typeface="Consolas"/>
              </a:rPr>
              <a:t>@lru_cache</a:t>
            </a:r>
            <a:r>
              <a:rPr sz="1000" i="0" b="0">
                <a:solidFill>
                  <a:srgbClr val="434343"/>
                </a:solidFill>
                <a:latin typeface="Inter"/>
              </a:rPr>
              <a:t>. Pattern adalah idenya, fitur Python adalah alatnya. Satu pattern bisa ditulis dengan alat yang berbeda.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 name="Google Shape;30;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31" name="Text 1"/>
          <p:cNvSpPr txBox="1"/>
          <p:nvPr/>
        </p:nvSpPr>
        <p:spPr>
          <a:xfrm>
            <a:off x="822960" y="1600200"/>
            <a:ext cx="7315200" cy="365760"/>
          </a:xfrm>
          <a:prstGeom prst="rect">
            <a:avLst/>
          </a:prstGeom>
          <a:noFill/>
        </p:spPr>
        <p:txBody>
          <a:bodyPr wrap="square" anchor="t" lIns="45720" rIns="45720">
            <a:spAutoFit/>
          </a:bodyPr>
          <a:lstStyle/>
          <a:p>
            <a:pPr algn="l">
              <a:lnSpc>
                <a:spcPct val="115000"/>
              </a:lnSpc>
              <a:spcAft>
                <a:spcPts val="400"/>
              </a:spcAft>
            </a:pPr>
            <a:r>
              <a:rPr sz="1400" i="0" b="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anchor="t" lIns="45720" rIns="45720">
            <a:spAutoFit/>
          </a:bodyPr>
          <a:lstStyle/>
          <a:p>
            <a:pPr algn="l">
              <a:lnSpc>
                <a:spcPct val="115000"/>
              </a:lnSpc>
              <a:spcAft>
                <a:spcPts val="400"/>
              </a:spcAft>
            </a:pPr>
            <a:r>
              <a:rPr sz="3000" i="0" b="0">
                <a:solidFill>
                  <a:srgbClr val="FFFFFF"/>
                </a:solidFill>
                <a:latin typeface="Work Sans ExtraBold"/>
              </a:rPr>
              <a:t>Empat Pattern Dasar</a:t>
            </a:r>
          </a:p>
        </p:txBody>
      </p:sp>
      <p:sp>
        <p:nvSpPr>
          <p:cNvPr id="33" name="Text 3"/>
          <p:cNvSpPr txBox="1"/>
          <p:nvPr/>
        </p:nvSpPr>
        <p:spPr>
          <a:xfrm>
            <a:off x="822960" y="2743200"/>
            <a:ext cx="6583680" cy="731520"/>
          </a:xfrm>
          <a:prstGeom prst="rect">
            <a:avLst/>
          </a:prstGeom>
          <a:noFill/>
        </p:spPr>
        <p:txBody>
          <a:bodyPr wrap="square" anchor="t" lIns="45720" rIns="45720">
            <a:spAutoFit/>
          </a:bodyPr>
          <a:lstStyle/>
          <a:p>
            <a:pPr algn="l">
              <a:lnSpc>
                <a:spcPct val="115000"/>
              </a:lnSpc>
              <a:spcAft>
                <a:spcPts val="400"/>
              </a:spcAft>
            </a:pPr>
            <a:r>
              <a:rPr sz="1200" i="0" b="0">
                <a:solidFill>
                  <a:srgbClr val="E3ECFA"/>
                </a:solidFill>
                <a:latin typeface="Inter"/>
              </a:rPr>
              <a:t>Factory, Singleton, Strategy, dan Repository: kapan dipakai dan bagaimana trade-off-nya.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Apa Itu Factory?</a:t>
            </a:r>
          </a:p>
        </p:txBody>
      </p:sp>
      <p:sp>
        <p:nvSpPr>
          <p:cNvPr id="22" name="Text 3"/>
          <p:cNvSpPr txBox="1"/>
          <p:nvPr/>
        </p:nvSpPr>
        <p:spPr>
          <a:xfrm>
            <a:off x="621792" y="1481328"/>
            <a:ext cx="3520440" cy="3291840"/>
          </a:xfrm>
          <a:prstGeom prst="rect">
            <a:avLst/>
          </a:prstGeom>
          <a:noFill/>
        </p:spPr>
        <p:txBody>
          <a:bodyPr wrap="square" anchor="t" lIns="45720" rIns="45720">
            <a:spAutoFit/>
          </a:bodyPr>
          <a:lstStyle/>
          <a:p>
            <a:pPr algn="l">
              <a:lnSpc>
                <a:spcPct val="115000"/>
              </a:lnSpc>
              <a:spcAft>
                <a:spcPts val="400"/>
              </a:spcAft>
            </a:pPr>
            <a:r>
              <a:rPr sz="1000" i="0" b="1">
                <a:solidFill>
                  <a:srgbClr val="1C4587"/>
                </a:solidFill>
                <a:latin typeface="Inter"/>
              </a:rPr>
              <a:t>Tanpa Factory</a:t>
            </a:r>
          </a:p>
          <a:p>
            <a:pPr algn="l">
              <a:lnSpc>
                <a:spcPct val="115000"/>
              </a:lnSpc>
              <a:spcAft>
                <a:spcPts val="400"/>
              </a:spcAft>
            </a:pPr>
            <a:r>
              <a:rPr sz="900" i="0" b="0">
                <a:solidFill>
                  <a:srgbClr val="434343"/>
                </a:solidFill>
                <a:latin typeface="Inter"/>
              </a:rPr>
              <a:t>Order API bisa mengirim notifikasi lewat email atau SMS. Tanpa factory, object notifier langsung dibuat di function yang membutuhkannya, pakai if/elif untuk memilih </a:t>
            </a:r>
            <a:r>
              <a:rPr sz="900" i="0" b="0">
                <a:solidFill>
                  <a:srgbClr val="B5482A"/>
                </a:solidFill>
                <a:latin typeface="Consolas"/>
              </a:rPr>
              <a:t>EmailNotifier</a:t>
            </a:r>
            <a:r>
              <a:rPr sz="900" i="0" b="0">
                <a:solidFill>
                  <a:srgbClr val="434343"/>
                </a:solidFill>
                <a:latin typeface="Inter"/>
              </a:rPr>
              <a:t> atau </a:t>
            </a:r>
            <a:r>
              <a:rPr sz="900" i="0" b="0">
                <a:solidFill>
                  <a:srgbClr val="B5482A"/>
                </a:solidFill>
                <a:latin typeface="Consolas"/>
              </a:rPr>
              <a:t>SmsNotifier</a:t>
            </a:r>
            <a:r>
              <a:rPr sz="900" i="0" b="0">
                <a:solidFill>
                  <a:srgbClr val="434343"/>
                </a:solidFill>
                <a:latin typeface="Inter"/>
              </a:rPr>
              <a:t>.</a:t>
            </a:r>
          </a:p>
          <a:p>
            <a:pPr algn="l">
              <a:lnSpc>
                <a:spcPct val="115000"/>
              </a:lnSpc>
              <a:spcAft>
                <a:spcPts val="400"/>
              </a:spcAft>
            </a:pPr>
            <a:r>
              <a:rPr sz="1000" i="0" b="1">
                <a:solidFill>
                  <a:srgbClr val="1C4587"/>
                </a:solidFill>
                <a:latin typeface="Inter"/>
              </a:rPr>
              <a:t>Kalau function-nya makin banyak</a:t>
            </a:r>
          </a:p>
          <a:p>
            <a:pPr algn="l">
              <a:lnSpc>
                <a:spcPct val="115000"/>
              </a:lnSpc>
              <a:spcAft>
                <a:spcPts val="400"/>
              </a:spcAft>
            </a:pPr>
            <a:r>
              <a:rPr sz="900" i="0" b="0">
                <a:solidFill>
                  <a:srgbClr val="B5482A"/>
                </a:solidFill>
                <a:latin typeface="Consolas"/>
              </a:rPr>
              <a:t>place_order</a:t>
            </a:r>
            <a:r>
              <a:rPr sz="900" i="0" b="0">
                <a:solidFill>
                  <a:srgbClr val="434343"/>
                </a:solidFill>
                <a:latin typeface="Inter"/>
              </a:rPr>
              <a:t>, </a:t>
            </a:r>
            <a:r>
              <a:rPr sz="900" i="0" b="0">
                <a:solidFill>
                  <a:srgbClr val="B5482A"/>
                </a:solidFill>
                <a:latin typeface="Consolas"/>
              </a:rPr>
              <a:t>cancel_order</a:t>
            </a:r>
            <a:r>
              <a:rPr sz="900" i="0" b="0">
                <a:solidFill>
                  <a:srgbClr val="434343"/>
                </a:solidFill>
                <a:latin typeface="Inter"/>
              </a:rPr>
              <a:t>, dan seterusnya: if/elif yang sama ikut di-copy ke setiap function. Tambah channel WhatsApp berarti mengedit semua if/elif itu. Satu terlewat, jadi bug.</a:t>
            </a:r>
          </a:p>
          <a:p>
            <a:pPr algn="l">
              <a:lnSpc>
                <a:spcPct val="115000"/>
              </a:lnSpc>
              <a:spcAft>
                <a:spcPts val="400"/>
              </a:spcAft>
            </a:pPr>
            <a:r>
              <a:rPr sz="1000" i="0" b="1">
                <a:solidFill>
                  <a:srgbClr val="1C4587"/>
                </a:solidFill>
                <a:latin typeface="Inter"/>
              </a:rPr>
              <a:t>Factory adalah</a:t>
            </a:r>
          </a:p>
          <a:p>
            <a:pPr algn="l">
              <a:lnSpc>
                <a:spcPct val="115000"/>
              </a:lnSpc>
              <a:spcAft>
                <a:spcPts val="400"/>
              </a:spcAft>
            </a:pPr>
            <a:r>
              <a:rPr sz="900" i="0" b="0">
                <a:solidFill>
                  <a:srgbClr val="434343"/>
                </a:solidFill>
                <a:latin typeface="Inter"/>
              </a:rPr>
              <a:t>Satu function yang </a:t>
            </a:r>
            <a:r>
              <a:rPr sz="900" i="0" b="1">
                <a:solidFill>
                  <a:srgbClr val="434343"/>
                </a:solidFill>
                <a:latin typeface="Inter"/>
              </a:rPr>
              <a:t>khusus bertugas membuat object</a:t>
            </a:r>
            <a:r>
              <a:rPr sz="900" i="0" b="0">
                <a:solidFill>
                  <a:srgbClr val="434343"/>
                </a:solidFill>
                <a:latin typeface="Inter"/>
              </a:rPr>
              <a:t>. Kita cukup bilang mau yang mana, misalnya </a:t>
            </a:r>
            <a:r>
              <a:rPr sz="900" i="0" b="0">
                <a:solidFill>
                  <a:srgbClr val="B5482A"/>
                </a:solidFill>
                <a:latin typeface="Consolas"/>
              </a:rPr>
              <a:t>create_notifier("email")</a:t>
            </a:r>
            <a:r>
              <a:rPr sz="900" i="0" b="0">
                <a:solidFill>
                  <a:srgbClr val="434343"/>
                </a:solidFill>
                <a:latin typeface="Inter"/>
              </a:rPr>
              <a:t>. Factory yang memilih class, membuat object, lalu mengembalikannya.</a:t>
            </a:r>
          </a:p>
          <a:p>
            <a:pPr algn="l">
              <a:lnSpc>
                <a:spcPct val="115000"/>
              </a:lnSpc>
              <a:spcAft>
                <a:spcPts val="400"/>
              </a:spcAft>
            </a:pPr>
            <a:r>
              <a:rPr sz="1000" i="0" b="1">
                <a:solidFill>
                  <a:srgbClr val="1C4587"/>
                </a:solidFill>
                <a:latin typeface="Inter"/>
              </a:rPr>
              <a:t>Untuk apa</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Pemilihan class cukup ditulis di </a:t>
            </a:r>
            <a:r>
              <a:rPr sz="900" i="0" b="1">
                <a:solidFill>
                  <a:srgbClr val="434343"/>
                </a:solidFill>
                <a:latin typeface="Inter"/>
              </a:rPr>
              <a:t>satu tempat</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Channel baru cukup ditambah di factory, function lain tidak disentuh</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4846320" y="1490472"/>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tanpa factory: 01-factory/before.py</a:t>
            </a:r>
          </a:p>
        </p:txBody>
      </p:sp>
      <p:sp>
        <p:nvSpPr>
          <p:cNvPr id="28" name="CodeBg 11"/>
          <p:cNvSpPr/>
          <p:nvPr/>
        </p:nvSpPr>
        <p:spPr>
          <a:xfrm>
            <a:off x="4297680" y="1719072"/>
            <a:ext cx="4187951" cy="1389888"/>
          </a:xfrm>
          <a:prstGeom prst="roundRect">
            <a:avLst>
              <a:gd name="adj" fmla="val 131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297680" y="1719072"/>
            <a:ext cx="4187951" cy="1389888"/>
          </a:xfrm>
          <a:prstGeom prst="rect">
            <a:avLst/>
          </a:prstGeom>
          <a:noFill/>
        </p:spPr>
        <p:txBody>
          <a:bodyPr wrap="none" lIns="146304" rIns="146304" tIns="91440" bIns="54864">
            <a:spAutoFit/>
          </a:bodyPr>
          <a:lstStyle/>
          <a:p>
            <a:pPr>
              <a:lnSpc>
                <a:spcPts val="1000"/>
              </a:lnSpc>
              <a:spcAft>
                <a:spcPts val="0"/>
              </a:spcAft>
            </a:pPr>
            <a:r>
              <a:rPr sz="775" i="0">
                <a:solidFill>
                  <a:srgbClr val="FF8E6E"/>
                </a:solidFill>
                <a:latin typeface="Consolas"/>
              </a:rPr>
              <a:t>def</a:t>
            </a:r>
            <a:r>
              <a:rPr sz="775" i="0">
                <a:solidFill>
                  <a:srgbClr val="E6EDF3"/>
                </a:solidFill>
                <a:latin typeface="Consolas"/>
              </a:rPr>
              <a:t> </a:t>
            </a:r>
            <a:r>
              <a:rPr sz="775" i="0">
                <a:solidFill>
                  <a:srgbClr val="82B1FF"/>
                </a:solidFill>
                <a:latin typeface="Consolas"/>
              </a:rPr>
              <a:t>place_order</a:t>
            </a:r>
            <a:r>
              <a:rPr sz="775" i="0">
                <a:solidFill>
                  <a:srgbClr val="E6EDF3"/>
                </a:solidFill>
                <a:latin typeface="Consolas"/>
              </a:rPr>
              <a:t>(</a:t>
            </a:r>
            <a:r>
              <a:rPr sz="775" i="0">
                <a:solidFill>
                  <a:srgbClr val="E6EDF3"/>
                </a:solidFill>
                <a:latin typeface="Consolas"/>
              </a:rPr>
              <a:t>order_id</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int</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customer</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str</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channel</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str</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&gt;</a:t>
            </a:r>
            <a:r>
              <a:rPr sz="775" i="0">
                <a:solidFill>
                  <a:srgbClr val="E6EDF3"/>
                </a:solidFill>
                <a:latin typeface="Consolas"/>
              </a:rPr>
              <a:t> </a:t>
            </a:r>
            <a:r>
              <a:rPr sz="775" i="0">
                <a:solidFill>
                  <a:srgbClr val="FF8E6E"/>
                </a:solidFill>
                <a:latin typeface="Consolas"/>
              </a:rPr>
              <a:t>None</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0">
                <a:solidFill>
                  <a:srgbClr val="FF8E6E"/>
                </a:solidFill>
                <a:latin typeface="Consolas"/>
              </a:rPr>
              <a:t>if</a:t>
            </a:r>
            <a:r>
              <a:rPr sz="775" i="0">
                <a:solidFill>
                  <a:srgbClr val="E6EDF3"/>
                </a:solidFill>
                <a:latin typeface="Consolas"/>
              </a:rPr>
              <a:t> </a:t>
            </a:r>
            <a:r>
              <a:rPr sz="775" i="0">
                <a:solidFill>
                  <a:srgbClr val="E6EDF3"/>
                </a:solidFill>
                <a:latin typeface="Consolas"/>
              </a:rPr>
              <a:t>channel</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a:t>
            </a:r>
            <a:r>
              <a:rPr sz="775" i="0">
                <a:solidFill>
                  <a:srgbClr val="E6EDF3"/>
                </a:solidFill>
                <a:latin typeface="Consolas"/>
              </a:rPr>
              <a:t> </a:t>
            </a:r>
            <a:r>
              <a:rPr sz="775" i="0">
                <a:solidFill>
                  <a:srgbClr val="A5D6A7"/>
                </a:solidFill>
                <a:latin typeface="Consolas"/>
              </a:rPr>
              <a:t>"email"</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0">
                <a:solidFill>
                  <a:srgbClr val="E6EDF3"/>
                </a:solidFill>
                <a:latin typeface="Consolas"/>
              </a:rPr>
              <a:t>notifier</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 </a:t>
            </a:r>
            <a:r>
              <a:rPr sz="775" i="0">
                <a:solidFill>
                  <a:srgbClr val="7FDBCA"/>
                </a:solidFill>
                <a:latin typeface="Consolas"/>
              </a:rPr>
              <a:t>EmailNotifier</a:t>
            </a:r>
            <a:r>
              <a:rPr sz="775" i="0">
                <a:solidFill>
                  <a:srgbClr val="E6EDF3"/>
                </a:solidFill>
                <a:latin typeface="Consolas"/>
              </a:rPr>
              <a:t>(</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0">
                <a:solidFill>
                  <a:srgbClr val="FF8E6E"/>
                </a:solidFill>
                <a:latin typeface="Consolas"/>
              </a:rPr>
              <a:t>elif</a:t>
            </a:r>
            <a:r>
              <a:rPr sz="775" i="0">
                <a:solidFill>
                  <a:srgbClr val="E6EDF3"/>
                </a:solidFill>
                <a:latin typeface="Consolas"/>
              </a:rPr>
              <a:t> </a:t>
            </a:r>
            <a:r>
              <a:rPr sz="775" i="0">
                <a:solidFill>
                  <a:srgbClr val="E6EDF3"/>
                </a:solidFill>
                <a:latin typeface="Consolas"/>
              </a:rPr>
              <a:t>channel</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a:t>
            </a:r>
            <a:r>
              <a:rPr sz="775" i="0">
                <a:solidFill>
                  <a:srgbClr val="E6EDF3"/>
                </a:solidFill>
                <a:latin typeface="Consolas"/>
              </a:rPr>
              <a:t> </a:t>
            </a:r>
            <a:r>
              <a:rPr sz="775" i="0">
                <a:solidFill>
                  <a:srgbClr val="A5D6A7"/>
                </a:solidFill>
                <a:latin typeface="Consolas"/>
              </a:rPr>
              <a:t>"sms"</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0">
                <a:solidFill>
                  <a:srgbClr val="E6EDF3"/>
                </a:solidFill>
                <a:latin typeface="Consolas"/>
              </a:rPr>
              <a:t>notifier</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 </a:t>
            </a:r>
            <a:r>
              <a:rPr sz="775" i="0">
                <a:solidFill>
                  <a:srgbClr val="7FDBCA"/>
                </a:solidFill>
                <a:latin typeface="Consolas"/>
              </a:rPr>
              <a:t>SmsNotifier</a:t>
            </a:r>
            <a:r>
              <a:rPr sz="775" i="0">
                <a:solidFill>
                  <a:srgbClr val="E6EDF3"/>
                </a:solidFill>
                <a:latin typeface="Consolas"/>
              </a:rPr>
              <a:t>(</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a:t>
            </a:r>
            <a:r>
              <a:rPr sz="775" i="0">
                <a:solidFill>
                  <a:srgbClr val="E6EDF3"/>
                </a:solidFill>
                <a:latin typeface="Consolas"/>
              </a:rPr>
              <a:t>.</a:t>
            </a:r>
          </a:p>
          <a:p>
            <a:pPr>
              <a:lnSpc>
                <a:spcPts val="1000"/>
              </a:lnSpc>
              <a:spcAft>
                <a:spcPts val="0"/>
              </a:spcAft>
            </a:pPr>
            <a:r>
              <a:rPr sz="775" i="0">
                <a:solidFill>
                  <a:srgbClr val="E6EDF3"/>
                </a:solidFill>
                <a:latin typeface="Consolas"/>
              </a:rPr>
              <a:t> </a:t>
            </a:r>
          </a:p>
          <a:p>
            <a:pPr>
              <a:lnSpc>
                <a:spcPts val="1000"/>
              </a:lnSpc>
              <a:spcAft>
                <a:spcPts val="0"/>
              </a:spcAft>
            </a:pPr>
            <a:r>
              <a:rPr sz="775" i="0">
                <a:solidFill>
                  <a:srgbClr val="FF8E6E"/>
                </a:solidFill>
                <a:latin typeface="Consolas"/>
              </a:rPr>
              <a:t>def</a:t>
            </a:r>
            <a:r>
              <a:rPr sz="775" i="0">
                <a:solidFill>
                  <a:srgbClr val="E6EDF3"/>
                </a:solidFill>
                <a:latin typeface="Consolas"/>
              </a:rPr>
              <a:t> </a:t>
            </a:r>
            <a:r>
              <a:rPr sz="775" i="0">
                <a:solidFill>
                  <a:srgbClr val="82B1FF"/>
                </a:solidFill>
                <a:latin typeface="Consolas"/>
              </a:rPr>
              <a:t>cancel_order</a:t>
            </a:r>
            <a:r>
              <a:rPr sz="775" i="0">
                <a:solidFill>
                  <a:srgbClr val="E6EDF3"/>
                </a:solidFill>
                <a:latin typeface="Consolas"/>
              </a:rPr>
              <a:t>(</a:t>
            </a:r>
            <a:r>
              <a:rPr sz="775" i="0">
                <a:solidFill>
                  <a:srgbClr val="E6EDF3"/>
                </a:solidFill>
                <a:latin typeface="Consolas"/>
              </a:rPr>
              <a:t>order_id</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int</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customer</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str</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channel</a:t>
            </a:r>
            <a:r>
              <a:rPr sz="775" i="0">
                <a:solidFill>
                  <a:srgbClr val="E6EDF3"/>
                </a:solidFill>
                <a:latin typeface="Consolas"/>
              </a:rPr>
              <a:t>:</a:t>
            </a:r>
            <a:r>
              <a:rPr sz="775" i="0">
                <a:solidFill>
                  <a:srgbClr val="E6EDF3"/>
                </a:solidFill>
                <a:latin typeface="Consolas"/>
              </a:rPr>
              <a:t> </a:t>
            </a:r>
            <a:r>
              <a:rPr sz="775" i="0">
                <a:solidFill>
                  <a:srgbClr val="C3A6FF"/>
                </a:solidFill>
                <a:latin typeface="Consolas"/>
              </a:rPr>
              <a:t>str</a:t>
            </a:r>
            <a:r>
              <a:rPr sz="775" i="0">
                <a:solidFill>
                  <a:srgbClr val="E6EDF3"/>
                </a:solidFill>
                <a:latin typeface="Consolas"/>
              </a:rPr>
              <a:t>)</a:t>
            </a:r>
            <a:r>
              <a:rPr sz="775" i="0">
                <a:solidFill>
                  <a:srgbClr val="E6EDF3"/>
                </a:solidFill>
                <a:latin typeface="Consolas"/>
              </a:rPr>
              <a:t> </a:t>
            </a:r>
            <a:r>
              <a:rPr sz="775" i="0">
                <a:solidFill>
                  <a:srgbClr val="E6EDF3"/>
                </a:solidFill>
                <a:latin typeface="Consolas"/>
              </a:rPr>
              <a:t>-</a:t>
            </a:r>
            <a:r>
              <a:rPr sz="775" i="0">
                <a:solidFill>
                  <a:srgbClr val="E6EDF3"/>
                </a:solidFill>
                <a:latin typeface="Consolas"/>
              </a:rPr>
              <a:t>&gt;</a:t>
            </a:r>
            <a:r>
              <a:rPr sz="775" i="0">
                <a:solidFill>
                  <a:srgbClr val="E6EDF3"/>
                </a:solidFill>
                <a:latin typeface="Consolas"/>
              </a:rPr>
              <a:t> </a:t>
            </a:r>
            <a:r>
              <a:rPr sz="775" i="0">
                <a:solidFill>
                  <a:srgbClr val="FF8E6E"/>
                </a:solidFill>
                <a:latin typeface="Consolas"/>
              </a:rPr>
              <a:t>None</a:t>
            </a:r>
            <a:r>
              <a:rPr sz="775" i="0">
                <a:solidFill>
                  <a:srgbClr val="E6EDF3"/>
                </a:solidFill>
                <a:latin typeface="Consolas"/>
              </a:rPr>
              <a:t>:</a:t>
            </a:r>
          </a:p>
          <a:p>
            <a:pPr>
              <a:lnSpc>
                <a:spcPts val="1000"/>
              </a:lnSpc>
              <a:spcAft>
                <a:spcPts val="0"/>
              </a:spcAft>
            </a:pPr>
            <a:r>
              <a:rPr sz="775" i="0">
                <a:solidFill>
                  <a:srgbClr val="E6EDF3"/>
                </a:solidFill>
                <a:latin typeface="Consolas"/>
              </a:rPr>
              <a:t>    </a:t>
            </a:r>
            <a:r>
              <a:rPr sz="775" i="1">
                <a:solidFill>
                  <a:srgbClr val="8B98A8"/>
                </a:solidFill>
                <a:latin typeface="Consolas"/>
              </a:rPr>
              <a:t># if/elif yang sama, hasil copy-paste dari place_order</a:t>
            </a:r>
          </a:p>
        </p:txBody>
      </p:sp>
      <p:sp>
        <p:nvSpPr>
          <p:cNvPr id="30" name="Box 13"/>
          <p:cNvSpPr/>
          <p:nvPr/>
        </p:nvSpPr>
        <p:spPr>
          <a:xfrm>
            <a:off x="4379976" y="1954022"/>
            <a:ext cx="4023359" cy="500380"/>
          </a:xfrm>
          <a:prstGeom prst="roundRect">
            <a:avLst>
              <a:gd name="adj" fmla="val 913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Box 14"/>
          <p:cNvSpPr/>
          <p:nvPr/>
        </p:nvSpPr>
        <p:spPr>
          <a:xfrm>
            <a:off x="8284463" y="2085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2" name="Box 15"/>
          <p:cNvSpPr/>
          <p:nvPr/>
        </p:nvSpPr>
        <p:spPr>
          <a:xfrm>
            <a:off x="4379976" y="2843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3" name="Box 16"/>
          <p:cNvSpPr/>
          <p:nvPr/>
        </p:nvSpPr>
        <p:spPr>
          <a:xfrm>
            <a:off x="8284463" y="2783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4" name="CodeTab 18"/>
          <p:cNvSpPr/>
          <p:nvPr/>
        </p:nvSpPr>
        <p:spPr>
          <a:xfrm>
            <a:off x="4297680" y="320040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Dot 19"/>
          <p:cNvSpPr/>
          <p:nvPr/>
        </p:nvSpPr>
        <p:spPr>
          <a:xfrm>
            <a:off x="4407408" y="32781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t 20"/>
          <p:cNvSpPr/>
          <p:nvPr/>
        </p:nvSpPr>
        <p:spPr>
          <a:xfrm>
            <a:off x="4544568" y="32781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t 21"/>
          <p:cNvSpPr/>
          <p:nvPr/>
        </p:nvSpPr>
        <p:spPr>
          <a:xfrm>
            <a:off x="4681728" y="32781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 22"/>
          <p:cNvSpPr txBox="1"/>
          <p:nvPr/>
        </p:nvSpPr>
        <p:spPr>
          <a:xfrm>
            <a:off x="4846320" y="3209544"/>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dengan factory: 01-factory/after.py</a:t>
            </a:r>
          </a:p>
        </p:txBody>
      </p:sp>
      <p:sp>
        <p:nvSpPr>
          <p:cNvPr id="39" name="CodeBg 24"/>
          <p:cNvSpPr/>
          <p:nvPr/>
        </p:nvSpPr>
        <p:spPr>
          <a:xfrm>
            <a:off x="4297680" y="3438144"/>
            <a:ext cx="4187951" cy="758951"/>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0" name="Code 25"/>
          <p:cNvSpPr txBox="1"/>
          <p:nvPr/>
        </p:nvSpPr>
        <p:spPr>
          <a:xfrm>
            <a:off x="4297680" y="3438144"/>
            <a:ext cx="4187951" cy="758951"/>
          </a:xfrm>
          <a:prstGeom prst="rect">
            <a:avLst/>
          </a:prstGeom>
          <a:noFill/>
        </p:spPr>
        <p:txBody>
          <a:bodyPr wrap="none" lIns="146304" rIns="146304" tIns="91440" bIns="54864">
            <a:spAutoFit/>
          </a:bodyPr>
          <a:lstStyle/>
          <a:p>
            <a:pPr>
              <a:lnSpc>
                <a:spcPts val="900"/>
              </a:lnSpc>
              <a:spcAft>
                <a:spcPts val="0"/>
              </a:spcAft>
            </a:pP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place_order</a:t>
            </a:r>
            <a:r>
              <a:rPr sz="725" i="0">
                <a:solidFill>
                  <a:srgbClr val="E6EDF3"/>
                </a:solidFill>
                <a:latin typeface="Consolas"/>
              </a:rPr>
              <a:t>(</a:t>
            </a:r>
            <a:r>
              <a:rPr sz="725" i="0">
                <a:solidFill>
                  <a:srgbClr val="E6EDF3"/>
                </a:solidFill>
                <a:latin typeface="Consolas"/>
              </a:rPr>
              <a:t>order_id</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customer</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str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channel</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str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&gt;</a:t>
            </a:r>
            <a:r>
              <a:rPr sz="725" i="0">
                <a:solidFill>
                  <a:srgbClr val="E6EDF3"/>
                </a:solidFill>
                <a:latin typeface="Consolas"/>
              </a:rPr>
              <a:t> </a:t>
            </a:r>
            <a:r>
              <a:rPr sz="725" i="0">
                <a:solidFill>
                  <a:srgbClr val="FF8E6E"/>
                </a:solidFill>
                <a:latin typeface="Consolas"/>
              </a:rPr>
              <a:t>None</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create_notifier</a:t>
            </a:r>
            <a:r>
              <a:rPr sz="725" i="0">
                <a:solidFill>
                  <a:srgbClr val="E6EDF3"/>
                </a:solidFill>
                <a:latin typeface="Consolas"/>
              </a:rPr>
              <a:t>(</a:t>
            </a:r>
            <a:r>
              <a:rPr sz="725" i="0">
                <a:solidFill>
                  <a:srgbClr val="E6EDF3"/>
                </a:solidFill>
                <a:latin typeface="Consolas"/>
              </a:rPr>
              <a:t>channel</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send</a:t>
            </a:r>
            <a:r>
              <a:rPr sz="725" i="0">
                <a:solidFill>
                  <a:srgbClr val="E6EDF3"/>
                </a:solidFill>
                <a:latin typeface="Consolas"/>
              </a:rPr>
              <a:t>(</a:t>
            </a:r>
            <a:r>
              <a:rPr sz="725" i="0">
                <a:solidFill>
                  <a:srgbClr val="E6EDF3"/>
                </a:solidFill>
                <a:latin typeface="Consolas"/>
              </a:rPr>
              <a:t>customer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p>
          <a:p>
            <a:pPr>
              <a:lnSpc>
                <a:spcPts val="900"/>
              </a:lnSpc>
              <a:spcAft>
                <a:spcPts val="0"/>
              </a:spcAft>
            </a:pPr>
            <a:r>
              <a:rPr sz="725" i="0">
                <a:solidFill>
                  <a:srgbClr val="E6EDF3"/>
                </a:solidFill>
                <a:latin typeface="Consolas"/>
              </a:rPr>
              <a:t> </a:t>
            </a:r>
          </a:p>
          <a:p>
            <a:pPr>
              <a:lnSpc>
                <a:spcPts val="900"/>
              </a:lnSpc>
              <a:spcAft>
                <a:spcPts val="0"/>
              </a:spcAft>
            </a:pP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cancel_order</a:t>
            </a:r>
            <a:r>
              <a:rPr sz="725" i="0">
                <a:solidFill>
                  <a:srgbClr val="E6EDF3"/>
                </a:solidFill>
                <a:latin typeface="Consolas"/>
              </a:rPr>
              <a:t>(</a:t>
            </a:r>
            <a:r>
              <a:rPr sz="725" i="0">
                <a:solidFill>
                  <a:srgbClr val="E6EDF3"/>
                </a:solidFill>
                <a:latin typeface="Consolas"/>
              </a:rPr>
              <a:t>order_id</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customer</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str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channel</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str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&gt;</a:t>
            </a:r>
            <a:r>
              <a:rPr sz="725" i="0">
                <a:solidFill>
                  <a:srgbClr val="E6EDF3"/>
                </a:solidFill>
                <a:latin typeface="Consolas"/>
              </a:rPr>
              <a:t> </a:t>
            </a:r>
            <a:r>
              <a:rPr sz="725" i="0">
                <a:solidFill>
                  <a:srgbClr val="FF8E6E"/>
                </a:solidFill>
                <a:latin typeface="Consolas"/>
              </a:rPr>
              <a:t>None</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create_notifier</a:t>
            </a:r>
            <a:r>
              <a:rPr sz="725" i="0">
                <a:solidFill>
                  <a:srgbClr val="E6EDF3"/>
                </a:solidFill>
                <a:latin typeface="Consolas"/>
              </a:rPr>
              <a:t>(</a:t>
            </a:r>
            <a:r>
              <a:rPr sz="725" i="0">
                <a:solidFill>
                  <a:srgbClr val="E6EDF3"/>
                </a:solidFill>
                <a:latin typeface="Consolas"/>
              </a:rPr>
              <a:t>channel</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send</a:t>
            </a:r>
            <a:r>
              <a:rPr sz="725" i="0">
                <a:solidFill>
                  <a:srgbClr val="E6EDF3"/>
                </a:solidFill>
                <a:latin typeface="Consolas"/>
              </a:rPr>
              <a:t>(</a:t>
            </a:r>
            <a:r>
              <a:rPr sz="725" i="0">
                <a:solidFill>
                  <a:srgbClr val="E6EDF3"/>
                </a:solidFill>
                <a:latin typeface="Consolas"/>
              </a:rPr>
              <a:t>customer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p>
        </p:txBody>
      </p:sp>
      <p:sp>
        <p:nvSpPr>
          <p:cNvPr id="41" name="Box 26"/>
          <p:cNvSpPr/>
          <p:nvPr/>
        </p:nvSpPr>
        <p:spPr>
          <a:xfrm>
            <a:off x="4379976" y="3658743"/>
            <a:ext cx="4023359"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2" name="Box 27"/>
          <p:cNvSpPr/>
          <p:nvPr/>
        </p:nvSpPr>
        <p:spPr>
          <a:xfrm>
            <a:off x="4379976" y="4001643"/>
            <a:ext cx="4023359"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3" name="Text 28"/>
          <p:cNvSpPr txBox="1"/>
          <p:nvPr/>
        </p:nvSpPr>
        <p:spPr>
          <a:xfrm>
            <a:off x="4297680" y="4288536"/>
            <a:ext cx="4187951" cy="502920"/>
          </a:xfrm>
          <a:prstGeom prst="rect">
            <a:avLst/>
          </a:prstGeom>
          <a:noFill/>
        </p:spPr>
        <p:txBody>
          <a:bodyPr wrap="square" anchor="t" lIns="45720" rIns="45720">
            <a:spAutoFit/>
          </a:bodyPr>
          <a:lstStyle/>
          <a:p>
            <a:pPr algn="l">
              <a:lnSpc>
                <a:spcPct val="115000"/>
              </a:lnSpc>
              <a:spcAft>
                <a:spcPts val="400"/>
              </a:spcAft>
            </a:pPr>
            <a:r>
              <a:rPr sz="850" i="0" b="1">
                <a:solidFill>
                  <a:srgbClr val="7A7A7A"/>
                </a:solidFill>
                <a:latin typeface="Inter"/>
              </a:rPr>
              <a:t>Analogi:</a:t>
            </a:r>
            <a:r>
              <a:rPr sz="850" i="0" b="0">
                <a:solidFill>
                  <a:srgbClr val="7A7A7A"/>
                </a:solidFill>
                <a:latin typeface="Inter"/>
              </a:rPr>
              <a:t> di restoran kita cukup pesan "nasi goreng". Siapa yang masak dan bagaimana caranya diurus dapur. Dapur = factory.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Factory: Design Pattern atau Fungsi Bawaan Python?</a:t>
            </a:r>
          </a:p>
        </p:txBody>
      </p:sp>
      <p:sp>
        <p:nvSpPr>
          <p:cNvPr id="22" name="Text 3"/>
          <p:cNvSpPr txBox="1"/>
          <p:nvPr/>
        </p:nvSpPr>
        <p:spPr>
          <a:xfrm>
            <a:off x="621792" y="1481328"/>
            <a:ext cx="4023360" cy="3291840"/>
          </a:xfrm>
          <a:prstGeom prst="rect">
            <a:avLst/>
          </a:prstGeom>
          <a:noFill/>
        </p:spPr>
        <p:txBody>
          <a:bodyPr wrap="square" anchor="t" lIns="45720" rIns="45720">
            <a:spAutoFit/>
          </a:bodyPr>
          <a:lstStyle/>
          <a:p>
            <a:pPr algn="l">
              <a:lnSpc>
                <a:spcPct val="115000"/>
              </a:lnSpc>
              <a:spcAft>
                <a:spcPts val="400"/>
              </a:spcAft>
            </a:pPr>
            <a:r>
              <a:rPr sz="1050" i="0" b="1">
                <a:solidFill>
                  <a:srgbClr val="1C4587"/>
                </a:solidFill>
                <a:latin typeface="Inter"/>
              </a:rPr>
              <a:t>Jawabannya: design pattern</a:t>
            </a:r>
          </a:p>
          <a:p>
            <a:pPr algn="l">
              <a:lnSpc>
                <a:spcPct val="115000"/>
              </a:lnSpc>
              <a:spcAft>
                <a:spcPts val="400"/>
              </a:spcAft>
            </a:pPr>
            <a:r>
              <a:rPr sz="950" i="0" b="0">
                <a:solidFill>
                  <a:srgbClr val="434343"/>
                </a:solidFill>
                <a:latin typeface="Inter"/>
              </a:rPr>
              <a:t>Python </a:t>
            </a:r>
            <a:r>
              <a:rPr sz="950" i="0" b="1">
                <a:solidFill>
                  <a:srgbClr val="434343"/>
                </a:solidFill>
                <a:latin typeface="Inter"/>
              </a:rPr>
              <a:t>tidak punya</a:t>
            </a:r>
            <a:r>
              <a:rPr sz="950" i="0" b="0">
                <a:solidFill>
                  <a:srgbClr val="434343"/>
                </a:solidFill>
                <a:latin typeface="Inter"/>
              </a:rPr>
              <a:t> fungsi bawaan bernama factory. </a:t>
            </a:r>
            <a:r>
              <a:rPr sz="950" i="0" b="0">
                <a:solidFill>
                  <a:srgbClr val="B5482A"/>
                </a:solidFill>
                <a:latin typeface="Consolas"/>
              </a:rPr>
              <a:t>create_notifier()</a:t>
            </a:r>
            <a:r>
              <a:rPr sz="950" i="0" b="0">
                <a:solidFill>
                  <a:srgbClr val="434343"/>
                </a:solidFill>
                <a:latin typeface="Inter"/>
              </a:rPr>
              <a:t> adalah function biasa yang </a:t>
            </a:r>
            <a:r>
              <a:rPr sz="950" i="0" b="1">
                <a:solidFill>
                  <a:srgbClr val="434343"/>
                </a:solidFill>
                <a:latin typeface="Inter"/>
              </a:rPr>
              <a:t>kita tulis sendiri</a:t>
            </a:r>
            <a:r>
              <a:rPr sz="950" i="0" b="0">
                <a:solidFill>
                  <a:srgbClr val="434343"/>
                </a:solidFill>
                <a:latin typeface="Inter"/>
              </a:rPr>
              <a:t> mengikuti pola Factory.</a:t>
            </a:r>
          </a:p>
          <a:p>
            <a:pPr algn="l">
              <a:lnSpc>
                <a:spcPct val="115000"/>
              </a:lnSpc>
              <a:spcAft>
                <a:spcPts val="400"/>
              </a:spcAft>
            </a:pPr>
            <a:r>
              <a:rPr sz="1050" i="0" b="1">
                <a:solidFill>
                  <a:srgbClr val="1C4587"/>
                </a:solidFill>
                <a:latin typeface="Inter"/>
              </a:rPr>
              <a:t>Fitur Python yang dipakai: dict</a:t>
            </a:r>
          </a:p>
          <a:p>
            <a:pPr algn="l">
              <a:lnSpc>
                <a:spcPct val="115000"/>
              </a:lnSpc>
              <a:spcAft>
                <a:spcPts val="400"/>
              </a:spcAft>
            </a:pPr>
            <a:r>
              <a:rPr sz="950" i="0" b="0">
                <a:solidFill>
                  <a:srgbClr val="B5482A"/>
                </a:solidFill>
                <a:latin typeface="Consolas"/>
              </a:rPr>
              <a:t>dict</a:t>
            </a:r>
            <a:r>
              <a:rPr sz="950" i="0" b="0">
                <a:solidFill>
                  <a:srgbClr val="434343"/>
                </a:solidFill>
                <a:latin typeface="Inter"/>
              </a:rPr>
              <a:t> adalah tipe data bawaan Python yang menyimpan pasangan </a:t>
            </a:r>
            <a:r>
              <a:rPr sz="950" i="0" b="1">
                <a:solidFill>
                  <a:srgbClr val="434343"/>
                </a:solidFill>
                <a:latin typeface="Inter"/>
              </a:rPr>
              <a:t>kunci → nilai</a:t>
            </a:r>
            <a:r>
              <a:rPr sz="950" i="0" b="0">
                <a:solidFill>
                  <a:srgbClr val="434343"/>
                </a:solidFill>
                <a:latin typeface="Inter"/>
              </a:rPr>
              <a:t>, seperti kamus: cari kata (kunci), dapat artinya (nilai). Di factory kita, kuncinya nama channel dan nilainya class notifier.</a:t>
            </a:r>
          </a:p>
          <a:p>
            <a:pPr algn="l">
              <a:lnSpc>
                <a:spcPct val="115000"/>
              </a:lnSpc>
              <a:spcAft>
                <a:spcPts val="400"/>
              </a:spcAft>
            </a:pPr>
            <a:r>
              <a:rPr sz="1050" i="0" b="1">
                <a:solidFill>
                  <a:srgbClr val="1C4587"/>
                </a:solidFill>
                <a:latin typeface="Inter"/>
              </a:rPr>
              <a:t>Di FastAPI nanti</a:t>
            </a:r>
          </a:p>
          <a:p>
            <a:pPr algn="l">
              <a:lnSpc>
                <a:spcPct val="115000"/>
              </a:lnSpc>
              <a:spcAft>
                <a:spcPts val="400"/>
              </a:spcAft>
            </a:pPr>
            <a:r>
              <a:rPr sz="950" i="0" b="0">
                <a:solidFill>
                  <a:srgbClr val="434343"/>
                </a:solidFill>
                <a:latin typeface="Inter"/>
              </a:rPr>
              <a:t>Function yang membuat object untuk </a:t>
            </a:r>
            <a:r>
              <a:rPr sz="950" i="0" b="0">
                <a:solidFill>
                  <a:srgbClr val="B5482A"/>
                </a:solidFill>
                <a:latin typeface="Consolas"/>
              </a:rPr>
              <a:t>Depends(...)</a:t>
            </a:r>
            <a:r>
              <a:rPr sz="950" i="0" b="0">
                <a:solidFill>
                  <a:srgbClr val="434343"/>
                </a:solidFill>
                <a:latin typeface="Inter"/>
              </a:rPr>
              <a:t>, misalnya </a:t>
            </a:r>
            <a:r>
              <a:rPr sz="950" i="0" b="0">
                <a:solidFill>
                  <a:srgbClr val="B5482A"/>
                </a:solidFill>
                <a:latin typeface="Consolas"/>
              </a:rPr>
              <a:t>get_order_service()</a:t>
            </a:r>
            <a:r>
              <a:rPr sz="950" i="0" b="0">
                <a:solidFill>
                  <a:srgbClr val="434343"/>
                </a:solidFill>
                <a:latin typeface="Inter"/>
              </a:rPr>
              <a:t> di hands-on, juga sebuah factory.</a:t>
            </a:r>
          </a:p>
        </p:txBody>
      </p:sp>
      <p:sp>
        <p:nvSpPr>
          <p:cNvPr id="23" name="CodeTab 5"/>
          <p:cNvSpPr/>
          <p:nvPr/>
        </p:nvSpPr>
        <p:spPr>
          <a:xfrm>
            <a:off x="4800600" y="1481328"/>
            <a:ext cx="368503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91032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504748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518464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5349240" y="1490472"/>
            <a:ext cx="3044952"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01-factory/after.py (baris 24-28)</a:t>
            </a:r>
          </a:p>
        </p:txBody>
      </p:sp>
      <p:sp>
        <p:nvSpPr>
          <p:cNvPr id="28" name="CodeBg 11"/>
          <p:cNvSpPr/>
          <p:nvPr/>
        </p:nvSpPr>
        <p:spPr>
          <a:xfrm>
            <a:off x="4800600" y="1719072"/>
            <a:ext cx="3685032" cy="1088136"/>
          </a:xfrm>
          <a:prstGeom prst="roundRect">
            <a:avLst>
              <a:gd name="adj" fmla="val 168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800600" y="1719072"/>
            <a:ext cx="3685032" cy="1088136"/>
          </a:xfrm>
          <a:prstGeom prst="rect">
            <a:avLst/>
          </a:prstGeom>
          <a:noFill/>
        </p:spPr>
        <p:txBody>
          <a:bodyPr wrap="none" lIns="146304" rIns="146304" tIns="91440" bIns="54864">
            <a:spAutoFit/>
          </a:bodyPr>
          <a:lstStyle/>
          <a:p>
            <a:pPr>
              <a:lnSpc>
                <a:spcPts val="1200"/>
              </a:lnSpc>
              <a:spcAft>
                <a:spcPts val="0"/>
              </a:spcAft>
            </a:pPr>
            <a:r>
              <a:rPr sz="900" i="0">
                <a:solidFill>
                  <a:srgbClr val="7FDBCA"/>
                </a:solidFill>
                <a:latin typeface="Consolas"/>
              </a:rPr>
              <a:t>NOTIFIERS</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a:t>
            </a:r>
          </a:p>
          <a:p>
            <a:pPr>
              <a:lnSpc>
                <a:spcPts val="1200"/>
              </a:lnSpc>
              <a:spcAft>
                <a:spcPts val="0"/>
              </a:spcAft>
            </a:pPr>
            <a:r>
              <a:rPr sz="900" i="0">
                <a:solidFill>
                  <a:srgbClr val="E6EDF3"/>
                </a:solidFill>
                <a:latin typeface="Consolas"/>
              </a:rPr>
              <a:t>    </a:t>
            </a:r>
            <a:r>
              <a:rPr sz="900" i="0">
                <a:solidFill>
                  <a:srgbClr val="A5D6A7"/>
                </a:solidFill>
                <a:latin typeface="Consolas"/>
              </a:rPr>
              <a:t>"email"</a:t>
            </a:r>
            <a:r>
              <a:rPr sz="900" i="0">
                <a:solidFill>
                  <a:srgbClr val="E6EDF3"/>
                </a:solidFill>
                <a:latin typeface="Consolas"/>
              </a:rPr>
              <a:t>:</a:t>
            </a:r>
            <a:r>
              <a:rPr sz="900" i="0">
                <a:solidFill>
                  <a:srgbClr val="E6EDF3"/>
                </a:solidFill>
                <a:latin typeface="Consolas"/>
              </a:rPr>
              <a:t> </a:t>
            </a:r>
            <a:r>
              <a:rPr sz="900" i="0">
                <a:solidFill>
                  <a:srgbClr val="7FDBCA"/>
                </a:solidFill>
                <a:latin typeface="Consolas"/>
              </a:rPr>
              <a:t>EmailNotifier</a:t>
            </a:r>
            <a:r>
              <a:rPr sz="900" i="0">
                <a:solidFill>
                  <a:srgbClr val="E6EDF3"/>
                </a:solidFill>
                <a:latin typeface="Consolas"/>
              </a:rPr>
              <a:t>,</a:t>
            </a:r>
          </a:p>
          <a:p>
            <a:pPr>
              <a:lnSpc>
                <a:spcPts val="1200"/>
              </a:lnSpc>
              <a:spcAft>
                <a:spcPts val="0"/>
              </a:spcAft>
            </a:pPr>
            <a:r>
              <a:rPr sz="900" i="0">
                <a:solidFill>
                  <a:srgbClr val="E6EDF3"/>
                </a:solidFill>
                <a:latin typeface="Consolas"/>
              </a:rPr>
              <a:t>    </a:t>
            </a:r>
            <a:r>
              <a:rPr sz="900" i="0">
                <a:solidFill>
                  <a:srgbClr val="A5D6A7"/>
                </a:solidFill>
                <a:latin typeface="Consolas"/>
              </a:rPr>
              <a:t>"sms"</a:t>
            </a:r>
            <a:r>
              <a:rPr sz="900" i="0">
                <a:solidFill>
                  <a:srgbClr val="E6EDF3"/>
                </a:solidFill>
                <a:latin typeface="Consolas"/>
              </a:rPr>
              <a:t>:</a:t>
            </a:r>
            <a:r>
              <a:rPr sz="900" i="0">
                <a:solidFill>
                  <a:srgbClr val="E6EDF3"/>
                </a:solidFill>
                <a:latin typeface="Consolas"/>
              </a:rPr>
              <a:t> </a:t>
            </a:r>
            <a:r>
              <a:rPr sz="900" i="0">
                <a:solidFill>
                  <a:srgbClr val="7FDBCA"/>
                </a:solidFill>
                <a:latin typeface="Consolas"/>
              </a:rPr>
              <a:t>SmsNotifier</a:t>
            </a:r>
            <a:r>
              <a:rPr sz="900" i="0">
                <a:solidFill>
                  <a:srgbClr val="E6EDF3"/>
                </a:solidFill>
                <a:latin typeface="Consolas"/>
              </a:rPr>
              <a:t>,</a:t>
            </a:r>
          </a:p>
          <a:p>
            <a:pPr>
              <a:lnSpc>
                <a:spcPts val="1200"/>
              </a:lnSpc>
              <a:spcAft>
                <a:spcPts val="0"/>
              </a:spcAft>
            </a:pPr>
            <a:r>
              <a:rPr sz="900" i="0">
                <a:solidFill>
                  <a:srgbClr val="E6EDF3"/>
                </a:solidFill>
                <a:latin typeface="Consolas"/>
              </a:rPr>
              <a:t>    </a:t>
            </a:r>
            <a:r>
              <a:rPr sz="900" i="0">
                <a:solidFill>
                  <a:srgbClr val="A5D6A7"/>
                </a:solidFill>
                <a:latin typeface="Consolas"/>
              </a:rPr>
              <a:t>"whatsapp"</a:t>
            </a:r>
            <a:r>
              <a:rPr sz="900" i="0">
                <a:solidFill>
                  <a:srgbClr val="E6EDF3"/>
                </a:solidFill>
                <a:latin typeface="Consolas"/>
              </a:rPr>
              <a:t>:</a:t>
            </a:r>
            <a:r>
              <a:rPr sz="900" i="0">
                <a:solidFill>
                  <a:srgbClr val="E6EDF3"/>
                </a:solidFill>
                <a:latin typeface="Consolas"/>
              </a:rPr>
              <a:t> </a:t>
            </a:r>
            <a:r>
              <a:rPr sz="900" i="0">
                <a:solidFill>
                  <a:srgbClr val="7FDBCA"/>
                </a:solidFill>
                <a:latin typeface="Consolas"/>
              </a:rPr>
              <a:t>WhatsAppNotifier</a:t>
            </a:r>
            <a:r>
              <a:rPr sz="900" i="0">
                <a:solidFill>
                  <a:srgbClr val="E6EDF3"/>
                </a:solidFill>
                <a:latin typeface="Consolas"/>
              </a:rPr>
              <a:t>,</a:t>
            </a:r>
          </a:p>
          <a:p>
            <a:pPr>
              <a:lnSpc>
                <a:spcPts val="1200"/>
              </a:lnSpc>
              <a:spcAft>
                <a:spcPts val="0"/>
              </a:spcAft>
            </a:pPr>
            <a:r>
              <a:rPr sz="900" i="0">
                <a:solidFill>
                  <a:srgbClr val="E6EDF3"/>
                </a:solidFill>
                <a:latin typeface="Consolas"/>
              </a:rPr>
              <a:t>}</a:t>
            </a:r>
          </a:p>
        </p:txBody>
      </p:sp>
      <p:graphicFrame>
        <p:nvGraphicFramePr>
          <p:cNvPr id="30" name="Table 13"/>
          <p:cNvGraphicFramePr>
            <a:graphicFrameLocks noGrp="1"/>
          </p:cNvGraphicFramePr>
          <p:nvPr/>
        </p:nvGraphicFramePr>
        <p:xfrm>
          <a:off x="4800600" y="2926080"/>
          <a:ext cx="3685032" cy="1645920"/>
        </p:xfrm>
        <a:graphic>
          <a:graphicData uri="http://schemas.openxmlformats.org/drawingml/2006/table">
            <a:tbl>
              <a:tblPr firstRow="1" bandRow="1"/>
              <a:tblGrid>
                <a:gridCol w="1463040"/>
                <a:gridCol w="2221992"/>
              </a:tblGrid>
              <a:tr h="411480">
                <a:tc>
                  <a:txBody>
                    <a:bodyPr wrap="square"/>
                    <a:lstStyle/>
                    <a:p>
                      <a:pPr algn="l">
                        <a:lnSpc>
                          <a:spcPct val="100000"/>
                        </a:lnSpc>
                        <a:spcAft>
                          <a:spcPts val="0"/>
                        </a:spcAft>
                      </a:pPr>
                      <a:r>
                        <a:rPr sz="850" i="0" b="1">
                          <a:solidFill>
                            <a:srgbClr val="FFFFFF"/>
                          </a:solidFill>
                          <a:latin typeface="Inter"/>
                        </a:rPr>
                        <a:t>Ditulis</a:t>
                      </a:r>
                    </a:p>
                  </a:txBody>
                  <a:tcPr marL="73152" marR="73152" marT="36576" marB="36576" anchor="ctr">
                    <a:solidFill>
                      <a:srgbClr val="1C4587"/>
                    </a:solidFill>
                  </a:tcPr>
                </a:tc>
                <a:tc>
                  <a:txBody>
                    <a:bodyPr wrap="square"/>
                    <a:lstStyle/>
                    <a:p>
                      <a:pPr algn="l">
                        <a:lnSpc>
                          <a:spcPct val="100000"/>
                        </a:lnSpc>
                        <a:spcAft>
                          <a:spcPts val="0"/>
                        </a:spcAft>
                      </a:pPr>
                      <a:r>
                        <a:rPr sz="850" i="0" b="1">
                          <a:solidFill>
                            <a:srgbClr val="FFFFFF"/>
                          </a:solidFill>
                          <a:latin typeface="Inter"/>
                        </a:rPr>
                        <a:t>Hasilnya</a:t>
                      </a:r>
                    </a:p>
                  </a:txBody>
                  <a:tcPr marL="73152" marR="73152" marT="36576" marB="36576" anchor="ctr">
                    <a:solidFill>
                      <a:srgbClr val="1C4587"/>
                    </a:solidFill>
                  </a:tcPr>
                </a:tc>
              </a:tr>
              <a:tr h="411480">
                <a:tc>
                  <a:txBody>
                    <a:bodyPr wrap="square"/>
                    <a:lstStyle/>
                    <a:p>
                      <a:pPr algn="l">
                        <a:lnSpc>
                          <a:spcPct val="100000"/>
                        </a:lnSpc>
                        <a:spcAft>
                          <a:spcPts val="0"/>
                        </a:spcAft>
                      </a:pPr>
                      <a:r>
                        <a:rPr sz="850" i="0" b="1">
                          <a:solidFill>
                            <a:srgbClr val="1C4587"/>
                          </a:solidFill>
                          <a:latin typeface="Inter"/>
                        </a:rPr>
                        <a:t>NOTIFIERS["email"]</a:t>
                      </a:r>
                    </a:p>
                  </a:txBody>
                  <a:tcPr marL="73152" marR="73152" marT="36576" marB="36576" anchor="ctr">
                    <a:solidFill>
                      <a:srgbClr val="FFFFFF"/>
                    </a:solidFill>
                  </a:tcPr>
                </a:tc>
                <a:tc>
                  <a:txBody>
                    <a:bodyPr wrap="square"/>
                    <a:lstStyle/>
                    <a:p>
                      <a:pPr algn="l">
                        <a:lnSpc>
                          <a:spcPct val="100000"/>
                        </a:lnSpc>
                        <a:spcAft>
                          <a:spcPts val="0"/>
                        </a:spcAft>
                      </a:pPr>
                      <a:r>
                        <a:rPr sz="850" i="0" b="0">
                          <a:solidFill>
                            <a:srgbClr val="434343"/>
                          </a:solidFill>
                          <a:latin typeface="Inter"/>
                        </a:rPr>
                        <a:t>class EmailNotifier</a:t>
                      </a:r>
                    </a:p>
                  </a:txBody>
                  <a:tcPr marL="73152" marR="73152" marT="36576" marB="36576" anchor="ctr">
                    <a:solidFill>
                      <a:srgbClr val="FFFFFF"/>
                    </a:solidFill>
                  </a:tcPr>
                </a:tc>
              </a:tr>
              <a:tr h="411480">
                <a:tc>
                  <a:txBody>
                    <a:bodyPr wrap="square"/>
                    <a:lstStyle/>
                    <a:p>
                      <a:pPr algn="l">
                        <a:lnSpc>
                          <a:spcPct val="100000"/>
                        </a:lnSpc>
                        <a:spcAft>
                          <a:spcPts val="0"/>
                        </a:spcAft>
                      </a:pPr>
                      <a:r>
                        <a:rPr sz="850" i="0" b="1">
                          <a:solidFill>
                            <a:srgbClr val="1C4587"/>
                          </a:solidFill>
                          <a:latin typeface="Inter"/>
                        </a:rPr>
                        <a:t>NOTIFIERS["email"]()</a:t>
                      </a:r>
                    </a:p>
                  </a:txBody>
                  <a:tcPr marL="73152" marR="73152" marT="36576" marB="36576" anchor="ctr">
                    <a:solidFill>
                      <a:srgbClr val="F3F4F6"/>
                    </a:solidFill>
                  </a:tcPr>
                </a:tc>
                <a:tc>
                  <a:txBody>
                    <a:bodyPr wrap="square"/>
                    <a:lstStyle/>
                    <a:p>
                      <a:pPr algn="l">
                        <a:lnSpc>
                          <a:spcPct val="100000"/>
                        </a:lnSpc>
                        <a:spcAft>
                          <a:spcPts val="0"/>
                        </a:spcAft>
                      </a:pPr>
                      <a:r>
                        <a:rPr sz="850" i="0" b="0">
                          <a:solidFill>
                            <a:srgbClr val="434343"/>
                          </a:solidFill>
                          <a:latin typeface="Inter"/>
                        </a:rPr>
                        <a:t>object EmailNotifier, siap dipakai</a:t>
                      </a:r>
                    </a:p>
                  </a:txBody>
                  <a:tcPr marL="73152" marR="73152" marT="36576" marB="36576" anchor="ctr">
                    <a:solidFill>
                      <a:srgbClr val="F3F4F6"/>
                    </a:solidFill>
                  </a:tcPr>
                </a:tc>
              </a:tr>
              <a:tr h="411480">
                <a:tc>
                  <a:txBody>
                    <a:bodyPr wrap="square"/>
                    <a:lstStyle/>
                    <a:p>
                      <a:pPr algn="l">
                        <a:lnSpc>
                          <a:spcPct val="100000"/>
                        </a:lnSpc>
                        <a:spcAft>
                          <a:spcPts val="0"/>
                        </a:spcAft>
                      </a:pPr>
                      <a:r>
                        <a:rPr sz="850" i="0" b="1">
                          <a:solidFill>
                            <a:srgbClr val="1C4587"/>
                          </a:solidFill>
                          <a:latin typeface="Inter"/>
                        </a:rPr>
                        <a:t>NOTIFIERS["gojek"]</a:t>
                      </a:r>
                    </a:p>
                  </a:txBody>
                  <a:tcPr marL="73152" marR="73152" marT="36576" marB="36576" anchor="ctr">
                    <a:solidFill>
                      <a:srgbClr val="FFFFFF"/>
                    </a:solidFill>
                  </a:tcPr>
                </a:tc>
                <a:tc>
                  <a:txBody>
                    <a:bodyPr wrap="square"/>
                    <a:lstStyle/>
                    <a:p>
                      <a:pPr algn="l">
                        <a:lnSpc>
                          <a:spcPct val="100000"/>
                        </a:lnSpc>
                        <a:spcAft>
                          <a:spcPts val="0"/>
                        </a:spcAft>
                      </a:pPr>
                      <a:r>
                        <a:rPr sz="850" i="0" b="0">
                          <a:solidFill>
                            <a:srgbClr val="434343"/>
                          </a:solidFill>
                          <a:latin typeface="Inter"/>
                        </a:rPr>
                        <a:t>error KeyError, karena kuncinya tidak ada</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If/Elif di beberapa function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9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EmailNotifier</a:t>
            </a:r>
            <a:r>
              <a:rPr sz="850" i="0">
                <a:solidFill>
                  <a:srgbClr val="E6EDF3"/>
                </a:solidFill>
                <a:latin typeface="Consolas"/>
              </a:rPr>
              <a:t>:</a:t>
            </a:r>
          </a:p>
          <a:p>
            <a:pPr>
              <a:lnSpc>
                <a:spcPts val="1100"/>
              </a:lnSpc>
              <a:spcAft>
                <a:spcPts val="0"/>
              </a:spcAft>
            </a:pPr>
            <a:r>
              <a:rPr sz="850" i="0">
                <a:solidFill>
                  <a:srgbClr val="5C6773"/>
                </a:solidFill>
                <a:latin typeface="Consolas"/>
              </a:rPr>
              <a:t>10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message</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11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f"[EMAIL] ke {to}: {message}"</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p>
          <a:p>
            <a:pPr>
              <a:lnSpc>
                <a:spcPts val="1100"/>
              </a:lnSpc>
              <a:spcAft>
                <a:spcPts val="0"/>
              </a:spcAft>
            </a:pPr>
            <a:r>
              <a:rPr sz="850" i="0">
                <a:solidFill>
                  <a:srgbClr val="5C6773"/>
                </a:solidFill>
                <a:latin typeface="Consolas"/>
              </a:rPr>
              <a:t>13  </a:t>
            </a:r>
            <a:r>
              <a:rPr sz="850" i="0">
                <a:solidFill>
                  <a:srgbClr val="E6EDF3"/>
                </a:solidFill>
                <a:latin typeface="Consolas"/>
              </a:rPr>
              <a:t> </a:t>
            </a:r>
          </a:p>
          <a:p>
            <a:pPr>
              <a:lnSpc>
                <a:spcPts val="1100"/>
              </a:lnSpc>
              <a:spcAft>
                <a:spcPts val="0"/>
              </a:spcAft>
            </a:pPr>
            <a:r>
              <a:rPr sz="850" i="0">
                <a:solidFill>
                  <a:srgbClr val="5C6773"/>
                </a:solidFill>
                <a:latin typeface="Consolas"/>
              </a:rPr>
              <a:t>14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SmsNotifier</a:t>
            </a:r>
            <a:r>
              <a:rPr sz="850" i="0">
                <a:solidFill>
                  <a:srgbClr val="E6EDF3"/>
                </a:solidFill>
                <a:latin typeface="Consolas"/>
              </a:rPr>
              <a:t>:</a:t>
            </a:r>
          </a:p>
          <a:p>
            <a:pPr>
              <a:lnSpc>
                <a:spcPts val="1100"/>
              </a:lnSpc>
              <a:spcAft>
                <a:spcPts val="0"/>
              </a:spcAft>
            </a:pPr>
            <a:r>
              <a:rPr sz="850" i="0">
                <a:solidFill>
                  <a:srgbClr val="5C6773"/>
                </a:solidFill>
                <a:latin typeface="Consolas"/>
              </a:rPr>
              <a:t>15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message</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16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f"[SMS] ke {to}: {message}"</a:t>
            </a:r>
            <a:r>
              <a:rPr sz="850" i="0">
                <a:solidFill>
                  <a:srgbClr val="E6EDF3"/>
                </a:solidFill>
                <a:latin typeface="Consolas"/>
              </a:rPr>
              <a:t>)</a:t>
            </a:r>
          </a:p>
          <a:p>
            <a:pPr>
              <a:lnSpc>
                <a:spcPts val="1100"/>
              </a:lnSpc>
              <a:spcAft>
                <a:spcPts val="0"/>
              </a:spcAft>
            </a:pPr>
            <a:r>
              <a:rPr sz="850" i="0">
                <a:solidFill>
                  <a:srgbClr val="5C6773"/>
                </a:solidFill>
                <a:latin typeface="Consolas"/>
              </a:rPr>
              <a:t>17  </a:t>
            </a:r>
            <a:r>
              <a:rPr sz="850" i="0">
                <a:solidFill>
                  <a:srgbClr val="E6EDF3"/>
                </a:solidFill>
                <a:latin typeface="Consolas"/>
              </a:rPr>
              <a:t> </a:t>
            </a:r>
          </a:p>
          <a:p>
            <a:pPr>
              <a:lnSpc>
                <a:spcPts val="1100"/>
              </a:lnSpc>
              <a:spcAft>
                <a:spcPts val="0"/>
              </a:spcAft>
            </a:pPr>
            <a:r>
              <a:rPr sz="850" i="0">
                <a:solidFill>
                  <a:srgbClr val="5C6773"/>
                </a:solidFill>
                <a:latin typeface="Consolas"/>
              </a:rPr>
              <a:t>18  </a:t>
            </a:r>
            <a:r>
              <a:rPr sz="850" i="0">
                <a:solidFill>
                  <a:srgbClr val="E6EDF3"/>
                </a:solidFill>
                <a:latin typeface="Consolas"/>
              </a:rPr>
              <a:t> </a:t>
            </a:r>
          </a:p>
          <a:p>
            <a:pPr>
              <a:lnSpc>
                <a:spcPts val="1100"/>
              </a:lnSpc>
              <a:spcAft>
                <a:spcPts val="0"/>
              </a:spcAft>
            </a:pPr>
            <a:r>
              <a:rPr sz="850" i="0">
                <a:solidFill>
                  <a:srgbClr val="5C6773"/>
                </a:solidFill>
                <a:latin typeface="Consolas"/>
              </a:rPr>
              <a:t>19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place_order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EmailNotifier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22  </a:t>
            </a:r>
            <a:r>
              <a:rPr sz="850" i="0">
                <a:solidFill>
                  <a:srgbClr val="E6EDF3"/>
                </a:solidFill>
                <a:latin typeface="Consolas"/>
              </a:rPr>
              <a:t>    </a:t>
            </a:r>
            <a:r>
              <a:rPr sz="850" i="0">
                <a:solidFill>
                  <a:srgbClr val="FF8E6E"/>
                </a:solidFill>
                <a:latin typeface="Consolas"/>
              </a:rPr>
              <a:t>elif</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"sms"</a:t>
            </a:r>
            <a:r>
              <a:rPr sz="850" i="0">
                <a:solidFill>
                  <a:srgbClr val="E6EDF3"/>
                </a:solidFill>
                <a:latin typeface="Consolas"/>
              </a:rPr>
              <a:t>:</a:t>
            </a:r>
          </a:p>
          <a:p>
            <a:pPr>
              <a:lnSpc>
                <a:spcPts val="1100"/>
              </a:lnSpc>
              <a:spcAft>
                <a:spcPts val="0"/>
              </a:spcAft>
            </a:pPr>
            <a:r>
              <a:rPr sz="850" i="0">
                <a:solidFill>
                  <a:srgbClr val="5C6773"/>
                </a:solidFill>
                <a:latin typeface="Consolas"/>
              </a:rPr>
              <a:t>23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SmsNotifier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24  </a:t>
            </a:r>
            <a:r>
              <a:rPr sz="850" i="0">
                <a:solidFill>
                  <a:srgbClr val="E6EDF3"/>
                </a:solidFill>
                <a:latin typeface="Consolas"/>
              </a:rPr>
              <a:t>    </a:t>
            </a:r>
            <a:r>
              <a:rPr sz="850" i="0">
                <a:solidFill>
                  <a:srgbClr val="FF8E6E"/>
                </a:solidFill>
                <a:latin typeface="Consolas"/>
              </a:rPr>
              <a:t>else</a:t>
            </a:r>
            <a:r>
              <a:rPr sz="850" i="0">
                <a:solidFill>
                  <a:srgbClr val="E6EDF3"/>
                </a:solidFill>
                <a:latin typeface="Consolas"/>
              </a:rPr>
              <a:t>:</a:t>
            </a:r>
          </a:p>
          <a:p>
            <a:pPr>
              <a:lnSpc>
                <a:spcPts val="1100"/>
              </a:lnSpc>
              <a:spcAft>
                <a:spcPts val="0"/>
              </a:spcAft>
            </a:pPr>
            <a:r>
              <a:rPr sz="850" i="0">
                <a:solidFill>
                  <a:srgbClr val="5C6773"/>
                </a:solidFill>
                <a:latin typeface="Consolas"/>
              </a:rPr>
              <a:t>25  </a:t>
            </a:r>
            <a:r>
              <a:rPr sz="850" i="0">
                <a:solidFill>
                  <a:srgbClr val="E6EDF3"/>
                </a:solidFill>
                <a:latin typeface="Consolas"/>
              </a:rPr>
              <a:t>        </a:t>
            </a:r>
            <a:r>
              <a:rPr sz="850" i="0">
                <a:solidFill>
                  <a:srgbClr val="FF8E6E"/>
                </a:solidFill>
                <a:latin typeface="Consolas"/>
              </a:rPr>
              <a:t>raise</a:t>
            </a:r>
            <a:r>
              <a:rPr sz="850" i="0">
                <a:solidFill>
                  <a:srgbClr val="E6EDF3"/>
                </a:solidFill>
                <a:latin typeface="Consolas"/>
              </a:rPr>
              <a:t> </a:t>
            </a:r>
            <a:r>
              <a:rPr sz="850" i="0">
                <a:solidFill>
                  <a:srgbClr val="7FDBCA"/>
                </a:solidFill>
                <a:latin typeface="Consolas"/>
              </a:rPr>
              <a:t>ValueError</a:t>
            </a:r>
            <a:r>
              <a:rPr sz="850" i="0">
                <a:solidFill>
                  <a:srgbClr val="E6EDF3"/>
                </a:solidFill>
                <a:latin typeface="Consolas"/>
              </a:rPr>
              <a:t>(</a:t>
            </a:r>
            <a:r>
              <a:rPr sz="850" i="0">
                <a:solidFill>
                  <a:srgbClr val="A5D6A7"/>
                </a:solidFill>
                <a:latin typeface="Consolas"/>
              </a:rPr>
              <a:t>f"Channel tidak dikenal: {channel}"</a:t>
            </a:r>
            <a:r>
              <a:rPr sz="850" i="0">
                <a:solidFill>
                  <a:srgbClr val="E6EDF3"/>
                </a:solidFill>
                <a:latin typeface="Consolas"/>
              </a:rPr>
              <a:t>)</a:t>
            </a:r>
          </a:p>
          <a:p>
            <a:pPr>
              <a:lnSpc>
                <a:spcPts val="1100"/>
              </a:lnSpc>
              <a:spcAft>
                <a:spcPts val="0"/>
              </a:spcAft>
            </a:pPr>
            <a:r>
              <a:rPr sz="850" i="0">
                <a:solidFill>
                  <a:srgbClr val="5C6773"/>
                </a:solidFill>
                <a:latin typeface="Consolas"/>
              </a:rPr>
              <a:t>26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a:t>
            </a:r>
            <a:r>
              <a:rPr sz="850" i="0">
                <a:solidFill>
                  <a:srgbClr val="E6EDF3"/>
                </a:solidFill>
                <a:latin typeface="Consolas"/>
              </a:rPr>
              <a:t>send</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f"Order #{order_id} berhasil dibuat"</a:t>
            </a:r>
            <a:r>
              <a:rPr sz="850" i="0">
                <a:solidFill>
                  <a:srgbClr val="E6EDF3"/>
                </a:solidFill>
                <a:latin typeface="Consolas"/>
              </a:rPr>
              <a:t>)</a:t>
            </a:r>
          </a:p>
        </p:txBody>
      </p:sp>
      <p:sp>
        <p:nvSpPr>
          <p:cNvPr id="29" name="Box 12"/>
          <p:cNvSpPr/>
          <p:nvPr/>
        </p:nvSpPr>
        <p:spPr>
          <a:xfrm>
            <a:off x="704088" y="3365373"/>
            <a:ext cx="7699248" cy="829818"/>
          </a:xfrm>
          <a:prstGeom prst="roundRect">
            <a:avLst>
              <a:gd name="adj" fmla="val 550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6614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If/Elif di beberapa function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29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cancel_order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r>
              <a:rPr sz="850" i="1">
                <a:solidFill>
                  <a:srgbClr val="8B98A8"/>
                </a:solidFill>
                <a:latin typeface="Consolas"/>
              </a:rPr>
              <a:t># if/elif yang sama, hasil copy-paste dari place_order</a:t>
            </a:r>
          </a:p>
          <a:p>
            <a:pPr>
              <a:lnSpc>
                <a:spcPts val="1100"/>
              </a:lnSpc>
              <a:spcAft>
                <a:spcPts val="0"/>
              </a:spcAft>
            </a:pPr>
            <a:r>
              <a:rPr sz="850" i="0">
                <a:solidFill>
                  <a:srgbClr val="5C6773"/>
                </a:solidFill>
                <a:latin typeface="Consolas"/>
              </a:rPr>
              <a:t>31  </a:t>
            </a: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32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EmailNotifier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33  </a:t>
            </a:r>
            <a:r>
              <a:rPr sz="850" i="0">
                <a:solidFill>
                  <a:srgbClr val="E6EDF3"/>
                </a:solidFill>
                <a:latin typeface="Consolas"/>
              </a:rPr>
              <a:t>    </a:t>
            </a:r>
            <a:r>
              <a:rPr sz="850" i="0">
                <a:solidFill>
                  <a:srgbClr val="FF8E6E"/>
                </a:solidFill>
                <a:latin typeface="Consolas"/>
              </a:rPr>
              <a:t>elif</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"sms"</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SmsNotifier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FF8E6E"/>
                </a:solidFill>
                <a:latin typeface="Consolas"/>
              </a:rPr>
              <a:t>else</a:t>
            </a:r>
            <a:r>
              <a:rPr sz="850" i="0">
                <a:solidFill>
                  <a:srgbClr val="E6EDF3"/>
                </a:solidFill>
                <a:latin typeface="Consolas"/>
              </a:rPr>
              <a:t>:</a:t>
            </a:r>
          </a:p>
          <a:p>
            <a:pPr>
              <a:lnSpc>
                <a:spcPts val="1100"/>
              </a:lnSpc>
              <a:spcAft>
                <a:spcPts val="0"/>
              </a:spcAft>
            </a:pPr>
            <a:r>
              <a:rPr sz="850" i="0">
                <a:solidFill>
                  <a:srgbClr val="5C6773"/>
                </a:solidFill>
                <a:latin typeface="Consolas"/>
              </a:rPr>
              <a:t>36  </a:t>
            </a:r>
            <a:r>
              <a:rPr sz="850" i="0">
                <a:solidFill>
                  <a:srgbClr val="E6EDF3"/>
                </a:solidFill>
                <a:latin typeface="Consolas"/>
              </a:rPr>
              <a:t>        </a:t>
            </a:r>
            <a:r>
              <a:rPr sz="850" i="0">
                <a:solidFill>
                  <a:srgbClr val="FF8E6E"/>
                </a:solidFill>
                <a:latin typeface="Consolas"/>
              </a:rPr>
              <a:t>raise</a:t>
            </a:r>
            <a:r>
              <a:rPr sz="850" i="0">
                <a:solidFill>
                  <a:srgbClr val="E6EDF3"/>
                </a:solidFill>
                <a:latin typeface="Consolas"/>
              </a:rPr>
              <a:t> </a:t>
            </a:r>
            <a:r>
              <a:rPr sz="850" i="0">
                <a:solidFill>
                  <a:srgbClr val="7FDBCA"/>
                </a:solidFill>
                <a:latin typeface="Consolas"/>
              </a:rPr>
              <a:t>ValueError</a:t>
            </a:r>
            <a:r>
              <a:rPr sz="850" i="0">
                <a:solidFill>
                  <a:srgbClr val="E6EDF3"/>
                </a:solidFill>
                <a:latin typeface="Consolas"/>
              </a:rPr>
              <a:t>(</a:t>
            </a:r>
            <a:r>
              <a:rPr sz="850" i="0">
                <a:solidFill>
                  <a:srgbClr val="A5D6A7"/>
                </a:solidFill>
                <a:latin typeface="Consolas"/>
              </a:rPr>
              <a:t>f"Channel tidak dikenal: {channel}"</a:t>
            </a:r>
            <a:r>
              <a:rPr sz="850" i="0">
                <a:solidFill>
                  <a:srgbClr val="E6EDF3"/>
                </a:solidFill>
                <a:latin typeface="Consolas"/>
              </a:rPr>
              <a:t>)</a:t>
            </a:r>
          </a:p>
          <a:p>
            <a:pPr>
              <a:lnSpc>
                <a:spcPts val="1100"/>
              </a:lnSpc>
              <a:spcAft>
                <a:spcPts val="0"/>
              </a:spcAft>
            </a:pPr>
            <a:r>
              <a:rPr sz="850" i="0">
                <a:solidFill>
                  <a:srgbClr val="5C6773"/>
                </a:solidFill>
                <a:latin typeface="Consolas"/>
              </a:rPr>
              <a:t>37  </a:t>
            </a:r>
            <a:r>
              <a:rPr sz="850" i="0">
                <a:solidFill>
                  <a:srgbClr val="E6EDF3"/>
                </a:solidFill>
                <a:latin typeface="Consolas"/>
              </a:rPr>
              <a:t>    </a:t>
            </a:r>
            <a:r>
              <a:rPr sz="850" i="0">
                <a:solidFill>
                  <a:srgbClr val="E6EDF3"/>
                </a:solidFill>
                <a:latin typeface="Consolas"/>
              </a:rPr>
              <a:t>notifier</a:t>
            </a:r>
            <a:r>
              <a:rPr sz="850" i="0">
                <a:solidFill>
                  <a:srgbClr val="E6EDF3"/>
                </a:solidFill>
                <a:latin typeface="Consolas"/>
              </a:rPr>
              <a:t>.</a:t>
            </a:r>
            <a:r>
              <a:rPr sz="850" i="0">
                <a:solidFill>
                  <a:srgbClr val="E6EDF3"/>
                </a:solidFill>
                <a:latin typeface="Consolas"/>
              </a:rPr>
              <a:t>send</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f"Order #{order_id} dibatalkan"</a:t>
            </a:r>
            <a:r>
              <a:rPr sz="850" i="0">
                <a:solidFill>
                  <a:srgbClr val="E6EDF3"/>
                </a:solidFill>
                <a:latin typeface="Consolas"/>
              </a:rPr>
              <a:t>)</a:t>
            </a:r>
          </a:p>
          <a:p>
            <a:pPr>
              <a:lnSpc>
                <a:spcPts val="1100"/>
              </a:lnSpc>
              <a:spcAft>
                <a:spcPts val="0"/>
              </a:spcAft>
            </a:pPr>
            <a:r>
              <a:rPr sz="850" i="0">
                <a:solidFill>
                  <a:srgbClr val="5C6773"/>
                </a:solidFill>
                <a:latin typeface="Consolas"/>
              </a:rPr>
              <a:t>38  </a:t>
            </a:r>
            <a:r>
              <a:rPr sz="850" i="0">
                <a:solidFill>
                  <a:srgbClr val="E6EDF3"/>
                </a:solidFill>
                <a:latin typeface="Consolas"/>
              </a:rPr>
              <a:t> </a:t>
            </a:r>
          </a:p>
          <a:p>
            <a:pPr>
              <a:lnSpc>
                <a:spcPts val="1100"/>
              </a:lnSpc>
              <a:spcAft>
                <a:spcPts val="0"/>
              </a:spcAft>
            </a:pPr>
            <a:r>
              <a:rPr sz="850" i="0">
                <a:solidFill>
                  <a:srgbClr val="5C6773"/>
                </a:solidFill>
                <a:latin typeface="Consolas"/>
              </a:rPr>
              <a:t>39  </a:t>
            </a:r>
            <a:r>
              <a:rPr sz="850" i="0">
                <a:solidFill>
                  <a:srgbClr val="E6EDF3"/>
                </a:solidFill>
                <a:latin typeface="Consolas"/>
              </a:rPr>
              <a:t> </a:t>
            </a:r>
          </a:p>
          <a:p>
            <a:pPr>
              <a:lnSpc>
                <a:spcPts val="1100"/>
              </a:lnSpc>
              <a:spcAft>
                <a:spcPts val="0"/>
              </a:spcAft>
            </a:pPr>
            <a:r>
              <a:rPr sz="850" i="0">
                <a:solidFill>
                  <a:srgbClr val="5C6773"/>
                </a:solidFill>
                <a:latin typeface="Consolas"/>
              </a:rPr>
              <a:t>40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41  </a:t>
            </a:r>
            <a:r>
              <a:rPr sz="850" i="0">
                <a:solidFill>
                  <a:srgbClr val="E6EDF3"/>
                </a:solidFill>
                <a:latin typeface="Consolas"/>
              </a:rPr>
              <a:t>    </a:t>
            </a:r>
            <a:r>
              <a:rPr sz="850" i="0">
                <a:solidFill>
                  <a:srgbClr val="E6EDF3"/>
                </a:solidFill>
                <a:latin typeface="Consolas"/>
              </a:rPr>
              <a:t>place_order</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42  </a:t>
            </a:r>
            <a:r>
              <a:rPr sz="850" i="0">
                <a:solidFill>
                  <a:srgbClr val="E6EDF3"/>
                </a:solidFill>
                <a:latin typeface="Consolas"/>
              </a:rPr>
              <a:t>    </a:t>
            </a:r>
            <a:r>
              <a:rPr sz="850" i="0">
                <a:solidFill>
                  <a:srgbClr val="E6EDF3"/>
                </a:solidFill>
                <a:latin typeface="Consolas"/>
              </a:rPr>
              <a:t>cancel_order</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"sms"</a:t>
            </a:r>
            <a:r>
              <a:rPr sz="850" i="0">
                <a:solidFill>
                  <a:srgbClr val="E6EDF3"/>
                </a:solidFill>
                <a:latin typeface="Consolas"/>
              </a:rPr>
              <a:t>)</a:t>
            </a:r>
          </a:p>
        </p:txBody>
      </p:sp>
      <p:sp>
        <p:nvSpPr>
          <p:cNvPr id="29" name="Box 12"/>
          <p:cNvSpPr/>
          <p:nvPr/>
        </p:nvSpPr>
        <p:spPr>
          <a:xfrm>
            <a:off x="704088" y="2108073"/>
            <a:ext cx="7699248" cy="829818"/>
          </a:xfrm>
          <a:prstGeom prst="roundRect">
            <a:avLst>
              <a:gd name="adj" fmla="val 550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24041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01-factory/before.py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sesi-01-design-patterns/01-factory</a:t>
            </a:r>
          </a:p>
          <a:p>
            <a:pPr>
              <a:lnSpc>
                <a:spcPts val="1000"/>
              </a:lnSpc>
              <a:spcAft>
                <a:spcPts val="0"/>
              </a:spcAft>
            </a:pPr>
            <a:r>
              <a:rPr sz="775" i="0">
                <a:solidFill>
                  <a:srgbClr val="82B1FF"/>
                </a:solidFill>
                <a:latin typeface="Consolas"/>
              </a:rPr>
              <a:t>$ python before.py</a:t>
            </a:r>
          </a:p>
        </p:txBody>
      </p:sp>
      <p:pic>
        <p:nvPicPr>
          <p:cNvPr id="29" name="Image 12" descr="s01-01-factory-before.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place_order</a:t>
            </a:r>
            <a:r>
              <a:rPr sz="950" i="0" b="0">
                <a:solidFill>
                  <a:srgbClr val="434343"/>
                </a:solidFill>
                <a:latin typeface="Inter"/>
              </a:rPr>
              <a:t> memilih class sendiri pakai if/elif (baris 20-25)</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If/elif yang sama di-copy ke </a:t>
            </a:r>
            <a:r>
              <a:rPr sz="950" i="0" b="0">
                <a:solidFill>
                  <a:srgbClr val="B5482A"/>
                </a:solidFill>
                <a:latin typeface="Consolas"/>
              </a:rPr>
              <a:t>cancel_order</a:t>
            </a:r>
            <a:r>
              <a:rPr sz="950" i="0" b="0">
                <a:solidFill>
                  <a:srgbClr val="434343"/>
                </a:solidFill>
                <a:latin typeface="Inter"/>
              </a:rPr>
              <a:t> (baris 31-36)</a:t>
            </a:r>
          </a:p>
          <a:p>
            <a:pPr algn="l">
              <a:lnSpc>
                <a:spcPct val="115000"/>
              </a:lnSpc>
              <a:spcAft>
                <a:spcPts val="0"/>
              </a:spcAft>
            </a:pPr>
            <a:r>
              <a:rPr sz="570"/>
              <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Tambah WhatsApp = edit semua if/elif</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Lupa satu tempat = bug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Satu Tempat untuk Membuat Object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9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EmailNotifier</a:t>
            </a:r>
            <a:r>
              <a:rPr sz="850" i="0">
                <a:solidFill>
                  <a:srgbClr val="E6EDF3"/>
                </a:solidFill>
                <a:latin typeface="Consolas"/>
              </a:rPr>
              <a:t>:</a:t>
            </a:r>
          </a:p>
          <a:p>
            <a:pPr>
              <a:lnSpc>
                <a:spcPts val="1100"/>
              </a:lnSpc>
              <a:spcAft>
                <a:spcPts val="0"/>
              </a:spcAft>
            </a:pPr>
            <a:r>
              <a:rPr sz="850" i="0">
                <a:solidFill>
                  <a:srgbClr val="5C6773"/>
                </a:solidFill>
                <a:latin typeface="Consolas"/>
              </a:rPr>
              <a:t>10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message</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11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f"[EMAIL] ke {to}: {message}"</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p>
          <a:p>
            <a:pPr>
              <a:lnSpc>
                <a:spcPts val="1100"/>
              </a:lnSpc>
              <a:spcAft>
                <a:spcPts val="0"/>
              </a:spcAft>
            </a:pPr>
            <a:r>
              <a:rPr sz="850" i="0">
                <a:solidFill>
                  <a:srgbClr val="5C6773"/>
                </a:solidFill>
                <a:latin typeface="Consolas"/>
              </a:rPr>
              <a:t>13  </a:t>
            </a:r>
            <a:r>
              <a:rPr sz="850" i="0">
                <a:solidFill>
                  <a:srgbClr val="E6EDF3"/>
                </a:solidFill>
                <a:latin typeface="Consolas"/>
              </a:rPr>
              <a:t> </a:t>
            </a:r>
          </a:p>
          <a:p>
            <a:pPr>
              <a:lnSpc>
                <a:spcPts val="1100"/>
              </a:lnSpc>
              <a:spcAft>
                <a:spcPts val="0"/>
              </a:spcAft>
            </a:pPr>
            <a:r>
              <a:rPr sz="850" i="0">
                <a:solidFill>
                  <a:srgbClr val="5C6773"/>
                </a:solidFill>
                <a:latin typeface="Consolas"/>
              </a:rPr>
              <a:t>14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SmsNotifier</a:t>
            </a:r>
            <a:r>
              <a:rPr sz="850" i="0">
                <a:solidFill>
                  <a:srgbClr val="E6EDF3"/>
                </a:solidFill>
                <a:latin typeface="Consolas"/>
              </a:rPr>
              <a:t>:</a:t>
            </a:r>
          </a:p>
          <a:p>
            <a:pPr>
              <a:lnSpc>
                <a:spcPts val="1100"/>
              </a:lnSpc>
              <a:spcAft>
                <a:spcPts val="0"/>
              </a:spcAft>
            </a:pPr>
            <a:r>
              <a:rPr sz="850" i="0">
                <a:solidFill>
                  <a:srgbClr val="5C6773"/>
                </a:solidFill>
                <a:latin typeface="Consolas"/>
              </a:rPr>
              <a:t>15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message</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16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f"[SMS] ke {to}: {message}"</a:t>
            </a:r>
            <a:r>
              <a:rPr sz="850" i="0">
                <a:solidFill>
                  <a:srgbClr val="E6EDF3"/>
                </a:solidFill>
                <a:latin typeface="Consolas"/>
              </a:rPr>
              <a:t>)</a:t>
            </a:r>
          </a:p>
          <a:p>
            <a:pPr>
              <a:lnSpc>
                <a:spcPts val="1100"/>
              </a:lnSpc>
              <a:spcAft>
                <a:spcPts val="0"/>
              </a:spcAft>
            </a:pPr>
            <a:r>
              <a:rPr sz="850" i="0">
                <a:solidFill>
                  <a:srgbClr val="5C6773"/>
                </a:solidFill>
                <a:latin typeface="Consolas"/>
              </a:rPr>
              <a:t>17  </a:t>
            </a:r>
            <a:r>
              <a:rPr sz="850" i="0">
                <a:solidFill>
                  <a:srgbClr val="E6EDF3"/>
                </a:solidFill>
                <a:latin typeface="Consolas"/>
              </a:rPr>
              <a:t> </a:t>
            </a:r>
          </a:p>
          <a:p>
            <a:pPr>
              <a:lnSpc>
                <a:spcPts val="1100"/>
              </a:lnSpc>
              <a:spcAft>
                <a:spcPts val="0"/>
              </a:spcAft>
            </a:pPr>
            <a:r>
              <a:rPr sz="850" i="0">
                <a:solidFill>
                  <a:srgbClr val="5C6773"/>
                </a:solidFill>
                <a:latin typeface="Consolas"/>
              </a:rPr>
              <a:t>18  </a:t>
            </a:r>
            <a:r>
              <a:rPr sz="850" i="0">
                <a:solidFill>
                  <a:srgbClr val="E6EDF3"/>
                </a:solidFill>
                <a:latin typeface="Consolas"/>
              </a:rPr>
              <a:t> </a:t>
            </a:r>
          </a:p>
          <a:p>
            <a:pPr>
              <a:lnSpc>
                <a:spcPts val="1100"/>
              </a:lnSpc>
              <a:spcAft>
                <a:spcPts val="0"/>
              </a:spcAft>
            </a:pPr>
            <a:r>
              <a:rPr sz="850" i="0">
                <a:solidFill>
                  <a:srgbClr val="5C6773"/>
                </a:solidFill>
                <a:latin typeface="Consolas"/>
              </a:rPr>
              <a:t>19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WhatsAppNotifier</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channel baru, place_order &amp; cancel_order tidak disentuh</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message</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f"[WA] ke {to}: {message}"</a:t>
            </a:r>
            <a:r>
              <a:rPr sz="850" i="0">
                <a:solidFill>
                  <a:srgbClr val="E6EDF3"/>
                </a:solidFill>
                <a:latin typeface="Consolas"/>
              </a:rPr>
              <a:t>)</a:t>
            </a:r>
          </a:p>
          <a:p>
            <a:pPr>
              <a:lnSpc>
                <a:spcPts val="1100"/>
              </a:lnSpc>
              <a:spcAft>
                <a:spcPts val="0"/>
              </a:spcAft>
            </a:pPr>
            <a:r>
              <a:rPr sz="850" i="0">
                <a:solidFill>
                  <a:srgbClr val="5C6773"/>
                </a:solidFill>
                <a:latin typeface="Consolas"/>
              </a:rPr>
              <a:t>22  </a:t>
            </a:r>
            <a:r>
              <a:rPr sz="850" i="0">
                <a:solidFill>
                  <a:srgbClr val="E6EDF3"/>
                </a:solidFill>
                <a:latin typeface="Consolas"/>
              </a:rPr>
              <a:t> </a:t>
            </a:r>
          </a:p>
          <a:p>
            <a:pPr>
              <a:lnSpc>
                <a:spcPts val="1100"/>
              </a:lnSpc>
              <a:spcAft>
                <a:spcPts val="0"/>
              </a:spcAft>
            </a:pPr>
            <a:r>
              <a:rPr sz="850" i="0">
                <a:solidFill>
                  <a:srgbClr val="5C6773"/>
                </a:solidFill>
                <a:latin typeface="Consolas"/>
              </a:rPr>
              <a:t>23  </a:t>
            </a:r>
            <a:r>
              <a:rPr sz="850" i="0">
                <a:solidFill>
                  <a:srgbClr val="E6EDF3"/>
                </a:solidFill>
                <a:latin typeface="Consolas"/>
              </a:rPr>
              <a:t> </a:t>
            </a:r>
          </a:p>
          <a:p>
            <a:pPr>
              <a:lnSpc>
                <a:spcPts val="1100"/>
              </a:lnSpc>
              <a:spcAft>
                <a:spcPts val="0"/>
              </a:spcAft>
            </a:pPr>
            <a:r>
              <a:rPr sz="850" i="0">
                <a:solidFill>
                  <a:srgbClr val="5C6773"/>
                </a:solidFill>
                <a:latin typeface="Consolas"/>
              </a:rPr>
              <a:t>24  </a:t>
            </a:r>
            <a:r>
              <a:rPr sz="850" i="0">
                <a:solidFill>
                  <a:srgbClr val="7FDBCA"/>
                </a:solidFill>
                <a:latin typeface="Consolas"/>
              </a:rPr>
              <a:t>NOTIFIERS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p>
          <a:p>
            <a:pPr>
              <a:lnSpc>
                <a:spcPts val="1100"/>
              </a:lnSpc>
              <a:spcAft>
                <a:spcPts val="0"/>
              </a:spcAft>
            </a:pPr>
            <a:r>
              <a:rPr sz="850" i="0">
                <a:solidFill>
                  <a:srgbClr val="5C6773"/>
                </a:solidFill>
                <a:latin typeface="Consolas"/>
              </a:rPr>
              <a:t>25  </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EmailNotifier</a:t>
            </a:r>
            <a:r>
              <a:rPr sz="850" i="0">
                <a:solidFill>
                  <a:srgbClr val="E6EDF3"/>
                </a:solidFill>
                <a:latin typeface="Consolas"/>
              </a:rPr>
              <a:t>,</a:t>
            </a:r>
          </a:p>
          <a:p>
            <a:pPr>
              <a:lnSpc>
                <a:spcPts val="1100"/>
              </a:lnSpc>
              <a:spcAft>
                <a:spcPts val="0"/>
              </a:spcAft>
            </a:pPr>
            <a:r>
              <a:rPr sz="850" i="0">
                <a:solidFill>
                  <a:srgbClr val="5C6773"/>
                </a:solidFill>
                <a:latin typeface="Consolas"/>
              </a:rPr>
              <a:t>26  </a:t>
            </a:r>
            <a:r>
              <a:rPr sz="850" i="0">
                <a:solidFill>
                  <a:srgbClr val="E6EDF3"/>
                </a:solidFill>
                <a:latin typeface="Consolas"/>
              </a:rPr>
              <a:t>    </a:t>
            </a:r>
            <a:r>
              <a:rPr sz="850" i="0">
                <a:solidFill>
                  <a:srgbClr val="A5D6A7"/>
                </a:solidFill>
                <a:latin typeface="Consolas"/>
              </a:rPr>
              <a:t>"sms"</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SmsNotifier</a:t>
            </a:r>
            <a:r>
              <a:rPr sz="850" i="0">
                <a:solidFill>
                  <a:srgbClr val="E6EDF3"/>
                </a:solidFill>
                <a:latin typeface="Consolas"/>
              </a:rPr>
              <a:t>,</a:t>
            </a:r>
          </a:p>
          <a:p>
            <a:pPr>
              <a:lnSpc>
                <a:spcPts val="1100"/>
              </a:lnSpc>
              <a:spcAft>
                <a:spcPts val="0"/>
              </a:spcAft>
            </a:pPr>
            <a:r>
              <a:rPr sz="850" i="0">
                <a:solidFill>
                  <a:srgbClr val="5C6773"/>
                </a:solidFill>
                <a:latin typeface="Consolas"/>
              </a:rPr>
              <a:t>27  </a:t>
            </a:r>
            <a:r>
              <a:rPr sz="850" i="0">
                <a:solidFill>
                  <a:srgbClr val="E6EDF3"/>
                </a:solidFill>
                <a:latin typeface="Consolas"/>
              </a:rPr>
              <a:t>    </a:t>
            </a:r>
            <a:r>
              <a:rPr sz="850" i="0">
                <a:solidFill>
                  <a:srgbClr val="A5D6A7"/>
                </a:solidFill>
                <a:latin typeface="Consolas"/>
              </a:rPr>
              <a:t>"whatsapp"</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WhatsAppNotifier</a:t>
            </a:r>
            <a:r>
              <a:rPr sz="850" i="0">
                <a:solidFill>
                  <a:srgbClr val="E6EDF3"/>
                </a:solidFill>
                <a:latin typeface="Consolas"/>
              </a:rPr>
              <a:t>,</a:t>
            </a:r>
          </a:p>
          <a:p>
            <a:pPr>
              <a:lnSpc>
                <a:spcPts val="1100"/>
              </a:lnSpc>
              <a:spcAft>
                <a:spcPts val="0"/>
              </a:spcAft>
            </a:pPr>
            <a:r>
              <a:rPr sz="850" i="0">
                <a:solidFill>
                  <a:srgbClr val="5C6773"/>
                </a:solidFill>
                <a:latin typeface="Consolas"/>
              </a:rPr>
              <a:t>28  </a:t>
            </a:r>
            <a:r>
              <a:rPr sz="850" i="0">
                <a:solidFill>
                  <a:srgbClr val="E6EDF3"/>
                </a:solidFill>
                <a:latin typeface="Consolas"/>
              </a:rPr>
              <a:t>}</a:t>
            </a:r>
          </a:p>
        </p:txBody>
      </p:sp>
      <p:sp>
        <p:nvSpPr>
          <p:cNvPr id="29" name="Box 12"/>
          <p:cNvSpPr/>
          <p:nvPr/>
        </p:nvSpPr>
        <p:spPr>
          <a:xfrm>
            <a:off x="704088" y="3924173"/>
            <a:ext cx="7699248" cy="690118"/>
          </a:xfrm>
          <a:prstGeom prst="roundRect">
            <a:avLst>
              <a:gd name="adj" fmla="val 662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41503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2256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3312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Satu Tempat untuk Membuat Object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31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create_notifier</a:t>
            </a:r>
            <a:r>
              <a:rPr sz="850" i="0">
                <a:solidFill>
                  <a:srgbClr val="E6EDF3"/>
                </a:solidFill>
                <a:latin typeface="Consolas"/>
              </a:rPr>
              <a:t>(</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32  </a:t>
            </a:r>
            <a:r>
              <a:rPr sz="850" i="0">
                <a:solidFill>
                  <a:srgbClr val="E6EDF3"/>
                </a:solidFill>
                <a:latin typeface="Consolas"/>
              </a:rPr>
              <a:t>    </a:t>
            </a:r>
            <a:r>
              <a:rPr sz="850" i="0">
                <a:solidFill>
                  <a:srgbClr val="A5D6A7"/>
                </a:solidFill>
                <a:latin typeface="Consolas"/>
              </a:rPr>
              <a:t>"""Factory: terima nama channel, kembalikan object notifier."""</a:t>
            </a:r>
          </a:p>
          <a:p>
            <a:pPr>
              <a:lnSpc>
                <a:spcPts val="1100"/>
              </a:lnSpc>
              <a:spcAft>
                <a:spcPts val="0"/>
              </a:spcAft>
            </a:pPr>
            <a:r>
              <a:rPr sz="850" i="0">
                <a:solidFill>
                  <a:srgbClr val="5C6773"/>
                </a:solidFill>
                <a:latin typeface="Consolas"/>
              </a:rPr>
              <a:t>33  </a:t>
            </a: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 </a:t>
            </a:r>
            <a:r>
              <a:rPr sz="850" i="0">
                <a:solidFill>
                  <a:srgbClr val="FF8E6E"/>
                </a:solidFill>
                <a:latin typeface="Consolas"/>
              </a:rPr>
              <a:t>not</a:t>
            </a:r>
            <a:r>
              <a:rPr sz="850" i="0">
                <a:solidFill>
                  <a:srgbClr val="E6EDF3"/>
                </a:solidFill>
                <a:latin typeface="Consolas"/>
              </a:rPr>
              <a:t> </a:t>
            </a:r>
            <a:r>
              <a:rPr sz="850" i="0">
                <a:solidFill>
                  <a:srgbClr val="FF8E6E"/>
                </a:solidFill>
                <a:latin typeface="Consolas"/>
              </a:rPr>
              <a:t>in</a:t>
            </a:r>
            <a:r>
              <a:rPr sz="850" i="0">
                <a:solidFill>
                  <a:srgbClr val="E6EDF3"/>
                </a:solidFill>
                <a:latin typeface="Consolas"/>
              </a:rPr>
              <a:t> </a:t>
            </a:r>
            <a:r>
              <a:rPr sz="850" i="0">
                <a:solidFill>
                  <a:srgbClr val="7FDBCA"/>
                </a:solidFill>
                <a:latin typeface="Consolas"/>
              </a:rPr>
              <a:t>NOTIFIERS</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FF8E6E"/>
                </a:solidFill>
                <a:latin typeface="Consolas"/>
              </a:rPr>
              <a:t>raise</a:t>
            </a:r>
            <a:r>
              <a:rPr sz="850" i="0">
                <a:solidFill>
                  <a:srgbClr val="E6EDF3"/>
                </a:solidFill>
                <a:latin typeface="Consolas"/>
              </a:rPr>
              <a:t> </a:t>
            </a:r>
            <a:r>
              <a:rPr sz="850" i="0">
                <a:solidFill>
                  <a:srgbClr val="7FDBCA"/>
                </a:solidFill>
                <a:latin typeface="Consolas"/>
              </a:rPr>
              <a:t>ValueError</a:t>
            </a:r>
            <a:r>
              <a:rPr sz="850" i="0">
                <a:solidFill>
                  <a:srgbClr val="E6EDF3"/>
                </a:solidFill>
                <a:latin typeface="Consolas"/>
              </a:rPr>
              <a:t>(</a:t>
            </a:r>
            <a:r>
              <a:rPr sz="850" i="0">
                <a:solidFill>
                  <a:srgbClr val="A5D6A7"/>
                </a:solidFill>
                <a:latin typeface="Consolas"/>
              </a:rPr>
              <a:t>f"Channel tidak dikenal: {channel}"</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7FDBCA"/>
                </a:solidFill>
                <a:latin typeface="Consolas"/>
              </a:rPr>
              <a:t>NOTIFIERS</a:t>
            </a:r>
            <a:r>
              <a:rPr sz="850" i="0">
                <a:solidFill>
                  <a:srgbClr val="E6EDF3"/>
                </a:solidFill>
                <a:latin typeface="Consolas"/>
              </a:rPr>
              <a:t>[</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36  </a:t>
            </a:r>
            <a:r>
              <a:rPr sz="850" i="0">
                <a:solidFill>
                  <a:srgbClr val="E6EDF3"/>
                </a:solidFill>
                <a:latin typeface="Consolas"/>
              </a:rPr>
              <a:t> </a:t>
            </a:r>
          </a:p>
          <a:p>
            <a:pPr>
              <a:lnSpc>
                <a:spcPts val="1100"/>
              </a:lnSpc>
              <a:spcAft>
                <a:spcPts val="0"/>
              </a:spcAft>
            </a:pPr>
            <a:r>
              <a:rPr sz="850" i="0">
                <a:solidFill>
                  <a:srgbClr val="5C6773"/>
                </a:solidFill>
                <a:latin typeface="Consolas"/>
              </a:rPr>
              <a:t>37  </a:t>
            </a:r>
            <a:r>
              <a:rPr sz="850" i="0">
                <a:solidFill>
                  <a:srgbClr val="E6EDF3"/>
                </a:solidFill>
                <a:latin typeface="Consolas"/>
              </a:rPr>
              <a:t> </a:t>
            </a:r>
          </a:p>
          <a:p>
            <a:pPr>
              <a:lnSpc>
                <a:spcPts val="1100"/>
              </a:lnSpc>
              <a:spcAft>
                <a:spcPts val="0"/>
              </a:spcAft>
            </a:pPr>
            <a:r>
              <a:rPr sz="850" i="0">
                <a:solidFill>
                  <a:srgbClr val="5C6773"/>
                </a:solidFill>
                <a:latin typeface="Consolas"/>
              </a:rPr>
              <a:t>38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place_order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39  </a:t>
            </a:r>
            <a:r>
              <a:rPr sz="850" i="0">
                <a:solidFill>
                  <a:srgbClr val="E6EDF3"/>
                </a:solidFill>
                <a:latin typeface="Consolas"/>
              </a:rPr>
              <a:t>    </a:t>
            </a:r>
            <a:r>
              <a:rPr sz="850" i="0">
                <a:solidFill>
                  <a:srgbClr val="E6EDF3"/>
                </a:solidFill>
                <a:latin typeface="Consolas"/>
              </a:rPr>
              <a:t>create_notifier</a:t>
            </a:r>
            <a:r>
              <a:rPr sz="850" i="0">
                <a:solidFill>
                  <a:srgbClr val="E6EDF3"/>
                </a:solidFill>
                <a:latin typeface="Consolas"/>
              </a:rPr>
              <a:t>(</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send</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f"Order #{order_id} berhasil dibuat"</a:t>
            </a:r>
            <a:r>
              <a:rPr sz="850" i="0">
                <a:solidFill>
                  <a:srgbClr val="E6EDF3"/>
                </a:solidFill>
                <a:latin typeface="Consolas"/>
              </a:rPr>
              <a:t>)</a:t>
            </a:r>
          </a:p>
          <a:p>
            <a:pPr>
              <a:lnSpc>
                <a:spcPts val="1100"/>
              </a:lnSpc>
              <a:spcAft>
                <a:spcPts val="0"/>
              </a:spcAft>
            </a:pPr>
            <a:r>
              <a:rPr sz="850" i="0">
                <a:solidFill>
                  <a:srgbClr val="5C6773"/>
                </a:solidFill>
                <a:latin typeface="Consolas"/>
              </a:rPr>
              <a:t>40  </a:t>
            </a:r>
            <a:r>
              <a:rPr sz="850" i="0">
                <a:solidFill>
                  <a:srgbClr val="E6EDF3"/>
                </a:solidFill>
                <a:latin typeface="Consolas"/>
              </a:rPr>
              <a:t> </a:t>
            </a:r>
          </a:p>
          <a:p>
            <a:pPr>
              <a:lnSpc>
                <a:spcPts val="1100"/>
              </a:lnSpc>
              <a:spcAft>
                <a:spcPts val="0"/>
              </a:spcAft>
            </a:pPr>
            <a:r>
              <a:rPr sz="850" i="0">
                <a:solidFill>
                  <a:srgbClr val="5C6773"/>
                </a:solidFill>
                <a:latin typeface="Consolas"/>
              </a:rPr>
              <a:t>41  </a:t>
            </a:r>
            <a:r>
              <a:rPr sz="850" i="0">
                <a:solidFill>
                  <a:srgbClr val="E6EDF3"/>
                </a:solidFill>
                <a:latin typeface="Consolas"/>
              </a:rPr>
              <a:t> </a:t>
            </a:r>
          </a:p>
          <a:p>
            <a:pPr>
              <a:lnSpc>
                <a:spcPts val="1100"/>
              </a:lnSpc>
              <a:spcAft>
                <a:spcPts val="0"/>
              </a:spcAft>
            </a:pPr>
            <a:r>
              <a:rPr sz="850" i="0">
                <a:solidFill>
                  <a:srgbClr val="5C6773"/>
                </a:solidFill>
                <a:latin typeface="Consolas"/>
              </a:rPr>
              <a:t>42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cancel_order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43  </a:t>
            </a:r>
            <a:r>
              <a:rPr sz="850" i="0">
                <a:solidFill>
                  <a:srgbClr val="E6EDF3"/>
                </a:solidFill>
                <a:latin typeface="Consolas"/>
              </a:rPr>
              <a:t>    </a:t>
            </a:r>
            <a:r>
              <a:rPr sz="850" i="0">
                <a:solidFill>
                  <a:srgbClr val="E6EDF3"/>
                </a:solidFill>
                <a:latin typeface="Consolas"/>
              </a:rPr>
              <a:t>create_notifier</a:t>
            </a:r>
            <a:r>
              <a:rPr sz="850" i="0">
                <a:solidFill>
                  <a:srgbClr val="E6EDF3"/>
                </a:solidFill>
                <a:latin typeface="Consolas"/>
              </a:rPr>
              <a:t>(</a:t>
            </a:r>
            <a:r>
              <a:rPr sz="850" i="0">
                <a:solidFill>
                  <a:srgbClr val="E6EDF3"/>
                </a:solidFill>
                <a:latin typeface="Consolas"/>
              </a:rPr>
              <a:t>channel</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send</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f"Order #{order_id} dibatalkan"</a:t>
            </a:r>
            <a:r>
              <a:rPr sz="850" i="0">
                <a:solidFill>
                  <a:srgbClr val="E6EDF3"/>
                </a:solidFill>
                <a:latin typeface="Consolas"/>
              </a:rPr>
              <a:t>)</a:t>
            </a:r>
          </a:p>
          <a:p>
            <a:pPr>
              <a:lnSpc>
                <a:spcPts val="1100"/>
              </a:lnSpc>
              <a:spcAft>
                <a:spcPts val="0"/>
              </a:spcAft>
            </a:pPr>
            <a:r>
              <a:rPr sz="850" i="0">
                <a:solidFill>
                  <a:srgbClr val="5C6773"/>
                </a:solidFill>
                <a:latin typeface="Consolas"/>
              </a:rPr>
              <a:t>44  </a:t>
            </a:r>
            <a:r>
              <a:rPr sz="850" i="0">
                <a:solidFill>
                  <a:srgbClr val="E6EDF3"/>
                </a:solidFill>
                <a:latin typeface="Consolas"/>
              </a:rPr>
              <a:t> </a:t>
            </a:r>
          </a:p>
          <a:p>
            <a:pPr>
              <a:lnSpc>
                <a:spcPts val="1100"/>
              </a:lnSpc>
              <a:spcAft>
                <a:spcPts val="0"/>
              </a:spcAft>
            </a:pPr>
            <a:r>
              <a:rPr sz="850" i="0">
                <a:solidFill>
                  <a:srgbClr val="5C6773"/>
                </a:solidFill>
                <a:latin typeface="Consolas"/>
              </a:rPr>
              <a:t>45  </a:t>
            </a:r>
            <a:r>
              <a:rPr sz="850" i="0">
                <a:solidFill>
                  <a:srgbClr val="E6EDF3"/>
                </a:solidFill>
                <a:latin typeface="Consolas"/>
              </a:rPr>
              <a:t> </a:t>
            </a:r>
          </a:p>
          <a:p>
            <a:pPr>
              <a:lnSpc>
                <a:spcPts val="1100"/>
              </a:lnSpc>
              <a:spcAft>
                <a:spcPts val="0"/>
              </a:spcAft>
            </a:pPr>
            <a:r>
              <a:rPr sz="850" i="0">
                <a:solidFill>
                  <a:srgbClr val="5C6773"/>
                </a:solidFill>
                <a:latin typeface="Consolas"/>
              </a:rPr>
              <a:t>46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47  </a:t>
            </a:r>
            <a:r>
              <a:rPr sz="850" i="0">
                <a:solidFill>
                  <a:srgbClr val="E6EDF3"/>
                </a:solidFill>
                <a:latin typeface="Consolas"/>
              </a:rPr>
              <a:t>    </a:t>
            </a:r>
            <a:r>
              <a:rPr sz="850" i="0">
                <a:solidFill>
                  <a:srgbClr val="E6EDF3"/>
                </a:solidFill>
                <a:latin typeface="Consolas"/>
              </a:rPr>
              <a:t>place_order</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48  </a:t>
            </a:r>
            <a:r>
              <a:rPr sz="850" i="0">
                <a:solidFill>
                  <a:srgbClr val="E6EDF3"/>
                </a:solidFill>
                <a:latin typeface="Consolas"/>
              </a:rPr>
              <a:t>    </a:t>
            </a:r>
            <a:r>
              <a:rPr sz="850" i="0">
                <a:solidFill>
                  <a:srgbClr val="E6EDF3"/>
                </a:solidFill>
                <a:latin typeface="Consolas"/>
              </a:rPr>
              <a:t>cancel_order</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"sms"</a:t>
            </a:r>
            <a:r>
              <a:rPr sz="850" i="0">
                <a:solidFill>
                  <a:srgbClr val="E6EDF3"/>
                </a:solidFill>
                <a:latin typeface="Consolas"/>
              </a:rPr>
              <a:t>)</a:t>
            </a:r>
          </a:p>
          <a:p>
            <a:pPr>
              <a:lnSpc>
                <a:spcPts val="1100"/>
              </a:lnSpc>
              <a:spcAft>
                <a:spcPts val="0"/>
              </a:spcAft>
            </a:pPr>
            <a:r>
              <a:rPr sz="850" i="0">
                <a:solidFill>
                  <a:srgbClr val="5C6773"/>
                </a:solidFill>
                <a:latin typeface="Consolas"/>
              </a:rPr>
              <a:t>49  </a:t>
            </a:r>
            <a:r>
              <a:rPr sz="850" i="0">
                <a:solidFill>
                  <a:srgbClr val="E6EDF3"/>
                </a:solidFill>
                <a:latin typeface="Consolas"/>
              </a:rPr>
              <a:t>    </a:t>
            </a:r>
            <a:r>
              <a:rPr sz="850" i="0">
                <a:solidFill>
                  <a:srgbClr val="E6EDF3"/>
                </a:solidFill>
                <a:latin typeface="Consolas"/>
              </a:rPr>
              <a:t>place_order</a:t>
            </a:r>
            <a:r>
              <a:rPr sz="850" i="0">
                <a:solidFill>
                  <a:srgbClr val="E6EDF3"/>
                </a:solidFill>
                <a:latin typeface="Consolas"/>
              </a:rPr>
              <a:t>(</a:t>
            </a:r>
            <a:r>
              <a:rPr sz="850" i="0">
                <a:solidFill>
                  <a:srgbClr val="F9C97A"/>
                </a:solidFill>
                <a:latin typeface="Consolas"/>
              </a:rPr>
              <a:t>2</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"0812xxxx"</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"whatsapp"</a:t>
            </a:r>
            <a:r>
              <a:rPr sz="850" i="0">
                <a:solidFill>
                  <a:srgbClr val="E6EDF3"/>
                </a:solidFill>
                <a:latin typeface="Consolas"/>
              </a:rPr>
              <a:t>)</a:t>
            </a:r>
          </a:p>
        </p:txBody>
      </p:sp>
      <p:sp>
        <p:nvSpPr>
          <p:cNvPr id="29" name="Box 12"/>
          <p:cNvSpPr/>
          <p:nvPr/>
        </p:nvSpPr>
        <p:spPr>
          <a:xfrm>
            <a:off x="704088" y="1828673"/>
            <a:ext cx="7699248" cy="690118"/>
          </a:xfrm>
          <a:prstGeom prst="roundRect">
            <a:avLst>
              <a:gd name="adj" fmla="val 662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20548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1" name="Box 14"/>
          <p:cNvSpPr/>
          <p:nvPr/>
        </p:nvSpPr>
        <p:spPr>
          <a:xfrm>
            <a:off x="704088" y="29462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28930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3" name="Box 16"/>
          <p:cNvSpPr/>
          <p:nvPr/>
        </p:nvSpPr>
        <p:spPr>
          <a:xfrm>
            <a:off x="704088" y="35050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01-factory/after.py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sesi-01-design-patterns/01-factory</a:t>
            </a:r>
          </a:p>
          <a:p>
            <a:pPr>
              <a:lnSpc>
                <a:spcPts val="1000"/>
              </a:lnSpc>
              <a:spcAft>
                <a:spcPts val="0"/>
              </a:spcAft>
            </a:pPr>
            <a:r>
              <a:rPr sz="775" i="0">
                <a:solidFill>
                  <a:srgbClr val="82B1FF"/>
                </a:solidFill>
                <a:latin typeface="Consolas"/>
              </a:rPr>
              <a:t>$ python after.py</a:t>
            </a:r>
          </a:p>
        </p:txBody>
      </p:sp>
      <p:pic>
        <p:nvPicPr>
          <p:cNvPr id="29" name="Image 12" descr="s01-01-factory-after.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If/elif diganti </a:t>
            </a:r>
            <a:r>
              <a:rPr sz="950" i="0" b="0">
                <a:solidFill>
                  <a:srgbClr val="B5482A"/>
                </a:solidFill>
                <a:latin typeface="Consolas"/>
              </a:rPr>
              <a:t>dict</a:t>
            </a:r>
            <a:r>
              <a:rPr sz="950" i="0" b="0">
                <a:solidFill>
                  <a:srgbClr val="434343"/>
                </a:solidFill>
                <a:latin typeface="Inter"/>
              </a:rPr>
              <a:t>: nama channel → class (baris 24-28)</a:t>
            </a:r>
          </a:p>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create_notifier()</a:t>
            </a:r>
            <a:r>
              <a:rPr sz="950" i="0" b="0">
                <a:solidFill>
                  <a:srgbClr val="434343"/>
                </a:solidFill>
                <a:latin typeface="Inter"/>
              </a:rPr>
              <a:t> = satu-satunya tempat membuat notifier. </a:t>
            </a:r>
            <a:r>
              <a:rPr sz="950" i="0" b="1">
                <a:solidFill>
                  <a:srgbClr val="434343"/>
                </a:solidFill>
                <a:latin typeface="Inter"/>
              </a:rPr>
              <a:t>Inilah factory-nya</a:t>
            </a:r>
            <a:r>
              <a:rPr sz="950" i="0" b="0">
                <a:solidFill>
                  <a:srgbClr val="434343"/>
                </a:solidFill>
                <a:latin typeface="Inter"/>
              </a:rPr>
              <a:t> (baris 31-35)</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Pemakai cukup panggil factory, tidak tahu class aslinya (baris 39, 43)</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Channel baru = 1 class + 1 baris di dict (baris 19-21)</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Output-nya sekarang punya baris </a:t>
            </a:r>
            <a:r>
              <a:rPr sz="950" i="0" b="0">
                <a:solidFill>
                  <a:srgbClr val="B5482A"/>
                </a:solidFill>
                <a:latin typeface="Consolas"/>
              </a:rPr>
              <a:t>[WA]</a:t>
            </a:r>
            <a:r>
              <a:rPr sz="950" i="0" b="0">
                <a:solidFill>
                  <a:srgbClr val="434343"/>
                </a:solidFill>
                <a:latin typeface="Inter"/>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Factory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Cara Membaca Flow</a:t>
            </a:r>
          </a:p>
        </p:txBody>
      </p:sp>
      <p:sp>
        <p:nvSpPr>
          <p:cNvPr id="22" name="CodeTab 4"/>
          <p:cNvSpPr/>
          <p:nvPr/>
        </p:nvSpPr>
        <p:spPr>
          <a:xfrm>
            <a:off x="621792" y="1481328"/>
            <a:ext cx="50749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43484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01-factory/after.py</a:t>
            </a:r>
          </a:p>
        </p:txBody>
      </p:sp>
      <p:sp>
        <p:nvSpPr>
          <p:cNvPr id="27" name="CodeBg 10"/>
          <p:cNvSpPr/>
          <p:nvPr/>
        </p:nvSpPr>
        <p:spPr>
          <a:xfrm>
            <a:off x="621792" y="1719072"/>
            <a:ext cx="5074920" cy="2139696"/>
          </a:xfrm>
          <a:prstGeom prst="roundRect">
            <a:avLst>
              <a:gd name="adj" fmla="val 854"/>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074920" cy="2139696"/>
          </a:xfrm>
          <a:prstGeom prst="rect">
            <a:avLst/>
          </a:prstGeom>
          <a:noFill/>
        </p:spPr>
        <p:txBody>
          <a:bodyPr wrap="none" lIns="146304" rIns="146304" tIns="91440" bIns="54864">
            <a:spAutoFit/>
          </a:bodyPr>
          <a:lstStyle/>
          <a:p>
            <a:pPr>
              <a:lnSpc>
                <a:spcPts val="1000"/>
              </a:lnSpc>
              <a:spcAft>
                <a:spcPts val="0"/>
              </a:spcAft>
            </a:pP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create_notifier</a:t>
            </a:r>
            <a:r>
              <a:rPr sz="750" i="0">
                <a:solidFill>
                  <a:srgbClr val="E6EDF3"/>
                </a:solidFill>
                <a:latin typeface="Consolas"/>
              </a:rPr>
              <a:t>(</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A5D6A7"/>
                </a:solidFill>
                <a:latin typeface="Consolas"/>
              </a:rPr>
              <a:t>"""Factory: terima nama channel, kembalikan object notifier."""</a:t>
            </a:r>
          </a:p>
          <a:p>
            <a:pPr>
              <a:lnSpc>
                <a:spcPts val="1000"/>
              </a:lnSpc>
              <a:spcAft>
                <a:spcPts val="0"/>
              </a:spcAft>
            </a:pPr>
            <a:r>
              <a:rPr sz="750" i="0">
                <a:solidFill>
                  <a:srgbClr val="E6EDF3"/>
                </a:solidFill>
                <a:latin typeface="Consolas"/>
              </a:rPr>
              <a:t>    </a:t>
            </a:r>
            <a:r>
              <a:rPr sz="750" i="0">
                <a:solidFill>
                  <a:srgbClr val="FF8E6E"/>
                </a:solidFill>
                <a:latin typeface="Consolas"/>
              </a:rPr>
              <a:t>if</a:t>
            </a:r>
            <a:r>
              <a:rPr sz="750" i="0">
                <a:solidFill>
                  <a:srgbClr val="E6EDF3"/>
                </a:solidFill>
                <a:latin typeface="Consolas"/>
              </a:rPr>
              <a:t> </a:t>
            </a:r>
            <a:r>
              <a:rPr sz="750" i="0">
                <a:solidFill>
                  <a:srgbClr val="E6EDF3"/>
                </a:solidFill>
                <a:latin typeface="Consolas"/>
              </a:rPr>
              <a:t>channel</a:t>
            </a:r>
            <a:r>
              <a:rPr sz="750" i="0">
                <a:solidFill>
                  <a:srgbClr val="E6EDF3"/>
                </a:solidFill>
                <a:latin typeface="Consolas"/>
              </a:rPr>
              <a:t> </a:t>
            </a:r>
            <a:r>
              <a:rPr sz="750" i="0">
                <a:solidFill>
                  <a:srgbClr val="FF8E6E"/>
                </a:solidFill>
                <a:latin typeface="Consolas"/>
              </a:rPr>
              <a:t>not</a:t>
            </a:r>
            <a:r>
              <a:rPr sz="750" i="0">
                <a:solidFill>
                  <a:srgbClr val="E6EDF3"/>
                </a:solidFill>
                <a:latin typeface="Consolas"/>
              </a:rPr>
              <a:t> </a:t>
            </a:r>
            <a:r>
              <a:rPr sz="750" i="0">
                <a:solidFill>
                  <a:srgbClr val="FF8E6E"/>
                </a:solidFill>
                <a:latin typeface="Consolas"/>
              </a:rPr>
              <a:t>in</a:t>
            </a:r>
            <a:r>
              <a:rPr sz="750" i="0">
                <a:solidFill>
                  <a:srgbClr val="E6EDF3"/>
                </a:solidFill>
                <a:latin typeface="Consolas"/>
              </a:rPr>
              <a:t> </a:t>
            </a:r>
            <a:r>
              <a:rPr sz="750" i="0">
                <a:solidFill>
                  <a:srgbClr val="7FDBCA"/>
                </a:solidFill>
                <a:latin typeface="Consolas"/>
              </a:rPr>
              <a:t>NOTIFIERS</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raise</a:t>
            </a:r>
            <a:r>
              <a:rPr sz="750" i="0">
                <a:solidFill>
                  <a:srgbClr val="E6EDF3"/>
                </a:solidFill>
                <a:latin typeface="Consolas"/>
              </a:rPr>
              <a:t> </a:t>
            </a:r>
            <a:r>
              <a:rPr sz="750" i="0">
                <a:solidFill>
                  <a:srgbClr val="7FDBCA"/>
                </a:solidFill>
                <a:latin typeface="Consolas"/>
              </a:rPr>
              <a:t>ValueError</a:t>
            </a:r>
            <a:r>
              <a:rPr sz="750" i="0">
                <a:solidFill>
                  <a:srgbClr val="E6EDF3"/>
                </a:solidFill>
                <a:latin typeface="Consolas"/>
              </a:rPr>
              <a:t>(</a:t>
            </a:r>
            <a:r>
              <a:rPr sz="750" i="0">
                <a:solidFill>
                  <a:srgbClr val="A5D6A7"/>
                </a:solidFill>
                <a:latin typeface="Consolas"/>
              </a:rPr>
              <a:t>f"Channel tidak dikenal: {channel}"</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return</a:t>
            </a:r>
            <a:r>
              <a:rPr sz="750" i="0">
                <a:solidFill>
                  <a:srgbClr val="E6EDF3"/>
                </a:solidFill>
                <a:latin typeface="Consolas"/>
              </a:rPr>
              <a:t> </a:t>
            </a:r>
            <a:r>
              <a:rPr sz="750" i="0">
                <a:solidFill>
                  <a:srgbClr val="7FDBCA"/>
                </a:solidFill>
                <a:latin typeface="Consolas"/>
              </a:rPr>
              <a:t>NOTIFIERS</a:t>
            </a:r>
            <a:r>
              <a:rPr sz="750" i="0">
                <a:solidFill>
                  <a:srgbClr val="E6EDF3"/>
                </a:solidFill>
                <a:latin typeface="Consolas"/>
              </a:rPr>
              <a:t>[</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place_order</a:t>
            </a:r>
            <a:r>
              <a:rPr sz="750" i="0">
                <a:solidFill>
                  <a:srgbClr val="E6EDF3"/>
                </a:solidFill>
                <a:latin typeface="Consolas"/>
              </a:rPr>
              <a:t>(</a:t>
            </a:r>
            <a:r>
              <a:rPr sz="750" i="0">
                <a:solidFill>
                  <a:srgbClr val="E6EDF3"/>
                </a:solidFill>
                <a:latin typeface="Consolas"/>
              </a:rPr>
              <a:t>order_id</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int</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FF8E6E"/>
                </a:solidFill>
                <a:latin typeface="Consolas"/>
              </a:rPr>
              <a:t>None</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E6EDF3"/>
                </a:solidFill>
                <a:latin typeface="Consolas"/>
              </a:rPr>
              <a:t>create_notifier</a:t>
            </a:r>
            <a:r>
              <a:rPr sz="750" i="0">
                <a:solidFill>
                  <a:srgbClr val="E6EDF3"/>
                </a:solidFill>
                <a:latin typeface="Consolas"/>
              </a:rPr>
              <a:t>(</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send</a:t>
            </a:r>
            <a:r>
              <a:rPr sz="750" i="0">
                <a:solidFill>
                  <a:srgbClr val="E6EDF3"/>
                </a:solidFill>
                <a:latin typeface="Consolas"/>
              </a:rPr>
              <a:t>(</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f"Order #{order_id} berhasil dibuat"</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if</a:t>
            </a:r>
            <a:r>
              <a:rPr sz="750" i="0">
                <a:solidFill>
                  <a:srgbClr val="E6EDF3"/>
                </a:solidFill>
                <a:latin typeface="Consolas"/>
              </a:rPr>
              <a:t> </a:t>
            </a:r>
            <a:r>
              <a:rPr sz="750" i="0">
                <a:solidFill>
                  <a:srgbClr val="E6EDF3"/>
                </a:solidFill>
                <a:latin typeface="Consolas"/>
              </a:rPr>
              <a:t>__name__</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"__main__"</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E6EDF3"/>
                </a:solidFill>
                <a:latin typeface="Consolas"/>
              </a:rPr>
              <a:t>place_order</a:t>
            </a:r>
            <a:r>
              <a:rPr sz="750" i="0">
                <a:solidFill>
                  <a:srgbClr val="E6EDF3"/>
                </a:solidFill>
                <a:latin typeface="Consolas"/>
              </a:rPr>
              <a:t>(</a:t>
            </a:r>
            <a:r>
              <a:rPr sz="750" i="0">
                <a:solidFill>
                  <a:srgbClr val="F9C97A"/>
                </a:solidFill>
                <a:latin typeface="Consolas"/>
              </a:rPr>
              <a:t>1</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"budi@mail.com"</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"email"</a:t>
            </a:r>
            <a:r>
              <a:rPr sz="750" i="0">
                <a:solidFill>
                  <a:srgbClr val="E6EDF3"/>
                </a:solidFill>
                <a:latin typeface="Consolas"/>
              </a:rPr>
              <a:t>)</a:t>
            </a:r>
          </a:p>
        </p:txBody>
      </p:sp>
      <p:sp>
        <p:nvSpPr>
          <p:cNvPr id="29" name="Box 12"/>
          <p:cNvSpPr/>
          <p:nvPr/>
        </p:nvSpPr>
        <p:spPr>
          <a:xfrm>
            <a:off x="704088" y="3097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495544" y="3037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716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495544" y="265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2081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495544"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5" name="Box 18"/>
          <p:cNvSpPr/>
          <p:nvPr/>
        </p:nvSpPr>
        <p:spPr>
          <a:xfrm>
            <a:off x="704088" y="2335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Box 19"/>
          <p:cNvSpPr/>
          <p:nvPr/>
        </p:nvSpPr>
        <p:spPr>
          <a:xfrm>
            <a:off x="5495544" y="227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
        <p:nvSpPr>
          <p:cNvPr id="37" name="CodeBg 21"/>
          <p:cNvSpPr/>
          <p:nvPr/>
        </p:nvSpPr>
        <p:spPr>
          <a:xfrm>
            <a:off x="621792" y="3950208"/>
            <a:ext cx="5074920" cy="749808"/>
          </a:xfrm>
          <a:prstGeom prst="roundRect">
            <a:avLst>
              <a:gd name="adj" fmla="val 975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Code 22"/>
          <p:cNvSpPr txBox="1"/>
          <p:nvPr/>
        </p:nvSpPr>
        <p:spPr>
          <a:xfrm>
            <a:off x="621792" y="3950208"/>
            <a:ext cx="5074920" cy="749808"/>
          </a:xfrm>
          <a:prstGeom prst="rect">
            <a:avLst/>
          </a:prstGeom>
          <a:noFill/>
        </p:spPr>
        <p:txBody>
          <a:bodyPr wrap="none" lIns="146304" rIns="146304" tIns="91440" bIns="54864">
            <a:spAutoFit/>
          </a:bodyPr>
          <a:lstStyle/>
          <a:p>
            <a:pPr>
              <a:lnSpc>
                <a:spcPts val="1000"/>
              </a:lnSpc>
              <a:spcAft>
                <a:spcPts val="0"/>
              </a:spcAft>
            </a:pPr>
            <a:r>
              <a:rPr sz="800" i="0">
                <a:solidFill>
                  <a:srgbClr val="E6EDF3"/>
                </a:solidFill>
                <a:latin typeface="Consolas"/>
              </a:rPr>
              <a:t>$ python after.py</a:t>
            </a:r>
          </a:p>
          <a:p>
            <a:pPr>
              <a:lnSpc>
                <a:spcPts val="1000"/>
              </a:lnSpc>
              <a:spcAft>
                <a:spcPts val="0"/>
              </a:spcAft>
            </a:pPr>
            <a:r>
              <a:rPr sz="800" i="0">
                <a:solidFill>
                  <a:srgbClr val="E6EDF3"/>
                </a:solidFill>
                <a:latin typeface="Consolas"/>
              </a:rPr>
              <a:t>[EMAIL] ke budi@mail.com: Order #1 berhasil dibuat</a:t>
            </a:r>
          </a:p>
          <a:p>
            <a:pPr>
              <a:lnSpc>
                <a:spcPts val="1000"/>
              </a:lnSpc>
              <a:spcAft>
                <a:spcPts val="0"/>
              </a:spcAft>
            </a:pPr>
            <a:r>
              <a:rPr sz="800" i="0">
                <a:solidFill>
                  <a:srgbClr val="E6EDF3"/>
                </a:solidFill>
                <a:latin typeface="Consolas"/>
              </a:rPr>
              <a:t>[SMS] ke budi@mail.com: Order #1 dibatalkan</a:t>
            </a:r>
          </a:p>
          <a:p>
            <a:pPr>
              <a:lnSpc>
                <a:spcPts val="1000"/>
              </a:lnSpc>
              <a:spcAft>
                <a:spcPts val="0"/>
              </a:spcAft>
            </a:pPr>
            <a:r>
              <a:rPr sz="800" i="0">
                <a:solidFill>
                  <a:srgbClr val="E6EDF3"/>
                </a:solidFill>
                <a:latin typeface="Consolas"/>
              </a:rPr>
              <a:t>[WA] ke 0812xxxx: Order #2 berhasil dibuat</a:t>
            </a:r>
          </a:p>
        </p:txBody>
      </p:sp>
      <p:sp>
        <p:nvSpPr>
          <p:cNvPr id="39" name="Box 23"/>
          <p:cNvSpPr/>
          <p:nvPr/>
        </p:nvSpPr>
        <p:spPr>
          <a:xfrm>
            <a:off x="58795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1</a:t>
            </a:r>
          </a:p>
        </p:txBody>
      </p:sp>
      <p:sp>
        <p:nvSpPr>
          <p:cNvPr id="40" name="Text 24"/>
          <p:cNvSpPr txBox="1"/>
          <p:nvPr/>
        </p:nvSpPr>
        <p:spPr>
          <a:xfrm>
            <a:off x="6208776" y="1463040"/>
            <a:ext cx="22768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place_order</a:t>
            </a:r>
            <a:r>
              <a:rPr sz="850" i="0" b="0">
                <a:solidFill>
                  <a:srgbClr val="434343"/>
                </a:solidFill>
                <a:latin typeface="Inter"/>
              </a:rPr>
              <a:t> dipanggil dengan channel </a:t>
            </a:r>
            <a:r>
              <a:rPr sz="850" i="0" b="0">
                <a:solidFill>
                  <a:srgbClr val="B5482A"/>
                </a:solidFill>
                <a:latin typeface="Consolas"/>
              </a:rPr>
              <a:t>"email"</a:t>
            </a:r>
          </a:p>
        </p:txBody>
      </p:sp>
      <p:sp>
        <p:nvSpPr>
          <p:cNvPr id="41" name="Box 25"/>
          <p:cNvSpPr/>
          <p:nvPr/>
        </p:nvSpPr>
        <p:spPr>
          <a:xfrm>
            <a:off x="58795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2</a:t>
            </a:r>
          </a:p>
        </p:txBody>
      </p:sp>
      <p:sp>
        <p:nvSpPr>
          <p:cNvPr id="42" name="Text 26"/>
          <p:cNvSpPr txBox="1"/>
          <p:nvPr/>
        </p:nvSpPr>
        <p:spPr>
          <a:xfrm>
            <a:off x="6208776" y="2106777"/>
            <a:ext cx="22768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place_order</a:t>
            </a:r>
            <a:r>
              <a:rPr sz="850" i="0" b="0">
                <a:solidFill>
                  <a:srgbClr val="434343"/>
                </a:solidFill>
                <a:latin typeface="Inter"/>
              </a:rPr>
              <a:t> tidak membuat object sendiri, dia minta ke factory: </a:t>
            </a:r>
            <a:r>
              <a:rPr sz="850" i="0" b="0">
                <a:solidFill>
                  <a:srgbClr val="B5482A"/>
                </a:solidFill>
                <a:latin typeface="Consolas"/>
              </a:rPr>
              <a:t>create_notifier("email")</a:t>
            </a:r>
          </a:p>
        </p:txBody>
      </p:sp>
      <p:sp>
        <p:nvSpPr>
          <p:cNvPr id="43" name="Box 27"/>
          <p:cNvSpPr/>
          <p:nvPr/>
        </p:nvSpPr>
        <p:spPr>
          <a:xfrm>
            <a:off x="58795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3</a:t>
            </a:r>
          </a:p>
        </p:txBody>
      </p:sp>
      <p:sp>
        <p:nvSpPr>
          <p:cNvPr id="44" name="Text 28"/>
          <p:cNvSpPr txBox="1"/>
          <p:nvPr/>
        </p:nvSpPr>
        <p:spPr>
          <a:xfrm>
            <a:off x="6208776" y="2750515"/>
            <a:ext cx="2276856"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Factory mengecek channel ada di </a:t>
            </a:r>
            <a:r>
              <a:rPr sz="850" i="0" b="0">
                <a:solidFill>
                  <a:srgbClr val="B5482A"/>
                </a:solidFill>
                <a:latin typeface="Consolas"/>
              </a:rPr>
              <a:t>NOTIFIERS</a:t>
            </a:r>
            <a:r>
              <a:rPr sz="850" i="0" b="0">
                <a:solidFill>
                  <a:srgbClr val="434343"/>
                </a:solidFill>
                <a:latin typeface="Inter"/>
              </a:rPr>
              <a:t>. Tidak ada = </a:t>
            </a:r>
            <a:r>
              <a:rPr sz="850" i="0" b="0">
                <a:solidFill>
                  <a:srgbClr val="B5482A"/>
                </a:solidFill>
                <a:latin typeface="Consolas"/>
              </a:rPr>
              <a:t>ValueError</a:t>
            </a:r>
          </a:p>
        </p:txBody>
      </p:sp>
      <p:sp>
        <p:nvSpPr>
          <p:cNvPr id="45" name="Box 29"/>
          <p:cNvSpPr/>
          <p:nvPr/>
        </p:nvSpPr>
        <p:spPr>
          <a:xfrm>
            <a:off x="58795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4</a:t>
            </a:r>
          </a:p>
        </p:txBody>
      </p:sp>
      <p:sp>
        <p:nvSpPr>
          <p:cNvPr id="46" name="Text 30"/>
          <p:cNvSpPr txBox="1"/>
          <p:nvPr/>
        </p:nvSpPr>
        <p:spPr>
          <a:xfrm>
            <a:off x="6208776" y="3394252"/>
            <a:ext cx="22768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NOTIFIERS["email"]</a:t>
            </a:r>
            <a:r>
              <a:rPr sz="850" i="0" b="0">
                <a:solidFill>
                  <a:srgbClr val="434343"/>
                </a:solidFill>
                <a:latin typeface="Inter"/>
              </a:rPr>
              <a:t> = class </a:t>
            </a:r>
            <a:r>
              <a:rPr sz="850" i="0" b="0">
                <a:solidFill>
                  <a:srgbClr val="B5482A"/>
                </a:solidFill>
                <a:latin typeface="Consolas"/>
              </a:rPr>
              <a:t>EmailNotifier</a:t>
            </a:r>
            <a:r>
              <a:rPr sz="850" i="0" b="0">
                <a:solidFill>
                  <a:srgbClr val="434343"/>
                </a:solidFill>
                <a:latin typeface="Inter"/>
              </a:rPr>
              <a:t>, lalu </a:t>
            </a:r>
            <a:r>
              <a:rPr sz="850" i="0" b="0">
                <a:solidFill>
                  <a:srgbClr val="B5482A"/>
                </a:solidFill>
                <a:latin typeface="Consolas"/>
              </a:rPr>
              <a:t>()</a:t>
            </a:r>
            <a:r>
              <a:rPr sz="850" i="0" b="0">
                <a:solidFill>
                  <a:srgbClr val="434343"/>
                </a:solidFill>
                <a:latin typeface="Inter"/>
              </a:rPr>
              <a:t> membuat object-nya</a:t>
            </a:r>
          </a:p>
        </p:txBody>
      </p:sp>
      <p:sp>
        <p:nvSpPr>
          <p:cNvPr id="47" name="Box 31"/>
          <p:cNvSpPr/>
          <p:nvPr/>
        </p:nvSpPr>
        <p:spPr>
          <a:xfrm>
            <a:off x="58795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5</a:t>
            </a:r>
          </a:p>
        </p:txBody>
      </p:sp>
      <p:sp>
        <p:nvSpPr>
          <p:cNvPr id="48" name="Text 32"/>
          <p:cNvSpPr txBox="1"/>
          <p:nvPr/>
        </p:nvSpPr>
        <p:spPr>
          <a:xfrm>
            <a:off x="6208776" y="4037990"/>
            <a:ext cx="2276856"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Object kembali ke </a:t>
            </a:r>
            <a:r>
              <a:rPr sz="850" i="0" b="0">
                <a:solidFill>
                  <a:srgbClr val="B5482A"/>
                </a:solidFill>
                <a:latin typeface="Consolas"/>
              </a:rPr>
              <a:t>place_order</a:t>
            </a:r>
            <a:r>
              <a:rPr sz="850" i="0" b="0">
                <a:solidFill>
                  <a:srgbClr val="434343"/>
                </a:solidFill>
                <a:latin typeface="Inter"/>
              </a:rPr>
              <a:t>, lalu </a:t>
            </a:r>
            <a:r>
              <a:rPr sz="850" i="0" b="0">
                <a:solidFill>
                  <a:srgbClr val="B5482A"/>
                </a:solidFill>
                <a:latin typeface="Consolas"/>
              </a:rPr>
              <a:t>.send(...)</a:t>
            </a:r>
            <a:r>
              <a:rPr sz="850" i="0" b="0">
                <a:solidFill>
                  <a:srgbClr val="434343"/>
                </a:solidFill>
                <a:latin typeface="Inter"/>
              </a:rPr>
              <a:t> dipanggil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Apa Itu Singleton?</a:t>
            </a:r>
          </a:p>
        </p:txBody>
      </p:sp>
      <p:sp>
        <p:nvSpPr>
          <p:cNvPr id="22" name="Text 3"/>
          <p:cNvSpPr txBox="1"/>
          <p:nvPr/>
        </p:nvSpPr>
        <p:spPr>
          <a:xfrm>
            <a:off x="621792" y="1481328"/>
            <a:ext cx="3520440" cy="3291840"/>
          </a:xfrm>
          <a:prstGeom prst="rect">
            <a:avLst/>
          </a:prstGeom>
          <a:noFill/>
        </p:spPr>
        <p:txBody>
          <a:bodyPr wrap="square" anchor="t" lIns="45720" rIns="45720">
            <a:spAutoFit/>
          </a:bodyPr>
          <a:lstStyle/>
          <a:p>
            <a:pPr algn="l">
              <a:lnSpc>
                <a:spcPct val="115000"/>
              </a:lnSpc>
              <a:spcAft>
                <a:spcPts val="400"/>
              </a:spcAft>
            </a:pPr>
            <a:r>
              <a:rPr sz="1000" i="0" b="1">
                <a:solidFill>
                  <a:srgbClr val="1C4587"/>
                </a:solidFill>
                <a:latin typeface="Inter"/>
              </a:rPr>
              <a:t>Tanpa Singleton</a:t>
            </a:r>
          </a:p>
          <a:p>
            <a:pPr algn="l">
              <a:lnSpc>
                <a:spcPct val="115000"/>
              </a:lnSpc>
              <a:spcAft>
                <a:spcPts val="400"/>
              </a:spcAft>
            </a:pPr>
            <a:r>
              <a:rPr sz="900" i="0" b="0">
                <a:solidFill>
                  <a:srgbClr val="434343"/>
                </a:solidFill>
                <a:latin typeface="Inter"/>
              </a:rPr>
              <a:t>Setiap function yang butuh config langsung membuat object </a:t>
            </a:r>
            <a:r>
              <a:rPr sz="900" i="0" b="0">
                <a:solidFill>
                  <a:srgbClr val="B5482A"/>
                </a:solidFill>
                <a:latin typeface="Consolas"/>
              </a:rPr>
              <a:t>Settings()</a:t>
            </a:r>
            <a:r>
              <a:rPr sz="900" i="0" b="0">
                <a:solidFill>
                  <a:srgbClr val="434343"/>
                </a:solidFill>
                <a:latin typeface="Inter"/>
              </a:rPr>
              <a:t> sendiri. Setiap kali dibuat, config dibaca lagi dari environment.</a:t>
            </a:r>
          </a:p>
          <a:p>
            <a:pPr algn="l">
              <a:lnSpc>
                <a:spcPct val="115000"/>
              </a:lnSpc>
              <a:spcAft>
                <a:spcPts val="400"/>
              </a:spcAft>
            </a:pPr>
            <a:r>
              <a:rPr sz="1000" i="0" b="1">
                <a:solidFill>
                  <a:srgbClr val="1C4587"/>
                </a:solidFill>
                <a:latin typeface="Inter"/>
              </a:rPr>
              <a:t>Kalau function-nya makin banyak</a:t>
            </a:r>
          </a:p>
          <a:p>
            <a:pPr algn="l">
              <a:lnSpc>
                <a:spcPct val="115000"/>
              </a:lnSpc>
              <a:spcAft>
                <a:spcPts val="400"/>
              </a:spcAft>
            </a:pPr>
            <a:r>
              <a:rPr sz="900" i="0" b="0">
                <a:solidFill>
                  <a:srgbClr val="434343"/>
                </a:solidFill>
                <a:latin typeface="Inter"/>
              </a:rPr>
              <a:t>Config dibaca ulang berkali-kali, dan setiap function memegang object yang berbeda. Kalau yang dibuat koneksi database, setiap pemanggilan membuka koneksi baru.</a:t>
            </a:r>
          </a:p>
          <a:p>
            <a:pPr algn="l">
              <a:lnSpc>
                <a:spcPct val="115000"/>
              </a:lnSpc>
              <a:spcAft>
                <a:spcPts val="400"/>
              </a:spcAft>
            </a:pPr>
            <a:r>
              <a:rPr sz="1000" i="0" b="1">
                <a:solidFill>
                  <a:srgbClr val="1C4587"/>
                </a:solidFill>
                <a:latin typeface="Inter"/>
              </a:rPr>
              <a:t>Singleton adalah</a:t>
            </a:r>
          </a:p>
          <a:p>
            <a:pPr algn="l">
              <a:lnSpc>
                <a:spcPct val="115000"/>
              </a:lnSpc>
              <a:spcAft>
                <a:spcPts val="400"/>
              </a:spcAft>
            </a:pPr>
            <a:r>
              <a:rPr sz="900" i="0" b="0">
                <a:solidFill>
                  <a:srgbClr val="434343"/>
                </a:solidFill>
                <a:latin typeface="Inter"/>
              </a:rPr>
              <a:t>Pola yang memastikan sebuah object </a:t>
            </a:r>
            <a:r>
              <a:rPr sz="900" i="0" b="1">
                <a:solidFill>
                  <a:srgbClr val="434343"/>
                </a:solidFill>
                <a:latin typeface="Inter"/>
              </a:rPr>
              <a:t>hanya dibuat sekali</a:t>
            </a:r>
            <a:r>
              <a:rPr sz="900" i="0" b="0">
                <a:solidFill>
                  <a:srgbClr val="434343"/>
                </a:solidFill>
                <a:latin typeface="Inter"/>
              </a:rPr>
              <a:t>, lalu semua bagian aplikasi memakai object yang sama itu.</a:t>
            </a:r>
          </a:p>
          <a:p>
            <a:pPr algn="l">
              <a:lnSpc>
                <a:spcPct val="115000"/>
              </a:lnSpc>
              <a:spcAft>
                <a:spcPts val="400"/>
              </a:spcAft>
            </a:pPr>
            <a:r>
              <a:rPr sz="1000" i="0" b="1">
                <a:solidFill>
                  <a:srgbClr val="1C4587"/>
                </a:solidFill>
                <a:latin typeface="Inter"/>
              </a:rPr>
              <a:t>Untuk apa</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Config aplikasi: cukup dibaca sekali</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Object yang berat dibuat (butuh waktu dan resource), misalnya koneksi database</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Semua bagian aplikasi melihat nilai yang sama</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4846320" y="1490472"/>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tanpa singleton: 02-singleton/before.py</a:t>
            </a:r>
          </a:p>
        </p:txBody>
      </p:sp>
      <p:sp>
        <p:nvSpPr>
          <p:cNvPr id="28" name="CodeBg 11"/>
          <p:cNvSpPr/>
          <p:nvPr/>
        </p:nvSpPr>
        <p:spPr>
          <a:xfrm>
            <a:off x="4297680" y="1719072"/>
            <a:ext cx="4187951" cy="1161288"/>
          </a:xfrm>
          <a:prstGeom prst="roundRect">
            <a:avLst>
              <a:gd name="adj" fmla="val 1574"/>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297680" y="1719072"/>
            <a:ext cx="4187951" cy="1161288"/>
          </a:xfrm>
          <a:prstGeom prst="rect">
            <a:avLst/>
          </a:prstGeom>
          <a:noFill/>
        </p:spPr>
        <p:txBody>
          <a:bodyPr wrap="none" lIns="146304" rIns="146304" tIns="91440" bIns="54864">
            <a:spAutoFit/>
          </a:bodyPr>
          <a:lstStyle/>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connect_db</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settings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f"connect ke {settings.database_url}"</a:t>
            </a:r>
            <a:r>
              <a:rPr sz="850" i="0">
                <a:solidFill>
                  <a:srgbClr val="E6EDF3"/>
                </a:solidFill>
                <a:latin typeface="Consolas"/>
              </a:rPr>
              <a:t>)</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send_notification</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settings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f"kirim via {settings.notification_channel}"</a:t>
            </a:r>
            <a:r>
              <a:rPr sz="850" i="0">
                <a:solidFill>
                  <a:srgbClr val="E6EDF3"/>
                </a:solidFill>
                <a:latin typeface="Consolas"/>
              </a:rPr>
              <a:t>)</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Box 14"/>
          <p:cNvSpPr/>
          <p:nvPr/>
        </p:nvSpPr>
        <p:spPr>
          <a:xfrm>
            <a:off x="8284463" y="19151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2" name="Box 15"/>
          <p:cNvSpPr/>
          <p:nvPr/>
        </p:nvSpPr>
        <p:spPr>
          <a:xfrm>
            <a:off x="4379976" y="25271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3" name="Box 16"/>
          <p:cNvSpPr/>
          <p:nvPr/>
        </p:nvSpPr>
        <p:spPr>
          <a:xfrm>
            <a:off x="8284463" y="24739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4" name="CodeTab 18"/>
          <p:cNvSpPr/>
          <p:nvPr/>
        </p:nvSpPr>
        <p:spPr>
          <a:xfrm>
            <a:off x="4297680" y="297180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Dot 19"/>
          <p:cNvSpPr/>
          <p:nvPr/>
        </p:nvSpPr>
        <p:spPr>
          <a:xfrm>
            <a:off x="4407408" y="30495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t 20"/>
          <p:cNvSpPr/>
          <p:nvPr/>
        </p:nvSpPr>
        <p:spPr>
          <a:xfrm>
            <a:off x="4544568" y="30495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t 21"/>
          <p:cNvSpPr/>
          <p:nvPr/>
        </p:nvSpPr>
        <p:spPr>
          <a:xfrm>
            <a:off x="4681728" y="30495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 22"/>
          <p:cNvSpPr txBox="1"/>
          <p:nvPr/>
        </p:nvSpPr>
        <p:spPr>
          <a:xfrm>
            <a:off x="4846320" y="2980944"/>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dengan singleton: 02-singleton/after.py</a:t>
            </a:r>
          </a:p>
        </p:txBody>
      </p:sp>
      <p:sp>
        <p:nvSpPr>
          <p:cNvPr id="39" name="CodeBg 24"/>
          <p:cNvSpPr/>
          <p:nvPr/>
        </p:nvSpPr>
        <p:spPr>
          <a:xfrm>
            <a:off x="4297680" y="3209544"/>
            <a:ext cx="4187951" cy="987551"/>
          </a:xfrm>
          <a:prstGeom prst="roundRect">
            <a:avLst>
              <a:gd name="adj" fmla="val 185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0" name="Code 25"/>
          <p:cNvSpPr txBox="1"/>
          <p:nvPr/>
        </p:nvSpPr>
        <p:spPr>
          <a:xfrm>
            <a:off x="4297680" y="3209544"/>
            <a:ext cx="4187951" cy="987551"/>
          </a:xfrm>
          <a:prstGeom prst="rect">
            <a:avLst/>
          </a:prstGeom>
          <a:noFill/>
        </p:spPr>
        <p:txBody>
          <a:bodyPr wrap="none" lIns="146304" rIns="146304" tIns="91440" bIns="54864">
            <a:spAutoFit/>
          </a:bodyPr>
          <a:lstStyle/>
          <a:p>
            <a:pPr>
              <a:lnSpc>
                <a:spcPts val="1100"/>
              </a:lnSpc>
              <a:spcAft>
                <a:spcPts val="0"/>
              </a:spcAft>
            </a:pPr>
            <a:r>
              <a:rPr sz="850" i="0">
                <a:solidFill>
                  <a:srgbClr val="F9C97A"/>
                </a:solidFill>
                <a:latin typeface="Consolas"/>
              </a:rPr>
              <a:t>@lru_cache</a:t>
            </a:r>
          </a:p>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connect_db</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f"connect ke {get_settings().database_url}"</a:t>
            </a:r>
            <a:r>
              <a:rPr sz="850" i="0">
                <a:solidFill>
                  <a:srgbClr val="E6EDF3"/>
                </a:solidFill>
                <a:latin typeface="Consolas"/>
              </a:rPr>
              <a:t>)</a:t>
            </a:r>
          </a:p>
        </p:txBody>
      </p:sp>
      <p:sp>
        <p:nvSpPr>
          <p:cNvPr id="41" name="Box 26"/>
          <p:cNvSpPr/>
          <p:nvPr/>
        </p:nvSpPr>
        <p:spPr>
          <a:xfrm>
            <a:off x="4379976" y="331914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2" name="Text 27"/>
          <p:cNvSpPr txBox="1"/>
          <p:nvPr/>
        </p:nvSpPr>
        <p:spPr>
          <a:xfrm>
            <a:off x="4297680" y="4288536"/>
            <a:ext cx="4187951" cy="502920"/>
          </a:xfrm>
          <a:prstGeom prst="rect">
            <a:avLst/>
          </a:prstGeom>
          <a:noFill/>
        </p:spPr>
        <p:txBody>
          <a:bodyPr wrap="square" anchor="t" lIns="45720" rIns="45720">
            <a:spAutoFit/>
          </a:bodyPr>
          <a:lstStyle/>
          <a:p>
            <a:pPr algn="l">
              <a:lnSpc>
                <a:spcPct val="115000"/>
              </a:lnSpc>
              <a:spcAft>
                <a:spcPts val="400"/>
              </a:spcAft>
            </a:pPr>
            <a:r>
              <a:rPr sz="850" i="0" b="1">
                <a:solidFill>
                  <a:srgbClr val="7A7A7A"/>
                </a:solidFill>
                <a:latin typeface="Inter"/>
              </a:rPr>
              <a:t>Analogi:</a:t>
            </a:r>
            <a:r>
              <a:rPr sz="850" i="0" b="0">
                <a:solidFill>
                  <a:srgbClr val="7A7A7A"/>
                </a:solidFill>
                <a:latin typeface="Inter"/>
              </a:rPr>
              <a:t> satu kantor punya satu papan pengumuman. Semua karyawan membaca papan yang sama, bukan membuat salinan sendiri.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Singleton di Python: Pattern dan @lru_cache</a:t>
            </a:r>
          </a:p>
        </p:txBody>
      </p:sp>
      <p:sp>
        <p:nvSpPr>
          <p:cNvPr id="22" name="Text 3"/>
          <p:cNvSpPr txBox="1"/>
          <p:nvPr/>
        </p:nvSpPr>
        <p:spPr>
          <a:xfrm>
            <a:off x="621792" y="1481328"/>
            <a:ext cx="4114800" cy="3291840"/>
          </a:xfrm>
          <a:prstGeom prst="rect">
            <a:avLst/>
          </a:prstGeom>
          <a:noFill/>
        </p:spPr>
        <p:txBody>
          <a:bodyPr wrap="square" anchor="t" lIns="45720" rIns="45720">
            <a:spAutoFit/>
          </a:bodyPr>
          <a:lstStyle/>
          <a:p>
            <a:pPr algn="l">
              <a:lnSpc>
                <a:spcPct val="115000"/>
              </a:lnSpc>
              <a:spcAft>
                <a:spcPts val="400"/>
              </a:spcAft>
            </a:pPr>
            <a:r>
              <a:rPr sz="1050" i="0" b="1">
                <a:solidFill>
                  <a:srgbClr val="1C4587"/>
                </a:solidFill>
                <a:latin typeface="Inter"/>
              </a:rPr>
              <a:t>Singleton = design pattern</a:t>
            </a:r>
          </a:p>
          <a:p>
            <a:pPr algn="l">
              <a:lnSpc>
                <a:spcPct val="115000"/>
              </a:lnSpc>
              <a:spcAft>
                <a:spcPts val="400"/>
              </a:spcAft>
            </a:pPr>
            <a:r>
              <a:rPr sz="950" i="0" b="0">
                <a:solidFill>
                  <a:srgbClr val="434343"/>
                </a:solidFill>
                <a:latin typeface="Inter"/>
              </a:rPr>
              <a:t>Idenya: object dibuat sekali, lalu dipakai bersama.</a:t>
            </a:r>
          </a:p>
          <a:p>
            <a:pPr algn="l">
              <a:lnSpc>
                <a:spcPct val="115000"/>
              </a:lnSpc>
              <a:spcAft>
                <a:spcPts val="400"/>
              </a:spcAft>
            </a:pPr>
            <a:r>
              <a:rPr sz="1050" i="0" b="1">
                <a:solidFill>
                  <a:srgbClr val="1C4587"/>
                </a:solidFill>
                <a:latin typeface="Inter"/>
              </a:rPr>
              <a:t>@lru_cache = fitur bawaan Python</a:t>
            </a:r>
          </a:p>
          <a:p>
            <a:pPr algn="l">
              <a:lnSpc>
                <a:spcPct val="115000"/>
              </a:lnSpc>
              <a:spcAft>
                <a:spcPts val="400"/>
              </a:spcAft>
            </a:pPr>
            <a:r>
              <a:rPr sz="950" i="0" b="0">
                <a:solidFill>
                  <a:srgbClr val="434343"/>
                </a:solidFill>
                <a:latin typeface="Inter"/>
              </a:rPr>
              <a:t>Decorator dari modul </a:t>
            </a:r>
            <a:r>
              <a:rPr sz="950" i="0" b="0">
                <a:solidFill>
                  <a:srgbClr val="B5482A"/>
                </a:solidFill>
                <a:latin typeface="Consolas"/>
              </a:rPr>
              <a:t>functools</a:t>
            </a:r>
            <a:r>
              <a:rPr sz="950" i="0" b="0">
                <a:solidFill>
                  <a:srgbClr val="434343"/>
                </a:solidFill>
                <a:latin typeface="Inter"/>
              </a:rPr>
              <a:t> untuk </a:t>
            </a:r>
            <a:r>
              <a:rPr sz="950" i="0" b="1">
                <a:solidFill>
                  <a:srgbClr val="434343"/>
                </a:solidFill>
                <a:latin typeface="Inter"/>
              </a:rPr>
              <a:t>menyimpan hasil function</a:t>
            </a:r>
            <a:r>
              <a:rPr sz="950" i="0" b="0">
                <a:solidFill>
                  <a:srgbClr val="434343"/>
                </a:solidFill>
                <a:latin typeface="Inter"/>
              </a:rPr>
              <a:t>. Dipanggil lagi dengan argumen yang sama, hasil yang disimpan langsung dikembalikan tanpa menjalankan function-nya lagi.</a:t>
            </a:r>
          </a:p>
          <a:p>
            <a:pPr algn="l">
              <a:lnSpc>
                <a:spcPct val="115000"/>
              </a:lnSpc>
              <a:spcAft>
                <a:spcPts val="400"/>
              </a:spcAft>
            </a:pPr>
            <a:r>
              <a:rPr sz="1050" i="0" b="1">
                <a:solidFill>
                  <a:srgbClr val="1C4587"/>
                </a:solidFill>
                <a:latin typeface="Inter"/>
              </a:rPr>
              <a:t>Hubungannya</a:t>
            </a:r>
          </a:p>
          <a:p>
            <a:pPr algn="l">
              <a:lnSpc>
                <a:spcPct val="115000"/>
              </a:lnSpc>
              <a:spcAft>
                <a:spcPts val="400"/>
              </a:spcAft>
            </a:pPr>
            <a:r>
              <a:rPr sz="950" i="0" b="0">
                <a:solidFill>
                  <a:srgbClr val="B5482A"/>
                </a:solidFill>
                <a:latin typeface="Consolas"/>
              </a:rPr>
              <a:t>get_settings()</a:t>
            </a:r>
            <a:r>
              <a:rPr sz="950" i="0" b="0">
                <a:solidFill>
                  <a:srgbClr val="434343"/>
                </a:solidFill>
                <a:latin typeface="Inter"/>
              </a:rPr>
              <a:t> tidak punya argumen, jadi hasilnya selalu object </a:t>
            </a:r>
            <a:r>
              <a:rPr sz="950" i="0" b="0">
                <a:solidFill>
                  <a:srgbClr val="B5482A"/>
                </a:solidFill>
                <a:latin typeface="Consolas"/>
              </a:rPr>
              <a:t>Settings</a:t>
            </a:r>
            <a:r>
              <a:rPr sz="950" i="0" b="0">
                <a:solidFill>
                  <a:srgbClr val="434343"/>
                </a:solidFill>
                <a:latin typeface="Inter"/>
              </a:rPr>
              <a:t> yang sama. Itulah Singleton, ditulis dengan alat bawaan Python.</a:t>
            </a:r>
          </a:p>
          <a:p>
            <a:pPr algn="l">
              <a:lnSpc>
                <a:spcPct val="115000"/>
              </a:lnSpc>
              <a:spcAft>
                <a:spcPts val="400"/>
              </a:spcAft>
            </a:pPr>
            <a:r>
              <a:rPr sz="1050" i="0" b="1">
                <a:solidFill>
                  <a:srgbClr val="1C4587"/>
                </a:solidFill>
                <a:latin typeface="Inter"/>
              </a:rPr>
              <a:t>Di FastAPI</a:t>
            </a:r>
          </a:p>
          <a:p>
            <a:pPr algn="l">
              <a:lnSpc>
                <a:spcPct val="115000"/>
              </a:lnSpc>
              <a:spcAft>
                <a:spcPts val="400"/>
              </a:spcAft>
            </a:pPr>
            <a:r>
              <a:rPr sz="950" i="0" b="0">
                <a:solidFill>
                  <a:srgbClr val="434343"/>
                </a:solidFill>
                <a:latin typeface="Inter"/>
              </a:rPr>
              <a:t>Dokumentasi FastAPI memakai cara ini untuk settings: </a:t>
            </a:r>
            <a:r>
              <a:rPr sz="950" i="0" b="0">
                <a:solidFill>
                  <a:srgbClr val="B5482A"/>
                </a:solidFill>
                <a:latin typeface="Consolas"/>
              </a:rPr>
              <a:t>@lru_cache</a:t>
            </a:r>
            <a:r>
              <a:rPr sz="950" i="0" b="0">
                <a:solidFill>
                  <a:srgbClr val="434343"/>
                </a:solidFill>
                <a:latin typeface="Inter"/>
              </a:rPr>
              <a:t> + </a:t>
            </a:r>
            <a:r>
              <a:rPr sz="950" i="0" b="0">
                <a:solidFill>
                  <a:srgbClr val="B5482A"/>
                </a:solidFill>
                <a:latin typeface="Consolas"/>
              </a:rPr>
              <a:t>Depends(get_settings)</a:t>
            </a:r>
            <a:r>
              <a:rPr sz="950" i="0" b="0">
                <a:solidFill>
                  <a:srgbClr val="434343"/>
                </a:solidFill>
                <a:latin typeface="Inter"/>
              </a:rPr>
              <a:t>.</a:t>
            </a:r>
          </a:p>
        </p:txBody>
      </p:sp>
      <p:sp>
        <p:nvSpPr>
          <p:cNvPr id="23" name="CodeTab 5"/>
          <p:cNvSpPr/>
          <p:nvPr/>
        </p:nvSpPr>
        <p:spPr>
          <a:xfrm>
            <a:off x="4892040" y="1481328"/>
            <a:ext cx="35935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50017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51389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52760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5440679" y="1490472"/>
            <a:ext cx="2953512"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dua cara menulis Singleton</a:t>
            </a:r>
          </a:p>
        </p:txBody>
      </p:sp>
      <p:sp>
        <p:nvSpPr>
          <p:cNvPr id="28" name="CodeBg 11"/>
          <p:cNvSpPr/>
          <p:nvPr/>
        </p:nvSpPr>
        <p:spPr>
          <a:xfrm>
            <a:off x="4892040" y="1719072"/>
            <a:ext cx="35935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892040" y="1719072"/>
            <a:ext cx="3593592" cy="2980944"/>
          </a:xfrm>
          <a:prstGeom prst="rect">
            <a:avLst/>
          </a:prstGeom>
          <a:noFill/>
        </p:spPr>
        <p:txBody>
          <a:bodyPr wrap="none" lIns="146304" rIns="146304" tIns="91440" bIns="54864">
            <a:spAutoFit/>
          </a:bodyPr>
          <a:lstStyle/>
          <a:p>
            <a:pPr>
              <a:lnSpc>
                <a:spcPts val="1100"/>
              </a:lnSpc>
              <a:spcAft>
                <a:spcPts val="0"/>
              </a:spcAft>
            </a:pPr>
            <a:r>
              <a:rPr sz="850" i="1">
                <a:solidFill>
                  <a:srgbClr val="8B98A8"/>
                </a:solidFill>
                <a:latin typeface="Consolas"/>
              </a:rPr>
              <a:t># cara klasik: diatur di __new__</a:t>
            </a:r>
          </a:p>
          <a:p>
            <a:pPr>
              <a:lnSpc>
                <a:spcPts val="1100"/>
              </a:lnSpc>
              <a:spcAft>
                <a:spcPts val="0"/>
              </a:spcAft>
            </a:pP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_instance</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None</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__new__</a:t>
            </a:r>
            <a:r>
              <a:rPr sz="850" i="0">
                <a:solidFill>
                  <a:srgbClr val="E6EDF3"/>
                </a:solidFill>
                <a:latin typeface="Consolas"/>
              </a:rPr>
              <a:t>(</a:t>
            </a:r>
            <a:r>
              <a:rPr sz="850" i="0">
                <a:solidFill>
                  <a:srgbClr val="C3A6FF"/>
                </a:solidFill>
                <a:latin typeface="Consolas"/>
              </a:rPr>
              <a:t>cls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C3A6FF"/>
                </a:solidFill>
                <a:latin typeface="Consolas"/>
              </a:rPr>
              <a:t>cls</a:t>
            </a:r>
            <a:r>
              <a:rPr sz="850" i="0">
                <a:solidFill>
                  <a:srgbClr val="E6EDF3"/>
                </a:solidFill>
                <a:latin typeface="Consolas"/>
              </a:rPr>
              <a:t>.</a:t>
            </a:r>
            <a:r>
              <a:rPr sz="850" i="0">
                <a:solidFill>
                  <a:srgbClr val="E6EDF3"/>
                </a:solidFill>
                <a:latin typeface="Consolas"/>
              </a:rPr>
              <a:t>_instance</a:t>
            </a:r>
            <a:r>
              <a:rPr sz="850" i="0">
                <a:solidFill>
                  <a:srgbClr val="E6EDF3"/>
                </a:solidFill>
                <a:latin typeface="Consolas"/>
              </a:rPr>
              <a:t> </a:t>
            </a:r>
            <a:r>
              <a:rPr sz="850" i="0">
                <a:solidFill>
                  <a:srgbClr val="FF8E6E"/>
                </a:solidFill>
                <a:latin typeface="Consolas"/>
              </a:rPr>
              <a:t>is</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C3A6FF"/>
                </a:solidFill>
                <a:latin typeface="Consolas"/>
              </a:rPr>
              <a:t>cls</a:t>
            </a:r>
            <a:r>
              <a:rPr sz="850" i="0">
                <a:solidFill>
                  <a:srgbClr val="E6EDF3"/>
                </a:solidFill>
                <a:latin typeface="Consolas"/>
              </a:rPr>
              <a:t>.</a:t>
            </a:r>
            <a:r>
              <a:rPr sz="850" i="0">
                <a:solidFill>
                  <a:srgbClr val="E6EDF3"/>
                </a:solidFill>
                <a:latin typeface="Consolas"/>
              </a:rPr>
              <a:t>_instance</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super</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__new__</a:t>
            </a:r>
            <a:r>
              <a:rPr sz="850" i="0">
                <a:solidFill>
                  <a:srgbClr val="E6EDF3"/>
                </a:solidFill>
                <a:latin typeface="Consolas"/>
              </a:rPr>
              <a:t>(</a:t>
            </a:r>
            <a:r>
              <a:rPr sz="850" i="0">
                <a:solidFill>
                  <a:srgbClr val="C3A6FF"/>
                </a:solidFill>
                <a:latin typeface="Consolas"/>
              </a:rPr>
              <a:t>cls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C3A6FF"/>
                </a:solidFill>
                <a:latin typeface="Consolas"/>
              </a:rPr>
              <a:t>cls</a:t>
            </a:r>
            <a:r>
              <a:rPr sz="850" i="0">
                <a:solidFill>
                  <a:srgbClr val="E6EDF3"/>
                </a:solidFill>
                <a:latin typeface="Consolas"/>
              </a:rPr>
              <a:t>.</a:t>
            </a:r>
            <a:r>
              <a:rPr sz="850" i="0">
                <a:solidFill>
                  <a:srgbClr val="E6EDF3"/>
                </a:solidFill>
                <a:latin typeface="Consolas"/>
              </a:rPr>
              <a:t>_instance</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E6EDF3"/>
                </a:solidFill>
                <a:latin typeface="Consolas"/>
              </a:rPr>
              <a:t> </a:t>
            </a:r>
          </a:p>
          <a:p>
            <a:pPr>
              <a:lnSpc>
                <a:spcPts val="1100"/>
              </a:lnSpc>
              <a:spcAft>
                <a:spcPts val="0"/>
              </a:spcAft>
            </a:pPr>
            <a:r>
              <a:rPr sz="850" i="1">
                <a:solidFill>
                  <a:srgbClr val="8B98A8"/>
                </a:solidFill>
                <a:latin typeface="Consolas"/>
              </a:rPr>
              <a:t># cara yang dipakai di sesi ini:</a:t>
            </a:r>
          </a:p>
          <a:p>
            <a:pPr>
              <a:lnSpc>
                <a:spcPts val="1100"/>
              </a:lnSpc>
              <a:spcAft>
                <a:spcPts val="0"/>
              </a:spcAft>
            </a:pPr>
            <a:r>
              <a:rPr sz="850" i="1">
                <a:solidFill>
                  <a:srgbClr val="8B98A8"/>
                </a:solidFill>
                <a:latin typeface="Consolas"/>
              </a:rPr>
              <a:t># function + @lru_cache</a:t>
            </a:r>
          </a:p>
          <a:p>
            <a:pPr>
              <a:lnSpc>
                <a:spcPts val="1100"/>
              </a:lnSpc>
              <a:spcAft>
                <a:spcPts val="0"/>
              </a:spcAft>
            </a:pPr>
            <a:r>
              <a:rPr sz="850" i="0">
                <a:solidFill>
                  <a:srgbClr val="F9C97A"/>
                </a:solidFill>
                <a:latin typeface="Consolas"/>
              </a:rPr>
              <a:t>@lru_cache</a:t>
            </a:r>
          </a:p>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Config Dibuat Berulang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02-singleton/before.py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7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os</a:t>
            </a:r>
          </a:p>
          <a:p>
            <a:pPr>
              <a:lnSpc>
                <a:spcPts val="1100"/>
              </a:lnSpc>
              <a:spcAft>
                <a:spcPts val="0"/>
              </a:spcAft>
            </a:pPr>
            <a:r>
              <a:rPr sz="850" i="0">
                <a:solidFill>
                  <a:srgbClr val="5C6773"/>
                </a:solidFill>
                <a:latin typeface="Consolas"/>
              </a:rPr>
              <a:t> 8  </a:t>
            </a:r>
            <a:r>
              <a:rPr sz="850" i="0">
                <a:solidFill>
                  <a:srgbClr val="E6EDF3"/>
                </a:solidFill>
                <a:latin typeface="Consolas"/>
              </a:rPr>
              <a:t> </a:t>
            </a:r>
          </a:p>
          <a:p>
            <a:pPr>
              <a:lnSpc>
                <a:spcPts val="1100"/>
              </a:lnSpc>
              <a:spcAft>
                <a:spcPts val="0"/>
              </a:spcAft>
            </a:pPr>
            <a:r>
              <a:rPr sz="850" i="0">
                <a:solidFill>
                  <a:srgbClr val="5C6773"/>
                </a:solidFill>
                <a:latin typeface="Consolas"/>
              </a:rPr>
              <a:t> 9  </a:t>
            </a:r>
            <a:r>
              <a:rPr sz="850" i="0">
                <a:solidFill>
                  <a:srgbClr val="E6EDF3"/>
                </a:solidFill>
                <a:latin typeface="Consolas"/>
              </a:rPr>
              <a:t> </a:t>
            </a:r>
          </a:p>
          <a:p>
            <a:pPr>
              <a:lnSpc>
                <a:spcPts val="1100"/>
              </a:lnSpc>
              <a:spcAft>
                <a:spcPts val="0"/>
              </a:spcAft>
            </a:pPr>
            <a:r>
              <a:rPr sz="850" i="0">
                <a:solidFill>
                  <a:srgbClr val="5C6773"/>
                </a:solidFill>
                <a:latin typeface="Consolas"/>
              </a:rPr>
              <a:t>10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5C6773"/>
                </a:solidFill>
                <a:latin typeface="Consolas"/>
              </a:rPr>
              <a:t>11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__init__</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"-&gt; membaca config dari environment..."</a:t>
            </a:r>
            <a:r>
              <a:rPr sz="850" i="0">
                <a:solidFill>
                  <a:srgbClr val="E6EDF3"/>
                </a:solidFill>
                <a:latin typeface="Consolas"/>
              </a:rPr>
              <a:t>)</a:t>
            </a:r>
          </a:p>
          <a:p>
            <a:pPr>
              <a:lnSpc>
                <a:spcPts val="1100"/>
              </a:lnSpc>
              <a:spcAft>
                <a:spcPts val="0"/>
              </a:spcAft>
            </a:pPr>
            <a:r>
              <a:rPr sz="850" i="0">
                <a:solidFill>
                  <a:srgbClr val="5C6773"/>
                </a:solidFill>
                <a:latin typeface="Consolas"/>
              </a:rPr>
              <a:t>13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app_name</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"APP_NAME"</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"Order API"</a:t>
            </a:r>
            <a:r>
              <a:rPr sz="850" i="0">
                <a:solidFill>
                  <a:srgbClr val="E6EDF3"/>
                </a:solidFill>
                <a:latin typeface="Consolas"/>
              </a:rPr>
              <a:t>)</a:t>
            </a:r>
          </a:p>
          <a:p>
            <a:pPr>
              <a:lnSpc>
                <a:spcPts val="1100"/>
              </a:lnSpc>
              <a:spcAft>
                <a:spcPts val="0"/>
              </a:spcAft>
            </a:pPr>
            <a:r>
              <a:rPr sz="850" i="0">
                <a:solidFill>
                  <a:srgbClr val="5C6773"/>
                </a:solidFill>
                <a:latin typeface="Consolas"/>
              </a:rPr>
              <a:t>14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database_url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"DATABASE_URL"</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"sqlite:///orders.db"</a:t>
            </a:r>
            <a:r>
              <a:rPr sz="850" i="0">
                <a:solidFill>
                  <a:srgbClr val="E6EDF3"/>
                </a:solidFill>
                <a:latin typeface="Consolas"/>
              </a:rPr>
              <a:t>)</a:t>
            </a:r>
          </a:p>
          <a:p>
            <a:pPr>
              <a:lnSpc>
                <a:spcPts val="1100"/>
              </a:lnSpc>
              <a:spcAft>
                <a:spcPts val="0"/>
              </a:spcAft>
            </a:pPr>
            <a:r>
              <a:rPr sz="850" i="0">
                <a:solidFill>
                  <a:srgbClr val="5C6773"/>
                </a:solidFill>
                <a:latin typeface="Consolas"/>
              </a:rPr>
              <a:t>15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notification_channel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"NOTIFICATION_CHANNEL"</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16  </a:t>
            </a:r>
            <a:r>
              <a:rPr sz="850" i="0">
                <a:solidFill>
                  <a:srgbClr val="E6EDF3"/>
                </a:solidFill>
                <a:latin typeface="Consolas"/>
              </a:rPr>
              <a:t> </a:t>
            </a:r>
          </a:p>
          <a:p>
            <a:pPr>
              <a:lnSpc>
                <a:spcPts val="1100"/>
              </a:lnSpc>
              <a:spcAft>
                <a:spcPts val="0"/>
              </a:spcAft>
            </a:pPr>
            <a:r>
              <a:rPr sz="850" i="0">
                <a:solidFill>
                  <a:srgbClr val="5C6773"/>
                </a:solidFill>
                <a:latin typeface="Consolas"/>
              </a:rPr>
              <a:t>17  </a:t>
            </a:r>
            <a:r>
              <a:rPr sz="850" i="0">
                <a:solidFill>
                  <a:srgbClr val="E6EDF3"/>
                </a:solidFill>
                <a:latin typeface="Consolas"/>
              </a:rPr>
              <a:t> </a:t>
            </a:r>
          </a:p>
          <a:p>
            <a:pPr>
              <a:lnSpc>
                <a:spcPts val="1100"/>
              </a:lnSpc>
              <a:spcAft>
                <a:spcPts val="0"/>
              </a:spcAft>
            </a:pPr>
            <a:r>
              <a:rPr sz="850" i="0">
                <a:solidFill>
                  <a:srgbClr val="5C6773"/>
                </a:solidFill>
                <a:latin typeface="Consolas"/>
              </a:rPr>
              <a:t>18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connect_db</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19  </a:t>
            </a:r>
            <a:r>
              <a:rPr sz="850" i="0">
                <a:solidFill>
                  <a:srgbClr val="E6EDF3"/>
                </a:solidFill>
                <a:latin typeface="Consolas"/>
              </a:rPr>
              <a:t>    </a:t>
            </a:r>
            <a:r>
              <a:rPr sz="850" i="0">
                <a:solidFill>
                  <a:srgbClr val="E6EDF3"/>
                </a:solidFill>
                <a:latin typeface="Consolas"/>
              </a:rPr>
              <a:t>settings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f"connect ke {settings.database_url}"</a:t>
            </a:r>
            <a:r>
              <a:rPr sz="850" i="0">
                <a:solidFill>
                  <a:srgbClr val="E6EDF3"/>
                </a:solidFill>
                <a:latin typeface="Consolas"/>
              </a:rPr>
              <a:t>)</a:t>
            </a:r>
          </a:p>
        </p:txBody>
      </p:sp>
      <p:sp>
        <p:nvSpPr>
          <p:cNvPr id="29" name="Box 12"/>
          <p:cNvSpPr/>
          <p:nvPr/>
        </p:nvSpPr>
        <p:spPr>
          <a:xfrm>
            <a:off x="704088" y="35050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4518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Config Dibuat Berulang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02-singleton/before.py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23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send_notification</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24  </a:t>
            </a:r>
            <a:r>
              <a:rPr sz="850" i="0">
                <a:solidFill>
                  <a:srgbClr val="E6EDF3"/>
                </a:solidFill>
                <a:latin typeface="Consolas"/>
              </a:rPr>
              <a:t>    </a:t>
            </a:r>
            <a:r>
              <a:rPr sz="850" i="0">
                <a:solidFill>
                  <a:srgbClr val="E6EDF3"/>
                </a:solidFill>
                <a:latin typeface="Consolas"/>
              </a:rPr>
              <a:t>settings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25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f"kirim via {settings.notification_channel}"</a:t>
            </a:r>
            <a:r>
              <a:rPr sz="850" i="0">
                <a:solidFill>
                  <a:srgbClr val="E6EDF3"/>
                </a:solidFill>
                <a:latin typeface="Consolas"/>
              </a:rPr>
              <a:t>)</a:t>
            </a:r>
          </a:p>
          <a:p>
            <a:pPr>
              <a:lnSpc>
                <a:spcPts val="1100"/>
              </a:lnSpc>
              <a:spcAft>
                <a:spcPts val="0"/>
              </a:spcAft>
            </a:pPr>
            <a:r>
              <a:rPr sz="850" i="0">
                <a:solidFill>
                  <a:srgbClr val="5C6773"/>
                </a:solidFill>
                <a:latin typeface="Consolas"/>
              </a:rPr>
              <a:t>26  </a:t>
            </a:r>
            <a:r>
              <a:rPr sz="850" i="0">
                <a:solidFill>
                  <a:srgbClr val="E6EDF3"/>
                </a:solidFill>
                <a:latin typeface="Consolas"/>
              </a:rPr>
              <a:t> </a:t>
            </a:r>
          </a:p>
          <a:p>
            <a:pPr>
              <a:lnSpc>
                <a:spcPts val="1100"/>
              </a:lnSpc>
              <a:spcAft>
                <a:spcPts val="0"/>
              </a:spcAft>
            </a:pPr>
            <a:r>
              <a:rPr sz="850" i="0">
                <a:solidFill>
                  <a:srgbClr val="5C6773"/>
                </a:solidFill>
                <a:latin typeface="Consolas"/>
              </a:rPr>
              <a:t>27  </a:t>
            </a:r>
            <a:r>
              <a:rPr sz="850" i="0">
                <a:solidFill>
                  <a:srgbClr val="E6EDF3"/>
                </a:solidFill>
                <a:latin typeface="Consolas"/>
              </a:rPr>
              <a:t> </a:t>
            </a:r>
          </a:p>
          <a:p>
            <a:pPr>
              <a:lnSpc>
                <a:spcPts val="1100"/>
              </a:lnSpc>
              <a:spcAft>
                <a:spcPts val="0"/>
              </a:spcAft>
            </a:pPr>
            <a:r>
              <a:rPr sz="850" i="0">
                <a:solidFill>
                  <a:srgbClr val="5C6773"/>
                </a:solidFill>
                <a:latin typeface="Consolas"/>
              </a:rPr>
              <a:t>28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29  </a:t>
            </a:r>
            <a:r>
              <a:rPr sz="850" i="0">
                <a:solidFill>
                  <a:srgbClr val="E6EDF3"/>
                </a:solidFill>
                <a:latin typeface="Consolas"/>
              </a:rPr>
              <a:t>    </a:t>
            </a:r>
            <a:r>
              <a:rPr sz="850" i="0">
                <a:solidFill>
                  <a:srgbClr val="E6EDF3"/>
                </a:solidFill>
                <a:latin typeface="Consolas"/>
              </a:rPr>
              <a:t>connect_db</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r>
              <a:rPr sz="850" i="0">
                <a:solidFill>
                  <a:srgbClr val="E6EDF3"/>
                </a:solidFill>
                <a:latin typeface="Consolas"/>
              </a:rPr>
              <a:t>send_notification</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31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"object sama?"</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is</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False</a:t>
            </a:r>
          </a:p>
        </p:txBody>
      </p:sp>
      <p:sp>
        <p:nvSpPr>
          <p:cNvPr id="29" name="Box 12"/>
          <p:cNvSpPr/>
          <p:nvPr/>
        </p:nvSpPr>
        <p:spPr>
          <a:xfrm>
            <a:off x="704088" y="19683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19151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1" name="Box 14"/>
          <p:cNvSpPr/>
          <p:nvPr/>
        </p:nvSpPr>
        <p:spPr>
          <a:xfrm>
            <a:off x="704088" y="29462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28930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02-singleton/before.py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sesi-01-design-patterns/02-singleton</a:t>
            </a:r>
          </a:p>
          <a:p>
            <a:pPr>
              <a:lnSpc>
                <a:spcPts val="1000"/>
              </a:lnSpc>
              <a:spcAft>
                <a:spcPts val="0"/>
              </a:spcAft>
            </a:pPr>
            <a:r>
              <a:rPr sz="775" i="0">
                <a:solidFill>
                  <a:srgbClr val="82B1FF"/>
                </a:solidFill>
                <a:latin typeface="Consolas"/>
              </a:rPr>
              <a:t>$ python before.py</a:t>
            </a:r>
          </a:p>
        </p:txBody>
      </p:sp>
      <p:pic>
        <p:nvPicPr>
          <p:cNvPr id="29" name="Image 12" descr="s01-02-singleton-before.png"/>
          <p:cNvPicPr>
            <a:picLocks noChangeAspect="1"/>
          </p:cNvPicPr>
          <p:nvPr/>
        </p:nvPicPr>
        <p:blipFill>
          <a:blip r:embed="rId2"/>
          <a:stretch>
            <a:fillRect/>
          </a:stretch>
        </p:blipFill>
        <p:spPr>
          <a:xfrm>
            <a:off x="621792" y="2240280"/>
            <a:ext cx="4297680" cy="2020824"/>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connect_db</a:t>
            </a:r>
            <a:r>
              <a:rPr sz="950" i="0" b="0">
                <a:solidFill>
                  <a:srgbClr val="434343"/>
                </a:solidFill>
                <a:latin typeface="Inter"/>
              </a:rPr>
              <a:t> membuat </a:t>
            </a:r>
            <a:r>
              <a:rPr sz="950" i="0" b="0">
                <a:solidFill>
                  <a:srgbClr val="B5482A"/>
                </a:solidFill>
                <a:latin typeface="Consolas"/>
              </a:rPr>
              <a:t>Settings</a:t>
            </a:r>
            <a:r>
              <a:rPr sz="950" i="0" b="0">
                <a:solidFill>
                  <a:srgbClr val="434343"/>
                </a:solidFill>
                <a:latin typeface="Inter"/>
              </a:rPr>
              <a:t> sendiri (baris 19)</a:t>
            </a:r>
          </a:p>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send_notification</a:t>
            </a:r>
            <a:r>
              <a:rPr sz="950" i="0" b="0">
                <a:solidFill>
                  <a:srgbClr val="434343"/>
                </a:solidFill>
                <a:latin typeface="Inter"/>
              </a:rPr>
              <a:t> membuat lagi (baris 24)</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Hasilnya object berbeda: </a:t>
            </a:r>
            <a:r>
              <a:rPr sz="950" i="0" b="0">
                <a:solidFill>
                  <a:srgbClr val="B5482A"/>
                </a:solidFill>
                <a:latin typeface="Consolas"/>
              </a:rPr>
              <a:t>False</a:t>
            </a:r>
            <a:r>
              <a:rPr sz="950" i="0" b="0">
                <a:solidFill>
                  <a:srgbClr val="434343"/>
                </a:solidFill>
                <a:latin typeface="Inter"/>
              </a:rPr>
              <a:t> (baris 31)</a:t>
            </a:r>
          </a:p>
          <a:p>
            <a:pPr algn="l">
              <a:lnSpc>
                <a:spcPct val="115000"/>
              </a:lnSpc>
              <a:spcAft>
                <a:spcPts val="0"/>
              </a:spcAft>
            </a:pPr>
            <a:r>
              <a:rPr sz="570"/>
              <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Di output, "membaca config" muncul </a:t>
            </a:r>
            <a:r>
              <a:rPr sz="950" i="0" b="1">
                <a:solidFill>
                  <a:srgbClr val="434343"/>
                </a:solidFill>
                <a:latin typeface="Inter"/>
              </a:rPr>
              <a:t>4 kali</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Kalau yang dibuat koneksi database, boros resource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Cukup @lru_cache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02-singleton/after.py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7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os</a:t>
            </a:r>
          </a:p>
          <a:p>
            <a:pPr>
              <a:lnSpc>
                <a:spcPts val="1100"/>
              </a:lnSpc>
              <a:spcAft>
                <a:spcPts val="0"/>
              </a:spcAft>
            </a:pPr>
            <a:r>
              <a:rPr sz="850" i="0">
                <a:solidFill>
                  <a:srgbClr val="5C6773"/>
                </a:solidFill>
                <a:latin typeface="Consolas"/>
              </a:rPr>
              <a:t> 8  </a:t>
            </a:r>
            <a:r>
              <a:rPr sz="850" i="0">
                <a:solidFill>
                  <a:srgbClr val="FF8E6E"/>
                </a:solidFill>
                <a:latin typeface="Consolas"/>
              </a:rPr>
              <a:t>from</a:t>
            </a:r>
            <a:r>
              <a:rPr sz="850" i="0">
                <a:solidFill>
                  <a:srgbClr val="E6EDF3"/>
                </a:solidFill>
                <a:latin typeface="Consolas"/>
              </a:rPr>
              <a:t> </a:t>
            </a:r>
            <a:r>
              <a:rPr sz="850" i="0">
                <a:solidFill>
                  <a:srgbClr val="E6EDF3"/>
                </a:solidFill>
                <a:latin typeface="Consolas"/>
              </a:rPr>
              <a:t>functools</a:t>
            </a:r>
            <a:r>
              <a:rPr sz="850" i="0">
                <a:solidFill>
                  <a:srgbClr val="E6EDF3"/>
                </a:solidFill>
                <a:latin typeface="Consolas"/>
              </a:rPr>
              <a:t>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lru_cache</a:t>
            </a:r>
          </a:p>
          <a:p>
            <a:pPr>
              <a:lnSpc>
                <a:spcPts val="1100"/>
              </a:lnSpc>
              <a:spcAft>
                <a:spcPts val="0"/>
              </a:spcAft>
            </a:pPr>
            <a:r>
              <a:rPr sz="850" i="0">
                <a:solidFill>
                  <a:srgbClr val="5C6773"/>
                </a:solidFill>
                <a:latin typeface="Consolas"/>
              </a:rPr>
              <a:t> 9  </a:t>
            </a:r>
            <a:r>
              <a:rPr sz="850" i="0">
                <a:solidFill>
                  <a:srgbClr val="E6EDF3"/>
                </a:solidFill>
                <a:latin typeface="Consolas"/>
              </a:rPr>
              <a:t> </a:t>
            </a:r>
          </a:p>
          <a:p>
            <a:pPr>
              <a:lnSpc>
                <a:spcPts val="1100"/>
              </a:lnSpc>
              <a:spcAft>
                <a:spcPts val="0"/>
              </a:spcAft>
            </a:pPr>
            <a:r>
              <a:rPr sz="850" i="0">
                <a:solidFill>
                  <a:srgbClr val="5C6773"/>
                </a:solidFill>
                <a:latin typeface="Consolas"/>
              </a:rPr>
              <a:t>10  </a:t>
            </a:r>
            <a:r>
              <a:rPr sz="850" i="0">
                <a:solidFill>
                  <a:srgbClr val="E6EDF3"/>
                </a:solidFill>
                <a:latin typeface="Consolas"/>
              </a:rPr>
              <a:t> </a:t>
            </a:r>
          </a:p>
          <a:p>
            <a:pPr>
              <a:lnSpc>
                <a:spcPts val="1100"/>
              </a:lnSpc>
              <a:spcAft>
                <a:spcPts val="0"/>
              </a:spcAft>
            </a:pPr>
            <a:r>
              <a:rPr sz="850" i="0">
                <a:solidFill>
                  <a:srgbClr val="5C6773"/>
                </a:solidFill>
                <a:latin typeface="Consolas"/>
              </a:rPr>
              <a:t>11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__init__</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13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"-&gt; membaca config dari environment..."</a:t>
            </a:r>
            <a:r>
              <a:rPr sz="850" i="0">
                <a:solidFill>
                  <a:srgbClr val="E6EDF3"/>
                </a:solidFill>
                <a:latin typeface="Consolas"/>
              </a:rPr>
              <a:t>)</a:t>
            </a:r>
          </a:p>
          <a:p>
            <a:pPr>
              <a:lnSpc>
                <a:spcPts val="1100"/>
              </a:lnSpc>
              <a:spcAft>
                <a:spcPts val="0"/>
              </a:spcAft>
            </a:pPr>
            <a:r>
              <a:rPr sz="850" i="0">
                <a:solidFill>
                  <a:srgbClr val="5C6773"/>
                </a:solidFill>
                <a:latin typeface="Consolas"/>
              </a:rPr>
              <a:t>14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app_name</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"APP_NAME"</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"Order API"</a:t>
            </a:r>
            <a:r>
              <a:rPr sz="850" i="0">
                <a:solidFill>
                  <a:srgbClr val="E6EDF3"/>
                </a:solidFill>
                <a:latin typeface="Consolas"/>
              </a:rPr>
              <a:t>)</a:t>
            </a:r>
          </a:p>
          <a:p>
            <a:pPr>
              <a:lnSpc>
                <a:spcPts val="1100"/>
              </a:lnSpc>
              <a:spcAft>
                <a:spcPts val="0"/>
              </a:spcAft>
            </a:pPr>
            <a:r>
              <a:rPr sz="850" i="0">
                <a:solidFill>
                  <a:srgbClr val="5C6773"/>
                </a:solidFill>
                <a:latin typeface="Consolas"/>
              </a:rPr>
              <a:t>15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database_url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"DATABASE_URL"</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"sqlite:///orders.db"</a:t>
            </a:r>
            <a:r>
              <a:rPr sz="850" i="0">
                <a:solidFill>
                  <a:srgbClr val="E6EDF3"/>
                </a:solidFill>
                <a:latin typeface="Consolas"/>
              </a:rPr>
              <a:t>)</a:t>
            </a:r>
          </a:p>
          <a:p>
            <a:pPr>
              <a:lnSpc>
                <a:spcPts val="1100"/>
              </a:lnSpc>
              <a:spcAft>
                <a:spcPts val="0"/>
              </a:spcAft>
            </a:pPr>
            <a:r>
              <a:rPr sz="850" i="0">
                <a:solidFill>
                  <a:srgbClr val="5C6773"/>
                </a:solidFill>
                <a:latin typeface="Consolas"/>
              </a:rPr>
              <a:t>16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notification_channel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"NOTIFICATION_CHANNEL"</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p>
          <a:p>
            <a:pPr>
              <a:lnSpc>
                <a:spcPts val="1100"/>
              </a:lnSpc>
              <a:spcAft>
                <a:spcPts val="0"/>
              </a:spcAft>
            </a:pPr>
            <a:r>
              <a:rPr sz="850" i="0">
                <a:solidFill>
                  <a:srgbClr val="5C6773"/>
                </a:solidFill>
                <a:latin typeface="Consolas"/>
              </a:rPr>
              <a:t>17  </a:t>
            </a:r>
            <a:r>
              <a:rPr sz="850" i="0">
                <a:solidFill>
                  <a:srgbClr val="E6EDF3"/>
                </a:solidFill>
                <a:latin typeface="Consolas"/>
              </a:rPr>
              <a:t> </a:t>
            </a:r>
          </a:p>
          <a:p>
            <a:pPr>
              <a:lnSpc>
                <a:spcPts val="1100"/>
              </a:lnSpc>
              <a:spcAft>
                <a:spcPts val="0"/>
              </a:spcAft>
            </a:pPr>
            <a:r>
              <a:rPr sz="850" i="0">
                <a:solidFill>
                  <a:srgbClr val="5C6773"/>
                </a:solidFill>
                <a:latin typeface="Consolas"/>
              </a:rPr>
              <a:t>18  </a:t>
            </a:r>
            <a:r>
              <a:rPr sz="850" i="0">
                <a:solidFill>
                  <a:srgbClr val="E6EDF3"/>
                </a:solidFill>
                <a:latin typeface="Consolas"/>
              </a:rPr>
              <a:t> </a:t>
            </a:r>
          </a:p>
          <a:p>
            <a:pPr>
              <a:lnSpc>
                <a:spcPts val="1100"/>
              </a:lnSpc>
              <a:spcAft>
                <a:spcPts val="0"/>
              </a:spcAft>
            </a:pPr>
            <a:r>
              <a:rPr sz="850" i="0">
                <a:solidFill>
                  <a:srgbClr val="5C6773"/>
                </a:solidFill>
                <a:latin typeface="Consolas"/>
              </a:rPr>
              <a:t>19  </a:t>
            </a:r>
            <a:r>
              <a:rPr sz="850" i="0">
                <a:solidFill>
                  <a:srgbClr val="F9C97A"/>
                </a:solidFill>
                <a:latin typeface="Consolas"/>
              </a:rPr>
              <a:t>@lru_cache</a:t>
            </a:r>
          </a:p>
          <a:p>
            <a:pPr>
              <a:lnSpc>
                <a:spcPts val="1100"/>
              </a:lnSpc>
              <a:spcAft>
                <a:spcPts val="0"/>
              </a:spcAft>
            </a:pPr>
            <a:r>
              <a:rPr sz="850" i="0">
                <a:solidFill>
                  <a:srgbClr val="5C6773"/>
                </a:solidFill>
                <a:latin typeface="Consolas"/>
              </a:rPr>
              <a:t>20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r>
              <a:rPr sz="850" i="0">
                <a:solidFill>
                  <a:srgbClr val="E6EDF3"/>
                </a:solidFill>
                <a:latin typeface="Consolas"/>
              </a:rPr>
              <a:t>)</a:t>
            </a:r>
          </a:p>
        </p:txBody>
      </p:sp>
      <p:sp>
        <p:nvSpPr>
          <p:cNvPr id="29" name="Box 12"/>
          <p:cNvSpPr/>
          <p:nvPr/>
        </p:nvSpPr>
        <p:spPr>
          <a:xfrm>
            <a:off x="704088" y="35050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5915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Cukup @lru_cache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02-singleton/after.py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24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connect_db</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25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f"connect ke {get_settings().database_url}"</a:t>
            </a:r>
            <a:r>
              <a:rPr sz="850" i="0">
                <a:solidFill>
                  <a:srgbClr val="E6EDF3"/>
                </a:solidFill>
                <a:latin typeface="Consolas"/>
              </a:rPr>
              <a:t>)</a:t>
            </a:r>
          </a:p>
          <a:p>
            <a:pPr>
              <a:lnSpc>
                <a:spcPts val="1100"/>
              </a:lnSpc>
              <a:spcAft>
                <a:spcPts val="0"/>
              </a:spcAft>
            </a:pPr>
            <a:r>
              <a:rPr sz="850" i="0">
                <a:solidFill>
                  <a:srgbClr val="5C6773"/>
                </a:solidFill>
                <a:latin typeface="Consolas"/>
              </a:rPr>
              <a:t>26  </a:t>
            </a:r>
            <a:r>
              <a:rPr sz="850" i="0">
                <a:solidFill>
                  <a:srgbClr val="E6EDF3"/>
                </a:solidFill>
                <a:latin typeface="Consolas"/>
              </a:rPr>
              <a:t> </a:t>
            </a:r>
          </a:p>
          <a:p>
            <a:pPr>
              <a:lnSpc>
                <a:spcPts val="1100"/>
              </a:lnSpc>
              <a:spcAft>
                <a:spcPts val="0"/>
              </a:spcAft>
            </a:pPr>
            <a:r>
              <a:rPr sz="850" i="0">
                <a:solidFill>
                  <a:srgbClr val="5C6773"/>
                </a:solidFill>
                <a:latin typeface="Consolas"/>
              </a:rPr>
              <a:t>27  </a:t>
            </a:r>
            <a:r>
              <a:rPr sz="850" i="0">
                <a:solidFill>
                  <a:srgbClr val="E6EDF3"/>
                </a:solidFill>
                <a:latin typeface="Consolas"/>
              </a:rPr>
              <a:t> </a:t>
            </a:r>
          </a:p>
          <a:p>
            <a:pPr>
              <a:lnSpc>
                <a:spcPts val="1100"/>
              </a:lnSpc>
              <a:spcAft>
                <a:spcPts val="0"/>
              </a:spcAft>
            </a:pPr>
            <a:r>
              <a:rPr sz="850" i="0">
                <a:solidFill>
                  <a:srgbClr val="5C6773"/>
                </a:solidFill>
                <a:latin typeface="Consolas"/>
              </a:rPr>
              <a:t>28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send_notification</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29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f"kirim via {get_settings().notification_channel}"</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p>
          <a:p>
            <a:pPr>
              <a:lnSpc>
                <a:spcPts val="1100"/>
              </a:lnSpc>
              <a:spcAft>
                <a:spcPts val="0"/>
              </a:spcAft>
            </a:pPr>
            <a:r>
              <a:rPr sz="850" i="0">
                <a:solidFill>
                  <a:srgbClr val="5C6773"/>
                </a:solidFill>
                <a:latin typeface="Consolas"/>
              </a:rPr>
              <a:t>31  </a:t>
            </a:r>
            <a:r>
              <a:rPr sz="850" i="0">
                <a:solidFill>
                  <a:srgbClr val="E6EDF3"/>
                </a:solidFill>
                <a:latin typeface="Consolas"/>
              </a:rPr>
              <a:t> </a:t>
            </a:r>
          </a:p>
          <a:p>
            <a:pPr>
              <a:lnSpc>
                <a:spcPts val="1100"/>
              </a:lnSpc>
              <a:spcAft>
                <a:spcPts val="0"/>
              </a:spcAft>
            </a:pPr>
            <a:r>
              <a:rPr sz="850" i="0">
                <a:solidFill>
                  <a:srgbClr val="5C6773"/>
                </a:solidFill>
                <a:latin typeface="Consolas"/>
              </a:rPr>
              <a:t>32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33  </a:t>
            </a:r>
            <a:r>
              <a:rPr sz="850" i="0">
                <a:solidFill>
                  <a:srgbClr val="E6EDF3"/>
                </a:solidFill>
                <a:latin typeface="Consolas"/>
              </a:rPr>
              <a:t>    </a:t>
            </a:r>
            <a:r>
              <a:rPr sz="850" i="0">
                <a:solidFill>
                  <a:srgbClr val="E6EDF3"/>
                </a:solidFill>
                <a:latin typeface="Consolas"/>
              </a:rPr>
              <a:t>connect_db</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E6EDF3"/>
                </a:solidFill>
                <a:latin typeface="Consolas"/>
              </a:rPr>
              <a:t>send_notification</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A5D6A7"/>
                </a:solidFill>
                <a:latin typeface="Consolas"/>
              </a:rPr>
              <a:t>"object sama?"</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is</a:t>
            </a:r>
            <a:r>
              <a:rPr sz="850" i="0">
                <a:solidFill>
                  <a:srgbClr val="E6EDF3"/>
                </a:solidFill>
                <a:latin typeface="Consolas"/>
              </a:rPr>
              <a:t> </a:t>
            </a:r>
            <a:r>
              <a:rPr sz="850" i="0">
                <a:solidFill>
                  <a:srgbClr val="E6EDF3"/>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True</a:t>
            </a:r>
          </a:p>
          <a:p>
            <a:pPr>
              <a:lnSpc>
                <a:spcPts val="1100"/>
              </a:lnSpc>
              <a:spcAft>
                <a:spcPts val="0"/>
              </a:spcAft>
            </a:pPr>
            <a:r>
              <a:rPr sz="850" i="0">
                <a:solidFill>
                  <a:srgbClr val="5C6773"/>
                </a:solidFill>
                <a:latin typeface="Consolas"/>
              </a:rPr>
              <a:t>36  </a:t>
            </a:r>
            <a:r>
              <a:rPr sz="850" i="0">
                <a:solidFill>
                  <a:srgbClr val="E6EDF3"/>
                </a:solidFill>
                <a:latin typeface="Consolas"/>
              </a:rPr>
              <a:t> </a:t>
            </a:r>
          </a:p>
          <a:p>
            <a:pPr>
              <a:lnSpc>
                <a:spcPts val="1100"/>
              </a:lnSpc>
              <a:spcAft>
                <a:spcPts val="0"/>
              </a:spcAft>
            </a:pPr>
            <a:r>
              <a:rPr sz="850" i="0">
                <a:solidFill>
                  <a:srgbClr val="5C6773"/>
                </a:solidFill>
                <a:latin typeface="Consolas"/>
              </a:rPr>
              <a:t>37  </a:t>
            </a:r>
            <a:r>
              <a:rPr sz="850" i="0">
                <a:solidFill>
                  <a:srgbClr val="E6EDF3"/>
                </a:solidFill>
                <a:latin typeface="Consolas"/>
              </a:rPr>
              <a:t>    </a:t>
            </a:r>
            <a:r>
              <a:rPr sz="850" i="1">
                <a:solidFill>
                  <a:srgbClr val="8B98A8"/>
                </a:solidFill>
                <a:latin typeface="Consolas"/>
              </a:rPr>
              <a:t># Di test, kalau perlu config lain: ubah env lalu kosongkan cache</a:t>
            </a:r>
          </a:p>
          <a:p>
            <a:pPr>
              <a:lnSpc>
                <a:spcPts val="1100"/>
              </a:lnSpc>
              <a:spcAft>
                <a:spcPts val="0"/>
              </a:spcAft>
            </a:pPr>
            <a:r>
              <a:rPr sz="850" i="0">
                <a:solidFill>
                  <a:srgbClr val="5C6773"/>
                </a:solidFill>
                <a:latin typeface="Consolas"/>
              </a:rPr>
              <a:t>38  </a:t>
            </a:r>
            <a:r>
              <a:rPr sz="850" i="0">
                <a:solidFill>
                  <a:srgbClr val="E6EDF3"/>
                </a:solidFill>
                <a:latin typeface="Consolas"/>
              </a:rPr>
              <a:t>    </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environ</a:t>
            </a:r>
            <a:r>
              <a:rPr sz="850" i="0">
                <a:solidFill>
                  <a:srgbClr val="E6EDF3"/>
                </a:solidFill>
                <a:latin typeface="Consolas"/>
              </a:rPr>
              <a:t>[</a:t>
            </a:r>
            <a:r>
              <a:rPr sz="850" i="0">
                <a:solidFill>
                  <a:srgbClr val="A5D6A7"/>
                </a:solidFill>
                <a:latin typeface="Consolas"/>
              </a:rPr>
              <a:t>"NOTIFICATION_CHANNEL"</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"sms"</a:t>
            </a:r>
          </a:p>
          <a:p>
            <a:pPr>
              <a:lnSpc>
                <a:spcPts val="1100"/>
              </a:lnSpc>
              <a:spcAft>
                <a:spcPts val="0"/>
              </a:spcAft>
            </a:pPr>
            <a:r>
              <a:rPr sz="850" i="0">
                <a:solidFill>
                  <a:srgbClr val="5C6773"/>
                </a:solidFill>
                <a:latin typeface="Consolas"/>
              </a:rPr>
              <a:t>39  </a:t>
            </a:r>
            <a:r>
              <a:rPr sz="850" i="0">
                <a:solidFill>
                  <a:srgbClr val="E6EDF3"/>
                </a:solidFill>
                <a:latin typeface="Consolas"/>
              </a:rPr>
              <a:t>    </a:t>
            </a:r>
            <a:r>
              <a:rPr sz="850" i="0">
                <a:solidFill>
                  <a:srgbClr val="E6EDF3"/>
                </a:solidFill>
                <a:latin typeface="Consolas"/>
              </a:rPr>
              <a:t>get_settings</a:t>
            </a:r>
            <a:r>
              <a:rPr sz="850" i="0">
                <a:solidFill>
                  <a:srgbClr val="E6EDF3"/>
                </a:solidFill>
                <a:latin typeface="Consolas"/>
              </a:rPr>
              <a:t>.</a:t>
            </a:r>
            <a:r>
              <a:rPr sz="850" i="0">
                <a:solidFill>
                  <a:srgbClr val="E6EDF3"/>
                </a:solidFill>
                <a:latin typeface="Consolas"/>
              </a:rPr>
              <a:t>cache_clear</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40  </a:t>
            </a:r>
            <a:r>
              <a:rPr sz="850" i="0">
                <a:solidFill>
                  <a:srgbClr val="E6EDF3"/>
                </a:solidFill>
                <a:latin typeface="Consolas"/>
              </a:rPr>
              <a:t>    </a:t>
            </a:r>
            <a:r>
              <a:rPr sz="850" i="0">
                <a:solidFill>
                  <a:srgbClr val="E6EDF3"/>
                </a:solidFill>
                <a:latin typeface="Consolas"/>
              </a:rPr>
              <a:t>send_notification</a:t>
            </a:r>
            <a:r>
              <a:rPr sz="850" i="0">
                <a:solidFill>
                  <a:srgbClr val="E6EDF3"/>
                </a:solidFill>
                <a:latin typeface="Consolas"/>
              </a:rPr>
              <a:t>(</a:t>
            </a:r>
            <a:r>
              <a:rPr sz="850" i="0">
                <a:solidFill>
                  <a:srgbClr val="E6EDF3"/>
                </a:solidFill>
                <a:latin typeface="Consolas"/>
              </a:rPr>
              <a:t>)</a:t>
            </a:r>
          </a:p>
        </p:txBody>
      </p:sp>
      <p:sp>
        <p:nvSpPr>
          <p:cNvPr id="29" name="Box 12"/>
          <p:cNvSpPr/>
          <p:nvPr/>
        </p:nvSpPr>
        <p:spPr>
          <a:xfrm>
            <a:off x="704088" y="19683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1915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1" name="Box 14"/>
          <p:cNvSpPr/>
          <p:nvPr/>
        </p:nvSpPr>
        <p:spPr>
          <a:xfrm>
            <a:off x="704088" y="25271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704088" y="33653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3" name="Box 16"/>
          <p:cNvSpPr/>
          <p:nvPr/>
        </p:nvSpPr>
        <p:spPr>
          <a:xfrm>
            <a:off x="8284463" y="3312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4" name="Box 17"/>
          <p:cNvSpPr/>
          <p:nvPr/>
        </p:nvSpPr>
        <p:spPr>
          <a:xfrm>
            <a:off x="704088" y="37844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Box 18"/>
          <p:cNvSpPr/>
          <p:nvPr/>
        </p:nvSpPr>
        <p:spPr>
          <a:xfrm>
            <a:off x="8284463" y="38709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02-singleton/after.py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sesi-01-design-patterns/02-singleton</a:t>
            </a:r>
          </a:p>
          <a:p>
            <a:pPr>
              <a:lnSpc>
                <a:spcPts val="1000"/>
              </a:lnSpc>
              <a:spcAft>
                <a:spcPts val="0"/>
              </a:spcAft>
            </a:pPr>
            <a:r>
              <a:rPr sz="775" i="0">
                <a:solidFill>
                  <a:srgbClr val="82B1FF"/>
                </a:solidFill>
                <a:latin typeface="Consolas"/>
              </a:rPr>
              <a:t>$ python after.py</a:t>
            </a:r>
          </a:p>
        </p:txBody>
      </p:sp>
      <p:pic>
        <p:nvPicPr>
          <p:cNvPr id="29" name="Image 12" descr="s01-02-singleton-after.png"/>
          <p:cNvPicPr>
            <a:picLocks noChangeAspect="1"/>
          </p:cNvPicPr>
          <p:nvPr/>
        </p:nvPicPr>
        <p:blipFill>
          <a:blip r:embed="rId2"/>
          <a:stretch>
            <a:fillRect/>
          </a:stretch>
        </p:blipFill>
        <p:spPr>
          <a:xfrm>
            <a:off x="621792" y="2240280"/>
            <a:ext cx="4297680" cy="1837944"/>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@lru_cache</a:t>
            </a:r>
            <a:r>
              <a:rPr sz="950" i="0" b="0">
                <a:solidFill>
                  <a:srgbClr val="434343"/>
                </a:solidFill>
                <a:latin typeface="Inter"/>
              </a:rPr>
              <a:t> menyimpan hasil </a:t>
            </a:r>
            <a:r>
              <a:rPr sz="950" i="0" b="0">
                <a:solidFill>
                  <a:srgbClr val="B5482A"/>
                </a:solidFill>
                <a:latin typeface="Consolas"/>
              </a:rPr>
              <a:t>get_settings()</a:t>
            </a:r>
            <a:r>
              <a:rPr sz="950" i="0" b="0">
                <a:solidFill>
                  <a:srgbClr val="434343"/>
                </a:solidFill>
                <a:latin typeface="Inter"/>
              </a:rPr>
              <a:t>. </a:t>
            </a:r>
            <a:r>
              <a:rPr sz="950" i="0" b="1">
                <a:solidFill>
                  <a:srgbClr val="434343"/>
                </a:solidFill>
                <a:latin typeface="Inter"/>
              </a:rPr>
              <a:t>Inilah singleton-nya</a:t>
            </a:r>
            <a:r>
              <a:rPr sz="950" i="0" b="0">
                <a:solidFill>
                  <a:srgbClr val="434343"/>
                </a:solidFill>
                <a:latin typeface="Inter"/>
              </a:rPr>
              <a:t> (baris 19-21)</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Semua bagian memanggil </a:t>
            </a:r>
            <a:r>
              <a:rPr sz="950" i="0" b="0">
                <a:solidFill>
                  <a:srgbClr val="B5482A"/>
                </a:solidFill>
                <a:latin typeface="Consolas"/>
              </a:rPr>
              <a:t>get_settings()</a:t>
            </a:r>
            <a:r>
              <a:rPr sz="950" i="0" b="0">
                <a:solidFill>
                  <a:srgbClr val="434343"/>
                </a:solidFill>
                <a:latin typeface="Inter"/>
              </a:rPr>
              <a:t>, bukan </a:t>
            </a:r>
            <a:r>
              <a:rPr sz="950" i="0" b="0">
                <a:solidFill>
                  <a:srgbClr val="B5482A"/>
                </a:solidFill>
                <a:latin typeface="Consolas"/>
              </a:rPr>
              <a:t>Settings()</a:t>
            </a:r>
            <a:r>
              <a:rPr sz="950" i="0" b="0">
                <a:solidFill>
                  <a:srgbClr val="434343"/>
                </a:solidFill>
                <a:latin typeface="Inter"/>
              </a:rPr>
              <a:t> (baris 25, 29)</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Object-nya sama: </a:t>
            </a:r>
            <a:r>
              <a:rPr sz="950" i="0" b="0">
                <a:solidFill>
                  <a:srgbClr val="B5482A"/>
                </a:solidFill>
                <a:latin typeface="Consolas"/>
              </a:rPr>
              <a:t>True</a:t>
            </a:r>
            <a:r>
              <a:rPr sz="950" i="0" b="0">
                <a:solidFill>
                  <a:srgbClr val="434343"/>
                </a:solidFill>
                <a:latin typeface="Inter"/>
              </a:rPr>
              <a:t> (baris 35)</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Untuk test, cache bisa dikosongkan dengan </a:t>
            </a:r>
            <a:r>
              <a:rPr sz="950" i="0" b="0">
                <a:solidFill>
                  <a:srgbClr val="B5482A"/>
                </a:solidFill>
                <a:latin typeface="Consolas"/>
              </a:rPr>
              <a:t>cache_clear()</a:t>
            </a:r>
            <a:r>
              <a:rPr sz="950" i="0" b="0">
                <a:solidFill>
                  <a:srgbClr val="434343"/>
                </a:solidFill>
                <a:latin typeface="Inter"/>
              </a:rPr>
              <a:t> (baris 38-40)</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Di output, "membaca config" hanya muncul sekali sebelum </a:t>
            </a:r>
            <a:r>
              <a:rPr sz="950" i="0" b="0">
                <a:solidFill>
                  <a:srgbClr val="B5482A"/>
                </a:solidFill>
                <a:latin typeface="Consolas"/>
              </a:rPr>
              <a:t>cache_clear()</a:t>
            </a:r>
            <a:r>
              <a:rPr sz="950" i="0" b="0">
                <a:solidFill>
                  <a:srgbClr val="434343"/>
                </a:solidFill>
                <a:latin typeface="Inter"/>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Singleton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Cara Membaca Flow</a:t>
            </a:r>
          </a:p>
        </p:txBody>
      </p:sp>
      <p:sp>
        <p:nvSpPr>
          <p:cNvPr id="22" name="CodeTab 4"/>
          <p:cNvSpPr/>
          <p:nvPr/>
        </p:nvSpPr>
        <p:spPr>
          <a:xfrm>
            <a:off x="621792" y="1481328"/>
            <a:ext cx="48463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0624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02-singleton/after.py</a:t>
            </a:r>
          </a:p>
        </p:txBody>
      </p:sp>
      <p:sp>
        <p:nvSpPr>
          <p:cNvPr id="27" name="CodeBg 10"/>
          <p:cNvSpPr/>
          <p:nvPr/>
        </p:nvSpPr>
        <p:spPr>
          <a:xfrm>
            <a:off x="621792" y="1719072"/>
            <a:ext cx="4846320" cy="2020824"/>
          </a:xfrm>
          <a:prstGeom prst="roundRect">
            <a:avLst>
              <a:gd name="adj" fmla="val 904"/>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46320" cy="2020824"/>
          </a:xfrm>
          <a:prstGeom prst="rect">
            <a:avLst/>
          </a:prstGeom>
          <a:noFill/>
        </p:spPr>
        <p:txBody>
          <a:bodyPr wrap="none" lIns="146304" rIns="146304" tIns="91440" bIns="54864">
            <a:spAutoFit/>
          </a:bodyPr>
          <a:lstStyle/>
          <a:p>
            <a:pPr>
              <a:lnSpc>
                <a:spcPts val="1000"/>
              </a:lnSpc>
              <a:spcAft>
                <a:spcPts val="0"/>
              </a:spcAft>
            </a:pPr>
            <a:r>
              <a:rPr sz="800" i="0">
                <a:solidFill>
                  <a:srgbClr val="F9C97A"/>
                </a:solidFill>
                <a:latin typeface="Consolas"/>
              </a:rPr>
              <a:t>@lru_cache</a:t>
            </a:r>
          </a:p>
          <a:p>
            <a:pPr>
              <a:lnSpc>
                <a:spcPts val="1000"/>
              </a:lnSpc>
              <a:spcAft>
                <a:spcPts val="0"/>
              </a:spcAft>
            </a:pP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get_settings</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&gt;</a:t>
            </a:r>
            <a:r>
              <a:rPr sz="800" i="0">
                <a:solidFill>
                  <a:srgbClr val="E6EDF3"/>
                </a:solidFill>
                <a:latin typeface="Consolas"/>
              </a:rPr>
              <a:t> </a:t>
            </a:r>
            <a:r>
              <a:rPr sz="800" i="0">
                <a:solidFill>
                  <a:srgbClr val="7FDBCA"/>
                </a:solidFill>
                <a:latin typeface="Consolas"/>
              </a:rPr>
              <a:t>Settings</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7FDBCA"/>
                </a:solidFill>
                <a:latin typeface="Consolas"/>
              </a:rPr>
              <a:t>Settings</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connect_db</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A5D6A7"/>
                </a:solidFill>
                <a:latin typeface="Consolas"/>
              </a:rPr>
              <a:t>f"connect ke {get_settings().database_url}"</a:t>
            </a: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send_notification</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A5D6A7"/>
                </a:solidFill>
                <a:latin typeface="Consolas"/>
              </a:rPr>
              <a:t>f"kirim via {get_settings().notification_channel}"</a:t>
            </a: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__name__</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"__main__"</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E6EDF3"/>
                </a:solidFill>
                <a:latin typeface="Consolas"/>
              </a:rPr>
              <a:t>connect_db</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E6EDF3"/>
                </a:solidFill>
                <a:latin typeface="Consolas"/>
              </a:rPr>
              <a:t>send_notification</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A5D6A7"/>
                </a:solidFill>
                <a:latin typeface="Consolas"/>
              </a:rPr>
              <a:t>"object sama?"</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get_settings</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FF8E6E"/>
                </a:solidFill>
                <a:latin typeface="Consolas"/>
              </a:rPr>
              <a:t>is</a:t>
            </a:r>
            <a:r>
              <a:rPr sz="800" i="0">
                <a:solidFill>
                  <a:srgbClr val="E6EDF3"/>
                </a:solidFill>
                <a:latin typeface="Consolas"/>
              </a:rPr>
              <a:t> </a:t>
            </a:r>
            <a:r>
              <a:rPr sz="800" i="0">
                <a:solidFill>
                  <a:srgbClr val="E6EDF3"/>
                </a:solidFill>
                <a:latin typeface="Consolas"/>
              </a:rPr>
              <a:t>get_settings</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1">
                <a:solidFill>
                  <a:srgbClr val="8B98A8"/>
                </a:solidFill>
                <a:latin typeface="Consolas"/>
              </a:rPr>
              <a:t># True</a:t>
            </a:r>
          </a:p>
        </p:txBody>
      </p:sp>
      <p:sp>
        <p:nvSpPr>
          <p:cNvPr id="29" name="Box 12"/>
          <p:cNvSpPr/>
          <p:nvPr/>
        </p:nvSpPr>
        <p:spPr>
          <a:xfrm>
            <a:off x="704088" y="3224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266944" y="3164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081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266944"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1827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266944" y="1767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5" name="Box 18"/>
          <p:cNvSpPr/>
          <p:nvPr/>
        </p:nvSpPr>
        <p:spPr>
          <a:xfrm>
            <a:off x="704088" y="3351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Box 19"/>
          <p:cNvSpPr/>
          <p:nvPr/>
        </p:nvSpPr>
        <p:spPr>
          <a:xfrm>
            <a:off x="4974336" y="329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
        <p:nvSpPr>
          <p:cNvPr id="37" name="Box 20"/>
          <p:cNvSpPr/>
          <p:nvPr/>
        </p:nvSpPr>
        <p:spPr>
          <a:xfrm>
            <a:off x="704088" y="3478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Box 21"/>
          <p:cNvSpPr/>
          <p:nvPr/>
        </p:nvSpPr>
        <p:spPr>
          <a:xfrm>
            <a:off x="5266944" y="341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5</a:t>
            </a:r>
          </a:p>
        </p:txBody>
      </p:sp>
      <p:sp>
        <p:nvSpPr>
          <p:cNvPr id="39" name="CodeBg 23"/>
          <p:cNvSpPr/>
          <p:nvPr/>
        </p:nvSpPr>
        <p:spPr>
          <a:xfrm>
            <a:off x="621792" y="3831335"/>
            <a:ext cx="4846320" cy="868680"/>
          </a:xfrm>
          <a:prstGeom prst="roundRect">
            <a:avLst>
              <a:gd name="adj" fmla="val 842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0" name="Code 24"/>
          <p:cNvSpPr txBox="1"/>
          <p:nvPr/>
        </p:nvSpPr>
        <p:spPr>
          <a:xfrm>
            <a:off x="621792" y="3831335"/>
            <a:ext cx="4846320" cy="868680"/>
          </a:xfrm>
          <a:prstGeom prst="rect">
            <a:avLst/>
          </a:prstGeom>
          <a:noFill/>
        </p:spPr>
        <p:txBody>
          <a:bodyPr wrap="none" lIns="146304" rIns="146304" tIns="91440" bIns="54864">
            <a:spAutoFit/>
          </a:bodyPr>
          <a:lstStyle/>
          <a:p>
            <a:pPr>
              <a:lnSpc>
                <a:spcPts val="1000"/>
              </a:lnSpc>
              <a:spcAft>
                <a:spcPts val="0"/>
              </a:spcAft>
            </a:pPr>
            <a:r>
              <a:rPr sz="800" i="0">
                <a:solidFill>
                  <a:srgbClr val="E6EDF3"/>
                </a:solidFill>
                <a:latin typeface="Consolas"/>
              </a:rPr>
              <a:t>$ python after.py</a:t>
            </a:r>
          </a:p>
          <a:p>
            <a:pPr>
              <a:lnSpc>
                <a:spcPts val="1000"/>
              </a:lnSpc>
              <a:spcAft>
                <a:spcPts val="0"/>
              </a:spcAft>
            </a:pPr>
            <a:r>
              <a:rPr sz="800" i="0">
                <a:solidFill>
                  <a:srgbClr val="E6EDF3"/>
                </a:solidFill>
                <a:latin typeface="Consolas"/>
              </a:rPr>
              <a:t>-&gt; membaca config dari environment...</a:t>
            </a:r>
          </a:p>
          <a:p>
            <a:pPr>
              <a:lnSpc>
                <a:spcPts val="1000"/>
              </a:lnSpc>
              <a:spcAft>
                <a:spcPts val="0"/>
              </a:spcAft>
            </a:pPr>
            <a:r>
              <a:rPr sz="800" i="0">
                <a:solidFill>
                  <a:srgbClr val="E6EDF3"/>
                </a:solidFill>
                <a:latin typeface="Consolas"/>
              </a:rPr>
              <a:t>connect ke sqlite:///orders.db</a:t>
            </a:r>
          </a:p>
          <a:p>
            <a:pPr>
              <a:lnSpc>
                <a:spcPts val="1000"/>
              </a:lnSpc>
              <a:spcAft>
                <a:spcPts val="0"/>
              </a:spcAft>
            </a:pPr>
            <a:r>
              <a:rPr sz="800" i="0">
                <a:solidFill>
                  <a:srgbClr val="E6EDF3"/>
                </a:solidFill>
                <a:latin typeface="Consolas"/>
              </a:rPr>
              <a:t>kirim via email</a:t>
            </a:r>
          </a:p>
          <a:p>
            <a:pPr>
              <a:lnSpc>
                <a:spcPts val="1000"/>
              </a:lnSpc>
              <a:spcAft>
                <a:spcPts val="0"/>
              </a:spcAft>
            </a:pPr>
            <a:r>
              <a:rPr sz="800" i="0">
                <a:solidFill>
                  <a:srgbClr val="E6EDF3"/>
                </a:solidFill>
                <a:latin typeface="Consolas"/>
              </a:rPr>
              <a:t>object sama? True</a:t>
            </a:r>
          </a:p>
        </p:txBody>
      </p:sp>
      <p:sp>
        <p:nvSpPr>
          <p:cNvPr id="41" name="Box 25"/>
          <p:cNvSpPr/>
          <p:nvPr/>
        </p:nvSpPr>
        <p:spPr>
          <a:xfrm>
            <a:off x="56509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1</a:t>
            </a:r>
          </a:p>
        </p:txBody>
      </p:sp>
      <p:sp>
        <p:nvSpPr>
          <p:cNvPr id="42" name="Text 26"/>
          <p:cNvSpPr txBox="1"/>
          <p:nvPr/>
        </p:nvSpPr>
        <p:spPr>
          <a:xfrm>
            <a:off x="5980176" y="1463040"/>
            <a:ext cx="25054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connect_db()</a:t>
            </a:r>
            <a:r>
              <a:rPr sz="850" i="0" b="0">
                <a:solidFill>
                  <a:srgbClr val="434343"/>
                </a:solidFill>
                <a:latin typeface="Inter"/>
              </a:rPr>
              <a:t> memanggil </a:t>
            </a:r>
            <a:r>
              <a:rPr sz="850" i="0" b="0">
                <a:solidFill>
                  <a:srgbClr val="B5482A"/>
                </a:solidFill>
                <a:latin typeface="Consolas"/>
              </a:rPr>
              <a:t>get_settings()</a:t>
            </a:r>
            <a:r>
              <a:rPr sz="850" i="0" b="0">
                <a:solidFill>
                  <a:srgbClr val="434343"/>
                </a:solidFill>
                <a:latin typeface="Inter"/>
              </a:rPr>
              <a:t> untuk pertama kali</a:t>
            </a:r>
          </a:p>
        </p:txBody>
      </p:sp>
      <p:sp>
        <p:nvSpPr>
          <p:cNvPr id="43" name="Box 27"/>
          <p:cNvSpPr/>
          <p:nvPr/>
        </p:nvSpPr>
        <p:spPr>
          <a:xfrm>
            <a:off x="56509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2</a:t>
            </a:r>
          </a:p>
        </p:txBody>
      </p:sp>
      <p:sp>
        <p:nvSpPr>
          <p:cNvPr id="44" name="Text 28"/>
          <p:cNvSpPr txBox="1"/>
          <p:nvPr/>
        </p:nvSpPr>
        <p:spPr>
          <a:xfrm>
            <a:off x="5980176" y="2106777"/>
            <a:ext cx="2505456"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Cache masih kosong, jadi </a:t>
            </a:r>
            <a:r>
              <a:rPr sz="850" i="0" b="0">
                <a:solidFill>
                  <a:srgbClr val="B5482A"/>
                </a:solidFill>
                <a:latin typeface="Consolas"/>
              </a:rPr>
              <a:t>Settings()</a:t>
            </a:r>
            <a:r>
              <a:rPr sz="850" i="0" b="0">
                <a:solidFill>
                  <a:srgbClr val="434343"/>
                </a:solidFill>
                <a:latin typeface="Inter"/>
              </a:rPr>
              <a:t> dibuat. "membaca config" tercetak </a:t>
            </a:r>
            <a:r>
              <a:rPr sz="850" i="0" b="1">
                <a:solidFill>
                  <a:srgbClr val="434343"/>
                </a:solidFill>
                <a:latin typeface="Inter"/>
              </a:rPr>
              <a:t>sekali</a:t>
            </a:r>
          </a:p>
        </p:txBody>
      </p:sp>
      <p:sp>
        <p:nvSpPr>
          <p:cNvPr id="45" name="Box 29"/>
          <p:cNvSpPr/>
          <p:nvPr/>
        </p:nvSpPr>
        <p:spPr>
          <a:xfrm>
            <a:off x="56509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3</a:t>
            </a:r>
          </a:p>
        </p:txBody>
      </p:sp>
      <p:sp>
        <p:nvSpPr>
          <p:cNvPr id="46" name="Text 30"/>
          <p:cNvSpPr txBox="1"/>
          <p:nvPr/>
        </p:nvSpPr>
        <p:spPr>
          <a:xfrm>
            <a:off x="5980176" y="2750515"/>
            <a:ext cx="25054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@lru_cache</a:t>
            </a:r>
            <a:r>
              <a:rPr sz="850" i="0" b="0">
                <a:solidFill>
                  <a:srgbClr val="434343"/>
                </a:solidFill>
                <a:latin typeface="Inter"/>
              </a:rPr>
              <a:t> menyimpan object itu</a:t>
            </a:r>
          </a:p>
        </p:txBody>
      </p:sp>
      <p:sp>
        <p:nvSpPr>
          <p:cNvPr id="47" name="Box 31"/>
          <p:cNvSpPr/>
          <p:nvPr/>
        </p:nvSpPr>
        <p:spPr>
          <a:xfrm>
            <a:off x="56509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4</a:t>
            </a:r>
          </a:p>
        </p:txBody>
      </p:sp>
      <p:sp>
        <p:nvSpPr>
          <p:cNvPr id="48" name="Text 32"/>
          <p:cNvSpPr txBox="1"/>
          <p:nvPr/>
        </p:nvSpPr>
        <p:spPr>
          <a:xfrm>
            <a:off x="5980176" y="3394252"/>
            <a:ext cx="2505456"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send_notification()</a:t>
            </a:r>
            <a:r>
              <a:rPr sz="850" i="0" b="0">
                <a:solidFill>
                  <a:srgbClr val="434343"/>
                </a:solidFill>
                <a:latin typeface="Inter"/>
              </a:rPr>
              <a:t> memanggil </a:t>
            </a:r>
            <a:r>
              <a:rPr sz="850" i="0" b="0">
                <a:solidFill>
                  <a:srgbClr val="B5482A"/>
                </a:solidFill>
                <a:latin typeface="Consolas"/>
              </a:rPr>
              <a:t>get_settings()</a:t>
            </a:r>
            <a:r>
              <a:rPr sz="850" i="0" b="0">
                <a:solidFill>
                  <a:srgbClr val="434343"/>
                </a:solidFill>
                <a:latin typeface="Inter"/>
              </a:rPr>
              <a:t> lagi: object yang disimpan langsung dikembalikan, </a:t>
            </a:r>
            <a:r>
              <a:rPr sz="850" i="0" b="0">
                <a:solidFill>
                  <a:srgbClr val="B5482A"/>
                </a:solidFill>
                <a:latin typeface="Consolas"/>
              </a:rPr>
              <a:t>Settings()</a:t>
            </a:r>
            <a:r>
              <a:rPr sz="850" i="0" b="0">
                <a:solidFill>
                  <a:srgbClr val="434343"/>
                </a:solidFill>
                <a:latin typeface="Inter"/>
              </a:rPr>
              <a:t> tidak dibuat lagi</a:t>
            </a:r>
          </a:p>
        </p:txBody>
      </p:sp>
      <p:sp>
        <p:nvSpPr>
          <p:cNvPr id="49" name="Box 33"/>
          <p:cNvSpPr/>
          <p:nvPr/>
        </p:nvSpPr>
        <p:spPr>
          <a:xfrm>
            <a:off x="56509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5</a:t>
            </a:r>
          </a:p>
        </p:txBody>
      </p:sp>
      <p:sp>
        <p:nvSpPr>
          <p:cNvPr id="50" name="Text 34"/>
          <p:cNvSpPr txBox="1"/>
          <p:nvPr/>
        </p:nvSpPr>
        <p:spPr>
          <a:xfrm>
            <a:off x="5980176" y="4037990"/>
            <a:ext cx="2505456"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Semua panggilan dapat object yang sama: </a:t>
            </a:r>
            <a:r>
              <a:rPr sz="850" i="0" b="0">
                <a:solidFill>
                  <a:srgbClr val="B5482A"/>
                </a:solidFill>
                <a:latin typeface="Consolas"/>
              </a:rPr>
              <a:t>True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Apa Itu Strategy?</a:t>
            </a:r>
          </a:p>
        </p:txBody>
      </p:sp>
      <p:sp>
        <p:nvSpPr>
          <p:cNvPr id="22" name="Text 3"/>
          <p:cNvSpPr txBox="1"/>
          <p:nvPr/>
        </p:nvSpPr>
        <p:spPr>
          <a:xfrm>
            <a:off x="621792" y="1481328"/>
            <a:ext cx="3520440" cy="3291840"/>
          </a:xfrm>
          <a:prstGeom prst="rect">
            <a:avLst/>
          </a:prstGeom>
          <a:noFill/>
        </p:spPr>
        <p:txBody>
          <a:bodyPr wrap="square" anchor="t" lIns="45720" rIns="45720">
            <a:spAutoFit/>
          </a:bodyPr>
          <a:lstStyle/>
          <a:p>
            <a:pPr algn="l">
              <a:lnSpc>
                <a:spcPct val="115000"/>
              </a:lnSpc>
              <a:spcAft>
                <a:spcPts val="400"/>
              </a:spcAft>
            </a:pPr>
            <a:r>
              <a:rPr sz="1000" i="0" b="1">
                <a:solidFill>
                  <a:srgbClr val="1C4587"/>
                </a:solidFill>
                <a:latin typeface="Inter"/>
              </a:rPr>
              <a:t>Tanpa Strategy</a:t>
            </a:r>
          </a:p>
          <a:p>
            <a:pPr algn="l">
              <a:lnSpc>
                <a:spcPct val="115000"/>
              </a:lnSpc>
              <a:spcAft>
                <a:spcPts val="400"/>
              </a:spcAft>
            </a:pPr>
            <a:r>
              <a:rPr sz="900" i="0" b="0">
                <a:solidFill>
                  <a:srgbClr val="434343"/>
                </a:solidFill>
                <a:latin typeface="Inter"/>
              </a:rPr>
              <a:t>Semua aturan diskon ditulis di satu function dengan if/elif: regular 0%, member 5%, vip 10%.</a:t>
            </a:r>
          </a:p>
          <a:p>
            <a:pPr algn="l">
              <a:lnSpc>
                <a:spcPct val="115000"/>
              </a:lnSpc>
              <a:spcAft>
                <a:spcPts val="400"/>
              </a:spcAft>
            </a:pPr>
            <a:r>
              <a:rPr sz="1000" i="0" b="1">
                <a:solidFill>
                  <a:srgbClr val="1C4587"/>
                </a:solidFill>
                <a:latin typeface="Inter"/>
              </a:rPr>
              <a:t>Kalau aturannya makin banyak</a:t>
            </a:r>
          </a:p>
          <a:p>
            <a:pPr algn="l">
              <a:lnSpc>
                <a:spcPct val="115000"/>
              </a:lnSpc>
              <a:spcAft>
                <a:spcPts val="400"/>
              </a:spcAft>
            </a:pPr>
            <a:r>
              <a:rPr sz="900" i="0" b="0">
                <a:solidFill>
                  <a:srgbClr val="434343"/>
                </a:solidFill>
                <a:latin typeface="Inter"/>
              </a:rPr>
              <a:t>Setiap aturan baru (student, promo) menambah cabang di function yang sama. Function makin panjang, mengubah satu aturan berisiko merusak aturan lain, dan mengetes satu aturan ikut menjalankan semuanya.</a:t>
            </a:r>
          </a:p>
          <a:p>
            <a:pPr algn="l">
              <a:lnSpc>
                <a:spcPct val="115000"/>
              </a:lnSpc>
              <a:spcAft>
                <a:spcPts val="400"/>
              </a:spcAft>
            </a:pPr>
            <a:r>
              <a:rPr sz="1000" i="0" b="1">
                <a:solidFill>
                  <a:srgbClr val="1C4587"/>
                </a:solidFill>
                <a:latin typeface="Inter"/>
              </a:rPr>
              <a:t>Strategy adalah</a:t>
            </a:r>
          </a:p>
          <a:p>
            <a:pPr algn="l">
              <a:lnSpc>
                <a:spcPct val="115000"/>
              </a:lnSpc>
              <a:spcAft>
                <a:spcPts val="400"/>
              </a:spcAft>
            </a:pPr>
            <a:r>
              <a:rPr sz="900" i="0" b="0">
                <a:solidFill>
                  <a:srgbClr val="434343"/>
                </a:solidFill>
                <a:latin typeface="Inter"/>
              </a:rPr>
              <a:t>Pola di mana setiap aturan dibuat jadi </a:t>
            </a:r>
            <a:r>
              <a:rPr sz="900" i="0" b="1">
                <a:solidFill>
                  <a:srgbClr val="434343"/>
                </a:solidFill>
                <a:latin typeface="Inter"/>
              </a:rPr>
              <a:t>class sendiri</a:t>
            </a:r>
            <a:r>
              <a:rPr sz="900" i="0" b="0">
                <a:solidFill>
                  <a:srgbClr val="434343"/>
                </a:solidFill>
                <a:latin typeface="Inter"/>
              </a:rPr>
              <a:t> dengan method yang sama, yaitu </a:t>
            </a:r>
            <a:r>
              <a:rPr sz="900" i="0" b="0">
                <a:solidFill>
                  <a:srgbClr val="B5482A"/>
                </a:solidFill>
                <a:latin typeface="Consolas"/>
              </a:rPr>
              <a:t>discount()</a:t>
            </a:r>
            <a:r>
              <a:rPr sz="900" i="0" b="0">
                <a:solidFill>
                  <a:srgbClr val="434343"/>
                </a:solidFill>
                <a:latin typeface="Inter"/>
              </a:rPr>
              <a:t>. Karena method-nya sama, kode yang memakainya cukup memanggil </a:t>
            </a:r>
            <a:r>
              <a:rPr sz="900" i="0" b="0">
                <a:solidFill>
                  <a:srgbClr val="B5482A"/>
                </a:solidFill>
                <a:latin typeface="Consolas"/>
              </a:rPr>
              <a:t>discount()</a:t>
            </a:r>
            <a:r>
              <a:rPr sz="900" i="0" b="0">
                <a:solidFill>
                  <a:srgbClr val="434343"/>
                </a:solidFill>
                <a:latin typeface="Inter"/>
              </a:rPr>
              <a:t>, </a:t>
            </a:r>
            <a:r>
              <a:rPr sz="900" i="0" b="1">
                <a:solidFill>
                  <a:srgbClr val="434343"/>
                </a:solidFill>
                <a:latin typeface="Inter"/>
              </a:rPr>
              <a:t>tidak peduli aturan mana</a:t>
            </a:r>
            <a:r>
              <a:rPr sz="900" i="0" b="0">
                <a:solidFill>
                  <a:srgbClr val="434343"/>
                </a:solidFill>
                <a:latin typeface="Inter"/>
              </a:rPr>
              <a:t> yang sedang dipakai.</a:t>
            </a:r>
          </a:p>
          <a:p>
            <a:pPr algn="l">
              <a:lnSpc>
                <a:spcPct val="115000"/>
              </a:lnSpc>
              <a:spcAft>
                <a:spcPts val="400"/>
              </a:spcAft>
            </a:pPr>
            <a:r>
              <a:rPr sz="1000" i="0" b="1">
                <a:solidFill>
                  <a:srgbClr val="1C4587"/>
                </a:solidFill>
                <a:latin typeface="Inter"/>
              </a:rPr>
              <a:t>Untuk apa</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Aturan yang sering berubah atau bertambah: diskon, ongkir, pajak</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Setiap aturan kecil dan bisa dites sendiri</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4846320" y="1490472"/>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tanpa strategy: 03-strategy/before.py</a:t>
            </a:r>
          </a:p>
        </p:txBody>
      </p:sp>
      <p:sp>
        <p:nvSpPr>
          <p:cNvPr id="28" name="CodeBg 11"/>
          <p:cNvSpPr/>
          <p:nvPr/>
        </p:nvSpPr>
        <p:spPr>
          <a:xfrm>
            <a:off x="4297680" y="1719072"/>
            <a:ext cx="4187951" cy="1152144"/>
          </a:xfrm>
          <a:prstGeom prst="roundRect">
            <a:avLst>
              <a:gd name="adj" fmla="val 158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297680" y="1719072"/>
            <a:ext cx="4187951" cy="1152144"/>
          </a:xfrm>
          <a:prstGeom prst="rect">
            <a:avLst/>
          </a:prstGeom>
          <a:noFill/>
        </p:spPr>
        <p:txBody>
          <a:bodyPr wrap="none" lIns="146304" rIns="146304" tIns="91440" bIns="54864">
            <a:spAutoFit/>
          </a:bodyPr>
          <a:lstStyle/>
          <a:p>
            <a:pPr>
              <a:lnSpc>
                <a:spcPts val="900"/>
              </a:lnSpc>
              <a:spcAft>
                <a:spcPts val="0"/>
              </a:spcAft>
            </a:pP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calculate_total</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customer_type</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str</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&gt;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if</a:t>
            </a:r>
            <a:r>
              <a:rPr sz="725" i="0">
                <a:solidFill>
                  <a:srgbClr val="E6EDF3"/>
                </a:solidFill>
                <a:latin typeface="Consolas"/>
              </a:rPr>
              <a:t> </a:t>
            </a:r>
            <a:r>
              <a:rPr sz="725" i="0">
                <a:solidFill>
                  <a:srgbClr val="E6EDF3"/>
                </a:solidFill>
                <a:latin typeface="Consolas"/>
              </a:rPr>
              <a:t>customer_type</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A5D6A7"/>
                </a:solidFill>
                <a:latin typeface="Consolas"/>
              </a:rPr>
              <a:t>"regular"</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discount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0</a:t>
            </a:r>
          </a:p>
          <a:p>
            <a:pPr>
              <a:lnSpc>
                <a:spcPts val="900"/>
              </a:lnSpc>
              <a:spcAft>
                <a:spcPts val="0"/>
              </a:spcAft>
            </a:pPr>
            <a:r>
              <a:rPr sz="725" i="0">
                <a:solidFill>
                  <a:srgbClr val="E6EDF3"/>
                </a:solidFill>
                <a:latin typeface="Consolas"/>
              </a:rPr>
              <a:t>    </a:t>
            </a:r>
            <a:r>
              <a:rPr sz="725" i="0">
                <a:solidFill>
                  <a:srgbClr val="FF8E6E"/>
                </a:solidFill>
                <a:latin typeface="Consolas"/>
              </a:rPr>
              <a:t>elif</a:t>
            </a:r>
            <a:r>
              <a:rPr sz="725" i="0">
                <a:solidFill>
                  <a:srgbClr val="E6EDF3"/>
                </a:solidFill>
                <a:latin typeface="Consolas"/>
              </a:rPr>
              <a:t> </a:t>
            </a:r>
            <a:r>
              <a:rPr sz="725" i="0">
                <a:solidFill>
                  <a:srgbClr val="E6EDF3"/>
                </a:solidFill>
                <a:latin typeface="Consolas"/>
              </a:rPr>
              <a:t>customer_type</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A5D6A7"/>
                </a:solidFill>
                <a:latin typeface="Consolas"/>
              </a:rPr>
              <a:t>"member"</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discount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5</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100</a:t>
            </a:r>
          </a:p>
          <a:p>
            <a:pPr>
              <a:lnSpc>
                <a:spcPts val="900"/>
              </a:lnSpc>
              <a:spcAft>
                <a:spcPts val="0"/>
              </a:spcAft>
            </a:pPr>
            <a:r>
              <a:rPr sz="725" i="0">
                <a:solidFill>
                  <a:srgbClr val="E6EDF3"/>
                </a:solidFill>
                <a:latin typeface="Consolas"/>
              </a:rPr>
              <a:t>    </a:t>
            </a:r>
            <a:r>
              <a:rPr sz="725" i="0">
                <a:solidFill>
                  <a:srgbClr val="FF8E6E"/>
                </a:solidFill>
                <a:latin typeface="Consolas"/>
              </a:rPr>
              <a:t>elif</a:t>
            </a:r>
            <a:r>
              <a:rPr sz="725" i="0">
                <a:solidFill>
                  <a:srgbClr val="E6EDF3"/>
                </a:solidFill>
                <a:latin typeface="Consolas"/>
              </a:rPr>
              <a:t> </a:t>
            </a:r>
            <a:r>
              <a:rPr sz="725" i="0">
                <a:solidFill>
                  <a:srgbClr val="E6EDF3"/>
                </a:solidFill>
                <a:latin typeface="Consolas"/>
              </a:rPr>
              <a:t>customer_type</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A5D6A7"/>
                </a:solidFill>
                <a:latin typeface="Consolas"/>
              </a:rPr>
              <a:t>"vip"</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discount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10</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100</a:t>
            </a:r>
          </a:p>
          <a:p>
            <a:pPr>
              <a:lnSpc>
                <a:spcPts val="900"/>
              </a:lnSpc>
              <a:spcAft>
                <a:spcPts val="0"/>
              </a:spcAft>
            </a:pPr>
            <a:r>
              <a:rPr sz="725" i="0">
                <a:solidFill>
                  <a:srgbClr val="E6EDF3"/>
                </a:solidFill>
                <a:latin typeface="Consolas"/>
              </a:rPr>
              <a:t>    </a:t>
            </a:r>
            <a:r>
              <a:rPr sz="725" i="1">
                <a:solidFill>
                  <a:srgbClr val="8B98A8"/>
                </a:solidFill>
                <a:latin typeface="Consolas"/>
              </a:rPr>
              <a:t># elif customer_type == "student": ... &lt;- nambah di sini terus</a:t>
            </a:r>
          </a:p>
        </p:txBody>
      </p:sp>
      <p:sp>
        <p:nvSpPr>
          <p:cNvPr id="30" name="Box 13"/>
          <p:cNvSpPr/>
          <p:nvPr/>
        </p:nvSpPr>
        <p:spPr>
          <a:xfrm>
            <a:off x="4379976" y="1939671"/>
            <a:ext cx="4023359" cy="793242"/>
          </a:xfrm>
          <a:prstGeom prst="roundRect">
            <a:avLst>
              <a:gd name="adj" fmla="val 576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CodeTab 15"/>
          <p:cNvSpPr/>
          <p:nvPr/>
        </p:nvSpPr>
        <p:spPr>
          <a:xfrm>
            <a:off x="4297680" y="29626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Dot 16"/>
          <p:cNvSpPr/>
          <p:nvPr/>
        </p:nvSpPr>
        <p:spPr>
          <a:xfrm>
            <a:off x="4407408" y="30403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t 17"/>
          <p:cNvSpPr/>
          <p:nvPr/>
        </p:nvSpPr>
        <p:spPr>
          <a:xfrm>
            <a:off x="4544568" y="30403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t 18"/>
          <p:cNvSpPr/>
          <p:nvPr/>
        </p:nvSpPr>
        <p:spPr>
          <a:xfrm>
            <a:off x="4681728" y="30403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 19"/>
          <p:cNvSpPr txBox="1"/>
          <p:nvPr/>
        </p:nvSpPr>
        <p:spPr>
          <a:xfrm>
            <a:off x="4846320" y="2971800"/>
            <a:ext cx="35478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dengan strategy: 03-strategy/after.py</a:t>
            </a:r>
          </a:p>
        </p:txBody>
      </p:sp>
      <p:sp>
        <p:nvSpPr>
          <p:cNvPr id="36" name="CodeBg 21"/>
          <p:cNvSpPr/>
          <p:nvPr/>
        </p:nvSpPr>
        <p:spPr>
          <a:xfrm>
            <a:off x="4297680" y="3200400"/>
            <a:ext cx="4187951" cy="996695"/>
          </a:xfrm>
          <a:prstGeom prst="roundRect">
            <a:avLst>
              <a:gd name="adj" fmla="val 1834"/>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Code 22"/>
          <p:cNvSpPr txBox="1"/>
          <p:nvPr/>
        </p:nvSpPr>
        <p:spPr>
          <a:xfrm>
            <a:off x="4297680" y="3200400"/>
            <a:ext cx="4187951" cy="996695"/>
          </a:xfrm>
          <a:prstGeom prst="rect">
            <a:avLst/>
          </a:prstGeom>
          <a:noFill/>
        </p:spPr>
        <p:txBody>
          <a:bodyPr wrap="none" lIns="146304" rIns="146304" tIns="91440" bIns="54864">
            <a:spAutoFit/>
          </a:bodyPr>
          <a:lstStyle/>
          <a:p>
            <a:pPr>
              <a:lnSpc>
                <a:spcPts val="900"/>
              </a:lnSpc>
              <a:spcAft>
                <a:spcPts val="0"/>
              </a:spcAft>
            </a:pPr>
            <a:r>
              <a:rPr sz="725" i="0">
                <a:solidFill>
                  <a:srgbClr val="FF8E6E"/>
                </a:solidFill>
                <a:latin typeface="Consolas"/>
              </a:rPr>
              <a:t>class</a:t>
            </a:r>
            <a:r>
              <a:rPr sz="725" i="0">
                <a:solidFill>
                  <a:srgbClr val="E6EDF3"/>
                </a:solidFill>
                <a:latin typeface="Consolas"/>
              </a:rPr>
              <a:t> </a:t>
            </a:r>
            <a:r>
              <a:rPr sz="725" i="0">
                <a:solidFill>
                  <a:srgbClr val="7FDBCA"/>
                </a:solidFill>
                <a:latin typeface="Consolas"/>
              </a:rPr>
              <a:t>PercentDiscount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discount</a:t>
            </a:r>
            <a:r>
              <a:rPr sz="725" i="0">
                <a:solidFill>
                  <a:srgbClr val="E6EDF3"/>
                </a:solidFill>
                <a:latin typeface="Consolas"/>
              </a:rPr>
              <a:t>(</a:t>
            </a:r>
            <a:r>
              <a:rPr sz="725" i="0">
                <a:solidFill>
                  <a:srgbClr val="C3A6FF"/>
                </a:solidFill>
                <a:latin typeface="Consolas"/>
              </a:rPr>
              <a:t>self</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subtotal</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&gt;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return</a:t>
            </a:r>
            <a:r>
              <a:rPr sz="725" i="0">
                <a:solidFill>
                  <a:srgbClr val="E6EDF3"/>
                </a:solidFill>
                <a:latin typeface="Consolas"/>
              </a:rPr>
              <a:t> </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self</a:t>
            </a:r>
            <a:r>
              <a:rPr sz="725" i="0">
                <a:solidFill>
                  <a:srgbClr val="E6EDF3"/>
                </a:solidFill>
                <a:latin typeface="Consolas"/>
              </a:rPr>
              <a:t>.</a:t>
            </a:r>
            <a:r>
              <a:rPr sz="725" i="0">
                <a:solidFill>
                  <a:srgbClr val="E6EDF3"/>
                </a:solidFill>
                <a:latin typeface="Consolas"/>
              </a:rPr>
              <a:t>percent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100</a:t>
            </a:r>
          </a:p>
          <a:p>
            <a:pPr>
              <a:lnSpc>
                <a:spcPts val="900"/>
              </a:lnSpc>
              <a:spcAft>
                <a:spcPts val="0"/>
              </a:spcAft>
            </a:pPr>
            <a:r>
              <a:rPr sz="725" i="0">
                <a:solidFill>
                  <a:srgbClr val="E6EDF3"/>
                </a:solidFill>
                <a:latin typeface="Consolas"/>
              </a:rPr>
              <a:t> </a:t>
            </a:r>
          </a:p>
          <a:p>
            <a:pPr>
              <a:lnSpc>
                <a:spcPts val="900"/>
              </a:lnSpc>
              <a:spcAft>
                <a:spcPts val="0"/>
              </a:spcAft>
            </a:pP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calculate_total</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strategy</a:t>
            </a:r>
            <a:r>
              <a:rPr sz="725" i="0">
                <a:solidFill>
                  <a:srgbClr val="E6EDF3"/>
                </a:solidFill>
                <a:latin typeface="Consolas"/>
              </a:rPr>
              <a:t>:</a:t>
            </a:r>
            <a:r>
              <a:rPr sz="725" i="0">
                <a:solidFill>
                  <a:srgbClr val="E6EDF3"/>
                </a:solidFill>
                <a:latin typeface="Consolas"/>
              </a:rPr>
              <a:t> </a:t>
            </a:r>
            <a:r>
              <a:rPr sz="725" i="0">
                <a:solidFill>
                  <a:srgbClr val="7FDBCA"/>
                </a:solidFill>
                <a:latin typeface="Consolas"/>
              </a:rPr>
              <a:t>DiscountStrategy</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&gt;</a:t>
            </a:r>
            <a:r>
              <a:rPr sz="725" i="0">
                <a:solidFill>
                  <a:srgbClr val="E6EDF3"/>
                </a:solidFill>
                <a:latin typeface="Consolas"/>
              </a:rPr>
              <a:t> </a:t>
            </a:r>
            <a:r>
              <a:rPr sz="725" i="0">
                <a:solidFill>
                  <a:srgbClr val="C3A6FF"/>
                </a:solidFill>
                <a:latin typeface="Consolas"/>
              </a:rPr>
              <a:t>int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return</a:t>
            </a:r>
            <a:r>
              <a:rPr sz="725" i="0">
                <a:solidFill>
                  <a:srgbClr val="E6EDF3"/>
                </a:solidFill>
                <a:latin typeface="Consolas"/>
              </a:rPr>
              <a:t> </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strategy</a:t>
            </a:r>
            <a:r>
              <a:rPr sz="725" i="0">
                <a:solidFill>
                  <a:srgbClr val="E6EDF3"/>
                </a:solidFill>
                <a:latin typeface="Consolas"/>
              </a:rPr>
              <a:t>.</a:t>
            </a:r>
            <a:r>
              <a:rPr sz="725" i="0">
                <a:solidFill>
                  <a:srgbClr val="E6EDF3"/>
                </a:solidFill>
                <a:latin typeface="Consolas"/>
              </a:rPr>
              <a:t>discount</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a:t>
            </a:r>
          </a:p>
        </p:txBody>
      </p:sp>
      <p:sp>
        <p:nvSpPr>
          <p:cNvPr id="38" name="Box 23"/>
          <p:cNvSpPr/>
          <p:nvPr/>
        </p:nvSpPr>
        <p:spPr>
          <a:xfrm>
            <a:off x="4379976" y="3535299"/>
            <a:ext cx="4023359"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9" name="Box 24"/>
          <p:cNvSpPr/>
          <p:nvPr/>
        </p:nvSpPr>
        <p:spPr>
          <a:xfrm>
            <a:off x="4379976" y="3992499"/>
            <a:ext cx="4023359"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0" name="Text 25"/>
          <p:cNvSpPr txBox="1"/>
          <p:nvPr/>
        </p:nvSpPr>
        <p:spPr>
          <a:xfrm>
            <a:off x="4297680" y="4288536"/>
            <a:ext cx="4187951" cy="502920"/>
          </a:xfrm>
          <a:prstGeom prst="rect">
            <a:avLst/>
          </a:prstGeom>
          <a:noFill/>
        </p:spPr>
        <p:txBody>
          <a:bodyPr wrap="square" anchor="t" lIns="45720" rIns="45720">
            <a:spAutoFit/>
          </a:bodyPr>
          <a:lstStyle/>
          <a:p>
            <a:pPr algn="l">
              <a:lnSpc>
                <a:spcPct val="115000"/>
              </a:lnSpc>
              <a:spcAft>
                <a:spcPts val="400"/>
              </a:spcAft>
            </a:pPr>
            <a:r>
              <a:rPr sz="850" i="0" b="1">
                <a:solidFill>
                  <a:srgbClr val="7A7A7A"/>
                </a:solidFill>
                <a:latin typeface="Inter"/>
              </a:rPr>
              <a:t>Analogi:</a:t>
            </a:r>
            <a:r>
              <a:rPr sz="850" i="0" b="0">
                <a:solidFill>
                  <a:srgbClr val="7A7A7A"/>
                </a:solidFill>
                <a:latin typeface="Inter"/>
              </a:rPr>
              <a:t> Google Maps. Tujuannya sama, cara menghitung rute bisa dipilih: mobil, motor, atau jalan kaki.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Semua Aturan di Satu Function</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03-strategy/before.py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200"/>
              </a:lnSpc>
              <a:spcAft>
                <a:spcPts val="0"/>
              </a:spcAft>
            </a:pPr>
            <a:r>
              <a:rPr sz="900" i="0">
                <a:solidFill>
                  <a:srgbClr val="5C6773"/>
                </a:solidFill>
                <a:latin typeface="Consolas"/>
              </a:rPr>
              <a:t> 9  </a:t>
            </a:r>
            <a:r>
              <a:rPr sz="900" i="0">
                <a:solidFill>
                  <a:srgbClr val="FF8E6E"/>
                </a:solidFill>
                <a:latin typeface="Consolas"/>
              </a:rPr>
              <a:t>def</a:t>
            </a:r>
            <a:r>
              <a:rPr sz="900" i="0">
                <a:solidFill>
                  <a:srgbClr val="E6EDF3"/>
                </a:solidFill>
                <a:latin typeface="Consolas"/>
              </a:rPr>
              <a:t> </a:t>
            </a:r>
            <a:r>
              <a:rPr sz="900" i="0">
                <a:solidFill>
                  <a:srgbClr val="82B1FF"/>
                </a:solidFill>
                <a:latin typeface="Consolas"/>
              </a:rPr>
              <a:t>calculate_total</a:t>
            </a:r>
            <a:r>
              <a:rPr sz="900" i="0">
                <a:solidFill>
                  <a:srgbClr val="E6EDF3"/>
                </a:solidFill>
                <a:latin typeface="Consolas"/>
              </a:rPr>
              <a:t>(</a:t>
            </a:r>
            <a:r>
              <a:rPr sz="900" i="0">
                <a:solidFill>
                  <a:srgbClr val="E6EDF3"/>
                </a:solidFill>
                <a:latin typeface="Consolas"/>
              </a:rPr>
              <a:t>subtotal</a:t>
            </a:r>
            <a:r>
              <a:rPr sz="900" i="0">
                <a:solidFill>
                  <a:srgbClr val="E6EDF3"/>
                </a:solidFill>
                <a:latin typeface="Consolas"/>
              </a:rPr>
              <a:t>:</a:t>
            </a:r>
            <a:r>
              <a:rPr sz="900" i="0">
                <a:solidFill>
                  <a:srgbClr val="E6EDF3"/>
                </a:solidFill>
                <a:latin typeface="Consolas"/>
              </a:rPr>
              <a:t> </a:t>
            </a:r>
            <a:r>
              <a:rPr sz="900" i="0">
                <a:solidFill>
                  <a:srgbClr val="C3A6FF"/>
                </a:solidFill>
                <a:latin typeface="Consolas"/>
              </a:rPr>
              <a:t>int</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customer_type</a:t>
            </a:r>
            <a:r>
              <a:rPr sz="900" i="0">
                <a:solidFill>
                  <a:srgbClr val="E6EDF3"/>
                </a:solidFill>
                <a:latin typeface="Consolas"/>
              </a:rPr>
              <a:t>:</a:t>
            </a:r>
            <a:r>
              <a:rPr sz="900" i="0">
                <a:solidFill>
                  <a:srgbClr val="E6EDF3"/>
                </a:solidFill>
                <a:latin typeface="Consolas"/>
              </a:rPr>
              <a:t> </a:t>
            </a:r>
            <a:r>
              <a:rPr sz="900" i="0">
                <a:solidFill>
                  <a:srgbClr val="C3A6FF"/>
                </a:solidFill>
                <a:latin typeface="Consolas"/>
              </a:rPr>
              <a:t>str</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&gt;</a:t>
            </a:r>
            <a:r>
              <a:rPr sz="900" i="0">
                <a:solidFill>
                  <a:srgbClr val="E6EDF3"/>
                </a:solidFill>
                <a:latin typeface="Consolas"/>
              </a:rPr>
              <a:t> </a:t>
            </a:r>
            <a:r>
              <a:rPr sz="900" i="0">
                <a:solidFill>
                  <a:srgbClr val="C3A6FF"/>
                </a:solidFill>
                <a:latin typeface="Consolas"/>
              </a:rPr>
              <a:t>int</a:t>
            </a:r>
            <a:r>
              <a:rPr sz="900" i="0">
                <a:solidFill>
                  <a:srgbClr val="E6EDF3"/>
                </a:solidFill>
                <a:latin typeface="Consolas"/>
              </a:rPr>
              <a:t>:</a:t>
            </a:r>
          </a:p>
          <a:p>
            <a:pPr>
              <a:lnSpc>
                <a:spcPts val="1200"/>
              </a:lnSpc>
              <a:spcAft>
                <a:spcPts val="0"/>
              </a:spcAft>
            </a:pPr>
            <a:r>
              <a:rPr sz="900" i="0">
                <a:solidFill>
                  <a:srgbClr val="5C6773"/>
                </a:solidFill>
                <a:latin typeface="Consolas"/>
              </a:rPr>
              <a:t>10  </a:t>
            </a:r>
            <a:r>
              <a:rPr sz="900" i="0">
                <a:solidFill>
                  <a:srgbClr val="E6EDF3"/>
                </a:solidFill>
                <a:latin typeface="Consolas"/>
              </a:rPr>
              <a:t>    </a:t>
            </a:r>
            <a:r>
              <a:rPr sz="900" i="0">
                <a:solidFill>
                  <a:srgbClr val="FF8E6E"/>
                </a:solidFill>
                <a:latin typeface="Consolas"/>
              </a:rPr>
              <a:t>if</a:t>
            </a:r>
            <a:r>
              <a:rPr sz="900" i="0">
                <a:solidFill>
                  <a:srgbClr val="E6EDF3"/>
                </a:solidFill>
                <a:latin typeface="Consolas"/>
              </a:rPr>
              <a:t> </a:t>
            </a:r>
            <a:r>
              <a:rPr sz="900" i="0">
                <a:solidFill>
                  <a:srgbClr val="E6EDF3"/>
                </a:solidFill>
                <a:latin typeface="Consolas"/>
              </a:rPr>
              <a:t>customer_type</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"regular"</a:t>
            </a:r>
            <a:r>
              <a:rPr sz="900" i="0">
                <a:solidFill>
                  <a:srgbClr val="E6EDF3"/>
                </a:solidFill>
                <a:latin typeface="Consolas"/>
              </a:rPr>
              <a:t>:</a:t>
            </a:r>
          </a:p>
          <a:p>
            <a:pPr>
              <a:lnSpc>
                <a:spcPts val="1200"/>
              </a:lnSpc>
              <a:spcAft>
                <a:spcPts val="0"/>
              </a:spcAft>
            </a:pPr>
            <a:r>
              <a:rPr sz="900" i="0">
                <a:solidFill>
                  <a:srgbClr val="5C6773"/>
                </a:solidFill>
                <a:latin typeface="Consolas"/>
              </a:rPr>
              <a:t>11  </a:t>
            </a:r>
            <a:r>
              <a:rPr sz="900" i="0">
                <a:solidFill>
                  <a:srgbClr val="E6EDF3"/>
                </a:solidFill>
                <a:latin typeface="Consolas"/>
              </a:rPr>
              <a:t>        </a:t>
            </a:r>
            <a:r>
              <a:rPr sz="900" i="0">
                <a:solidFill>
                  <a:srgbClr val="E6EDF3"/>
                </a:solidFill>
                <a:latin typeface="Consolas"/>
              </a:rPr>
              <a:t>discount</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F9C97A"/>
                </a:solidFill>
                <a:latin typeface="Consolas"/>
              </a:rPr>
              <a:t>0</a:t>
            </a:r>
          </a:p>
          <a:p>
            <a:pPr>
              <a:lnSpc>
                <a:spcPts val="1200"/>
              </a:lnSpc>
              <a:spcAft>
                <a:spcPts val="0"/>
              </a:spcAft>
            </a:pPr>
            <a:r>
              <a:rPr sz="900" i="0">
                <a:solidFill>
                  <a:srgbClr val="5C6773"/>
                </a:solidFill>
                <a:latin typeface="Consolas"/>
              </a:rPr>
              <a:t>12  </a:t>
            </a:r>
            <a:r>
              <a:rPr sz="900" i="0">
                <a:solidFill>
                  <a:srgbClr val="E6EDF3"/>
                </a:solidFill>
                <a:latin typeface="Consolas"/>
              </a:rPr>
              <a:t>    </a:t>
            </a:r>
            <a:r>
              <a:rPr sz="900" i="0">
                <a:solidFill>
                  <a:srgbClr val="FF8E6E"/>
                </a:solidFill>
                <a:latin typeface="Consolas"/>
              </a:rPr>
              <a:t>elif</a:t>
            </a:r>
            <a:r>
              <a:rPr sz="900" i="0">
                <a:solidFill>
                  <a:srgbClr val="E6EDF3"/>
                </a:solidFill>
                <a:latin typeface="Consolas"/>
              </a:rPr>
              <a:t> </a:t>
            </a:r>
            <a:r>
              <a:rPr sz="900" i="0">
                <a:solidFill>
                  <a:srgbClr val="E6EDF3"/>
                </a:solidFill>
                <a:latin typeface="Consolas"/>
              </a:rPr>
              <a:t>customer_type</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"member"</a:t>
            </a:r>
            <a:r>
              <a:rPr sz="900" i="0">
                <a:solidFill>
                  <a:srgbClr val="E6EDF3"/>
                </a:solidFill>
                <a:latin typeface="Consolas"/>
              </a:rPr>
              <a:t>:</a:t>
            </a:r>
          </a:p>
          <a:p>
            <a:pPr>
              <a:lnSpc>
                <a:spcPts val="1200"/>
              </a:lnSpc>
              <a:spcAft>
                <a:spcPts val="0"/>
              </a:spcAft>
            </a:pPr>
            <a:r>
              <a:rPr sz="900" i="0">
                <a:solidFill>
                  <a:srgbClr val="5C6773"/>
                </a:solidFill>
                <a:latin typeface="Consolas"/>
              </a:rPr>
              <a:t>13  </a:t>
            </a:r>
            <a:r>
              <a:rPr sz="900" i="0">
                <a:solidFill>
                  <a:srgbClr val="E6EDF3"/>
                </a:solidFill>
                <a:latin typeface="Consolas"/>
              </a:rPr>
              <a:t>        </a:t>
            </a:r>
            <a:r>
              <a:rPr sz="900" i="0">
                <a:solidFill>
                  <a:srgbClr val="E6EDF3"/>
                </a:solidFill>
                <a:latin typeface="Consolas"/>
              </a:rPr>
              <a:t>discount</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subtotal</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F9C97A"/>
                </a:solidFill>
                <a:latin typeface="Consolas"/>
              </a:rPr>
              <a:t>5</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F9C97A"/>
                </a:solidFill>
                <a:latin typeface="Consolas"/>
              </a:rPr>
              <a:t>100</a:t>
            </a:r>
          </a:p>
          <a:p>
            <a:pPr>
              <a:lnSpc>
                <a:spcPts val="1200"/>
              </a:lnSpc>
              <a:spcAft>
                <a:spcPts val="0"/>
              </a:spcAft>
            </a:pPr>
            <a:r>
              <a:rPr sz="900" i="0">
                <a:solidFill>
                  <a:srgbClr val="5C6773"/>
                </a:solidFill>
                <a:latin typeface="Consolas"/>
              </a:rPr>
              <a:t>14  </a:t>
            </a:r>
            <a:r>
              <a:rPr sz="900" i="0">
                <a:solidFill>
                  <a:srgbClr val="E6EDF3"/>
                </a:solidFill>
                <a:latin typeface="Consolas"/>
              </a:rPr>
              <a:t>    </a:t>
            </a:r>
            <a:r>
              <a:rPr sz="900" i="0">
                <a:solidFill>
                  <a:srgbClr val="FF8E6E"/>
                </a:solidFill>
                <a:latin typeface="Consolas"/>
              </a:rPr>
              <a:t>elif</a:t>
            </a:r>
            <a:r>
              <a:rPr sz="900" i="0">
                <a:solidFill>
                  <a:srgbClr val="E6EDF3"/>
                </a:solidFill>
                <a:latin typeface="Consolas"/>
              </a:rPr>
              <a:t> </a:t>
            </a:r>
            <a:r>
              <a:rPr sz="900" i="0">
                <a:solidFill>
                  <a:srgbClr val="E6EDF3"/>
                </a:solidFill>
                <a:latin typeface="Consolas"/>
              </a:rPr>
              <a:t>customer_type</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"vip"</a:t>
            </a:r>
            <a:r>
              <a:rPr sz="900" i="0">
                <a:solidFill>
                  <a:srgbClr val="E6EDF3"/>
                </a:solidFill>
                <a:latin typeface="Consolas"/>
              </a:rPr>
              <a:t>:</a:t>
            </a:r>
          </a:p>
          <a:p>
            <a:pPr>
              <a:lnSpc>
                <a:spcPts val="1200"/>
              </a:lnSpc>
              <a:spcAft>
                <a:spcPts val="0"/>
              </a:spcAft>
            </a:pPr>
            <a:r>
              <a:rPr sz="900" i="0">
                <a:solidFill>
                  <a:srgbClr val="5C6773"/>
                </a:solidFill>
                <a:latin typeface="Consolas"/>
              </a:rPr>
              <a:t>15  </a:t>
            </a:r>
            <a:r>
              <a:rPr sz="900" i="0">
                <a:solidFill>
                  <a:srgbClr val="E6EDF3"/>
                </a:solidFill>
                <a:latin typeface="Consolas"/>
              </a:rPr>
              <a:t>        </a:t>
            </a:r>
            <a:r>
              <a:rPr sz="900" i="0">
                <a:solidFill>
                  <a:srgbClr val="E6EDF3"/>
                </a:solidFill>
                <a:latin typeface="Consolas"/>
              </a:rPr>
              <a:t>discount</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subtotal</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F9C97A"/>
                </a:solidFill>
                <a:latin typeface="Consolas"/>
              </a:rPr>
              <a:t>10</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F9C97A"/>
                </a:solidFill>
                <a:latin typeface="Consolas"/>
              </a:rPr>
              <a:t>100</a:t>
            </a:r>
          </a:p>
          <a:p>
            <a:pPr>
              <a:lnSpc>
                <a:spcPts val="1200"/>
              </a:lnSpc>
              <a:spcAft>
                <a:spcPts val="0"/>
              </a:spcAft>
            </a:pPr>
            <a:r>
              <a:rPr sz="900" i="0">
                <a:solidFill>
                  <a:srgbClr val="5C6773"/>
                </a:solidFill>
                <a:latin typeface="Consolas"/>
              </a:rPr>
              <a:t>16  </a:t>
            </a:r>
            <a:r>
              <a:rPr sz="900" i="0">
                <a:solidFill>
                  <a:srgbClr val="E6EDF3"/>
                </a:solidFill>
                <a:latin typeface="Consolas"/>
              </a:rPr>
              <a:t>    </a:t>
            </a:r>
            <a:r>
              <a:rPr sz="900" i="1">
                <a:solidFill>
                  <a:srgbClr val="8B98A8"/>
                </a:solidFill>
                <a:latin typeface="Consolas"/>
              </a:rPr>
              <a:t># elif customer_type == "student": ... &lt;- nambah di sini terus</a:t>
            </a:r>
          </a:p>
          <a:p>
            <a:pPr>
              <a:lnSpc>
                <a:spcPts val="1200"/>
              </a:lnSpc>
              <a:spcAft>
                <a:spcPts val="0"/>
              </a:spcAft>
            </a:pPr>
            <a:r>
              <a:rPr sz="900" i="0">
                <a:solidFill>
                  <a:srgbClr val="5C6773"/>
                </a:solidFill>
                <a:latin typeface="Consolas"/>
              </a:rPr>
              <a:t>17  </a:t>
            </a:r>
            <a:r>
              <a:rPr sz="900" i="0">
                <a:solidFill>
                  <a:srgbClr val="E6EDF3"/>
                </a:solidFill>
                <a:latin typeface="Consolas"/>
              </a:rPr>
              <a:t>    </a:t>
            </a:r>
            <a:r>
              <a:rPr sz="900" i="0">
                <a:solidFill>
                  <a:srgbClr val="FF8E6E"/>
                </a:solidFill>
                <a:latin typeface="Consolas"/>
              </a:rPr>
              <a:t>else</a:t>
            </a:r>
            <a:r>
              <a:rPr sz="900" i="0">
                <a:solidFill>
                  <a:srgbClr val="E6EDF3"/>
                </a:solidFill>
                <a:latin typeface="Consolas"/>
              </a:rPr>
              <a:t>:</a:t>
            </a:r>
          </a:p>
          <a:p>
            <a:pPr>
              <a:lnSpc>
                <a:spcPts val="1200"/>
              </a:lnSpc>
              <a:spcAft>
                <a:spcPts val="0"/>
              </a:spcAft>
            </a:pPr>
            <a:r>
              <a:rPr sz="900" i="0">
                <a:solidFill>
                  <a:srgbClr val="5C6773"/>
                </a:solidFill>
                <a:latin typeface="Consolas"/>
              </a:rPr>
              <a:t>18  </a:t>
            </a:r>
            <a:r>
              <a:rPr sz="900" i="0">
                <a:solidFill>
                  <a:srgbClr val="E6EDF3"/>
                </a:solidFill>
                <a:latin typeface="Consolas"/>
              </a:rPr>
              <a:t>        </a:t>
            </a:r>
            <a:r>
              <a:rPr sz="900" i="0">
                <a:solidFill>
                  <a:srgbClr val="FF8E6E"/>
                </a:solidFill>
                <a:latin typeface="Consolas"/>
              </a:rPr>
              <a:t>raise</a:t>
            </a:r>
            <a:r>
              <a:rPr sz="900" i="0">
                <a:solidFill>
                  <a:srgbClr val="E6EDF3"/>
                </a:solidFill>
                <a:latin typeface="Consolas"/>
              </a:rPr>
              <a:t> </a:t>
            </a:r>
            <a:r>
              <a:rPr sz="900" i="0">
                <a:solidFill>
                  <a:srgbClr val="7FDBCA"/>
                </a:solidFill>
                <a:latin typeface="Consolas"/>
              </a:rPr>
              <a:t>ValueError</a:t>
            </a:r>
            <a:r>
              <a:rPr sz="900" i="0">
                <a:solidFill>
                  <a:srgbClr val="E6EDF3"/>
                </a:solidFill>
                <a:latin typeface="Consolas"/>
              </a:rPr>
              <a:t>(</a:t>
            </a:r>
            <a:r>
              <a:rPr sz="900" i="0">
                <a:solidFill>
                  <a:srgbClr val="A5D6A7"/>
                </a:solidFill>
                <a:latin typeface="Consolas"/>
              </a:rPr>
              <a:t>f"Tipe customer tidak dikenal: {customer_type}"</a:t>
            </a:r>
            <a:r>
              <a:rPr sz="900" i="0">
                <a:solidFill>
                  <a:srgbClr val="E6EDF3"/>
                </a:solidFill>
                <a:latin typeface="Consolas"/>
              </a:rPr>
              <a:t>)</a:t>
            </a:r>
          </a:p>
          <a:p>
            <a:pPr>
              <a:lnSpc>
                <a:spcPts val="1200"/>
              </a:lnSpc>
              <a:spcAft>
                <a:spcPts val="0"/>
              </a:spcAft>
            </a:pPr>
            <a:r>
              <a:rPr sz="900" i="0">
                <a:solidFill>
                  <a:srgbClr val="5C6773"/>
                </a:solidFill>
                <a:latin typeface="Consolas"/>
              </a:rPr>
              <a:t>19  </a:t>
            </a:r>
            <a:r>
              <a:rPr sz="900" i="0">
                <a:solidFill>
                  <a:srgbClr val="E6EDF3"/>
                </a:solidFill>
                <a:latin typeface="Consolas"/>
              </a:rPr>
              <a:t>    </a:t>
            </a:r>
            <a:r>
              <a:rPr sz="900" i="0">
                <a:solidFill>
                  <a:srgbClr val="FF8E6E"/>
                </a:solidFill>
                <a:latin typeface="Consolas"/>
              </a:rPr>
              <a:t>return</a:t>
            </a:r>
            <a:r>
              <a:rPr sz="900" i="0">
                <a:solidFill>
                  <a:srgbClr val="E6EDF3"/>
                </a:solidFill>
                <a:latin typeface="Consolas"/>
              </a:rPr>
              <a:t> </a:t>
            </a:r>
            <a:r>
              <a:rPr sz="900" i="0">
                <a:solidFill>
                  <a:srgbClr val="E6EDF3"/>
                </a:solidFill>
                <a:latin typeface="Consolas"/>
              </a:rPr>
              <a:t>subtotal</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discount</a:t>
            </a:r>
          </a:p>
          <a:p>
            <a:pPr>
              <a:lnSpc>
                <a:spcPts val="1200"/>
              </a:lnSpc>
              <a:spcAft>
                <a:spcPts val="0"/>
              </a:spcAft>
            </a:pPr>
            <a:r>
              <a:rPr sz="900" i="0">
                <a:solidFill>
                  <a:srgbClr val="5C6773"/>
                </a:solidFill>
                <a:latin typeface="Consolas"/>
              </a:rPr>
              <a:t>20  </a:t>
            </a:r>
            <a:r>
              <a:rPr sz="900" i="0">
                <a:solidFill>
                  <a:srgbClr val="E6EDF3"/>
                </a:solidFill>
                <a:latin typeface="Consolas"/>
              </a:rPr>
              <a:t> </a:t>
            </a:r>
          </a:p>
          <a:p>
            <a:pPr>
              <a:lnSpc>
                <a:spcPts val="1200"/>
              </a:lnSpc>
              <a:spcAft>
                <a:spcPts val="0"/>
              </a:spcAft>
            </a:pPr>
            <a:r>
              <a:rPr sz="900" i="0">
                <a:solidFill>
                  <a:srgbClr val="5C6773"/>
                </a:solidFill>
                <a:latin typeface="Consolas"/>
              </a:rPr>
              <a:t>21  </a:t>
            </a:r>
            <a:r>
              <a:rPr sz="900" i="0">
                <a:solidFill>
                  <a:srgbClr val="E6EDF3"/>
                </a:solidFill>
                <a:latin typeface="Consolas"/>
              </a:rPr>
              <a:t> </a:t>
            </a:r>
          </a:p>
          <a:p>
            <a:pPr>
              <a:lnSpc>
                <a:spcPts val="1200"/>
              </a:lnSpc>
              <a:spcAft>
                <a:spcPts val="0"/>
              </a:spcAft>
            </a:pPr>
            <a:r>
              <a:rPr sz="900" i="0">
                <a:solidFill>
                  <a:srgbClr val="5C6773"/>
                </a:solidFill>
                <a:latin typeface="Consolas"/>
              </a:rPr>
              <a:t>22  </a:t>
            </a:r>
            <a:r>
              <a:rPr sz="900" i="0">
                <a:solidFill>
                  <a:srgbClr val="FF8E6E"/>
                </a:solidFill>
                <a:latin typeface="Consolas"/>
              </a:rPr>
              <a:t>if</a:t>
            </a:r>
            <a:r>
              <a:rPr sz="900" i="0">
                <a:solidFill>
                  <a:srgbClr val="E6EDF3"/>
                </a:solidFill>
                <a:latin typeface="Consolas"/>
              </a:rPr>
              <a:t> </a:t>
            </a:r>
            <a:r>
              <a:rPr sz="900" i="0">
                <a:solidFill>
                  <a:srgbClr val="E6EDF3"/>
                </a:solidFill>
                <a:latin typeface="Consolas"/>
              </a:rPr>
              <a:t>__name__</a:t>
            </a:r>
            <a:r>
              <a:rPr sz="900" i="0">
                <a:solidFill>
                  <a:srgbClr val="E6EDF3"/>
                </a:solidFill>
                <a:latin typeface="Consolas"/>
              </a:rPr>
              <a:t> </a:t>
            </a:r>
            <a:r>
              <a:rPr sz="900" i="0">
                <a:solidFill>
                  <a:srgbClr val="E6EDF3"/>
                </a:solidFill>
                <a:latin typeface="Consolas"/>
              </a:rPr>
              <a:t>=</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"__main__"</a:t>
            </a:r>
            <a:r>
              <a:rPr sz="900" i="0">
                <a:solidFill>
                  <a:srgbClr val="E6EDF3"/>
                </a:solidFill>
                <a:latin typeface="Consolas"/>
              </a:rPr>
              <a:t>:</a:t>
            </a:r>
          </a:p>
          <a:p>
            <a:pPr>
              <a:lnSpc>
                <a:spcPts val="1200"/>
              </a:lnSpc>
              <a:spcAft>
                <a:spcPts val="0"/>
              </a:spcAft>
            </a:pPr>
            <a:r>
              <a:rPr sz="900" i="0">
                <a:solidFill>
                  <a:srgbClr val="5C6773"/>
                </a:solidFill>
                <a:latin typeface="Consolas"/>
              </a:rPr>
              <a:t>23  </a:t>
            </a:r>
            <a:r>
              <a:rPr sz="900" i="0">
                <a:solidFill>
                  <a:srgbClr val="E6EDF3"/>
                </a:solidFill>
                <a:latin typeface="Consolas"/>
              </a:rPr>
              <a:t>    </a:t>
            </a:r>
            <a:r>
              <a:rPr sz="900" i="0">
                <a:solidFill>
                  <a:srgbClr val="FF8E6E"/>
                </a:solidFill>
                <a:latin typeface="Consolas"/>
              </a:rPr>
              <a:t>for</a:t>
            </a:r>
            <a:r>
              <a:rPr sz="900" i="0">
                <a:solidFill>
                  <a:srgbClr val="E6EDF3"/>
                </a:solidFill>
                <a:latin typeface="Consolas"/>
              </a:rPr>
              <a:t> </a:t>
            </a:r>
            <a:r>
              <a:rPr sz="900" i="0">
                <a:solidFill>
                  <a:srgbClr val="E6EDF3"/>
                </a:solidFill>
                <a:latin typeface="Consolas"/>
              </a:rPr>
              <a:t>t</a:t>
            </a:r>
            <a:r>
              <a:rPr sz="900" i="0">
                <a:solidFill>
                  <a:srgbClr val="E6EDF3"/>
                </a:solidFill>
                <a:latin typeface="Consolas"/>
              </a:rPr>
              <a:t> </a:t>
            </a:r>
            <a:r>
              <a:rPr sz="900" i="0">
                <a:solidFill>
                  <a:srgbClr val="FF8E6E"/>
                </a:solidFill>
                <a:latin typeface="Consolas"/>
              </a:rPr>
              <a:t>in</a:t>
            </a:r>
            <a:r>
              <a:rPr sz="900" i="0">
                <a:solidFill>
                  <a:srgbClr val="E6EDF3"/>
                </a:solidFill>
                <a:latin typeface="Consolas"/>
              </a:rPr>
              <a:t> </a:t>
            </a:r>
            <a:r>
              <a:rPr sz="900" i="0">
                <a:solidFill>
                  <a:srgbClr val="E6EDF3"/>
                </a:solidFill>
                <a:latin typeface="Consolas"/>
              </a:rPr>
              <a:t>(</a:t>
            </a:r>
            <a:r>
              <a:rPr sz="900" i="0">
                <a:solidFill>
                  <a:srgbClr val="A5D6A7"/>
                </a:solidFill>
                <a:latin typeface="Consolas"/>
              </a:rPr>
              <a:t>"regular"</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"member"</a:t>
            </a:r>
            <a:r>
              <a:rPr sz="900" i="0">
                <a:solidFill>
                  <a:srgbClr val="E6EDF3"/>
                </a:solidFill>
                <a:latin typeface="Consolas"/>
              </a:rPr>
              <a:t>,</a:t>
            </a:r>
            <a:r>
              <a:rPr sz="900" i="0">
                <a:solidFill>
                  <a:srgbClr val="E6EDF3"/>
                </a:solidFill>
                <a:latin typeface="Consolas"/>
              </a:rPr>
              <a:t> </a:t>
            </a:r>
            <a:r>
              <a:rPr sz="900" i="0">
                <a:solidFill>
                  <a:srgbClr val="A5D6A7"/>
                </a:solidFill>
                <a:latin typeface="Consolas"/>
              </a:rPr>
              <a:t>"vip"</a:t>
            </a:r>
            <a:r>
              <a:rPr sz="900" i="0">
                <a:solidFill>
                  <a:srgbClr val="E6EDF3"/>
                </a:solidFill>
                <a:latin typeface="Consolas"/>
              </a:rPr>
              <a:t>)</a:t>
            </a:r>
            <a:r>
              <a:rPr sz="900" i="0">
                <a:solidFill>
                  <a:srgbClr val="E6EDF3"/>
                </a:solidFill>
                <a:latin typeface="Consolas"/>
              </a:rPr>
              <a:t>:</a:t>
            </a:r>
          </a:p>
          <a:p>
            <a:pPr>
              <a:lnSpc>
                <a:spcPts val="1200"/>
              </a:lnSpc>
              <a:spcAft>
                <a:spcPts val="0"/>
              </a:spcAft>
            </a:pPr>
            <a:r>
              <a:rPr sz="900" i="0">
                <a:solidFill>
                  <a:srgbClr val="5C6773"/>
                </a:solidFill>
                <a:latin typeface="Consolas"/>
              </a:rPr>
              <a:t>24  </a:t>
            </a:r>
            <a:r>
              <a:rPr sz="900" i="0">
                <a:solidFill>
                  <a:srgbClr val="E6EDF3"/>
                </a:solidFill>
                <a:latin typeface="Consolas"/>
              </a:rPr>
              <a:t>        </a:t>
            </a:r>
            <a:r>
              <a:rPr sz="900" i="0">
                <a:solidFill>
                  <a:srgbClr val="C3A6FF"/>
                </a:solidFill>
                <a:latin typeface="Consolas"/>
              </a:rPr>
              <a:t>print</a:t>
            </a:r>
            <a:r>
              <a:rPr sz="900" i="0">
                <a:solidFill>
                  <a:srgbClr val="E6EDF3"/>
                </a:solidFill>
                <a:latin typeface="Consolas"/>
              </a:rPr>
              <a:t>(</a:t>
            </a:r>
            <a:r>
              <a:rPr sz="900" i="0">
                <a:solidFill>
                  <a:srgbClr val="E6EDF3"/>
                </a:solidFill>
                <a:latin typeface="Consolas"/>
              </a:rPr>
              <a:t>t</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calculate_total</a:t>
            </a:r>
            <a:r>
              <a:rPr sz="900" i="0">
                <a:solidFill>
                  <a:srgbClr val="E6EDF3"/>
                </a:solidFill>
                <a:latin typeface="Consolas"/>
              </a:rPr>
              <a:t>(</a:t>
            </a:r>
            <a:r>
              <a:rPr sz="900" i="0">
                <a:solidFill>
                  <a:srgbClr val="F9C97A"/>
                </a:solidFill>
                <a:latin typeface="Consolas"/>
              </a:rPr>
              <a:t>1_000_000</a:t>
            </a:r>
            <a:r>
              <a:rPr sz="900" i="0">
                <a:solidFill>
                  <a:srgbClr val="E6EDF3"/>
                </a:solidFill>
                <a:latin typeface="Consolas"/>
              </a:rPr>
              <a:t>,</a:t>
            </a:r>
            <a:r>
              <a:rPr sz="900" i="0">
                <a:solidFill>
                  <a:srgbClr val="E6EDF3"/>
                </a:solidFill>
                <a:latin typeface="Consolas"/>
              </a:rPr>
              <a:t> </a:t>
            </a:r>
            <a:r>
              <a:rPr sz="900" i="0">
                <a:solidFill>
                  <a:srgbClr val="E6EDF3"/>
                </a:solidFill>
                <a:latin typeface="Consolas"/>
              </a:rPr>
              <a:t>t</a:t>
            </a:r>
            <a:r>
              <a:rPr sz="900" i="0">
                <a:solidFill>
                  <a:srgbClr val="E6EDF3"/>
                </a:solidFill>
                <a:latin typeface="Consolas"/>
              </a:rPr>
              <a:t>)</a:t>
            </a:r>
            <a:r>
              <a:rPr sz="900" i="0">
                <a:solidFill>
                  <a:srgbClr val="E6EDF3"/>
                </a:solidFill>
                <a:latin typeface="Consolas"/>
              </a:rPr>
              <a:t>)</a:t>
            </a:r>
          </a:p>
        </p:txBody>
      </p:sp>
      <p:sp>
        <p:nvSpPr>
          <p:cNvPr id="29" name="Box 12"/>
          <p:cNvSpPr/>
          <p:nvPr/>
        </p:nvSpPr>
        <p:spPr>
          <a:xfrm>
            <a:off x="704088" y="1982724"/>
            <a:ext cx="7699248" cy="905256"/>
          </a:xfrm>
          <a:prstGeom prst="roundRect">
            <a:avLst>
              <a:gd name="adj" fmla="val 5050"/>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23164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897123"/>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2849879"/>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03-strategy/before.py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sesi-01-design-patterns/03-strategy</a:t>
            </a:r>
          </a:p>
          <a:p>
            <a:pPr>
              <a:lnSpc>
                <a:spcPts val="1000"/>
              </a:lnSpc>
              <a:spcAft>
                <a:spcPts val="0"/>
              </a:spcAft>
            </a:pPr>
            <a:r>
              <a:rPr sz="775" i="0">
                <a:solidFill>
                  <a:srgbClr val="82B1FF"/>
                </a:solidFill>
                <a:latin typeface="Consolas"/>
              </a:rPr>
              <a:t>$ python before.py</a:t>
            </a:r>
          </a:p>
        </p:txBody>
      </p:sp>
      <p:pic>
        <p:nvPicPr>
          <p:cNvPr id="29" name="Image 12" descr="s01-03-strategy-before.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Semua aturan diskon menumpuk di satu if/elif (baris 10-15)</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Aturan baru (student) = edit function ini lagi (baris 16)</a:t>
            </a:r>
          </a:p>
          <a:p>
            <a:pPr algn="l">
              <a:lnSpc>
                <a:spcPct val="115000"/>
              </a:lnSpc>
              <a:spcAft>
                <a:spcPts val="0"/>
              </a:spcAft>
            </a:pPr>
            <a:r>
              <a:rPr sz="570"/>
              <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Ubah satu aturan berisiko merusak aturan lain</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Mengetes aturan vip ikut menjalankan semua cabang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Satu Class per Aturan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03-strategy/after.py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7  </a:t>
            </a:r>
            <a:r>
              <a:rPr sz="850" i="0">
                <a:solidFill>
                  <a:srgbClr val="FF8E6E"/>
                </a:solidFill>
                <a:latin typeface="Consolas"/>
              </a:rPr>
              <a:t>from</a:t>
            </a:r>
            <a:r>
              <a:rPr sz="850" i="0">
                <a:solidFill>
                  <a:srgbClr val="E6EDF3"/>
                </a:solidFill>
                <a:latin typeface="Consolas"/>
              </a:rPr>
              <a:t> </a:t>
            </a:r>
            <a:r>
              <a:rPr sz="850" i="0">
                <a:solidFill>
                  <a:srgbClr val="E6EDF3"/>
                </a:solidFill>
                <a:latin typeface="Consolas"/>
              </a:rPr>
              <a:t>typing</a:t>
            </a:r>
            <a:r>
              <a:rPr sz="850" i="0">
                <a:solidFill>
                  <a:srgbClr val="E6EDF3"/>
                </a:solidFill>
                <a:latin typeface="Consolas"/>
              </a:rPr>
              <a:t> </a:t>
            </a:r>
            <a:r>
              <a:rPr sz="850" i="0">
                <a:solidFill>
                  <a:srgbClr val="FF8E6E"/>
                </a:solidFill>
                <a:latin typeface="Consolas"/>
              </a:rPr>
              <a:t>import</a:t>
            </a:r>
            <a:r>
              <a:rPr sz="850" i="0">
                <a:solidFill>
                  <a:srgbClr val="E6EDF3"/>
                </a:solidFill>
                <a:latin typeface="Consolas"/>
              </a:rPr>
              <a:t> </a:t>
            </a:r>
            <a:r>
              <a:rPr sz="850" i="0">
                <a:solidFill>
                  <a:srgbClr val="7FDBCA"/>
                </a:solidFill>
                <a:latin typeface="Consolas"/>
              </a:rPr>
              <a:t>Protocol</a:t>
            </a:r>
          </a:p>
          <a:p>
            <a:pPr>
              <a:lnSpc>
                <a:spcPts val="1100"/>
              </a:lnSpc>
              <a:spcAft>
                <a:spcPts val="0"/>
              </a:spcAft>
            </a:pPr>
            <a:r>
              <a:rPr sz="850" i="0">
                <a:solidFill>
                  <a:srgbClr val="5C6773"/>
                </a:solidFill>
                <a:latin typeface="Consolas"/>
              </a:rPr>
              <a:t> 8  </a:t>
            </a:r>
            <a:r>
              <a:rPr sz="850" i="0">
                <a:solidFill>
                  <a:srgbClr val="E6EDF3"/>
                </a:solidFill>
                <a:latin typeface="Consolas"/>
              </a:rPr>
              <a:t> </a:t>
            </a:r>
          </a:p>
          <a:p>
            <a:pPr>
              <a:lnSpc>
                <a:spcPts val="1100"/>
              </a:lnSpc>
              <a:spcAft>
                <a:spcPts val="0"/>
              </a:spcAft>
            </a:pPr>
            <a:r>
              <a:rPr sz="850" i="0">
                <a:solidFill>
                  <a:srgbClr val="5C6773"/>
                </a:solidFill>
                <a:latin typeface="Consolas"/>
              </a:rPr>
              <a:t> 9  </a:t>
            </a:r>
            <a:r>
              <a:rPr sz="850" i="0">
                <a:solidFill>
                  <a:srgbClr val="E6EDF3"/>
                </a:solidFill>
                <a:latin typeface="Consolas"/>
              </a:rPr>
              <a:t> </a:t>
            </a:r>
          </a:p>
          <a:p>
            <a:pPr>
              <a:lnSpc>
                <a:spcPts val="1100"/>
              </a:lnSpc>
              <a:spcAft>
                <a:spcPts val="0"/>
              </a:spcAft>
            </a:pPr>
            <a:r>
              <a:rPr sz="850" i="0">
                <a:solidFill>
                  <a:srgbClr val="5C6773"/>
                </a:solidFill>
                <a:latin typeface="Consolas"/>
              </a:rPr>
              <a:t>10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DiscountStrategy</a:t>
            </a:r>
            <a:r>
              <a:rPr sz="850" i="0">
                <a:solidFill>
                  <a:srgbClr val="E6EDF3"/>
                </a:solidFill>
                <a:latin typeface="Consolas"/>
              </a:rPr>
              <a:t>(</a:t>
            </a:r>
            <a:r>
              <a:rPr sz="850" i="0">
                <a:solidFill>
                  <a:srgbClr val="7FDBCA"/>
                </a:solidFill>
                <a:latin typeface="Consolas"/>
              </a:rPr>
              <a:t>Protocol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11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discount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p>
          <a:p>
            <a:pPr>
              <a:lnSpc>
                <a:spcPts val="1100"/>
              </a:lnSpc>
              <a:spcAft>
                <a:spcPts val="0"/>
              </a:spcAft>
            </a:pPr>
            <a:r>
              <a:rPr sz="850" i="0">
                <a:solidFill>
                  <a:srgbClr val="5C6773"/>
                </a:solidFill>
                <a:latin typeface="Consolas"/>
              </a:rPr>
              <a:t>13  </a:t>
            </a:r>
            <a:r>
              <a:rPr sz="850" i="0">
                <a:solidFill>
                  <a:srgbClr val="E6EDF3"/>
                </a:solidFill>
                <a:latin typeface="Consolas"/>
              </a:rPr>
              <a:t> </a:t>
            </a:r>
          </a:p>
          <a:p>
            <a:pPr>
              <a:lnSpc>
                <a:spcPts val="1100"/>
              </a:lnSpc>
              <a:spcAft>
                <a:spcPts val="0"/>
              </a:spcAft>
            </a:pPr>
            <a:r>
              <a:rPr sz="850" i="0">
                <a:solidFill>
                  <a:srgbClr val="5C6773"/>
                </a:solidFill>
                <a:latin typeface="Consolas"/>
              </a:rPr>
              <a:t>14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NoDiscount</a:t>
            </a:r>
            <a:r>
              <a:rPr sz="850" i="0">
                <a:solidFill>
                  <a:srgbClr val="E6EDF3"/>
                </a:solidFill>
                <a:latin typeface="Consolas"/>
              </a:rPr>
              <a:t>:</a:t>
            </a:r>
          </a:p>
          <a:p>
            <a:pPr>
              <a:lnSpc>
                <a:spcPts val="1100"/>
              </a:lnSpc>
              <a:spcAft>
                <a:spcPts val="0"/>
              </a:spcAft>
            </a:pPr>
            <a:r>
              <a:rPr sz="850" i="0">
                <a:solidFill>
                  <a:srgbClr val="5C6773"/>
                </a:solidFill>
                <a:latin typeface="Consolas"/>
              </a:rPr>
              <a:t>15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discount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16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F9C97A"/>
                </a:solidFill>
                <a:latin typeface="Consolas"/>
              </a:rPr>
              <a:t>0</a:t>
            </a:r>
          </a:p>
          <a:p>
            <a:pPr>
              <a:lnSpc>
                <a:spcPts val="1100"/>
              </a:lnSpc>
              <a:spcAft>
                <a:spcPts val="0"/>
              </a:spcAft>
            </a:pPr>
            <a:r>
              <a:rPr sz="850" i="0">
                <a:solidFill>
                  <a:srgbClr val="5C6773"/>
                </a:solidFill>
                <a:latin typeface="Consolas"/>
              </a:rPr>
              <a:t>17  </a:t>
            </a:r>
            <a:r>
              <a:rPr sz="850" i="0">
                <a:solidFill>
                  <a:srgbClr val="E6EDF3"/>
                </a:solidFill>
                <a:latin typeface="Consolas"/>
              </a:rPr>
              <a:t> </a:t>
            </a:r>
          </a:p>
          <a:p>
            <a:pPr>
              <a:lnSpc>
                <a:spcPts val="1100"/>
              </a:lnSpc>
              <a:spcAft>
                <a:spcPts val="0"/>
              </a:spcAft>
            </a:pPr>
            <a:r>
              <a:rPr sz="850" i="0">
                <a:solidFill>
                  <a:srgbClr val="5C6773"/>
                </a:solidFill>
                <a:latin typeface="Consolas"/>
              </a:rPr>
              <a:t>18  </a:t>
            </a:r>
            <a:r>
              <a:rPr sz="850" i="0">
                <a:solidFill>
                  <a:srgbClr val="E6EDF3"/>
                </a:solidFill>
                <a:latin typeface="Consolas"/>
              </a:rPr>
              <a:t> </a:t>
            </a:r>
          </a:p>
          <a:p>
            <a:pPr>
              <a:lnSpc>
                <a:spcPts val="1100"/>
              </a:lnSpc>
              <a:spcAft>
                <a:spcPts val="0"/>
              </a:spcAft>
            </a:pPr>
            <a:r>
              <a:rPr sz="850" i="0">
                <a:solidFill>
                  <a:srgbClr val="5C6773"/>
                </a:solidFill>
                <a:latin typeface="Consolas"/>
              </a:rPr>
              <a:t>19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PercentDiscount</a:t>
            </a:r>
            <a:r>
              <a:rPr sz="850" i="0">
                <a:solidFill>
                  <a:srgbClr val="E6EDF3"/>
                </a:solidFill>
                <a:latin typeface="Consolas"/>
              </a:rPr>
              <a:t>:</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__init__</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percent</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percent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percent</a:t>
            </a:r>
          </a:p>
          <a:p>
            <a:pPr>
              <a:lnSpc>
                <a:spcPts val="1100"/>
              </a:lnSpc>
              <a:spcAft>
                <a:spcPts val="0"/>
              </a:spcAft>
            </a:pPr>
            <a:r>
              <a:rPr sz="850" i="0">
                <a:solidFill>
                  <a:srgbClr val="5C6773"/>
                </a:solidFill>
                <a:latin typeface="Consolas"/>
              </a:rPr>
              <a:t>22  </a:t>
            </a:r>
            <a:r>
              <a:rPr sz="850" i="0">
                <a:solidFill>
                  <a:srgbClr val="E6EDF3"/>
                </a:solidFill>
                <a:latin typeface="Consolas"/>
              </a:rPr>
              <a:t> </a:t>
            </a:r>
          </a:p>
          <a:p>
            <a:pPr>
              <a:lnSpc>
                <a:spcPts val="1100"/>
              </a:lnSpc>
              <a:spcAft>
                <a:spcPts val="0"/>
              </a:spcAft>
            </a:pPr>
            <a:r>
              <a:rPr sz="850" i="0">
                <a:solidFill>
                  <a:srgbClr val="5C6773"/>
                </a:solidFill>
                <a:latin typeface="Consolas"/>
              </a:rPr>
              <a:t>23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discount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24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percent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100</a:t>
            </a:r>
          </a:p>
        </p:txBody>
      </p:sp>
      <p:sp>
        <p:nvSpPr>
          <p:cNvPr id="29" name="Box 12"/>
          <p:cNvSpPr/>
          <p:nvPr/>
        </p:nvSpPr>
        <p:spPr>
          <a:xfrm>
            <a:off x="704088" y="3505073"/>
            <a:ext cx="7699248" cy="829818"/>
          </a:xfrm>
          <a:prstGeom prst="roundRect">
            <a:avLst>
              <a:gd name="adj" fmla="val 550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8011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Satu Class per Aturan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03-strategy/after.py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27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StudentDiscount</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aturan baru: 15%, maksimal Rp75.000</a:t>
            </a:r>
          </a:p>
          <a:p>
            <a:pPr>
              <a:lnSpc>
                <a:spcPts val="1100"/>
              </a:lnSpc>
              <a:spcAft>
                <a:spcPts val="0"/>
              </a:spcAft>
            </a:pPr>
            <a:r>
              <a:rPr sz="850" i="0">
                <a:solidFill>
                  <a:srgbClr val="5C6773"/>
                </a:solidFill>
                <a:latin typeface="Consolas"/>
              </a:rPr>
              <a:t>28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discount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29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C3A6FF"/>
                </a:solidFill>
                <a:latin typeface="Consolas"/>
              </a:rPr>
              <a:t>min</a:t>
            </a:r>
            <a:r>
              <a:rPr sz="850" i="0">
                <a:solidFill>
                  <a:srgbClr val="E6EDF3"/>
                </a:solidFill>
                <a:latin typeface="Consolas"/>
              </a:rPr>
              <a:t>(</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15</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100</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75_000</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p>
          <a:p>
            <a:pPr>
              <a:lnSpc>
                <a:spcPts val="1100"/>
              </a:lnSpc>
              <a:spcAft>
                <a:spcPts val="0"/>
              </a:spcAft>
            </a:pPr>
            <a:r>
              <a:rPr sz="850" i="0">
                <a:solidFill>
                  <a:srgbClr val="5C6773"/>
                </a:solidFill>
                <a:latin typeface="Consolas"/>
              </a:rPr>
              <a:t>31  </a:t>
            </a:r>
            <a:r>
              <a:rPr sz="850" i="0">
                <a:solidFill>
                  <a:srgbClr val="E6EDF3"/>
                </a:solidFill>
                <a:latin typeface="Consolas"/>
              </a:rPr>
              <a:t> </a:t>
            </a:r>
          </a:p>
          <a:p>
            <a:pPr>
              <a:lnSpc>
                <a:spcPts val="1100"/>
              </a:lnSpc>
              <a:spcAft>
                <a:spcPts val="0"/>
              </a:spcAft>
            </a:pPr>
            <a:r>
              <a:rPr sz="850" i="0">
                <a:solidFill>
                  <a:srgbClr val="5C6773"/>
                </a:solidFill>
                <a:latin typeface="Consolas"/>
              </a:rPr>
              <a:t>32  </a:t>
            </a:r>
            <a:r>
              <a:rPr sz="850" i="0">
                <a:solidFill>
                  <a:srgbClr val="7FDBCA"/>
                </a:solidFill>
                <a:latin typeface="Consolas"/>
              </a:rPr>
              <a:t>DISCOUNTS</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p>
          <a:p>
            <a:pPr>
              <a:lnSpc>
                <a:spcPts val="1100"/>
              </a:lnSpc>
              <a:spcAft>
                <a:spcPts val="0"/>
              </a:spcAft>
            </a:pPr>
            <a:r>
              <a:rPr sz="850" i="0">
                <a:solidFill>
                  <a:srgbClr val="5C6773"/>
                </a:solidFill>
                <a:latin typeface="Consolas"/>
              </a:rPr>
              <a:t>33  </a:t>
            </a:r>
            <a:r>
              <a:rPr sz="850" i="0">
                <a:solidFill>
                  <a:srgbClr val="E6EDF3"/>
                </a:solidFill>
                <a:latin typeface="Consolas"/>
              </a:rPr>
              <a:t>    </a:t>
            </a:r>
            <a:r>
              <a:rPr sz="850" i="0">
                <a:solidFill>
                  <a:srgbClr val="A5D6A7"/>
                </a:solidFill>
                <a:latin typeface="Consolas"/>
              </a:rPr>
              <a:t>"regular"</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NoDiscount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A5D6A7"/>
                </a:solidFill>
                <a:latin typeface="Consolas"/>
              </a:rPr>
              <a:t>"member"</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PercentDiscount</a:t>
            </a:r>
            <a:r>
              <a:rPr sz="850" i="0">
                <a:solidFill>
                  <a:srgbClr val="E6EDF3"/>
                </a:solidFill>
                <a:latin typeface="Consolas"/>
              </a:rPr>
              <a:t>(</a:t>
            </a:r>
            <a:r>
              <a:rPr sz="850" i="0">
                <a:solidFill>
                  <a:srgbClr val="F9C97A"/>
                </a:solidFill>
                <a:latin typeface="Consolas"/>
              </a:rPr>
              <a:t>5</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A5D6A7"/>
                </a:solidFill>
                <a:latin typeface="Consolas"/>
              </a:rPr>
              <a:t>"vip"</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PercentDiscount</a:t>
            </a:r>
            <a:r>
              <a:rPr sz="850" i="0">
                <a:solidFill>
                  <a:srgbClr val="E6EDF3"/>
                </a:solidFill>
                <a:latin typeface="Consolas"/>
              </a:rPr>
              <a:t>(</a:t>
            </a:r>
            <a:r>
              <a:rPr sz="850" i="0">
                <a:solidFill>
                  <a:srgbClr val="F9C97A"/>
                </a:solidFill>
                <a:latin typeface="Consolas"/>
              </a:rPr>
              <a:t>10</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36  </a:t>
            </a:r>
            <a:r>
              <a:rPr sz="850" i="0">
                <a:solidFill>
                  <a:srgbClr val="E6EDF3"/>
                </a:solidFill>
                <a:latin typeface="Consolas"/>
              </a:rPr>
              <a:t>    </a:t>
            </a:r>
            <a:r>
              <a:rPr sz="850" i="0">
                <a:solidFill>
                  <a:srgbClr val="A5D6A7"/>
                </a:solidFill>
                <a:latin typeface="Consolas"/>
              </a:rPr>
              <a:t>"student"</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StudentDiscount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37  </a:t>
            </a:r>
            <a:r>
              <a:rPr sz="850" i="0">
                <a:solidFill>
                  <a:srgbClr val="E6EDF3"/>
                </a:solidFill>
                <a:latin typeface="Consolas"/>
              </a:rPr>
              <a:t>}</a:t>
            </a:r>
          </a:p>
          <a:p>
            <a:pPr>
              <a:lnSpc>
                <a:spcPts val="1100"/>
              </a:lnSpc>
              <a:spcAft>
                <a:spcPts val="0"/>
              </a:spcAft>
            </a:pPr>
            <a:r>
              <a:rPr sz="850" i="0">
                <a:solidFill>
                  <a:srgbClr val="5C6773"/>
                </a:solidFill>
                <a:latin typeface="Consolas"/>
              </a:rPr>
              <a:t>38  </a:t>
            </a:r>
            <a:r>
              <a:rPr sz="850" i="0">
                <a:solidFill>
                  <a:srgbClr val="E6EDF3"/>
                </a:solidFill>
                <a:latin typeface="Consolas"/>
              </a:rPr>
              <a:t> </a:t>
            </a:r>
          </a:p>
          <a:p>
            <a:pPr>
              <a:lnSpc>
                <a:spcPts val="1100"/>
              </a:lnSpc>
              <a:spcAft>
                <a:spcPts val="0"/>
              </a:spcAft>
            </a:pPr>
            <a:r>
              <a:rPr sz="850" i="0">
                <a:solidFill>
                  <a:srgbClr val="5C6773"/>
                </a:solidFill>
                <a:latin typeface="Consolas"/>
              </a:rPr>
              <a:t>39  </a:t>
            </a:r>
            <a:r>
              <a:rPr sz="850" i="0">
                <a:solidFill>
                  <a:srgbClr val="E6EDF3"/>
                </a:solidFill>
                <a:latin typeface="Consolas"/>
              </a:rPr>
              <a:t> </a:t>
            </a:r>
          </a:p>
          <a:p>
            <a:pPr>
              <a:lnSpc>
                <a:spcPts val="1100"/>
              </a:lnSpc>
              <a:spcAft>
                <a:spcPts val="0"/>
              </a:spcAft>
            </a:pPr>
            <a:r>
              <a:rPr sz="850" i="0">
                <a:solidFill>
                  <a:srgbClr val="5C6773"/>
                </a:solidFill>
                <a:latin typeface="Consolas"/>
              </a:rPr>
              <a:t>40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calculate_total</a:t>
            </a:r>
            <a:r>
              <a:rPr sz="850" i="0">
                <a:solidFill>
                  <a:srgbClr val="E6EDF3"/>
                </a:solidFill>
                <a:latin typeface="Consolas"/>
              </a:rPr>
              <a:t>(</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strategy</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DiscountStrategy</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41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strategy</a:t>
            </a:r>
            <a:r>
              <a:rPr sz="850" i="0">
                <a:solidFill>
                  <a:srgbClr val="E6EDF3"/>
                </a:solidFill>
                <a:latin typeface="Consolas"/>
              </a:rPr>
              <a:t>.</a:t>
            </a:r>
            <a:r>
              <a:rPr sz="850" i="0">
                <a:solidFill>
                  <a:srgbClr val="E6EDF3"/>
                </a:solidFill>
                <a:latin typeface="Consolas"/>
              </a:rPr>
              <a:t>discount</a:t>
            </a:r>
            <a:r>
              <a:rPr sz="850" i="0">
                <a:solidFill>
                  <a:srgbClr val="E6EDF3"/>
                </a:solidFill>
                <a:latin typeface="Consolas"/>
              </a:rPr>
              <a:t>(</a:t>
            </a:r>
            <a:r>
              <a:rPr sz="850" i="0">
                <a:solidFill>
                  <a:srgbClr val="E6EDF3"/>
                </a:solidFill>
                <a:latin typeface="Consolas"/>
              </a:rPr>
              <a:t>subtotal</a:t>
            </a:r>
            <a:r>
              <a:rPr sz="850" i="0">
                <a:solidFill>
                  <a:srgbClr val="E6EDF3"/>
                </a:solidFill>
                <a:latin typeface="Consolas"/>
              </a:rPr>
              <a:t>)</a:t>
            </a:r>
          </a:p>
          <a:p>
            <a:pPr>
              <a:lnSpc>
                <a:spcPts val="1100"/>
              </a:lnSpc>
              <a:spcAft>
                <a:spcPts val="0"/>
              </a:spcAft>
            </a:pPr>
            <a:r>
              <a:rPr sz="850" i="0">
                <a:solidFill>
                  <a:srgbClr val="5C6773"/>
                </a:solidFill>
                <a:latin typeface="Consolas"/>
              </a:rPr>
              <a:t>42  </a:t>
            </a:r>
            <a:r>
              <a:rPr sz="850" i="0">
                <a:solidFill>
                  <a:srgbClr val="E6EDF3"/>
                </a:solidFill>
                <a:latin typeface="Consolas"/>
              </a:rPr>
              <a:t> </a:t>
            </a:r>
          </a:p>
          <a:p>
            <a:pPr>
              <a:lnSpc>
                <a:spcPts val="1100"/>
              </a:lnSpc>
              <a:spcAft>
                <a:spcPts val="0"/>
              </a:spcAft>
            </a:pPr>
            <a:r>
              <a:rPr sz="850" i="0">
                <a:solidFill>
                  <a:srgbClr val="5C6773"/>
                </a:solidFill>
                <a:latin typeface="Consolas"/>
              </a:rPr>
              <a:t>43  </a:t>
            </a:r>
            <a:r>
              <a:rPr sz="850" i="0">
                <a:solidFill>
                  <a:srgbClr val="E6EDF3"/>
                </a:solidFill>
                <a:latin typeface="Consolas"/>
              </a:rPr>
              <a:t> </a:t>
            </a:r>
          </a:p>
          <a:p>
            <a:pPr>
              <a:lnSpc>
                <a:spcPts val="1100"/>
              </a:lnSpc>
              <a:spcAft>
                <a:spcPts val="0"/>
              </a:spcAft>
            </a:pPr>
            <a:r>
              <a:rPr sz="850" i="0">
                <a:solidFill>
                  <a:srgbClr val="5C6773"/>
                </a:solidFill>
                <a:latin typeface="Consolas"/>
              </a:rPr>
              <a:t>44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45  </a:t>
            </a:r>
            <a:r>
              <a:rPr sz="850" i="0">
                <a:solidFill>
                  <a:srgbClr val="E6EDF3"/>
                </a:solidFill>
                <a:latin typeface="Consolas"/>
              </a:rPr>
              <a:t>    </a:t>
            </a:r>
            <a:r>
              <a:rPr sz="850" i="0">
                <a:solidFill>
                  <a:srgbClr val="FF8E6E"/>
                </a:solidFill>
                <a:latin typeface="Consolas"/>
              </a:rPr>
              <a:t>for</a:t>
            </a:r>
            <a:r>
              <a:rPr sz="850" i="0">
                <a:solidFill>
                  <a:srgbClr val="E6EDF3"/>
                </a:solidFill>
                <a:latin typeface="Consolas"/>
              </a:rPr>
              <a:t> </a:t>
            </a:r>
            <a:r>
              <a:rPr sz="850" i="0">
                <a:solidFill>
                  <a:srgbClr val="E6EDF3"/>
                </a:solidFill>
                <a:latin typeface="Consolas"/>
              </a:rPr>
              <a:t>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strategy</a:t>
            </a:r>
            <a:r>
              <a:rPr sz="850" i="0">
                <a:solidFill>
                  <a:srgbClr val="E6EDF3"/>
                </a:solidFill>
                <a:latin typeface="Consolas"/>
              </a:rPr>
              <a:t> </a:t>
            </a:r>
            <a:r>
              <a:rPr sz="850" i="0">
                <a:solidFill>
                  <a:srgbClr val="FF8E6E"/>
                </a:solidFill>
                <a:latin typeface="Consolas"/>
              </a:rPr>
              <a:t>in</a:t>
            </a:r>
            <a:r>
              <a:rPr sz="850" i="0">
                <a:solidFill>
                  <a:srgbClr val="E6EDF3"/>
                </a:solidFill>
                <a:latin typeface="Consolas"/>
              </a:rPr>
              <a:t> </a:t>
            </a:r>
            <a:r>
              <a:rPr sz="850" i="0">
                <a:solidFill>
                  <a:srgbClr val="7FDBCA"/>
                </a:solidFill>
                <a:latin typeface="Consolas"/>
              </a:rPr>
              <a:t>DISCOUNTS</a:t>
            </a:r>
            <a:r>
              <a:rPr sz="850" i="0">
                <a:solidFill>
                  <a:srgbClr val="E6EDF3"/>
                </a:solidFill>
                <a:latin typeface="Consolas"/>
              </a:rPr>
              <a:t>.</a:t>
            </a:r>
            <a:r>
              <a:rPr sz="850" i="0">
                <a:solidFill>
                  <a:srgbClr val="E6EDF3"/>
                </a:solidFill>
                <a:latin typeface="Consolas"/>
              </a:rPr>
              <a:t>items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46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E6EDF3"/>
                </a:solidFill>
                <a:latin typeface="Consolas"/>
              </a:rPr>
              <a:t>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calculate_total</a:t>
            </a:r>
            <a:r>
              <a:rPr sz="850" i="0">
                <a:solidFill>
                  <a:srgbClr val="E6EDF3"/>
                </a:solidFill>
                <a:latin typeface="Consolas"/>
              </a:rPr>
              <a:t>(</a:t>
            </a:r>
            <a:r>
              <a:rPr sz="850" i="0">
                <a:solidFill>
                  <a:srgbClr val="F9C97A"/>
                </a:solidFill>
                <a:latin typeface="Consolas"/>
              </a:rPr>
              <a:t>1_000_000</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strategy</a:t>
            </a:r>
            <a:r>
              <a:rPr sz="850" i="0">
                <a:solidFill>
                  <a:srgbClr val="E6EDF3"/>
                </a:solidFill>
                <a:latin typeface="Consolas"/>
              </a:rPr>
              <a:t>)</a:t>
            </a:r>
            <a:r>
              <a:rPr sz="850" i="0">
                <a:solidFill>
                  <a:srgbClr val="E6EDF3"/>
                </a:solidFill>
                <a:latin typeface="Consolas"/>
              </a:rPr>
              <a:t>)</a:t>
            </a:r>
          </a:p>
        </p:txBody>
      </p:sp>
      <p:sp>
        <p:nvSpPr>
          <p:cNvPr id="29" name="Box 12"/>
          <p:cNvSpPr/>
          <p:nvPr/>
        </p:nvSpPr>
        <p:spPr>
          <a:xfrm>
            <a:off x="704088" y="18286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1915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1" name="Box 14"/>
          <p:cNvSpPr/>
          <p:nvPr/>
        </p:nvSpPr>
        <p:spPr>
          <a:xfrm>
            <a:off x="704088" y="2527173"/>
            <a:ext cx="7699248" cy="829818"/>
          </a:xfrm>
          <a:prstGeom prst="roundRect">
            <a:avLst>
              <a:gd name="adj" fmla="val 550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28232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3" name="Box 16"/>
          <p:cNvSpPr/>
          <p:nvPr/>
        </p:nvSpPr>
        <p:spPr>
          <a:xfrm>
            <a:off x="704088" y="3644773"/>
            <a:ext cx="7699248" cy="271018"/>
          </a:xfrm>
          <a:prstGeom prst="roundRect">
            <a:avLst>
              <a:gd name="adj" fmla="val 1686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8284463" y="36614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03-strategy/after.py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sesi-01-design-patterns/03-strategy</a:t>
            </a:r>
          </a:p>
          <a:p>
            <a:pPr>
              <a:lnSpc>
                <a:spcPts val="1000"/>
              </a:lnSpc>
              <a:spcAft>
                <a:spcPts val="0"/>
              </a:spcAft>
            </a:pPr>
            <a:r>
              <a:rPr sz="775" i="0">
                <a:solidFill>
                  <a:srgbClr val="82B1FF"/>
                </a:solidFill>
                <a:latin typeface="Consolas"/>
              </a:rPr>
              <a:t>$ python after.py</a:t>
            </a:r>
          </a:p>
        </p:txBody>
      </p:sp>
      <p:pic>
        <p:nvPicPr>
          <p:cNvPr id="29" name="Image 12" descr="s01-03-strategy-after.png"/>
          <p:cNvPicPr>
            <a:picLocks noChangeAspect="1"/>
          </p:cNvPicPr>
          <p:nvPr/>
        </p:nvPicPr>
        <p:blipFill>
          <a:blip r:embed="rId2"/>
          <a:stretch>
            <a:fillRect/>
          </a:stretch>
        </p:blipFill>
        <p:spPr>
          <a:xfrm>
            <a:off x="621792" y="2240280"/>
            <a:ext cx="4297680" cy="146304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Setiap aturan = satu class dengan method </a:t>
            </a:r>
            <a:r>
              <a:rPr sz="950" i="0" b="0">
                <a:solidFill>
                  <a:srgbClr val="B5482A"/>
                </a:solidFill>
                <a:latin typeface="Consolas"/>
              </a:rPr>
              <a:t>discount()</a:t>
            </a:r>
            <a:r>
              <a:rPr sz="950" i="0" b="0">
                <a:solidFill>
                  <a:srgbClr val="434343"/>
                </a:solidFill>
                <a:latin typeface="Inter"/>
              </a:rPr>
              <a:t>. </a:t>
            </a:r>
            <a:r>
              <a:rPr sz="950" i="0" b="1">
                <a:solidFill>
                  <a:srgbClr val="434343"/>
                </a:solidFill>
                <a:latin typeface="Inter"/>
              </a:rPr>
              <a:t>Ini strategy-nya</a:t>
            </a:r>
            <a:r>
              <a:rPr sz="950" i="0" b="0">
                <a:solidFill>
                  <a:srgbClr val="434343"/>
                </a:solidFill>
                <a:latin typeface="Inter"/>
              </a:rPr>
              <a:t> (baris 19-24)</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Aturan baru = class baru, kode lain tidak disentuh (baris 27-29)</a:t>
            </a:r>
          </a:p>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DISCOUNTS</a:t>
            </a:r>
            <a:r>
              <a:rPr sz="950" i="0" b="0">
                <a:solidFill>
                  <a:srgbClr val="434343"/>
                </a:solidFill>
                <a:latin typeface="Inter"/>
              </a:rPr>
              <a:t> memetakan tipe customer ke strategy (baris 32-37)</a:t>
            </a:r>
          </a:p>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calculate_total</a:t>
            </a:r>
            <a:r>
              <a:rPr sz="950" i="0" b="0">
                <a:solidFill>
                  <a:srgbClr val="434343"/>
                </a:solidFill>
                <a:latin typeface="Inter"/>
              </a:rPr>
              <a:t> tidak peduli strategy mana, cukup panggil </a:t>
            </a:r>
            <a:r>
              <a:rPr sz="950" i="0" b="0">
                <a:solidFill>
                  <a:srgbClr val="B5482A"/>
                </a:solidFill>
                <a:latin typeface="Consolas"/>
              </a:rPr>
              <a:t>discount()</a:t>
            </a:r>
            <a:r>
              <a:rPr sz="950" i="0" b="0">
                <a:solidFill>
                  <a:srgbClr val="434343"/>
                </a:solidFill>
                <a:latin typeface="Inter"/>
              </a:rPr>
              <a:t> (baris 40-41)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Cara Membaca Flow</a:t>
            </a:r>
          </a:p>
        </p:txBody>
      </p:sp>
      <p:sp>
        <p:nvSpPr>
          <p:cNvPr id="22" name="CodeTab 4"/>
          <p:cNvSpPr/>
          <p:nvPr/>
        </p:nvSpPr>
        <p:spPr>
          <a:xfrm>
            <a:off x="621792" y="1481328"/>
            <a:ext cx="48463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0624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03-strategy/after.py</a:t>
            </a:r>
          </a:p>
        </p:txBody>
      </p:sp>
      <p:sp>
        <p:nvSpPr>
          <p:cNvPr id="27" name="CodeBg 10"/>
          <p:cNvSpPr/>
          <p:nvPr/>
        </p:nvSpPr>
        <p:spPr>
          <a:xfrm>
            <a:off x="621792" y="1719072"/>
            <a:ext cx="4846320" cy="1975104"/>
          </a:xfrm>
          <a:prstGeom prst="roundRect">
            <a:avLst>
              <a:gd name="adj" fmla="val 92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46320" cy="1975104"/>
          </a:xfrm>
          <a:prstGeom prst="rect">
            <a:avLst/>
          </a:prstGeom>
          <a:noFill/>
        </p:spPr>
        <p:txBody>
          <a:bodyPr wrap="none" lIns="146304" rIns="146304" tIns="91440" bIns="54864">
            <a:spAutoFit/>
          </a:bodyPr>
          <a:lstStyle/>
          <a:p>
            <a:pPr>
              <a:lnSpc>
                <a:spcPts val="1000"/>
              </a:lnSpc>
              <a:spcAft>
                <a:spcPts val="0"/>
              </a:spcAft>
            </a:pPr>
            <a:r>
              <a:rPr sz="800" i="0">
                <a:solidFill>
                  <a:srgbClr val="7FDBCA"/>
                </a:solidFill>
                <a:latin typeface="Consolas"/>
              </a:rPr>
              <a:t>DISCOUNTS</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A5D6A7"/>
                </a:solidFill>
                <a:latin typeface="Consolas"/>
              </a:rPr>
              <a:t>"regular"</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NoDiscount</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A5D6A7"/>
                </a:solidFill>
                <a:latin typeface="Consolas"/>
              </a:rPr>
              <a:t>"member"</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PercentDiscount</a:t>
            </a:r>
            <a:r>
              <a:rPr sz="800" i="0">
                <a:solidFill>
                  <a:srgbClr val="E6EDF3"/>
                </a:solidFill>
                <a:latin typeface="Consolas"/>
              </a:rPr>
              <a:t>(</a:t>
            </a:r>
            <a:r>
              <a:rPr sz="800" i="0">
                <a:solidFill>
                  <a:srgbClr val="F9C97A"/>
                </a:solidFill>
                <a:latin typeface="Consolas"/>
              </a:rPr>
              <a:t>5</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A5D6A7"/>
                </a:solidFill>
                <a:latin typeface="Consolas"/>
              </a:rPr>
              <a:t>"vip"</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PercentDiscount</a:t>
            </a:r>
            <a:r>
              <a:rPr sz="800" i="0">
                <a:solidFill>
                  <a:srgbClr val="E6EDF3"/>
                </a:solidFill>
                <a:latin typeface="Consolas"/>
              </a:rPr>
              <a:t>(</a:t>
            </a:r>
            <a:r>
              <a:rPr sz="800" i="0">
                <a:solidFill>
                  <a:srgbClr val="F9C97A"/>
                </a:solidFill>
                <a:latin typeface="Consolas"/>
              </a:rPr>
              <a:t>10</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A5D6A7"/>
                </a:solidFill>
                <a:latin typeface="Consolas"/>
              </a:rPr>
              <a:t>"student"</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StudentDiscount</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calculate_total</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int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strategy</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DiscountStrategy</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&gt;</a:t>
            </a:r>
            <a:r>
              <a:rPr sz="800" i="0">
                <a:solidFill>
                  <a:srgbClr val="E6EDF3"/>
                </a:solidFill>
                <a:latin typeface="Consolas"/>
              </a:rPr>
              <a:t> </a:t>
            </a:r>
            <a:r>
              <a:rPr sz="800" i="0">
                <a:solidFill>
                  <a:srgbClr val="C3A6FF"/>
                </a:solidFill>
                <a:latin typeface="Consolas"/>
              </a:rPr>
              <a:t>int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strategy</a:t>
            </a:r>
            <a:r>
              <a:rPr sz="800" i="0">
                <a:solidFill>
                  <a:srgbClr val="E6EDF3"/>
                </a:solidFill>
                <a:latin typeface="Consolas"/>
              </a:rPr>
              <a:t>.</a:t>
            </a:r>
            <a:r>
              <a:rPr sz="800" i="0">
                <a:solidFill>
                  <a:srgbClr val="E6EDF3"/>
                </a:solidFill>
                <a:latin typeface="Consolas"/>
              </a:rPr>
              <a:t>discount</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__name__</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"__main__"</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for</a:t>
            </a:r>
            <a:r>
              <a:rPr sz="800" i="0">
                <a:solidFill>
                  <a:srgbClr val="E6EDF3"/>
                </a:solidFill>
                <a:latin typeface="Consolas"/>
              </a:rPr>
              <a:t> </a:t>
            </a:r>
            <a:r>
              <a:rPr sz="800" i="0">
                <a:solidFill>
                  <a:srgbClr val="E6EDF3"/>
                </a:solidFill>
                <a:latin typeface="Consolas"/>
              </a:rPr>
              <a:t>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strategy</a:t>
            </a:r>
            <a:r>
              <a:rPr sz="800" i="0">
                <a:solidFill>
                  <a:srgbClr val="E6EDF3"/>
                </a:solidFill>
                <a:latin typeface="Consolas"/>
              </a:rPr>
              <a:t> </a:t>
            </a:r>
            <a:r>
              <a:rPr sz="800" i="0">
                <a:solidFill>
                  <a:srgbClr val="FF8E6E"/>
                </a:solidFill>
                <a:latin typeface="Consolas"/>
              </a:rPr>
              <a:t>in</a:t>
            </a:r>
            <a:r>
              <a:rPr sz="800" i="0">
                <a:solidFill>
                  <a:srgbClr val="E6EDF3"/>
                </a:solidFill>
                <a:latin typeface="Consolas"/>
              </a:rPr>
              <a:t> </a:t>
            </a:r>
            <a:r>
              <a:rPr sz="800" i="0">
                <a:solidFill>
                  <a:srgbClr val="7FDBCA"/>
                </a:solidFill>
                <a:latin typeface="Consolas"/>
              </a:rPr>
              <a:t>DISCOUNTS</a:t>
            </a:r>
            <a:r>
              <a:rPr sz="800" i="0">
                <a:solidFill>
                  <a:srgbClr val="E6EDF3"/>
                </a:solidFill>
                <a:latin typeface="Consolas"/>
              </a:rPr>
              <a:t>.</a:t>
            </a:r>
            <a:r>
              <a:rPr sz="800" i="0">
                <a:solidFill>
                  <a:srgbClr val="E6EDF3"/>
                </a:solidFill>
                <a:latin typeface="Consolas"/>
              </a:rPr>
              <a:t>items</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E6EDF3"/>
                </a:solidFill>
                <a:latin typeface="Consolas"/>
              </a:rPr>
              <a:t>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calculate_total</a:t>
            </a:r>
            <a:r>
              <a:rPr sz="800" i="0">
                <a:solidFill>
                  <a:srgbClr val="E6EDF3"/>
                </a:solidFill>
                <a:latin typeface="Consolas"/>
              </a:rPr>
              <a:t>(</a:t>
            </a:r>
            <a:r>
              <a:rPr sz="800" i="0">
                <a:solidFill>
                  <a:srgbClr val="F9C97A"/>
                </a:solidFill>
                <a:latin typeface="Consolas"/>
              </a:rPr>
              <a:t>1_000_000</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strategy</a:t>
            </a:r>
            <a:r>
              <a:rPr sz="800" i="0">
                <a:solidFill>
                  <a:srgbClr val="E6EDF3"/>
                </a:solidFill>
                <a:latin typeface="Consolas"/>
              </a:rPr>
              <a:t>)</a:t>
            </a:r>
            <a:r>
              <a:rPr sz="800" i="0">
                <a:solidFill>
                  <a:srgbClr val="E6EDF3"/>
                </a:solidFill>
                <a:latin typeface="Consolas"/>
              </a:rPr>
              <a:t>)</a:t>
            </a:r>
          </a:p>
        </p:txBody>
      </p:sp>
      <p:sp>
        <p:nvSpPr>
          <p:cNvPr id="29" name="Box 12"/>
          <p:cNvSpPr/>
          <p:nvPr/>
        </p:nvSpPr>
        <p:spPr>
          <a:xfrm>
            <a:off x="704088" y="2208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26694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351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266944" y="329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2843022"/>
            <a:ext cx="46817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266944" y="2783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5" name="CodeBg 19"/>
          <p:cNvSpPr/>
          <p:nvPr/>
        </p:nvSpPr>
        <p:spPr>
          <a:xfrm>
            <a:off x="621792" y="3785615"/>
            <a:ext cx="4846320" cy="914400"/>
          </a:xfrm>
          <a:prstGeom prst="roundRect">
            <a:avLst>
              <a:gd name="adj" fmla="val 8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Code 20"/>
          <p:cNvSpPr txBox="1"/>
          <p:nvPr/>
        </p:nvSpPr>
        <p:spPr>
          <a:xfrm>
            <a:off x="621792" y="3785615"/>
            <a:ext cx="4846320" cy="914400"/>
          </a:xfrm>
          <a:prstGeom prst="rect">
            <a:avLst/>
          </a:prstGeom>
          <a:noFill/>
        </p:spPr>
        <p:txBody>
          <a:bodyPr wrap="none" lIns="146304" rIns="146304" tIns="91440" bIns="54864">
            <a:spAutoFit/>
          </a:bodyPr>
          <a:lstStyle/>
          <a:p>
            <a:pPr>
              <a:lnSpc>
                <a:spcPts val="1000"/>
              </a:lnSpc>
              <a:spcAft>
                <a:spcPts val="0"/>
              </a:spcAft>
            </a:pPr>
            <a:r>
              <a:rPr sz="800" i="0">
                <a:solidFill>
                  <a:srgbClr val="E6EDF3"/>
                </a:solidFill>
                <a:latin typeface="Consolas"/>
              </a:rPr>
              <a:t>$ python after.py</a:t>
            </a:r>
          </a:p>
          <a:p>
            <a:pPr>
              <a:lnSpc>
                <a:spcPts val="1000"/>
              </a:lnSpc>
              <a:spcAft>
                <a:spcPts val="0"/>
              </a:spcAft>
            </a:pPr>
            <a:r>
              <a:rPr sz="800" i="0">
                <a:solidFill>
                  <a:srgbClr val="E6EDF3"/>
                </a:solidFill>
                <a:latin typeface="Consolas"/>
              </a:rPr>
              <a:t>regular 1000000</a:t>
            </a:r>
          </a:p>
          <a:p>
            <a:pPr>
              <a:lnSpc>
                <a:spcPts val="1000"/>
              </a:lnSpc>
              <a:spcAft>
                <a:spcPts val="0"/>
              </a:spcAft>
            </a:pPr>
            <a:r>
              <a:rPr sz="800" i="0">
                <a:solidFill>
                  <a:srgbClr val="E6EDF3"/>
                </a:solidFill>
                <a:latin typeface="Consolas"/>
              </a:rPr>
              <a:t>member 950000</a:t>
            </a:r>
          </a:p>
          <a:p>
            <a:pPr>
              <a:lnSpc>
                <a:spcPts val="1000"/>
              </a:lnSpc>
              <a:spcAft>
                <a:spcPts val="0"/>
              </a:spcAft>
            </a:pPr>
            <a:r>
              <a:rPr sz="800" i="0">
                <a:solidFill>
                  <a:srgbClr val="E6EDF3"/>
                </a:solidFill>
                <a:latin typeface="Consolas"/>
              </a:rPr>
              <a:t>vip 900000</a:t>
            </a:r>
          </a:p>
          <a:p>
            <a:pPr>
              <a:lnSpc>
                <a:spcPts val="1000"/>
              </a:lnSpc>
              <a:spcAft>
                <a:spcPts val="0"/>
              </a:spcAft>
            </a:pPr>
            <a:r>
              <a:rPr sz="800" i="0">
                <a:solidFill>
                  <a:srgbClr val="E6EDF3"/>
                </a:solidFill>
                <a:latin typeface="Consolas"/>
              </a:rPr>
              <a:t>student 925000</a:t>
            </a:r>
          </a:p>
        </p:txBody>
      </p:sp>
      <p:sp>
        <p:nvSpPr>
          <p:cNvPr id="37" name="Box 21"/>
          <p:cNvSpPr/>
          <p:nvPr/>
        </p:nvSpPr>
        <p:spPr>
          <a:xfrm>
            <a:off x="56509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1</a:t>
            </a:r>
          </a:p>
        </p:txBody>
      </p:sp>
      <p:sp>
        <p:nvSpPr>
          <p:cNvPr id="38" name="Text 22"/>
          <p:cNvSpPr txBox="1"/>
          <p:nvPr/>
        </p:nvSpPr>
        <p:spPr>
          <a:xfrm>
            <a:off x="5980176" y="1463040"/>
            <a:ext cx="2505456" cy="804672"/>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Ambil strategy untuk </a:t>
            </a:r>
            <a:r>
              <a:rPr sz="850" i="0" b="0">
                <a:solidFill>
                  <a:srgbClr val="B5482A"/>
                </a:solidFill>
                <a:latin typeface="Consolas"/>
              </a:rPr>
              <a:t>"vip"</a:t>
            </a:r>
            <a:r>
              <a:rPr sz="850" i="0" b="0">
                <a:solidFill>
                  <a:srgbClr val="434343"/>
                </a:solidFill>
                <a:latin typeface="Inter"/>
              </a:rPr>
              <a:t> dari </a:t>
            </a:r>
            <a:r>
              <a:rPr sz="850" i="0" b="0">
                <a:solidFill>
                  <a:srgbClr val="B5482A"/>
                </a:solidFill>
                <a:latin typeface="Consolas"/>
              </a:rPr>
              <a:t>DISCOUNTS</a:t>
            </a:r>
            <a:r>
              <a:rPr sz="850" i="0" b="0">
                <a:solidFill>
                  <a:srgbClr val="434343"/>
                </a:solidFill>
                <a:latin typeface="Inter"/>
              </a:rPr>
              <a:t>: object </a:t>
            </a:r>
            <a:r>
              <a:rPr sz="850" i="0" b="0">
                <a:solidFill>
                  <a:srgbClr val="B5482A"/>
                </a:solidFill>
                <a:latin typeface="Consolas"/>
              </a:rPr>
              <a:t>PercentDiscount(10)</a:t>
            </a:r>
          </a:p>
        </p:txBody>
      </p:sp>
      <p:sp>
        <p:nvSpPr>
          <p:cNvPr id="39" name="Box 23"/>
          <p:cNvSpPr/>
          <p:nvPr/>
        </p:nvSpPr>
        <p:spPr>
          <a:xfrm>
            <a:off x="5650992" y="230428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2</a:t>
            </a:r>
          </a:p>
        </p:txBody>
      </p:sp>
      <p:sp>
        <p:nvSpPr>
          <p:cNvPr id="40" name="Text 24"/>
          <p:cNvSpPr txBox="1"/>
          <p:nvPr/>
        </p:nvSpPr>
        <p:spPr>
          <a:xfrm>
            <a:off x="5980176" y="2267712"/>
            <a:ext cx="2505456" cy="804672"/>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Strategy diberikan ke </a:t>
            </a:r>
            <a:r>
              <a:rPr sz="850" i="0" b="0">
                <a:solidFill>
                  <a:srgbClr val="B5482A"/>
                </a:solidFill>
                <a:latin typeface="Consolas"/>
              </a:rPr>
              <a:t>calculate_total</a:t>
            </a:r>
            <a:r>
              <a:rPr sz="850" i="0" b="0">
                <a:solidFill>
                  <a:srgbClr val="434343"/>
                </a:solidFill>
                <a:latin typeface="Inter"/>
              </a:rPr>
              <a:t> sebagai argumen</a:t>
            </a:r>
          </a:p>
        </p:txBody>
      </p:sp>
      <p:sp>
        <p:nvSpPr>
          <p:cNvPr id="41" name="Box 25"/>
          <p:cNvSpPr/>
          <p:nvPr/>
        </p:nvSpPr>
        <p:spPr>
          <a:xfrm>
            <a:off x="5650992" y="3108960"/>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3</a:t>
            </a:r>
          </a:p>
        </p:txBody>
      </p:sp>
      <p:sp>
        <p:nvSpPr>
          <p:cNvPr id="42" name="Text 26"/>
          <p:cNvSpPr txBox="1"/>
          <p:nvPr/>
        </p:nvSpPr>
        <p:spPr>
          <a:xfrm>
            <a:off x="5980176" y="3072384"/>
            <a:ext cx="2505456" cy="804672"/>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strategy.discount(1_000_000)</a:t>
            </a:r>
            <a:r>
              <a:rPr sz="850" i="0" b="0">
                <a:solidFill>
                  <a:srgbClr val="434343"/>
                </a:solidFill>
                <a:latin typeface="Inter"/>
              </a:rPr>
              <a:t> menjalankan method milik </a:t>
            </a:r>
            <a:r>
              <a:rPr sz="850" i="0" b="0">
                <a:solidFill>
                  <a:srgbClr val="B5482A"/>
                </a:solidFill>
                <a:latin typeface="Consolas"/>
              </a:rPr>
              <a:t>PercentDiscount</a:t>
            </a:r>
            <a:r>
              <a:rPr sz="850" i="0" b="0">
                <a:solidFill>
                  <a:srgbClr val="434343"/>
                </a:solidFill>
                <a:latin typeface="Inter"/>
              </a:rPr>
              <a:t>: hasilnya 100.000</a:t>
            </a:r>
          </a:p>
        </p:txBody>
      </p:sp>
      <p:sp>
        <p:nvSpPr>
          <p:cNvPr id="43" name="Box 27"/>
          <p:cNvSpPr/>
          <p:nvPr/>
        </p:nvSpPr>
        <p:spPr>
          <a:xfrm>
            <a:off x="5650992" y="391363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4</a:t>
            </a:r>
          </a:p>
        </p:txBody>
      </p:sp>
      <p:sp>
        <p:nvSpPr>
          <p:cNvPr id="44" name="Text 28"/>
          <p:cNvSpPr txBox="1"/>
          <p:nvPr/>
        </p:nvSpPr>
        <p:spPr>
          <a:xfrm>
            <a:off x="5980176" y="3877056"/>
            <a:ext cx="2505456" cy="804672"/>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Total = 1.000.000 - 100.000 = </a:t>
            </a:r>
            <a:r>
              <a:rPr sz="850" i="0" b="1">
                <a:solidFill>
                  <a:srgbClr val="434343"/>
                </a:solidFill>
                <a:latin typeface="Inter"/>
              </a:rPr>
              <a:t>900.000</a:t>
            </a:r>
            <a:r>
              <a:rPr sz="850" i="0" b="0">
                <a:solidFill>
                  <a:srgbClr val="434343"/>
                </a:solidFill>
                <a:latin typeface="Inter"/>
              </a:rPr>
              <a:t>. </a:t>
            </a:r>
            <a:r>
              <a:rPr sz="850" i="0" b="0">
                <a:solidFill>
                  <a:srgbClr val="B5482A"/>
                </a:solidFill>
                <a:latin typeface="Consolas"/>
              </a:rPr>
              <a:t>calculate_total</a:t>
            </a:r>
            <a:r>
              <a:rPr sz="850" i="0" b="0">
                <a:solidFill>
                  <a:srgbClr val="434343"/>
                </a:solidFill>
                <a:latin typeface="Inter"/>
              </a:rPr>
              <a:t> tidak tahu aturan mana yang dipakai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Strategy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Strategy dan Factory: Apa Bedanya?</a:t>
            </a:r>
          </a:p>
        </p:txBody>
      </p:sp>
      <p:graphicFrame>
        <p:nvGraphicFramePr>
          <p:cNvPr id="22" name="Table 3"/>
          <p:cNvGraphicFramePr>
            <a:graphicFrameLocks noGrp="1"/>
          </p:cNvGraphicFramePr>
          <p:nvPr/>
        </p:nvGraphicFramePr>
        <p:xfrm>
          <a:off x="621792" y="1481328"/>
          <a:ext cx="7863840" cy="2286000"/>
        </p:xfrm>
        <a:graphic>
          <a:graphicData uri="http://schemas.openxmlformats.org/drawingml/2006/table">
            <a:tbl>
              <a:tblPr firstRow="1" bandRow="1"/>
              <a:tblGrid>
                <a:gridCol w="2011680"/>
                <a:gridCol w="2926080"/>
                <a:gridCol w="2926080"/>
              </a:tblGrid>
              <a:tr h="457200">
                <a:tc>
                  <a:txBody>
                    <a:bodyPr wrap="square"/>
                    <a:lstStyle/>
                    <a:p>
                      <a:pPr algn="l">
                        <a:lnSpc>
                          <a:spcPct val="100000"/>
                        </a:lnSpc>
                        <a:spcAft>
                          <a:spcPts val="0"/>
                        </a:spcAft>
                      </a:pPr>
                      <a:r>
                        <a:rPr sz="540"/>
                        <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Factory</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Strategy</a:t>
                      </a:r>
                    </a:p>
                  </a:txBody>
                  <a:tcPr marL="73152" marR="73152" marT="36576" marB="36576" anchor="ctr">
                    <a:solidFill>
                      <a:srgbClr val="1C4587"/>
                    </a:solidFill>
                  </a:tcPr>
                </a:tc>
              </a:tr>
              <a:tr h="457200">
                <a:tc>
                  <a:txBody>
                    <a:bodyPr wrap="square"/>
                    <a:lstStyle/>
                    <a:p>
                      <a:pPr algn="l">
                        <a:lnSpc>
                          <a:spcPct val="100000"/>
                        </a:lnSpc>
                        <a:spcAft>
                          <a:spcPts val="0"/>
                        </a:spcAft>
                      </a:pPr>
                      <a:r>
                        <a:rPr sz="900" i="0" b="1">
                          <a:solidFill>
                            <a:srgbClr val="1C4587"/>
                          </a:solidFill>
                          <a:latin typeface="Inter"/>
                        </a:rPr>
                        <a:t>Kategori</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Creational: cara membuat object</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Behavioral: cara object berperilaku</a:t>
                      </a:r>
                    </a:p>
                  </a:txBody>
                  <a:tcPr marL="73152" marR="73152" marT="36576" marB="36576" anchor="ctr">
                    <a:solidFill>
                      <a:srgbClr val="FFFFFF"/>
                    </a:solidFill>
                  </a:tcPr>
                </a:tc>
              </a:tr>
              <a:tr h="457200">
                <a:tc>
                  <a:txBody>
                    <a:bodyPr wrap="square"/>
                    <a:lstStyle/>
                    <a:p>
                      <a:pPr algn="l">
                        <a:lnSpc>
                          <a:spcPct val="100000"/>
                        </a:lnSpc>
                        <a:spcAft>
                          <a:spcPts val="0"/>
                        </a:spcAft>
                      </a:pPr>
                      <a:r>
                        <a:rPr sz="900" i="0" b="1">
                          <a:solidFill>
                            <a:srgbClr val="1C4587"/>
                          </a:solidFill>
                          <a:latin typeface="Inter"/>
                        </a:rPr>
                        <a:t>Pertanyaan yang dijawab</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Object mana yang dibuat?</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Aturan mana yang dipakai untuk menghitung?</a:t>
                      </a:r>
                    </a:p>
                  </a:txBody>
                  <a:tcPr marL="73152" marR="73152" marT="36576" marB="36576" anchor="ctr">
                    <a:solidFill>
                      <a:srgbClr val="F3F4F6"/>
                    </a:solidFill>
                  </a:tcPr>
                </a:tc>
              </a:tr>
              <a:tr h="457200">
                <a:tc>
                  <a:txBody>
                    <a:bodyPr wrap="square"/>
                    <a:lstStyle/>
                    <a:p>
                      <a:pPr algn="l">
                        <a:lnSpc>
                          <a:spcPct val="100000"/>
                        </a:lnSpc>
                        <a:spcAft>
                          <a:spcPts val="0"/>
                        </a:spcAft>
                      </a:pPr>
                      <a:r>
                        <a:rPr sz="900" i="0" b="1">
                          <a:solidFill>
                            <a:srgbClr val="1C4587"/>
                          </a:solidFill>
                          <a:latin typeface="Inter"/>
                        </a:rPr>
                        <a:t>Contoh di sesi ini</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B5482A"/>
                          </a:solidFill>
                          <a:latin typeface="Consolas"/>
                        </a:rPr>
                        <a:t>create_notifier("email")</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B5482A"/>
                          </a:solidFill>
                          <a:latin typeface="Consolas"/>
                        </a:rPr>
                        <a:t>PercentDiscount(10).discount(subtotal)</a:t>
                      </a:r>
                    </a:p>
                  </a:txBody>
                  <a:tcPr marL="73152" marR="73152" marT="36576" marB="36576" anchor="ctr">
                    <a:solidFill>
                      <a:srgbClr val="FFFFFF"/>
                    </a:solidFill>
                  </a:tcPr>
                </a:tc>
              </a:tr>
              <a:tr h="457200">
                <a:tc>
                  <a:txBody>
                    <a:bodyPr wrap="square"/>
                    <a:lstStyle/>
                    <a:p>
                      <a:pPr algn="l">
                        <a:lnSpc>
                          <a:spcPct val="100000"/>
                        </a:lnSpc>
                        <a:spcAft>
                          <a:spcPts val="0"/>
                        </a:spcAft>
                      </a:pPr>
                      <a:r>
                        <a:rPr sz="900" i="0" b="1">
                          <a:solidFill>
                            <a:srgbClr val="1C4587"/>
                          </a:solidFill>
                          <a:latin typeface="Inter"/>
                        </a:rPr>
                        <a:t>Yang bisa ditambah</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Jenis object baru (WhatsApp)</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Aturan baru (StudentDiscount)</a:t>
                      </a:r>
                    </a:p>
                  </a:txBody>
                  <a:tcPr marL="73152" marR="73152" marT="36576" marB="36576" anchor="ctr">
                    <a:solidFill>
                      <a:srgbClr val="F3F4F6"/>
                    </a:solidFill>
                  </a:tcPr>
                </a:tc>
              </a:tr>
            </a:tbl>
          </a:graphicData>
        </a:graphic>
      </p:graphicFrame>
      <p:sp>
        <p:nvSpPr>
          <p:cNvPr id="23" name="Text 4"/>
          <p:cNvSpPr txBox="1"/>
          <p:nvPr/>
        </p:nvSpPr>
        <p:spPr>
          <a:xfrm>
            <a:off x="621792" y="3931920"/>
            <a:ext cx="7863840" cy="73152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Keduanya sering dipakai bersama. Di hands-on, </a:t>
            </a:r>
            <a:r>
              <a:rPr sz="1000" i="0" b="0">
                <a:solidFill>
                  <a:srgbClr val="B5482A"/>
                </a:solidFill>
                <a:latin typeface="Consolas"/>
              </a:rPr>
              <a:t>get_discount("vip")</a:t>
            </a:r>
            <a:r>
              <a:rPr sz="1000" i="0" b="0">
                <a:solidFill>
                  <a:srgbClr val="434343"/>
                </a:solidFill>
                <a:latin typeface="Inter"/>
              </a:rPr>
              <a:t> memilih strategy dari dict (bagian Factory), lalu </a:t>
            </a:r>
            <a:r>
              <a:rPr sz="1000" i="0" b="0">
                <a:solidFill>
                  <a:srgbClr val="B5482A"/>
                </a:solidFill>
                <a:latin typeface="Consolas"/>
              </a:rPr>
              <a:t>.discount(subtotal)</a:t>
            </a:r>
            <a:r>
              <a:rPr sz="1000" i="0" b="0">
                <a:solidFill>
                  <a:srgbClr val="434343"/>
                </a:solidFill>
                <a:latin typeface="Inter"/>
              </a:rPr>
              <a:t> menghitung diskonnya (bagian Strategy).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Apa Itu Repository?</a:t>
            </a:r>
          </a:p>
        </p:txBody>
      </p:sp>
      <p:sp>
        <p:nvSpPr>
          <p:cNvPr id="22" name="Text 3"/>
          <p:cNvSpPr txBox="1"/>
          <p:nvPr/>
        </p:nvSpPr>
        <p:spPr>
          <a:xfrm>
            <a:off x="621792" y="1481328"/>
            <a:ext cx="3291840" cy="3291840"/>
          </a:xfrm>
          <a:prstGeom prst="rect">
            <a:avLst/>
          </a:prstGeom>
          <a:noFill/>
        </p:spPr>
        <p:txBody>
          <a:bodyPr wrap="square" anchor="t" lIns="45720" rIns="45720">
            <a:spAutoFit/>
          </a:bodyPr>
          <a:lstStyle/>
          <a:p>
            <a:pPr algn="l">
              <a:lnSpc>
                <a:spcPct val="115000"/>
              </a:lnSpc>
              <a:spcAft>
                <a:spcPts val="400"/>
              </a:spcAft>
            </a:pPr>
            <a:r>
              <a:rPr sz="1000" i="0" b="1">
                <a:solidFill>
                  <a:srgbClr val="1C4587"/>
                </a:solidFill>
                <a:latin typeface="Inter"/>
              </a:rPr>
              <a:t>Tanpa Repository</a:t>
            </a:r>
          </a:p>
          <a:p>
            <a:pPr algn="l">
              <a:lnSpc>
                <a:spcPct val="115000"/>
              </a:lnSpc>
              <a:spcAft>
                <a:spcPts val="400"/>
              </a:spcAft>
            </a:pPr>
            <a:r>
              <a:rPr sz="900" i="0" b="0">
                <a:solidFill>
                  <a:srgbClr val="434343"/>
                </a:solidFill>
                <a:latin typeface="Inter"/>
              </a:rPr>
              <a:t>Function langsung menulis SQL: menghitung total, lalu </a:t>
            </a:r>
            <a:r>
              <a:rPr sz="900" i="0" b="0">
                <a:solidFill>
                  <a:srgbClr val="B5482A"/>
                </a:solidFill>
                <a:latin typeface="Consolas"/>
              </a:rPr>
              <a:t>INSERT</a:t>
            </a:r>
            <a:r>
              <a:rPr sz="900" i="0" b="0">
                <a:solidFill>
                  <a:srgbClr val="434343"/>
                </a:solidFill>
                <a:latin typeface="Inter"/>
              </a:rPr>
              <a:t> ke SQLite di function yang sama.</a:t>
            </a:r>
          </a:p>
          <a:p>
            <a:pPr algn="l">
              <a:lnSpc>
                <a:spcPct val="115000"/>
              </a:lnSpc>
              <a:spcAft>
                <a:spcPts val="400"/>
              </a:spcAft>
            </a:pPr>
            <a:r>
              <a:rPr sz="1000" i="0" b="1">
                <a:solidFill>
                  <a:srgbClr val="1C4587"/>
                </a:solidFill>
                <a:latin typeface="Inter"/>
              </a:rPr>
              <a:t>Kalau function-nya makin banyak</a:t>
            </a:r>
          </a:p>
          <a:p>
            <a:pPr algn="l">
              <a:lnSpc>
                <a:spcPct val="115000"/>
              </a:lnSpc>
              <a:spcAft>
                <a:spcPts val="400"/>
              </a:spcAft>
            </a:pPr>
            <a:r>
              <a:rPr sz="900" i="0" b="0">
                <a:solidFill>
                  <a:srgbClr val="434343"/>
                </a:solidFill>
                <a:latin typeface="Inter"/>
              </a:rPr>
              <a:t>SQL tersebar di banyak function. Mau mengetes perhitungan total saja tetap butuh database, dan pindah ke PostgreSQL berarti membongkar semua function itu.</a:t>
            </a:r>
          </a:p>
          <a:p>
            <a:pPr algn="l">
              <a:lnSpc>
                <a:spcPct val="115000"/>
              </a:lnSpc>
              <a:spcAft>
                <a:spcPts val="400"/>
              </a:spcAft>
            </a:pPr>
            <a:r>
              <a:rPr sz="1000" i="0" b="1">
                <a:solidFill>
                  <a:srgbClr val="1C4587"/>
                </a:solidFill>
                <a:latin typeface="Inter"/>
              </a:rPr>
              <a:t>Repository adalah</a:t>
            </a:r>
          </a:p>
          <a:p>
            <a:pPr algn="l">
              <a:lnSpc>
                <a:spcPct val="115000"/>
              </a:lnSpc>
              <a:spcAft>
                <a:spcPts val="400"/>
              </a:spcAft>
            </a:pPr>
            <a:r>
              <a:rPr sz="900" i="0" b="0">
                <a:solidFill>
                  <a:srgbClr val="434343"/>
                </a:solidFill>
                <a:latin typeface="Inter"/>
              </a:rPr>
              <a:t>Pola yang membungkus </a:t>
            </a:r>
            <a:r>
              <a:rPr sz="900" i="0" b="1">
                <a:solidFill>
                  <a:srgbClr val="434343"/>
                </a:solidFill>
                <a:latin typeface="Inter"/>
              </a:rPr>
              <a:t>semua akses data</a:t>
            </a:r>
            <a:r>
              <a:rPr sz="900" i="0" b="0">
                <a:solidFill>
                  <a:srgbClr val="434343"/>
                </a:solidFill>
                <a:latin typeface="Inter"/>
              </a:rPr>
              <a:t> (query, insert, update) di satu class. Kode lain cukup memanggil </a:t>
            </a:r>
            <a:r>
              <a:rPr sz="900" i="0" b="0">
                <a:solidFill>
                  <a:srgbClr val="B5482A"/>
                </a:solidFill>
                <a:latin typeface="Consolas"/>
              </a:rPr>
              <a:t>repo.add()</a:t>
            </a:r>
            <a:r>
              <a:rPr sz="900" i="0" b="0">
                <a:solidFill>
                  <a:srgbClr val="434343"/>
                </a:solidFill>
                <a:latin typeface="Inter"/>
              </a:rPr>
              <a:t> atau </a:t>
            </a:r>
            <a:r>
              <a:rPr sz="900" i="0" b="0">
                <a:solidFill>
                  <a:srgbClr val="B5482A"/>
                </a:solidFill>
                <a:latin typeface="Consolas"/>
              </a:rPr>
              <a:t>repo.get()</a:t>
            </a:r>
            <a:r>
              <a:rPr sz="900" i="0" b="0">
                <a:solidFill>
                  <a:srgbClr val="434343"/>
                </a:solidFill>
                <a:latin typeface="Inter"/>
              </a:rPr>
              <a:t> tanpa tahu datanya disimpan di mana.</a:t>
            </a:r>
          </a:p>
          <a:p>
            <a:pPr algn="l">
              <a:lnSpc>
                <a:spcPct val="115000"/>
              </a:lnSpc>
              <a:spcAft>
                <a:spcPts val="400"/>
              </a:spcAft>
            </a:pPr>
            <a:r>
              <a:rPr sz="1000" i="0" b="1">
                <a:solidFill>
                  <a:srgbClr val="1C4587"/>
                </a:solidFill>
                <a:latin typeface="Inter"/>
              </a:rPr>
              <a:t>Untuk apa</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Business logic tidak tercampur SQL</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Database bisa diganti versi in-memory saat test</a:t>
            </a:r>
          </a:p>
        </p:txBody>
      </p:sp>
      <p:sp>
        <p:nvSpPr>
          <p:cNvPr id="23" name="CodeTab 5"/>
          <p:cNvSpPr/>
          <p:nvPr/>
        </p:nvSpPr>
        <p:spPr>
          <a:xfrm>
            <a:off x="4069080" y="1481328"/>
            <a:ext cx="44165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1788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43159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44531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4617720" y="1490472"/>
            <a:ext cx="37764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tanpa repository: 04-repository/before.py</a:t>
            </a:r>
          </a:p>
        </p:txBody>
      </p:sp>
      <p:sp>
        <p:nvSpPr>
          <p:cNvPr id="28" name="CodeBg 11"/>
          <p:cNvSpPr/>
          <p:nvPr/>
        </p:nvSpPr>
        <p:spPr>
          <a:xfrm>
            <a:off x="4069080" y="1719072"/>
            <a:ext cx="4416551" cy="1581912"/>
          </a:xfrm>
          <a:prstGeom prst="roundRect">
            <a:avLst>
              <a:gd name="adj" fmla="val 115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069080" y="1719072"/>
            <a:ext cx="4416551" cy="1581912"/>
          </a:xfrm>
          <a:prstGeom prst="rect">
            <a:avLst/>
          </a:prstGeom>
          <a:noFill/>
        </p:spPr>
        <p:txBody>
          <a:bodyPr wrap="none" lIns="146304" rIns="146304" tIns="91440" bIns="54864">
            <a:spAutoFit/>
          </a:bodyPr>
          <a:lstStyle/>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place_order</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5</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100</a:t>
            </a:r>
            <a:r>
              <a:rPr sz="850" i="0">
                <a:solidFill>
                  <a:srgbClr val="E6EDF3"/>
                </a:solidFill>
                <a:latin typeface="Consolas"/>
              </a:rPr>
              <a:t>  </a:t>
            </a:r>
            <a:r>
              <a:rPr sz="850" i="1">
                <a:solidFill>
                  <a:srgbClr val="8B98A8"/>
                </a:solidFill>
                <a:latin typeface="Consolas"/>
              </a:rPr>
              <a:t># business logic</a:t>
            </a:r>
          </a:p>
          <a:p>
            <a:pPr>
              <a:lnSpc>
                <a:spcPts val="1100"/>
              </a:lnSpc>
              <a:spcAft>
                <a:spcPts val="0"/>
              </a:spcAft>
            </a:pP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persistence</a:t>
            </a:r>
          </a:p>
          <a:p>
            <a:pPr>
              <a:lnSpc>
                <a:spcPts val="1100"/>
              </a:lnSpc>
              <a:spcAft>
                <a:spcPts val="0"/>
              </a:spcAft>
            </a:pPr>
            <a:r>
              <a:rPr sz="850" i="0">
                <a:solidFill>
                  <a:srgbClr val="E6EDF3"/>
                </a:solidFill>
                <a:latin typeface="Consolas"/>
              </a:rPr>
              <a:t>        </a:t>
            </a:r>
            <a:r>
              <a:rPr sz="850" i="0">
                <a:solidFill>
                  <a:srgbClr val="A5D6A7"/>
                </a:solidFill>
                <a:latin typeface="Consolas"/>
              </a:rPr>
              <a:t>"INSERT INTO orders (customer, total) VALUES (?, ?)"</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commit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a:t>
            </a:r>
            <a:r>
              <a:rPr sz="850" i="0">
                <a:solidFill>
                  <a:srgbClr val="E6EDF3"/>
                </a:solidFill>
                <a:latin typeface="Consolas"/>
              </a:rPr>
              <a:t>lastrowid</a:t>
            </a:r>
          </a:p>
        </p:txBody>
      </p:sp>
      <p:sp>
        <p:nvSpPr>
          <p:cNvPr id="30" name="Box 13"/>
          <p:cNvSpPr/>
          <p:nvPr/>
        </p:nvSpPr>
        <p:spPr>
          <a:xfrm>
            <a:off x="4151376" y="2108073"/>
            <a:ext cx="4251959" cy="690118"/>
          </a:xfrm>
          <a:prstGeom prst="roundRect">
            <a:avLst>
              <a:gd name="adj" fmla="val 662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CodeTab 15"/>
          <p:cNvSpPr/>
          <p:nvPr/>
        </p:nvSpPr>
        <p:spPr>
          <a:xfrm>
            <a:off x="4069080" y="3392424"/>
            <a:ext cx="44165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Dot 16"/>
          <p:cNvSpPr/>
          <p:nvPr/>
        </p:nvSpPr>
        <p:spPr>
          <a:xfrm>
            <a:off x="4178808" y="3470148"/>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t 17"/>
          <p:cNvSpPr/>
          <p:nvPr/>
        </p:nvSpPr>
        <p:spPr>
          <a:xfrm>
            <a:off x="4315968" y="3470148"/>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t 18"/>
          <p:cNvSpPr/>
          <p:nvPr/>
        </p:nvSpPr>
        <p:spPr>
          <a:xfrm>
            <a:off x="4453128" y="3470148"/>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 19"/>
          <p:cNvSpPr txBox="1"/>
          <p:nvPr/>
        </p:nvSpPr>
        <p:spPr>
          <a:xfrm>
            <a:off x="4617720" y="3401568"/>
            <a:ext cx="37764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dengan repository: 04-repository/after.py</a:t>
            </a:r>
          </a:p>
        </p:txBody>
      </p:sp>
      <p:sp>
        <p:nvSpPr>
          <p:cNvPr id="36" name="CodeBg 21"/>
          <p:cNvSpPr/>
          <p:nvPr/>
        </p:nvSpPr>
        <p:spPr>
          <a:xfrm>
            <a:off x="4069080" y="3630168"/>
            <a:ext cx="4416551" cy="566927"/>
          </a:xfrm>
          <a:prstGeom prst="roundRect">
            <a:avLst>
              <a:gd name="adj" fmla="val 322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Code 22"/>
          <p:cNvSpPr txBox="1"/>
          <p:nvPr/>
        </p:nvSpPr>
        <p:spPr>
          <a:xfrm>
            <a:off x="4069080" y="3630168"/>
            <a:ext cx="4416551" cy="566927"/>
          </a:xfrm>
          <a:prstGeom prst="rect">
            <a:avLst/>
          </a:prstGeom>
          <a:noFill/>
        </p:spPr>
        <p:txBody>
          <a:bodyPr wrap="none" lIns="146304" rIns="146304" tIns="91440" bIns="54864">
            <a:spAutoFit/>
          </a:bodyPr>
          <a:lstStyle/>
          <a:p>
            <a:pPr>
              <a:lnSpc>
                <a:spcPts val="1000"/>
              </a:lnSpc>
              <a:spcAft>
                <a:spcPts val="0"/>
              </a:spcAft>
            </a:pP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place_order</a:t>
            </a:r>
            <a:r>
              <a:rPr sz="750" i="0">
                <a:solidFill>
                  <a:srgbClr val="E6EDF3"/>
                </a:solidFill>
                <a:latin typeface="Consolas"/>
              </a:rPr>
              <a:t>(</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 </a:t>
            </a:r>
            <a:r>
              <a:rPr sz="750" i="0">
                <a:solidFill>
                  <a:srgbClr val="7FDBCA"/>
                </a:solidFill>
                <a:latin typeface="Consolas"/>
              </a:rPr>
              <a:t>OrderRepository</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int</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C3A6FF"/>
                </a:solidFill>
                <a:latin typeface="Consolas"/>
              </a:rPr>
              <a:t>int</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E6EDF3"/>
                </a:solidFill>
                <a:latin typeface="Consolas"/>
              </a:rPr>
              <a:t>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F9C97A"/>
                </a:solidFill>
                <a:latin typeface="Consolas"/>
              </a:rPr>
              <a:t>5</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 </a:t>
            </a:r>
            <a:r>
              <a:rPr sz="750" i="0">
                <a:solidFill>
                  <a:srgbClr val="F9C97A"/>
                </a:solidFill>
                <a:latin typeface="Consolas"/>
              </a:rPr>
              <a:t>100</a:t>
            </a:r>
          </a:p>
          <a:p>
            <a:pPr>
              <a:lnSpc>
                <a:spcPts val="1000"/>
              </a:lnSpc>
              <a:spcAft>
                <a:spcPts val="0"/>
              </a:spcAft>
            </a:pPr>
            <a:r>
              <a:rPr sz="750" i="0">
                <a:solidFill>
                  <a:srgbClr val="E6EDF3"/>
                </a:solidFill>
                <a:latin typeface="Consolas"/>
              </a:rPr>
              <a:t>    </a:t>
            </a:r>
            <a:r>
              <a:rPr sz="750" i="0">
                <a:solidFill>
                  <a:srgbClr val="FF8E6E"/>
                </a:solidFill>
                <a:latin typeface="Consolas"/>
              </a:rPr>
              <a:t>return</a:t>
            </a:r>
            <a:r>
              <a:rPr sz="750" i="0">
                <a:solidFill>
                  <a:srgbClr val="E6EDF3"/>
                </a:solidFill>
                <a:latin typeface="Consolas"/>
              </a:rPr>
              <a:t> </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add</a:t>
            </a:r>
            <a:r>
              <a:rPr sz="750" i="0">
                <a:solidFill>
                  <a:srgbClr val="E6EDF3"/>
                </a:solidFill>
                <a:latin typeface="Consolas"/>
              </a:rPr>
              <a:t>(</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total</a:t>
            </a:r>
            <a:r>
              <a:rPr sz="750" i="0">
                <a:solidFill>
                  <a:srgbClr val="E6EDF3"/>
                </a:solidFill>
                <a:latin typeface="Consolas"/>
              </a:rPr>
              <a:t>)</a:t>
            </a:r>
          </a:p>
        </p:txBody>
      </p:sp>
      <p:sp>
        <p:nvSpPr>
          <p:cNvPr id="38" name="Box 23"/>
          <p:cNvSpPr/>
          <p:nvPr/>
        </p:nvSpPr>
        <p:spPr>
          <a:xfrm>
            <a:off x="4151376" y="3992117"/>
            <a:ext cx="42519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9" name="Text 24"/>
          <p:cNvSpPr txBox="1"/>
          <p:nvPr/>
        </p:nvSpPr>
        <p:spPr>
          <a:xfrm>
            <a:off x="4069080" y="4288536"/>
            <a:ext cx="4416551" cy="502920"/>
          </a:xfrm>
          <a:prstGeom prst="rect">
            <a:avLst/>
          </a:prstGeom>
          <a:noFill/>
        </p:spPr>
        <p:txBody>
          <a:bodyPr wrap="square" anchor="t" lIns="45720" rIns="45720">
            <a:spAutoFit/>
          </a:bodyPr>
          <a:lstStyle/>
          <a:p>
            <a:pPr algn="l">
              <a:lnSpc>
                <a:spcPct val="115000"/>
              </a:lnSpc>
              <a:spcAft>
                <a:spcPts val="400"/>
              </a:spcAft>
            </a:pPr>
            <a:r>
              <a:rPr sz="850" i="0" b="1">
                <a:solidFill>
                  <a:srgbClr val="7A7A7A"/>
                </a:solidFill>
                <a:latin typeface="Inter"/>
              </a:rPr>
              <a:t>Analogi:</a:t>
            </a:r>
            <a:r>
              <a:rPr sz="850" i="0" b="0">
                <a:solidFill>
                  <a:srgbClr val="7A7A7A"/>
                </a:solidFill>
                <a:latin typeface="Inter"/>
              </a:rPr>
              <a:t> pustakawan. Kita cukup bilang "pinjam buku nomor 12". Di rak mana bukunya disimpan, itu urusan pustakawan.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Hitung dan Query Campur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7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sqlite3</a:t>
            </a:r>
          </a:p>
          <a:p>
            <a:pPr>
              <a:lnSpc>
                <a:spcPts val="1100"/>
              </a:lnSpc>
              <a:spcAft>
                <a:spcPts val="0"/>
              </a:spcAft>
            </a:pPr>
            <a:r>
              <a:rPr sz="850" i="0">
                <a:solidFill>
                  <a:srgbClr val="5C6773"/>
                </a:solidFill>
                <a:latin typeface="Consolas"/>
              </a:rPr>
              <a:t> 8  </a:t>
            </a:r>
            <a:r>
              <a:rPr sz="850" i="0">
                <a:solidFill>
                  <a:srgbClr val="E6EDF3"/>
                </a:solidFill>
                <a:latin typeface="Consolas"/>
              </a:rPr>
              <a:t> </a:t>
            </a:r>
          </a:p>
          <a:p>
            <a:pPr>
              <a:lnSpc>
                <a:spcPts val="1100"/>
              </a:lnSpc>
              <a:spcAft>
                <a:spcPts val="0"/>
              </a:spcAft>
            </a:pPr>
            <a:r>
              <a:rPr sz="850" i="0">
                <a:solidFill>
                  <a:srgbClr val="5C6773"/>
                </a:solidFill>
                <a:latin typeface="Consolas"/>
              </a:rPr>
              <a:t> 9  </a:t>
            </a:r>
            <a:r>
              <a:rPr sz="850" i="0">
                <a:solidFill>
                  <a:srgbClr val="E6EDF3"/>
                </a:solidFill>
                <a:latin typeface="Consolas"/>
              </a:rPr>
              <a:t>conn</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sqlite3</a:t>
            </a:r>
            <a:r>
              <a:rPr sz="850" i="0">
                <a:solidFill>
                  <a:srgbClr val="E6EDF3"/>
                </a:solidFill>
                <a:latin typeface="Consolas"/>
              </a:rPr>
              <a:t>.</a:t>
            </a:r>
            <a:r>
              <a:rPr sz="850" i="0">
                <a:solidFill>
                  <a:srgbClr val="E6EDF3"/>
                </a:solidFill>
                <a:latin typeface="Consolas"/>
              </a:rPr>
              <a:t>connect</a:t>
            </a:r>
            <a:r>
              <a:rPr sz="850" i="0">
                <a:solidFill>
                  <a:srgbClr val="E6EDF3"/>
                </a:solidFill>
                <a:latin typeface="Consolas"/>
              </a:rPr>
              <a:t>(</a:t>
            </a:r>
            <a:r>
              <a:rPr sz="850" i="0">
                <a:solidFill>
                  <a:srgbClr val="A5D6A7"/>
                </a:solidFill>
                <a:latin typeface="Consolas"/>
              </a:rPr>
              <a:t>"orders.db"</a:t>
            </a:r>
            <a:r>
              <a:rPr sz="850" i="0">
                <a:solidFill>
                  <a:srgbClr val="E6EDF3"/>
                </a:solidFill>
                <a:latin typeface="Consolas"/>
              </a:rPr>
              <a:t>)</a:t>
            </a:r>
          </a:p>
          <a:p>
            <a:pPr>
              <a:lnSpc>
                <a:spcPts val="1100"/>
              </a:lnSpc>
              <a:spcAft>
                <a:spcPts val="0"/>
              </a:spcAft>
            </a:pPr>
            <a:r>
              <a:rPr sz="850" i="0">
                <a:solidFill>
                  <a:srgbClr val="5C6773"/>
                </a:solidFill>
                <a:latin typeface="Consolas"/>
              </a:rPr>
              <a:t>10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p>
          <a:p>
            <a:pPr>
              <a:lnSpc>
                <a:spcPts val="1100"/>
              </a:lnSpc>
              <a:spcAft>
                <a:spcPts val="0"/>
              </a:spcAft>
            </a:pPr>
            <a:r>
              <a:rPr sz="850" i="0">
                <a:solidFill>
                  <a:srgbClr val="5C6773"/>
                </a:solidFill>
                <a:latin typeface="Consolas"/>
              </a:rPr>
              <a:t>11  </a:t>
            </a:r>
            <a:r>
              <a:rPr sz="850" i="0">
                <a:solidFill>
                  <a:srgbClr val="E6EDF3"/>
                </a:solidFill>
                <a:latin typeface="Consolas"/>
              </a:rPr>
              <a:t>    </a:t>
            </a:r>
            <a:r>
              <a:rPr sz="850" i="0">
                <a:solidFill>
                  <a:srgbClr val="A5D6A7"/>
                </a:solidFill>
                <a:latin typeface="Consolas"/>
              </a:rPr>
              <a:t>"CREATE TABLE IF NOT EXISTS orders "</a:t>
            </a:r>
          </a:p>
          <a:p>
            <a:pPr>
              <a:lnSpc>
                <a:spcPts val="1100"/>
              </a:lnSpc>
              <a:spcAft>
                <a:spcPts val="0"/>
              </a:spcAft>
            </a:pPr>
            <a:r>
              <a:rPr sz="850" i="0">
                <a:solidFill>
                  <a:srgbClr val="5C6773"/>
                </a:solidFill>
                <a:latin typeface="Consolas"/>
              </a:rPr>
              <a:t>12  </a:t>
            </a:r>
            <a:r>
              <a:rPr sz="850" i="0">
                <a:solidFill>
                  <a:srgbClr val="E6EDF3"/>
                </a:solidFill>
                <a:latin typeface="Consolas"/>
              </a:rPr>
              <a:t>    </a:t>
            </a:r>
            <a:r>
              <a:rPr sz="850" i="0">
                <a:solidFill>
                  <a:srgbClr val="A5D6A7"/>
                </a:solidFill>
                <a:latin typeface="Consolas"/>
              </a:rPr>
              <a:t>"(id INTEGER PRIMARY KEY, customer TEXT, total INTEGER)"</a:t>
            </a:r>
          </a:p>
          <a:p>
            <a:pPr>
              <a:lnSpc>
                <a:spcPts val="1100"/>
              </a:lnSpc>
              <a:spcAft>
                <a:spcPts val="0"/>
              </a:spcAft>
            </a:pPr>
            <a:r>
              <a:rPr sz="850" i="0">
                <a:solidFill>
                  <a:srgbClr val="5C6773"/>
                </a:solidFill>
                <a:latin typeface="Consolas"/>
              </a:rPr>
              <a:t>13  </a:t>
            </a:r>
            <a:r>
              <a:rPr sz="850" i="0">
                <a:solidFill>
                  <a:srgbClr val="E6EDF3"/>
                </a:solidFill>
                <a:latin typeface="Consolas"/>
              </a:rPr>
              <a:t>)</a:t>
            </a:r>
          </a:p>
          <a:p>
            <a:pPr>
              <a:lnSpc>
                <a:spcPts val="1100"/>
              </a:lnSpc>
              <a:spcAft>
                <a:spcPts val="0"/>
              </a:spcAft>
            </a:pPr>
            <a:r>
              <a:rPr sz="850" i="0">
                <a:solidFill>
                  <a:srgbClr val="5C6773"/>
                </a:solidFill>
                <a:latin typeface="Consolas"/>
              </a:rPr>
              <a:t>14  </a:t>
            </a:r>
            <a:r>
              <a:rPr sz="850" i="0">
                <a:solidFill>
                  <a:srgbClr val="E6EDF3"/>
                </a:solidFill>
                <a:latin typeface="Consolas"/>
              </a:rPr>
              <a:t> </a:t>
            </a:r>
          </a:p>
          <a:p>
            <a:pPr>
              <a:lnSpc>
                <a:spcPts val="1100"/>
              </a:lnSpc>
              <a:spcAft>
                <a:spcPts val="0"/>
              </a:spcAft>
            </a:pPr>
            <a:r>
              <a:rPr sz="850" i="0">
                <a:solidFill>
                  <a:srgbClr val="5C6773"/>
                </a:solidFill>
                <a:latin typeface="Consolas"/>
              </a:rPr>
              <a:t>15  </a:t>
            </a:r>
            <a:r>
              <a:rPr sz="850" i="0">
                <a:solidFill>
                  <a:srgbClr val="E6EDF3"/>
                </a:solidFill>
                <a:latin typeface="Consolas"/>
              </a:rPr>
              <a:t> </a:t>
            </a:r>
          </a:p>
          <a:p>
            <a:pPr>
              <a:lnSpc>
                <a:spcPts val="1100"/>
              </a:lnSpc>
              <a:spcAft>
                <a:spcPts val="0"/>
              </a:spcAft>
            </a:pPr>
            <a:r>
              <a:rPr sz="850" i="0">
                <a:solidFill>
                  <a:srgbClr val="5C6773"/>
                </a:solidFill>
                <a:latin typeface="Consolas"/>
              </a:rPr>
              <a:t>16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place_order</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17  </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5</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100</a:t>
            </a:r>
            <a:r>
              <a:rPr sz="850" i="0">
                <a:solidFill>
                  <a:srgbClr val="E6EDF3"/>
                </a:solidFill>
                <a:latin typeface="Consolas"/>
              </a:rPr>
              <a:t>  </a:t>
            </a:r>
            <a:r>
              <a:rPr sz="850" i="1">
                <a:solidFill>
                  <a:srgbClr val="8B98A8"/>
                </a:solidFill>
                <a:latin typeface="Consolas"/>
              </a:rPr>
              <a:t># business logic</a:t>
            </a:r>
          </a:p>
          <a:p>
            <a:pPr>
              <a:lnSpc>
                <a:spcPts val="1100"/>
              </a:lnSpc>
              <a:spcAft>
                <a:spcPts val="0"/>
              </a:spcAft>
            </a:pPr>
            <a:r>
              <a:rPr sz="850" i="0">
                <a:solidFill>
                  <a:srgbClr val="5C6773"/>
                </a:solidFill>
                <a:latin typeface="Consolas"/>
              </a:rPr>
              <a:t>18  </a:t>
            </a: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r>
              <a:rPr sz="850" i="0">
                <a:solidFill>
                  <a:srgbClr val="E6EDF3"/>
                </a:solidFill>
                <a:latin typeface="Consolas"/>
              </a:rPr>
              <a:t>                       </a:t>
            </a:r>
            <a:r>
              <a:rPr sz="850" i="1">
                <a:solidFill>
                  <a:srgbClr val="8B98A8"/>
                </a:solidFill>
                <a:latin typeface="Consolas"/>
              </a:rPr>
              <a:t># persistence</a:t>
            </a:r>
          </a:p>
          <a:p>
            <a:pPr>
              <a:lnSpc>
                <a:spcPts val="1100"/>
              </a:lnSpc>
              <a:spcAft>
                <a:spcPts val="0"/>
              </a:spcAft>
            </a:pPr>
            <a:r>
              <a:rPr sz="850" i="0">
                <a:solidFill>
                  <a:srgbClr val="5C6773"/>
                </a:solidFill>
                <a:latin typeface="Consolas"/>
              </a:rPr>
              <a:t>19  </a:t>
            </a:r>
            <a:r>
              <a:rPr sz="850" i="0">
                <a:solidFill>
                  <a:srgbClr val="E6EDF3"/>
                </a:solidFill>
                <a:latin typeface="Consolas"/>
              </a:rPr>
              <a:t>        </a:t>
            </a:r>
            <a:r>
              <a:rPr sz="850" i="0">
                <a:solidFill>
                  <a:srgbClr val="A5D6A7"/>
                </a:solidFill>
                <a:latin typeface="Consolas"/>
              </a:rPr>
              <a:t>"INSERT INTO orders (customer, total) VALUES (?, ?)"</a:t>
            </a:r>
            <a:r>
              <a:rPr sz="850" i="0">
                <a:solidFill>
                  <a:srgbClr val="E6EDF3"/>
                </a:solidFill>
                <a:latin typeface="Consolas"/>
              </a:rPr>
              <a:t>,</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E6EDF3"/>
                </a:solidFill>
                <a:latin typeface="Consolas"/>
              </a:rPr>
              <a:t>)</a:t>
            </a:r>
          </a:p>
          <a:p>
            <a:pPr>
              <a:lnSpc>
                <a:spcPts val="1100"/>
              </a:lnSpc>
              <a:spcAft>
                <a:spcPts val="0"/>
              </a:spcAft>
            </a:pPr>
            <a:r>
              <a:rPr sz="850" i="0">
                <a:solidFill>
                  <a:srgbClr val="5C6773"/>
                </a:solidFill>
                <a:latin typeface="Consolas"/>
              </a:rPr>
              <a:t>22  </a:t>
            </a:r>
            <a:r>
              <a:rPr sz="850" i="0">
                <a:solidFill>
                  <a:srgbClr val="E6EDF3"/>
                </a:solidFill>
                <a:latin typeface="Consolas"/>
              </a:rPr>
              <a:t>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commit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23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a:t>
            </a:r>
            <a:r>
              <a:rPr sz="850" i="0">
                <a:solidFill>
                  <a:srgbClr val="E6EDF3"/>
                </a:solidFill>
                <a:latin typeface="Consolas"/>
              </a:rPr>
              <a:t>lastrowid</a:t>
            </a:r>
          </a:p>
        </p:txBody>
      </p:sp>
      <p:sp>
        <p:nvSpPr>
          <p:cNvPr id="29" name="Box 12"/>
          <p:cNvSpPr/>
          <p:nvPr/>
        </p:nvSpPr>
        <p:spPr>
          <a:xfrm>
            <a:off x="704088" y="2108073"/>
            <a:ext cx="7699248" cy="550418"/>
          </a:xfrm>
          <a:prstGeom prst="roundRect">
            <a:avLst>
              <a:gd name="adj" fmla="val 830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22644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225673"/>
            <a:ext cx="7699248" cy="829818"/>
          </a:xfrm>
          <a:prstGeom prst="roundRect">
            <a:avLst>
              <a:gd name="adj" fmla="val 550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35217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Hitung dan Query Campur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26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27  </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p>
          <a:p>
            <a:pPr>
              <a:lnSpc>
                <a:spcPts val="1100"/>
              </a:lnSpc>
              <a:spcAft>
                <a:spcPts val="0"/>
              </a:spcAft>
            </a:pPr>
            <a:r>
              <a:rPr sz="850" i="0">
                <a:solidFill>
                  <a:srgbClr val="5C6773"/>
                </a:solidFill>
                <a:latin typeface="Consolas"/>
              </a:rPr>
              <a:t>28  </a:t>
            </a:r>
            <a:r>
              <a:rPr sz="850" i="0">
                <a:solidFill>
                  <a:srgbClr val="E6EDF3"/>
                </a:solidFill>
                <a:latin typeface="Consolas"/>
              </a:rPr>
              <a:t>        </a:t>
            </a:r>
            <a:r>
              <a:rPr sz="850" i="0">
                <a:solidFill>
                  <a:srgbClr val="A5D6A7"/>
                </a:solidFill>
                <a:latin typeface="Consolas"/>
              </a:rPr>
              <a:t>"SELECT id, customer, total FROM orders WHERE id =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29  </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fetchone</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a:t>
            </a:r>
            <a:r>
              <a:rPr sz="850" i="0">
                <a:solidFill>
                  <a:srgbClr val="A5D6A7"/>
                </a:solidFill>
                <a:latin typeface="Consolas"/>
              </a:rPr>
              <a:t>"id"</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0</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2</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 </a:t>
            </a:r>
            <a:r>
              <a:rPr sz="850" i="0">
                <a:solidFill>
                  <a:srgbClr val="FF8E6E"/>
                </a:solidFill>
                <a:latin typeface="Consolas"/>
              </a:rPr>
              <a:t>else</a:t>
            </a:r>
            <a:r>
              <a:rPr sz="850" i="0">
                <a:solidFill>
                  <a:srgbClr val="E6EDF3"/>
                </a:solidFill>
                <a:latin typeface="Consolas"/>
              </a:rPr>
              <a:t> </a:t>
            </a:r>
            <a:r>
              <a:rPr sz="850" i="0">
                <a:solidFill>
                  <a:srgbClr val="FF8E6E"/>
                </a:solidFill>
                <a:latin typeface="Consolas"/>
              </a:rPr>
              <a:t>None</a:t>
            </a:r>
          </a:p>
          <a:p>
            <a:pPr>
              <a:lnSpc>
                <a:spcPts val="1100"/>
              </a:lnSpc>
              <a:spcAft>
                <a:spcPts val="0"/>
              </a:spcAft>
            </a:pPr>
            <a:r>
              <a:rPr sz="850" i="0">
                <a:solidFill>
                  <a:srgbClr val="5C6773"/>
                </a:solidFill>
                <a:latin typeface="Consolas"/>
              </a:rPr>
              <a:t>31  </a:t>
            </a:r>
            <a:r>
              <a:rPr sz="850" i="0">
                <a:solidFill>
                  <a:srgbClr val="E6EDF3"/>
                </a:solidFill>
                <a:latin typeface="Consolas"/>
              </a:rPr>
              <a:t> </a:t>
            </a:r>
          </a:p>
          <a:p>
            <a:pPr>
              <a:lnSpc>
                <a:spcPts val="1100"/>
              </a:lnSpc>
              <a:spcAft>
                <a:spcPts val="0"/>
              </a:spcAft>
            </a:pPr>
            <a:r>
              <a:rPr sz="850" i="0">
                <a:solidFill>
                  <a:srgbClr val="5C6773"/>
                </a:solidFill>
                <a:latin typeface="Consolas"/>
              </a:rPr>
              <a:t>32  </a:t>
            </a:r>
            <a:r>
              <a:rPr sz="850" i="0">
                <a:solidFill>
                  <a:srgbClr val="E6EDF3"/>
                </a:solidFill>
                <a:latin typeface="Consolas"/>
              </a:rPr>
              <a:t> </a:t>
            </a:r>
          </a:p>
          <a:p>
            <a:pPr>
              <a:lnSpc>
                <a:spcPts val="1100"/>
              </a:lnSpc>
              <a:spcAft>
                <a:spcPts val="0"/>
              </a:spcAft>
            </a:pPr>
            <a:r>
              <a:rPr sz="850" i="0">
                <a:solidFill>
                  <a:srgbClr val="5C6773"/>
                </a:solidFill>
                <a:latin typeface="Consolas"/>
              </a:rPr>
              <a:t>33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place_order</a:t>
            </a:r>
            <a:r>
              <a:rPr sz="850" i="0">
                <a:solidFill>
                  <a:srgbClr val="E6EDF3"/>
                </a:solidFill>
                <a:latin typeface="Consolas"/>
              </a:rPr>
              <a:t>(</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200_000</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E6EDF3"/>
                </a:solidFill>
                <a:latin typeface="Consolas"/>
              </a:rPr>
              <a:t>get_order</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04-repository/before.py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sesi-01-design-patterns/04-repository</a:t>
            </a:r>
          </a:p>
          <a:p>
            <a:pPr>
              <a:lnSpc>
                <a:spcPts val="1000"/>
              </a:lnSpc>
              <a:spcAft>
                <a:spcPts val="0"/>
              </a:spcAft>
            </a:pPr>
            <a:r>
              <a:rPr sz="775" i="0">
                <a:solidFill>
                  <a:srgbClr val="82B1FF"/>
                </a:solidFill>
                <a:latin typeface="Consolas"/>
              </a:rPr>
              <a:t>$ python before.py</a:t>
            </a:r>
          </a:p>
        </p:txBody>
      </p:sp>
      <p:pic>
        <p:nvPicPr>
          <p:cNvPr id="29" name="Image 12" descr="s01-04-repository-before.png"/>
          <p:cNvPicPr>
            <a:picLocks noChangeAspect="1"/>
          </p:cNvPicPr>
          <p:nvPr/>
        </p:nvPicPr>
        <p:blipFill>
          <a:blip r:embed="rId2"/>
          <a:stretch>
            <a:fillRect/>
          </a:stretch>
        </p:blipFill>
        <p:spPr>
          <a:xfrm>
            <a:off x="621792" y="2240280"/>
            <a:ext cx="4297680" cy="90525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Koneksi database global, dipakai langsung oleh function (baris 9-12)</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Business logic (hitung total) dan SQL di function yang sama (baris 17-22)</a:t>
            </a:r>
          </a:p>
          <a:p>
            <a:pPr algn="l">
              <a:lnSpc>
                <a:spcPct val="115000"/>
              </a:lnSpc>
              <a:spcAft>
                <a:spcPts val="0"/>
              </a:spcAft>
            </a:pPr>
            <a:r>
              <a:rPr sz="570"/>
              <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Mau tes hitung total saja tetap butuh database</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Pindah ke PostgreSQL = bongkar semua function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Akses Data Dibungkus (1/3)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 7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sqlite3</a:t>
            </a:r>
          </a:p>
          <a:p>
            <a:pPr>
              <a:lnSpc>
                <a:spcPts val="1100"/>
              </a:lnSpc>
              <a:spcAft>
                <a:spcPts val="0"/>
              </a:spcAft>
            </a:pPr>
            <a:r>
              <a:rPr sz="850" i="0">
                <a:solidFill>
                  <a:srgbClr val="5C6773"/>
                </a:solidFill>
                <a:latin typeface="Consolas"/>
              </a:rPr>
              <a:t> 8  </a:t>
            </a:r>
            <a:r>
              <a:rPr sz="850" i="0">
                <a:solidFill>
                  <a:srgbClr val="FF8E6E"/>
                </a:solidFill>
                <a:latin typeface="Consolas"/>
              </a:rPr>
              <a:t>from</a:t>
            </a:r>
            <a:r>
              <a:rPr sz="850" i="0">
                <a:solidFill>
                  <a:srgbClr val="E6EDF3"/>
                </a:solidFill>
                <a:latin typeface="Consolas"/>
              </a:rPr>
              <a:t> </a:t>
            </a:r>
            <a:r>
              <a:rPr sz="850" i="0">
                <a:solidFill>
                  <a:srgbClr val="E6EDF3"/>
                </a:solidFill>
                <a:latin typeface="Consolas"/>
              </a:rPr>
              <a:t>typing</a:t>
            </a:r>
            <a:r>
              <a:rPr sz="850" i="0">
                <a:solidFill>
                  <a:srgbClr val="E6EDF3"/>
                </a:solidFill>
                <a:latin typeface="Consolas"/>
              </a:rPr>
              <a:t> </a:t>
            </a:r>
            <a:r>
              <a:rPr sz="850" i="0">
                <a:solidFill>
                  <a:srgbClr val="FF8E6E"/>
                </a:solidFill>
                <a:latin typeface="Consolas"/>
              </a:rPr>
              <a:t>import</a:t>
            </a:r>
            <a:r>
              <a:rPr sz="850" i="0">
                <a:solidFill>
                  <a:srgbClr val="E6EDF3"/>
                </a:solidFill>
                <a:latin typeface="Consolas"/>
              </a:rPr>
              <a:t> </a:t>
            </a:r>
            <a:r>
              <a:rPr sz="850" i="0">
                <a:solidFill>
                  <a:srgbClr val="7FDBCA"/>
                </a:solidFill>
                <a:latin typeface="Consolas"/>
              </a:rPr>
              <a:t>Protocol</a:t>
            </a:r>
          </a:p>
          <a:p>
            <a:pPr>
              <a:lnSpc>
                <a:spcPts val="1100"/>
              </a:lnSpc>
              <a:spcAft>
                <a:spcPts val="0"/>
              </a:spcAft>
            </a:pPr>
            <a:r>
              <a:rPr sz="850" i="0">
                <a:solidFill>
                  <a:srgbClr val="5C6773"/>
                </a:solidFill>
                <a:latin typeface="Consolas"/>
              </a:rPr>
              <a:t> 9  </a:t>
            </a:r>
            <a:r>
              <a:rPr sz="850" i="0">
                <a:solidFill>
                  <a:srgbClr val="E6EDF3"/>
                </a:solidFill>
                <a:latin typeface="Consolas"/>
              </a:rPr>
              <a:t> </a:t>
            </a:r>
          </a:p>
          <a:p>
            <a:pPr>
              <a:lnSpc>
                <a:spcPts val="1100"/>
              </a:lnSpc>
              <a:spcAft>
                <a:spcPts val="0"/>
              </a:spcAft>
            </a:pPr>
            <a:r>
              <a:rPr sz="850" i="0">
                <a:solidFill>
                  <a:srgbClr val="5C6773"/>
                </a:solidFill>
                <a:latin typeface="Consolas"/>
              </a:rPr>
              <a:t>10  </a:t>
            </a:r>
            <a:r>
              <a:rPr sz="850" i="0">
                <a:solidFill>
                  <a:srgbClr val="E6EDF3"/>
                </a:solidFill>
                <a:latin typeface="Consolas"/>
              </a:rPr>
              <a:t> </a:t>
            </a:r>
          </a:p>
          <a:p>
            <a:pPr>
              <a:lnSpc>
                <a:spcPts val="1100"/>
              </a:lnSpc>
              <a:spcAft>
                <a:spcPts val="0"/>
              </a:spcAft>
            </a:pPr>
            <a:r>
              <a:rPr sz="850" i="0">
                <a:solidFill>
                  <a:srgbClr val="5C6773"/>
                </a:solidFill>
                <a:latin typeface="Consolas"/>
              </a:rPr>
              <a:t>11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OrderRepository</a:t>
            </a:r>
            <a:r>
              <a:rPr sz="850" i="0">
                <a:solidFill>
                  <a:srgbClr val="E6EDF3"/>
                </a:solidFill>
                <a:latin typeface="Consolas"/>
              </a:rPr>
              <a:t>(</a:t>
            </a:r>
            <a:r>
              <a:rPr sz="850" i="0">
                <a:solidFill>
                  <a:srgbClr val="7FDBCA"/>
                </a:solidFill>
                <a:latin typeface="Consolas"/>
              </a:rPr>
              <a:t>Protocol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12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add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13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dict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14  </a:t>
            </a:r>
            <a:r>
              <a:rPr sz="850" i="0">
                <a:solidFill>
                  <a:srgbClr val="E6EDF3"/>
                </a:solidFill>
                <a:latin typeface="Consolas"/>
              </a:rPr>
              <a:t> </a:t>
            </a:r>
          </a:p>
          <a:p>
            <a:pPr>
              <a:lnSpc>
                <a:spcPts val="1100"/>
              </a:lnSpc>
              <a:spcAft>
                <a:spcPts val="0"/>
              </a:spcAft>
            </a:pPr>
            <a:r>
              <a:rPr sz="850" i="0">
                <a:solidFill>
                  <a:srgbClr val="5C6773"/>
                </a:solidFill>
                <a:latin typeface="Consolas"/>
              </a:rPr>
              <a:t>15  </a:t>
            </a:r>
            <a:r>
              <a:rPr sz="850" i="0">
                <a:solidFill>
                  <a:srgbClr val="E6EDF3"/>
                </a:solidFill>
                <a:latin typeface="Consolas"/>
              </a:rPr>
              <a:t> </a:t>
            </a:r>
          </a:p>
          <a:p>
            <a:pPr>
              <a:lnSpc>
                <a:spcPts val="1100"/>
              </a:lnSpc>
              <a:spcAft>
                <a:spcPts val="0"/>
              </a:spcAft>
            </a:pPr>
            <a:r>
              <a:rPr sz="850" i="0">
                <a:solidFill>
                  <a:srgbClr val="5C6773"/>
                </a:solidFill>
                <a:latin typeface="Consolas"/>
              </a:rPr>
              <a:t>16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SqliteOrderRepository</a:t>
            </a:r>
            <a:r>
              <a:rPr sz="850" i="0">
                <a:solidFill>
                  <a:srgbClr val="E6EDF3"/>
                </a:solidFill>
                <a:latin typeface="Consolas"/>
              </a:rPr>
              <a:t>:</a:t>
            </a:r>
          </a:p>
          <a:p>
            <a:pPr>
              <a:lnSpc>
                <a:spcPts val="1100"/>
              </a:lnSpc>
              <a:spcAft>
                <a:spcPts val="0"/>
              </a:spcAft>
            </a:pPr>
            <a:r>
              <a:rPr sz="850" i="0">
                <a:solidFill>
                  <a:srgbClr val="5C6773"/>
                </a:solidFill>
                <a:latin typeface="Consolas"/>
              </a:rPr>
              <a:t>17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__init__</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path</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"orders.db"</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18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conn</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sqlite3</a:t>
            </a:r>
            <a:r>
              <a:rPr sz="850" i="0">
                <a:solidFill>
                  <a:srgbClr val="E6EDF3"/>
                </a:solidFill>
                <a:latin typeface="Consolas"/>
              </a:rPr>
              <a:t>.</a:t>
            </a:r>
            <a:r>
              <a:rPr sz="850" i="0">
                <a:solidFill>
                  <a:srgbClr val="E6EDF3"/>
                </a:solidFill>
                <a:latin typeface="Consolas"/>
              </a:rPr>
              <a:t>connect</a:t>
            </a:r>
            <a:r>
              <a:rPr sz="850" i="0">
                <a:solidFill>
                  <a:srgbClr val="E6EDF3"/>
                </a:solidFill>
                <a:latin typeface="Consolas"/>
              </a:rPr>
              <a:t>(</a:t>
            </a:r>
            <a:r>
              <a:rPr sz="850" i="0">
                <a:solidFill>
                  <a:srgbClr val="E6EDF3"/>
                </a:solidFill>
                <a:latin typeface="Consolas"/>
              </a:rPr>
              <a:t>path</a:t>
            </a:r>
            <a:r>
              <a:rPr sz="850" i="0">
                <a:solidFill>
                  <a:srgbClr val="E6EDF3"/>
                </a:solidFill>
                <a:latin typeface="Consolas"/>
              </a:rPr>
              <a:t>)</a:t>
            </a:r>
          </a:p>
          <a:p>
            <a:pPr>
              <a:lnSpc>
                <a:spcPts val="1100"/>
              </a:lnSpc>
              <a:spcAft>
                <a:spcPts val="0"/>
              </a:spcAft>
            </a:pPr>
            <a:r>
              <a:rPr sz="850" i="0">
                <a:solidFill>
                  <a:srgbClr val="5C6773"/>
                </a:solidFill>
                <a:latin typeface="Consolas"/>
              </a:rPr>
              <a:t>19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p>
          <a:p>
            <a:pPr>
              <a:lnSpc>
                <a:spcPts val="1100"/>
              </a:lnSpc>
              <a:spcAft>
                <a:spcPts val="0"/>
              </a:spcAft>
            </a:pPr>
            <a:r>
              <a:rPr sz="850" i="0">
                <a:solidFill>
                  <a:srgbClr val="5C6773"/>
                </a:solidFill>
                <a:latin typeface="Consolas"/>
              </a:rPr>
              <a:t>20  </a:t>
            </a:r>
            <a:r>
              <a:rPr sz="850" i="0">
                <a:solidFill>
                  <a:srgbClr val="E6EDF3"/>
                </a:solidFill>
                <a:latin typeface="Consolas"/>
              </a:rPr>
              <a:t>            </a:t>
            </a:r>
            <a:r>
              <a:rPr sz="850" i="0">
                <a:solidFill>
                  <a:srgbClr val="A5D6A7"/>
                </a:solidFill>
                <a:latin typeface="Consolas"/>
              </a:rPr>
              <a:t>"CREATE TABLE IF NOT EXISTS orders "</a:t>
            </a:r>
          </a:p>
          <a:p>
            <a:pPr>
              <a:lnSpc>
                <a:spcPts val="1100"/>
              </a:lnSpc>
              <a:spcAft>
                <a:spcPts val="0"/>
              </a:spcAft>
            </a:pPr>
            <a:r>
              <a:rPr sz="850" i="0">
                <a:solidFill>
                  <a:srgbClr val="5C6773"/>
                </a:solidFill>
                <a:latin typeface="Consolas"/>
              </a:rPr>
              <a:t>21  </a:t>
            </a:r>
            <a:r>
              <a:rPr sz="850" i="0">
                <a:solidFill>
                  <a:srgbClr val="E6EDF3"/>
                </a:solidFill>
                <a:latin typeface="Consolas"/>
              </a:rPr>
              <a:t>            </a:t>
            </a:r>
            <a:r>
              <a:rPr sz="850" i="0">
                <a:solidFill>
                  <a:srgbClr val="A5D6A7"/>
                </a:solidFill>
                <a:latin typeface="Consolas"/>
              </a:rPr>
              <a:t>"(id INTEGER PRIMARY KEY, customer TEXT, total INTEGER)"</a:t>
            </a:r>
          </a:p>
          <a:p>
            <a:pPr>
              <a:lnSpc>
                <a:spcPts val="1100"/>
              </a:lnSpc>
              <a:spcAft>
                <a:spcPts val="0"/>
              </a:spcAft>
            </a:pPr>
            <a:r>
              <a:rPr sz="850" i="0">
                <a:solidFill>
                  <a:srgbClr val="5C6773"/>
                </a:solidFill>
                <a:latin typeface="Consolas"/>
              </a:rPr>
              <a:t>22  </a:t>
            </a:r>
            <a:r>
              <a:rPr sz="850" i="0">
                <a:solidFill>
                  <a:srgbClr val="E6EDF3"/>
                </a:solidFill>
                <a:latin typeface="Consolas"/>
              </a:rPr>
              <a:t>        </a:t>
            </a:r>
            <a:r>
              <a:rPr sz="850" i="0">
                <a:solidFill>
                  <a:srgbClr val="E6EDF3"/>
                </a:solidFill>
                <a:latin typeface="Consolas"/>
              </a:rPr>
              <a:t>)</a:t>
            </a:r>
          </a:p>
        </p:txBody>
      </p:sp>
      <p:sp>
        <p:nvSpPr>
          <p:cNvPr id="29" name="Box 12"/>
          <p:cNvSpPr/>
          <p:nvPr/>
        </p:nvSpPr>
        <p:spPr>
          <a:xfrm>
            <a:off x="704088" y="23874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24739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085973"/>
            <a:ext cx="7699248" cy="969518"/>
          </a:xfrm>
          <a:prstGeom prst="roundRect">
            <a:avLst>
              <a:gd name="adj" fmla="val 471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34518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Akses Data Dibungkus (2/3)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24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add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25  </a:t>
            </a: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p>
          <a:p>
            <a:pPr>
              <a:lnSpc>
                <a:spcPts val="1100"/>
              </a:lnSpc>
              <a:spcAft>
                <a:spcPts val="0"/>
              </a:spcAft>
            </a:pPr>
            <a:r>
              <a:rPr sz="850" i="0">
                <a:solidFill>
                  <a:srgbClr val="5C6773"/>
                </a:solidFill>
                <a:latin typeface="Consolas"/>
              </a:rPr>
              <a:t>26  </a:t>
            </a:r>
            <a:r>
              <a:rPr sz="850" i="0">
                <a:solidFill>
                  <a:srgbClr val="E6EDF3"/>
                </a:solidFill>
                <a:latin typeface="Consolas"/>
              </a:rPr>
              <a:t>            </a:t>
            </a:r>
            <a:r>
              <a:rPr sz="850" i="0">
                <a:solidFill>
                  <a:srgbClr val="A5D6A7"/>
                </a:solidFill>
                <a:latin typeface="Consolas"/>
              </a:rPr>
              <a:t>"INSERT INTO orders (customer, total) VALUES (?, ?)"</a:t>
            </a:r>
            <a:r>
              <a:rPr sz="850" i="0">
                <a:solidFill>
                  <a:srgbClr val="E6EDF3"/>
                </a:solidFill>
                <a:latin typeface="Consolas"/>
              </a:rPr>
              <a:t>,</a:t>
            </a:r>
          </a:p>
          <a:p>
            <a:pPr>
              <a:lnSpc>
                <a:spcPts val="1100"/>
              </a:lnSpc>
              <a:spcAft>
                <a:spcPts val="0"/>
              </a:spcAft>
            </a:pPr>
            <a:r>
              <a:rPr sz="850" i="0">
                <a:solidFill>
                  <a:srgbClr val="5C6773"/>
                </a:solidFill>
                <a:latin typeface="Consolas"/>
              </a:rPr>
              <a:t>27  </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28  </a:t>
            </a:r>
            <a:r>
              <a:rPr sz="850" i="0">
                <a:solidFill>
                  <a:srgbClr val="E6EDF3"/>
                </a:solidFill>
                <a:latin typeface="Consolas"/>
              </a:rPr>
              <a:t>        </a:t>
            </a:r>
            <a:r>
              <a:rPr sz="850" i="0">
                <a:solidFill>
                  <a:srgbClr val="E6EDF3"/>
                </a:solidFill>
                <a:latin typeface="Consolas"/>
              </a:rPr>
              <a:t>)</a:t>
            </a:r>
          </a:p>
          <a:p>
            <a:pPr>
              <a:lnSpc>
                <a:spcPts val="1100"/>
              </a:lnSpc>
              <a:spcAft>
                <a:spcPts val="0"/>
              </a:spcAft>
            </a:pPr>
            <a:r>
              <a:rPr sz="850" i="0">
                <a:solidFill>
                  <a:srgbClr val="5C6773"/>
                </a:solidFill>
                <a:latin typeface="Consolas"/>
              </a:rPr>
              <a:t>29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commit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30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cur</a:t>
            </a:r>
            <a:r>
              <a:rPr sz="850" i="0">
                <a:solidFill>
                  <a:srgbClr val="E6EDF3"/>
                </a:solidFill>
                <a:latin typeface="Consolas"/>
              </a:rPr>
              <a:t>.</a:t>
            </a:r>
            <a:r>
              <a:rPr sz="850" i="0">
                <a:solidFill>
                  <a:srgbClr val="E6EDF3"/>
                </a:solidFill>
                <a:latin typeface="Consolas"/>
              </a:rPr>
              <a:t>lastrowid</a:t>
            </a:r>
          </a:p>
          <a:p>
            <a:pPr>
              <a:lnSpc>
                <a:spcPts val="1100"/>
              </a:lnSpc>
              <a:spcAft>
                <a:spcPts val="0"/>
              </a:spcAft>
            </a:pPr>
            <a:r>
              <a:rPr sz="850" i="0">
                <a:solidFill>
                  <a:srgbClr val="5C6773"/>
                </a:solidFill>
                <a:latin typeface="Consolas"/>
              </a:rPr>
              <a:t>31  </a:t>
            </a:r>
            <a:r>
              <a:rPr sz="850" i="0">
                <a:solidFill>
                  <a:srgbClr val="E6EDF3"/>
                </a:solidFill>
                <a:latin typeface="Consolas"/>
              </a:rPr>
              <a:t> </a:t>
            </a:r>
          </a:p>
          <a:p>
            <a:pPr>
              <a:lnSpc>
                <a:spcPts val="1100"/>
              </a:lnSpc>
              <a:spcAft>
                <a:spcPts val="0"/>
              </a:spcAft>
            </a:pPr>
            <a:r>
              <a:rPr sz="850" i="0">
                <a:solidFill>
                  <a:srgbClr val="5C6773"/>
                </a:solidFill>
                <a:latin typeface="Consolas"/>
              </a:rPr>
              <a:t>32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dict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33  </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conn</a:t>
            </a:r>
            <a:r>
              <a:rPr sz="850" i="0">
                <a:solidFill>
                  <a:srgbClr val="E6EDF3"/>
                </a:solidFill>
                <a:latin typeface="Consolas"/>
              </a:rPr>
              <a:t>.</a:t>
            </a:r>
            <a:r>
              <a:rPr sz="850" i="0">
                <a:solidFill>
                  <a:srgbClr val="E6EDF3"/>
                </a:solidFill>
                <a:latin typeface="Consolas"/>
              </a:rPr>
              <a:t>execute</a:t>
            </a:r>
            <a:r>
              <a:rPr sz="850" i="0">
                <a:solidFill>
                  <a:srgbClr val="E6EDF3"/>
                </a:solidFill>
                <a:latin typeface="Consolas"/>
              </a:rPr>
              <a:t>(</a:t>
            </a:r>
          </a:p>
          <a:p>
            <a:pPr>
              <a:lnSpc>
                <a:spcPts val="1100"/>
              </a:lnSpc>
              <a:spcAft>
                <a:spcPts val="0"/>
              </a:spcAft>
            </a:pPr>
            <a:r>
              <a:rPr sz="850" i="0">
                <a:solidFill>
                  <a:srgbClr val="5C6773"/>
                </a:solidFill>
                <a:latin typeface="Consolas"/>
              </a:rPr>
              <a:t>34  </a:t>
            </a:r>
            <a:r>
              <a:rPr sz="850" i="0">
                <a:solidFill>
                  <a:srgbClr val="E6EDF3"/>
                </a:solidFill>
                <a:latin typeface="Consolas"/>
              </a:rPr>
              <a:t>            </a:t>
            </a:r>
            <a:r>
              <a:rPr sz="850" i="0">
                <a:solidFill>
                  <a:srgbClr val="A5D6A7"/>
                </a:solidFill>
                <a:latin typeface="Consolas"/>
              </a:rPr>
              <a:t>"SELECT id, customer, total FROM orders WHERE id =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35  </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fetchone</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36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a:t>
            </a:r>
            <a:r>
              <a:rPr sz="850" i="0">
                <a:solidFill>
                  <a:srgbClr val="A5D6A7"/>
                </a:solidFill>
                <a:latin typeface="Consolas"/>
              </a:rPr>
              <a:t>"id"</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0</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1</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a:t>
            </a:r>
            <a:r>
              <a:rPr sz="850" i="0">
                <a:solidFill>
                  <a:srgbClr val="F9C97A"/>
                </a:solidFill>
                <a:latin typeface="Consolas"/>
              </a:rPr>
              <a:t>2</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row</a:t>
            </a:r>
            <a:r>
              <a:rPr sz="850" i="0">
                <a:solidFill>
                  <a:srgbClr val="E6EDF3"/>
                </a:solidFill>
                <a:latin typeface="Consolas"/>
              </a:rPr>
              <a:t> </a:t>
            </a:r>
            <a:r>
              <a:rPr sz="850" i="0">
                <a:solidFill>
                  <a:srgbClr val="FF8E6E"/>
                </a:solidFill>
                <a:latin typeface="Consolas"/>
              </a:rPr>
              <a:t>else</a:t>
            </a:r>
            <a:r>
              <a:rPr sz="850" i="0">
                <a:solidFill>
                  <a:srgbClr val="E6EDF3"/>
                </a:solidFill>
                <a:latin typeface="Consolas"/>
              </a:rPr>
              <a:t> </a:t>
            </a:r>
            <a:r>
              <a:rPr sz="850" i="0">
                <a:solidFill>
                  <a:srgbClr val="FF8E6E"/>
                </a:solidFill>
                <a:latin typeface="Consolas"/>
              </a:rPr>
              <a:t>None</a:t>
            </a:r>
          </a:p>
          <a:p>
            <a:pPr>
              <a:lnSpc>
                <a:spcPts val="1100"/>
              </a:lnSpc>
              <a:spcAft>
                <a:spcPts val="0"/>
              </a:spcAft>
            </a:pPr>
            <a:r>
              <a:rPr sz="850" i="0">
                <a:solidFill>
                  <a:srgbClr val="5C6773"/>
                </a:solidFill>
                <a:latin typeface="Consolas"/>
              </a:rPr>
              <a:t>37  </a:t>
            </a:r>
            <a:r>
              <a:rPr sz="850" i="0">
                <a:solidFill>
                  <a:srgbClr val="E6EDF3"/>
                </a:solidFill>
                <a:latin typeface="Consolas"/>
              </a:rPr>
              <a:t> </a:t>
            </a:r>
          </a:p>
          <a:p>
            <a:pPr>
              <a:lnSpc>
                <a:spcPts val="1100"/>
              </a:lnSpc>
              <a:spcAft>
                <a:spcPts val="0"/>
              </a:spcAft>
            </a:pPr>
            <a:r>
              <a:rPr sz="850" i="0">
                <a:solidFill>
                  <a:srgbClr val="5C6773"/>
                </a:solidFill>
                <a:latin typeface="Consolas"/>
              </a:rPr>
              <a:t>38  </a:t>
            </a:r>
            <a:r>
              <a:rPr sz="850" i="0">
                <a:solidFill>
                  <a:srgbClr val="E6EDF3"/>
                </a:solidFill>
                <a:latin typeface="Consolas"/>
              </a:rPr>
              <a:t> </a:t>
            </a:r>
          </a:p>
          <a:p>
            <a:pPr>
              <a:lnSpc>
                <a:spcPts val="1100"/>
              </a:lnSpc>
              <a:spcAft>
                <a:spcPts val="0"/>
              </a:spcAft>
            </a:pPr>
            <a:r>
              <a:rPr sz="850" i="0">
                <a:solidFill>
                  <a:srgbClr val="5C6773"/>
                </a:solidFill>
                <a:latin typeface="Consolas"/>
              </a:rPr>
              <a:t>39  </a:t>
            </a: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InMemoryOrderRepository</a:t>
            </a:r>
            <a:r>
              <a:rPr sz="850" i="0">
                <a:solidFill>
                  <a:srgbClr val="E6EDF3"/>
                </a:solidFill>
                <a:latin typeface="Consolas"/>
              </a:rPr>
              <a:t>:</a:t>
            </a:r>
          </a:p>
          <a:p>
            <a:pPr>
              <a:lnSpc>
                <a:spcPts val="1100"/>
              </a:lnSpc>
              <a:spcAft>
                <a:spcPts val="0"/>
              </a:spcAft>
            </a:pPr>
            <a:r>
              <a:rPr sz="850" i="0">
                <a:solidFill>
                  <a:srgbClr val="5C6773"/>
                </a:solidFill>
                <a:latin typeface="Consolas"/>
              </a:rPr>
              <a:t>40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__init__</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41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rows</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dict</a:t>
            </a:r>
            <a:r>
              <a:rPr sz="850" i="0">
                <a:solidFill>
                  <a:srgbClr val="E6EDF3"/>
                </a:solidFill>
                <a:latin typeface="Consolas"/>
              </a:rPr>
              <a:t>[</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dict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p>
        </p:txBody>
      </p:sp>
      <p:sp>
        <p:nvSpPr>
          <p:cNvPr id="29" name="Box 12"/>
          <p:cNvSpPr/>
          <p:nvPr/>
        </p:nvSpPr>
        <p:spPr>
          <a:xfrm>
            <a:off x="704088" y="1828673"/>
            <a:ext cx="7699248" cy="1807718"/>
          </a:xfrm>
          <a:prstGeom prst="roundRect">
            <a:avLst>
              <a:gd name="adj" fmla="val 252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704088" y="39241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Box 14"/>
          <p:cNvSpPr/>
          <p:nvPr/>
        </p:nvSpPr>
        <p:spPr>
          <a:xfrm>
            <a:off x="8284463" y="40106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Akses Data Dibungkus (3/3)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100"/>
              </a:lnSpc>
              <a:spcAft>
                <a:spcPts val="0"/>
              </a:spcAft>
            </a:pPr>
            <a:r>
              <a:rPr sz="850" i="0">
                <a:solidFill>
                  <a:srgbClr val="5C6773"/>
                </a:solidFill>
                <a:latin typeface="Consolas"/>
              </a:rPr>
              <a:t>43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add</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44  </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len</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rows</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a:t>
            </a:r>
          </a:p>
          <a:p>
            <a:pPr>
              <a:lnSpc>
                <a:spcPts val="1100"/>
              </a:lnSpc>
              <a:spcAft>
                <a:spcPts val="0"/>
              </a:spcAft>
            </a:pPr>
            <a:r>
              <a:rPr sz="850" i="0">
                <a:solidFill>
                  <a:srgbClr val="5C6773"/>
                </a:solidFill>
                <a:latin typeface="Consolas"/>
              </a:rPr>
              <a:t>45  </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rows</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A5D6A7"/>
                </a:solidFill>
                <a:latin typeface="Consolas"/>
              </a:rPr>
              <a:t>"id"</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"total"</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p>
          <a:p>
            <a:pPr>
              <a:lnSpc>
                <a:spcPts val="1100"/>
              </a:lnSpc>
              <a:spcAft>
                <a:spcPts val="0"/>
              </a:spcAft>
            </a:pPr>
            <a:r>
              <a:rPr sz="850" i="0">
                <a:solidFill>
                  <a:srgbClr val="5C6773"/>
                </a:solidFill>
                <a:latin typeface="Consolas"/>
              </a:rPr>
              <a:t>46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order_id</a:t>
            </a:r>
          </a:p>
          <a:p>
            <a:pPr>
              <a:lnSpc>
                <a:spcPts val="1100"/>
              </a:lnSpc>
              <a:spcAft>
                <a:spcPts val="0"/>
              </a:spcAft>
            </a:pPr>
            <a:r>
              <a:rPr sz="850" i="0">
                <a:solidFill>
                  <a:srgbClr val="5C6773"/>
                </a:solidFill>
                <a:latin typeface="Consolas"/>
              </a:rPr>
              <a:t>47  </a:t>
            </a:r>
            <a:r>
              <a:rPr sz="850" i="0">
                <a:solidFill>
                  <a:srgbClr val="E6EDF3"/>
                </a:solidFill>
                <a:latin typeface="Consolas"/>
              </a:rPr>
              <a:t> </a:t>
            </a:r>
          </a:p>
          <a:p>
            <a:pPr>
              <a:lnSpc>
                <a:spcPts val="1100"/>
              </a:lnSpc>
              <a:spcAft>
                <a:spcPts val="0"/>
              </a:spcAft>
            </a:pPr>
            <a:r>
              <a:rPr sz="850" i="0">
                <a:solidFill>
                  <a:srgbClr val="5C6773"/>
                </a:solidFill>
                <a:latin typeface="Consolas"/>
              </a:rPr>
              <a:t>48  </a:t>
            </a:r>
            <a:r>
              <a:rPr sz="850" i="0">
                <a:solidFill>
                  <a:srgbClr val="E6EDF3"/>
                </a:solidFill>
                <a:latin typeface="Consolas"/>
              </a:rPr>
              <a:t>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a:t>
            </a:r>
            <a:r>
              <a:rPr sz="850" i="0">
                <a:solidFill>
                  <a:srgbClr val="E6EDF3"/>
                </a:solidFill>
                <a:latin typeface="Consolas"/>
              </a:rPr>
              <a:t>(</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dict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F8E6E"/>
                </a:solidFill>
                <a:latin typeface="Consolas"/>
              </a:rPr>
              <a:t>None</a:t>
            </a:r>
            <a:r>
              <a:rPr sz="850" i="0">
                <a:solidFill>
                  <a:srgbClr val="E6EDF3"/>
                </a:solidFill>
                <a:latin typeface="Consolas"/>
              </a:rPr>
              <a:t>:</a:t>
            </a:r>
          </a:p>
          <a:p>
            <a:pPr>
              <a:lnSpc>
                <a:spcPts val="1100"/>
              </a:lnSpc>
              <a:spcAft>
                <a:spcPts val="0"/>
              </a:spcAft>
            </a:pPr>
            <a:r>
              <a:rPr sz="850" i="0">
                <a:solidFill>
                  <a:srgbClr val="5C6773"/>
                </a:solidFill>
                <a:latin typeface="Consolas"/>
              </a:rPr>
              <a:t>49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C3A6FF"/>
                </a:solidFill>
                <a:latin typeface="Consolas"/>
              </a:rPr>
              <a:t>self</a:t>
            </a:r>
            <a:r>
              <a:rPr sz="850" i="0">
                <a:solidFill>
                  <a:srgbClr val="E6EDF3"/>
                </a:solidFill>
                <a:latin typeface="Consolas"/>
              </a:rPr>
              <a:t>.</a:t>
            </a:r>
            <a:r>
              <a:rPr sz="850" i="0">
                <a:solidFill>
                  <a:srgbClr val="E6EDF3"/>
                </a:solidFill>
                <a:latin typeface="Consolas"/>
              </a:rPr>
              <a:t>rows</a:t>
            </a:r>
            <a:r>
              <a:rPr sz="850" i="0">
                <a:solidFill>
                  <a:srgbClr val="E6EDF3"/>
                </a:solidFill>
                <a:latin typeface="Consolas"/>
              </a:rPr>
              <a:t>.</a:t>
            </a:r>
            <a:r>
              <a:rPr sz="850" i="0">
                <a:solidFill>
                  <a:srgbClr val="E6EDF3"/>
                </a:solidFill>
                <a:latin typeface="Consolas"/>
              </a:rPr>
              <a:t>get</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p>
          <a:p>
            <a:pPr>
              <a:lnSpc>
                <a:spcPts val="1100"/>
              </a:lnSpc>
              <a:spcAft>
                <a:spcPts val="0"/>
              </a:spcAft>
            </a:pPr>
            <a:r>
              <a:rPr sz="850" i="0">
                <a:solidFill>
                  <a:srgbClr val="5C6773"/>
                </a:solidFill>
                <a:latin typeface="Consolas"/>
              </a:rPr>
              <a:t>50  </a:t>
            </a:r>
            <a:r>
              <a:rPr sz="850" i="0">
                <a:solidFill>
                  <a:srgbClr val="E6EDF3"/>
                </a:solidFill>
                <a:latin typeface="Consolas"/>
              </a:rPr>
              <a:t> </a:t>
            </a:r>
          </a:p>
          <a:p>
            <a:pPr>
              <a:lnSpc>
                <a:spcPts val="1100"/>
              </a:lnSpc>
              <a:spcAft>
                <a:spcPts val="0"/>
              </a:spcAft>
            </a:pPr>
            <a:r>
              <a:rPr sz="850" i="0">
                <a:solidFill>
                  <a:srgbClr val="5C6773"/>
                </a:solidFill>
                <a:latin typeface="Consolas"/>
              </a:rPr>
              <a:t>51  </a:t>
            </a:r>
            <a:r>
              <a:rPr sz="850" i="0">
                <a:solidFill>
                  <a:srgbClr val="E6EDF3"/>
                </a:solidFill>
                <a:latin typeface="Consolas"/>
              </a:rPr>
              <a:t> </a:t>
            </a:r>
          </a:p>
          <a:p>
            <a:pPr>
              <a:lnSpc>
                <a:spcPts val="1100"/>
              </a:lnSpc>
              <a:spcAft>
                <a:spcPts val="0"/>
              </a:spcAft>
            </a:pPr>
            <a:r>
              <a:rPr sz="850" i="0">
                <a:solidFill>
                  <a:srgbClr val="5C6773"/>
                </a:solidFill>
                <a:latin typeface="Consolas"/>
              </a:rPr>
              <a:t>52  </a:t>
            </a: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place_order</a:t>
            </a:r>
            <a:r>
              <a:rPr sz="850" i="0">
                <a:solidFill>
                  <a:srgbClr val="E6EDF3"/>
                </a:solidFill>
                <a:latin typeface="Consolas"/>
              </a:rPr>
              <a:t>(</a:t>
            </a:r>
            <a:r>
              <a:rPr sz="850" i="0">
                <a:solidFill>
                  <a:srgbClr val="E6EDF3"/>
                </a:solidFill>
                <a:latin typeface="Consolas"/>
              </a:rPr>
              <a:t>repo</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OrderRepository</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C3A6FF"/>
                </a:solidFill>
                <a:latin typeface="Consolas"/>
              </a:rPr>
              <a:t>int</a:t>
            </a:r>
            <a:r>
              <a:rPr sz="850" i="0">
                <a:solidFill>
                  <a:srgbClr val="E6EDF3"/>
                </a:solidFill>
                <a:latin typeface="Consolas"/>
              </a:rPr>
              <a:t>:</a:t>
            </a:r>
          </a:p>
          <a:p>
            <a:pPr>
              <a:lnSpc>
                <a:spcPts val="1100"/>
              </a:lnSpc>
              <a:spcAft>
                <a:spcPts val="0"/>
              </a:spcAft>
            </a:pPr>
            <a:r>
              <a:rPr sz="850" i="0">
                <a:solidFill>
                  <a:srgbClr val="5C6773"/>
                </a:solidFill>
                <a:latin typeface="Consolas"/>
              </a:rPr>
              <a:t>53  </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subtotal</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5</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100</a:t>
            </a:r>
          </a:p>
          <a:p>
            <a:pPr>
              <a:lnSpc>
                <a:spcPts val="1100"/>
              </a:lnSpc>
              <a:spcAft>
                <a:spcPts val="0"/>
              </a:spcAft>
            </a:pPr>
            <a:r>
              <a:rPr sz="850" i="0">
                <a:solidFill>
                  <a:srgbClr val="5C6773"/>
                </a:solidFill>
                <a:latin typeface="Consolas"/>
              </a:rPr>
              <a:t>54  </a:t>
            </a: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E6EDF3"/>
                </a:solidFill>
                <a:latin typeface="Consolas"/>
              </a:rPr>
              <a:t>repo</a:t>
            </a:r>
            <a:r>
              <a:rPr sz="850" i="0">
                <a:solidFill>
                  <a:srgbClr val="E6EDF3"/>
                </a:solidFill>
                <a:latin typeface="Consolas"/>
              </a:rPr>
              <a:t>.</a:t>
            </a:r>
            <a:r>
              <a:rPr sz="850" i="0">
                <a:solidFill>
                  <a:srgbClr val="E6EDF3"/>
                </a:solidFill>
                <a:latin typeface="Consolas"/>
              </a:rPr>
              <a:t>add</a:t>
            </a:r>
            <a:r>
              <a:rPr sz="850" i="0">
                <a:solidFill>
                  <a:srgbClr val="E6EDF3"/>
                </a:solidFill>
                <a:latin typeface="Consolas"/>
              </a:rPr>
              <a:t>(</a:t>
            </a:r>
            <a:r>
              <a:rPr sz="850" i="0">
                <a:solidFill>
                  <a:srgbClr val="E6EDF3"/>
                </a:solidFill>
                <a:latin typeface="Consolas"/>
              </a:rPr>
              <a:t>customer</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total</a:t>
            </a:r>
            <a:r>
              <a:rPr sz="850" i="0">
                <a:solidFill>
                  <a:srgbClr val="E6EDF3"/>
                </a:solidFill>
                <a:latin typeface="Consolas"/>
              </a:rPr>
              <a:t>)</a:t>
            </a:r>
          </a:p>
          <a:p>
            <a:pPr>
              <a:lnSpc>
                <a:spcPts val="1100"/>
              </a:lnSpc>
              <a:spcAft>
                <a:spcPts val="0"/>
              </a:spcAft>
            </a:pPr>
            <a:r>
              <a:rPr sz="850" i="0">
                <a:solidFill>
                  <a:srgbClr val="5C6773"/>
                </a:solidFill>
                <a:latin typeface="Consolas"/>
              </a:rPr>
              <a:t>55  </a:t>
            </a:r>
            <a:r>
              <a:rPr sz="850" i="0">
                <a:solidFill>
                  <a:srgbClr val="E6EDF3"/>
                </a:solidFill>
                <a:latin typeface="Consolas"/>
              </a:rPr>
              <a:t> </a:t>
            </a:r>
          </a:p>
          <a:p>
            <a:pPr>
              <a:lnSpc>
                <a:spcPts val="1100"/>
              </a:lnSpc>
              <a:spcAft>
                <a:spcPts val="0"/>
              </a:spcAft>
            </a:pPr>
            <a:r>
              <a:rPr sz="850" i="0">
                <a:solidFill>
                  <a:srgbClr val="5C6773"/>
                </a:solidFill>
                <a:latin typeface="Consolas"/>
              </a:rPr>
              <a:t>56  </a:t>
            </a:r>
            <a:r>
              <a:rPr sz="850" i="0">
                <a:solidFill>
                  <a:srgbClr val="E6EDF3"/>
                </a:solidFill>
                <a:latin typeface="Consolas"/>
              </a:rPr>
              <a:t> </a:t>
            </a:r>
          </a:p>
          <a:p>
            <a:pPr>
              <a:lnSpc>
                <a:spcPts val="1100"/>
              </a:lnSpc>
              <a:spcAft>
                <a:spcPts val="0"/>
              </a:spcAft>
            </a:pPr>
            <a:r>
              <a:rPr sz="850" i="0">
                <a:solidFill>
                  <a:srgbClr val="5C6773"/>
                </a:solidFill>
                <a:latin typeface="Consolas"/>
              </a:rPr>
              <a:t>57  </a:t>
            </a:r>
            <a:r>
              <a:rPr sz="850" i="0">
                <a:solidFill>
                  <a:srgbClr val="FF8E6E"/>
                </a:solidFill>
                <a:latin typeface="Consolas"/>
              </a:rPr>
              <a:t>if</a:t>
            </a:r>
            <a:r>
              <a:rPr sz="850" i="0">
                <a:solidFill>
                  <a:srgbClr val="E6EDF3"/>
                </a:solidFill>
                <a:latin typeface="Consolas"/>
              </a:rPr>
              <a:t> </a:t>
            </a:r>
            <a:r>
              <a:rPr sz="850" i="0">
                <a:solidFill>
                  <a:srgbClr val="E6EDF3"/>
                </a:solidFill>
                <a:latin typeface="Consolas"/>
              </a:rPr>
              <a:t>__name__</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"__main__"</a:t>
            </a:r>
            <a:r>
              <a:rPr sz="850" i="0">
                <a:solidFill>
                  <a:srgbClr val="E6EDF3"/>
                </a:solidFill>
                <a:latin typeface="Consolas"/>
              </a:rPr>
              <a:t>:</a:t>
            </a:r>
          </a:p>
          <a:p>
            <a:pPr>
              <a:lnSpc>
                <a:spcPts val="1100"/>
              </a:lnSpc>
              <a:spcAft>
                <a:spcPts val="0"/>
              </a:spcAft>
            </a:pPr>
            <a:r>
              <a:rPr sz="850" i="0">
                <a:solidFill>
                  <a:srgbClr val="5C6773"/>
                </a:solidFill>
                <a:latin typeface="Consolas"/>
              </a:rPr>
              <a:t>58  </a:t>
            </a:r>
            <a:r>
              <a:rPr sz="850" i="0">
                <a:solidFill>
                  <a:srgbClr val="E6EDF3"/>
                </a:solidFill>
                <a:latin typeface="Consolas"/>
              </a:rPr>
              <a:t>    </a:t>
            </a:r>
            <a:r>
              <a:rPr sz="850" i="0">
                <a:solidFill>
                  <a:srgbClr val="FF8E6E"/>
                </a:solidFill>
                <a:latin typeface="Consolas"/>
              </a:rPr>
              <a:t>for</a:t>
            </a:r>
            <a:r>
              <a:rPr sz="850" i="0">
                <a:solidFill>
                  <a:srgbClr val="E6EDF3"/>
                </a:solidFill>
                <a:latin typeface="Consolas"/>
              </a:rPr>
              <a:t> </a:t>
            </a:r>
            <a:r>
              <a:rPr sz="850" i="0">
                <a:solidFill>
                  <a:srgbClr val="E6EDF3"/>
                </a:solidFill>
                <a:latin typeface="Consolas"/>
              </a:rPr>
              <a:t>repo</a:t>
            </a:r>
            <a:r>
              <a:rPr sz="850" i="0">
                <a:solidFill>
                  <a:srgbClr val="E6EDF3"/>
                </a:solidFill>
                <a:latin typeface="Consolas"/>
              </a:rPr>
              <a:t> </a:t>
            </a:r>
            <a:r>
              <a:rPr sz="850" i="0">
                <a:solidFill>
                  <a:srgbClr val="FF8E6E"/>
                </a:solidFill>
                <a:latin typeface="Consolas"/>
              </a:rPr>
              <a:t>in</a:t>
            </a:r>
            <a:r>
              <a:rPr sz="850" i="0">
                <a:solidFill>
                  <a:srgbClr val="E6EDF3"/>
                </a:solidFill>
                <a:latin typeface="Consolas"/>
              </a:rPr>
              <a:t> </a:t>
            </a:r>
            <a:r>
              <a:rPr sz="850" i="0">
                <a:solidFill>
                  <a:srgbClr val="E6EDF3"/>
                </a:solidFill>
                <a:latin typeface="Consolas"/>
              </a:rPr>
              <a:t>(</a:t>
            </a:r>
            <a:r>
              <a:rPr sz="850" i="0">
                <a:solidFill>
                  <a:srgbClr val="7FDBCA"/>
                </a:solidFill>
                <a:latin typeface="Consolas"/>
              </a:rPr>
              <a:t>SqliteOrderRepository</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7FDBCA"/>
                </a:solidFill>
                <a:latin typeface="Consolas"/>
              </a:rPr>
              <a:t>InMemoryOrderRepository</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5C6773"/>
                </a:solidFill>
                <a:latin typeface="Consolas"/>
              </a:rPr>
              <a:t>59  </a:t>
            </a:r>
            <a:r>
              <a:rPr sz="850" i="0">
                <a:solidFill>
                  <a:srgbClr val="E6EDF3"/>
                </a:solidFill>
                <a:latin typeface="Consolas"/>
              </a:rPr>
              <a:t>        </a:t>
            </a:r>
            <a:r>
              <a:rPr sz="850" i="0">
                <a:solidFill>
                  <a:srgbClr val="E6EDF3"/>
                </a:solidFill>
                <a:latin typeface="Consolas"/>
              </a:rPr>
              <a:t>order_id</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place_order</a:t>
            </a:r>
            <a:r>
              <a:rPr sz="850" i="0">
                <a:solidFill>
                  <a:srgbClr val="E6EDF3"/>
                </a:solidFill>
                <a:latin typeface="Consolas"/>
              </a:rPr>
              <a:t>(</a:t>
            </a:r>
            <a:r>
              <a:rPr sz="850" i="0">
                <a:solidFill>
                  <a:srgbClr val="E6EDF3"/>
                </a:solidFill>
                <a:latin typeface="Consolas"/>
              </a:rPr>
              <a:t>repo</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"budi@mail.com"</a:t>
            </a:r>
            <a:r>
              <a:rPr sz="850" i="0">
                <a:solidFill>
                  <a:srgbClr val="E6EDF3"/>
                </a:solidFill>
                <a:latin typeface="Consolas"/>
              </a:rPr>
              <a:t>,</a:t>
            </a:r>
            <a:r>
              <a:rPr sz="850" i="0">
                <a:solidFill>
                  <a:srgbClr val="E6EDF3"/>
                </a:solidFill>
                <a:latin typeface="Consolas"/>
              </a:rPr>
              <a:t> </a:t>
            </a:r>
            <a:r>
              <a:rPr sz="850" i="0">
                <a:solidFill>
                  <a:srgbClr val="F9C97A"/>
                </a:solidFill>
                <a:latin typeface="Consolas"/>
              </a:rPr>
              <a:t>200_000</a:t>
            </a:r>
            <a:r>
              <a:rPr sz="850" i="0">
                <a:solidFill>
                  <a:srgbClr val="E6EDF3"/>
                </a:solidFill>
                <a:latin typeface="Consolas"/>
              </a:rPr>
              <a:t>)</a:t>
            </a:r>
          </a:p>
          <a:p>
            <a:pPr>
              <a:lnSpc>
                <a:spcPts val="1100"/>
              </a:lnSpc>
              <a:spcAft>
                <a:spcPts val="0"/>
              </a:spcAft>
            </a:pPr>
            <a:r>
              <a:rPr sz="850" i="0">
                <a:solidFill>
                  <a:srgbClr val="5C6773"/>
                </a:solidFill>
                <a:latin typeface="Consolas"/>
              </a:rPr>
              <a:t>60  </a:t>
            </a:r>
            <a:r>
              <a:rPr sz="850" i="0">
                <a:solidFill>
                  <a:srgbClr val="E6EDF3"/>
                </a:solidFill>
                <a:latin typeface="Consolas"/>
              </a:rPr>
              <a:t>        </a:t>
            </a:r>
            <a:r>
              <a:rPr sz="850" i="0">
                <a:solidFill>
                  <a:srgbClr val="C3A6FF"/>
                </a:solidFill>
                <a:latin typeface="Consolas"/>
              </a:rPr>
              <a:t>print</a:t>
            </a:r>
            <a:r>
              <a:rPr sz="850" i="0">
                <a:solidFill>
                  <a:srgbClr val="E6EDF3"/>
                </a:solidFill>
                <a:latin typeface="Consolas"/>
              </a:rPr>
              <a:t>(</a:t>
            </a:r>
            <a:r>
              <a:rPr sz="850" i="0">
                <a:solidFill>
                  <a:srgbClr val="C3A6FF"/>
                </a:solidFill>
                <a:latin typeface="Consolas"/>
              </a:rPr>
              <a:t>type</a:t>
            </a:r>
            <a:r>
              <a:rPr sz="850" i="0">
                <a:solidFill>
                  <a:srgbClr val="E6EDF3"/>
                </a:solidFill>
                <a:latin typeface="Consolas"/>
              </a:rPr>
              <a:t>(</a:t>
            </a:r>
            <a:r>
              <a:rPr sz="850" i="0">
                <a:solidFill>
                  <a:srgbClr val="E6EDF3"/>
                </a:solidFill>
                <a:latin typeface="Consolas"/>
              </a:rPr>
              <a:t>repo</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__name__</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repo</a:t>
            </a:r>
            <a:r>
              <a:rPr sz="850" i="0">
                <a:solidFill>
                  <a:srgbClr val="E6EDF3"/>
                </a:solidFill>
                <a:latin typeface="Consolas"/>
              </a:rPr>
              <a:t>.</a:t>
            </a:r>
            <a:r>
              <a:rPr sz="850" i="0">
                <a:solidFill>
                  <a:srgbClr val="E6EDF3"/>
                </a:solidFill>
                <a:latin typeface="Consolas"/>
              </a:rPr>
              <a:t>get</a:t>
            </a:r>
            <a:r>
              <a:rPr sz="850" i="0">
                <a:solidFill>
                  <a:srgbClr val="E6EDF3"/>
                </a:solidFill>
                <a:latin typeface="Consolas"/>
              </a:rPr>
              <a:t>(</a:t>
            </a:r>
            <a:r>
              <a:rPr sz="850" i="0">
                <a:solidFill>
                  <a:srgbClr val="E6EDF3"/>
                </a:solidFill>
                <a:latin typeface="Consolas"/>
              </a:rPr>
              <a:t>order_id</a:t>
            </a:r>
            <a:r>
              <a:rPr sz="850" i="0">
                <a:solidFill>
                  <a:srgbClr val="E6EDF3"/>
                </a:solidFill>
                <a:latin typeface="Consolas"/>
              </a:rPr>
              <a:t>)</a:t>
            </a:r>
            <a:r>
              <a:rPr sz="850" i="0">
                <a:solidFill>
                  <a:srgbClr val="E6EDF3"/>
                </a:solidFill>
                <a:latin typeface="Consolas"/>
              </a:rPr>
              <a:t>)</a:t>
            </a:r>
          </a:p>
        </p:txBody>
      </p:sp>
      <p:sp>
        <p:nvSpPr>
          <p:cNvPr id="29" name="Box 12"/>
          <p:cNvSpPr/>
          <p:nvPr/>
        </p:nvSpPr>
        <p:spPr>
          <a:xfrm>
            <a:off x="704088" y="1828673"/>
            <a:ext cx="7699248" cy="969518"/>
          </a:xfrm>
          <a:prstGeom prst="roundRect">
            <a:avLst>
              <a:gd name="adj" fmla="val 471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704088" y="30859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Box 14"/>
          <p:cNvSpPr/>
          <p:nvPr/>
        </p:nvSpPr>
        <p:spPr>
          <a:xfrm>
            <a:off x="8284463" y="31724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04-repository/after.py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sesi-01-design-patterns/04-repository</a:t>
            </a:r>
          </a:p>
          <a:p>
            <a:pPr>
              <a:lnSpc>
                <a:spcPts val="1000"/>
              </a:lnSpc>
              <a:spcAft>
                <a:spcPts val="0"/>
              </a:spcAft>
            </a:pPr>
            <a:r>
              <a:rPr sz="775" i="0">
                <a:solidFill>
                  <a:srgbClr val="82B1FF"/>
                </a:solidFill>
                <a:latin typeface="Consolas"/>
              </a:rPr>
              <a:t>$ python after.py</a:t>
            </a:r>
          </a:p>
        </p:txBody>
      </p:sp>
      <p:pic>
        <p:nvPicPr>
          <p:cNvPr id="29" name="Image 12" descr="s01-04-repository-after.png"/>
          <p:cNvPicPr>
            <a:picLocks noChangeAspect="1"/>
          </p:cNvPicPr>
          <p:nvPr/>
        </p:nvPicPr>
        <p:blipFill>
          <a:blip r:embed="rId2"/>
          <a:stretch>
            <a:fillRect/>
          </a:stretch>
        </p:blipFill>
        <p:spPr>
          <a:xfrm>
            <a:off x="621792" y="2240280"/>
            <a:ext cx="4297680" cy="146304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Text 14"/>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OrderRepository</a:t>
            </a:r>
            <a:r>
              <a:rPr sz="950" i="0" b="0">
                <a:solidFill>
                  <a:srgbClr val="434343"/>
                </a:solidFill>
                <a:latin typeface="Inter"/>
              </a:rPr>
              <a:t> = daftar method yang harus ada (baris 11-13)</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Versi SQLite: SQL hanya ada di sini (baris 16-36)</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Versi in-memory: dict biasa, untuk test (baris 39-49)</a:t>
            </a:r>
          </a:p>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place_order</a:t>
            </a:r>
            <a:r>
              <a:rPr sz="950" i="0" b="0">
                <a:solidFill>
                  <a:srgbClr val="434343"/>
                </a:solidFill>
                <a:latin typeface="Inter"/>
              </a:rPr>
              <a:t> cuma tahu </a:t>
            </a:r>
            <a:r>
              <a:rPr sz="950" i="0" b="0">
                <a:solidFill>
                  <a:srgbClr val="B5482A"/>
                </a:solidFill>
                <a:latin typeface="Consolas"/>
              </a:rPr>
              <a:t>repo.add()</a:t>
            </a:r>
            <a:r>
              <a:rPr sz="950" i="0" b="0">
                <a:solidFill>
                  <a:srgbClr val="434343"/>
                </a:solidFill>
                <a:latin typeface="Inter"/>
              </a:rPr>
              <a:t>. </a:t>
            </a:r>
            <a:r>
              <a:rPr sz="950" i="0" b="1">
                <a:solidFill>
                  <a:srgbClr val="434343"/>
                </a:solidFill>
                <a:latin typeface="Inter"/>
              </a:rPr>
              <a:t>Repository-nya diberikan dari luar</a:t>
            </a:r>
            <a:r>
              <a:rPr sz="950" i="0" b="0">
                <a:solidFill>
                  <a:srgbClr val="434343"/>
                </a:solidFill>
                <a:latin typeface="Inter"/>
              </a:rPr>
              <a:t> (baris 52-54)</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Output kedua repository sama persis.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Repository</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Cara Membaca Flow</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61772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04-repository/after.py</a:t>
            </a:r>
          </a:p>
        </p:txBody>
      </p:sp>
      <p:sp>
        <p:nvSpPr>
          <p:cNvPr id="27" name="CodeBg 10"/>
          <p:cNvSpPr/>
          <p:nvPr/>
        </p:nvSpPr>
        <p:spPr>
          <a:xfrm>
            <a:off x="621792" y="1719072"/>
            <a:ext cx="5257800" cy="2231136"/>
          </a:xfrm>
          <a:prstGeom prst="roundRect">
            <a:avLst>
              <a:gd name="adj" fmla="val 81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257800" cy="2231136"/>
          </a:xfrm>
          <a:prstGeom prst="rect">
            <a:avLst/>
          </a:prstGeom>
          <a:noFill/>
        </p:spPr>
        <p:txBody>
          <a:bodyPr wrap="none" lIns="146304" rIns="146304" tIns="91440" bIns="54864">
            <a:spAutoFit/>
          </a:bodyPr>
          <a:lstStyle/>
          <a:p>
            <a:pPr>
              <a:lnSpc>
                <a:spcPts val="1000"/>
              </a:lnSpc>
              <a:spcAft>
                <a:spcPts val="0"/>
              </a:spcAft>
            </a:pP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place_order</a:t>
            </a:r>
            <a:r>
              <a:rPr sz="750" i="0">
                <a:solidFill>
                  <a:srgbClr val="E6EDF3"/>
                </a:solidFill>
                <a:latin typeface="Consolas"/>
              </a:rPr>
              <a:t>(</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 </a:t>
            </a:r>
            <a:r>
              <a:rPr sz="750" i="0">
                <a:solidFill>
                  <a:srgbClr val="7FDBCA"/>
                </a:solidFill>
                <a:latin typeface="Consolas"/>
              </a:rPr>
              <a:t>OrderRepository</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int</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C3A6FF"/>
                </a:solidFill>
                <a:latin typeface="Consolas"/>
              </a:rPr>
              <a:t>int</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E6EDF3"/>
                </a:solidFill>
                <a:latin typeface="Consolas"/>
              </a:rPr>
              <a:t>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subtotal</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F9C97A"/>
                </a:solidFill>
                <a:latin typeface="Consolas"/>
              </a:rPr>
              <a:t>5</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 </a:t>
            </a:r>
            <a:r>
              <a:rPr sz="750" i="0">
                <a:solidFill>
                  <a:srgbClr val="F9C97A"/>
                </a:solidFill>
                <a:latin typeface="Consolas"/>
              </a:rPr>
              <a:t>100</a:t>
            </a:r>
          </a:p>
          <a:p>
            <a:pPr>
              <a:lnSpc>
                <a:spcPts val="1000"/>
              </a:lnSpc>
              <a:spcAft>
                <a:spcPts val="0"/>
              </a:spcAft>
            </a:pPr>
            <a:r>
              <a:rPr sz="750" i="0">
                <a:solidFill>
                  <a:srgbClr val="E6EDF3"/>
                </a:solidFill>
                <a:latin typeface="Consolas"/>
              </a:rPr>
              <a:t>    </a:t>
            </a:r>
            <a:r>
              <a:rPr sz="750" i="0">
                <a:solidFill>
                  <a:srgbClr val="FF8E6E"/>
                </a:solidFill>
                <a:latin typeface="Consolas"/>
              </a:rPr>
              <a:t>return</a:t>
            </a:r>
            <a:r>
              <a:rPr sz="750" i="0">
                <a:solidFill>
                  <a:srgbClr val="E6EDF3"/>
                </a:solidFill>
                <a:latin typeface="Consolas"/>
              </a:rPr>
              <a:t> </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add</a:t>
            </a:r>
            <a:r>
              <a:rPr sz="750" i="0">
                <a:solidFill>
                  <a:srgbClr val="E6EDF3"/>
                </a:solidFill>
                <a:latin typeface="Consolas"/>
              </a:rPr>
              <a:t>(</a:t>
            </a:r>
            <a:r>
              <a:rPr sz="750" i="0">
                <a:solidFill>
                  <a:srgbClr val="E6EDF3"/>
                </a:solidFill>
                <a:latin typeface="Consolas"/>
              </a:rPr>
              <a:t>customer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total</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if</a:t>
            </a:r>
            <a:r>
              <a:rPr sz="750" i="0">
                <a:solidFill>
                  <a:srgbClr val="E6EDF3"/>
                </a:solidFill>
                <a:latin typeface="Consolas"/>
              </a:rPr>
              <a:t> </a:t>
            </a:r>
            <a:r>
              <a:rPr sz="750" i="0">
                <a:solidFill>
                  <a:srgbClr val="E6EDF3"/>
                </a:solidFill>
                <a:latin typeface="Consolas"/>
              </a:rPr>
              <a:t>__name__</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"__main__"</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for</a:t>
            </a:r>
            <a:r>
              <a:rPr sz="750" i="0">
                <a:solidFill>
                  <a:srgbClr val="E6EDF3"/>
                </a:solidFill>
                <a:latin typeface="Consolas"/>
              </a:rPr>
              <a:t> </a:t>
            </a:r>
            <a:r>
              <a:rPr sz="750" i="0">
                <a:solidFill>
                  <a:srgbClr val="E6EDF3"/>
                </a:solidFill>
                <a:latin typeface="Consolas"/>
              </a:rPr>
              <a:t>repo</a:t>
            </a:r>
            <a:r>
              <a:rPr sz="750" i="0">
                <a:solidFill>
                  <a:srgbClr val="E6EDF3"/>
                </a:solidFill>
                <a:latin typeface="Consolas"/>
              </a:rPr>
              <a:t> </a:t>
            </a:r>
            <a:r>
              <a:rPr sz="750" i="0">
                <a:solidFill>
                  <a:srgbClr val="FF8E6E"/>
                </a:solidFill>
                <a:latin typeface="Consolas"/>
              </a:rPr>
              <a:t>in</a:t>
            </a:r>
            <a:r>
              <a:rPr sz="750" i="0">
                <a:solidFill>
                  <a:srgbClr val="E6EDF3"/>
                </a:solidFill>
                <a:latin typeface="Consolas"/>
              </a:rPr>
              <a:t> </a:t>
            </a:r>
            <a:r>
              <a:rPr sz="750" i="0">
                <a:solidFill>
                  <a:srgbClr val="E6EDF3"/>
                </a:solidFill>
                <a:latin typeface="Consolas"/>
              </a:rPr>
              <a:t>(</a:t>
            </a:r>
            <a:r>
              <a:rPr sz="750" i="0">
                <a:solidFill>
                  <a:srgbClr val="7FDBCA"/>
                </a:solidFill>
                <a:latin typeface="Consolas"/>
              </a:rPr>
              <a:t>SqliteOrderRepository</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 </a:t>
            </a:r>
            <a:r>
              <a:rPr sz="750" i="0">
                <a:solidFill>
                  <a:srgbClr val="7FDBCA"/>
                </a:solidFill>
                <a:latin typeface="Consolas"/>
              </a:rPr>
              <a:t>InMemoryOrderRepository</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E6EDF3"/>
                </a:solidFill>
                <a:latin typeface="Consolas"/>
              </a:rPr>
              <a:t>order_id</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place_order</a:t>
            </a:r>
            <a:r>
              <a:rPr sz="750" i="0">
                <a:solidFill>
                  <a:srgbClr val="E6EDF3"/>
                </a:solidFill>
                <a:latin typeface="Consolas"/>
              </a:rPr>
              <a:t>(</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"budi@mail.com"</a:t>
            </a:r>
            <a:r>
              <a:rPr sz="750" i="0">
                <a:solidFill>
                  <a:srgbClr val="E6EDF3"/>
                </a:solidFill>
                <a:latin typeface="Consolas"/>
              </a:rPr>
              <a:t>,</a:t>
            </a:r>
            <a:r>
              <a:rPr sz="750" i="0">
                <a:solidFill>
                  <a:srgbClr val="E6EDF3"/>
                </a:solidFill>
                <a:latin typeface="Consolas"/>
              </a:rPr>
              <a:t> </a:t>
            </a:r>
            <a:r>
              <a:rPr sz="750" i="0">
                <a:solidFill>
                  <a:srgbClr val="F9C97A"/>
                </a:solidFill>
                <a:latin typeface="Consolas"/>
              </a:rPr>
              <a:t>200_000</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C3A6FF"/>
                </a:solidFill>
                <a:latin typeface="Consolas"/>
              </a:rPr>
              <a:t>print</a:t>
            </a:r>
            <a:r>
              <a:rPr sz="750" i="0">
                <a:solidFill>
                  <a:srgbClr val="E6EDF3"/>
                </a:solidFill>
                <a:latin typeface="Consolas"/>
              </a:rPr>
              <a:t>(</a:t>
            </a:r>
            <a:r>
              <a:rPr sz="750" i="0">
                <a:solidFill>
                  <a:srgbClr val="C3A6FF"/>
                </a:solidFill>
                <a:latin typeface="Consolas"/>
              </a:rPr>
              <a:t>type</a:t>
            </a:r>
            <a:r>
              <a:rPr sz="750" i="0">
                <a:solidFill>
                  <a:srgbClr val="E6EDF3"/>
                </a:solidFill>
                <a:latin typeface="Consolas"/>
              </a:rPr>
              <a:t>(</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__name__</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repo</a:t>
            </a:r>
            <a:r>
              <a:rPr sz="750" i="0">
                <a:solidFill>
                  <a:srgbClr val="E6EDF3"/>
                </a:solidFill>
                <a:latin typeface="Consolas"/>
              </a:rPr>
              <a:t>.</a:t>
            </a:r>
            <a:r>
              <a:rPr sz="750" i="0">
                <a:solidFill>
                  <a:srgbClr val="E6EDF3"/>
                </a:solidFill>
                <a:latin typeface="Consolas"/>
              </a:rPr>
              <a:t>get</a:t>
            </a:r>
            <a:r>
              <a:rPr sz="750" i="0">
                <a:solidFill>
                  <a:srgbClr val="E6EDF3"/>
                </a:solidFill>
                <a:latin typeface="Consolas"/>
              </a:rPr>
              <a:t>(</a:t>
            </a:r>
            <a:r>
              <a:rPr sz="750" i="0">
                <a:solidFill>
                  <a:srgbClr val="E6EDF3"/>
                </a:solidFill>
                <a:latin typeface="Consolas"/>
              </a:rPr>
              <a:t>order_id</a:t>
            </a:r>
            <a:r>
              <a:rPr sz="750" i="0">
                <a:solidFill>
                  <a:srgbClr val="E6EDF3"/>
                </a:solidFill>
                <a:latin typeface="Consolas"/>
              </a:rPr>
              <a:t>)</a:t>
            </a:r>
            <a:r>
              <a:rPr sz="750" i="0">
                <a:solidFill>
                  <a:srgbClr val="E6EDF3"/>
                </a:solidFill>
                <a:latin typeface="Consolas"/>
              </a:rPr>
              <a:t>)</a:t>
            </a:r>
          </a:p>
        </p:txBody>
      </p:sp>
      <p:sp>
        <p:nvSpPr>
          <p:cNvPr id="29" name="Box 12"/>
          <p:cNvSpPr/>
          <p:nvPr/>
        </p:nvSpPr>
        <p:spPr>
          <a:xfrm>
            <a:off x="704088" y="2462022"/>
            <a:ext cx="509320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67842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589022"/>
            <a:ext cx="509320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385816" y="2529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1954022"/>
            <a:ext cx="509320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678424" y="1894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5" name="Box 18"/>
          <p:cNvSpPr/>
          <p:nvPr/>
        </p:nvSpPr>
        <p:spPr>
          <a:xfrm>
            <a:off x="704088" y="2081022"/>
            <a:ext cx="509320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Box 19"/>
          <p:cNvSpPr/>
          <p:nvPr/>
        </p:nvSpPr>
        <p:spPr>
          <a:xfrm>
            <a:off x="5385816"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
        <p:nvSpPr>
          <p:cNvPr id="37" name="Box 20"/>
          <p:cNvSpPr/>
          <p:nvPr/>
        </p:nvSpPr>
        <p:spPr>
          <a:xfrm>
            <a:off x="704088" y="2716022"/>
            <a:ext cx="509320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Box 21"/>
          <p:cNvSpPr/>
          <p:nvPr/>
        </p:nvSpPr>
        <p:spPr>
          <a:xfrm>
            <a:off x="5678424" y="265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5</a:t>
            </a:r>
          </a:p>
        </p:txBody>
      </p:sp>
      <p:sp>
        <p:nvSpPr>
          <p:cNvPr id="39" name="CodeBg 23"/>
          <p:cNvSpPr/>
          <p:nvPr/>
        </p:nvSpPr>
        <p:spPr>
          <a:xfrm>
            <a:off x="621792" y="4041648"/>
            <a:ext cx="5257800" cy="658368"/>
          </a:xfrm>
          <a:prstGeom prst="roundRect">
            <a:avLst>
              <a:gd name="adj" fmla="val 1111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40" name="Code 24"/>
          <p:cNvSpPr txBox="1"/>
          <p:nvPr/>
        </p:nvSpPr>
        <p:spPr>
          <a:xfrm>
            <a:off x="621792" y="4041648"/>
            <a:ext cx="5257800" cy="658368"/>
          </a:xfrm>
          <a:prstGeom prst="rect">
            <a:avLst/>
          </a:prstGeom>
          <a:noFill/>
        </p:spPr>
        <p:txBody>
          <a:bodyPr wrap="none" lIns="146304" rIns="146304" tIns="91440" bIns="54864">
            <a:spAutoFit/>
          </a:bodyPr>
          <a:lstStyle/>
          <a:p>
            <a:pPr>
              <a:lnSpc>
                <a:spcPts val="1000"/>
              </a:lnSpc>
              <a:spcAft>
                <a:spcPts val="0"/>
              </a:spcAft>
            </a:pPr>
            <a:r>
              <a:rPr sz="800" i="0">
                <a:solidFill>
                  <a:srgbClr val="E6EDF3"/>
                </a:solidFill>
                <a:latin typeface="Consolas"/>
              </a:rPr>
              <a:t>$ python after.py</a:t>
            </a:r>
          </a:p>
          <a:p>
            <a:pPr>
              <a:lnSpc>
                <a:spcPts val="1000"/>
              </a:lnSpc>
              <a:spcAft>
                <a:spcPts val="0"/>
              </a:spcAft>
            </a:pPr>
            <a:r>
              <a:rPr sz="800" i="0">
                <a:solidFill>
                  <a:srgbClr val="E6EDF3"/>
                </a:solidFill>
                <a:latin typeface="Consolas"/>
              </a:rPr>
              <a:t>SqliteOrderRepository {'id': 1, 'customer': 'budi@mail.com', 'total': 190000}</a:t>
            </a:r>
          </a:p>
          <a:p>
            <a:pPr>
              <a:lnSpc>
                <a:spcPts val="1000"/>
              </a:lnSpc>
              <a:spcAft>
                <a:spcPts val="0"/>
              </a:spcAft>
            </a:pPr>
            <a:r>
              <a:rPr sz="800" i="0">
                <a:solidFill>
                  <a:srgbClr val="E6EDF3"/>
                </a:solidFill>
                <a:latin typeface="Consolas"/>
              </a:rPr>
              <a:t>InMemoryOrderRepository {'id': 1, 'customer': 'budi@mail.com', 'total': 190000}</a:t>
            </a:r>
          </a:p>
        </p:txBody>
      </p:sp>
      <p:sp>
        <p:nvSpPr>
          <p:cNvPr id="41" name="Box 25"/>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1</a:t>
            </a:r>
          </a:p>
        </p:txBody>
      </p:sp>
      <p:sp>
        <p:nvSpPr>
          <p:cNvPr id="42" name="Text 26"/>
          <p:cNvSpPr txBox="1"/>
          <p:nvPr/>
        </p:nvSpPr>
        <p:spPr>
          <a:xfrm>
            <a:off x="6391656" y="1463040"/>
            <a:ext cx="2093975"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Dua repository dibuat: SQLite dan in-memory. Keduanya punya </a:t>
            </a:r>
            <a:r>
              <a:rPr sz="850" i="0" b="0">
                <a:solidFill>
                  <a:srgbClr val="B5482A"/>
                </a:solidFill>
                <a:latin typeface="Consolas"/>
              </a:rPr>
              <a:t>add()</a:t>
            </a:r>
            <a:r>
              <a:rPr sz="850" i="0" b="0">
                <a:solidFill>
                  <a:srgbClr val="434343"/>
                </a:solidFill>
                <a:latin typeface="Inter"/>
              </a:rPr>
              <a:t> dan </a:t>
            </a:r>
            <a:r>
              <a:rPr sz="850" i="0" b="0">
                <a:solidFill>
                  <a:srgbClr val="B5482A"/>
                </a:solidFill>
                <a:latin typeface="Consolas"/>
              </a:rPr>
              <a:t>get()</a:t>
            </a:r>
          </a:p>
        </p:txBody>
      </p:sp>
      <p:sp>
        <p:nvSpPr>
          <p:cNvPr id="43" name="Box 27"/>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2</a:t>
            </a:r>
          </a:p>
        </p:txBody>
      </p:sp>
      <p:sp>
        <p:nvSpPr>
          <p:cNvPr id="44" name="Text 28"/>
          <p:cNvSpPr txBox="1"/>
          <p:nvPr/>
        </p:nvSpPr>
        <p:spPr>
          <a:xfrm>
            <a:off x="6391656" y="2106777"/>
            <a:ext cx="2093975"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Repository diberikan ke </a:t>
            </a:r>
            <a:r>
              <a:rPr sz="850" i="0" b="0">
                <a:solidFill>
                  <a:srgbClr val="B5482A"/>
                </a:solidFill>
                <a:latin typeface="Consolas"/>
              </a:rPr>
              <a:t>place_order</a:t>
            </a:r>
            <a:r>
              <a:rPr sz="850" i="0" b="0">
                <a:solidFill>
                  <a:srgbClr val="434343"/>
                </a:solidFill>
                <a:latin typeface="Inter"/>
              </a:rPr>
              <a:t> sebagai argumen</a:t>
            </a:r>
          </a:p>
        </p:txBody>
      </p:sp>
      <p:sp>
        <p:nvSpPr>
          <p:cNvPr id="45" name="Box 29"/>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3</a:t>
            </a:r>
          </a:p>
        </p:txBody>
      </p:sp>
      <p:sp>
        <p:nvSpPr>
          <p:cNvPr id="46" name="Text 30"/>
          <p:cNvSpPr txBox="1"/>
          <p:nvPr/>
        </p:nvSpPr>
        <p:spPr>
          <a:xfrm>
            <a:off x="6391656" y="2750515"/>
            <a:ext cx="2093975"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place_order</a:t>
            </a:r>
            <a:r>
              <a:rPr sz="850" i="0" b="0">
                <a:solidFill>
                  <a:srgbClr val="434343"/>
                </a:solidFill>
                <a:latin typeface="Inter"/>
              </a:rPr>
              <a:t> menghitung total: business logic, tanpa SQL</a:t>
            </a:r>
          </a:p>
        </p:txBody>
      </p:sp>
      <p:sp>
        <p:nvSpPr>
          <p:cNvPr id="47" name="Box 31"/>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4</a:t>
            </a:r>
          </a:p>
        </p:txBody>
      </p:sp>
      <p:sp>
        <p:nvSpPr>
          <p:cNvPr id="48" name="Text 32"/>
          <p:cNvSpPr txBox="1"/>
          <p:nvPr/>
        </p:nvSpPr>
        <p:spPr>
          <a:xfrm>
            <a:off x="6391656" y="3394252"/>
            <a:ext cx="2093975" cy="643737"/>
          </a:xfrm>
          <a:prstGeom prst="rect">
            <a:avLst/>
          </a:prstGeom>
          <a:noFill/>
        </p:spPr>
        <p:txBody>
          <a:bodyPr wrap="square" anchor="t" lIns="45720" rIns="45720">
            <a:spAutoFit/>
          </a:bodyPr>
          <a:lstStyle/>
          <a:p>
            <a:pPr algn="l">
              <a:lnSpc>
                <a:spcPct val="115000"/>
              </a:lnSpc>
              <a:spcAft>
                <a:spcPts val="400"/>
              </a:spcAft>
            </a:pPr>
            <a:r>
              <a:rPr sz="850" i="0" b="0">
                <a:solidFill>
                  <a:srgbClr val="B5482A"/>
                </a:solidFill>
                <a:latin typeface="Consolas"/>
              </a:rPr>
              <a:t>repo.add()</a:t>
            </a:r>
            <a:r>
              <a:rPr sz="850" i="0" b="0">
                <a:solidFill>
                  <a:srgbClr val="434343"/>
                </a:solidFill>
                <a:latin typeface="Inter"/>
              </a:rPr>
              <a:t> menjalankan versi milik object yang diberikan: INSERT ke SQLite, atau simpan ke dict</a:t>
            </a:r>
          </a:p>
        </p:txBody>
      </p:sp>
      <p:sp>
        <p:nvSpPr>
          <p:cNvPr id="49" name="Box 33"/>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00" i="0" b="1">
                <a:solidFill>
                  <a:srgbClr val="FFFFFF"/>
                </a:solidFill>
                <a:latin typeface="Inter"/>
              </a:rPr>
              <a:t>5</a:t>
            </a:r>
          </a:p>
        </p:txBody>
      </p:sp>
      <p:sp>
        <p:nvSpPr>
          <p:cNvPr id="50" name="Text 34"/>
          <p:cNvSpPr txBox="1"/>
          <p:nvPr/>
        </p:nvSpPr>
        <p:spPr>
          <a:xfrm>
            <a:off x="6391656" y="4037990"/>
            <a:ext cx="2093975" cy="643737"/>
          </a:xfrm>
          <a:prstGeom prst="rect">
            <a:avLst/>
          </a:prstGeom>
          <a:noFill/>
        </p:spPr>
        <p:txBody>
          <a:bodyPr wrap="square" anchor="t" lIns="45720" rIns="45720">
            <a:spAutoFit/>
          </a:bodyPr>
          <a:lstStyle/>
          <a:p>
            <a:pPr algn="l">
              <a:lnSpc>
                <a:spcPct val="115000"/>
              </a:lnSpc>
              <a:spcAft>
                <a:spcPts val="400"/>
              </a:spcAft>
            </a:pPr>
            <a:r>
              <a:rPr sz="850" i="0" b="0">
                <a:solidFill>
                  <a:srgbClr val="434343"/>
                </a:solidFill>
                <a:latin typeface="Inter"/>
              </a:rPr>
              <a:t>Hasilnya sama persis. </a:t>
            </a:r>
            <a:r>
              <a:rPr sz="850" i="0" b="0">
                <a:solidFill>
                  <a:srgbClr val="B5482A"/>
                </a:solidFill>
                <a:latin typeface="Consolas"/>
              </a:rPr>
              <a:t>place_order</a:t>
            </a:r>
            <a:r>
              <a:rPr sz="850" i="0" b="0">
                <a:solidFill>
                  <a:srgbClr val="434343"/>
                </a:solidFill>
                <a:latin typeface="Inter"/>
              </a:rPr>
              <a:t> tidak berubah sama sekali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Rangkuman Bagian 1</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Perbandingan &amp; Trade-off</a:t>
            </a:r>
          </a:p>
        </p:txBody>
      </p:sp>
      <p:graphicFrame>
        <p:nvGraphicFramePr>
          <p:cNvPr id="22" name="Table 3"/>
          <p:cNvGraphicFramePr>
            <a:graphicFrameLocks noGrp="1"/>
          </p:cNvGraphicFramePr>
          <p:nvPr/>
        </p:nvGraphicFramePr>
        <p:xfrm>
          <a:off x="621792" y="1481328"/>
          <a:ext cx="7863840" cy="2834640"/>
        </p:xfrm>
        <a:graphic>
          <a:graphicData uri="http://schemas.openxmlformats.org/drawingml/2006/table">
            <a:tbl>
              <a:tblPr firstRow="1" bandRow="1"/>
              <a:tblGrid>
                <a:gridCol w="1097280"/>
                <a:gridCol w="2194560"/>
                <a:gridCol w="2377440"/>
                <a:gridCol w="2194560"/>
              </a:tblGrid>
              <a:tr h="566928">
                <a:tc>
                  <a:txBody>
                    <a:bodyPr wrap="square"/>
                    <a:lstStyle/>
                    <a:p>
                      <a:pPr algn="l">
                        <a:lnSpc>
                          <a:spcPct val="100000"/>
                        </a:lnSpc>
                        <a:spcAft>
                          <a:spcPts val="0"/>
                        </a:spcAft>
                      </a:pPr>
                      <a:r>
                        <a:rPr sz="900" i="0" b="1">
                          <a:solidFill>
                            <a:srgbClr val="FFFFFF"/>
                          </a:solidFill>
                          <a:latin typeface="Inter"/>
                        </a:rPr>
                        <a:t>Pattern</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Masalah yang diselesaikan</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Kapan dipakai</a:t>
                      </a:r>
                    </a:p>
                  </a:txBody>
                  <a:tcPr marL="73152" marR="73152" marT="36576" marB="36576" anchor="ctr">
                    <a:solidFill>
                      <a:srgbClr val="1C4587"/>
                    </a:solidFill>
                  </a:tcPr>
                </a:tc>
                <a:tc>
                  <a:txBody>
                    <a:bodyPr wrap="square"/>
                    <a:lstStyle/>
                    <a:p>
                      <a:pPr algn="l">
                        <a:lnSpc>
                          <a:spcPct val="100000"/>
                        </a:lnSpc>
                        <a:spcAft>
                          <a:spcPts val="0"/>
                        </a:spcAft>
                      </a:pPr>
                      <a:r>
                        <a:rPr sz="900" i="0" b="1">
                          <a:solidFill>
                            <a:srgbClr val="FFFFFF"/>
                          </a:solidFill>
                          <a:latin typeface="Inter"/>
                        </a:rPr>
                        <a:t>Trade-off</a:t>
                      </a:r>
                    </a:p>
                  </a:txBody>
                  <a:tcPr marL="73152" marR="73152" marT="36576" marB="36576" anchor="ctr">
                    <a:solidFill>
                      <a:srgbClr val="1C4587"/>
                    </a:solidFill>
                  </a:tcPr>
                </a:tc>
              </a:tr>
              <a:tr h="566928">
                <a:tc>
                  <a:txBody>
                    <a:bodyPr wrap="square"/>
                    <a:lstStyle/>
                    <a:p>
                      <a:pPr algn="l">
                        <a:lnSpc>
                          <a:spcPct val="100000"/>
                        </a:lnSpc>
                        <a:spcAft>
                          <a:spcPts val="0"/>
                        </a:spcAft>
                      </a:pPr>
                      <a:r>
                        <a:rPr sz="900" i="0" b="1">
                          <a:solidFill>
                            <a:srgbClr val="1C4587"/>
                          </a:solidFill>
                          <a:latin typeface="Inter"/>
                        </a:rPr>
                        <a:t>Factory</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If/elif pembuatan object tersebar</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Ada beberapa jenis object yang dipilih saat program jalan</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Tambah satu lapisan: harus buka factory untuk tahu class aslinya</a:t>
                      </a:r>
                    </a:p>
                  </a:txBody>
                  <a:tcPr marL="73152" marR="73152" marT="36576" marB="36576" anchor="ctr">
                    <a:solidFill>
                      <a:srgbClr val="FFFFFF"/>
                    </a:solidFill>
                  </a:tcPr>
                </a:tc>
              </a:tr>
              <a:tr h="566928">
                <a:tc>
                  <a:txBody>
                    <a:bodyPr wrap="square"/>
                    <a:lstStyle/>
                    <a:p>
                      <a:pPr algn="l">
                        <a:lnSpc>
                          <a:spcPct val="100000"/>
                        </a:lnSpc>
                        <a:spcAft>
                          <a:spcPts val="0"/>
                        </a:spcAft>
                      </a:pPr>
                      <a:r>
                        <a:rPr sz="900" i="0" b="1">
                          <a:solidFill>
                            <a:srgbClr val="1C4587"/>
                          </a:solidFill>
                          <a:latin typeface="Inter"/>
                        </a:rPr>
                        <a:t>Singleton</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Object yang sama dibuat berulang-ulang</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Config aplikasi, koneksi database</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Nilainya dipakai bersama, test perlu </a:t>
                      </a:r>
                      <a:r>
                        <a:rPr sz="900" i="0" b="0">
                          <a:solidFill>
                            <a:srgbClr val="B5482A"/>
                          </a:solidFill>
                          <a:latin typeface="Consolas"/>
                        </a:rPr>
                        <a:t>cache_clear()</a:t>
                      </a:r>
                    </a:p>
                  </a:txBody>
                  <a:tcPr marL="73152" marR="73152" marT="36576" marB="36576" anchor="ctr">
                    <a:solidFill>
                      <a:srgbClr val="F3F4F6"/>
                    </a:solidFill>
                  </a:tcPr>
                </a:tc>
              </a:tr>
              <a:tr h="566928">
                <a:tc>
                  <a:txBody>
                    <a:bodyPr wrap="square"/>
                    <a:lstStyle/>
                    <a:p>
                      <a:pPr algn="l">
                        <a:lnSpc>
                          <a:spcPct val="100000"/>
                        </a:lnSpc>
                        <a:spcAft>
                          <a:spcPts val="0"/>
                        </a:spcAft>
                      </a:pPr>
                      <a:r>
                        <a:rPr sz="900" i="0" b="1">
                          <a:solidFill>
                            <a:srgbClr val="1C4587"/>
                          </a:solidFill>
                          <a:latin typeface="Inter"/>
                        </a:rPr>
                        <a:t>Strategy</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Function penuh if/elif aturan</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Aturan yang sering bertambah atau berubah</a:t>
                      </a:r>
                    </a:p>
                  </a:txBody>
                  <a:tcPr marL="73152" marR="73152" marT="36576" marB="36576" anchor="ctr">
                    <a:solidFill>
                      <a:srgbClr val="FFFFFF"/>
                    </a:solidFill>
                  </a:tcPr>
                </a:tc>
                <a:tc>
                  <a:txBody>
                    <a:bodyPr wrap="square"/>
                    <a:lstStyle/>
                    <a:p>
                      <a:pPr algn="l">
                        <a:lnSpc>
                          <a:spcPct val="100000"/>
                        </a:lnSpc>
                        <a:spcAft>
                          <a:spcPts val="0"/>
                        </a:spcAft>
                      </a:pPr>
                      <a:r>
                        <a:rPr sz="900" i="0" b="0">
                          <a:solidFill>
                            <a:srgbClr val="434343"/>
                          </a:solidFill>
                          <a:latin typeface="Inter"/>
                        </a:rPr>
                        <a:t>Jumlah class bertambah</a:t>
                      </a:r>
                    </a:p>
                  </a:txBody>
                  <a:tcPr marL="73152" marR="73152" marT="36576" marB="36576" anchor="ctr">
                    <a:solidFill>
                      <a:srgbClr val="FFFFFF"/>
                    </a:solidFill>
                  </a:tcPr>
                </a:tc>
              </a:tr>
              <a:tr h="566928">
                <a:tc>
                  <a:txBody>
                    <a:bodyPr wrap="square"/>
                    <a:lstStyle/>
                    <a:p>
                      <a:pPr algn="l">
                        <a:lnSpc>
                          <a:spcPct val="100000"/>
                        </a:lnSpc>
                        <a:spcAft>
                          <a:spcPts val="0"/>
                        </a:spcAft>
                      </a:pPr>
                      <a:r>
                        <a:rPr sz="900" i="0" b="1">
                          <a:solidFill>
                            <a:srgbClr val="1C4587"/>
                          </a:solidFill>
                          <a:latin typeface="Inter"/>
                        </a:rPr>
                        <a:t>Repository</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SQL campur business logic</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Logic perlu dites tanpa database, database mungkin diganti</a:t>
                      </a:r>
                    </a:p>
                  </a:txBody>
                  <a:tcPr marL="73152" marR="73152" marT="36576" marB="36576" anchor="ctr">
                    <a:solidFill>
                      <a:srgbClr val="F3F4F6"/>
                    </a:solidFill>
                  </a:tcPr>
                </a:tc>
                <a:tc>
                  <a:txBody>
                    <a:bodyPr wrap="square"/>
                    <a:lstStyle/>
                    <a:p>
                      <a:pPr algn="l">
                        <a:lnSpc>
                          <a:spcPct val="100000"/>
                        </a:lnSpc>
                        <a:spcAft>
                          <a:spcPts val="0"/>
                        </a:spcAft>
                      </a:pPr>
                      <a:r>
                        <a:rPr sz="900" i="0" b="0">
                          <a:solidFill>
                            <a:srgbClr val="434343"/>
                          </a:solidFill>
                          <a:latin typeface="Inter"/>
                        </a:rPr>
                        <a:t>Kode tambahan untuk tiap entity</a:t>
                      </a:r>
                    </a:p>
                  </a:txBody>
                  <a:tcPr marL="73152" marR="73152" marT="36576" marB="36576" anchor="ctr">
                    <a:solidFill>
                      <a:srgbClr val="F3F4F6"/>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 name="Google Shape;30;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31" name="Text 1"/>
          <p:cNvSpPr txBox="1"/>
          <p:nvPr/>
        </p:nvSpPr>
        <p:spPr>
          <a:xfrm>
            <a:off x="822960" y="1600200"/>
            <a:ext cx="7315200" cy="365760"/>
          </a:xfrm>
          <a:prstGeom prst="rect">
            <a:avLst/>
          </a:prstGeom>
          <a:noFill/>
        </p:spPr>
        <p:txBody>
          <a:bodyPr wrap="square" anchor="t" lIns="45720" rIns="45720">
            <a:spAutoFit/>
          </a:bodyPr>
          <a:lstStyle/>
          <a:p>
            <a:pPr algn="l">
              <a:lnSpc>
                <a:spcPct val="115000"/>
              </a:lnSpc>
              <a:spcAft>
                <a:spcPts val="400"/>
              </a:spcAft>
            </a:pPr>
            <a:r>
              <a:rPr sz="1400" i="0" b="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anchor="t" lIns="45720" rIns="45720">
            <a:spAutoFit/>
          </a:bodyPr>
          <a:lstStyle/>
          <a:p>
            <a:pPr algn="l">
              <a:lnSpc>
                <a:spcPct val="115000"/>
              </a:lnSpc>
              <a:spcAft>
                <a:spcPts val="400"/>
              </a:spcAft>
            </a:pPr>
            <a:r>
              <a:rPr sz="3000" i="0" b="0">
                <a:solidFill>
                  <a:srgbClr val="FFFFFF"/>
                </a:solidFill>
                <a:latin typeface="Work Sans ExtraBold"/>
              </a:rPr>
              <a:t>Service Layer</a:t>
            </a:r>
          </a:p>
        </p:txBody>
      </p:sp>
      <p:sp>
        <p:nvSpPr>
          <p:cNvPr id="33" name="Text 3"/>
          <p:cNvSpPr txBox="1"/>
          <p:nvPr/>
        </p:nvSpPr>
        <p:spPr>
          <a:xfrm>
            <a:off x="822960" y="2743200"/>
            <a:ext cx="6583680" cy="731520"/>
          </a:xfrm>
          <a:prstGeom prst="rect">
            <a:avLst/>
          </a:prstGeom>
          <a:noFill/>
        </p:spPr>
        <p:txBody>
          <a:bodyPr wrap="square" anchor="t" lIns="45720" rIns="45720">
            <a:spAutoFit/>
          </a:bodyPr>
          <a:lstStyle/>
          <a:p>
            <a:pPr algn="l">
              <a:lnSpc>
                <a:spcPct val="115000"/>
              </a:lnSpc>
              <a:spcAft>
                <a:spcPts val="400"/>
              </a:spcAft>
            </a:pPr>
            <a:r>
              <a:rPr sz="1200" i="0" b="0">
                <a:solidFill>
                  <a:srgbClr val="E3ECFA"/>
                </a:solidFill>
                <a:latin typeface="Inter"/>
              </a:rPr>
              <a:t>Memisahkan business logic dari HTTP dan dari persistence logic.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Apa Itu Service Layer?</a:t>
            </a:r>
          </a:p>
        </p:txBody>
      </p:sp>
      <p:sp>
        <p:nvSpPr>
          <p:cNvPr id="22" name="Text 3"/>
          <p:cNvSpPr txBox="1"/>
          <p:nvPr/>
        </p:nvSpPr>
        <p:spPr>
          <a:xfrm>
            <a:off x="621792" y="1481328"/>
            <a:ext cx="3291840" cy="3291840"/>
          </a:xfrm>
          <a:prstGeom prst="rect">
            <a:avLst/>
          </a:prstGeom>
          <a:noFill/>
        </p:spPr>
        <p:txBody>
          <a:bodyPr wrap="square" anchor="t" lIns="45720" rIns="45720">
            <a:spAutoFit/>
          </a:bodyPr>
          <a:lstStyle/>
          <a:p>
            <a:pPr algn="l">
              <a:lnSpc>
                <a:spcPct val="115000"/>
              </a:lnSpc>
              <a:spcAft>
                <a:spcPts val="400"/>
              </a:spcAft>
            </a:pPr>
            <a:r>
              <a:rPr sz="1000" i="0" b="1">
                <a:solidFill>
                  <a:srgbClr val="1C4587"/>
                </a:solidFill>
                <a:latin typeface="Inter"/>
              </a:rPr>
              <a:t>Tanpa Service Layer</a:t>
            </a:r>
          </a:p>
          <a:p>
            <a:pPr algn="l">
              <a:lnSpc>
                <a:spcPct val="115000"/>
              </a:lnSpc>
              <a:spcAft>
                <a:spcPts val="400"/>
              </a:spcAft>
            </a:pPr>
            <a:r>
              <a:rPr sz="900" i="0" b="0">
                <a:solidFill>
                  <a:srgbClr val="434343"/>
                </a:solidFill>
                <a:latin typeface="Inter"/>
              </a:rPr>
              <a:t>Semua dikerjakan di dalam route FastAPI: cek minimal order, hitung total, simpan, lalu kirim notifikasi.</a:t>
            </a:r>
          </a:p>
          <a:p>
            <a:pPr algn="l">
              <a:lnSpc>
                <a:spcPct val="115000"/>
              </a:lnSpc>
              <a:spcAft>
                <a:spcPts val="400"/>
              </a:spcAft>
            </a:pPr>
            <a:r>
              <a:rPr sz="1000" i="0" b="1">
                <a:solidFill>
                  <a:srgbClr val="1C4587"/>
                </a:solidFill>
                <a:latin typeface="Inter"/>
              </a:rPr>
              <a:t>Kalau aturannya makin banyak</a:t>
            </a:r>
          </a:p>
          <a:p>
            <a:pPr algn="l">
              <a:lnSpc>
                <a:spcPct val="115000"/>
              </a:lnSpc>
              <a:spcAft>
                <a:spcPts val="400"/>
              </a:spcAft>
            </a:pPr>
            <a:r>
              <a:rPr sz="900" i="0" b="0">
                <a:solidFill>
                  <a:srgbClr val="434343"/>
                </a:solidFill>
                <a:latin typeface="Inter"/>
              </a:rPr>
              <a:t>Route makin panjang. Business logic terkunci di dalam HTTP handler: tidak bisa dipakai ulang dari CLI atau background job, dan hanya bisa dites lewat request HTTP.</a:t>
            </a:r>
          </a:p>
          <a:p>
            <a:pPr algn="l">
              <a:lnSpc>
                <a:spcPct val="115000"/>
              </a:lnSpc>
              <a:spcAft>
                <a:spcPts val="400"/>
              </a:spcAft>
            </a:pPr>
            <a:r>
              <a:rPr sz="1000" i="0" b="1">
                <a:solidFill>
                  <a:srgbClr val="1C4587"/>
                </a:solidFill>
                <a:latin typeface="Inter"/>
              </a:rPr>
              <a:t>Service Layer adalah</a:t>
            </a:r>
          </a:p>
          <a:p>
            <a:pPr algn="l">
              <a:lnSpc>
                <a:spcPct val="115000"/>
              </a:lnSpc>
              <a:spcAft>
                <a:spcPts val="400"/>
              </a:spcAft>
            </a:pPr>
            <a:r>
              <a:rPr sz="900" i="0" b="0">
                <a:solidFill>
                  <a:srgbClr val="434343"/>
                </a:solidFill>
                <a:latin typeface="Inter"/>
              </a:rPr>
              <a:t>Lapisan khusus tempat </a:t>
            </a:r>
            <a:r>
              <a:rPr sz="900" i="0" b="1">
                <a:solidFill>
                  <a:srgbClr val="434343"/>
                </a:solidFill>
                <a:latin typeface="Inter"/>
              </a:rPr>
              <a:t>business logic</a:t>
            </a:r>
            <a:r>
              <a:rPr sz="900" i="0" b="0">
                <a:solidFill>
                  <a:srgbClr val="434343"/>
                </a:solidFill>
                <a:latin typeface="Inter"/>
              </a:rPr>
              <a:t>. Route cukup menerima request, memanggil service, lalu mengembalikan response.</a:t>
            </a:r>
          </a:p>
          <a:p>
            <a:pPr algn="l">
              <a:lnSpc>
                <a:spcPct val="115000"/>
              </a:lnSpc>
              <a:spcAft>
                <a:spcPts val="400"/>
              </a:spcAft>
            </a:pPr>
            <a:r>
              <a:rPr sz="1000" i="0" b="1">
                <a:solidFill>
                  <a:srgbClr val="1C4587"/>
                </a:solidFill>
                <a:latin typeface="Inter"/>
              </a:rPr>
              <a:t>Untuk apa</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Business logic bisa dipakai dari mana saja dan dites tanpa HTTP</a:t>
            </a:r>
          </a:p>
          <a:p>
            <a:pPr algn="l" marL="182880" indent="-182880">
              <a:lnSpc>
                <a:spcPct val="115000"/>
              </a:lnSpc>
              <a:spcAft>
                <a:spcPts val="400"/>
              </a:spcAft>
              <a:buClr>
                <a:srgbClr val="E0764F"/>
              </a:buClr>
              <a:buSzPct val="100000"/>
              <a:buFont typeface="Arial"/>
              <a:buChar char="•"/>
            </a:pPr>
            <a:r>
              <a:rPr sz="900" i="0" b="0">
                <a:solidFill>
                  <a:srgbClr val="434343"/>
                </a:solidFill>
                <a:latin typeface="Inter"/>
              </a:rPr>
              <a:t>Aturan praktis: service </a:t>
            </a:r>
            <a:r>
              <a:rPr sz="900" i="0" b="1">
                <a:solidFill>
                  <a:srgbClr val="434343"/>
                </a:solidFill>
                <a:latin typeface="Inter"/>
              </a:rPr>
              <a:t>tidak import</a:t>
            </a:r>
            <a:r>
              <a:rPr sz="900" i="0" b="0">
                <a:solidFill>
                  <a:srgbClr val="434343"/>
                </a:solidFill>
                <a:latin typeface="Inter"/>
              </a:rPr>
              <a:t> FastAPI maupun library database</a:t>
            </a:r>
          </a:p>
        </p:txBody>
      </p:sp>
      <p:sp>
        <p:nvSpPr>
          <p:cNvPr id="23" name="CodeTab 5"/>
          <p:cNvSpPr/>
          <p:nvPr/>
        </p:nvSpPr>
        <p:spPr>
          <a:xfrm>
            <a:off x="4069080" y="1481328"/>
            <a:ext cx="44165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Dot 6"/>
          <p:cNvSpPr/>
          <p:nvPr/>
        </p:nvSpPr>
        <p:spPr>
          <a:xfrm>
            <a:off x="41788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43159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t 8"/>
          <p:cNvSpPr/>
          <p:nvPr/>
        </p:nvSpPr>
        <p:spPr>
          <a:xfrm>
            <a:off x="44531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9"/>
          <p:cNvSpPr txBox="1"/>
          <p:nvPr/>
        </p:nvSpPr>
        <p:spPr>
          <a:xfrm>
            <a:off x="4617720" y="1490472"/>
            <a:ext cx="37764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tanpa service layer: 05-service-layer/before.py</a:t>
            </a:r>
          </a:p>
        </p:txBody>
      </p:sp>
      <p:sp>
        <p:nvSpPr>
          <p:cNvPr id="28" name="CodeBg 11"/>
          <p:cNvSpPr/>
          <p:nvPr/>
        </p:nvSpPr>
        <p:spPr>
          <a:xfrm>
            <a:off x="4069080" y="1719072"/>
            <a:ext cx="4416551" cy="868680"/>
          </a:xfrm>
          <a:prstGeom prst="roundRect">
            <a:avLst>
              <a:gd name="adj" fmla="val 210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Code 12"/>
          <p:cNvSpPr txBox="1"/>
          <p:nvPr/>
        </p:nvSpPr>
        <p:spPr>
          <a:xfrm>
            <a:off x="4069080" y="1719072"/>
            <a:ext cx="4416551" cy="868680"/>
          </a:xfrm>
          <a:prstGeom prst="rect">
            <a:avLst/>
          </a:prstGeom>
          <a:noFill/>
        </p:spPr>
        <p:txBody>
          <a:bodyPr wrap="none" lIns="146304" rIns="146304" tIns="91440" bIns="54864">
            <a:spAutoFit/>
          </a:bodyPr>
          <a:lstStyle/>
          <a:p>
            <a:pPr>
              <a:lnSpc>
                <a:spcPts val="900"/>
              </a:lnSpc>
              <a:spcAft>
                <a:spcPts val="0"/>
              </a:spcAft>
            </a:pPr>
            <a:r>
              <a:rPr sz="725" i="0">
                <a:solidFill>
                  <a:srgbClr val="F9C97A"/>
                </a:solidFill>
                <a:latin typeface="Consolas"/>
              </a:rPr>
              <a:t>@app.post</a:t>
            </a:r>
            <a:r>
              <a:rPr sz="725" i="0">
                <a:solidFill>
                  <a:srgbClr val="E6EDF3"/>
                </a:solidFill>
                <a:latin typeface="Consolas"/>
              </a:rPr>
              <a:t>(</a:t>
            </a:r>
            <a:r>
              <a:rPr sz="725" i="0">
                <a:solidFill>
                  <a:srgbClr val="A5D6A7"/>
                </a:solidFill>
                <a:latin typeface="Consolas"/>
              </a:rPr>
              <a:t>"/orders"</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status_code</a:t>
            </a:r>
            <a:r>
              <a:rPr sz="725" i="0">
                <a:solidFill>
                  <a:srgbClr val="E6EDF3"/>
                </a:solidFill>
                <a:latin typeface="Consolas"/>
              </a:rPr>
              <a:t>=</a:t>
            </a:r>
            <a:r>
              <a:rPr sz="725" i="0">
                <a:solidFill>
                  <a:srgbClr val="F9C97A"/>
                </a:solidFill>
                <a:latin typeface="Consolas"/>
              </a:rPr>
              <a:t>201</a:t>
            </a:r>
            <a:r>
              <a:rPr sz="725" i="0">
                <a:solidFill>
                  <a:srgbClr val="E6EDF3"/>
                </a:solidFill>
                <a:latin typeface="Consolas"/>
              </a:rPr>
              <a:t>)</a:t>
            </a:r>
          </a:p>
          <a:p>
            <a:pPr>
              <a:lnSpc>
                <a:spcPts val="900"/>
              </a:lnSpc>
              <a:spcAft>
                <a:spcPts val="0"/>
              </a:spcAft>
            </a:pPr>
            <a:r>
              <a:rPr sz="725" i="0">
                <a:solidFill>
                  <a:srgbClr val="FF8E6E"/>
                </a:solidFill>
                <a:latin typeface="Consolas"/>
              </a:rPr>
              <a:t>def</a:t>
            </a:r>
            <a:r>
              <a:rPr sz="725" i="0">
                <a:solidFill>
                  <a:srgbClr val="E6EDF3"/>
                </a:solidFill>
                <a:latin typeface="Consolas"/>
              </a:rPr>
              <a:t> </a:t>
            </a:r>
            <a:r>
              <a:rPr sz="725" i="0">
                <a:solidFill>
                  <a:srgbClr val="82B1FF"/>
                </a:solidFill>
                <a:latin typeface="Consolas"/>
              </a:rPr>
              <a:t>create_order</a:t>
            </a:r>
            <a:r>
              <a:rPr sz="725" i="0">
                <a:solidFill>
                  <a:srgbClr val="E6EDF3"/>
                </a:solidFill>
                <a:latin typeface="Consolas"/>
              </a:rPr>
              <a:t>(</a:t>
            </a:r>
            <a:r>
              <a:rPr sz="725" i="0">
                <a:solidFill>
                  <a:srgbClr val="E6EDF3"/>
                </a:solidFill>
                <a:latin typeface="Consolas"/>
              </a:rPr>
              <a:t>payload</a:t>
            </a:r>
            <a:r>
              <a:rPr sz="725" i="0">
                <a:solidFill>
                  <a:srgbClr val="E6EDF3"/>
                </a:solidFill>
                <a:latin typeface="Consolas"/>
              </a:rPr>
              <a:t>:</a:t>
            </a:r>
            <a:r>
              <a:rPr sz="725" i="0">
                <a:solidFill>
                  <a:srgbClr val="E6EDF3"/>
                </a:solidFill>
                <a:latin typeface="Consolas"/>
              </a:rPr>
              <a:t> </a:t>
            </a:r>
            <a:r>
              <a:rPr sz="725" i="0">
                <a:solidFill>
                  <a:srgbClr val="7FDBCA"/>
                </a:solidFill>
                <a:latin typeface="Consolas"/>
              </a:rPr>
              <a:t>OrderIn</a:t>
            </a:r>
            <a:r>
              <a:rPr sz="725" i="0">
                <a:solidFill>
                  <a:srgbClr val="E6EDF3"/>
                </a:solidFill>
                <a:latin typeface="Consolas"/>
              </a:rPr>
              <a:t>)</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if</a:t>
            </a:r>
            <a:r>
              <a:rPr sz="725" i="0">
                <a:solidFill>
                  <a:srgbClr val="E6EDF3"/>
                </a:solidFill>
                <a:latin typeface="Consolas"/>
              </a:rPr>
              <a:t> </a:t>
            </a:r>
            <a:r>
              <a:rPr sz="725" i="0">
                <a:solidFill>
                  <a:srgbClr val="E6EDF3"/>
                </a:solidFill>
                <a:latin typeface="Consolas"/>
              </a:rPr>
              <a:t>payload</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&lt;</a:t>
            </a:r>
            <a:r>
              <a:rPr sz="725" i="0">
                <a:solidFill>
                  <a:srgbClr val="E6EDF3"/>
                </a:solidFill>
                <a:latin typeface="Consolas"/>
              </a:rPr>
              <a:t> </a:t>
            </a:r>
            <a:r>
              <a:rPr sz="725" i="0">
                <a:solidFill>
                  <a:srgbClr val="F9C97A"/>
                </a:solidFill>
                <a:latin typeface="Consolas"/>
              </a:rPr>
              <a:t>10_000</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FF8E6E"/>
                </a:solidFill>
                <a:latin typeface="Consolas"/>
              </a:rPr>
              <a:t>raise</a:t>
            </a:r>
            <a:r>
              <a:rPr sz="725" i="0">
                <a:solidFill>
                  <a:srgbClr val="E6EDF3"/>
                </a:solidFill>
                <a:latin typeface="Consolas"/>
              </a:rPr>
              <a:t> </a:t>
            </a:r>
            <a:r>
              <a:rPr sz="725" i="0">
                <a:solidFill>
                  <a:srgbClr val="7FDBCA"/>
                </a:solidFill>
                <a:latin typeface="Consolas"/>
              </a:rPr>
              <a:t>HTTPException</a:t>
            </a:r>
            <a:r>
              <a:rPr sz="725" i="0">
                <a:solidFill>
                  <a:srgbClr val="E6EDF3"/>
                </a:solidFill>
                <a:latin typeface="Consolas"/>
              </a:rPr>
              <a:t>(</a:t>
            </a:r>
            <a:r>
              <a:rPr sz="725" i="0">
                <a:solidFill>
                  <a:srgbClr val="F9C97A"/>
                </a:solidFill>
                <a:latin typeface="Consolas"/>
              </a:rPr>
              <a:t>400</a:t>
            </a:r>
            <a:r>
              <a:rPr sz="725" i="0">
                <a:solidFill>
                  <a:srgbClr val="E6EDF3"/>
                </a:solidFill>
                <a:latin typeface="Consolas"/>
              </a:rPr>
              <a:t>,</a:t>
            </a:r>
            <a:r>
              <a:rPr sz="725" i="0">
                <a:solidFill>
                  <a:srgbClr val="E6EDF3"/>
                </a:solidFill>
                <a:latin typeface="Consolas"/>
              </a:rPr>
              <a:t> </a:t>
            </a:r>
            <a:r>
              <a:rPr sz="725" i="0">
                <a:solidFill>
                  <a:srgbClr val="A5D6A7"/>
                </a:solidFill>
                <a:latin typeface="Consolas"/>
              </a:rPr>
              <a:t>"Minimal order Rp10.000"</a:t>
            </a:r>
            <a:r>
              <a:rPr sz="725" i="0">
                <a:solidFill>
                  <a:srgbClr val="E6EDF3"/>
                </a:solidFill>
                <a:latin typeface="Consolas"/>
              </a:rPr>
              <a:t>)</a:t>
            </a:r>
          </a:p>
          <a:p>
            <a:pPr>
              <a:lnSpc>
                <a:spcPts val="900"/>
              </a:lnSpc>
              <a:spcAft>
                <a:spcPts val="0"/>
              </a:spcAft>
            </a:pPr>
            <a:r>
              <a:rPr sz="725" i="0">
                <a:solidFill>
                  <a:srgbClr val="E6EDF3"/>
                </a:solidFill>
                <a:latin typeface="Consolas"/>
              </a:rPr>
              <a:t>    </a:t>
            </a:r>
            <a:r>
              <a:rPr sz="725" i="0">
                <a:solidFill>
                  <a:srgbClr val="E6EDF3"/>
                </a:solidFill>
                <a:latin typeface="Consolas"/>
              </a:rPr>
              <a:t>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payload</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E6EDF3"/>
                </a:solidFill>
                <a:latin typeface="Consolas"/>
              </a:rPr>
              <a:t>payload</a:t>
            </a:r>
            <a:r>
              <a:rPr sz="725" i="0">
                <a:solidFill>
                  <a:srgbClr val="E6EDF3"/>
                </a:solidFill>
                <a:latin typeface="Consolas"/>
              </a:rPr>
              <a:t>.</a:t>
            </a:r>
            <a:r>
              <a:rPr sz="725" i="0">
                <a:solidFill>
                  <a:srgbClr val="E6EDF3"/>
                </a:solidFill>
                <a:latin typeface="Consolas"/>
              </a:rPr>
              <a:t>subtotal</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5</a:t>
            </a: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 </a:t>
            </a:r>
            <a:r>
              <a:rPr sz="725" i="0">
                <a:solidFill>
                  <a:srgbClr val="F9C97A"/>
                </a:solidFill>
                <a:latin typeface="Consolas"/>
              </a:rPr>
              <a:t>100</a:t>
            </a:r>
          </a:p>
          <a:p>
            <a:pPr>
              <a:lnSpc>
                <a:spcPts val="900"/>
              </a:lnSpc>
              <a:spcAft>
                <a:spcPts val="0"/>
              </a:spcAft>
            </a:pPr>
            <a:r>
              <a:rPr sz="725" i="0">
                <a:solidFill>
                  <a:srgbClr val="E6EDF3"/>
                </a:solidFill>
                <a:latin typeface="Consolas"/>
              </a:rPr>
              <a:t>    </a:t>
            </a:r>
            <a:r>
              <a:rPr sz="725" i="0">
                <a:solidFill>
                  <a:srgbClr val="E6EDF3"/>
                </a:solidFill>
                <a:latin typeface="Consolas"/>
              </a:rPr>
              <a:t>.</a:t>
            </a:r>
            <a:r>
              <a:rPr sz="725" i="0">
                <a:solidFill>
                  <a:srgbClr val="E6EDF3"/>
                </a:solidFill>
                <a:latin typeface="Consolas"/>
              </a:rPr>
              <a:t>.</a:t>
            </a:r>
            <a:r>
              <a:rPr sz="725" i="0">
                <a:solidFill>
                  <a:srgbClr val="E6EDF3"/>
                </a:solidFill>
                <a:latin typeface="Consolas"/>
              </a:rPr>
              <a:t>.</a:t>
            </a:r>
          </a:p>
        </p:txBody>
      </p:sp>
      <p:sp>
        <p:nvSpPr>
          <p:cNvPr id="30" name="Box 13"/>
          <p:cNvSpPr/>
          <p:nvPr/>
        </p:nvSpPr>
        <p:spPr>
          <a:xfrm>
            <a:off x="4151376" y="2053971"/>
            <a:ext cx="4251959"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CodeTab 15"/>
          <p:cNvSpPr/>
          <p:nvPr/>
        </p:nvSpPr>
        <p:spPr>
          <a:xfrm>
            <a:off x="4069080" y="2679192"/>
            <a:ext cx="44165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Dot 16"/>
          <p:cNvSpPr/>
          <p:nvPr/>
        </p:nvSpPr>
        <p:spPr>
          <a:xfrm>
            <a:off x="4178808" y="27569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t 17"/>
          <p:cNvSpPr/>
          <p:nvPr/>
        </p:nvSpPr>
        <p:spPr>
          <a:xfrm>
            <a:off x="4315968" y="27569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t 18"/>
          <p:cNvSpPr/>
          <p:nvPr/>
        </p:nvSpPr>
        <p:spPr>
          <a:xfrm>
            <a:off x="4453128" y="27569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 19"/>
          <p:cNvSpPr txBox="1"/>
          <p:nvPr/>
        </p:nvSpPr>
        <p:spPr>
          <a:xfrm>
            <a:off x="4617720" y="2688336"/>
            <a:ext cx="3776471"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dengan service layer: 05-service-layer/after.py</a:t>
            </a:r>
          </a:p>
        </p:txBody>
      </p:sp>
      <p:sp>
        <p:nvSpPr>
          <p:cNvPr id="36" name="CodeBg 21"/>
          <p:cNvSpPr/>
          <p:nvPr/>
        </p:nvSpPr>
        <p:spPr>
          <a:xfrm>
            <a:off x="4069080" y="2916936"/>
            <a:ext cx="4416551" cy="1783079"/>
          </a:xfrm>
          <a:prstGeom prst="roundRect">
            <a:avLst>
              <a:gd name="adj" fmla="val 102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Code 22"/>
          <p:cNvSpPr txBox="1"/>
          <p:nvPr/>
        </p:nvSpPr>
        <p:spPr>
          <a:xfrm>
            <a:off x="4069080" y="2916936"/>
            <a:ext cx="4416551" cy="1783079"/>
          </a:xfrm>
          <a:prstGeom prst="rect">
            <a:avLst/>
          </a:prstGeom>
          <a:noFill/>
        </p:spPr>
        <p:txBody>
          <a:bodyPr wrap="none" lIns="146304" rIns="146304" tIns="91440" bIns="54864">
            <a:spAutoFit/>
          </a:bodyPr>
          <a:lstStyle/>
          <a:p>
            <a:pPr>
              <a:lnSpc>
                <a:spcPts val="1000"/>
              </a:lnSpc>
              <a:spcAft>
                <a:spcPts val="0"/>
              </a:spcAft>
            </a:pPr>
            <a:r>
              <a:rPr sz="800" i="0">
                <a:solidFill>
                  <a:srgbClr val="FF8E6E"/>
                </a:solidFill>
                <a:latin typeface="Consolas"/>
              </a:rPr>
              <a:t>class</a:t>
            </a:r>
            <a:r>
              <a:rPr sz="800" i="0">
                <a:solidFill>
                  <a:srgbClr val="E6EDF3"/>
                </a:solidFill>
                <a:latin typeface="Consolas"/>
              </a:rPr>
              <a:t> </a:t>
            </a:r>
            <a:r>
              <a:rPr sz="800" i="0">
                <a:solidFill>
                  <a:srgbClr val="7FDBCA"/>
                </a:solidFill>
                <a:latin typeface="Consolas"/>
              </a:rPr>
              <a:t>OrderService</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place_order</a:t>
            </a:r>
            <a:r>
              <a:rPr sz="800" i="0">
                <a:solidFill>
                  <a:srgbClr val="E6EDF3"/>
                </a:solidFill>
                <a:latin typeface="Consolas"/>
              </a:rPr>
              <a:t>(</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int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&gt;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&lt;</a:t>
            </a:r>
            <a:r>
              <a:rPr sz="800" i="0">
                <a:solidFill>
                  <a:srgbClr val="E6EDF3"/>
                </a:solidFill>
                <a:latin typeface="Consolas"/>
              </a:rPr>
              <a:t> </a:t>
            </a:r>
            <a:r>
              <a:rPr sz="800" i="0">
                <a:solidFill>
                  <a:srgbClr val="F9C97A"/>
                </a:solidFill>
                <a:latin typeface="Consolas"/>
              </a:rPr>
              <a:t>10_000</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raise</a:t>
            </a:r>
            <a:r>
              <a:rPr sz="800" i="0">
                <a:solidFill>
                  <a:srgbClr val="E6EDF3"/>
                </a:solidFill>
                <a:latin typeface="Consolas"/>
              </a:rPr>
              <a:t> </a:t>
            </a:r>
            <a:r>
              <a:rPr sz="800" i="0">
                <a:solidFill>
                  <a:srgbClr val="7FDBCA"/>
                </a:solidFill>
                <a:latin typeface="Consolas"/>
              </a:rPr>
              <a:t>BusinessError</a:t>
            </a:r>
            <a:r>
              <a:rPr sz="800" i="0">
                <a:solidFill>
                  <a:srgbClr val="E6EDF3"/>
                </a:solidFill>
                <a:latin typeface="Consolas"/>
              </a:rPr>
              <a:t>(</a:t>
            </a:r>
            <a:r>
              <a:rPr sz="800" i="0">
                <a:solidFill>
                  <a:srgbClr val="A5D6A7"/>
                </a:solidFill>
                <a:latin typeface="Consolas"/>
              </a:rPr>
              <a:t>"Minimal order Rp10.000"</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p>
          <a:p>
            <a:pPr>
              <a:lnSpc>
                <a:spcPts val="1000"/>
              </a:lnSpc>
              <a:spcAft>
                <a:spcPts val="0"/>
              </a:spcAft>
            </a:pPr>
            <a:r>
              <a:rPr sz="800" i="0">
                <a:solidFill>
                  <a:srgbClr val="F9C97A"/>
                </a:solidFill>
                <a:latin typeface="Consolas"/>
              </a:rPr>
              <a:t>@app.post</a:t>
            </a:r>
            <a:r>
              <a:rPr sz="800" i="0">
                <a:solidFill>
                  <a:srgbClr val="E6EDF3"/>
                </a:solidFill>
                <a:latin typeface="Consolas"/>
              </a:rPr>
              <a:t>(</a:t>
            </a:r>
            <a:r>
              <a:rPr sz="800" i="0">
                <a:solidFill>
                  <a:srgbClr val="A5D6A7"/>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status_code</a:t>
            </a:r>
            <a:r>
              <a:rPr sz="800" i="0">
                <a:solidFill>
                  <a:srgbClr val="E6EDF3"/>
                </a:solidFill>
                <a:latin typeface="Consolas"/>
              </a:rPr>
              <a:t>=</a:t>
            </a:r>
            <a:r>
              <a:rPr sz="800" i="0">
                <a:solidFill>
                  <a:srgbClr val="F9C97A"/>
                </a:solidFill>
                <a:latin typeface="Consolas"/>
              </a:rPr>
              <a:t>201</a:t>
            </a:r>
            <a:r>
              <a:rPr sz="800" i="0">
                <a:solidFill>
                  <a:srgbClr val="E6EDF3"/>
                </a:solidFill>
                <a:latin typeface="Consolas"/>
              </a:rPr>
              <a:t>)</a:t>
            </a:r>
          </a:p>
          <a:p>
            <a:pPr>
              <a:lnSpc>
                <a:spcPts val="1000"/>
              </a:lnSpc>
              <a:spcAft>
                <a:spcPts val="0"/>
              </a:spcAft>
            </a:pP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create_order</a:t>
            </a:r>
            <a:r>
              <a:rPr sz="800" i="0">
                <a:solidFill>
                  <a:srgbClr val="E6EDF3"/>
                </a:solidFill>
                <a:latin typeface="Consolas"/>
              </a:rPr>
              <a:t>(</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OrderIn</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try</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E6EDF3"/>
                </a:solidFill>
                <a:latin typeface="Consolas"/>
              </a:rPr>
              <a:t>service</a:t>
            </a:r>
            <a:r>
              <a:rPr sz="800" i="0">
                <a:solidFill>
                  <a:srgbClr val="E6EDF3"/>
                </a:solidFill>
                <a:latin typeface="Consolas"/>
              </a:rPr>
              <a:t>.</a:t>
            </a:r>
            <a:r>
              <a:rPr sz="800" i="0">
                <a:solidFill>
                  <a:srgbClr val="E6EDF3"/>
                </a:solidFill>
                <a:latin typeface="Consolas"/>
              </a:rPr>
              <a:t>place_order</a:t>
            </a:r>
            <a:r>
              <a:rPr sz="800" i="0">
                <a:solidFill>
                  <a:srgbClr val="E6EDF3"/>
                </a:solidFill>
                <a:latin typeface="Consolas"/>
              </a:rPr>
              <a:t>(</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except</a:t>
            </a:r>
            <a:r>
              <a:rPr sz="800" i="0">
                <a:solidFill>
                  <a:srgbClr val="E6EDF3"/>
                </a:solidFill>
                <a:latin typeface="Consolas"/>
              </a:rPr>
              <a:t> </a:t>
            </a:r>
            <a:r>
              <a:rPr sz="800" i="0">
                <a:solidFill>
                  <a:srgbClr val="7FDBCA"/>
                </a:solidFill>
                <a:latin typeface="Consolas"/>
              </a:rPr>
              <a:t>BusinessError</a:t>
            </a:r>
            <a:r>
              <a:rPr sz="800" i="0">
                <a:solidFill>
                  <a:srgbClr val="E6EDF3"/>
                </a:solidFill>
                <a:latin typeface="Consolas"/>
              </a:rPr>
              <a:t> </a:t>
            </a:r>
            <a:r>
              <a:rPr sz="800" i="0">
                <a:solidFill>
                  <a:srgbClr val="FF8E6E"/>
                </a:solidFill>
                <a:latin typeface="Consolas"/>
              </a:rPr>
              <a:t>as</a:t>
            </a:r>
            <a:r>
              <a:rPr sz="800" i="0">
                <a:solidFill>
                  <a:srgbClr val="E6EDF3"/>
                </a:solidFill>
                <a:latin typeface="Consolas"/>
              </a:rPr>
              <a:t> </a:t>
            </a:r>
            <a:r>
              <a:rPr sz="800" i="0">
                <a:solidFill>
                  <a:srgbClr val="E6EDF3"/>
                </a:solidFill>
                <a:latin typeface="Consolas"/>
              </a:rPr>
              <a:t>e</a:t>
            </a:r>
            <a:r>
              <a:rPr sz="800" i="0">
                <a:solidFill>
                  <a:srgbClr val="E6EDF3"/>
                </a:solidFill>
                <a:latin typeface="Consolas"/>
              </a:rPr>
              <a:t>:</a:t>
            </a:r>
          </a:p>
          <a:p>
            <a:pPr>
              <a:lnSpc>
                <a:spcPts val="1000"/>
              </a:lnSpc>
              <a:spcAft>
                <a:spcPts val="0"/>
              </a:spcAft>
            </a:pPr>
            <a:r>
              <a:rPr sz="800" i="0">
                <a:solidFill>
                  <a:srgbClr val="E6EDF3"/>
                </a:solidFill>
                <a:latin typeface="Consolas"/>
              </a:rPr>
              <a:t>        </a:t>
            </a:r>
            <a:r>
              <a:rPr sz="800" i="0">
                <a:solidFill>
                  <a:srgbClr val="FF8E6E"/>
                </a:solidFill>
                <a:latin typeface="Consolas"/>
              </a:rPr>
              <a:t>raise</a:t>
            </a:r>
            <a:r>
              <a:rPr sz="800" i="0">
                <a:solidFill>
                  <a:srgbClr val="E6EDF3"/>
                </a:solidFill>
                <a:latin typeface="Consolas"/>
              </a:rPr>
              <a:t> </a:t>
            </a:r>
            <a:r>
              <a:rPr sz="800" i="0">
                <a:solidFill>
                  <a:srgbClr val="7FDBCA"/>
                </a:solidFill>
                <a:latin typeface="Consolas"/>
              </a:rPr>
              <a:t>HTTPException</a:t>
            </a:r>
            <a:r>
              <a:rPr sz="800" i="0">
                <a:solidFill>
                  <a:srgbClr val="E6EDF3"/>
                </a:solidFill>
                <a:latin typeface="Consolas"/>
              </a:rPr>
              <a:t>(</a:t>
            </a:r>
            <a:r>
              <a:rPr sz="800" i="0">
                <a:solidFill>
                  <a:srgbClr val="F9C97A"/>
                </a:solidFill>
                <a:latin typeface="Consolas"/>
              </a:rPr>
              <a:t>400</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r>
              <a:rPr sz="800" i="0">
                <a:solidFill>
                  <a:srgbClr val="E6EDF3"/>
                </a:solidFill>
                <a:latin typeface="Consolas"/>
              </a:rPr>
              <a:t>(</a:t>
            </a:r>
            <a:r>
              <a:rPr sz="800" i="0">
                <a:solidFill>
                  <a:srgbClr val="E6EDF3"/>
                </a:solidFill>
                <a:latin typeface="Consolas"/>
              </a:rPr>
              <a:t>e</a:t>
            </a:r>
            <a:r>
              <a:rPr sz="800" i="0">
                <a:solidFill>
                  <a:srgbClr val="E6EDF3"/>
                </a:solidFill>
                <a:latin typeface="Consolas"/>
              </a:rPr>
              <a:t>)</a:t>
            </a:r>
            <a:r>
              <a:rPr sz="800" i="0">
                <a:solidFill>
                  <a:srgbClr val="E6EDF3"/>
                </a:solidFill>
                <a:latin typeface="Consolas"/>
              </a:rPr>
              <a:t>)</a:t>
            </a:r>
          </a:p>
        </p:txBody>
      </p:sp>
      <p:sp>
        <p:nvSpPr>
          <p:cNvPr id="38" name="Box 23"/>
          <p:cNvSpPr/>
          <p:nvPr/>
        </p:nvSpPr>
        <p:spPr>
          <a:xfrm>
            <a:off x="4151376" y="3151886"/>
            <a:ext cx="4251959"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9" name="Box 24"/>
          <p:cNvSpPr/>
          <p:nvPr/>
        </p:nvSpPr>
        <p:spPr>
          <a:xfrm>
            <a:off x="4151376" y="4040886"/>
            <a:ext cx="4251959"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Before: Endpoint Mengerjakan Semuanya</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05-service-layer/before.py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000"/>
              </a:lnSpc>
              <a:spcAft>
                <a:spcPts val="0"/>
              </a:spcAft>
            </a:pPr>
            <a:r>
              <a:rPr sz="800" i="0">
                <a:solidFill>
                  <a:srgbClr val="5C6773"/>
                </a:solidFill>
                <a:latin typeface="Consolas"/>
              </a:rPr>
              <a:t>10  </a:t>
            </a:r>
            <a:r>
              <a:rPr sz="800" i="0">
                <a:solidFill>
                  <a:srgbClr val="FF8E6E"/>
                </a:solidFill>
                <a:latin typeface="Consolas"/>
              </a:rPr>
              <a:t>from</a:t>
            </a:r>
            <a:r>
              <a:rPr sz="800" i="0">
                <a:solidFill>
                  <a:srgbClr val="E6EDF3"/>
                </a:solidFill>
                <a:latin typeface="Consolas"/>
              </a:rPr>
              <a:t> </a:t>
            </a:r>
            <a:r>
              <a:rPr sz="800" i="0">
                <a:solidFill>
                  <a:srgbClr val="E6EDF3"/>
                </a:solidFill>
                <a:latin typeface="Consolas"/>
              </a:rPr>
              <a:t>fastapi</a:t>
            </a:r>
            <a:r>
              <a:rPr sz="800" i="0">
                <a:solidFill>
                  <a:srgbClr val="E6EDF3"/>
                </a:solidFill>
                <a:latin typeface="Consolas"/>
              </a:rPr>
              <a:t> </a:t>
            </a:r>
            <a:r>
              <a:rPr sz="800" i="0">
                <a:solidFill>
                  <a:srgbClr val="FF8E6E"/>
                </a:solidFill>
                <a:latin typeface="Consolas"/>
              </a:rPr>
              <a:t>import</a:t>
            </a:r>
            <a:r>
              <a:rPr sz="800" i="0">
                <a:solidFill>
                  <a:srgbClr val="E6EDF3"/>
                </a:solidFill>
                <a:latin typeface="Consolas"/>
              </a:rPr>
              <a:t> </a:t>
            </a:r>
            <a:r>
              <a:rPr sz="800" i="0">
                <a:solidFill>
                  <a:srgbClr val="7FDBCA"/>
                </a:solidFill>
                <a:latin typeface="Consolas"/>
              </a:rPr>
              <a:t>FastAPI</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HTTPException</a:t>
            </a:r>
          </a:p>
          <a:p>
            <a:pPr>
              <a:lnSpc>
                <a:spcPts val="1000"/>
              </a:lnSpc>
              <a:spcAft>
                <a:spcPts val="0"/>
              </a:spcAft>
            </a:pPr>
            <a:r>
              <a:rPr sz="800" i="0">
                <a:solidFill>
                  <a:srgbClr val="5C6773"/>
                </a:solidFill>
                <a:latin typeface="Consolas"/>
              </a:rPr>
              <a:t>11  </a:t>
            </a:r>
            <a:r>
              <a:rPr sz="800" i="0">
                <a:solidFill>
                  <a:srgbClr val="FF8E6E"/>
                </a:solidFill>
                <a:latin typeface="Consolas"/>
              </a:rPr>
              <a:t>from</a:t>
            </a:r>
            <a:r>
              <a:rPr sz="800" i="0">
                <a:solidFill>
                  <a:srgbClr val="E6EDF3"/>
                </a:solidFill>
                <a:latin typeface="Consolas"/>
              </a:rPr>
              <a:t> </a:t>
            </a:r>
            <a:r>
              <a:rPr sz="800" i="0">
                <a:solidFill>
                  <a:srgbClr val="E6EDF3"/>
                </a:solidFill>
                <a:latin typeface="Consolas"/>
              </a:rPr>
              <a:t>pydantic</a:t>
            </a:r>
            <a:r>
              <a:rPr sz="800" i="0">
                <a:solidFill>
                  <a:srgbClr val="E6EDF3"/>
                </a:solidFill>
                <a:latin typeface="Consolas"/>
              </a:rPr>
              <a:t> </a:t>
            </a:r>
            <a:r>
              <a:rPr sz="800" i="0">
                <a:solidFill>
                  <a:srgbClr val="FF8E6E"/>
                </a:solidFill>
                <a:latin typeface="Consolas"/>
              </a:rPr>
              <a:t>import</a:t>
            </a:r>
            <a:r>
              <a:rPr sz="800" i="0">
                <a:solidFill>
                  <a:srgbClr val="E6EDF3"/>
                </a:solidFill>
                <a:latin typeface="Consolas"/>
              </a:rPr>
              <a:t> </a:t>
            </a:r>
            <a:r>
              <a:rPr sz="800" i="0">
                <a:solidFill>
                  <a:srgbClr val="7FDBCA"/>
                </a:solidFill>
                <a:latin typeface="Consolas"/>
              </a:rPr>
              <a:t>BaseModel</a:t>
            </a:r>
          </a:p>
          <a:p>
            <a:pPr>
              <a:lnSpc>
                <a:spcPts val="1000"/>
              </a:lnSpc>
              <a:spcAft>
                <a:spcPts val="0"/>
              </a:spcAft>
            </a:pPr>
            <a:r>
              <a:rPr sz="800" i="0">
                <a:solidFill>
                  <a:srgbClr val="5C6773"/>
                </a:solidFill>
                <a:latin typeface="Consolas"/>
              </a:rPr>
              <a:t>12  </a:t>
            </a:r>
            <a:r>
              <a:rPr sz="800" i="0">
                <a:solidFill>
                  <a:srgbClr val="E6EDF3"/>
                </a:solidFill>
                <a:latin typeface="Consolas"/>
              </a:rPr>
              <a:t> </a:t>
            </a:r>
          </a:p>
          <a:p>
            <a:pPr>
              <a:lnSpc>
                <a:spcPts val="1000"/>
              </a:lnSpc>
              <a:spcAft>
                <a:spcPts val="0"/>
              </a:spcAft>
            </a:pPr>
            <a:r>
              <a:rPr sz="800" i="0">
                <a:solidFill>
                  <a:srgbClr val="5C6773"/>
                </a:solidFill>
                <a:latin typeface="Consolas"/>
              </a:rPr>
              <a:t>13  </a:t>
            </a:r>
            <a:r>
              <a:rPr sz="800" i="0">
                <a:solidFill>
                  <a:srgbClr val="E6EDF3"/>
                </a:solidFill>
                <a:latin typeface="Consolas"/>
              </a:rPr>
              <a:t>app</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FastAPI</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14  </a:t>
            </a:r>
            <a:r>
              <a:rPr sz="800" i="0">
                <a:solidFill>
                  <a:srgbClr val="7FDBCA"/>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r>
              <a:rPr sz="800" i="0">
                <a:solidFill>
                  <a:srgbClr val="C3A6FF"/>
                </a:solidFill>
                <a:latin typeface="Consolas"/>
              </a:rPr>
              <a:t>int</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15  </a:t>
            </a:r>
            <a:r>
              <a:rPr sz="800" i="0">
                <a:solidFill>
                  <a:srgbClr val="E6EDF3"/>
                </a:solidFill>
                <a:latin typeface="Consolas"/>
              </a:rPr>
              <a:t> </a:t>
            </a:r>
          </a:p>
          <a:p>
            <a:pPr>
              <a:lnSpc>
                <a:spcPts val="1000"/>
              </a:lnSpc>
              <a:spcAft>
                <a:spcPts val="0"/>
              </a:spcAft>
            </a:pPr>
            <a:r>
              <a:rPr sz="800" i="0">
                <a:solidFill>
                  <a:srgbClr val="5C6773"/>
                </a:solidFill>
                <a:latin typeface="Consolas"/>
              </a:rPr>
              <a:t>16  </a:t>
            </a:r>
            <a:r>
              <a:rPr sz="800" i="0">
                <a:solidFill>
                  <a:srgbClr val="E6EDF3"/>
                </a:solidFill>
                <a:latin typeface="Consolas"/>
              </a:rPr>
              <a:t> </a:t>
            </a:r>
          </a:p>
          <a:p>
            <a:pPr>
              <a:lnSpc>
                <a:spcPts val="1000"/>
              </a:lnSpc>
              <a:spcAft>
                <a:spcPts val="0"/>
              </a:spcAft>
            </a:pPr>
            <a:r>
              <a:rPr sz="800" i="0">
                <a:solidFill>
                  <a:srgbClr val="5C6773"/>
                </a:solidFill>
                <a:latin typeface="Consolas"/>
              </a:rPr>
              <a:t>17  </a:t>
            </a:r>
            <a:r>
              <a:rPr sz="800" i="0">
                <a:solidFill>
                  <a:srgbClr val="FF8E6E"/>
                </a:solidFill>
                <a:latin typeface="Consolas"/>
              </a:rPr>
              <a:t>class</a:t>
            </a:r>
            <a:r>
              <a:rPr sz="800" i="0">
                <a:solidFill>
                  <a:srgbClr val="E6EDF3"/>
                </a:solidFill>
                <a:latin typeface="Consolas"/>
              </a:rPr>
              <a:t> </a:t>
            </a:r>
            <a:r>
              <a:rPr sz="800" i="0">
                <a:solidFill>
                  <a:srgbClr val="7FDBCA"/>
                </a:solidFill>
                <a:latin typeface="Consolas"/>
              </a:rPr>
              <a:t>OrderIn</a:t>
            </a:r>
            <a:r>
              <a:rPr sz="800" i="0">
                <a:solidFill>
                  <a:srgbClr val="E6EDF3"/>
                </a:solidFill>
                <a:latin typeface="Consolas"/>
              </a:rPr>
              <a:t>(</a:t>
            </a:r>
            <a:r>
              <a:rPr sz="800" i="0">
                <a:solidFill>
                  <a:srgbClr val="7FDBCA"/>
                </a:solidFill>
                <a:latin typeface="Consolas"/>
              </a:rPr>
              <a:t>BaseModel</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18  </a:t>
            </a:r>
            <a:r>
              <a:rPr sz="800" i="0">
                <a:solidFill>
                  <a:srgbClr val="E6EDF3"/>
                </a:solidFill>
                <a:latin typeface="Consolas"/>
              </a:rPr>
              <a:t>    </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p>
          <a:p>
            <a:pPr>
              <a:lnSpc>
                <a:spcPts val="1000"/>
              </a:lnSpc>
              <a:spcAft>
                <a:spcPts val="0"/>
              </a:spcAft>
            </a:pPr>
            <a:r>
              <a:rPr sz="800" i="0">
                <a:solidFill>
                  <a:srgbClr val="5C6773"/>
                </a:solidFill>
                <a:latin typeface="Consolas"/>
              </a:rPr>
              <a:t>19  </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int</a:t>
            </a:r>
          </a:p>
          <a:p>
            <a:pPr>
              <a:lnSpc>
                <a:spcPts val="1000"/>
              </a:lnSpc>
              <a:spcAft>
                <a:spcPts val="0"/>
              </a:spcAft>
            </a:pPr>
            <a:r>
              <a:rPr sz="800" i="0">
                <a:solidFill>
                  <a:srgbClr val="5C6773"/>
                </a:solidFill>
                <a:latin typeface="Consolas"/>
              </a:rPr>
              <a:t>20  </a:t>
            </a:r>
            <a:r>
              <a:rPr sz="800" i="0">
                <a:solidFill>
                  <a:srgbClr val="E6EDF3"/>
                </a:solidFill>
                <a:latin typeface="Consolas"/>
              </a:rPr>
              <a:t> </a:t>
            </a:r>
          </a:p>
          <a:p>
            <a:pPr>
              <a:lnSpc>
                <a:spcPts val="1000"/>
              </a:lnSpc>
              <a:spcAft>
                <a:spcPts val="0"/>
              </a:spcAft>
            </a:pPr>
            <a:r>
              <a:rPr sz="800" i="0">
                <a:solidFill>
                  <a:srgbClr val="5C6773"/>
                </a:solidFill>
                <a:latin typeface="Consolas"/>
              </a:rPr>
              <a:t>21  </a:t>
            </a:r>
            <a:r>
              <a:rPr sz="800" i="0">
                <a:solidFill>
                  <a:srgbClr val="E6EDF3"/>
                </a:solidFill>
                <a:latin typeface="Consolas"/>
              </a:rPr>
              <a:t> </a:t>
            </a:r>
          </a:p>
          <a:p>
            <a:pPr>
              <a:lnSpc>
                <a:spcPts val="1000"/>
              </a:lnSpc>
              <a:spcAft>
                <a:spcPts val="0"/>
              </a:spcAft>
            </a:pPr>
            <a:r>
              <a:rPr sz="800" i="0">
                <a:solidFill>
                  <a:srgbClr val="5C6773"/>
                </a:solidFill>
                <a:latin typeface="Consolas"/>
              </a:rPr>
              <a:t>22  </a:t>
            </a:r>
            <a:r>
              <a:rPr sz="800" i="0">
                <a:solidFill>
                  <a:srgbClr val="F9C97A"/>
                </a:solidFill>
                <a:latin typeface="Consolas"/>
              </a:rPr>
              <a:t>@app.post</a:t>
            </a:r>
            <a:r>
              <a:rPr sz="800" i="0">
                <a:solidFill>
                  <a:srgbClr val="E6EDF3"/>
                </a:solidFill>
                <a:latin typeface="Consolas"/>
              </a:rPr>
              <a:t>(</a:t>
            </a:r>
            <a:r>
              <a:rPr sz="800" i="0">
                <a:solidFill>
                  <a:srgbClr val="A5D6A7"/>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status_code</a:t>
            </a:r>
            <a:r>
              <a:rPr sz="800" i="0">
                <a:solidFill>
                  <a:srgbClr val="E6EDF3"/>
                </a:solidFill>
                <a:latin typeface="Consolas"/>
              </a:rPr>
              <a:t>=</a:t>
            </a:r>
            <a:r>
              <a:rPr sz="800" i="0">
                <a:solidFill>
                  <a:srgbClr val="F9C97A"/>
                </a:solidFill>
                <a:latin typeface="Consolas"/>
              </a:rPr>
              <a:t>201</a:t>
            </a:r>
            <a:r>
              <a:rPr sz="800" i="0">
                <a:solidFill>
                  <a:srgbClr val="E6EDF3"/>
                </a:solidFill>
                <a:latin typeface="Consolas"/>
              </a:rPr>
              <a:t>)</a:t>
            </a:r>
          </a:p>
          <a:p>
            <a:pPr>
              <a:lnSpc>
                <a:spcPts val="1000"/>
              </a:lnSpc>
              <a:spcAft>
                <a:spcPts val="0"/>
              </a:spcAft>
            </a:pPr>
            <a:r>
              <a:rPr sz="800" i="0">
                <a:solidFill>
                  <a:srgbClr val="5C6773"/>
                </a:solidFill>
                <a:latin typeface="Consolas"/>
              </a:rPr>
              <a:t>23  </a:t>
            </a: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create_order</a:t>
            </a:r>
            <a:r>
              <a:rPr sz="800" i="0">
                <a:solidFill>
                  <a:srgbClr val="E6EDF3"/>
                </a:solidFill>
                <a:latin typeface="Consolas"/>
              </a:rPr>
              <a:t>(</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OrderIn</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24  </a:t>
            </a:r>
            <a:r>
              <a:rPr sz="800" i="0">
                <a:solidFill>
                  <a:srgbClr val="E6EDF3"/>
                </a:solidFill>
                <a:latin typeface="Consolas"/>
              </a:rPr>
              <a:t>    </a:t>
            </a: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&lt;</a:t>
            </a:r>
            <a:r>
              <a:rPr sz="800" i="0">
                <a:solidFill>
                  <a:srgbClr val="E6EDF3"/>
                </a:solidFill>
                <a:latin typeface="Consolas"/>
              </a:rPr>
              <a:t> </a:t>
            </a:r>
            <a:r>
              <a:rPr sz="800" i="0">
                <a:solidFill>
                  <a:srgbClr val="F9C97A"/>
                </a:solidFill>
                <a:latin typeface="Consolas"/>
              </a:rPr>
              <a:t>10_000</a:t>
            </a:r>
            <a:r>
              <a:rPr sz="800" i="0">
                <a:solidFill>
                  <a:srgbClr val="E6EDF3"/>
                </a:solidFill>
                <a:latin typeface="Consolas"/>
              </a:rPr>
              <a:t>:</a:t>
            </a:r>
          </a:p>
          <a:p>
            <a:pPr>
              <a:lnSpc>
                <a:spcPts val="1000"/>
              </a:lnSpc>
              <a:spcAft>
                <a:spcPts val="0"/>
              </a:spcAft>
            </a:pPr>
            <a:r>
              <a:rPr sz="800" i="0">
                <a:solidFill>
                  <a:srgbClr val="5C6773"/>
                </a:solidFill>
                <a:latin typeface="Consolas"/>
              </a:rPr>
              <a:t>25  </a:t>
            </a:r>
            <a:r>
              <a:rPr sz="800" i="0">
                <a:solidFill>
                  <a:srgbClr val="E6EDF3"/>
                </a:solidFill>
                <a:latin typeface="Consolas"/>
              </a:rPr>
              <a:t>        </a:t>
            </a:r>
            <a:r>
              <a:rPr sz="800" i="0">
                <a:solidFill>
                  <a:srgbClr val="FF8E6E"/>
                </a:solidFill>
                <a:latin typeface="Consolas"/>
              </a:rPr>
              <a:t>raise</a:t>
            </a:r>
            <a:r>
              <a:rPr sz="800" i="0">
                <a:solidFill>
                  <a:srgbClr val="E6EDF3"/>
                </a:solidFill>
                <a:latin typeface="Consolas"/>
              </a:rPr>
              <a:t> </a:t>
            </a:r>
            <a:r>
              <a:rPr sz="800" i="0">
                <a:solidFill>
                  <a:srgbClr val="7FDBCA"/>
                </a:solidFill>
                <a:latin typeface="Consolas"/>
              </a:rPr>
              <a:t>HTTPException</a:t>
            </a:r>
            <a:r>
              <a:rPr sz="800" i="0">
                <a:solidFill>
                  <a:srgbClr val="E6EDF3"/>
                </a:solidFill>
                <a:latin typeface="Consolas"/>
              </a:rPr>
              <a:t>(</a:t>
            </a:r>
            <a:r>
              <a:rPr sz="800" i="0">
                <a:solidFill>
                  <a:srgbClr val="F9C97A"/>
                </a:solidFill>
                <a:latin typeface="Consolas"/>
              </a:rPr>
              <a:t>400</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"Minimal order Rp10.000"</a:t>
            </a:r>
            <a:r>
              <a:rPr sz="800" i="0">
                <a:solidFill>
                  <a:srgbClr val="E6EDF3"/>
                </a:solidFill>
                <a:latin typeface="Consolas"/>
              </a:rPr>
              <a:t>)</a:t>
            </a:r>
          </a:p>
          <a:p>
            <a:pPr>
              <a:lnSpc>
                <a:spcPts val="1000"/>
              </a:lnSpc>
              <a:spcAft>
                <a:spcPts val="0"/>
              </a:spcAft>
            </a:pPr>
            <a:r>
              <a:rPr sz="800" i="0">
                <a:solidFill>
                  <a:srgbClr val="5C6773"/>
                </a:solidFill>
                <a:latin typeface="Consolas"/>
              </a:rPr>
              <a:t>26  </a:t>
            </a:r>
            <a:r>
              <a:rPr sz="800" i="0">
                <a:solidFill>
                  <a:srgbClr val="E6EDF3"/>
                </a:solidFill>
                <a:latin typeface="Consolas"/>
              </a:rPr>
              <a:t>    </a:t>
            </a:r>
            <a:r>
              <a:rPr sz="800" i="0">
                <a:solidFill>
                  <a:srgbClr val="E6EDF3"/>
                </a:solidFill>
                <a:latin typeface="Consolas"/>
              </a:rPr>
              <a:t>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5</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100</a:t>
            </a:r>
          </a:p>
          <a:p>
            <a:pPr>
              <a:lnSpc>
                <a:spcPts val="1000"/>
              </a:lnSpc>
              <a:spcAft>
                <a:spcPts val="0"/>
              </a:spcAft>
            </a:pPr>
            <a:r>
              <a:rPr sz="800" i="0">
                <a:solidFill>
                  <a:srgbClr val="5C6773"/>
                </a:solidFill>
                <a:latin typeface="Consolas"/>
              </a:rPr>
              <a:t>27  </a:t>
            </a:r>
            <a:r>
              <a:rPr sz="800" i="0">
                <a:solidFill>
                  <a:srgbClr val="E6EDF3"/>
                </a:solidFill>
                <a:latin typeface="Consolas"/>
              </a:rPr>
              <a:t>    </a:t>
            </a:r>
            <a:r>
              <a:rPr sz="800" i="0">
                <a:solidFill>
                  <a:srgbClr val="E6EDF3"/>
                </a:solidFill>
                <a:latin typeface="Consolas"/>
              </a:rPr>
              <a:t>order</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A5D6A7"/>
                </a:solidFill>
                <a:latin typeface="Consolas"/>
              </a:rPr>
              <a:t>"id"</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len</a:t>
            </a:r>
            <a:r>
              <a:rPr sz="800" i="0">
                <a:solidFill>
                  <a:srgbClr val="E6EDF3"/>
                </a:solidFill>
                <a:latin typeface="Consolas"/>
              </a:rPr>
              <a:t>(</a:t>
            </a:r>
            <a:r>
              <a:rPr sz="800" i="0">
                <a:solidFill>
                  <a:srgbClr val="7FDBCA"/>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1</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"total"</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total</a:t>
            </a:r>
            <a:r>
              <a:rPr sz="800" i="0">
                <a:solidFill>
                  <a:srgbClr val="E6EDF3"/>
                </a:solidFill>
                <a:latin typeface="Consolas"/>
              </a:rPr>
              <a:t>}</a:t>
            </a:r>
          </a:p>
          <a:p>
            <a:pPr>
              <a:lnSpc>
                <a:spcPts val="1000"/>
              </a:lnSpc>
              <a:spcAft>
                <a:spcPts val="0"/>
              </a:spcAft>
            </a:pPr>
            <a:r>
              <a:rPr sz="800" i="0">
                <a:solidFill>
                  <a:srgbClr val="5C6773"/>
                </a:solidFill>
                <a:latin typeface="Consolas"/>
              </a:rPr>
              <a:t>28  </a:t>
            </a:r>
            <a:r>
              <a:rPr sz="800" i="0">
                <a:solidFill>
                  <a:srgbClr val="E6EDF3"/>
                </a:solidFill>
                <a:latin typeface="Consolas"/>
              </a:rPr>
              <a:t>    </a:t>
            </a:r>
            <a:r>
              <a:rPr sz="800" i="0">
                <a:solidFill>
                  <a:srgbClr val="7FDBCA"/>
                </a:solidFill>
                <a:latin typeface="Consolas"/>
              </a:rPr>
              <a:t>ORDERS</a:t>
            </a:r>
            <a:r>
              <a:rPr sz="800" i="0">
                <a:solidFill>
                  <a:srgbClr val="E6EDF3"/>
                </a:solidFill>
                <a:latin typeface="Consolas"/>
              </a:rPr>
              <a:t>[</a:t>
            </a:r>
            <a:r>
              <a:rPr sz="800" i="0">
                <a:solidFill>
                  <a:srgbClr val="E6EDF3"/>
                </a:solidFill>
                <a:latin typeface="Consolas"/>
              </a:rPr>
              <a:t>order</a:t>
            </a:r>
            <a:r>
              <a:rPr sz="800" i="0">
                <a:solidFill>
                  <a:srgbClr val="E6EDF3"/>
                </a:solidFill>
                <a:latin typeface="Consolas"/>
              </a:rPr>
              <a:t>[</a:t>
            </a:r>
            <a:r>
              <a:rPr sz="800" i="0">
                <a:solidFill>
                  <a:srgbClr val="A5D6A7"/>
                </a:solidFill>
                <a:latin typeface="Consolas"/>
              </a:rPr>
              <a:t>"id"</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order</a:t>
            </a:r>
          </a:p>
          <a:p>
            <a:pPr>
              <a:lnSpc>
                <a:spcPts val="1000"/>
              </a:lnSpc>
              <a:spcAft>
                <a:spcPts val="0"/>
              </a:spcAft>
            </a:pPr>
            <a:r>
              <a:rPr sz="800" i="0">
                <a:solidFill>
                  <a:srgbClr val="5C6773"/>
                </a:solidFill>
                <a:latin typeface="Consolas"/>
              </a:rPr>
              <a:t>29  </a:t>
            </a: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A5D6A7"/>
                </a:solidFill>
                <a:latin typeface="Consolas"/>
              </a:rPr>
              <a:t>f"[EMAIL] ke {payload.customer}: Order #{order['id']} berhasil dibuat"</a:t>
            </a:r>
            <a:r>
              <a:rPr sz="800" i="0">
                <a:solidFill>
                  <a:srgbClr val="E6EDF3"/>
                </a:solidFill>
                <a:latin typeface="Consolas"/>
              </a:rPr>
              <a:t>)</a:t>
            </a:r>
          </a:p>
          <a:p>
            <a:pPr>
              <a:lnSpc>
                <a:spcPts val="1000"/>
              </a:lnSpc>
              <a:spcAft>
                <a:spcPts val="0"/>
              </a:spcAft>
            </a:pPr>
            <a:r>
              <a:rPr sz="800" i="0">
                <a:solidFill>
                  <a:srgbClr val="5C6773"/>
                </a:solidFill>
                <a:latin typeface="Consolas"/>
              </a:rPr>
              <a:t>30  </a:t>
            </a: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E6EDF3"/>
                </a:solidFill>
                <a:latin typeface="Consolas"/>
              </a:rPr>
              <a:t>order</a:t>
            </a:r>
          </a:p>
        </p:txBody>
      </p:sp>
      <p:sp>
        <p:nvSpPr>
          <p:cNvPr id="29" name="Box 12"/>
          <p:cNvSpPr/>
          <p:nvPr/>
        </p:nvSpPr>
        <p:spPr>
          <a:xfrm>
            <a:off x="704088" y="3605022"/>
            <a:ext cx="7699248"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609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859022"/>
            <a:ext cx="7699248" cy="500380"/>
          </a:xfrm>
          <a:prstGeom prst="roundRect">
            <a:avLst>
              <a:gd name="adj" fmla="val 913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3990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05-service-layer/before.py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sesi-01-design-patterns/05-service-layer</a:t>
            </a:r>
          </a:p>
          <a:p>
            <a:pPr>
              <a:lnSpc>
                <a:spcPts val="1000"/>
              </a:lnSpc>
              <a:spcAft>
                <a:spcPts val="0"/>
              </a:spcAft>
            </a:pPr>
            <a:r>
              <a:rPr sz="775" i="0">
                <a:solidFill>
                  <a:srgbClr val="82B1FF"/>
                </a:solidFill>
                <a:latin typeface="Consolas"/>
              </a:rPr>
              <a:t>$ uvicorn before:app --reload</a:t>
            </a:r>
          </a:p>
        </p:txBody>
      </p:sp>
      <p:pic>
        <p:nvPicPr>
          <p:cNvPr id="29" name="Image 12" descr="s01-05-service-layer-before.png"/>
          <p:cNvPicPr>
            <a:picLocks noChangeAspect="1"/>
          </p:cNvPicPr>
          <p:nvPr/>
        </p:nvPicPr>
        <p:blipFill>
          <a:blip r:embed="rId2"/>
          <a:stretch>
            <a:fillRect/>
          </a:stretch>
        </p:blipFill>
        <p:spPr>
          <a:xfrm>
            <a:off x="621792" y="2240280"/>
            <a:ext cx="4297680" cy="1155570"/>
          </a:xfrm>
          <a:prstGeom prst="rect">
            <a:avLst/>
          </a:prstGeom>
        </p:spPr>
      </p:pic>
      <p:sp>
        <p:nvSpPr>
          <p:cNvPr id="30" name="Text 13"/>
          <p:cNvSpPr txBox="1"/>
          <p:nvPr/>
        </p:nvSpPr>
        <p:spPr>
          <a:xfrm>
            <a:off x="621792" y="3441569"/>
            <a:ext cx="4297680" cy="365760"/>
          </a:xfrm>
          <a:prstGeom prst="rect">
            <a:avLst/>
          </a:prstGeom>
          <a:noFill/>
        </p:spPr>
        <p:txBody>
          <a:bodyPr wrap="square" anchor="t" lIns="45720" rIns="45720">
            <a:spAutoFit/>
          </a:bodyPr>
          <a:lstStyle/>
          <a:p>
            <a:pPr algn="l">
              <a:lnSpc>
                <a:spcPct val="115000"/>
              </a:lnSpc>
              <a:spcAft>
                <a:spcPts val="400"/>
              </a:spcAft>
            </a:pPr>
            <a:r>
              <a:rPr sz="850" i="0" b="0">
                <a:solidFill>
                  <a:srgbClr val="7A7A7A"/>
                </a:solidFill>
                <a:latin typeface="Inter"/>
              </a:rPr>
              <a:t>Buka http://127.0.0.1:8000/docs, POST /orders dengan body {"customer": "budi@mail.com", "subtotal": 200000}</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Text 15"/>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Aturan bisnis (minimal order) langsung melempar </a:t>
            </a:r>
            <a:r>
              <a:rPr sz="950" i="0" b="0">
                <a:solidFill>
                  <a:srgbClr val="B5482A"/>
                </a:solidFill>
                <a:latin typeface="Consolas"/>
              </a:rPr>
              <a:t>HTTPException</a:t>
            </a:r>
            <a:r>
              <a:rPr sz="950" i="0" b="0">
                <a:solidFill>
                  <a:srgbClr val="434343"/>
                </a:solidFill>
                <a:latin typeface="Inter"/>
              </a:rPr>
              <a:t> (baris 24-25)</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Hitung total, simpan, dan kirim notifikasi di dalam route (baris 26-29)</a:t>
            </a:r>
          </a:p>
          <a:p>
            <a:pPr algn="l">
              <a:lnSpc>
                <a:spcPct val="115000"/>
              </a:lnSpc>
              <a:spcAft>
                <a:spcPts val="0"/>
              </a:spcAft>
            </a:pPr>
            <a:r>
              <a:rPr sz="570"/>
              <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Tidak bisa dipakai ulang dari CLI atau job</a:t>
            </a:r>
          </a:p>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Testnya harus lewat request HTTP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Route Simple, Service Handle Business Logic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05-service-layer/after.py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000"/>
              </a:lnSpc>
              <a:spcAft>
                <a:spcPts val="0"/>
              </a:spcAft>
            </a:pPr>
            <a:r>
              <a:rPr sz="800" i="0">
                <a:solidFill>
                  <a:srgbClr val="5C6773"/>
                </a:solidFill>
                <a:latin typeface="Consolas"/>
              </a:rPr>
              <a:t> 9  </a:t>
            </a:r>
            <a:r>
              <a:rPr sz="800" i="0">
                <a:solidFill>
                  <a:srgbClr val="FF8E6E"/>
                </a:solidFill>
                <a:latin typeface="Consolas"/>
              </a:rPr>
              <a:t>from</a:t>
            </a:r>
            <a:r>
              <a:rPr sz="800" i="0">
                <a:solidFill>
                  <a:srgbClr val="E6EDF3"/>
                </a:solidFill>
                <a:latin typeface="Consolas"/>
              </a:rPr>
              <a:t> </a:t>
            </a:r>
            <a:r>
              <a:rPr sz="800" i="0">
                <a:solidFill>
                  <a:srgbClr val="E6EDF3"/>
                </a:solidFill>
                <a:latin typeface="Consolas"/>
              </a:rPr>
              <a:t>fastapi</a:t>
            </a:r>
            <a:r>
              <a:rPr sz="800" i="0">
                <a:solidFill>
                  <a:srgbClr val="E6EDF3"/>
                </a:solidFill>
                <a:latin typeface="Consolas"/>
              </a:rPr>
              <a:t> </a:t>
            </a:r>
            <a:r>
              <a:rPr sz="800" i="0">
                <a:solidFill>
                  <a:srgbClr val="FF8E6E"/>
                </a:solidFill>
                <a:latin typeface="Consolas"/>
              </a:rPr>
              <a:t>import</a:t>
            </a:r>
            <a:r>
              <a:rPr sz="800" i="0">
                <a:solidFill>
                  <a:srgbClr val="E6EDF3"/>
                </a:solidFill>
                <a:latin typeface="Consolas"/>
              </a:rPr>
              <a:t> </a:t>
            </a:r>
            <a:r>
              <a:rPr sz="800" i="0">
                <a:solidFill>
                  <a:srgbClr val="7FDBCA"/>
                </a:solidFill>
                <a:latin typeface="Consolas"/>
              </a:rPr>
              <a:t>FastAPI</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HTTPException</a:t>
            </a:r>
          </a:p>
          <a:p>
            <a:pPr>
              <a:lnSpc>
                <a:spcPts val="1000"/>
              </a:lnSpc>
              <a:spcAft>
                <a:spcPts val="0"/>
              </a:spcAft>
            </a:pPr>
            <a:r>
              <a:rPr sz="800" i="0">
                <a:solidFill>
                  <a:srgbClr val="5C6773"/>
                </a:solidFill>
                <a:latin typeface="Consolas"/>
              </a:rPr>
              <a:t>10  </a:t>
            </a:r>
            <a:r>
              <a:rPr sz="800" i="0">
                <a:solidFill>
                  <a:srgbClr val="FF8E6E"/>
                </a:solidFill>
                <a:latin typeface="Consolas"/>
              </a:rPr>
              <a:t>from</a:t>
            </a:r>
            <a:r>
              <a:rPr sz="800" i="0">
                <a:solidFill>
                  <a:srgbClr val="E6EDF3"/>
                </a:solidFill>
                <a:latin typeface="Consolas"/>
              </a:rPr>
              <a:t> </a:t>
            </a:r>
            <a:r>
              <a:rPr sz="800" i="0">
                <a:solidFill>
                  <a:srgbClr val="E6EDF3"/>
                </a:solidFill>
                <a:latin typeface="Consolas"/>
              </a:rPr>
              <a:t>pydantic</a:t>
            </a:r>
            <a:r>
              <a:rPr sz="800" i="0">
                <a:solidFill>
                  <a:srgbClr val="E6EDF3"/>
                </a:solidFill>
                <a:latin typeface="Consolas"/>
              </a:rPr>
              <a:t> </a:t>
            </a:r>
            <a:r>
              <a:rPr sz="800" i="0">
                <a:solidFill>
                  <a:srgbClr val="FF8E6E"/>
                </a:solidFill>
                <a:latin typeface="Consolas"/>
              </a:rPr>
              <a:t>import</a:t>
            </a:r>
            <a:r>
              <a:rPr sz="800" i="0">
                <a:solidFill>
                  <a:srgbClr val="E6EDF3"/>
                </a:solidFill>
                <a:latin typeface="Consolas"/>
              </a:rPr>
              <a:t> </a:t>
            </a:r>
            <a:r>
              <a:rPr sz="800" i="0">
                <a:solidFill>
                  <a:srgbClr val="7FDBCA"/>
                </a:solidFill>
                <a:latin typeface="Consolas"/>
              </a:rPr>
              <a:t>BaseModel</a:t>
            </a:r>
          </a:p>
          <a:p>
            <a:pPr>
              <a:lnSpc>
                <a:spcPts val="1000"/>
              </a:lnSpc>
              <a:spcAft>
                <a:spcPts val="0"/>
              </a:spcAft>
            </a:pPr>
            <a:r>
              <a:rPr sz="800" i="0">
                <a:solidFill>
                  <a:srgbClr val="5C6773"/>
                </a:solidFill>
                <a:latin typeface="Consolas"/>
              </a:rPr>
              <a:t>11  </a:t>
            </a:r>
            <a:r>
              <a:rPr sz="800" i="0">
                <a:solidFill>
                  <a:srgbClr val="E6EDF3"/>
                </a:solidFill>
                <a:latin typeface="Consolas"/>
              </a:rPr>
              <a:t> </a:t>
            </a:r>
          </a:p>
          <a:p>
            <a:pPr>
              <a:lnSpc>
                <a:spcPts val="1000"/>
              </a:lnSpc>
              <a:spcAft>
                <a:spcPts val="0"/>
              </a:spcAft>
            </a:pPr>
            <a:r>
              <a:rPr sz="800" i="0">
                <a:solidFill>
                  <a:srgbClr val="5C6773"/>
                </a:solidFill>
                <a:latin typeface="Consolas"/>
              </a:rPr>
              <a:t>12  </a:t>
            </a:r>
            <a:r>
              <a:rPr sz="800" i="0">
                <a:solidFill>
                  <a:srgbClr val="E6EDF3"/>
                </a:solidFill>
                <a:latin typeface="Consolas"/>
              </a:rPr>
              <a:t> </a:t>
            </a:r>
          </a:p>
          <a:p>
            <a:pPr>
              <a:lnSpc>
                <a:spcPts val="1000"/>
              </a:lnSpc>
              <a:spcAft>
                <a:spcPts val="0"/>
              </a:spcAft>
            </a:pPr>
            <a:r>
              <a:rPr sz="800" i="0">
                <a:solidFill>
                  <a:srgbClr val="5C6773"/>
                </a:solidFill>
                <a:latin typeface="Consolas"/>
              </a:rPr>
              <a:t>13  </a:t>
            </a:r>
            <a:r>
              <a:rPr sz="800" i="1">
                <a:solidFill>
                  <a:srgbClr val="8B98A8"/>
                </a:solidFill>
                <a:latin typeface="Consolas"/>
              </a:rPr>
              <a:t># ---------- service: murni Python, tanpa FastAPI ----------</a:t>
            </a:r>
          </a:p>
          <a:p>
            <a:pPr>
              <a:lnSpc>
                <a:spcPts val="1000"/>
              </a:lnSpc>
              <a:spcAft>
                <a:spcPts val="0"/>
              </a:spcAft>
            </a:pPr>
            <a:r>
              <a:rPr sz="800" i="0">
                <a:solidFill>
                  <a:srgbClr val="5C6773"/>
                </a:solidFill>
                <a:latin typeface="Consolas"/>
              </a:rPr>
              <a:t>14  </a:t>
            </a:r>
            <a:r>
              <a:rPr sz="800" i="0">
                <a:solidFill>
                  <a:srgbClr val="FF8E6E"/>
                </a:solidFill>
                <a:latin typeface="Consolas"/>
              </a:rPr>
              <a:t>class</a:t>
            </a:r>
            <a:r>
              <a:rPr sz="800" i="0">
                <a:solidFill>
                  <a:srgbClr val="E6EDF3"/>
                </a:solidFill>
                <a:latin typeface="Consolas"/>
              </a:rPr>
              <a:t> </a:t>
            </a:r>
            <a:r>
              <a:rPr sz="800" i="0">
                <a:solidFill>
                  <a:srgbClr val="7FDBCA"/>
                </a:solidFill>
                <a:latin typeface="Consolas"/>
              </a:rPr>
              <a:t>BusinessError</a:t>
            </a:r>
            <a:r>
              <a:rPr sz="800" i="0">
                <a:solidFill>
                  <a:srgbClr val="E6EDF3"/>
                </a:solidFill>
                <a:latin typeface="Consolas"/>
              </a:rPr>
              <a:t>(</a:t>
            </a:r>
            <a:r>
              <a:rPr sz="800" i="0">
                <a:solidFill>
                  <a:srgbClr val="7FDBCA"/>
                </a:solidFill>
                <a:latin typeface="Consolas"/>
              </a:rPr>
              <a:t>Exception</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15  </a:t>
            </a:r>
            <a:r>
              <a:rPr sz="800" i="0">
                <a:solidFill>
                  <a:srgbClr val="E6EDF3"/>
                </a:solidFill>
                <a:latin typeface="Consolas"/>
              </a:rPr>
              <a:t>    </a:t>
            </a:r>
            <a:r>
              <a:rPr sz="800" i="0">
                <a:solidFill>
                  <a:srgbClr val="FF8E6E"/>
                </a:solidFill>
                <a:latin typeface="Consolas"/>
              </a:rPr>
              <a:t>pass</a:t>
            </a:r>
          </a:p>
          <a:p>
            <a:pPr>
              <a:lnSpc>
                <a:spcPts val="1000"/>
              </a:lnSpc>
              <a:spcAft>
                <a:spcPts val="0"/>
              </a:spcAft>
            </a:pPr>
            <a:r>
              <a:rPr sz="800" i="0">
                <a:solidFill>
                  <a:srgbClr val="5C6773"/>
                </a:solidFill>
                <a:latin typeface="Consolas"/>
              </a:rPr>
              <a:t>16  </a:t>
            </a:r>
            <a:r>
              <a:rPr sz="800" i="0">
                <a:solidFill>
                  <a:srgbClr val="E6EDF3"/>
                </a:solidFill>
                <a:latin typeface="Consolas"/>
              </a:rPr>
              <a:t> </a:t>
            </a:r>
          </a:p>
          <a:p>
            <a:pPr>
              <a:lnSpc>
                <a:spcPts val="1000"/>
              </a:lnSpc>
              <a:spcAft>
                <a:spcPts val="0"/>
              </a:spcAft>
            </a:pPr>
            <a:r>
              <a:rPr sz="800" i="0">
                <a:solidFill>
                  <a:srgbClr val="5C6773"/>
                </a:solidFill>
                <a:latin typeface="Consolas"/>
              </a:rPr>
              <a:t>17  </a:t>
            </a:r>
            <a:r>
              <a:rPr sz="800" i="0">
                <a:solidFill>
                  <a:srgbClr val="E6EDF3"/>
                </a:solidFill>
                <a:latin typeface="Consolas"/>
              </a:rPr>
              <a:t> </a:t>
            </a:r>
          </a:p>
          <a:p>
            <a:pPr>
              <a:lnSpc>
                <a:spcPts val="1000"/>
              </a:lnSpc>
              <a:spcAft>
                <a:spcPts val="0"/>
              </a:spcAft>
            </a:pPr>
            <a:r>
              <a:rPr sz="800" i="0">
                <a:solidFill>
                  <a:srgbClr val="5C6773"/>
                </a:solidFill>
                <a:latin typeface="Consolas"/>
              </a:rPr>
              <a:t>18  </a:t>
            </a:r>
            <a:r>
              <a:rPr sz="800" i="0">
                <a:solidFill>
                  <a:srgbClr val="FF8E6E"/>
                </a:solidFill>
                <a:latin typeface="Consolas"/>
              </a:rPr>
              <a:t>class</a:t>
            </a:r>
            <a:r>
              <a:rPr sz="800" i="0">
                <a:solidFill>
                  <a:srgbClr val="E6EDF3"/>
                </a:solidFill>
                <a:latin typeface="Consolas"/>
              </a:rPr>
              <a:t> </a:t>
            </a:r>
            <a:r>
              <a:rPr sz="800" i="0">
                <a:solidFill>
                  <a:srgbClr val="7FDBCA"/>
                </a:solidFill>
                <a:latin typeface="Consolas"/>
              </a:rPr>
              <a:t>OrderService</a:t>
            </a:r>
            <a:r>
              <a:rPr sz="800" i="0">
                <a:solidFill>
                  <a:srgbClr val="E6EDF3"/>
                </a:solidFill>
                <a:latin typeface="Consolas"/>
              </a:rPr>
              <a:t>:</a:t>
            </a:r>
          </a:p>
          <a:p>
            <a:pPr>
              <a:lnSpc>
                <a:spcPts val="1000"/>
              </a:lnSpc>
              <a:spcAft>
                <a:spcPts val="0"/>
              </a:spcAft>
            </a:pPr>
            <a:r>
              <a:rPr sz="800" i="0">
                <a:solidFill>
                  <a:srgbClr val="5C6773"/>
                </a:solidFill>
                <a:latin typeface="Consolas"/>
              </a:rPr>
              <a:t>19  </a:t>
            </a:r>
            <a:r>
              <a:rPr sz="800" i="0">
                <a:solidFill>
                  <a:srgbClr val="E6EDF3"/>
                </a:solidFill>
                <a:latin typeface="Consolas"/>
              </a:rPr>
              <a:t>    </a:t>
            </a: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__init__</a:t>
            </a:r>
            <a:r>
              <a:rPr sz="800" i="0">
                <a:solidFill>
                  <a:srgbClr val="E6EDF3"/>
                </a:solidFill>
                <a:latin typeface="Consolas"/>
              </a:rPr>
              <a:t>(</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20  </a:t>
            </a:r>
            <a:r>
              <a:rPr sz="800" i="0">
                <a:solidFill>
                  <a:srgbClr val="E6EDF3"/>
                </a:solidFill>
                <a:latin typeface="Consolas"/>
              </a:rPr>
              <a:t>        </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r>
              <a:rPr sz="800" i="0">
                <a:solidFill>
                  <a:srgbClr val="C3A6FF"/>
                </a:solidFill>
                <a:latin typeface="Consolas"/>
              </a:rPr>
              <a:t>int</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21  </a:t>
            </a:r>
            <a:r>
              <a:rPr sz="800" i="0">
                <a:solidFill>
                  <a:srgbClr val="E6EDF3"/>
                </a:solidFill>
                <a:latin typeface="Consolas"/>
              </a:rPr>
              <a:t> </a:t>
            </a:r>
          </a:p>
          <a:p>
            <a:pPr>
              <a:lnSpc>
                <a:spcPts val="1000"/>
              </a:lnSpc>
              <a:spcAft>
                <a:spcPts val="0"/>
              </a:spcAft>
            </a:pPr>
            <a:r>
              <a:rPr sz="800" i="0">
                <a:solidFill>
                  <a:srgbClr val="5C6773"/>
                </a:solidFill>
                <a:latin typeface="Consolas"/>
              </a:rPr>
              <a:t>22  </a:t>
            </a:r>
            <a:r>
              <a:rPr sz="800" i="0">
                <a:solidFill>
                  <a:srgbClr val="E6EDF3"/>
                </a:solidFill>
                <a:latin typeface="Consolas"/>
              </a:rPr>
              <a:t>    </a:t>
            </a: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place_order</a:t>
            </a:r>
            <a:r>
              <a:rPr sz="800" i="0">
                <a:solidFill>
                  <a:srgbClr val="E6EDF3"/>
                </a:solidFill>
                <a:latin typeface="Consolas"/>
              </a:rPr>
              <a:t>(</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int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&gt;</a:t>
            </a:r>
            <a:r>
              <a:rPr sz="800" i="0">
                <a:solidFill>
                  <a:srgbClr val="E6EDF3"/>
                </a:solidFill>
                <a:latin typeface="Consolas"/>
              </a:rPr>
              <a:t> </a:t>
            </a:r>
            <a:r>
              <a:rPr sz="800" i="0">
                <a:solidFill>
                  <a:srgbClr val="C3A6FF"/>
                </a:solidFill>
                <a:latin typeface="Consolas"/>
              </a:rPr>
              <a:t>dict</a:t>
            </a:r>
            <a:r>
              <a:rPr sz="800" i="0">
                <a:solidFill>
                  <a:srgbClr val="E6EDF3"/>
                </a:solidFill>
                <a:latin typeface="Consolas"/>
              </a:rPr>
              <a:t>:</a:t>
            </a:r>
          </a:p>
          <a:p>
            <a:pPr>
              <a:lnSpc>
                <a:spcPts val="1000"/>
              </a:lnSpc>
              <a:spcAft>
                <a:spcPts val="0"/>
              </a:spcAft>
            </a:pPr>
            <a:r>
              <a:rPr sz="800" i="0">
                <a:solidFill>
                  <a:srgbClr val="5C6773"/>
                </a:solidFill>
                <a:latin typeface="Consolas"/>
              </a:rPr>
              <a:t>23  </a:t>
            </a:r>
            <a:r>
              <a:rPr sz="800" i="0">
                <a:solidFill>
                  <a:srgbClr val="E6EDF3"/>
                </a:solidFill>
                <a:latin typeface="Consolas"/>
              </a:rPr>
              <a:t>        </a:t>
            </a: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&lt;</a:t>
            </a:r>
            <a:r>
              <a:rPr sz="800" i="0">
                <a:solidFill>
                  <a:srgbClr val="E6EDF3"/>
                </a:solidFill>
                <a:latin typeface="Consolas"/>
              </a:rPr>
              <a:t> </a:t>
            </a:r>
            <a:r>
              <a:rPr sz="800" i="0">
                <a:solidFill>
                  <a:srgbClr val="F9C97A"/>
                </a:solidFill>
                <a:latin typeface="Consolas"/>
              </a:rPr>
              <a:t>10_000</a:t>
            </a:r>
            <a:r>
              <a:rPr sz="800" i="0">
                <a:solidFill>
                  <a:srgbClr val="E6EDF3"/>
                </a:solidFill>
                <a:latin typeface="Consolas"/>
              </a:rPr>
              <a:t>:</a:t>
            </a:r>
          </a:p>
          <a:p>
            <a:pPr>
              <a:lnSpc>
                <a:spcPts val="1000"/>
              </a:lnSpc>
              <a:spcAft>
                <a:spcPts val="0"/>
              </a:spcAft>
            </a:pPr>
            <a:r>
              <a:rPr sz="800" i="0">
                <a:solidFill>
                  <a:srgbClr val="5C6773"/>
                </a:solidFill>
                <a:latin typeface="Consolas"/>
              </a:rPr>
              <a:t>24  </a:t>
            </a:r>
            <a:r>
              <a:rPr sz="800" i="0">
                <a:solidFill>
                  <a:srgbClr val="E6EDF3"/>
                </a:solidFill>
                <a:latin typeface="Consolas"/>
              </a:rPr>
              <a:t>            </a:t>
            </a:r>
            <a:r>
              <a:rPr sz="800" i="0">
                <a:solidFill>
                  <a:srgbClr val="FF8E6E"/>
                </a:solidFill>
                <a:latin typeface="Consolas"/>
              </a:rPr>
              <a:t>raise</a:t>
            </a:r>
            <a:r>
              <a:rPr sz="800" i="0">
                <a:solidFill>
                  <a:srgbClr val="E6EDF3"/>
                </a:solidFill>
                <a:latin typeface="Consolas"/>
              </a:rPr>
              <a:t> </a:t>
            </a:r>
            <a:r>
              <a:rPr sz="800" i="0">
                <a:solidFill>
                  <a:srgbClr val="7FDBCA"/>
                </a:solidFill>
                <a:latin typeface="Consolas"/>
              </a:rPr>
              <a:t>BusinessError</a:t>
            </a:r>
            <a:r>
              <a:rPr sz="800" i="0">
                <a:solidFill>
                  <a:srgbClr val="E6EDF3"/>
                </a:solidFill>
                <a:latin typeface="Consolas"/>
              </a:rPr>
              <a:t>(</a:t>
            </a:r>
            <a:r>
              <a:rPr sz="800" i="0">
                <a:solidFill>
                  <a:srgbClr val="A5D6A7"/>
                </a:solidFill>
                <a:latin typeface="Consolas"/>
              </a:rPr>
              <a:t>"Minimal order Rp10.000"</a:t>
            </a:r>
            <a:r>
              <a:rPr sz="800" i="0">
                <a:solidFill>
                  <a:srgbClr val="E6EDF3"/>
                </a:solidFill>
                <a:latin typeface="Consolas"/>
              </a:rPr>
              <a:t>)</a:t>
            </a:r>
          </a:p>
          <a:p>
            <a:pPr>
              <a:lnSpc>
                <a:spcPts val="1000"/>
              </a:lnSpc>
              <a:spcAft>
                <a:spcPts val="0"/>
              </a:spcAft>
            </a:pPr>
            <a:r>
              <a:rPr sz="800" i="0">
                <a:solidFill>
                  <a:srgbClr val="5C6773"/>
                </a:solidFill>
                <a:latin typeface="Consolas"/>
              </a:rPr>
              <a:t>25  </a:t>
            </a:r>
            <a:r>
              <a:rPr sz="800" i="0">
                <a:solidFill>
                  <a:srgbClr val="E6EDF3"/>
                </a:solidFill>
                <a:latin typeface="Consolas"/>
              </a:rPr>
              <a:t>        </a:t>
            </a:r>
            <a:r>
              <a:rPr sz="800" i="0">
                <a:solidFill>
                  <a:srgbClr val="E6EDF3"/>
                </a:solidFill>
                <a:latin typeface="Consolas"/>
              </a:rPr>
              <a:t>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5</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100</a:t>
            </a:r>
          </a:p>
          <a:p>
            <a:pPr>
              <a:lnSpc>
                <a:spcPts val="1000"/>
              </a:lnSpc>
              <a:spcAft>
                <a:spcPts val="0"/>
              </a:spcAft>
            </a:pPr>
            <a:r>
              <a:rPr sz="800" i="0">
                <a:solidFill>
                  <a:srgbClr val="5C6773"/>
                </a:solidFill>
                <a:latin typeface="Consolas"/>
              </a:rPr>
              <a:t>26  </a:t>
            </a:r>
            <a:r>
              <a:rPr sz="800" i="0">
                <a:solidFill>
                  <a:srgbClr val="E6EDF3"/>
                </a:solidFill>
                <a:latin typeface="Consolas"/>
              </a:rPr>
              <a:t>        </a:t>
            </a:r>
            <a:r>
              <a:rPr sz="800" i="0">
                <a:solidFill>
                  <a:srgbClr val="E6EDF3"/>
                </a:solidFill>
                <a:latin typeface="Consolas"/>
              </a:rPr>
              <a:t>order</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A5D6A7"/>
                </a:solidFill>
                <a:latin typeface="Consolas"/>
              </a:rPr>
              <a:t>"id"</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len</a:t>
            </a:r>
            <a:r>
              <a:rPr sz="800" i="0">
                <a:solidFill>
                  <a:srgbClr val="E6EDF3"/>
                </a:solidFill>
                <a:latin typeface="Consolas"/>
              </a:rPr>
              <a:t>(</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1</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"total"</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total</a:t>
            </a:r>
            <a:r>
              <a:rPr sz="800" i="0">
                <a:solidFill>
                  <a:srgbClr val="E6EDF3"/>
                </a:solidFill>
                <a:latin typeface="Consolas"/>
              </a:rPr>
              <a:t>}</a:t>
            </a:r>
          </a:p>
          <a:p>
            <a:pPr>
              <a:lnSpc>
                <a:spcPts val="1000"/>
              </a:lnSpc>
              <a:spcAft>
                <a:spcPts val="0"/>
              </a:spcAft>
            </a:pPr>
            <a:r>
              <a:rPr sz="800" i="0">
                <a:solidFill>
                  <a:srgbClr val="5C6773"/>
                </a:solidFill>
                <a:latin typeface="Consolas"/>
              </a:rPr>
              <a:t>27  </a:t>
            </a:r>
            <a:r>
              <a:rPr sz="800" i="0">
                <a:solidFill>
                  <a:srgbClr val="E6EDF3"/>
                </a:solidFill>
                <a:latin typeface="Consolas"/>
              </a:rPr>
              <a:t>        </a:t>
            </a:r>
            <a:r>
              <a:rPr sz="800" i="0">
                <a:solidFill>
                  <a:srgbClr val="C3A6FF"/>
                </a:solidFill>
                <a:latin typeface="Consolas"/>
              </a:rPr>
              <a:t>self</a:t>
            </a:r>
            <a:r>
              <a:rPr sz="800" i="0">
                <a:solidFill>
                  <a:srgbClr val="E6EDF3"/>
                </a:solidFill>
                <a:latin typeface="Consolas"/>
              </a:rPr>
              <a:t>.</a:t>
            </a:r>
            <a:r>
              <a:rPr sz="800" i="0">
                <a:solidFill>
                  <a:srgbClr val="E6EDF3"/>
                </a:solidFill>
                <a:latin typeface="Consolas"/>
              </a:rPr>
              <a:t>orders</a:t>
            </a:r>
            <a:r>
              <a:rPr sz="800" i="0">
                <a:solidFill>
                  <a:srgbClr val="E6EDF3"/>
                </a:solidFill>
                <a:latin typeface="Consolas"/>
              </a:rPr>
              <a:t>[</a:t>
            </a:r>
            <a:r>
              <a:rPr sz="800" i="0">
                <a:solidFill>
                  <a:srgbClr val="E6EDF3"/>
                </a:solidFill>
                <a:latin typeface="Consolas"/>
              </a:rPr>
              <a:t>order</a:t>
            </a:r>
            <a:r>
              <a:rPr sz="800" i="0">
                <a:solidFill>
                  <a:srgbClr val="E6EDF3"/>
                </a:solidFill>
                <a:latin typeface="Consolas"/>
              </a:rPr>
              <a:t>[</a:t>
            </a:r>
            <a:r>
              <a:rPr sz="800" i="0">
                <a:solidFill>
                  <a:srgbClr val="A5D6A7"/>
                </a:solidFill>
                <a:latin typeface="Consolas"/>
              </a:rPr>
              <a:t>"id"</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order</a:t>
            </a:r>
          </a:p>
          <a:p>
            <a:pPr>
              <a:lnSpc>
                <a:spcPts val="1000"/>
              </a:lnSpc>
              <a:spcAft>
                <a:spcPts val="0"/>
              </a:spcAft>
            </a:pPr>
            <a:r>
              <a:rPr sz="800" i="0">
                <a:solidFill>
                  <a:srgbClr val="5C6773"/>
                </a:solidFill>
                <a:latin typeface="Consolas"/>
              </a:rPr>
              <a:t>28  </a:t>
            </a: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A5D6A7"/>
                </a:solidFill>
                <a:latin typeface="Consolas"/>
              </a:rPr>
              <a:t>f"[EMAIL] ke {customer}: Order #{order['id']} berhasil dibuat"</a:t>
            </a:r>
            <a:r>
              <a:rPr sz="800" i="0">
                <a:solidFill>
                  <a:srgbClr val="E6EDF3"/>
                </a:solidFill>
                <a:latin typeface="Consolas"/>
              </a:rPr>
              <a:t>)</a:t>
            </a:r>
          </a:p>
          <a:p>
            <a:pPr>
              <a:lnSpc>
                <a:spcPts val="1000"/>
              </a:lnSpc>
              <a:spcAft>
                <a:spcPts val="0"/>
              </a:spcAft>
            </a:pPr>
            <a:r>
              <a:rPr sz="800" i="0">
                <a:solidFill>
                  <a:srgbClr val="5C6773"/>
                </a:solidFill>
                <a:latin typeface="Consolas"/>
              </a:rPr>
              <a:t>29  </a:t>
            </a: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E6EDF3"/>
                </a:solidFill>
                <a:latin typeface="Consolas"/>
              </a:rPr>
              <a:t>order</a:t>
            </a:r>
          </a:p>
        </p:txBody>
      </p:sp>
      <p:sp>
        <p:nvSpPr>
          <p:cNvPr id="29" name="Box 12"/>
          <p:cNvSpPr/>
          <p:nvPr/>
        </p:nvSpPr>
        <p:spPr>
          <a:xfrm>
            <a:off x="704088" y="2970022"/>
            <a:ext cx="7699248" cy="1516380"/>
          </a:xfrm>
          <a:prstGeom prst="roundRect">
            <a:avLst>
              <a:gd name="adj" fmla="val 301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609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732022"/>
            <a:ext cx="7699248"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8284463" y="3672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After: Route Simple, Service Handle Business Logic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72237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05-service-layer/after.py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7863840" cy="2980944"/>
          </a:xfrm>
          <a:prstGeom prst="rect">
            <a:avLst/>
          </a:prstGeom>
          <a:noFill/>
        </p:spPr>
        <p:txBody>
          <a:bodyPr wrap="none" lIns="146304" rIns="146304" tIns="91440" bIns="54864">
            <a:spAutoFit/>
          </a:bodyPr>
          <a:lstStyle/>
          <a:p>
            <a:pPr>
              <a:lnSpc>
                <a:spcPts val="1000"/>
              </a:lnSpc>
              <a:spcAft>
                <a:spcPts val="0"/>
              </a:spcAft>
            </a:pPr>
            <a:r>
              <a:rPr sz="800" i="0">
                <a:solidFill>
                  <a:srgbClr val="5C6773"/>
                </a:solidFill>
                <a:latin typeface="Consolas"/>
              </a:rPr>
              <a:t>32  </a:t>
            </a:r>
            <a:r>
              <a:rPr sz="800" i="1">
                <a:solidFill>
                  <a:srgbClr val="8B98A8"/>
                </a:solidFill>
                <a:latin typeface="Consolas"/>
              </a:rPr>
              <a:t># ---------- route: simple, hanya menghandle HTTP ----------</a:t>
            </a:r>
          </a:p>
          <a:p>
            <a:pPr>
              <a:lnSpc>
                <a:spcPts val="1000"/>
              </a:lnSpc>
              <a:spcAft>
                <a:spcPts val="0"/>
              </a:spcAft>
            </a:pPr>
            <a:r>
              <a:rPr sz="800" i="0">
                <a:solidFill>
                  <a:srgbClr val="5C6773"/>
                </a:solidFill>
                <a:latin typeface="Consolas"/>
              </a:rPr>
              <a:t>33  </a:t>
            </a:r>
            <a:r>
              <a:rPr sz="800" i="0">
                <a:solidFill>
                  <a:srgbClr val="E6EDF3"/>
                </a:solidFill>
                <a:latin typeface="Consolas"/>
              </a:rPr>
              <a:t>app</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FastAPI</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34  </a:t>
            </a:r>
            <a:r>
              <a:rPr sz="800" i="0">
                <a:solidFill>
                  <a:srgbClr val="E6EDF3"/>
                </a:solidFill>
                <a:latin typeface="Consolas"/>
              </a:rPr>
              <a:t>service</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OrderService</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35  </a:t>
            </a:r>
            <a:r>
              <a:rPr sz="800" i="0">
                <a:solidFill>
                  <a:srgbClr val="E6EDF3"/>
                </a:solidFill>
                <a:latin typeface="Consolas"/>
              </a:rPr>
              <a:t> </a:t>
            </a:r>
          </a:p>
          <a:p>
            <a:pPr>
              <a:lnSpc>
                <a:spcPts val="1000"/>
              </a:lnSpc>
              <a:spcAft>
                <a:spcPts val="0"/>
              </a:spcAft>
            </a:pPr>
            <a:r>
              <a:rPr sz="800" i="0">
                <a:solidFill>
                  <a:srgbClr val="5C6773"/>
                </a:solidFill>
                <a:latin typeface="Consolas"/>
              </a:rPr>
              <a:t>36  </a:t>
            </a:r>
            <a:r>
              <a:rPr sz="800" i="0">
                <a:solidFill>
                  <a:srgbClr val="E6EDF3"/>
                </a:solidFill>
                <a:latin typeface="Consolas"/>
              </a:rPr>
              <a:t> </a:t>
            </a:r>
          </a:p>
          <a:p>
            <a:pPr>
              <a:lnSpc>
                <a:spcPts val="1000"/>
              </a:lnSpc>
              <a:spcAft>
                <a:spcPts val="0"/>
              </a:spcAft>
            </a:pPr>
            <a:r>
              <a:rPr sz="800" i="0">
                <a:solidFill>
                  <a:srgbClr val="5C6773"/>
                </a:solidFill>
                <a:latin typeface="Consolas"/>
              </a:rPr>
              <a:t>37  </a:t>
            </a:r>
            <a:r>
              <a:rPr sz="800" i="0">
                <a:solidFill>
                  <a:srgbClr val="FF8E6E"/>
                </a:solidFill>
                <a:latin typeface="Consolas"/>
              </a:rPr>
              <a:t>class</a:t>
            </a:r>
            <a:r>
              <a:rPr sz="800" i="0">
                <a:solidFill>
                  <a:srgbClr val="E6EDF3"/>
                </a:solidFill>
                <a:latin typeface="Consolas"/>
              </a:rPr>
              <a:t> </a:t>
            </a:r>
            <a:r>
              <a:rPr sz="800" i="0">
                <a:solidFill>
                  <a:srgbClr val="7FDBCA"/>
                </a:solidFill>
                <a:latin typeface="Consolas"/>
              </a:rPr>
              <a:t>OrderIn</a:t>
            </a:r>
            <a:r>
              <a:rPr sz="800" i="0">
                <a:solidFill>
                  <a:srgbClr val="E6EDF3"/>
                </a:solidFill>
                <a:latin typeface="Consolas"/>
              </a:rPr>
              <a:t>(</a:t>
            </a:r>
            <a:r>
              <a:rPr sz="800" i="0">
                <a:solidFill>
                  <a:srgbClr val="7FDBCA"/>
                </a:solidFill>
                <a:latin typeface="Consolas"/>
              </a:rPr>
              <a:t>BaseModel</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38  </a:t>
            </a:r>
            <a:r>
              <a:rPr sz="800" i="0">
                <a:solidFill>
                  <a:srgbClr val="E6EDF3"/>
                </a:solidFill>
                <a:latin typeface="Consolas"/>
              </a:rPr>
              <a:t>    </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p>
          <a:p>
            <a:pPr>
              <a:lnSpc>
                <a:spcPts val="1000"/>
              </a:lnSpc>
              <a:spcAft>
                <a:spcPts val="0"/>
              </a:spcAft>
            </a:pPr>
            <a:r>
              <a:rPr sz="800" i="0">
                <a:solidFill>
                  <a:srgbClr val="5C6773"/>
                </a:solidFill>
                <a:latin typeface="Consolas"/>
              </a:rPr>
              <a:t>39  </a:t>
            </a:r>
            <a:r>
              <a:rPr sz="800" i="0">
                <a:solidFill>
                  <a:srgbClr val="E6EDF3"/>
                </a:solidFill>
                <a:latin typeface="Consolas"/>
              </a:rPr>
              <a:t>    </a:t>
            </a:r>
            <a:r>
              <a:rPr sz="800" i="0">
                <a:solidFill>
                  <a:srgbClr val="E6EDF3"/>
                </a:solidFill>
                <a:latin typeface="Consolas"/>
              </a:rPr>
              <a:t>subtotal</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int</a:t>
            </a:r>
          </a:p>
          <a:p>
            <a:pPr>
              <a:lnSpc>
                <a:spcPts val="1000"/>
              </a:lnSpc>
              <a:spcAft>
                <a:spcPts val="0"/>
              </a:spcAft>
            </a:pPr>
            <a:r>
              <a:rPr sz="800" i="0">
                <a:solidFill>
                  <a:srgbClr val="5C6773"/>
                </a:solidFill>
                <a:latin typeface="Consolas"/>
              </a:rPr>
              <a:t>40  </a:t>
            </a:r>
            <a:r>
              <a:rPr sz="800" i="0">
                <a:solidFill>
                  <a:srgbClr val="E6EDF3"/>
                </a:solidFill>
                <a:latin typeface="Consolas"/>
              </a:rPr>
              <a:t> </a:t>
            </a:r>
          </a:p>
          <a:p>
            <a:pPr>
              <a:lnSpc>
                <a:spcPts val="1000"/>
              </a:lnSpc>
              <a:spcAft>
                <a:spcPts val="0"/>
              </a:spcAft>
            </a:pPr>
            <a:r>
              <a:rPr sz="800" i="0">
                <a:solidFill>
                  <a:srgbClr val="5C6773"/>
                </a:solidFill>
                <a:latin typeface="Consolas"/>
              </a:rPr>
              <a:t>41  </a:t>
            </a:r>
            <a:r>
              <a:rPr sz="800" i="0">
                <a:solidFill>
                  <a:srgbClr val="E6EDF3"/>
                </a:solidFill>
                <a:latin typeface="Consolas"/>
              </a:rPr>
              <a:t> </a:t>
            </a:r>
          </a:p>
          <a:p>
            <a:pPr>
              <a:lnSpc>
                <a:spcPts val="1000"/>
              </a:lnSpc>
              <a:spcAft>
                <a:spcPts val="0"/>
              </a:spcAft>
            </a:pPr>
            <a:r>
              <a:rPr sz="800" i="0">
                <a:solidFill>
                  <a:srgbClr val="5C6773"/>
                </a:solidFill>
                <a:latin typeface="Consolas"/>
              </a:rPr>
              <a:t>42  </a:t>
            </a:r>
            <a:r>
              <a:rPr sz="800" i="0">
                <a:solidFill>
                  <a:srgbClr val="F9C97A"/>
                </a:solidFill>
                <a:latin typeface="Consolas"/>
              </a:rPr>
              <a:t>@app.post</a:t>
            </a:r>
            <a:r>
              <a:rPr sz="800" i="0">
                <a:solidFill>
                  <a:srgbClr val="E6EDF3"/>
                </a:solidFill>
                <a:latin typeface="Consolas"/>
              </a:rPr>
              <a:t>(</a:t>
            </a:r>
            <a:r>
              <a:rPr sz="800" i="0">
                <a:solidFill>
                  <a:srgbClr val="A5D6A7"/>
                </a:solidFill>
                <a:latin typeface="Consolas"/>
              </a:rPr>
              <a:t>"/orders"</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status_code</a:t>
            </a:r>
            <a:r>
              <a:rPr sz="800" i="0">
                <a:solidFill>
                  <a:srgbClr val="E6EDF3"/>
                </a:solidFill>
                <a:latin typeface="Consolas"/>
              </a:rPr>
              <a:t>=</a:t>
            </a:r>
            <a:r>
              <a:rPr sz="800" i="0">
                <a:solidFill>
                  <a:srgbClr val="F9C97A"/>
                </a:solidFill>
                <a:latin typeface="Consolas"/>
              </a:rPr>
              <a:t>201</a:t>
            </a:r>
            <a:r>
              <a:rPr sz="800" i="0">
                <a:solidFill>
                  <a:srgbClr val="E6EDF3"/>
                </a:solidFill>
                <a:latin typeface="Consolas"/>
              </a:rPr>
              <a:t>)</a:t>
            </a:r>
          </a:p>
          <a:p>
            <a:pPr>
              <a:lnSpc>
                <a:spcPts val="1000"/>
              </a:lnSpc>
              <a:spcAft>
                <a:spcPts val="0"/>
              </a:spcAft>
            </a:pPr>
            <a:r>
              <a:rPr sz="800" i="0">
                <a:solidFill>
                  <a:srgbClr val="5C6773"/>
                </a:solidFill>
                <a:latin typeface="Consolas"/>
              </a:rPr>
              <a:t>43  </a:t>
            </a:r>
            <a:r>
              <a:rPr sz="800" i="0">
                <a:solidFill>
                  <a:srgbClr val="FF8E6E"/>
                </a:solidFill>
                <a:latin typeface="Consolas"/>
              </a:rPr>
              <a:t>def</a:t>
            </a:r>
            <a:r>
              <a:rPr sz="800" i="0">
                <a:solidFill>
                  <a:srgbClr val="E6EDF3"/>
                </a:solidFill>
                <a:latin typeface="Consolas"/>
              </a:rPr>
              <a:t> </a:t>
            </a:r>
            <a:r>
              <a:rPr sz="800" i="0">
                <a:solidFill>
                  <a:srgbClr val="82B1FF"/>
                </a:solidFill>
                <a:latin typeface="Consolas"/>
              </a:rPr>
              <a:t>create_order</a:t>
            </a:r>
            <a:r>
              <a:rPr sz="800" i="0">
                <a:solidFill>
                  <a:srgbClr val="E6EDF3"/>
                </a:solidFill>
                <a:latin typeface="Consolas"/>
              </a:rPr>
              <a:t>(</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 </a:t>
            </a:r>
            <a:r>
              <a:rPr sz="800" i="0">
                <a:solidFill>
                  <a:srgbClr val="7FDBCA"/>
                </a:solidFill>
                <a:latin typeface="Consolas"/>
              </a:rPr>
              <a:t>OrderIn</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44  </a:t>
            </a:r>
            <a:r>
              <a:rPr sz="800" i="0">
                <a:solidFill>
                  <a:srgbClr val="E6EDF3"/>
                </a:solidFill>
                <a:latin typeface="Consolas"/>
              </a:rPr>
              <a:t>    </a:t>
            </a:r>
            <a:r>
              <a:rPr sz="800" i="0">
                <a:solidFill>
                  <a:srgbClr val="FF8E6E"/>
                </a:solidFill>
                <a:latin typeface="Consolas"/>
              </a:rPr>
              <a:t>try</a:t>
            </a:r>
            <a:r>
              <a:rPr sz="800" i="0">
                <a:solidFill>
                  <a:srgbClr val="E6EDF3"/>
                </a:solidFill>
                <a:latin typeface="Consolas"/>
              </a:rPr>
              <a:t>:</a:t>
            </a:r>
          </a:p>
          <a:p>
            <a:pPr>
              <a:lnSpc>
                <a:spcPts val="1000"/>
              </a:lnSpc>
              <a:spcAft>
                <a:spcPts val="0"/>
              </a:spcAft>
            </a:pPr>
            <a:r>
              <a:rPr sz="800" i="0">
                <a:solidFill>
                  <a:srgbClr val="5C6773"/>
                </a:solidFill>
                <a:latin typeface="Consolas"/>
              </a:rPr>
              <a:t>45  </a:t>
            </a:r>
            <a:r>
              <a:rPr sz="800" i="0">
                <a:solidFill>
                  <a:srgbClr val="E6EDF3"/>
                </a:solidFill>
                <a:latin typeface="Consolas"/>
              </a:rPr>
              <a:t>        </a:t>
            </a:r>
            <a:r>
              <a:rPr sz="800" i="0">
                <a:solidFill>
                  <a:srgbClr val="FF8E6E"/>
                </a:solidFill>
                <a:latin typeface="Consolas"/>
              </a:rPr>
              <a:t>return</a:t>
            </a:r>
            <a:r>
              <a:rPr sz="800" i="0">
                <a:solidFill>
                  <a:srgbClr val="E6EDF3"/>
                </a:solidFill>
                <a:latin typeface="Consolas"/>
              </a:rPr>
              <a:t> </a:t>
            </a:r>
            <a:r>
              <a:rPr sz="800" i="0">
                <a:solidFill>
                  <a:srgbClr val="E6EDF3"/>
                </a:solidFill>
                <a:latin typeface="Consolas"/>
              </a:rPr>
              <a:t>service</a:t>
            </a:r>
            <a:r>
              <a:rPr sz="800" i="0">
                <a:solidFill>
                  <a:srgbClr val="E6EDF3"/>
                </a:solidFill>
                <a:latin typeface="Consolas"/>
              </a:rPr>
              <a:t>.</a:t>
            </a:r>
            <a:r>
              <a:rPr sz="800" i="0">
                <a:solidFill>
                  <a:srgbClr val="E6EDF3"/>
                </a:solidFill>
                <a:latin typeface="Consolas"/>
              </a:rPr>
              <a:t>place_order</a:t>
            </a:r>
            <a:r>
              <a:rPr sz="800" i="0">
                <a:solidFill>
                  <a:srgbClr val="E6EDF3"/>
                </a:solidFill>
                <a:latin typeface="Consolas"/>
              </a:rPr>
              <a:t>(</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customer</a:t>
            </a:r>
            <a:r>
              <a:rPr sz="800" i="0">
                <a:solidFill>
                  <a:srgbClr val="E6EDF3"/>
                </a:solidFill>
                <a:latin typeface="Consolas"/>
              </a:rPr>
              <a:t>,</a:t>
            </a:r>
            <a:r>
              <a:rPr sz="800" i="0">
                <a:solidFill>
                  <a:srgbClr val="E6EDF3"/>
                </a:solidFill>
                <a:latin typeface="Consolas"/>
              </a:rPr>
              <a:t> </a:t>
            </a:r>
            <a:r>
              <a:rPr sz="800" i="0">
                <a:solidFill>
                  <a:srgbClr val="E6EDF3"/>
                </a:solidFill>
                <a:latin typeface="Consolas"/>
              </a:rPr>
              <a:t>payload</a:t>
            </a:r>
            <a:r>
              <a:rPr sz="800" i="0">
                <a:solidFill>
                  <a:srgbClr val="E6EDF3"/>
                </a:solidFill>
                <a:latin typeface="Consolas"/>
              </a:rPr>
              <a:t>.</a:t>
            </a:r>
            <a:r>
              <a:rPr sz="800" i="0">
                <a:solidFill>
                  <a:srgbClr val="E6EDF3"/>
                </a:solidFill>
                <a:latin typeface="Consolas"/>
              </a:rPr>
              <a:t>subtotal</a:t>
            </a:r>
            <a:r>
              <a:rPr sz="800" i="0">
                <a:solidFill>
                  <a:srgbClr val="E6EDF3"/>
                </a:solidFill>
                <a:latin typeface="Consolas"/>
              </a:rPr>
              <a:t>)</a:t>
            </a:r>
          </a:p>
          <a:p>
            <a:pPr>
              <a:lnSpc>
                <a:spcPts val="1000"/>
              </a:lnSpc>
              <a:spcAft>
                <a:spcPts val="0"/>
              </a:spcAft>
            </a:pPr>
            <a:r>
              <a:rPr sz="800" i="0">
                <a:solidFill>
                  <a:srgbClr val="5C6773"/>
                </a:solidFill>
                <a:latin typeface="Consolas"/>
              </a:rPr>
              <a:t>46  </a:t>
            </a:r>
            <a:r>
              <a:rPr sz="800" i="0">
                <a:solidFill>
                  <a:srgbClr val="E6EDF3"/>
                </a:solidFill>
                <a:latin typeface="Consolas"/>
              </a:rPr>
              <a:t>    </a:t>
            </a:r>
            <a:r>
              <a:rPr sz="800" i="0">
                <a:solidFill>
                  <a:srgbClr val="FF8E6E"/>
                </a:solidFill>
                <a:latin typeface="Consolas"/>
              </a:rPr>
              <a:t>except</a:t>
            </a:r>
            <a:r>
              <a:rPr sz="800" i="0">
                <a:solidFill>
                  <a:srgbClr val="E6EDF3"/>
                </a:solidFill>
                <a:latin typeface="Consolas"/>
              </a:rPr>
              <a:t> </a:t>
            </a:r>
            <a:r>
              <a:rPr sz="800" i="0">
                <a:solidFill>
                  <a:srgbClr val="7FDBCA"/>
                </a:solidFill>
                <a:latin typeface="Consolas"/>
              </a:rPr>
              <a:t>BusinessError</a:t>
            </a:r>
            <a:r>
              <a:rPr sz="800" i="0">
                <a:solidFill>
                  <a:srgbClr val="E6EDF3"/>
                </a:solidFill>
                <a:latin typeface="Consolas"/>
              </a:rPr>
              <a:t> </a:t>
            </a:r>
            <a:r>
              <a:rPr sz="800" i="0">
                <a:solidFill>
                  <a:srgbClr val="FF8E6E"/>
                </a:solidFill>
                <a:latin typeface="Consolas"/>
              </a:rPr>
              <a:t>as</a:t>
            </a:r>
            <a:r>
              <a:rPr sz="800" i="0">
                <a:solidFill>
                  <a:srgbClr val="E6EDF3"/>
                </a:solidFill>
                <a:latin typeface="Consolas"/>
              </a:rPr>
              <a:t> </a:t>
            </a:r>
            <a:r>
              <a:rPr sz="800" i="0">
                <a:solidFill>
                  <a:srgbClr val="E6EDF3"/>
                </a:solidFill>
                <a:latin typeface="Consolas"/>
              </a:rPr>
              <a:t>e</a:t>
            </a:r>
            <a:r>
              <a:rPr sz="800" i="0">
                <a:solidFill>
                  <a:srgbClr val="E6EDF3"/>
                </a:solidFill>
                <a:latin typeface="Consolas"/>
              </a:rPr>
              <a:t>:</a:t>
            </a:r>
          </a:p>
          <a:p>
            <a:pPr>
              <a:lnSpc>
                <a:spcPts val="1000"/>
              </a:lnSpc>
              <a:spcAft>
                <a:spcPts val="0"/>
              </a:spcAft>
            </a:pPr>
            <a:r>
              <a:rPr sz="800" i="0">
                <a:solidFill>
                  <a:srgbClr val="5C6773"/>
                </a:solidFill>
                <a:latin typeface="Consolas"/>
              </a:rPr>
              <a:t>47  </a:t>
            </a:r>
            <a:r>
              <a:rPr sz="800" i="0">
                <a:solidFill>
                  <a:srgbClr val="E6EDF3"/>
                </a:solidFill>
                <a:latin typeface="Consolas"/>
              </a:rPr>
              <a:t>        </a:t>
            </a:r>
            <a:r>
              <a:rPr sz="800" i="0">
                <a:solidFill>
                  <a:srgbClr val="FF8E6E"/>
                </a:solidFill>
                <a:latin typeface="Consolas"/>
              </a:rPr>
              <a:t>raise</a:t>
            </a:r>
            <a:r>
              <a:rPr sz="800" i="0">
                <a:solidFill>
                  <a:srgbClr val="E6EDF3"/>
                </a:solidFill>
                <a:latin typeface="Consolas"/>
              </a:rPr>
              <a:t> </a:t>
            </a:r>
            <a:r>
              <a:rPr sz="800" i="0">
                <a:solidFill>
                  <a:srgbClr val="7FDBCA"/>
                </a:solidFill>
                <a:latin typeface="Consolas"/>
              </a:rPr>
              <a:t>HTTPException</a:t>
            </a:r>
            <a:r>
              <a:rPr sz="800" i="0">
                <a:solidFill>
                  <a:srgbClr val="E6EDF3"/>
                </a:solidFill>
                <a:latin typeface="Consolas"/>
              </a:rPr>
              <a:t>(</a:t>
            </a:r>
            <a:r>
              <a:rPr sz="800" i="0">
                <a:solidFill>
                  <a:srgbClr val="F9C97A"/>
                </a:solidFill>
                <a:latin typeface="Consolas"/>
              </a:rPr>
              <a:t>400</a:t>
            </a:r>
            <a:r>
              <a:rPr sz="800" i="0">
                <a:solidFill>
                  <a:srgbClr val="E6EDF3"/>
                </a:solidFill>
                <a:latin typeface="Consolas"/>
              </a:rPr>
              <a:t>,</a:t>
            </a:r>
            <a:r>
              <a:rPr sz="800" i="0">
                <a:solidFill>
                  <a:srgbClr val="E6EDF3"/>
                </a:solidFill>
                <a:latin typeface="Consolas"/>
              </a:rPr>
              <a:t> </a:t>
            </a:r>
            <a:r>
              <a:rPr sz="800" i="0">
                <a:solidFill>
                  <a:srgbClr val="C3A6FF"/>
                </a:solidFill>
                <a:latin typeface="Consolas"/>
              </a:rPr>
              <a:t>str</a:t>
            </a:r>
            <a:r>
              <a:rPr sz="800" i="0">
                <a:solidFill>
                  <a:srgbClr val="E6EDF3"/>
                </a:solidFill>
                <a:latin typeface="Consolas"/>
              </a:rPr>
              <a:t>(</a:t>
            </a:r>
            <a:r>
              <a:rPr sz="800" i="0">
                <a:solidFill>
                  <a:srgbClr val="E6EDF3"/>
                </a:solidFill>
                <a:latin typeface="Consolas"/>
              </a:rPr>
              <a:t>e</a:t>
            </a:r>
            <a:r>
              <a:rPr sz="800" i="0">
                <a:solidFill>
                  <a:srgbClr val="E6EDF3"/>
                </a:solidFill>
                <a:latin typeface="Consolas"/>
              </a:rPr>
              <a:t>)</a:t>
            </a:r>
            <a:r>
              <a:rPr sz="800" i="0">
                <a:solidFill>
                  <a:srgbClr val="E6EDF3"/>
                </a:solidFill>
                <a:latin typeface="Consolas"/>
              </a:rPr>
              <a:t>)</a:t>
            </a:r>
          </a:p>
          <a:p>
            <a:pPr>
              <a:lnSpc>
                <a:spcPts val="1000"/>
              </a:lnSpc>
              <a:spcAft>
                <a:spcPts val="0"/>
              </a:spcAft>
            </a:pPr>
            <a:r>
              <a:rPr sz="800" i="0">
                <a:solidFill>
                  <a:srgbClr val="5C6773"/>
                </a:solidFill>
                <a:latin typeface="Consolas"/>
              </a:rPr>
              <a:t>48  </a:t>
            </a:r>
            <a:r>
              <a:rPr sz="800" i="0">
                <a:solidFill>
                  <a:srgbClr val="E6EDF3"/>
                </a:solidFill>
                <a:latin typeface="Consolas"/>
              </a:rPr>
              <a:t> </a:t>
            </a:r>
          </a:p>
          <a:p>
            <a:pPr>
              <a:lnSpc>
                <a:spcPts val="1000"/>
              </a:lnSpc>
              <a:spcAft>
                <a:spcPts val="0"/>
              </a:spcAft>
            </a:pPr>
            <a:r>
              <a:rPr sz="800" i="0">
                <a:solidFill>
                  <a:srgbClr val="5C6773"/>
                </a:solidFill>
                <a:latin typeface="Consolas"/>
              </a:rPr>
              <a:t>49  </a:t>
            </a:r>
            <a:r>
              <a:rPr sz="800" i="0">
                <a:solidFill>
                  <a:srgbClr val="E6EDF3"/>
                </a:solidFill>
                <a:latin typeface="Consolas"/>
              </a:rPr>
              <a:t> </a:t>
            </a:r>
          </a:p>
          <a:p>
            <a:pPr>
              <a:lnSpc>
                <a:spcPts val="1000"/>
              </a:lnSpc>
              <a:spcAft>
                <a:spcPts val="0"/>
              </a:spcAft>
            </a:pPr>
            <a:r>
              <a:rPr sz="800" i="0">
                <a:solidFill>
                  <a:srgbClr val="5C6773"/>
                </a:solidFill>
                <a:latin typeface="Consolas"/>
              </a:rPr>
              <a:t>50  </a:t>
            </a:r>
            <a:r>
              <a:rPr sz="800" i="0">
                <a:solidFill>
                  <a:srgbClr val="FF8E6E"/>
                </a:solidFill>
                <a:latin typeface="Consolas"/>
              </a:rPr>
              <a:t>if</a:t>
            </a:r>
            <a:r>
              <a:rPr sz="800" i="0">
                <a:solidFill>
                  <a:srgbClr val="E6EDF3"/>
                </a:solidFill>
                <a:latin typeface="Consolas"/>
              </a:rPr>
              <a:t> </a:t>
            </a:r>
            <a:r>
              <a:rPr sz="800" i="0">
                <a:solidFill>
                  <a:srgbClr val="E6EDF3"/>
                </a:solidFill>
                <a:latin typeface="Consolas"/>
              </a:rPr>
              <a:t>__name__</a:t>
            </a:r>
            <a:r>
              <a:rPr sz="800" i="0">
                <a:solidFill>
                  <a:srgbClr val="E6EDF3"/>
                </a:solidFill>
                <a:latin typeface="Consolas"/>
              </a:rPr>
              <a:t> </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 </a:t>
            </a:r>
            <a:r>
              <a:rPr sz="800" i="0">
                <a:solidFill>
                  <a:srgbClr val="A5D6A7"/>
                </a:solidFill>
                <a:latin typeface="Consolas"/>
              </a:rPr>
              <a:t>"__main__"</a:t>
            </a:r>
            <a:r>
              <a:rPr sz="800" i="0">
                <a:solidFill>
                  <a:srgbClr val="E6EDF3"/>
                </a:solidFill>
                <a:latin typeface="Consolas"/>
              </a:rPr>
              <a:t>:</a:t>
            </a:r>
          </a:p>
          <a:p>
            <a:pPr>
              <a:lnSpc>
                <a:spcPts val="1000"/>
              </a:lnSpc>
              <a:spcAft>
                <a:spcPts val="0"/>
              </a:spcAft>
            </a:pPr>
            <a:r>
              <a:rPr sz="800" i="0">
                <a:solidFill>
                  <a:srgbClr val="5C6773"/>
                </a:solidFill>
                <a:latin typeface="Consolas"/>
              </a:rPr>
              <a:t>51  </a:t>
            </a:r>
            <a:r>
              <a:rPr sz="800" i="0">
                <a:solidFill>
                  <a:srgbClr val="E6EDF3"/>
                </a:solidFill>
                <a:latin typeface="Consolas"/>
              </a:rPr>
              <a:t>    </a:t>
            </a:r>
            <a:r>
              <a:rPr sz="800" i="1">
                <a:solidFill>
                  <a:srgbClr val="8B98A8"/>
                </a:solidFill>
                <a:latin typeface="Consolas"/>
              </a:rPr>
              <a:t># service bisa dipakai tanpa server sama sekali</a:t>
            </a:r>
          </a:p>
          <a:p>
            <a:pPr>
              <a:lnSpc>
                <a:spcPts val="1000"/>
              </a:lnSpc>
              <a:spcAft>
                <a:spcPts val="0"/>
              </a:spcAft>
            </a:pPr>
            <a:r>
              <a:rPr sz="800" i="0">
                <a:solidFill>
                  <a:srgbClr val="5C6773"/>
                </a:solidFill>
                <a:latin typeface="Consolas"/>
              </a:rPr>
              <a:t>52  </a:t>
            </a:r>
            <a:r>
              <a:rPr sz="800" i="0">
                <a:solidFill>
                  <a:srgbClr val="E6EDF3"/>
                </a:solidFill>
                <a:latin typeface="Consolas"/>
              </a:rPr>
              <a:t>    </a:t>
            </a:r>
            <a:r>
              <a:rPr sz="800" i="0">
                <a:solidFill>
                  <a:srgbClr val="C3A6FF"/>
                </a:solidFill>
                <a:latin typeface="Consolas"/>
              </a:rPr>
              <a:t>print</a:t>
            </a:r>
            <a:r>
              <a:rPr sz="800" i="0">
                <a:solidFill>
                  <a:srgbClr val="E6EDF3"/>
                </a:solidFill>
                <a:latin typeface="Consolas"/>
              </a:rPr>
              <a:t>(</a:t>
            </a:r>
            <a:r>
              <a:rPr sz="800" i="0">
                <a:solidFill>
                  <a:srgbClr val="7FDBCA"/>
                </a:solidFill>
                <a:latin typeface="Consolas"/>
              </a:rPr>
              <a:t>OrderService</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a:t>
            </a:r>
            <a:r>
              <a:rPr sz="800" i="0">
                <a:solidFill>
                  <a:srgbClr val="E6EDF3"/>
                </a:solidFill>
                <a:latin typeface="Consolas"/>
              </a:rPr>
              <a:t>place_order</a:t>
            </a:r>
            <a:r>
              <a:rPr sz="800" i="0">
                <a:solidFill>
                  <a:srgbClr val="E6EDF3"/>
                </a:solidFill>
                <a:latin typeface="Consolas"/>
              </a:rPr>
              <a:t>(</a:t>
            </a:r>
            <a:r>
              <a:rPr sz="800" i="0">
                <a:solidFill>
                  <a:srgbClr val="A5D6A7"/>
                </a:solidFill>
                <a:latin typeface="Consolas"/>
              </a:rPr>
              <a:t>"budi@mail.com"</a:t>
            </a:r>
            <a:r>
              <a:rPr sz="800" i="0">
                <a:solidFill>
                  <a:srgbClr val="E6EDF3"/>
                </a:solidFill>
                <a:latin typeface="Consolas"/>
              </a:rPr>
              <a:t>,</a:t>
            </a:r>
            <a:r>
              <a:rPr sz="800" i="0">
                <a:solidFill>
                  <a:srgbClr val="E6EDF3"/>
                </a:solidFill>
                <a:latin typeface="Consolas"/>
              </a:rPr>
              <a:t> </a:t>
            </a:r>
            <a:r>
              <a:rPr sz="800" i="0">
                <a:solidFill>
                  <a:srgbClr val="F9C97A"/>
                </a:solidFill>
                <a:latin typeface="Consolas"/>
              </a:rPr>
              <a:t>200_000</a:t>
            </a:r>
            <a:r>
              <a:rPr sz="800" i="0">
                <a:solidFill>
                  <a:srgbClr val="E6EDF3"/>
                </a:solidFill>
                <a:latin typeface="Consolas"/>
              </a:rPr>
              <a:t>)</a:t>
            </a:r>
            <a:r>
              <a:rPr sz="800" i="0">
                <a:solidFill>
                  <a:srgbClr val="E6EDF3"/>
                </a:solidFill>
                <a:latin typeface="Consolas"/>
              </a:rPr>
              <a:t>)</a:t>
            </a:r>
          </a:p>
        </p:txBody>
      </p:sp>
      <p:sp>
        <p:nvSpPr>
          <p:cNvPr id="29" name="Box 12"/>
          <p:cNvSpPr/>
          <p:nvPr/>
        </p:nvSpPr>
        <p:spPr>
          <a:xfrm>
            <a:off x="704088" y="3097022"/>
            <a:ext cx="7699248" cy="754380"/>
          </a:xfrm>
          <a:prstGeom prst="roundRect">
            <a:avLst>
              <a:gd name="adj" fmla="val 6060"/>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8284463" y="3355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Menjalankan 05-service-layer/after.py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65760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297680" cy="402335"/>
          </a:xfrm>
          <a:prstGeom prst="rect">
            <a:avLst/>
          </a:prstGeom>
          <a:noFill/>
        </p:spPr>
        <p:txBody>
          <a:bodyPr wrap="none" lIns="146304" rIns="146304" tIns="91440" bIns="54864">
            <a:spAutoFit/>
          </a:bodyPr>
          <a:lstStyle/>
          <a:p>
            <a:pPr>
              <a:lnSpc>
                <a:spcPts val="1000"/>
              </a:lnSpc>
              <a:spcAft>
                <a:spcPts val="0"/>
              </a:spcAft>
            </a:pPr>
            <a:r>
              <a:rPr sz="775" i="0">
                <a:solidFill>
                  <a:srgbClr val="82B1FF"/>
                </a:solidFill>
                <a:latin typeface="Consolas"/>
              </a:rPr>
              <a:t>$ cd sesi-01-design-patterns/05-service-layer</a:t>
            </a:r>
          </a:p>
          <a:p>
            <a:pPr>
              <a:lnSpc>
                <a:spcPts val="1000"/>
              </a:lnSpc>
              <a:spcAft>
                <a:spcPts val="0"/>
              </a:spcAft>
            </a:pPr>
            <a:r>
              <a:rPr sz="775" i="0">
                <a:solidFill>
                  <a:srgbClr val="82B1FF"/>
                </a:solidFill>
                <a:latin typeface="Consolas"/>
              </a:rPr>
              <a:t>$ uvicorn after:app --reload</a:t>
            </a:r>
          </a:p>
        </p:txBody>
      </p:sp>
      <p:pic>
        <p:nvPicPr>
          <p:cNvPr id="29" name="Image 12" descr="s01-05-service-layer-after.png"/>
          <p:cNvPicPr>
            <a:picLocks noChangeAspect="1"/>
          </p:cNvPicPr>
          <p:nvPr/>
        </p:nvPicPr>
        <p:blipFill>
          <a:blip r:embed="rId2"/>
          <a:stretch>
            <a:fillRect/>
          </a:stretch>
        </p:blipFill>
        <p:spPr>
          <a:xfrm>
            <a:off x="621792" y="2240280"/>
            <a:ext cx="4297680" cy="1155570"/>
          </a:xfrm>
          <a:prstGeom prst="rect">
            <a:avLst/>
          </a:prstGeom>
        </p:spPr>
      </p:pic>
      <p:sp>
        <p:nvSpPr>
          <p:cNvPr id="30" name="Text 13"/>
          <p:cNvSpPr txBox="1"/>
          <p:nvPr/>
        </p:nvSpPr>
        <p:spPr>
          <a:xfrm>
            <a:off x="621792" y="3441569"/>
            <a:ext cx="4297680" cy="365760"/>
          </a:xfrm>
          <a:prstGeom prst="rect">
            <a:avLst/>
          </a:prstGeom>
          <a:noFill/>
        </p:spPr>
        <p:txBody>
          <a:bodyPr wrap="square" anchor="t" lIns="45720" rIns="45720">
            <a:spAutoFit/>
          </a:bodyPr>
          <a:lstStyle/>
          <a:p>
            <a:pPr algn="l">
              <a:lnSpc>
                <a:spcPct val="115000"/>
              </a:lnSpc>
              <a:spcAft>
                <a:spcPts val="400"/>
              </a:spcAft>
            </a:pPr>
            <a:r>
              <a:rPr sz="850" i="0" b="0">
                <a:solidFill>
                  <a:srgbClr val="7A7A7A"/>
                </a:solidFill>
                <a:latin typeface="Inter"/>
              </a:rPr>
              <a:t>Request yang sama di Swagger, response tetap 201 dengan total 190000</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Text 15"/>
          <p:cNvSpPr txBox="1"/>
          <p:nvPr/>
        </p:nvSpPr>
        <p:spPr>
          <a:xfrm>
            <a:off x="5212080" y="1572768"/>
            <a:ext cx="3136392" cy="310896"/>
          </a:xfrm>
          <a:prstGeom prst="rect">
            <a:avLst/>
          </a:prstGeom>
          <a:noFill/>
        </p:spPr>
        <p:txBody>
          <a:bodyPr wrap="square" anchor="t" lIns="45720" rIns="45720">
            <a:spAutoFit/>
          </a:bodyPr>
          <a:lstStyle/>
          <a:p>
            <a:pPr algn="l">
              <a:lnSpc>
                <a:spcPct val="115000"/>
              </a:lnSpc>
              <a:spcAft>
                <a:spcPts val="400"/>
              </a:spcAft>
            </a:pPr>
            <a:r>
              <a:rPr sz="1100" i="0" b="1">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B5482A"/>
                </a:solidFill>
                <a:latin typeface="Consolas"/>
              </a:rPr>
              <a:t>OrderService</a:t>
            </a:r>
            <a:r>
              <a:rPr sz="950" i="0" b="0">
                <a:solidFill>
                  <a:srgbClr val="434343"/>
                </a:solidFill>
                <a:latin typeface="Inter"/>
              </a:rPr>
              <a:t> berisi semua business logic, tanpa import FastAPI (baris 18-29)</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Aturan bisnis gagal = exception biasa </a:t>
            </a:r>
            <a:r>
              <a:rPr sz="950" i="0" b="0">
                <a:solidFill>
                  <a:srgbClr val="B5482A"/>
                </a:solidFill>
                <a:latin typeface="Consolas"/>
              </a:rPr>
              <a:t>BusinessError</a:t>
            </a:r>
            <a:r>
              <a:rPr sz="950" i="0" b="0">
                <a:solidFill>
                  <a:srgbClr val="434343"/>
                </a:solidFill>
                <a:latin typeface="Inter"/>
              </a:rPr>
              <a:t> (baris 24)</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Route hanya menghandle HTTP: panggil service, ubah error jadi HTTP 400 (baris 42-47)</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Response-nya sama. Service juga bisa dipanggil tanpa server: </a:t>
            </a:r>
            <a:r>
              <a:rPr sz="950" i="0" b="0">
                <a:solidFill>
                  <a:srgbClr val="B5482A"/>
                </a:solidFill>
                <a:latin typeface="Consolas"/>
              </a:rPr>
              <a:t>python after.py</a:t>
            </a:r>
            <a:r>
              <a:rPr sz="950" i="0" b="0">
                <a:solidFill>
                  <a:srgbClr val="434343"/>
                </a:solidFill>
                <a:latin typeface="Inter"/>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Service Layer</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Request Flow dengan Service Layer</a:t>
            </a:r>
          </a:p>
        </p:txBody>
      </p:sp>
      <p:sp>
        <p:nvSpPr>
          <p:cNvPr id="22" name="Box 3"/>
          <p:cNvSpPr/>
          <p:nvPr/>
        </p:nvSpPr>
        <p:spPr>
          <a:xfrm>
            <a:off x="621792" y="1481328"/>
            <a:ext cx="292608" cy="292608"/>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50" i="0" b="1">
                <a:solidFill>
                  <a:srgbClr val="FFFFFF"/>
                </a:solidFill>
                <a:latin typeface="Inter"/>
              </a:rPr>
              <a:t>1</a:t>
            </a:r>
          </a:p>
        </p:txBody>
      </p:sp>
      <p:sp>
        <p:nvSpPr>
          <p:cNvPr id="23" name="Box 4"/>
          <p:cNvSpPr/>
          <p:nvPr/>
        </p:nvSpPr>
        <p:spPr>
          <a:xfrm>
            <a:off x="1051560" y="1444752"/>
            <a:ext cx="2377440" cy="384048"/>
          </a:xfrm>
          <a:prstGeom prst="roundRect">
            <a:avLst>
              <a:gd name="adj" fmla="val 2857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POST /orders</a:t>
            </a:r>
          </a:p>
        </p:txBody>
      </p:sp>
      <p:sp>
        <p:nvSpPr>
          <p:cNvPr id="24" name="Text 5"/>
          <p:cNvSpPr txBox="1"/>
          <p:nvPr/>
        </p:nvSpPr>
        <p:spPr>
          <a:xfrm>
            <a:off x="3611880" y="1463040"/>
            <a:ext cx="4846320" cy="457200"/>
          </a:xfrm>
          <a:prstGeom prst="rect">
            <a:avLst/>
          </a:prstGeom>
          <a:noFill/>
        </p:spPr>
        <p:txBody>
          <a:bodyPr wrap="square" anchor="t" lIns="45720" rIns="45720">
            <a:spAutoFit/>
          </a:bodyPr>
          <a:lstStyle/>
          <a:p>
            <a:pPr algn="l">
              <a:lnSpc>
                <a:spcPct val="115000"/>
              </a:lnSpc>
              <a:spcAft>
                <a:spcPts val="400"/>
              </a:spcAft>
            </a:pPr>
            <a:r>
              <a:rPr sz="950" i="0" b="0">
                <a:solidFill>
                  <a:srgbClr val="434343"/>
                </a:solidFill>
                <a:latin typeface="Inter"/>
              </a:rPr>
              <a:t>Client mengirim JSON </a:t>
            </a:r>
            <a:r>
              <a:rPr sz="950" i="0" b="0">
                <a:solidFill>
                  <a:srgbClr val="B5482A"/>
                </a:solidFill>
                <a:latin typeface="Consolas"/>
              </a:rPr>
              <a:t>{customer, subtotal}</a:t>
            </a:r>
          </a:p>
        </p:txBody>
      </p:sp>
      <p:sp>
        <p:nvSpPr>
          <p:cNvPr id="25" name="Box 6"/>
          <p:cNvSpPr/>
          <p:nvPr/>
        </p:nvSpPr>
        <p:spPr>
          <a:xfrm>
            <a:off x="621792" y="2121408"/>
            <a:ext cx="292608" cy="292608"/>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50" i="0" b="1">
                <a:solidFill>
                  <a:srgbClr val="FFFFFF"/>
                </a:solidFill>
                <a:latin typeface="Inter"/>
              </a:rPr>
              <a:t>2</a:t>
            </a:r>
          </a:p>
        </p:txBody>
      </p:sp>
      <p:sp>
        <p:nvSpPr>
          <p:cNvPr id="26" name="Box 7"/>
          <p:cNvSpPr/>
          <p:nvPr/>
        </p:nvSpPr>
        <p:spPr>
          <a:xfrm>
            <a:off x="1051560" y="2084832"/>
            <a:ext cx="2377440"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create_order (route)</a:t>
            </a:r>
          </a:p>
        </p:txBody>
      </p:sp>
      <p:sp>
        <p:nvSpPr>
          <p:cNvPr id="27" name="Text 8"/>
          <p:cNvSpPr txBox="1"/>
          <p:nvPr/>
        </p:nvSpPr>
        <p:spPr>
          <a:xfrm>
            <a:off x="3611880" y="2103120"/>
            <a:ext cx="4846320" cy="457200"/>
          </a:xfrm>
          <a:prstGeom prst="rect">
            <a:avLst/>
          </a:prstGeom>
          <a:noFill/>
        </p:spPr>
        <p:txBody>
          <a:bodyPr wrap="square" anchor="t" lIns="45720" rIns="45720">
            <a:spAutoFit/>
          </a:bodyPr>
          <a:lstStyle/>
          <a:p>
            <a:pPr algn="l">
              <a:lnSpc>
                <a:spcPct val="115000"/>
              </a:lnSpc>
              <a:spcAft>
                <a:spcPts val="400"/>
              </a:spcAft>
            </a:pPr>
            <a:r>
              <a:rPr sz="950" i="0" b="0">
                <a:solidFill>
                  <a:srgbClr val="434343"/>
                </a:solidFill>
                <a:latin typeface="Inter"/>
              </a:rPr>
              <a:t>FastAPI memvalidasi body jadi </a:t>
            </a:r>
            <a:r>
              <a:rPr sz="950" i="0" b="0">
                <a:solidFill>
                  <a:srgbClr val="B5482A"/>
                </a:solidFill>
                <a:latin typeface="Consolas"/>
              </a:rPr>
              <a:t>OrderIn</a:t>
            </a:r>
            <a:r>
              <a:rPr sz="950" i="0" b="0">
                <a:solidFill>
                  <a:srgbClr val="434343"/>
                </a:solidFill>
                <a:latin typeface="Inter"/>
              </a:rPr>
              <a:t>, lalu route memanggil service</a:t>
            </a:r>
          </a:p>
        </p:txBody>
      </p:sp>
      <p:cxnSp>
        <p:nvCxnSpPr>
          <p:cNvPr id="28" name="Arrow 9"/>
          <p:cNvCxnSpPr/>
          <p:nvPr/>
        </p:nvCxnSpPr>
        <p:spPr>
          <a:xfrm>
            <a:off x="2240280" y="1847088"/>
            <a:ext cx="0" cy="237744"/>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Box 10"/>
          <p:cNvSpPr/>
          <p:nvPr/>
        </p:nvSpPr>
        <p:spPr>
          <a:xfrm>
            <a:off x="621792" y="2761488"/>
            <a:ext cx="292608" cy="292608"/>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50" i="0" b="1">
                <a:solidFill>
                  <a:srgbClr val="FFFFFF"/>
                </a:solidFill>
                <a:latin typeface="Inter"/>
              </a:rPr>
              <a:t>3</a:t>
            </a:r>
          </a:p>
        </p:txBody>
      </p:sp>
      <p:sp>
        <p:nvSpPr>
          <p:cNvPr id="30" name="Box 11"/>
          <p:cNvSpPr/>
          <p:nvPr/>
        </p:nvSpPr>
        <p:spPr>
          <a:xfrm>
            <a:off x="1051560" y="2724912"/>
            <a:ext cx="2377440" cy="384048"/>
          </a:xfrm>
          <a:prstGeom prst="roundRect">
            <a:avLst>
              <a:gd name="adj" fmla="val 28571"/>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OrderService.place_order</a:t>
            </a:r>
          </a:p>
        </p:txBody>
      </p:sp>
      <p:sp>
        <p:nvSpPr>
          <p:cNvPr id="31" name="Text 12"/>
          <p:cNvSpPr txBox="1"/>
          <p:nvPr/>
        </p:nvSpPr>
        <p:spPr>
          <a:xfrm>
            <a:off x="3611880" y="2743200"/>
            <a:ext cx="4846320" cy="457200"/>
          </a:xfrm>
          <a:prstGeom prst="rect">
            <a:avLst/>
          </a:prstGeom>
          <a:noFill/>
        </p:spPr>
        <p:txBody>
          <a:bodyPr wrap="square" anchor="t" lIns="45720" rIns="45720">
            <a:spAutoFit/>
          </a:bodyPr>
          <a:lstStyle/>
          <a:p>
            <a:pPr algn="l">
              <a:lnSpc>
                <a:spcPct val="115000"/>
              </a:lnSpc>
              <a:spcAft>
                <a:spcPts val="400"/>
              </a:spcAft>
            </a:pPr>
            <a:r>
              <a:rPr sz="950" i="0" b="0">
                <a:solidFill>
                  <a:srgbClr val="434343"/>
                </a:solidFill>
                <a:latin typeface="Inter"/>
              </a:rPr>
              <a:t>Cek minimal order, hitung total, simpan, kirim notifikasi</a:t>
            </a:r>
          </a:p>
        </p:txBody>
      </p:sp>
      <p:cxnSp>
        <p:nvCxnSpPr>
          <p:cNvPr id="32" name="Arrow 13"/>
          <p:cNvCxnSpPr/>
          <p:nvPr/>
        </p:nvCxnSpPr>
        <p:spPr>
          <a:xfrm>
            <a:off x="2240280" y="2487168"/>
            <a:ext cx="0" cy="237744"/>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Box 14"/>
          <p:cNvSpPr/>
          <p:nvPr/>
        </p:nvSpPr>
        <p:spPr>
          <a:xfrm>
            <a:off x="621792" y="3401568"/>
            <a:ext cx="292608" cy="292608"/>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50" i="0" b="1">
                <a:solidFill>
                  <a:srgbClr val="FFFFFF"/>
                </a:solidFill>
                <a:latin typeface="Inter"/>
              </a:rPr>
              <a:t>4</a:t>
            </a:r>
          </a:p>
        </p:txBody>
      </p:sp>
      <p:sp>
        <p:nvSpPr>
          <p:cNvPr id="34" name="Box 15"/>
          <p:cNvSpPr/>
          <p:nvPr/>
        </p:nvSpPr>
        <p:spPr>
          <a:xfrm>
            <a:off x="1051560" y="3364991"/>
            <a:ext cx="2377440"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route</a:t>
            </a:r>
          </a:p>
        </p:txBody>
      </p:sp>
      <p:sp>
        <p:nvSpPr>
          <p:cNvPr id="35" name="Text 16"/>
          <p:cNvSpPr txBox="1"/>
          <p:nvPr/>
        </p:nvSpPr>
        <p:spPr>
          <a:xfrm>
            <a:off x="3611880" y="3383279"/>
            <a:ext cx="4846320" cy="457200"/>
          </a:xfrm>
          <a:prstGeom prst="rect">
            <a:avLst/>
          </a:prstGeom>
          <a:noFill/>
        </p:spPr>
        <p:txBody>
          <a:bodyPr wrap="square" anchor="t" lIns="45720" rIns="45720">
            <a:spAutoFit/>
          </a:bodyPr>
          <a:lstStyle/>
          <a:p>
            <a:pPr algn="l">
              <a:lnSpc>
                <a:spcPct val="115000"/>
              </a:lnSpc>
              <a:spcAft>
                <a:spcPts val="400"/>
              </a:spcAft>
            </a:pPr>
            <a:r>
              <a:rPr sz="950" i="0" b="0">
                <a:solidFill>
                  <a:srgbClr val="434343"/>
                </a:solidFill>
                <a:latin typeface="Inter"/>
              </a:rPr>
              <a:t>Berhasil: dict dikembalikan jadi JSON 201. </a:t>
            </a:r>
            <a:r>
              <a:rPr sz="950" i="0" b="0">
                <a:solidFill>
                  <a:srgbClr val="B5482A"/>
                </a:solidFill>
                <a:latin typeface="Consolas"/>
              </a:rPr>
              <a:t>BusinessError</a:t>
            </a:r>
            <a:r>
              <a:rPr sz="950" i="0" b="0">
                <a:solidFill>
                  <a:srgbClr val="434343"/>
                </a:solidFill>
                <a:latin typeface="Inter"/>
              </a:rPr>
              <a:t>: diubah jadi HTTP 400</a:t>
            </a:r>
          </a:p>
        </p:txBody>
      </p:sp>
      <p:cxnSp>
        <p:nvCxnSpPr>
          <p:cNvPr id="36" name="Arrow 17"/>
          <p:cNvCxnSpPr/>
          <p:nvPr/>
        </p:nvCxnSpPr>
        <p:spPr>
          <a:xfrm>
            <a:off x="2240280" y="3127248"/>
            <a:ext cx="0" cy="23774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Box 18"/>
          <p:cNvSpPr/>
          <p:nvPr/>
        </p:nvSpPr>
        <p:spPr>
          <a:xfrm>
            <a:off x="621792" y="4041648"/>
            <a:ext cx="292608" cy="292608"/>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950" i="0" b="1">
                <a:solidFill>
                  <a:srgbClr val="FFFFFF"/>
                </a:solidFill>
                <a:latin typeface="Inter"/>
              </a:rPr>
              <a:t>5</a:t>
            </a:r>
          </a:p>
        </p:txBody>
      </p:sp>
      <p:sp>
        <p:nvSpPr>
          <p:cNvPr id="38" name="Box 19"/>
          <p:cNvSpPr/>
          <p:nvPr/>
        </p:nvSpPr>
        <p:spPr>
          <a:xfrm>
            <a:off x="1051560" y="4005072"/>
            <a:ext cx="2377440" cy="384048"/>
          </a:xfrm>
          <a:prstGeom prst="roundRect">
            <a:avLst>
              <a:gd name="adj" fmla="val 2857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Response</a:t>
            </a:r>
          </a:p>
        </p:txBody>
      </p:sp>
      <p:sp>
        <p:nvSpPr>
          <p:cNvPr id="39" name="Text 20"/>
          <p:cNvSpPr txBox="1"/>
          <p:nvPr/>
        </p:nvSpPr>
        <p:spPr>
          <a:xfrm>
            <a:off x="3611880" y="4023360"/>
            <a:ext cx="4846320" cy="457200"/>
          </a:xfrm>
          <a:prstGeom prst="rect">
            <a:avLst/>
          </a:prstGeom>
          <a:noFill/>
        </p:spPr>
        <p:txBody>
          <a:bodyPr wrap="square" anchor="t" lIns="45720" rIns="45720">
            <a:spAutoFit/>
          </a:bodyPr>
          <a:lstStyle/>
          <a:p>
            <a:pPr algn="l">
              <a:lnSpc>
                <a:spcPct val="115000"/>
              </a:lnSpc>
              <a:spcAft>
                <a:spcPts val="400"/>
              </a:spcAft>
            </a:pPr>
            <a:r>
              <a:rPr sz="950" i="0" b="0">
                <a:solidFill>
                  <a:srgbClr val="434343"/>
                </a:solidFill>
                <a:latin typeface="Inter"/>
              </a:rPr>
              <a:t>Client menerima </a:t>
            </a:r>
            <a:r>
              <a:rPr sz="950" i="0" b="0">
                <a:solidFill>
                  <a:srgbClr val="B5482A"/>
                </a:solidFill>
                <a:latin typeface="Consolas"/>
              </a:rPr>
              <a:t>{"id": 1, "customer": ..., "total": 190000}</a:t>
            </a:r>
          </a:p>
        </p:txBody>
      </p:sp>
      <p:cxnSp>
        <p:nvCxnSpPr>
          <p:cNvPr id="40" name="Arrow 21"/>
          <p:cNvCxnSpPr/>
          <p:nvPr/>
        </p:nvCxnSpPr>
        <p:spPr>
          <a:xfrm>
            <a:off x="2240280" y="3767328"/>
            <a:ext cx="0" cy="237744"/>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 name="Google Shape;30;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31" name="Text 1"/>
          <p:cNvSpPr txBox="1"/>
          <p:nvPr/>
        </p:nvSpPr>
        <p:spPr>
          <a:xfrm>
            <a:off x="822960" y="1600200"/>
            <a:ext cx="7315200" cy="365760"/>
          </a:xfrm>
          <a:prstGeom prst="rect">
            <a:avLst/>
          </a:prstGeom>
          <a:noFill/>
        </p:spPr>
        <p:txBody>
          <a:bodyPr wrap="square" anchor="t" lIns="45720" rIns="45720">
            <a:spAutoFit/>
          </a:bodyPr>
          <a:lstStyle/>
          <a:p>
            <a:pPr algn="l">
              <a:lnSpc>
                <a:spcPct val="115000"/>
              </a:lnSpc>
              <a:spcAft>
                <a:spcPts val="400"/>
              </a:spcAft>
            </a:pPr>
            <a:r>
              <a:rPr sz="1400" i="0" b="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anchor="t" lIns="45720" rIns="45720">
            <a:spAutoFit/>
          </a:bodyPr>
          <a:lstStyle/>
          <a:p>
            <a:pPr algn="l">
              <a:lnSpc>
                <a:spcPct val="115000"/>
              </a:lnSpc>
              <a:spcAft>
                <a:spcPts val="400"/>
              </a:spcAft>
            </a:pPr>
            <a:r>
              <a:rPr sz="3000" i="0" b="0">
                <a:solidFill>
                  <a:srgbClr val="FFFFFF"/>
                </a:solidFill>
                <a:latin typeface="Work Sans ExtraBold"/>
              </a:rPr>
              <a:t>Hands-on: Refactor Order API</a:t>
            </a:r>
          </a:p>
        </p:txBody>
      </p:sp>
      <p:sp>
        <p:nvSpPr>
          <p:cNvPr id="33" name="Text 3"/>
          <p:cNvSpPr txBox="1"/>
          <p:nvPr/>
        </p:nvSpPr>
        <p:spPr>
          <a:xfrm>
            <a:off x="822960" y="3246120"/>
            <a:ext cx="6583680" cy="731520"/>
          </a:xfrm>
          <a:prstGeom prst="rect">
            <a:avLst/>
          </a:prstGeom>
          <a:noFill/>
        </p:spPr>
        <p:txBody>
          <a:bodyPr wrap="square" anchor="t" lIns="45720" rIns="45720">
            <a:spAutoFit/>
          </a:bodyPr>
          <a:lstStyle/>
          <a:p>
            <a:pPr algn="l">
              <a:lnSpc>
                <a:spcPct val="115000"/>
              </a:lnSpc>
              <a:spcAft>
                <a:spcPts val="400"/>
              </a:spcAft>
            </a:pPr>
            <a:r>
              <a:rPr sz="1200" i="0" b="0">
                <a:solidFill>
                  <a:srgbClr val="E3ECFA"/>
                </a:solidFill>
                <a:latin typeface="Inter"/>
              </a:rPr>
              <a:t>Dikerjakan bersama mentor, langkah demi langkah. Semua pattern digabung ke satu aplikasi FastAPI.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Kode Awal: Semua di Satu Endpoint</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61772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06-refactor-order-api/before/main.py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257800" cy="2980944"/>
          </a:xfrm>
          <a:prstGeom prst="rect">
            <a:avLst/>
          </a:prstGeom>
          <a:noFill/>
        </p:spPr>
        <p:txBody>
          <a:bodyPr wrap="none" lIns="146304" rIns="146304" tIns="91440" bIns="54864">
            <a:spAutoFit/>
          </a:bodyPr>
          <a:lstStyle/>
          <a:p>
            <a:pPr>
              <a:lnSpc>
                <a:spcPts val="800"/>
              </a:lnSpc>
              <a:spcAft>
                <a:spcPts val="0"/>
              </a:spcAft>
            </a:pPr>
            <a:r>
              <a:rPr sz="650" i="0">
                <a:solidFill>
                  <a:srgbClr val="F9C97A"/>
                </a:solidFill>
                <a:latin typeface="Consolas"/>
              </a:rPr>
              <a:t>@app.post</a:t>
            </a:r>
            <a:r>
              <a:rPr sz="650" i="0">
                <a:solidFill>
                  <a:srgbClr val="E6EDF3"/>
                </a:solidFill>
                <a:latin typeface="Consolas"/>
              </a:rPr>
              <a:t>(</a:t>
            </a:r>
            <a:r>
              <a:rPr sz="650" i="0">
                <a:solidFill>
                  <a:srgbClr val="A5D6A7"/>
                </a:solidFill>
                <a:latin typeface="Consolas"/>
              </a:rPr>
              <a:t>"/orders"</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status_code</a:t>
            </a:r>
            <a:r>
              <a:rPr sz="650" i="0">
                <a:solidFill>
                  <a:srgbClr val="E6EDF3"/>
                </a:solidFill>
                <a:latin typeface="Consolas"/>
              </a:rPr>
              <a:t>=</a:t>
            </a:r>
            <a:r>
              <a:rPr sz="650" i="0">
                <a:solidFill>
                  <a:srgbClr val="F9C97A"/>
                </a:solidFill>
                <a:latin typeface="Consolas"/>
              </a:rPr>
              <a:t>201</a:t>
            </a:r>
            <a:r>
              <a:rPr sz="650" i="0">
                <a:solidFill>
                  <a:srgbClr val="E6EDF3"/>
                </a:solidFill>
                <a:latin typeface="Consolas"/>
              </a:rPr>
              <a:t>)</a:t>
            </a:r>
          </a:p>
          <a:p>
            <a:pPr>
              <a:lnSpc>
                <a:spcPts val="800"/>
              </a:lnSpc>
              <a:spcAft>
                <a:spcPts val="0"/>
              </a:spcAft>
            </a:pP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create_order</a:t>
            </a:r>
            <a:r>
              <a:rPr sz="650" i="0">
                <a:solidFill>
                  <a:srgbClr val="E6EDF3"/>
                </a:solidFill>
                <a:latin typeface="Consolas"/>
              </a:rPr>
              <a:t>(</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OrderIn</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sum</a:t>
            </a:r>
            <a:r>
              <a:rPr sz="650" i="0">
                <a:solidFill>
                  <a:srgbClr val="E6EDF3"/>
                </a:solidFill>
                <a:latin typeface="Consolas"/>
              </a:rPr>
              <a:t>(</a:t>
            </a:r>
            <a:r>
              <a:rPr sz="650" i="0">
                <a:solidFill>
                  <a:srgbClr val="E6EDF3"/>
                </a:solidFill>
                <a:latin typeface="Consolas"/>
              </a:rPr>
              <a:t>i</a:t>
            </a:r>
            <a:r>
              <a:rPr sz="650" i="0">
                <a:solidFill>
                  <a:srgbClr val="E6EDF3"/>
                </a:solidFill>
                <a:latin typeface="Consolas"/>
              </a:rPr>
              <a:t>.</a:t>
            </a:r>
            <a:r>
              <a:rPr sz="650" i="0">
                <a:solidFill>
                  <a:srgbClr val="E6EDF3"/>
                </a:solidFill>
                <a:latin typeface="Consolas"/>
              </a:rPr>
              <a:t>price</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i</a:t>
            </a:r>
            <a:r>
              <a:rPr sz="650" i="0">
                <a:solidFill>
                  <a:srgbClr val="E6EDF3"/>
                </a:solidFill>
                <a:latin typeface="Consolas"/>
              </a:rPr>
              <a:t>.</a:t>
            </a:r>
            <a:r>
              <a:rPr sz="650" i="0">
                <a:solidFill>
                  <a:srgbClr val="E6EDF3"/>
                </a:solidFill>
                <a:latin typeface="Consolas"/>
              </a:rPr>
              <a:t>qty</a:t>
            </a:r>
            <a:r>
              <a:rPr sz="650" i="0">
                <a:solidFill>
                  <a:srgbClr val="E6EDF3"/>
                </a:solidFill>
                <a:latin typeface="Consolas"/>
              </a:rPr>
              <a:t> </a:t>
            </a:r>
            <a:r>
              <a:rPr sz="650" i="0">
                <a:solidFill>
                  <a:srgbClr val="FF8E6E"/>
                </a:solidFill>
                <a:latin typeface="Consolas"/>
              </a:rPr>
              <a:t>for</a:t>
            </a:r>
            <a:r>
              <a:rPr sz="650" i="0">
                <a:solidFill>
                  <a:srgbClr val="E6EDF3"/>
                </a:solidFill>
                <a:latin typeface="Consolas"/>
              </a:rPr>
              <a:t> </a:t>
            </a:r>
            <a:r>
              <a:rPr sz="650" i="0">
                <a:solidFill>
                  <a:srgbClr val="E6EDF3"/>
                </a:solidFill>
                <a:latin typeface="Consolas"/>
              </a:rPr>
              <a:t>i</a:t>
            </a:r>
            <a:r>
              <a:rPr sz="650" i="0">
                <a:solidFill>
                  <a:srgbClr val="E6EDF3"/>
                </a:solidFill>
                <a:latin typeface="Consolas"/>
              </a:rPr>
              <a:t> </a:t>
            </a:r>
            <a:r>
              <a:rPr sz="650" i="0">
                <a:solidFill>
                  <a:srgbClr val="FF8E6E"/>
                </a:solidFill>
                <a:latin typeface="Consolas"/>
              </a:rPr>
              <a:t>in</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items</a:t>
            </a:r>
            <a:r>
              <a:rPr sz="650" i="0">
                <a:solidFill>
                  <a:srgbClr val="E6EDF3"/>
                </a:solidFill>
                <a:latin typeface="Consolas"/>
              </a:rPr>
              <a:t>)</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FF8E6E"/>
                </a:solidFill>
                <a:latin typeface="Consolas"/>
              </a:rPr>
              <a:t>if</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"regular"</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discount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0</a:t>
            </a:r>
          </a:p>
          <a:p>
            <a:pPr>
              <a:lnSpc>
                <a:spcPts val="800"/>
              </a:lnSpc>
              <a:spcAft>
                <a:spcPts val="0"/>
              </a:spcAft>
            </a:pPr>
            <a:r>
              <a:rPr sz="650" i="0">
                <a:solidFill>
                  <a:srgbClr val="E6EDF3"/>
                </a:solidFill>
                <a:latin typeface="Consolas"/>
              </a:rPr>
              <a:t>    </a:t>
            </a:r>
            <a:r>
              <a:rPr sz="650" i="0">
                <a:solidFill>
                  <a:srgbClr val="FF8E6E"/>
                </a:solidFill>
                <a:latin typeface="Consolas"/>
              </a:rPr>
              <a:t>elif</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"member"</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discount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5</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100</a:t>
            </a:r>
          </a:p>
          <a:p>
            <a:pPr>
              <a:lnSpc>
                <a:spcPts val="800"/>
              </a:lnSpc>
              <a:spcAft>
                <a:spcPts val="0"/>
              </a:spcAft>
            </a:pPr>
            <a:r>
              <a:rPr sz="650" i="0">
                <a:solidFill>
                  <a:srgbClr val="E6EDF3"/>
                </a:solidFill>
                <a:latin typeface="Consolas"/>
              </a:rPr>
              <a:t>    </a:t>
            </a:r>
            <a:r>
              <a:rPr sz="650" i="0">
                <a:solidFill>
                  <a:srgbClr val="FF8E6E"/>
                </a:solidFill>
                <a:latin typeface="Consolas"/>
              </a:rPr>
              <a:t>elif</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"vip"</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discount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10</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100</a:t>
            </a:r>
          </a:p>
          <a:p>
            <a:pPr>
              <a:lnSpc>
                <a:spcPts val="800"/>
              </a:lnSpc>
              <a:spcAft>
                <a:spcPts val="0"/>
              </a:spcAft>
            </a:pPr>
            <a:r>
              <a:rPr sz="650" i="0">
                <a:solidFill>
                  <a:srgbClr val="E6EDF3"/>
                </a:solidFill>
                <a:latin typeface="Consolas"/>
              </a:rPr>
              <a:t>    </a:t>
            </a:r>
            <a:r>
              <a:rPr sz="650" i="0">
                <a:solidFill>
                  <a:srgbClr val="FF8E6E"/>
                </a:solidFill>
                <a:latin typeface="Consolas"/>
              </a:rPr>
              <a:t>else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raise</a:t>
            </a:r>
            <a:r>
              <a:rPr sz="650" i="0">
                <a:solidFill>
                  <a:srgbClr val="E6EDF3"/>
                </a:solidFill>
                <a:latin typeface="Consolas"/>
              </a:rPr>
              <a:t> </a:t>
            </a:r>
            <a:r>
              <a:rPr sz="650" i="0">
                <a:solidFill>
                  <a:srgbClr val="7FDBCA"/>
                </a:solidFill>
                <a:latin typeface="Consolas"/>
              </a:rPr>
              <a:t>HTTPException</a:t>
            </a:r>
            <a:r>
              <a:rPr sz="650" i="0">
                <a:solidFill>
                  <a:srgbClr val="E6EDF3"/>
                </a:solidFill>
                <a:latin typeface="Consolas"/>
              </a:rPr>
              <a:t>(</a:t>
            </a:r>
            <a:r>
              <a:rPr sz="650" i="0">
                <a:solidFill>
                  <a:srgbClr val="F9C97A"/>
                </a:solidFill>
                <a:latin typeface="Consolas"/>
              </a:rPr>
              <a:t>400</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"Tipe customer tidak dikenal"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discount</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E6EDF3"/>
                </a:solidFill>
                <a:latin typeface="Consolas"/>
              </a:rPr>
              <a:t>cur</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conn</a:t>
            </a:r>
            <a:r>
              <a:rPr sz="650" i="0">
                <a:solidFill>
                  <a:srgbClr val="E6EDF3"/>
                </a:solidFill>
                <a:latin typeface="Consolas"/>
              </a:rPr>
              <a:t>.</a:t>
            </a:r>
            <a:r>
              <a:rPr sz="650" i="0">
                <a:solidFill>
                  <a:srgbClr val="E6EDF3"/>
                </a:solidFill>
                <a:latin typeface="Consolas"/>
              </a:rPr>
              <a:t>execute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"INSERT INTO orders (customer, customer_type, subtotal, total) VALUES (?, ?, ?, ?)"</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total</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conn</a:t>
            </a:r>
            <a:r>
              <a:rPr sz="650" i="0">
                <a:solidFill>
                  <a:srgbClr val="E6EDF3"/>
                </a:solidFill>
                <a:latin typeface="Consolas"/>
              </a:rPr>
              <a:t>.</a:t>
            </a:r>
            <a:r>
              <a:rPr sz="650" i="0">
                <a:solidFill>
                  <a:srgbClr val="E6EDF3"/>
                </a:solidFill>
                <a:latin typeface="Consolas"/>
              </a:rPr>
              <a:t>commit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order_id</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cur</a:t>
            </a:r>
            <a:r>
              <a:rPr sz="650" i="0">
                <a:solidFill>
                  <a:srgbClr val="E6EDF3"/>
                </a:solidFill>
                <a:latin typeface="Consolas"/>
              </a:rPr>
              <a:t>.</a:t>
            </a:r>
            <a:r>
              <a:rPr sz="650" i="0">
                <a:solidFill>
                  <a:srgbClr val="E6EDF3"/>
                </a:solidFill>
                <a:latin typeface="Consolas"/>
              </a:rPr>
              <a:t>lastrowid</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E6EDF3"/>
                </a:solidFill>
                <a:latin typeface="Consolas"/>
              </a:rPr>
              <a:t>channel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os</a:t>
            </a:r>
            <a:r>
              <a:rPr sz="650" i="0">
                <a:solidFill>
                  <a:srgbClr val="E6EDF3"/>
                </a:solidFill>
                <a:latin typeface="Consolas"/>
              </a:rPr>
              <a:t>.</a:t>
            </a:r>
            <a:r>
              <a:rPr sz="650" i="0">
                <a:solidFill>
                  <a:srgbClr val="E6EDF3"/>
                </a:solidFill>
                <a:latin typeface="Consolas"/>
              </a:rPr>
              <a:t>getenv</a:t>
            </a:r>
            <a:r>
              <a:rPr sz="650" i="0">
                <a:solidFill>
                  <a:srgbClr val="E6EDF3"/>
                </a:solidFill>
                <a:latin typeface="Consolas"/>
              </a:rPr>
              <a:t>(</a:t>
            </a:r>
            <a:r>
              <a:rPr sz="650" i="0">
                <a:solidFill>
                  <a:srgbClr val="A5D6A7"/>
                </a:solidFill>
                <a:latin typeface="Consolas"/>
              </a:rPr>
              <a:t>"NOTIFICATION_CHANNEL"</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"email"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if</a:t>
            </a:r>
            <a:r>
              <a:rPr sz="650" i="0">
                <a:solidFill>
                  <a:srgbClr val="E6EDF3"/>
                </a:solidFill>
                <a:latin typeface="Consolas"/>
              </a:rPr>
              <a:t> </a:t>
            </a:r>
            <a:r>
              <a:rPr sz="650" i="0">
                <a:solidFill>
                  <a:srgbClr val="E6EDF3"/>
                </a:solidFill>
                <a:latin typeface="Consolas"/>
              </a:rPr>
              <a:t>channel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"email"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print</a:t>
            </a:r>
            <a:r>
              <a:rPr sz="650" i="0">
                <a:solidFill>
                  <a:srgbClr val="E6EDF3"/>
                </a:solidFill>
                <a:latin typeface="Consolas"/>
              </a:rPr>
              <a:t>(</a:t>
            </a:r>
            <a:r>
              <a:rPr sz="650" i="0">
                <a:solidFill>
                  <a:srgbClr val="A5D6A7"/>
                </a:solidFill>
                <a:latin typeface="Consolas"/>
              </a:rPr>
              <a:t>f"[EMAIL] ke {payload.customer}: Order #{order_id} total Rp{total:,}"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elif</a:t>
            </a:r>
            <a:r>
              <a:rPr sz="650" i="0">
                <a:solidFill>
                  <a:srgbClr val="E6EDF3"/>
                </a:solidFill>
                <a:latin typeface="Consolas"/>
              </a:rPr>
              <a:t> </a:t>
            </a:r>
            <a:r>
              <a:rPr sz="650" i="0">
                <a:solidFill>
                  <a:srgbClr val="E6EDF3"/>
                </a:solidFill>
                <a:latin typeface="Consolas"/>
              </a:rPr>
              <a:t>channel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"sms"</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print</a:t>
            </a:r>
            <a:r>
              <a:rPr sz="650" i="0">
                <a:solidFill>
                  <a:srgbClr val="E6EDF3"/>
                </a:solidFill>
                <a:latin typeface="Consolas"/>
              </a:rPr>
              <a:t>(</a:t>
            </a:r>
            <a:r>
              <a:rPr sz="650" i="0">
                <a:solidFill>
                  <a:srgbClr val="A5D6A7"/>
                </a:solidFill>
                <a:latin typeface="Consolas"/>
              </a:rPr>
              <a:t>f"[SMS] ke {payload.customer}: Order #{order_id} total Rp{total:,}"</a:t>
            </a:r>
            <a:r>
              <a:rPr sz="650" i="0">
                <a:solidFill>
                  <a:srgbClr val="E6EDF3"/>
                </a:solidFill>
                <a:latin typeface="Consolas"/>
              </a:rPr>
              <a:t>)</a:t>
            </a:r>
          </a:p>
        </p:txBody>
      </p:sp>
      <p:sp>
        <p:nvSpPr>
          <p:cNvPr id="29" name="Box 12"/>
          <p:cNvSpPr/>
          <p:nvPr/>
        </p:nvSpPr>
        <p:spPr>
          <a:xfrm>
            <a:off x="704088" y="2230120"/>
            <a:ext cx="5093208" cy="806703"/>
          </a:xfrm>
          <a:prstGeom prst="roundRect">
            <a:avLst>
              <a:gd name="adj" fmla="val 566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678424" y="251460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246120"/>
            <a:ext cx="5093208" cy="603503"/>
          </a:xfrm>
          <a:prstGeom prst="roundRect">
            <a:avLst>
              <a:gd name="adj" fmla="val 757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678424" y="342900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3957319"/>
            <a:ext cx="5093208" cy="95504"/>
          </a:xfrm>
          <a:prstGeom prst="roundRect">
            <a:avLst>
              <a:gd name="adj" fmla="val 47872"/>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678424" y="388620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3</a:t>
            </a:r>
          </a:p>
        </p:txBody>
      </p:sp>
      <p:sp>
        <p:nvSpPr>
          <p:cNvPr id="35" name="Box 18"/>
          <p:cNvSpPr/>
          <p:nvPr/>
        </p:nvSpPr>
        <p:spPr>
          <a:xfrm>
            <a:off x="704088" y="4058920"/>
            <a:ext cx="5093208" cy="400304"/>
          </a:xfrm>
          <a:prstGeom prst="roundRect">
            <a:avLst>
              <a:gd name="adj" fmla="val 11421"/>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Box 19"/>
          <p:cNvSpPr/>
          <p:nvPr/>
        </p:nvSpPr>
        <p:spPr>
          <a:xfrm>
            <a:off x="5678424" y="414020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4</a:t>
            </a:r>
          </a:p>
        </p:txBody>
      </p:sp>
      <p:sp>
        <p:nvSpPr>
          <p:cNvPr id="37" name="Box 20"/>
          <p:cNvSpPr/>
          <p:nvPr/>
        </p:nvSpPr>
        <p:spPr>
          <a:xfrm>
            <a:off x="6035040" y="1481328"/>
            <a:ext cx="2450591" cy="3218688"/>
          </a:xfrm>
          <a:prstGeom prst="roundRect">
            <a:avLst>
              <a:gd name="adj" fmla="val 447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Text 21"/>
          <p:cNvSpPr txBox="1"/>
          <p:nvPr/>
        </p:nvSpPr>
        <p:spPr>
          <a:xfrm>
            <a:off x="6172200" y="1572768"/>
            <a:ext cx="2176272" cy="310896"/>
          </a:xfrm>
          <a:prstGeom prst="rect">
            <a:avLst/>
          </a:prstGeom>
          <a:noFill/>
        </p:spPr>
        <p:txBody>
          <a:bodyPr wrap="square" anchor="t" lIns="45720" rIns="45720">
            <a:spAutoFit/>
          </a:bodyPr>
          <a:lstStyle/>
          <a:p>
            <a:pPr algn="l">
              <a:lnSpc>
                <a:spcPct val="115000"/>
              </a:lnSpc>
              <a:spcAft>
                <a:spcPts val="400"/>
              </a:spcAft>
            </a:pPr>
            <a:r>
              <a:rPr sz="1100" i="0" b="1">
                <a:solidFill>
                  <a:srgbClr val="C0392B"/>
                </a:solidFill>
                <a:latin typeface="Inter"/>
              </a:rPr>
              <a:t>Masalahnya</a:t>
            </a:r>
          </a:p>
        </p:txBody>
      </p:sp>
      <p:sp>
        <p:nvSpPr>
          <p:cNvPr id="39" name="Text 22"/>
          <p:cNvSpPr txBox="1"/>
          <p:nvPr/>
        </p:nvSpPr>
        <p:spPr>
          <a:xfrm>
            <a:off x="6172200" y="1892808"/>
            <a:ext cx="217627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Aturan diskon pakai if/elif. Tipe baru = edit endpoint</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Query SQL langsung di route. Tidak bisa dites tanpa database</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Config dibaca </a:t>
            </a:r>
            <a:r>
              <a:rPr sz="950" i="0" b="0">
                <a:solidFill>
                  <a:srgbClr val="B5482A"/>
                </a:solidFill>
                <a:latin typeface="Consolas"/>
              </a:rPr>
              <a:t>os.getenv</a:t>
            </a:r>
            <a:r>
              <a:rPr sz="950" i="0" b="0">
                <a:solidFill>
                  <a:srgbClr val="434343"/>
                </a:solidFill>
                <a:latin typeface="Inter"/>
              </a:rPr>
              <a:t> di tengah kode</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Channel notifikasi dipilih pakai if/elif</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Semua dikerjakan satu function: susah dites, susah dikembangkan. Kode inilah yang kita refactor di hands-on.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mulai dari 06-refactor-order-api/before/</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Text 4"/>
          <p:cNvSpPr txBox="1"/>
          <p:nvPr/>
        </p:nvSpPr>
        <p:spPr>
          <a:xfrm>
            <a:off x="758952" y="1572768"/>
            <a:ext cx="3566160"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Arial"/>
              <a:buChar char="•"/>
            </a:pPr>
            <a:r>
              <a:rPr sz="1000" i="0" b="0">
                <a:solidFill>
                  <a:srgbClr val="B5482A"/>
                </a:solidFill>
                <a:latin typeface="Consolas"/>
              </a:rPr>
              <a:t>POST /orders</a:t>
            </a:r>
            <a:r>
              <a:rPr sz="1000" i="0" b="0">
                <a:solidFill>
                  <a:srgbClr val="434343"/>
                </a:solidFill>
                <a:latin typeface="Inter"/>
              </a:rPr>
              <a:t> dan </a:t>
            </a:r>
            <a:r>
              <a:rPr sz="1000" i="0" b="0">
                <a:solidFill>
                  <a:srgbClr val="B5482A"/>
                </a:solidFill>
                <a:latin typeface="Consolas"/>
              </a:rPr>
              <a:t>GET /orders/{id}</a:t>
            </a:r>
            <a:r>
              <a:rPr sz="1000" i="0" b="0">
                <a:solidFill>
                  <a:srgbClr val="434343"/>
                </a:solidFill>
                <a:latin typeface="Inter"/>
              </a:rPr>
              <a:t> tetap jalan dengan response yang sama</a:t>
            </a:r>
          </a:p>
          <a:p>
            <a:pPr algn="l" marL="182880" indent="-182880">
              <a:lnSpc>
                <a:spcPct val="115000"/>
              </a:lnSpc>
              <a:spcAft>
                <a:spcPts val="400"/>
              </a:spcAft>
              <a:buClr>
                <a:srgbClr val="E0764F"/>
              </a:buClr>
              <a:buSzPct val="100000"/>
              <a:buFont typeface="Arial"/>
              <a:buChar char="•"/>
            </a:pPr>
            <a:r>
              <a:rPr sz="1000" i="0" b="0">
                <a:solidFill>
                  <a:srgbClr val="B5482A"/>
                </a:solidFill>
                <a:latin typeface="Consolas"/>
              </a:rPr>
              <a:t>service.py</a:t>
            </a:r>
            <a:r>
              <a:rPr sz="1000" i="0" b="0">
                <a:solidFill>
                  <a:srgbClr val="434343"/>
                </a:solidFill>
                <a:latin typeface="Inter"/>
              </a:rPr>
              <a:t> tidak import </a:t>
            </a:r>
            <a:r>
              <a:rPr sz="1000" i="0" b="0">
                <a:solidFill>
                  <a:srgbClr val="B5482A"/>
                </a:solidFill>
                <a:latin typeface="Consolas"/>
              </a:rPr>
              <a:t>fastapi</a:t>
            </a:r>
            <a:r>
              <a:rPr sz="1000" i="0" b="0">
                <a:solidFill>
                  <a:srgbClr val="434343"/>
                </a:solidFill>
                <a:latin typeface="Inter"/>
              </a:rPr>
              <a:t> maupun </a:t>
            </a:r>
            <a:r>
              <a:rPr sz="1000" i="0" b="0">
                <a:solidFill>
                  <a:srgbClr val="B5482A"/>
                </a:solidFill>
                <a:latin typeface="Consolas"/>
              </a:rPr>
              <a:t>sqlite3</a:t>
            </a:r>
          </a:p>
          <a:p>
            <a:pPr algn="l" marL="182880" indent="-182880">
              <a:lnSpc>
                <a:spcPct val="115000"/>
              </a:lnSpc>
              <a:spcAft>
                <a:spcPts val="400"/>
              </a:spcAft>
              <a:buClr>
                <a:srgbClr val="E0764F"/>
              </a:buClr>
              <a:buSzPct val="100000"/>
              <a:buFont typeface="Arial"/>
              <a:buChar char="•"/>
            </a:pPr>
            <a:r>
              <a:rPr sz="1000" i="0" b="0">
                <a:solidFill>
                  <a:srgbClr val="434343"/>
                </a:solidFill>
                <a:latin typeface="Inter"/>
              </a:rPr>
              <a:t>Tambah tipe customer baru tanpa mengubah </a:t>
            </a:r>
            <a:r>
              <a:rPr sz="1000" i="0" b="0">
                <a:solidFill>
                  <a:srgbClr val="B5482A"/>
                </a:solidFill>
                <a:latin typeface="Consolas"/>
              </a:rPr>
              <a:t>service.py</a:t>
            </a:r>
          </a:p>
          <a:p>
            <a:pPr algn="l" marL="182880" indent="-182880">
              <a:lnSpc>
                <a:spcPct val="115000"/>
              </a:lnSpc>
              <a:spcAft>
                <a:spcPts val="400"/>
              </a:spcAft>
              <a:buClr>
                <a:srgbClr val="E0764F"/>
              </a:buClr>
              <a:buSzPct val="100000"/>
              <a:buFont typeface="Arial"/>
              <a:buChar char="•"/>
            </a:pPr>
            <a:r>
              <a:rPr sz="1000" i="0" b="0">
                <a:solidFill>
                  <a:srgbClr val="434343"/>
                </a:solidFill>
                <a:latin typeface="Inter"/>
              </a:rPr>
              <a:t>Unit test service jalan tanpa database</a:t>
            </a:r>
          </a:p>
          <a:p>
            <a:pPr algn="l" marL="182880" indent="-182880">
              <a:lnSpc>
                <a:spcPct val="115000"/>
              </a:lnSpc>
              <a:spcAft>
                <a:spcPts val="400"/>
              </a:spcAft>
              <a:buClr>
                <a:srgbClr val="E0764F"/>
              </a:buClr>
              <a:buSzPct val="100000"/>
              <a:buFont typeface="Arial"/>
              <a:buChar char="•"/>
            </a:pPr>
            <a:r>
              <a:rPr sz="1000" i="0" b="0">
                <a:solidFill>
                  <a:srgbClr val="B5482A"/>
                </a:solidFill>
                <a:latin typeface="Consolas"/>
              </a:rPr>
              <a:t>pytest</a:t>
            </a:r>
            <a:r>
              <a:rPr sz="1000" i="0" b="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 11"/>
          <p:cNvSpPr txBox="1"/>
          <p:nvPr/>
        </p:nvSpPr>
        <p:spPr>
          <a:xfrm>
            <a:off x="5166359" y="1490472"/>
            <a:ext cx="3227832"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1" name="Code 14"/>
          <p:cNvSpPr txBox="1"/>
          <p:nvPr/>
        </p:nvSpPr>
        <p:spPr>
          <a:xfrm>
            <a:off x="4617720" y="1719072"/>
            <a:ext cx="3867912" cy="2980944"/>
          </a:xfrm>
          <a:prstGeom prst="rect">
            <a:avLst/>
          </a:prstGeom>
          <a:noFill/>
        </p:spPr>
        <p:txBody>
          <a:bodyPr wrap="none" lIns="146304" rIns="146304" tIns="91440" bIns="54864">
            <a:spAutoFit/>
          </a:bodyPr>
          <a:lstStyle/>
          <a:p>
            <a:pPr>
              <a:lnSpc>
                <a:spcPts val="1200"/>
              </a:lnSpc>
              <a:spcAft>
                <a:spcPts val="0"/>
              </a:spcAft>
            </a:pPr>
            <a:r>
              <a:rPr sz="900" i="0">
                <a:solidFill>
                  <a:srgbClr val="E6EDF3"/>
                </a:solidFill>
                <a:latin typeface="Consolas"/>
              </a:rPr>
              <a:t>latihan/         (kunci: after/)</a:t>
            </a:r>
          </a:p>
          <a:p>
            <a:pPr>
              <a:lnSpc>
                <a:spcPts val="1200"/>
              </a:lnSpc>
              <a:spcAft>
                <a:spcPts val="0"/>
              </a:spcAft>
            </a:pPr>
            <a:r>
              <a:rPr sz="900" i="0">
                <a:solidFill>
                  <a:srgbClr val="E6EDF3"/>
                </a:solidFill>
                <a:latin typeface="Consolas"/>
              </a:rPr>
              <a:t>  config.py        # langkah 2: Singleton</a:t>
            </a:r>
          </a:p>
          <a:p>
            <a:pPr>
              <a:lnSpc>
                <a:spcPts val="1200"/>
              </a:lnSpc>
              <a:spcAft>
                <a:spcPts val="0"/>
              </a:spcAft>
            </a:pPr>
            <a:r>
              <a:rPr sz="900" i="0">
                <a:solidFill>
                  <a:srgbClr val="E6EDF3"/>
                </a:solidFill>
                <a:latin typeface="Consolas"/>
              </a:rPr>
              <a:t>  notifiers.py     # langkah 3: Factory</a:t>
            </a:r>
          </a:p>
          <a:p>
            <a:pPr>
              <a:lnSpc>
                <a:spcPts val="1200"/>
              </a:lnSpc>
              <a:spcAft>
                <a:spcPts val="0"/>
              </a:spcAft>
            </a:pPr>
            <a:r>
              <a:rPr sz="900" i="0">
                <a:solidFill>
                  <a:srgbClr val="E6EDF3"/>
                </a:solidFill>
                <a:latin typeface="Consolas"/>
              </a:rPr>
              <a:t>  discounts.py     # langkah 4: Strategy</a:t>
            </a:r>
          </a:p>
          <a:p>
            <a:pPr>
              <a:lnSpc>
                <a:spcPts val="1200"/>
              </a:lnSpc>
              <a:spcAft>
                <a:spcPts val="0"/>
              </a:spcAft>
            </a:pPr>
            <a:r>
              <a:rPr sz="900" i="0">
                <a:solidFill>
                  <a:srgbClr val="E6EDF3"/>
                </a:solidFill>
                <a:latin typeface="Consolas"/>
              </a:rPr>
              <a:t>  repository.py    # langkah 5: Repository</a:t>
            </a:r>
          </a:p>
          <a:p>
            <a:pPr>
              <a:lnSpc>
                <a:spcPts val="1200"/>
              </a:lnSpc>
              <a:spcAft>
                <a:spcPts val="0"/>
              </a:spcAft>
            </a:pPr>
            <a:r>
              <a:rPr sz="900" i="0">
                <a:solidFill>
                  <a:srgbClr val="E6EDF3"/>
                </a:solidFill>
                <a:latin typeface="Consolas"/>
              </a:rPr>
              <a:t>  service.py       # langkah 6: Service Layer</a:t>
            </a:r>
          </a:p>
          <a:p>
            <a:pPr>
              <a:lnSpc>
                <a:spcPts val="1200"/>
              </a:lnSpc>
              <a:spcAft>
                <a:spcPts val="0"/>
              </a:spcAft>
            </a:pPr>
            <a:r>
              <a:rPr sz="900" i="0">
                <a:solidFill>
                  <a:srgbClr val="E6EDF3"/>
                </a:solidFill>
                <a:latin typeface="Consolas"/>
              </a:rPr>
              <a:t>  main.py          # langkah 7: route + Depends</a:t>
            </a:r>
          </a:p>
          <a:p>
            <a:pPr>
              <a:lnSpc>
                <a:spcPts val="1200"/>
              </a:lnSpc>
              <a:spcAft>
                <a:spcPts val="0"/>
              </a:spcAft>
            </a:pPr>
            <a:r>
              <a:rPr sz="900" i="0">
                <a:solidFill>
                  <a:srgbClr val="E6EDF3"/>
                </a:solidFill>
                <a:latin typeface="Consolas"/>
              </a:rPr>
              <a:t>  test_service.py  # langkah 8: unit test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1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Jalankan Kode Awal &amp; Catat Response-nya</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519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92040" cy="2980944"/>
          </a:xfrm>
          <a:prstGeom prst="rect">
            <a:avLst/>
          </a:prstGeom>
          <a:noFill/>
        </p:spPr>
        <p:txBody>
          <a:bodyPr wrap="none" lIns="146304" rIns="146304" tIns="91440" bIns="54864">
            <a:spAutoFit/>
          </a:bodyPr>
          <a:lstStyle/>
          <a:p>
            <a:pPr>
              <a:lnSpc>
                <a:spcPts val="1100"/>
              </a:lnSpc>
              <a:spcAft>
                <a:spcPts val="0"/>
              </a:spcAft>
            </a:pPr>
            <a:r>
              <a:rPr sz="850" i="0">
                <a:solidFill>
                  <a:srgbClr val="82B1FF"/>
                </a:solidFill>
                <a:latin typeface="Consolas"/>
              </a:rPr>
              <a:t>$ cd sesi-01-design-patterns/06-refactor-order-api/before</a:t>
            </a:r>
          </a:p>
          <a:p>
            <a:pPr>
              <a:lnSpc>
                <a:spcPts val="1100"/>
              </a:lnSpc>
              <a:spcAft>
                <a:spcPts val="0"/>
              </a:spcAft>
            </a:pPr>
            <a:r>
              <a:rPr sz="850" i="0">
                <a:solidFill>
                  <a:srgbClr val="82B1FF"/>
                </a:solidFill>
                <a:latin typeface="Consolas"/>
              </a:rPr>
              <a:t>$ pip install -r ../../requirements.txt</a:t>
            </a:r>
          </a:p>
          <a:p>
            <a:pPr>
              <a:lnSpc>
                <a:spcPts val="1100"/>
              </a:lnSpc>
              <a:spcAft>
                <a:spcPts val="0"/>
              </a:spcAft>
            </a:pPr>
            <a:r>
              <a:rPr sz="850" i="0">
                <a:solidFill>
                  <a:srgbClr val="82B1FF"/>
                </a:solidFill>
                <a:latin typeface="Consolas"/>
              </a:rPr>
              <a:t>$ uvicorn main:app --reload</a:t>
            </a:r>
          </a:p>
          <a:p>
            <a:pPr>
              <a:lnSpc>
                <a:spcPts val="1100"/>
              </a:lnSpc>
              <a:spcAft>
                <a:spcPts val="0"/>
              </a:spcAft>
            </a:pPr>
            <a:r>
              <a:rPr sz="850" i="0">
                <a:solidFill>
                  <a:srgbClr val="E6EDF3"/>
                </a:solidFill>
                <a:latin typeface="Consolas"/>
              </a:rPr>
              <a:t/>
            </a:r>
          </a:p>
          <a:p>
            <a:pPr>
              <a:lnSpc>
                <a:spcPts val="1100"/>
              </a:lnSpc>
              <a:spcAft>
                <a:spcPts val="0"/>
              </a:spcAft>
            </a:pPr>
            <a:r>
              <a:rPr sz="850" i="1">
                <a:solidFill>
                  <a:srgbClr val="8B98A8"/>
                </a:solidFill>
                <a:latin typeface="Consolas"/>
              </a:rPr>
              <a:t># buka http://127.0.0.1:8000/docs</a:t>
            </a:r>
          </a:p>
          <a:p>
            <a:pPr>
              <a:lnSpc>
                <a:spcPts val="1100"/>
              </a:lnSpc>
              <a:spcAft>
                <a:spcPts val="0"/>
              </a:spcAft>
            </a:pPr>
            <a:r>
              <a:rPr sz="850" i="1">
                <a:solidFill>
                  <a:srgbClr val="8B98A8"/>
                </a:solidFill>
                <a:latin typeface="Consolas"/>
              </a:rPr>
              <a:t># POST /orders -&gt; Try it out -&gt; isi body:</a:t>
            </a:r>
          </a:p>
          <a:p>
            <a:pPr>
              <a:lnSpc>
                <a:spcPts val="1100"/>
              </a:lnSpc>
              <a:spcAft>
                <a:spcPts val="0"/>
              </a:spcAft>
            </a:pPr>
            <a:r>
              <a:rPr sz="850" i="0">
                <a:solidFill>
                  <a:srgbClr val="E6EDF3"/>
                </a:solidFill>
                <a:latin typeface="Consolas"/>
              </a:rPr>
              <a:t>{</a:t>
            </a:r>
          </a:p>
          <a:p>
            <a:pPr>
              <a:lnSpc>
                <a:spcPts val="1100"/>
              </a:lnSpc>
              <a:spcAft>
                <a:spcPts val="0"/>
              </a:spcAft>
            </a:pPr>
            <a:r>
              <a:rPr sz="850" i="0">
                <a:solidFill>
                  <a:srgbClr val="E6EDF3"/>
                </a:solidFill>
                <a:latin typeface="Consolas"/>
              </a:rPr>
              <a:t>  "customer": "budi@mail.com",</a:t>
            </a:r>
          </a:p>
          <a:p>
            <a:pPr>
              <a:lnSpc>
                <a:spcPts val="1100"/>
              </a:lnSpc>
              <a:spcAft>
                <a:spcPts val="0"/>
              </a:spcAft>
            </a:pPr>
            <a:r>
              <a:rPr sz="850" i="0">
                <a:solidFill>
                  <a:srgbClr val="E6EDF3"/>
                </a:solidFill>
                <a:latin typeface="Consolas"/>
              </a:rPr>
              <a:t>  "customer_type": "vip",</a:t>
            </a:r>
          </a:p>
          <a:p>
            <a:pPr>
              <a:lnSpc>
                <a:spcPts val="1100"/>
              </a:lnSpc>
              <a:spcAft>
                <a:spcPts val="0"/>
              </a:spcAft>
            </a:pPr>
            <a:r>
              <a:rPr sz="850" i="0">
                <a:solidFill>
                  <a:srgbClr val="E6EDF3"/>
                </a:solidFill>
                <a:latin typeface="Consolas"/>
              </a:rPr>
              <a:t>  "items": [{"name": "Keyboard", "price": 500000, "qty": 2}]</a:t>
            </a:r>
          </a:p>
          <a:p>
            <a:pPr>
              <a:lnSpc>
                <a:spcPts val="1100"/>
              </a:lnSpc>
              <a:spcAft>
                <a:spcPts val="0"/>
              </a:spcAft>
            </a:pPr>
            <a:r>
              <a:rPr sz="850" i="0">
                <a:solidFill>
                  <a:srgbClr val="E6EDF3"/>
                </a:solidFill>
                <a:latin typeface="Consolas"/>
              </a:rPr>
              <a:t>}</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Text 13"/>
          <p:cNvSpPr txBox="1"/>
          <p:nvPr/>
        </p:nvSpPr>
        <p:spPr>
          <a:xfrm>
            <a:off x="5806440" y="157276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Jalankan aplikasi </a:t>
            </a:r>
            <a:r>
              <a:rPr sz="900" i="0" b="0">
                <a:solidFill>
                  <a:srgbClr val="B5482A"/>
                </a:solidFill>
                <a:latin typeface="Consolas"/>
              </a:rPr>
              <a:t>before/</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Buka Swagger di </a:t>
            </a:r>
            <a:r>
              <a:rPr sz="900" i="0" b="0">
                <a:solidFill>
                  <a:srgbClr val="B5482A"/>
                </a:solidFill>
                <a:latin typeface="Consolas"/>
              </a:rPr>
              <a:t>/docs</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Kirim </a:t>
            </a:r>
            <a:r>
              <a:rPr sz="900" i="0" b="0">
                <a:solidFill>
                  <a:srgbClr val="B5482A"/>
                </a:solidFill>
                <a:latin typeface="Consolas"/>
              </a:rPr>
              <a:t>POST /orders</a:t>
            </a:r>
            <a:r>
              <a:rPr sz="900" i="0" b="0">
                <a:solidFill>
                  <a:srgbClr val="434343"/>
                </a:solidFill>
                <a:latin typeface="Inter"/>
              </a:rPr>
              <a:t> dengan body di samping</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Simpan response-nya. Setelah refactor, response harus </a:t>
            </a:r>
            <a:r>
              <a:rPr sz="900" i="0" b="1">
                <a:solidFill>
                  <a:srgbClr val="434343"/>
                </a:solidFill>
                <a:latin typeface="Inter"/>
              </a:rPr>
              <a:t>sama persis</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Buat folder kerja </a:t>
            </a:r>
            <a:r>
              <a:rPr sz="900" i="0" b="0">
                <a:solidFill>
                  <a:srgbClr val="B5482A"/>
                </a:solidFill>
                <a:latin typeface="Consolas"/>
              </a:rPr>
              <a:t>latihan/</a:t>
            </a:r>
            <a:r>
              <a:rPr sz="900" i="0" b="0">
                <a:solidFill>
                  <a:srgbClr val="434343"/>
                </a:solidFill>
                <a:latin typeface="Inter"/>
              </a:rPr>
              <a:t> di sebelah </a:t>
            </a:r>
            <a:r>
              <a:rPr sz="900" i="0" b="0">
                <a:solidFill>
                  <a:srgbClr val="B5482A"/>
                </a:solidFill>
                <a:latin typeface="Consolas"/>
              </a:rPr>
              <a:t>before/</a:t>
            </a:r>
            <a:r>
              <a:rPr sz="900" i="0" b="0">
                <a:solidFill>
                  <a:srgbClr val="434343"/>
                </a:solidFill>
                <a:latin typeface="Inter"/>
              </a:rPr>
              <a:t>. Folder </a:t>
            </a:r>
            <a:r>
              <a:rPr sz="900" i="0" b="0">
                <a:solidFill>
                  <a:srgbClr val="B5482A"/>
                </a:solidFill>
                <a:latin typeface="Consolas"/>
              </a:rPr>
              <a:t>after/</a:t>
            </a:r>
            <a:r>
              <a:rPr sz="900" i="0" b="0">
                <a:solidFill>
                  <a:srgbClr val="434343"/>
                </a:solidFill>
                <a:latin typeface="Inter"/>
              </a:rPr>
              <a:t> berisi kunci jawaban</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3" name="Text 16"/>
          <p:cNvSpPr txBox="1"/>
          <p:nvPr/>
        </p:nvSpPr>
        <p:spPr>
          <a:xfrm>
            <a:off x="5806440" y="381304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anchor="t" lIns="45720" rIns="45720">
            <a:spAutoFit/>
          </a:bodyPr>
          <a:lstStyle/>
          <a:p>
            <a:pPr algn="l">
              <a:lnSpc>
                <a:spcPct val="115000"/>
              </a:lnSpc>
              <a:spcAft>
                <a:spcPts val="400"/>
              </a:spcAft>
            </a:pPr>
            <a:r>
              <a:rPr sz="900" i="0" b="0">
                <a:solidFill>
                  <a:srgbClr val="434343"/>
                </a:solidFill>
                <a:latin typeface="Inter"/>
              </a:rPr>
              <a:t>Response 201 dengan </a:t>
            </a:r>
            <a:r>
              <a:rPr sz="900" i="0" b="0">
                <a:solidFill>
                  <a:srgbClr val="B5482A"/>
                </a:solidFill>
                <a:latin typeface="Consolas"/>
              </a:rPr>
              <a:t>"total": 900000</a:t>
            </a:r>
            <a:r>
              <a:rPr sz="900" i="0" b="0">
                <a:solidFill>
                  <a:srgbClr val="434343"/>
                </a:solidFill>
                <a:latin typeface="Inter"/>
              </a:rPr>
              <a:t> (diskon vip 10%).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1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Response dari Kode Awal</a:t>
            </a:r>
          </a:p>
        </p:txBody>
      </p:sp>
      <p:pic>
        <p:nvPicPr>
          <p:cNvPr id="22" name="Image 3" descr="s01-before-post.png"/>
          <p:cNvPicPr>
            <a:picLocks noChangeAspect="1"/>
          </p:cNvPicPr>
          <p:nvPr/>
        </p:nvPicPr>
        <p:blipFill>
          <a:blip r:embed="rId2"/>
          <a:stretch>
            <a:fillRect/>
          </a:stretch>
        </p:blipFill>
        <p:spPr>
          <a:xfrm>
            <a:off x="621792" y="1481328"/>
            <a:ext cx="2528969" cy="3218688"/>
          </a:xfrm>
          <a:prstGeom prst="rect">
            <a:avLst/>
          </a:prstGeom>
          <a:ln w="9525">
            <a:solidFill>
              <a:srgbClr val="D0D5DD"/>
            </a:solidFill>
          </a:ln>
        </p:spPr>
      </p:pic>
      <p:sp>
        <p:nvSpPr>
          <p:cNvPr id="23" name="Text 4"/>
          <p:cNvSpPr txBox="1"/>
          <p:nvPr/>
        </p:nvSpPr>
        <p:spPr>
          <a:xfrm>
            <a:off x="4206240" y="1481328"/>
            <a:ext cx="2011680" cy="3200400"/>
          </a:xfrm>
          <a:prstGeom prst="rect">
            <a:avLst/>
          </a:prstGeom>
          <a:noFill/>
        </p:spPr>
        <p:txBody>
          <a:bodyPr wrap="square" anchor="t" lIns="45720" rIns="45720">
            <a:spAutoFit/>
          </a:bodyPr>
          <a:lstStyle/>
          <a:p>
            <a:pPr algn="l">
              <a:lnSpc>
                <a:spcPct val="115000"/>
              </a:lnSpc>
              <a:spcAft>
                <a:spcPts val="400"/>
              </a:spcAft>
            </a:pPr>
            <a:r>
              <a:rPr sz="1050" i="0" b="1">
                <a:solidFill>
                  <a:srgbClr val="1C4587"/>
                </a:solidFill>
                <a:latin typeface="Inter"/>
              </a:rPr>
              <a:t>Di Swagger</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Klik </a:t>
            </a:r>
            <a:r>
              <a:rPr sz="950" i="0" b="1">
                <a:solidFill>
                  <a:srgbClr val="434343"/>
                </a:solidFill>
                <a:latin typeface="Inter"/>
              </a:rPr>
              <a:t>POST /orders</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Klik </a:t>
            </a:r>
            <a:r>
              <a:rPr sz="950" i="0" b="1">
                <a:solidFill>
                  <a:srgbClr val="434343"/>
                </a:solidFill>
                <a:latin typeface="Inter"/>
              </a:rPr>
              <a:t>Try it out</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Isi request body</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Klik </a:t>
            </a:r>
            <a:r>
              <a:rPr sz="950" i="0" b="1">
                <a:solidFill>
                  <a:srgbClr val="434343"/>
                </a:solidFill>
                <a:latin typeface="Inter"/>
              </a:rPr>
              <a:t>Execute</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Lihat </a:t>
            </a:r>
            <a:r>
              <a:rPr sz="950" i="0" b="1">
                <a:solidFill>
                  <a:srgbClr val="434343"/>
                </a:solidFill>
                <a:latin typeface="Inter"/>
              </a:rPr>
              <a:t>Server response</a:t>
            </a:r>
          </a:p>
        </p:txBody>
      </p:sp>
      <p:sp>
        <p:nvSpPr>
          <p:cNvPr id="24" name="Box 5"/>
          <p:cNvSpPr/>
          <p:nvPr/>
        </p:nvSpPr>
        <p:spPr>
          <a:xfrm>
            <a:off x="6355080" y="1481328"/>
            <a:ext cx="2130552" cy="3218688"/>
          </a:xfrm>
          <a:prstGeom prst="roundRect">
            <a:avLst>
              <a:gd name="adj" fmla="val 5150"/>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5" name="Text 6"/>
          <p:cNvSpPr txBox="1"/>
          <p:nvPr/>
        </p:nvSpPr>
        <p:spPr>
          <a:xfrm>
            <a:off x="6492240" y="1572768"/>
            <a:ext cx="1856232" cy="310896"/>
          </a:xfrm>
          <a:prstGeom prst="rect">
            <a:avLst/>
          </a:prstGeom>
          <a:noFill/>
        </p:spPr>
        <p:txBody>
          <a:bodyPr wrap="square" anchor="t" lIns="45720" rIns="45720">
            <a:spAutoFit/>
          </a:bodyPr>
          <a:lstStyle/>
          <a:p>
            <a:pPr algn="l">
              <a:lnSpc>
                <a:spcPct val="115000"/>
              </a:lnSpc>
              <a:spcAft>
                <a:spcPts val="400"/>
              </a:spcAft>
            </a:pPr>
            <a:r>
              <a:rPr sz="1100" i="0" b="1">
                <a:solidFill>
                  <a:srgbClr val="E0764F"/>
                </a:solidFill>
                <a:latin typeface="Inter"/>
              </a:rPr>
              <a:t>Catat ini</a:t>
            </a:r>
          </a:p>
        </p:txBody>
      </p:sp>
      <p:sp>
        <p:nvSpPr>
          <p:cNvPr id="26" name="Text 7"/>
          <p:cNvSpPr txBox="1"/>
          <p:nvPr/>
        </p:nvSpPr>
        <p:spPr>
          <a:xfrm>
            <a:off x="6492240" y="1892808"/>
            <a:ext cx="185623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Arial"/>
              <a:buChar char="•"/>
            </a:pPr>
            <a:r>
              <a:rPr sz="950" i="0" b="0">
                <a:solidFill>
                  <a:srgbClr val="434343"/>
                </a:solidFill>
                <a:latin typeface="Inter"/>
              </a:rPr>
              <a:t>Status </a:t>
            </a:r>
            <a:r>
              <a:rPr sz="950" i="0" b="1">
                <a:solidFill>
                  <a:srgbClr val="434343"/>
                </a:solidFill>
                <a:latin typeface="Inter"/>
              </a:rPr>
              <a:t>201</a:t>
            </a:r>
          </a:p>
          <a:p>
            <a:pPr algn="l" marL="182880" indent="-182880">
              <a:lnSpc>
                <a:spcPct val="115000"/>
              </a:lnSpc>
              <a:spcAft>
                <a:spcPts val="400"/>
              </a:spcAft>
              <a:buClr>
                <a:srgbClr val="E0764F"/>
              </a:buClr>
              <a:buSzPct val="100000"/>
              <a:buFont typeface="Arial"/>
              <a:buChar char="•"/>
            </a:pPr>
            <a:r>
              <a:rPr sz="950" i="0" b="0">
                <a:solidFill>
                  <a:srgbClr val="B5482A"/>
                </a:solidFill>
                <a:latin typeface="Consolas"/>
              </a:rPr>
              <a:t>subtotal</a:t>
            </a:r>
            <a:r>
              <a:rPr sz="950" i="0" b="0">
                <a:solidFill>
                  <a:srgbClr val="434343"/>
                </a:solidFill>
                <a:latin typeface="Inter"/>
              </a:rPr>
              <a:t> 1.000.000</a:t>
            </a:r>
          </a:p>
          <a:p>
            <a:pPr algn="l" marL="182880" indent="-182880">
              <a:lnSpc>
                <a:spcPct val="115000"/>
              </a:lnSpc>
              <a:spcAft>
                <a:spcPts val="400"/>
              </a:spcAft>
              <a:buClr>
                <a:srgbClr val="E0764F"/>
              </a:buClr>
              <a:buSzPct val="100000"/>
              <a:buFont typeface="Arial"/>
              <a:buChar char="•"/>
            </a:pPr>
            <a:r>
              <a:rPr sz="950" i="0" b="0">
                <a:solidFill>
                  <a:srgbClr val="B5482A"/>
                </a:solidFill>
                <a:latin typeface="Consolas"/>
              </a:rPr>
              <a:t>total</a:t>
            </a:r>
            <a:r>
              <a:rPr sz="950" i="0" b="0">
                <a:solidFill>
                  <a:srgbClr val="434343"/>
                </a:solidFill>
                <a:latin typeface="Inter"/>
              </a:rPr>
              <a:t> 900.000</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Response hasil refactor nanti dibandingkan dengan ini.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2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config.py: Singleton</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519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after/config.py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92040" cy="2980944"/>
          </a:xfrm>
          <a:prstGeom prst="rect">
            <a:avLst/>
          </a:prstGeom>
          <a:noFill/>
        </p:spPr>
        <p:txBody>
          <a:bodyPr wrap="none" lIns="146304" rIns="146304" tIns="91440" bIns="54864">
            <a:spAutoFit/>
          </a:bodyPr>
          <a:lstStyle/>
          <a:p>
            <a:pPr>
              <a:lnSpc>
                <a:spcPts val="1100"/>
              </a:lnSpc>
              <a:spcAft>
                <a:spcPts val="0"/>
              </a:spcAft>
            </a:pP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os</a:t>
            </a:r>
          </a:p>
          <a:p>
            <a:pPr>
              <a:lnSpc>
                <a:spcPts val="1100"/>
              </a:lnSpc>
              <a:spcAft>
                <a:spcPts val="0"/>
              </a:spcAft>
            </a:pPr>
            <a:r>
              <a:rPr sz="850" i="0">
                <a:solidFill>
                  <a:srgbClr val="FF8E6E"/>
                </a:solidFill>
                <a:latin typeface="Consolas"/>
              </a:rPr>
              <a:t>from</a:t>
            </a:r>
            <a:r>
              <a:rPr sz="850" i="0">
                <a:solidFill>
                  <a:srgbClr val="E6EDF3"/>
                </a:solidFill>
                <a:latin typeface="Consolas"/>
              </a:rPr>
              <a:t> </a:t>
            </a:r>
            <a:r>
              <a:rPr sz="850" i="0">
                <a:solidFill>
                  <a:srgbClr val="E6EDF3"/>
                </a:solidFill>
                <a:latin typeface="Consolas"/>
              </a:rPr>
              <a:t>dataclasses</a:t>
            </a:r>
            <a:r>
              <a:rPr sz="850" i="0">
                <a:solidFill>
                  <a:srgbClr val="E6EDF3"/>
                </a:solidFill>
                <a:latin typeface="Consolas"/>
              </a:rPr>
              <a:t>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dataclass</a:t>
            </a:r>
          </a:p>
          <a:p>
            <a:pPr>
              <a:lnSpc>
                <a:spcPts val="1100"/>
              </a:lnSpc>
              <a:spcAft>
                <a:spcPts val="0"/>
              </a:spcAft>
            </a:pPr>
            <a:r>
              <a:rPr sz="850" i="0">
                <a:solidFill>
                  <a:srgbClr val="FF8E6E"/>
                </a:solidFill>
                <a:latin typeface="Consolas"/>
              </a:rPr>
              <a:t>from</a:t>
            </a:r>
            <a:r>
              <a:rPr sz="850" i="0">
                <a:solidFill>
                  <a:srgbClr val="E6EDF3"/>
                </a:solidFill>
                <a:latin typeface="Consolas"/>
              </a:rPr>
              <a:t> </a:t>
            </a:r>
            <a:r>
              <a:rPr sz="850" i="0">
                <a:solidFill>
                  <a:srgbClr val="E6EDF3"/>
                </a:solidFill>
                <a:latin typeface="Consolas"/>
              </a:rPr>
              <a:t>functools</a:t>
            </a:r>
            <a:r>
              <a:rPr sz="850" i="0">
                <a:solidFill>
                  <a:srgbClr val="E6EDF3"/>
                </a:solidFill>
                <a:latin typeface="Consolas"/>
              </a:rPr>
              <a:t> </a:t>
            </a:r>
            <a:r>
              <a:rPr sz="850" i="0">
                <a:solidFill>
                  <a:srgbClr val="FF8E6E"/>
                </a:solidFill>
                <a:latin typeface="Consolas"/>
              </a:rPr>
              <a:t>import</a:t>
            </a:r>
            <a:r>
              <a:rPr sz="850" i="0">
                <a:solidFill>
                  <a:srgbClr val="E6EDF3"/>
                </a:solidFill>
                <a:latin typeface="Consolas"/>
              </a:rPr>
              <a:t> </a:t>
            </a:r>
            <a:r>
              <a:rPr sz="850" i="0">
                <a:solidFill>
                  <a:srgbClr val="E6EDF3"/>
                </a:solidFill>
                <a:latin typeface="Consolas"/>
              </a:rPr>
              <a:t>lru_cache</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F9C97A"/>
                </a:solidFill>
                <a:latin typeface="Consolas"/>
              </a:rPr>
              <a:t>@dataclass</a:t>
            </a:r>
            <a:r>
              <a:rPr sz="850" i="0">
                <a:solidFill>
                  <a:srgbClr val="E6EDF3"/>
                </a:solidFill>
                <a:latin typeface="Consolas"/>
              </a:rPr>
              <a:t>(</a:t>
            </a:r>
            <a:r>
              <a:rPr sz="850" i="0">
                <a:solidFill>
                  <a:srgbClr val="E6EDF3"/>
                </a:solidFill>
                <a:latin typeface="Consolas"/>
              </a:rPr>
              <a:t>frozen</a:t>
            </a:r>
            <a:r>
              <a:rPr sz="850" i="0">
                <a:solidFill>
                  <a:srgbClr val="E6EDF3"/>
                </a:solidFill>
                <a:latin typeface="Consolas"/>
              </a:rPr>
              <a:t>=</a:t>
            </a:r>
            <a:r>
              <a:rPr sz="850" i="0">
                <a:solidFill>
                  <a:srgbClr val="FF8E6E"/>
                </a:solidFill>
                <a:latin typeface="Consolas"/>
              </a:rPr>
              <a:t>True</a:t>
            </a:r>
            <a:r>
              <a:rPr sz="850" i="0">
                <a:solidFill>
                  <a:srgbClr val="E6EDF3"/>
                </a:solidFill>
                <a:latin typeface="Consolas"/>
              </a:rPr>
              <a:t>)</a:t>
            </a:r>
          </a:p>
          <a:p>
            <a:pPr>
              <a:lnSpc>
                <a:spcPts val="1100"/>
              </a:lnSpc>
              <a:spcAft>
                <a:spcPts val="0"/>
              </a:spcAft>
            </a:pPr>
            <a:r>
              <a:rPr sz="850" i="0">
                <a:solidFill>
                  <a:srgbClr val="FF8E6E"/>
                </a:solidFill>
                <a:latin typeface="Consolas"/>
              </a:rPr>
              <a:t>class</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database_path</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p>
          <a:p>
            <a:pPr>
              <a:lnSpc>
                <a:spcPts val="1100"/>
              </a:lnSpc>
              <a:spcAft>
                <a:spcPts val="0"/>
              </a:spcAft>
            </a:pPr>
            <a:r>
              <a:rPr sz="850" i="0">
                <a:solidFill>
                  <a:srgbClr val="E6EDF3"/>
                </a:solidFill>
                <a:latin typeface="Consolas"/>
              </a:rPr>
              <a:t>    </a:t>
            </a:r>
            <a:r>
              <a:rPr sz="850" i="0">
                <a:solidFill>
                  <a:srgbClr val="E6EDF3"/>
                </a:solidFill>
                <a:latin typeface="Consolas"/>
              </a:rPr>
              <a:t>notification_channel</a:t>
            </a:r>
            <a:r>
              <a:rPr sz="850" i="0">
                <a:solidFill>
                  <a:srgbClr val="E6EDF3"/>
                </a:solidFill>
                <a:latin typeface="Consolas"/>
              </a:rPr>
              <a:t>:</a:t>
            </a:r>
            <a:r>
              <a:rPr sz="850" i="0">
                <a:solidFill>
                  <a:srgbClr val="E6EDF3"/>
                </a:solidFill>
                <a:latin typeface="Consolas"/>
              </a:rPr>
              <a:t> </a:t>
            </a:r>
            <a:r>
              <a:rPr sz="850" i="0">
                <a:solidFill>
                  <a:srgbClr val="C3A6FF"/>
                </a:solidFill>
                <a:latin typeface="Consolas"/>
              </a:rPr>
              <a:t>str</a:t>
            </a:r>
          </a:p>
          <a:p>
            <a:pPr>
              <a:lnSpc>
                <a:spcPts val="1100"/>
              </a:lnSpc>
              <a:spcAft>
                <a:spcPts val="0"/>
              </a:spcAft>
            </a:pPr>
            <a:r>
              <a:rPr sz="850" i="0">
                <a:solidFill>
                  <a:srgbClr val="E6EDF3"/>
                </a:solidFill>
                <a:latin typeface="Consolas"/>
              </a:rPr>
              <a:t> </a:t>
            </a:r>
          </a:p>
          <a:p>
            <a:pPr>
              <a:lnSpc>
                <a:spcPts val="1100"/>
              </a:lnSpc>
              <a:spcAft>
                <a:spcPts val="0"/>
              </a:spcAft>
            </a:pPr>
            <a:r>
              <a:rPr sz="850" i="0">
                <a:solidFill>
                  <a:srgbClr val="F9C97A"/>
                </a:solidFill>
                <a:latin typeface="Consolas"/>
              </a:rPr>
              <a:t>@lru_cache</a:t>
            </a:r>
          </a:p>
          <a:p>
            <a:pPr>
              <a:lnSpc>
                <a:spcPts val="1100"/>
              </a:lnSpc>
              <a:spcAft>
                <a:spcPts val="0"/>
              </a:spcAft>
            </a:pPr>
            <a:r>
              <a:rPr sz="850" i="0">
                <a:solidFill>
                  <a:srgbClr val="FF8E6E"/>
                </a:solidFill>
                <a:latin typeface="Consolas"/>
              </a:rPr>
              <a:t>def</a:t>
            </a:r>
            <a:r>
              <a:rPr sz="850" i="0">
                <a:solidFill>
                  <a:srgbClr val="E6EDF3"/>
                </a:solidFill>
                <a:latin typeface="Consolas"/>
              </a:rPr>
              <a:t> </a:t>
            </a:r>
            <a:r>
              <a:rPr sz="850" i="0">
                <a:solidFill>
                  <a:srgbClr val="82B1FF"/>
                </a:solidFill>
                <a:latin typeface="Consolas"/>
              </a:rPr>
              <a:t>get_settings</a:t>
            </a:r>
            <a:r>
              <a:rPr sz="850" i="0">
                <a:solidFill>
                  <a:srgbClr val="E6EDF3"/>
                </a:solidFill>
                <a:latin typeface="Consolas"/>
              </a:rPr>
              <a:t>(</a:t>
            </a:r>
            <a:r>
              <a:rPr sz="850" i="0">
                <a:solidFill>
                  <a:srgbClr val="E6EDF3"/>
                </a:solidFill>
                <a:latin typeface="Consolas"/>
              </a:rPr>
              <a:t>)</a:t>
            </a:r>
            <a:r>
              <a:rPr sz="850" i="0">
                <a:solidFill>
                  <a:srgbClr val="E6EDF3"/>
                </a:solidFill>
                <a:latin typeface="Consolas"/>
              </a:rPr>
              <a:t> </a:t>
            </a:r>
            <a:r>
              <a:rPr sz="850" i="0">
                <a:solidFill>
                  <a:srgbClr val="E6EDF3"/>
                </a:solidFill>
                <a:latin typeface="Consolas"/>
              </a:rPr>
              <a:t>-</a:t>
            </a:r>
            <a:r>
              <a:rPr sz="850" i="0">
                <a:solidFill>
                  <a:srgbClr val="E6EDF3"/>
                </a:solidFill>
                <a:latin typeface="Consolas"/>
              </a:rPr>
              <a:t>&gt;</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FF8E6E"/>
                </a:solidFill>
                <a:latin typeface="Consolas"/>
              </a:rPr>
              <a:t>return</a:t>
            </a:r>
            <a:r>
              <a:rPr sz="850" i="0">
                <a:solidFill>
                  <a:srgbClr val="E6EDF3"/>
                </a:solidFill>
                <a:latin typeface="Consolas"/>
              </a:rPr>
              <a:t> </a:t>
            </a:r>
            <a:r>
              <a:rPr sz="850" i="0">
                <a:solidFill>
                  <a:srgbClr val="7FDBCA"/>
                </a:solidFill>
                <a:latin typeface="Consolas"/>
              </a:rPr>
              <a:t>Settings</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database_path</a:t>
            </a:r>
            <a:r>
              <a:rPr sz="850" i="0">
                <a:solidFill>
                  <a:srgbClr val="E6EDF3"/>
                </a:solidFill>
                <a:latin typeface="Consolas"/>
              </a:rPr>
              <a:t>=</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"DATABASE_PATH"</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"orders.db"</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notification_channel</a:t>
            </a:r>
            <a:r>
              <a:rPr sz="850" i="0">
                <a:solidFill>
                  <a:srgbClr val="E6EDF3"/>
                </a:solidFill>
                <a:latin typeface="Consolas"/>
              </a:rPr>
              <a:t>=</a:t>
            </a:r>
            <a:r>
              <a:rPr sz="850" i="0">
                <a:solidFill>
                  <a:srgbClr val="E6EDF3"/>
                </a:solidFill>
                <a:latin typeface="Consolas"/>
              </a:rPr>
              <a:t>os</a:t>
            </a:r>
            <a:r>
              <a:rPr sz="850" i="0">
                <a:solidFill>
                  <a:srgbClr val="E6EDF3"/>
                </a:solidFill>
                <a:latin typeface="Consolas"/>
              </a:rPr>
              <a:t>.</a:t>
            </a:r>
            <a:r>
              <a:rPr sz="850" i="0">
                <a:solidFill>
                  <a:srgbClr val="E6EDF3"/>
                </a:solidFill>
                <a:latin typeface="Consolas"/>
              </a:rPr>
              <a:t>getenv</a:t>
            </a:r>
            <a:r>
              <a:rPr sz="850" i="0">
                <a:solidFill>
                  <a:srgbClr val="E6EDF3"/>
                </a:solidFill>
                <a:latin typeface="Consolas"/>
              </a:rPr>
              <a:t>(</a:t>
            </a:r>
            <a:r>
              <a:rPr sz="850" i="0">
                <a:solidFill>
                  <a:srgbClr val="A5D6A7"/>
                </a:solidFill>
                <a:latin typeface="Consolas"/>
              </a:rPr>
              <a:t>"NOTIFICATION_CHANNEL"</a:t>
            </a:r>
            <a:r>
              <a:rPr sz="850" i="0">
                <a:solidFill>
                  <a:srgbClr val="E6EDF3"/>
                </a:solidFill>
                <a:latin typeface="Consolas"/>
              </a:rPr>
              <a:t>,</a:t>
            </a:r>
            <a:r>
              <a:rPr sz="850" i="0">
                <a:solidFill>
                  <a:srgbClr val="E6EDF3"/>
                </a:solidFill>
                <a:latin typeface="Consolas"/>
              </a:rPr>
              <a:t> </a:t>
            </a:r>
            <a:r>
              <a:rPr sz="850" i="0">
                <a:solidFill>
                  <a:srgbClr val="A5D6A7"/>
                </a:solidFill>
                <a:latin typeface="Consolas"/>
              </a:rPr>
              <a:t>"email"</a:t>
            </a:r>
            <a:r>
              <a:rPr sz="850" i="0">
                <a:solidFill>
                  <a:srgbClr val="E6EDF3"/>
                </a:solidFill>
                <a:latin typeface="Consolas"/>
              </a:rPr>
              <a:t>)</a:t>
            </a:r>
            <a:r>
              <a:rPr sz="850" i="0">
                <a:solidFill>
                  <a:srgbClr val="E6EDF3"/>
                </a:solidFill>
                <a:latin typeface="Consolas"/>
              </a:rPr>
              <a:t>,</a:t>
            </a:r>
          </a:p>
          <a:p>
            <a:pPr>
              <a:lnSpc>
                <a:spcPts val="1100"/>
              </a:lnSpc>
              <a:spcAft>
                <a:spcPts val="0"/>
              </a:spcAft>
            </a:pPr>
            <a:r>
              <a:rPr sz="850" i="0">
                <a:solidFill>
                  <a:srgbClr val="E6EDF3"/>
                </a:solidFill>
                <a:latin typeface="Consolas"/>
              </a:rPr>
              <a:t>    </a:t>
            </a:r>
            <a:r>
              <a:rPr sz="850" i="0">
                <a:solidFill>
                  <a:srgbClr val="E6EDF3"/>
                </a:solidFill>
                <a:latin typeface="Consolas"/>
              </a:rPr>
              <a:t>)</a:t>
            </a:r>
          </a:p>
        </p:txBody>
      </p:sp>
      <p:sp>
        <p:nvSpPr>
          <p:cNvPr id="29" name="Box 12"/>
          <p:cNvSpPr/>
          <p:nvPr/>
        </p:nvSpPr>
        <p:spPr>
          <a:xfrm>
            <a:off x="704088" y="3085973"/>
            <a:ext cx="472744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312664" y="31724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Text 15"/>
          <p:cNvSpPr txBox="1"/>
          <p:nvPr/>
        </p:nvSpPr>
        <p:spPr>
          <a:xfrm>
            <a:off x="5806440" y="157276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3" name="Text 16"/>
          <p:cNvSpPr txBox="1"/>
          <p:nvPr/>
        </p:nvSpPr>
        <p:spPr>
          <a:xfrm>
            <a:off x="5806440" y="1892808"/>
            <a:ext cx="25420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Buat </a:t>
            </a:r>
            <a:r>
              <a:rPr sz="900" i="0" b="0">
                <a:solidFill>
                  <a:srgbClr val="B5482A"/>
                </a:solidFill>
                <a:latin typeface="Consolas"/>
              </a:rPr>
              <a:t>latihan/config.py</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Pindahkan semua </a:t>
            </a:r>
            <a:r>
              <a:rPr sz="900" i="0" b="0">
                <a:solidFill>
                  <a:srgbClr val="B5482A"/>
                </a:solidFill>
                <a:latin typeface="Consolas"/>
              </a:rPr>
              <a:t>os.getenv</a:t>
            </a:r>
            <a:r>
              <a:rPr sz="900" i="0" b="0">
                <a:solidFill>
                  <a:srgbClr val="434343"/>
                </a:solidFill>
                <a:latin typeface="Inter"/>
              </a:rPr>
              <a:t> dari </a:t>
            </a:r>
            <a:r>
              <a:rPr sz="900" i="0" b="0">
                <a:solidFill>
                  <a:srgbClr val="B5482A"/>
                </a:solidFill>
                <a:latin typeface="Consolas"/>
              </a:rPr>
              <a:t>main.py</a:t>
            </a:r>
            <a:r>
              <a:rPr sz="900" i="0" b="0">
                <a:solidFill>
                  <a:srgbClr val="434343"/>
                </a:solidFill>
                <a:latin typeface="Inter"/>
              </a:rPr>
              <a:t> ke </a:t>
            </a:r>
            <a:r>
              <a:rPr sz="900" i="0" b="0">
                <a:solidFill>
                  <a:srgbClr val="B5482A"/>
                </a:solidFill>
                <a:latin typeface="Consolas"/>
              </a:rPr>
              <a:t>Settings</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Pasang </a:t>
            </a:r>
            <a:r>
              <a:rPr sz="900" i="0" b="0">
                <a:solidFill>
                  <a:srgbClr val="B5482A"/>
                </a:solidFill>
                <a:latin typeface="Consolas"/>
              </a:rPr>
              <a:t>@lru_cache</a:t>
            </a:r>
            <a:r>
              <a:rPr sz="900" i="0" b="0">
                <a:solidFill>
                  <a:srgbClr val="434343"/>
                </a:solidFill>
                <a:latin typeface="Inter"/>
              </a:rPr>
              <a:t> di </a:t>
            </a:r>
            <a:r>
              <a:rPr sz="900" i="0" b="0">
                <a:solidFill>
                  <a:srgbClr val="B5482A"/>
                </a:solidFill>
                <a:latin typeface="Consolas"/>
              </a:rPr>
              <a:t>get_settings()</a:t>
            </a:r>
          </a:p>
          <a:p>
            <a:pPr algn="l">
              <a:lnSpc>
                <a:spcPct val="115000"/>
              </a:lnSpc>
              <a:spcAft>
                <a:spcPts val="0"/>
              </a:spcAft>
            </a:pPr>
            <a:r>
              <a:rPr sz="540"/>
              <a:t/>
            </a:r>
          </a:p>
          <a:p>
            <a:pPr algn="l">
              <a:lnSpc>
                <a:spcPct val="115000"/>
              </a:lnSpc>
              <a:spcAft>
                <a:spcPts val="400"/>
              </a:spcAft>
            </a:pPr>
            <a:r>
              <a:rPr sz="900" i="0" b="0">
                <a:solidFill>
                  <a:srgbClr val="B5482A"/>
                </a:solidFill>
                <a:latin typeface="Consolas"/>
              </a:rPr>
              <a:t>frozen=True</a:t>
            </a:r>
            <a:r>
              <a:rPr sz="900" i="0" b="0">
                <a:solidFill>
                  <a:srgbClr val="434343"/>
                </a:solidFill>
                <a:latin typeface="Inter"/>
              </a:rPr>
              <a:t>: config tidak bisa diubah setelah dibuat.</a:t>
            </a:r>
          </a:p>
        </p:txBody>
      </p:sp>
      <p:sp>
        <p:nvSpPr>
          <p:cNvPr id="34" name="Box 17"/>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Text 18"/>
          <p:cNvSpPr txBox="1"/>
          <p:nvPr/>
        </p:nvSpPr>
        <p:spPr>
          <a:xfrm>
            <a:off x="5806440" y="381304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6" name="Text 19"/>
          <p:cNvSpPr txBox="1"/>
          <p:nvPr/>
        </p:nvSpPr>
        <p:spPr>
          <a:xfrm>
            <a:off x="5806440" y="4133088"/>
            <a:ext cx="2542032" cy="475488"/>
          </a:xfrm>
          <a:prstGeom prst="rect">
            <a:avLst/>
          </a:prstGeom>
          <a:noFill/>
        </p:spPr>
        <p:txBody>
          <a:bodyPr wrap="square" anchor="t" lIns="45720" rIns="45720">
            <a:spAutoFit/>
          </a:bodyPr>
          <a:lstStyle/>
          <a:p>
            <a:pPr algn="l">
              <a:lnSpc>
                <a:spcPct val="115000"/>
              </a:lnSpc>
              <a:spcAft>
                <a:spcPts val="400"/>
              </a:spcAft>
            </a:pPr>
            <a:r>
              <a:rPr sz="900" i="0" b="0">
                <a:solidFill>
                  <a:srgbClr val="B5482A"/>
                </a:solidFill>
                <a:latin typeface="Consolas"/>
              </a:rPr>
              <a:t>get_settings() is get_settings()</a:t>
            </a:r>
            <a:r>
              <a:rPr sz="900" i="0" b="0">
                <a:solidFill>
                  <a:srgbClr val="434343"/>
                </a:solidFill>
                <a:latin typeface="Inter"/>
              </a:rPr>
              <a:t> → </a:t>
            </a:r>
            <a:r>
              <a:rPr sz="900" i="0" b="0">
                <a:solidFill>
                  <a:srgbClr val="B5482A"/>
                </a:solidFill>
                <a:latin typeface="Consolas"/>
              </a:rPr>
              <a:t>True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3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notifiers.py: Factory</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519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after/notifiers.py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92040" cy="2980944"/>
          </a:xfrm>
          <a:prstGeom prst="rect">
            <a:avLst/>
          </a:prstGeom>
          <a:noFill/>
        </p:spPr>
        <p:txBody>
          <a:bodyPr wrap="none" lIns="146304" rIns="146304" tIns="91440" bIns="54864">
            <a:spAutoFit/>
          </a:bodyPr>
          <a:lstStyle/>
          <a:p>
            <a:pPr>
              <a:lnSpc>
                <a:spcPts val="1000"/>
              </a:lnSpc>
              <a:spcAft>
                <a:spcPts val="0"/>
              </a:spcAft>
            </a:pPr>
            <a:r>
              <a:rPr sz="750" i="0">
                <a:solidFill>
                  <a:srgbClr val="FF8E6E"/>
                </a:solidFill>
                <a:latin typeface="Consolas"/>
              </a:rPr>
              <a:t>from</a:t>
            </a:r>
            <a:r>
              <a:rPr sz="750" i="0">
                <a:solidFill>
                  <a:srgbClr val="E6EDF3"/>
                </a:solidFill>
                <a:latin typeface="Consolas"/>
              </a:rPr>
              <a:t> </a:t>
            </a:r>
            <a:r>
              <a:rPr sz="750" i="0">
                <a:solidFill>
                  <a:srgbClr val="E6EDF3"/>
                </a:solidFill>
                <a:latin typeface="Consolas"/>
              </a:rPr>
              <a:t>typing</a:t>
            </a:r>
            <a:r>
              <a:rPr sz="750" i="0">
                <a:solidFill>
                  <a:srgbClr val="E6EDF3"/>
                </a:solidFill>
                <a:latin typeface="Consolas"/>
              </a:rPr>
              <a:t> </a:t>
            </a:r>
            <a:r>
              <a:rPr sz="750" i="0">
                <a:solidFill>
                  <a:srgbClr val="FF8E6E"/>
                </a:solidFill>
                <a:latin typeface="Consolas"/>
              </a:rPr>
              <a:t>import</a:t>
            </a:r>
            <a:r>
              <a:rPr sz="750" i="0">
                <a:solidFill>
                  <a:srgbClr val="E6EDF3"/>
                </a:solidFill>
                <a:latin typeface="Consolas"/>
              </a:rPr>
              <a:t> </a:t>
            </a:r>
            <a:r>
              <a:rPr sz="750" i="0">
                <a:solidFill>
                  <a:srgbClr val="7FDBCA"/>
                </a:solidFill>
                <a:latin typeface="Consolas"/>
              </a:rPr>
              <a:t>Protocol</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class</a:t>
            </a:r>
            <a:r>
              <a:rPr sz="750" i="0">
                <a:solidFill>
                  <a:srgbClr val="E6EDF3"/>
                </a:solidFill>
                <a:latin typeface="Consolas"/>
              </a:rPr>
              <a:t> </a:t>
            </a:r>
            <a:r>
              <a:rPr sz="750" i="0">
                <a:solidFill>
                  <a:srgbClr val="7FDBCA"/>
                </a:solidFill>
                <a:latin typeface="Consolas"/>
              </a:rPr>
              <a:t>Notifier</a:t>
            </a:r>
            <a:r>
              <a:rPr sz="750" i="0">
                <a:solidFill>
                  <a:srgbClr val="E6EDF3"/>
                </a:solidFill>
                <a:latin typeface="Consolas"/>
              </a:rPr>
              <a:t>(</a:t>
            </a:r>
            <a:r>
              <a:rPr sz="750" i="0">
                <a:solidFill>
                  <a:srgbClr val="7FDBCA"/>
                </a:solidFill>
                <a:latin typeface="Consolas"/>
              </a:rPr>
              <a:t>Protocol</a:t>
            </a:r>
            <a:r>
              <a:rPr sz="750" i="0">
                <a:solidFill>
                  <a:srgbClr val="E6EDF3"/>
                </a:solidFill>
                <a:latin typeface="Consolas"/>
              </a:rPr>
              <a:t>)</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send</a:t>
            </a:r>
            <a:r>
              <a:rPr sz="750" i="0">
                <a:solidFill>
                  <a:srgbClr val="E6EDF3"/>
                </a:solidFill>
                <a:latin typeface="Consolas"/>
              </a:rPr>
              <a:t>(</a:t>
            </a:r>
            <a:r>
              <a:rPr sz="750" i="0">
                <a:solidFill>
                  <a:srgbClr val="C3A6FF"/>
                </a:solidFill>
                <a:latin typeface="Consolas"/>
              </a:rPr>
              <a:t>self</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to</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message</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FF8E6E"/>
                </a:solidFill>
                <a:latin typeface="Consolas"/>
              </a:rPr>
              <a:t>None</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class</a:t>
            </a:r>
            <a:r>
              <a:rPr sz="750" i="0">
                <a:solidFill>
                  <a:srgbClr val="E6EDF3"/>
                </a:solidFill>
                <a:latin typeface="Consolas"/>
              </a:rPr>
              <a:t> </a:t>
            </a:r>
            <a:r>
              <a:rPr sz="750" i="0">
                <a:solidFill>
                  <a:srgbClr val="7FDBCA"/>
                </a:solidFill>
                <a:latin typeface="Consolas"/>
              </a:rPr>
              <a:t>EmailNotifier</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send</a:t>
            </a:r>
            <a:r>
              <a:rPr sz="750" i="0">
                <a:solidFill>
                  <a:srgbClr val="E6EDF3"/>
                </a:solidFill>
                <a:latin typeface="Consolas"/>
              </a:rPr>
              <a:t>(</a:t>
            </a:r>
            <a:r>
              <a:rPr sz="750" i="0">
                <a:solidFill>
                  <a:srgbClr val="C3A6FF"/>
                </a:solidFill>
                <a:latin typeface="Consolas"/>
              </a:rPr>
              <a:t>self</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to</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message</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FF8E6E"/>
                </a:solidFill>
                <a:latin typeface="Consolas"/>
              </a:rPr>
              <a:t>None</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C3A6FF"/>
                </a:solidFill>
                <a:latin typeface="Consolas"/>
              </a:rPr>
              <a:t>print</a:t>
            </a:r>
            <a:r>
              <a:rPr sz="750" i="0">
                <a:solidFill>
                  <a:srgbClr val="E6EDF3"/>
                </a:solidFill>
                <a:latin typeface="Consolas"/>
              </a:rPr>
              <a:t>(</a:t>
            </a:r>
            <a:r>
              <a:rPr sz="750" i="0">
                <a:solidFill>
                  <a:srgbClr val="A5D6A7"/>
                </a:solidFill>
                <a:latin typeface="Consolas"/>
              </a:rPr>
              <a:t>f"[EMAIL] ke {to}: {message}"</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class</a:t>
            </a:r>
            <a:r>
              <a:rPr sz="750" i="0">
                <a:solidFill>
                  <a:srgbClr val="E6EDF3"/>
                </a:solidFill>
                <a:latin typeface="Consolas"/>
              </a:rPr>
              <a:t> </a:t>
            </a:r>
            <a:r>
              <a:rPr sz="750" i="0">
                <a:solidFill>
                  <a:srgbClr val="7FDBCA"/>
                </a:solidFill>
                <a:latin typeface="Consolas"/>
              </a:rPr>
              <a:t>SmsNotifier</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send</a:t>
            </a:r>
            <a:r>
              <a:rPr sz="750" i="0">
                <a:solidFill>
                  <a:srgbClr val="E6EDF3"/>
                </a:solidFill>
                <a:latin typeface="Consolas"/>
              </a:rPr>
              <a:t>(</a:t>
            </a:r>
            <a:r>
              <a:rPr sz="750" i="0">
                <a:solidFill>
                  <a:srgbClr val="C3A6FF"/>
                </a:solidFill>
                <a:latin typeface="Consolas"/>
              </a:rPr>
              <a:t>self</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to</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message</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FF8E6E"/>
                </a:solidFill>
                <a:latin typeface="Consolas"/>
              </a:rPr>
              <a:t>None</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C3A6FF"/>
                </a:solidFill>
                <a:latin typeface="Consolas"/>
              </a:rPr>
              <a:t>print</a:t>
            </a:r>
            <a:r>
              <a:rPr sz="750" i="0">
                <a:solidFill>
                  <a:srgbClr val="E6EDF3"/>
                </a:solidFill>
                <a:latin typeface="Consolas"/>
              </a:rPr>
              <a:t>(</a:t>
            </a:r>
            <a:r>
              <a:rPr sz="750" i="0">
                <a:solidFill>
                  <a:srgbClr val="A5D6A7"/>
                </a:solidFill>
                <a:latin typeface="Consolas"/>
              </a:rPr>
              <a:t>f"[SMS] ke {to}: {message}"</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7FDBCA"/>
                </a:solidFill>
                <a:latin typeface="Consolas"/>
              </a:rPr>
              <a:t>NOTIFIERS</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A5D6A7"/>
                </a:solidFill>
                <a:latin typeface="Consolas"/>
              </a:rPr>
              <a:t>"email"</a:t>
            </a:r>
            <a:r>
              <a:rPr sz="750" i="0">
                <a:solidFill>
                  <a:srgbClr val="E6EDF3"/>
                </a:solidFill>
                <a:latin typeface="Consolas"/>
              </a:rPr>
              <a:t>:</a:t>
            </a:r>
            <a:r>
              <a:rPr sz="750" i="0">
                <a:solidFill>
                  <a:srgbClr val="E6EDF3"/>
                </a:solidFill>
                <a:latin typeface="Consolas"/>
              </a:rPr>
              <a:t> </a:t>
            </a:r>
            <a:r>
              <a:rPr sz="750" i="0">
                <a:solidFill>
                  <a:srgbClr val="7FDBCA"/>
                </a:solidFill>
                <a:latin typeface="Consolas"/>
              </a:rPr>
              <a:t>EmailNotifier</a:t>
            </a:r>
            <a:r>
              <a:rPr sz="750" i="0">
                <a:solidFill>
                  <a:srgbClr val="E6EDF3"/>
                </a:solidFill>
                <a:latin typeface="Consolas"/>
              </a:rPr>
              <a:t>,</a:t>
            </a:r>
            <a:r>
              <a:rPr sz="750" i="0">
                <a:solidFill>
                  <a:srgbClr val="E6EDF3"/>
                </a:solidFill>
                <a:latin typeface="Consolas"/>
              </a:rPr>
              <a:t> </a:t>
            </a:r>
            <a:r>
              <a:rPr sz="750" i="0">
                <a:solidFill>
                  <a:srgbClr val="A5D6A7"/>
                </a:solidFill>
                <a:latin typeface="Consolas"/>
              </a:rPr>
              <a:t>"sms"</a:t>
            </a:r>
            <a:r>
              <a:rPr sz="750" i="0">
                <a:solidFill>
                  <a:srgbClr val="E6EDF3"/>
                </a:solidFill>
                <a:latin typeface="Consolas"/>
              </a:rPr>
              <a:t>:</a:t>
            </a:r>
            <a:r>
              <a:rPr sz="750" i="0">
                <a:solidFill>
                  <a:srgbClr val="E6EDF3"/>
                </a:solidFill>
                <a:latin typeface="Consolas"/>
              </a:rPr>
              <a:t> </a:t>
            </a:r>
            <a:r>
              <a:rPr sz="750" i="0">
                <a:solidFill>
                  <a:srgbClr val="7FDBCA"/>
                </a:solidFill>
                <a:latin typeface="Consolas"/>
              </a:rPr>
              <a:t>SmsNotifier</a:t>
            </a:r>
            <a:r>
              <a:rPr sz="750" i="0">
                <a:solidFill>
                  <a:srgbClr val="E6EDF3"/>
                </a:solidFill>
                <a:latin typeface="Consolas"/>
              </a:rPr>
              <a:t>}</a:t>
            </a:r>
          </a:p>
          <a:p>
            <a:pPr>
              <a:lnSpc>
                <a:spcPts val="1000"/>
              </a:lnSpc>
              <a:spcAft>
                <a:spcPts val="0"/>
              </a:spcAft>
            </a:pPr>
            <a:r>
              <a:rPr sz="750" i="0">
                <a:solidFill>
                  <a:srgbClr val="E6EDF3"/>
                </a:solidFill>
                <a:latin typeface="Consolas"/>
              </a:rPr>
              <a:t> </a:t>
            </a:r>
          </a:p>
          <a:p>
            <a:pPr>
              <a:lnSpc>
                <a:spcPts val="1000"/>
              </a:lnSpc>
              <a:spcAft>
                <a:spcPts val="0"/>
              </a:spcAft>
            </a:pPr>
            <a:r>
              <a:rPr sz="750" i="0">
                <a:solidFill>
                  <a:srgbClr val="FF8E6E"/>
                </a:solidFill>
                <a:latin typeface="Consolas"/>
              </a:rPr>
              <a:t>def</a:t>
            </a:r>
            <a:r>
              <a:rPr sz="750" i="0">
                <a:solidFill>
                  <a:srgbClr val="E6EDF3"/>
                </a:solidFill>
                <a:latin typeface="Consolas"/>
              </a:rPr>
              <a:t> </a:t>
            </a:r>
            <a:r>
              <a:rPr sz="750" i="0">
                <a:solidFill>
                  <a:srgbClr val="82B1FF"/>
                </a:solidFill>
                <a:latin typeface="Consolas"/>
              </a:rPr>
              <a:t>create_notifier</a:t>
            </a:r>
            <a:r>
              <a:rPr sz="750" i="0">
                <a:solidFill>
                  <a:srgbClr val="E6EDF3"/>
                </a:solidFill>
                <a:latin typeface="Consolas"/>
              </a:rPr>
              <a:t>(</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 </a:t>
            </a:r>
            <a:r>
              <a:rPr sz="750" i="0">
                <a:solidFill>
                  <a:srgbClr val="C3A6FF"/>
                </a:solidFill>
                <a:latin typeface="Consolas"/>
              </a:rPr>
              <a:t>str</a:t>
            </a:r>
            <a:r>
              <a:rPr sz="750" i="0">
                <a:solidFill>
                  <a:srgbClr val="E6EDF3"/>
                </a:solidFill>
                <a:latin typeface="Consolas"/>
              </a:rPr>
              <a:t>)</a:t>
            </a:r>
            <a:r>
              <a:rPr sz="750" i="0">
                <a:solidFill>
                  <a:srgbClr val="E6EDF3"/>
                </a:solidFill>
                <a:latin typeface="Consolas"/>
              </a:rPr>
              <a:t> </a:t>
            </a:r>
            <a:r>
              <a:rPr sz="750" i="0">
                <a:solidFill>
                  <a:srgbClr val="E6EDF3"/>
                </a:solidFill>
                <a:latin typeface="Consolas"/>
              </a:rPr>
              <a:t>-</a:t>
            </a:r>
            <a:r>
              <a:rPr sz="750" i="0">
                <a:solidFill>
                  <a:srgbClr val="E6EDF3"/>
                </a:solidFill>
                <a:latin typeface="Consolas"/>
              </a:rPr>
              <a:t>&gt;</a:t>
            </a:r>
            <a:r>
              <a:rPr sz="750" i="0">
                <a:solidFill>
                  <a:srgbClr val="E6EDF3"/>
                </a:solidFill>
                <a:latin typeface="Consolas"/>
              </a:rPr>
              <a:t> </a:t>
            </a:r>
            <a:r>
              <a:rPr sz="750" i="0">
                <a:solidFill>
                  <a:srgbClr val="7FDBCA"/>
                </a:solidFill>
                <a:latin typeface="Consolas"/>
              </a:rPr>
              <a:t>Notifier</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if</a:t>
            </a:r>
            <a:r>
              <a:rPr sz="750" i="0">
                <a:solidFill>
                  <a:srgbClr val="E6EDF3"/>
                </a:solidFill>
                <a:latin typeface="Consolas"/>
              </a:rPr>
              <a:t> </a:t>
            </a:r>
            <a:r>
              <a:rPr sz="750" i="0">
                <a:solidFill>
                  <a:srgbClr val="E6EDF3"/>
                </a:solidFill>
                <a:latin typeface="Consolas"/>
              </a:rPr>
              <a:t>channel</a:t>
            </a:r>
            <a:r>
              <a:rPr sz="750" i="0">
                <a:solidFill>
                  <a:srgbClr val="E6EDF3"/>
                </a:solidFill>
                <a:latin typeface="Consolas"/>
              </a:rPr>
              <a:t> </a:t>
            </a:r>
            <a:r>
              <a:rPr sz="750" i="0">
                <a:solidFill>
                  <a:srgbClr val="FF8E6E"/>
                </a:solidFill>
                <a:latin typeface="Consolas"/>
              </a:rPr>
              <a:t>not</a:t>
            </a:r>
            <a:r>
              <a:rPr sz="750" i="0">
                <a:solidFill>
                  <a:srgbClr val="E6EDF3"/>
                </a:solidFill>
                <a:latin typeface="Consolas"/>
              </a:rPr>
              <a:t> </a:t>
            </a:r>
            <a:r>
              <a:rPr sz="750" i="0">
                <a:solidFill>
                  <a:srgbClr val="FF8E6E"/>
                </a:solidFill>
                <a:latin typeface="Consolas"/>
              </a:rPr>
              <a:t>in</a:t>
            </a:r>
            <a:r>
              <a:rPr sz="750" i="0">
                <a:solidFill>
                  <a:srgbClr val="E6EDF3"/>
                </a:solidFill>
                <a:latin typeface="Consolas"/>
              </a:rPr>
              <a:t> </a:t>
            </a:r>
            <a:r>
              <a:rPr sz="750" i="0">
                <a:solidFill>
                  <a:srgbClr val="7FDBCA"/>
                </a:solidFill>
                <a:latin typeface="Consolas"/>
              </a:rPr>
              <a:t>NOTIFIERS</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raise</a:t>
            </a:r>
            <a:r>
              <a:rPr sz="750" i="0">
                <a:solidFill>
                  <a:srgbClr val="E6EDF3"/>
                </a:solidFill>
                <a:latin typeface="Consolas"/>
              </a:rPr>
              <a:t> </a:t>
            </a:r>
            <a:r>
              <a:rPr sz="750" i="0">
                <a:solidFill>
                  <a:srgbClr val="7FDBCA"/>
                </a:solidFill>
                <a:latin typeface="Consolas"/>
              </a:rPr>
              <a:t>ValueError</a:t>
            </a:r>
            <a:r>
              <a:rPr sz="750" i="0">
                <a:solidFill>
                  <a:srgbClr val="E6EDF3"/>
                </a:solidFill>
                <a:latin typeface="Consolas"/>
              </a:rPr>
              <a:t>(</a:t>
            </a:r>
            <a:r>
              <a:rPr sz="750" i="0">
                <a:solidFill>
                  <a:srgbClr val="A5D6A7"/>
                </a:solidFill>
                <a:latin typeface="Consolas"/>
              </a:rPr>
              <a:t>f"Channel tidak dikenal: {channel}"</a:t>
            </a:r>
            <a:r>
              <a:rPr sz="750" i="0">
                <a:solidFill>
                  <a:srgbClr val="E6EDF3"/>
                </a:solidFill>
                <a:latin typeface="Consolas"/>
              </a:rPr>
              <a:t>)</a:t>
            </a:r>
          </a:p>
          <a:p>
            <a:pPr>
              <a:lnSpc>
                <a:spcPts val="1000"/>
              </a:lnSpc>
              <a:spcAft>
                <a:spcPts val="0"/>
              </a:spcAft>
            </a:pPr>
            <a:r>
              <a:rPr sz="750" i="0">
                <a:solidFill>
                  <a:srgbClr val="E6EDF3"/>
                </a:solidFill>
                <a:latin typeface="Consolas"/>
              </a:rPr>
              <a:t>    </a:t>
            </a:r>
            <a:r>
              <a:rPr sz="750" i="0">
                <a:solidFill>
                  <a:srgbClr val="FF8E6E"/>
                </a:solidFill>
                <a:latin typeface="Consolas"/>
              </a:rPr>
              <a:t>return</a:t>
            </a:r>
            <a:r>
              <a:rPr sz="750" i="0">
                <a:solidFill>
                  <a:srgbClr val="E6EDF3"/>
                </a:solidFill>
                <a:latin typeface="Consolas"/>
              </a:rPr>
              <a:t> </a:t>
            </a:r>
            <a:r>
              <a:rPr sz="750" i="0">
                <a:solidFill>
                  <a:srgbClr val="7FDBCA"/>
                </a:solidFill>
                <a:latin typeface="Consolas"/>
              </a:rPr>
              <a:t>NOTIFIERS</a:t>
            </a:r>
            <a:r>
              <a:rPr sz="750" i="0">
                <a:solidFill>
                  <a:srgbClr val="E6EDF3"/>
                </a:solidFill>
                <a:latin typeface="Consolas"/>
              </a:rPr>
              <a:t>[</a:t>
            </a:r>
            <a:r>
              <a:rPr sz="750" i="0">
                <a:solidFill>
                  <a:srgbClr val="E6EDF3"/>
                </a:solidFill>
                <a:latin typeface="Consolas"/>
              </a:rPr>
              <a:t>channel</a:t>
            </a:r>
            <a:r>
              <a:rPr sz="750" i="0">
                <a:solidFill>
                  <a:srgbClr val="E6EDF3"/>
                </a:solidFill>
                <a:latin typeface="Consolas"/>
              </a:rPr>
              <a:t>]</a:t>
            </a:r>
            <a:r>
              <a:rPr sz="750" i="0">
                <a:solidFill>
                  <a:srgbClr val="E6EDF3"/>
                </a:solidFill>
                <a:latin typeface="Consolas"/>
              </a:rPr>
              <a:t>(</a:t>
            </a:r>
            <a:r>
              <a:rPr sz="750" i="0">
                <a:solidFill>
                  <a:srgbClr val="E6EDF3"/>
                </a:solidFill>
                <a:latin typeface="Consolas"/>
              </a:rPr>
              <a:t>)</a:t>
            </a:r>
          </a:p>
        </p:txBody>
      </p:sp>
      <p:sp>
        <p:nvSpPr>
          <p:cNvPr id="29" name="Box 12"/>
          <p:cNvSpPr/>
          <p:nvPr/>
        </p:nvSpPr>
        <p:spPr>
          <a:xfrm>
            <a:off x="704088" y="3478022"/>
            <a:ext cx="472744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312664" y="341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732022"/>
            <a:ext cx="4727448" cy="500380"/>
          </a:xfrm>
          <a:prstGeom prst="roundRect">
            <a:avLst>
              <a:gd name="adj" fmla="val 913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3" name="Text 16"/>
          <p:cNvSpPr txBox="1"/>
          <p:nvPr/>
        </p:nvSpPr>
        <p:spPr>
          <a:xfrm>
            <a:off x="5806440" y="157276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4" name="Text 17"/>
          <p:cNvSpPr txBox="1"/>
          <p:nvPr/>
        </p:nvSpPr>
        <p:spPr>
          <a:xfrm>
            <a:off x="5806440" y="1892808"/>
            <a:ext cx="25420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Buat class per channel, method-nya sama: </a:t>
            </a:r>
            <a:r>
              <a:rPr sz="900" i="0" b="0">
                <a:solidFill>
                  <a:srgbClr val="B5482A"/>
                </a:solidFill>
                <a:latin typeface="Consolas"/>
              </a:rPr>
              <a:t>send(to, message)</a:t>
            </a:r>
          </a:p>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Notifier</a:t>
            </a:r>
            <a:r>
              <a:rPr sz="900" i="0" b="0">
                <a:solidFill>
                  <a:srgbClr val="434343"/>
                </a:solidFill>
                <a:latin typeface="Inter"/>
              </a:rPr>
              <a:t> (Protocol) = bentuk yang harus dipenuhi semua notifier</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Ganti if/elif channel di </a:t>
            </a:r>
            <a:r>
              <a:rPr sz="900" i="0" b="0">
                <a:solidFill>
                  <a:srgbClr val="B5482A"/>
                </a:solidFill>
                <a:latin typeface="Consolas"/>
              </a:rPr>
              <a:t>main.py</a:t>
            </a:r>
            <a:r>
              <a:rPr sz="900" i="0" b="0">
                <a:solidFill>
                  <a:srgbClr val="434343"/>
                </a:solidFill>
                <a:latin typeface="Inter"/>
              </a:rPr>
              <a:t> dengan </a:t>
            </a:r>
            <a:r>
              <a:rPr sz="900" i="0" b="0">
                <a:solidFill>
                  <a:srgbClr val="B5482A"/>
                </a:solidFill>
                <a:latin typeface="Consolas"/>
              </a:rPr>
              <a:t>NOTIFIERS</a:t>
            </a:r>
            <a:r>
              <a:rPr sz="900" i="0" b="0">
                <a:solidFill>
                  <a:srgbClr val="434343"/>
                </a:solidFill>
                <a:latin typeface="Inter"/>
              </a:rPr>
              <a:t> + </a:t>
            </a:r>
            <a:r>
              <a:rPr sz="900" i="0" b="0">
                <a:solidFill>
                  <a:srgbClr val="B5482A"/>
                </a:solidFill>
                <a:latin typeface="Consolas"/>
              </a:rPr>
              <a:t>create_notifier()</a:t>
            </a:r>
          </a:p>
        </p:txBody>
      </p:sp>
      <p:sp>
        <p:nvSpPr>
          <p:cNvPr id="35" name="Box 18"/>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6" name="Text 19"/>
          <p:cNvSpPr txBox="1"/>
          <p:nvPr/>
        </p:nvSpPr>
        <p:spPr>
          <a:xfrm>
            <a:off x="5806440" y="381304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7" name="Text 20"/>
          <p:cNvSpPr txBox="1"/>
          <p:nvPr/>
        </p:nvSpPr>
        <p:spPr>
          <a:xfrm>
            <a:off x="5806440" y="4133088"/>
            <a:ext cx="2542032" cy="475488"/>
          </a:xfrm>
          <a:prstGeom prst="rect">
            <a:avLst/>
          </a:prstGeom>
          <a:noFill/>
        </p:spPr>
        <p:txBody>
          <a:bodyPr wrap="square" anchor="t" lIns="45720" rIns="45720">
            <a:spAutoFit/>
          </a:bodyPr>
          <a:lstStyle/>
          <a:p>
            <a:pPr algn="l">
              <a:lnSpc>
                <a:spcPct val="115000"/>
              </a:lnSpc>
              <a:spcAft>
                <a:spcPts val="400"/>
              </a:spcAft>
            </a:pPr>
            <a:r>
              <a:rPr sz="900" i="0" b="0">
                <a:solidFill>
                  <a:srgbClr val="B5482A"/>
                </a:solidFill>
                <a:latin typeface="Consolas"/>
              </a:rPr>
              <a:t>create_notifier("sms")</a:t>
            </a:r>
            <a:r>
              <a:rPr sz="900" i="0" b="0">
                <a:solidFill>
                  <a:srgbClr val="434343"/>
                </a:solidFill>
                <a:latin typeface="Inter"/>
              </a:rPr>
              <a:t> → object </a:t>
            </a:r>
            <a:r>
              <a:rPr sz="900" i="0" b="0">
                <a:solidFill>
                  <a:srgbClr val="B5482A"/>
                </a:solidFill>
                <a:latin typeface="Consolas"/>
              </a:rPr>
              <a:t>SmsNotifier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4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discounts.py: Strategy</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2519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after/discounts.py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892040" cy="2980944"/>
          </a:xfrm>
          <a:prstGeom prst="rect">
            <a:avLst/>
          </a:prstGeom>
          <a:noFill/>
        </p:spPr>
        <p:txBody>
          <a:bodyPr wrap="none" lIns="146304" rIns="146304" tIns="91440" bIns="54864">
            <a:spAutoFit/>
          </a:bodyPr>
          <a:lstStyle/>
          <a:p>
            <a:pPr>
              <a:lnSpc>
                <a:spcPts val="900"/>
              </a:lnSpc>
              <a:spcAft>
                <a:spcPts val="0"/>
              </a:spcAft>
            </a:pPr>
            <a:r>
              <a:rPr sz="700" i="0">
                <a:solidFill>
                  <a:srgbClr val="FF8E6E"/>
                </a:solidFill>
                <a:latin typeface="Consolas"/>
              </a:rPr>
              <a:t>class</a:t>
            </a:r>
            <a:r>
              <a:rPr sz="700" i="0">
                <a:solidFill>
                  <a:srgbClr val="E6EDF3"/>
                </a:solidFill>
                <a:latin typeface="Consolas"/>
              </a:rPr>
              <a:t> </a:t>
            </a:r>
            <a:r>
              <a:rPr sz="700" i="0">
                <a:solidFill>
                  <a:srgbClr val="7FDBCA"/>
                </a:solidFill>
                <a:latin typeface="Consolas"/>
              </a:rPr>
              <a:t>DiscountStrategy</a:t>
            </a:r>
            <a:r>
              <a:rPr sz="700" i="0">
                <a:solidFill>
                  <a:srgbClr val="E6EDF3"/>
                </a:solidFill>
                <a:latin typeface="Consolas"/>
              </a:rPr>
              <a:t>(</a:t>
            </a:r>
            <a:r>
              <a:rPr sz="700" i="0">
                <a:solidFill>
                  <a:srgbClr val="7FDBCA"/>
                </a:solidFill>
                <a:latin typeface="Consolas"/>
              </a:rPr>
              <a:t>Protocol</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discount</a:t>
            </a:r>
            <a:r>
              <a:rPr sz="700" i="0">
                <a:solidFill>
                  <a:srgbClr val="E6EDF3"/>
                </a:solidFill>
                <a:latin typeface="Consolas"/>
              </a:rPr>
              <a:t>(</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subtotal</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&gt;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class</a:t>
            </a:r>
            <a:r>
              <a:rPr sz="700" i="0">
                <a:solidFill>
                  <a:srgbClr val="E6EDF3"/>
                </a:solidFill>
                <a:latin typeface="Consolas"/>
              </a:rPr>
              <a:t> </a:t>
            </a:r>
            <a:r>
              <a:rPr sz="700" i="0">
                <a:solidFill>
                  <a:srgbClr val="7FDBCA"/>
                </a:solidFill>
                <a:latin typeface="Consolas"/>
              </a:rPr>
              <a:t>NoDiscount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class</a:t>
            </a:r>
            <a:r>
              <a:rPr sz="700" i="0">
                <a:solidFill>
                  <a:srgbClr val="E6EDF3"/>
                </a:solidFill>
                <a:latin typeface="Consolas"/>
              </a:rPr>
              <a:t> </a:t>
            </a:r>
            <a:r>
              <a:rPr sz="700" i="0">
                <a:solidFill>
                  <a:srgbClr val="7FDBCA"/>
                </a:solidFill>
                <a:latin typeface="Consolas"/>
              </a:rPr>
              <a:t>PercentDiscount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__init__</a:t>
            </a:r>
            <a:r>
              <a:rPr sz="700" i="0">
                <a:solidFill>
                  <a:srgbClr val="E6EDF3"/>
                </a:solidFill>
                <a:latin typeface="Consolas"/>
              </a:rPr>
              <a:t>(</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percent</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percent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percent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E6EDF3"/>
                </a:solidFill>
                <a:latin typeface="Consolas"/>
              </a:rPr>
              <a:t>    </a:t>
            </a: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discount</a:t>
            </a:r>
            <a:r>
              <a:rPr sz="700" i="0">
                <a:solidFill>
                  <a:srgbClr val="E6EDF3"/>
                </a:solidFill>
                <a:latin typeface="Consolas"/>
              </a:rPr>
              <a:t>(</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subtotal</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&gt;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E6EDF3"/>
                </a:solidFill>
                <a:latin typeface="Consolas"/>
              </a:rPr>
              <a:t>subtotal</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percent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100</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7FDBCA"/>
                </a:solidFill>
                <a:latin typeface="Consolas"/>
              </a:rPr>
              <a:t>DISCOUNTS</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dict</a:t>
            </a:r>
            <a:r>
              <a:rPr sz="700" i="0">
                <a:solidFill>
                  <a:srgbClr val="E6EDF3"/>
                </a:solidFill>
                <a:latin typeface="Consolas"/>
              </a:rPr>
              <a:t>[</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DiscountStrategy</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A5D6A7"/>
                </a:solidFill>
                <a:latin typeface="Consolas"/>
              </a:rPr>
              <a:t>"regular"</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NoDiscount</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A5D6A7"/>
                </a:solidFill>
                <a:latin typeface="Consolas"/>
              </a:rPr>
              <a:t>"member"</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PercentDiscount</a:t>
            </a:r>
            <a:r>
              <a:rPr sz="700" i="0">
                <a:solidFill>
                  <a:srgbClr val="E6EDF3"/>
                </a:solidFill>
                <a:latin typeface="Consolas"/>
              </a:rPr>
              <a:t>(</a:t>
            </a:r>
            <a:r>
              <a:rPr sz="700" i="0">
                <a:solidFill>
                  <a:srgbClr val="F9C97A"/>
                </a:solidFill>
                <a:latin typeface="Consolas"/>
              </a:rPr>
              <a:t>5</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A5D6A7"/>
                </a:solidFill>
                <a:latin typeface="Consolas"/>
              </a:rPr>
              <a:t>"vip"</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PercentDiscount</a:t>
            </a:r>
            <a:r>
              <a:rPr sz="700" i="0">
                <a:solidFill>
                  <a:srgbClr val="E6EDF3"/>
                </a:solidFill>
                <a:latin typeface="Consolas"/>
              </a:rPr>
              <a:t>(</a:t>
            </a:r>
            <a:r>
              <a:rPr sz="700" i="0">
                <a:solidFill>
                  <a:srgbClr val="F9C97A"/>
                </a:solidFill>
                <a:latin typeface="Consolas"/>
              </a:rPr>
              <a:t>10</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get_discount</a:t>
            </a:r>
            <a:r>
              <a:rPr sz="700" i="0">
                <a:solidFill>
                  <a:srgbClr val="E6EDF3"/>
                </a:solidFill>
                <a:latin typeface="Consolas"/>
              </a:rPr>
              <a:t>(</a:t>
            </a:r>
            <a:r>
              <a:rPr sz="700" i="0">
                <a:solidFill>
                  <a:srgbClr val="E6EDF3"/>
                </a:solidFill>
                <a:latin typeface="Consolas"/>
              </a:rPr>
              <a:t>customer_type</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&gt;</a:t>
            </a:r>
            <a:r>
              <a:rPr sz="700" i="0">
                <a:solidFill>
                  <a:srgbClr val="E6EDF3"/>
                </a:solidFill>
                <a:latin typeface="Consolas"/>
              </a:rPr>
              <a:t> </a:t>
            </a:r>
            <a:r>
              <a:rPr sz="700" i="0">
                <a:solidFill>
                  <a:srgbClr val="7FDBCA"/>
                </a:solidFill>
                <a:latin typeface="Consolas"/>
              </a:rPr>
              <a:t>DiscountStrategy</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if</a:t>
            </a:r>
            <a:r>
              <a:rPr sz="700" i="0">
                <a:solidFill>
                  <a:srgbClr val="E6EDF3"/>
                </a:solidFill>
                <a:latin typeface="Consolas"/>
              </a:rPr>
              <a:t> </a:t>
            </a:r>
            <a:r>
              <a:rPr sz="700" i="0">
                <a:solidFill>
                  <a:srgbClr val="E6EDF3"/>
                </a:solidFill>
                <a:latin typeface="Consolas"/>
              </a:rPr>
              <a:t>customer_type</a:t>
            </a:r>
            <a:r>
              <a:rPr sz="700" i="0">
                <a:solidFill>
                  <a:srgbClr val="E6EDF3"/>
                </a:solidFill>
                <a:latin typeface="Consolas"/>
              </a:rPr>
              <a:t> </a:t>
            </a:r>
            <a:r>
              <a:rPr sz="700" i="0">
                <a:solidFill>
                  <a:srgbClr val="FF8E6E"/>
                </a:solidFill>
                <a:latin typeface="Consolas"/>
              </a:rPr>
              <a:t>not</a:t>
            </a:r>
            <a:r>
              <a:rPr sz="700" i="0">
                <a:solidFill>
                  <a:srgbClr val="E6EDF3"/>
                </a:solidFill>
                <a:latin typeface="Consolas"/>
              </a:rPr>
              <a:t> </a:t>
            </a:r>
            <a:r>
              <a:rPr sz="700" i="0">
                <a:solidFill>
                  <a:srgbClr val="FF8E6E"/>
                </a:solidFill>
                <a:latin typeface="Consolas"/>
              </a:rPr>
              <a:t>in</a:t>
            </a:r>
            <a:r>
              <a:rPr sz="700" i="0">
                <a:solidFill>
                  <a:srgbClr val="E6EDF3"/>
                </a:solidFill>
                <a:latin typeface="Consolas"/>
              </a:rPr>
              <a:t> </a:t>
            </a:r>
            <a:r>
              <a:rPr sz="700" i="0">
                <a:solidFill>
                  <a:srgbClr val="7FDBCA"/>
                </a:solidFill>
                <a:latin typeface="Consolas"/>
              </a:rPr>
              <a:t>DISCOUNTS</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raise</a:t>
            </a:r>
            <a:r>
              <a:rPr sz="700" i="0">
                <a:solidFill>
                  <a:srgbClr val="E6EDF3"/>
                </a:solidFill>
                <a:latin typeface="Consolas"/>
              </a:rPr>
              <a:t> </a:t>
            </a:r>
            <a:r>
              <a:rPr sz="700" i="0">
                <a:solidFill>
                  <a:srgbClr val="7FDBCA"/>
                </a:solidFill>
                <a:latin typeface="Consolas"/>
              </a:rPr>
              <a:t>ValueError</a:t>
            </a:r>
            <a:r>
              <a:rPr sz="700" i="0">
                <a:solidFill>
                  <a:srgbClr val="E6EDF3"/>
                </a:solidFill>
                <a:latin typeface="Consolas"/>
              </a:rPr>
              <a:t>(</a:t>
            </a:r>
            <a:r>
              <a:rPr sz="700" i="0">
                <a:solidFill>
                  <a:srgbClr val="A5D6A7"/>
                </a:solidFill>
                <a:latin typeface="Consolas"/>
              </a:rPr>
              <a:t>"Tipe customer tidak dikenal"</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7FDBCA"/>
                </a:solidFill>
                <a:latin typeface="Consolas"/>
              </a:rPr>
              <a:t>DISCOUNTS</a:t>
            </a:r>
            <a:r>
              <a:rPr sz="700" i="0">
                <a:solidFill>
                  <a:srgbClr val="E6EDF3"/>
                </a:solidFill>
                <a:latin typeface="Consolas"/>
              </a:rPr>
              <a:t>[</a:t>
            </a:r>
            <a:r>
              <a:rPr sz="700" i="0">
                <a:solidFill>
                  <a:srgbClr val="E6EDF3"/>
                </a:solidFill>
                <a:latin typeface="Consolas"/>
              </a:rPr>
              <a:t>customer_type</a:t>
            </a:r>
            <a:r>
              <a:rPr sz="700" i="0">
                <a:solidFill>
                  <a:srgbClr val="E6EDF3"/>
                </a:solidFill>
                <a:latin typeface="Consolas"/>
              </a:rPr>
              <a:t>]</a:t>
            </a:r>
          </a:p>
        </p:txBody>
      </p:sp>
      <p:sp>
        <p:nvSpPr>
          <p:cNvPr id="29" name="Box 12"/>
          <p:cNvSpPr/>
          <p:nvPr/>
        </p:nvSpPr>
        <p:spPr>
          <a:xfrm>
            <a:off x="704088" y="3311271"/>
            <a:ext cx="472744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312664" y="34747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997071"/>
            <a:ext cx="4727448" cy="450342"/>
          </a:xfrm>
          <a:prstGeom prst="roundRect">
            <a:avLst>
              <a:gd name="adj" fmla="val 1015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312664" y="41033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Text 17"/>
          <p:cNvSpPr txBox="1"/>
          <p:nvPr/>
        </p:nvSpPr>
        <p:spPr>
          <a:xfrm>
            <a:off x="5806440" y="157276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Satu class per aturan diskon</a:t>
            </a:r>
          </a:p>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DISCOUNTS</a:t>
            </a:r>
            <a:r>
              <a:rPr sz="900" i="0" b="0">
                <a:solidFill>
                  <a:srgbClr val="434343"/>
                </a:solidFill>
                <a:latin typeface="Inter"/>
              </a:rPr>
              <a:t> memetakan tipe customer ke strategy</a:t>
            </a:r>
          </a:p>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get_discount()</a:t>
            </a:r>
            <a:r>
              <a:rPr sz="900" i="0" b="0">
                <a:solidFill>
                  <a:srgbClr val="434343"/>
                </a:solidFill>
                <a:latin typeface="Inter"/>
              </a:rPr>
              <a:t> memilih strategy, error kalau tipe tidak dikenal</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Hapus if/elif diskon dari </a:t>
            </a:r>
            <a:r>
              <a:rPr sz="900" i="0" b="0">
                <a:solidFill>
                  <a:srgbClr val="B5482A"/>
                </a:solidFill>
                <a:latin typeface="Consolas"/>
              </a:rPr>
              <a:t>main.py</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Text 20"/>
          <p:cNvSpPr txBox="1"/>
          <p:nvPr/>
        </p:nvSpPr>
        <p:spPr>
          <a:xfrm>
            <a:off x="5806440" y="3813048"/>
            <a:ext cx="25420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anchor="t" lIns="45720" rIns="45720">
            <a:spAutoFit/>
          </a:bodyPr>
          <a:lstStyle/>
          <a:p>
            <a:pPr algn="l">
              <a:lnSpc>
                <a:spcPct val="115000"/>
              </a:lnSpc>
              <a:spcAft>
                <a:spcPts val="400"/>
              </a:spcAft>
            </a:pPr>
            <a:r>
              <a:rPr sz="900" i="0" b="0">
                <a:solidFill>
                  <a:srgbClr val="B5482A"/>
                </a:solidFill>
                <a:latin typeface="Consolas"/>
              </a:rPr>
              <a:t>get_discount("vip").discount(1_000_000)</a:t>
            </a:r>
            <a:r>
              <a:rPr sz="900" i="0" b="0">
                <a:solidFill>
                  <a:srgbClr val="434343"/>
                </a:solidFill>
                <a:latin typeface="Inter"/>
              </a:rPr>
              <a:t> → </a:t>
            </a:r>
            <a:r>
              <a:rPr sz="900" i="0" b="0">
                <a:solidFill>
                  <a:srgbClr val="B5482A"/>
                </a:solidFill>
                <a:latin typeface="Consolas"/>
              </a:rPr>
              <a:t>100000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5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repository.py: Repository</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4805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after/repository.py</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120640" cy="2980944"/>
          </a:xfrm>
          <a:prstGeom prst="rect">
            <a:avLst/>
          </a:prstGeom>
          <a:noFill/>
        </p:spPr>
        <p:txBody>
          <a:bodyPr wrap="none" lIns="146304" rIns="146304" tIns="91440" bIns="54864">
            <a:spAutoFit/>
          </a:bodyPr>
          <a:lstStyle/>
          <a:p>
            <a:pPr>
              <a:lnSpc>
                <a:spcPts val="800"/>
              </a:lnSpc>
              <a:spcAft>
                <a:spcPts val="0"/>
              </a:spcAft>
            </a:pPr>
            <a:r>
              <a:rPr sz="650" i="0">
                <a:solidFill>
                  <a:srgbClr val="FF8E6E"/>
                </a:solidFill>
                <a:latin typeface="Consolas"/>
              </a:rPr>
              <a:t>class</a:t>
            </a:r>
            <a:r>
              <a:rPr sz="650" i="0">
                <a:solidFill>
                  <a:srgbClr val="E6EDF3"/>
                </a:solidFill>
                <a:latin typeface="Consolas"/>
              </a:rPr>
              <a:t> </a:t>
            </a:r>
            <a:r>
              <a:rPr sz="650" i="0">
                <a:solidFill>
                  <a:srgbClr val="7FDBCA"/>
                </a:solidFill>
                <a:latin typeface="Consolas"/>
              </a:rPr>
              <a:t>OrderRepository</a:t>
            </a:r>
            <a:r>
              <a:rPr sz="650" i="0">
                <a:solidFill>
                  <a:srgbClr val="E6EDF3"/>
                </a:solidFill>
                <a:latin typeface="Consolas"/>
              </a:rPr>
              <a:t>(</a:t>
            </a:r>
            <a:r>
              <a:rPr sz="650" i="0">
                <a:solidFill>
                  <a:srgbClr val="7FDBCA"/>
                </a:solidFill>
                <a:latin typeface="Consolas"/>
              </a:rPr>
              <a:t>Protocol</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add</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get</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order_id</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int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FF8E6E"/>
                </a:solidFill>
                <a:latin typeface="Consolas"/>
              </a:rPr>
              <a:t>None</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FF8E6E"/>
                </a:solidFill>
                <a:latin typeface="Consolas"/>
              </a:rPr>
              <a:t>class</a:t>
            </a:r>
            <a:r>
              <a:rPr sz="650" i="0">
                <a:solidFill>
                  <a:srgbClr val="E6EDF3"/>
                </a:solidFill>
                <a:latin typeface="Consolas"/>
              </a:rPr>
              <a:t> </a:t>
            </a:r>
            <a:r>
              <a:rPr sz="650" i="0">
                <a:solidFill>
                  <a:srgbClr val="7FDBCA"/>
                </a:solidFill>
                <a:latin typeface="Consolas"/>
              </a:rPr>
              <a:t>SqliteOrderRepository</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__init__</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path</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str</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conn</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sqlite3</a:t>
            </a:r>
            <a:r>
              <a:rPr sz="650" i="0">
                <a:solidFill>
                  <a:srgbClr val="E6EDF3"/>
                </a:solidFill>
                <a:latin typeface="Consolas"/>
              </a:rPr>
              <a:t>.</a:t>
            </a:r>
            <a:r>
              <a:rPr sz="650" i="0">
                <a:solidFill>
                  <a:srgbClr val="E6EDF3"/>
                </a:solidFill>
                <a:latin typeface="Consolas"/>
              </a:rPr>
              <a:t>connect</a:t>
            </a:r>
            <a:r>
              <a:rPr sz="650" i="0">
                <a:solidFill>
                  <a:srgbClr val="E6EDF3"/>
                </a:solidFill>
                <a:latin typeface="Consolas"/>
              </a:rPr>
              <a:t>(</a:t>
            </a:r>
            <a:r>
              <a:rPr sz="650" i="0">
                <a:solidFill>
                  <a:srgbClr val="E6EDF3"/>
                </a:solidFill>
                <a:latin typeface="Consolas"/>
              </a:rPr>
              <a:t>path</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check_same_thread</a:t>
            </a:r>
            <a:r>
              <a:rPr sz="650" i="0">
                <a:solidFill>
                  <a:srgbClr val="E6EDF3"/>
                </a:solidFill>
                <a:latin typeface="Consolas"/>
              </a:rPr>
              <a:t>=</a:t>
            </a:r>
            <a:r>
              <a:rPr sz="650" i="0">
                <a:solidFill>
                  <a:srgbClr val="FF8E6E"/>
                </a:solidFill>
                <a:latin typeface="Consolas"/>
              </a:rPr>
              <a:t>False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add</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cur</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conn</a:t>
            </a:r>
            <a:r>
              <a:rPr sz="650" i="0">
                <a:solidFill>
                  <a:srgbClr val="E6EDF3"/>
                </a:solidFill>
                <a:latin typeface="Consolas"/>
              </a:rPr>
              <a:t>.</a:t>
            </a:r>
            <a:r>
              <a:rPr sz="650" i="0">
                <a:solidFill>
                  <a:srgbClr val="E6EDF3"/>
                </a:solidFill>
                <a:latin typeface="Consolas"/>
              </a:rPr>
              <a:t>execute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"INSERT INTO orders (customer, customer_type, subtotal, total) VALUES (?, ?, ?, ?)"</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order</a:t>
            </a:r>
            <a:r>
              <a:rPr sz="650" i="0">
                <a:solidFill>
                  <a:srgbClr val="E6EDF3"/>
                </a:solidFill>
                <a:latin typeface="Consolas"/>
              </a:rPr>
              <a:t>[</a:t>
            </a:r>
            <a:r>
              <a:rPr sz="650" i="0">
                <a:solidFill>
                  <a:srgbClr val="A5D6A7"/>
                </a:solidFill>
                <a:latin typeface="Consolas"/>
              </a:rPr>
              <a:t>"customer"</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A5D6A7"/>
                </a:solidFill>
                <a:latin typeface="Consolas"/>
              </a:rPr>
              <a:t>"customer_type"</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A5D6A7"/>
                </a:solidFill>
                <a:latin typeface="Consolas"/>
              </a:rPr>
              <a:t>"subtotal"</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A5D6A7"/>
                </a:solidFill>
                <a:latin typeface="Consolas"/>
              </a:rPr>
              <a:t>"total"</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conn</a:t>
            </a:r>
            <a:r>
              <a:rPr sz="650" i="0">
                <a:solidFill>
                  <a:srgbClr val="E6EDF3"/>
                </a:solidFill>
                <a:latin typeface="Consolas"/>
              </a:rPr>
              <a:t>.</a:t>
            </a:r>
            <a:r>
              <a:rPr sz="650" i="0">
                <a:solidFill>
                  <a:srgbClr val="E6EDF3"/>
                </a:solidFill>
                <a:latin typeface="Consolas"/>
              </a:rPr>
              <a:t>commit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return</a:t>
            </a:r>
            <a:r>
              <a:rPr sz="650" i="0">
                <a:solidFill>
                  <a:srgbClr val="E6EDF3"/>
                </a:solidFill>
                <a:latin typeface="Consolas"/>
              </a:rPr>
              <a:t> </a:t>
            </a:r>
            <a:r>
              <a:rPr sz="650" i="0">
                <a:solidFill>
                  <a:srgbClr val="E6EDF3"/>
                </a:solidFill>
                <a:latin typeface="Consolas"/>
              </a:rPr>
              <a:t>{</a:t>
            </a:r>
            <a:r>
              <a:rPr sz="650" i="0">
                <a:solidFill>
                  <a:srgbClr val="A5D6A7"/>
                </a:solidFill>
                <a:latin typeface="Consolas"/>
              </a:rPr>
              <a:t>"id"</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cur</a:t>
            </a:r>
            <a:r>
              <a:rPr sz="650" i="0">
                <a:solidFill>
                  <a:srgbClr val="E6EDF3"/>
                </a:solidFill>
                <a:latin typeface="Consolas"/>
              </a:rPr>
              <a:t>.</a:t>
            </a:r>
            <a:r>
              <a:rPr sz="650" i="0">
                <a:solidFill>
                  <a:srgbClr val="E6EDF3"/>
                </a:solidFill>
                <a:latin typeface="Consolas"/>
              </a:rPr>
              <a:t>lastrowid</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order</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FF8E6E"/>
                </a:solidFill>
                <a:latin typeface="Consolas"/>
              </a:rPr>
              <a:t>class</a:t>
            </a:r>
            <a:r>
              <a:rPr sz="650" i="0">
                <a:solidFill>
                  <a:srgbClr val="E6EDF3"/>
                </a:solidFill>
                <a:latin typeface="Consolas"/>
              </a:rPr>
              <a:t> </a:t>
            </a:r>
            <a:r>
              <a:rPr sz="650" i="0">
                <a:solidFill>
                  <a:srgbClr val="7FDBCA"/>
                </a:solidFill>
                <a:latin typeface="Consolas"/>
              </a:rPr>
              <a:t>InMemoryOrderRepository</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add</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saved</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A5D6A7"/>
                </a:solidFill>
                <a:latin typeface="Consolas"/>
              </a:rPr>
              <a:t>"id"</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len</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rows</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F9C97A"/>
                </a:solidFill>
                <a:latin typeface="Consolas"/>
              </a:rPr>
              <a:t>1</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order</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rows</a:t>
            </a:r>
            <a:r>
              <a:rPr sz="650" i="0">
                <a:solidFill>
                  <a:srgbClr val="E6EDF3"/>
                </a:solidFill>
                <a:latin typeface="Consolas"/>
              </a:rPr>
              <a:t>[</a:t>
            </a:r>
            <a:r>
              <a:rPr sz="650" i="0">
                <a:solidFill>
                  <a:srgbClr val="E6EDF3"/>
                </a:solidFill>
                <a:latin typeface="Consolas"/>
              </a:rPr>
              <a:t>saved</a:t>
            </a:r>
            <a:r>
              <a:rPr sz="650" i="0">
                <a:solidFill>
                  <a:srgbClr val="E6EDF3"/>
                </a:solidFill>
                <a:latin typeface="Consolas"/>
              </a:rPr>
              <a:t>[</a:t>
            </a:r>
            <a:r>
              <a:rPr sz="650" i="0">
                <a:solidFill>
                  <a:srgbClr val="A5D6A7"/>
                </a:solidFill>
                <a:latin typeface="Consolas"/>
              </a:rPr>
              <a:t>"id"</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saved</a:t>
            </a:r>
          </a:p>
          <a:p>
            <a:pPr>
              <a:lnSpc>
                <a:spcPts val="800"/>
              </a:lnSpc>
              <a:spcAft>
                <a:spcPts val="0"/>
              </a:spcAft>
            </a:pPr>
            <a:r>
              <a:rPr sz="650" i="0">
                <a:solidFill>
                  <a:srgbClr val="E6EDF3"/>
                </a:solidFill>
                <a:latin typeface="Consolas"/>
              </a:rPr>
              <a:t>        </a:t>
            </a:r>
            <a:r>
              <a:rPr sz="650" i="0">
                <a:solidFill>
                  <a:srgbClr val="FF8E6E"/>
                </a:solidFill>
                <a:latin typeface="Consolas"/>
              </a:rPr>
              <a:t>return</a:t>
            </a:r>
            <a:r>
              <a:rPr sz="650" i="0">
                <a:solidFill>
                  <a:srgbClr val="E6EDF3"/>
                </a:solidFill>
                <a:latin typeface="Consolas"/>
              </a:rPr>
              <a:t> </a:t>
            </a:r>
            <a:r>
              <a:rPr sz="650" i="0">
                <a:solidFill>
                  <a:srgbClr val="E6EDF3"/>
                </a:solidFill>
                <a:latin typeface="Consolas"/>
              </a:rPr>
              <a:t>saved</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p:txBody>
      </p:sp>
      <p:sp>
        <p:nvSpPr>
          <p:cNvPr id="29" name="Box 12"/>
          <p:cNvSpPr/>
          <p:nvPr/>
        </p:nvSpPr>
        <p:spPr>
          <a:xfrm>
            <a:off x="704088" y="2230120"/>
            <a:ext cx="4956048" cy="1213104"/>
          </a:xfrm>
          <a:prstGeom prst="roundRect">
            <a:avLst>
              <a:gd name="adj" fmla="val 376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541264" y="2717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3652520"/>
            <a:ext cx="4956048" cy="603503"/>
          </a:xfrm>
          <a:prstGeom prst="roundRect">
            <a:avLst>
              <a:gd name="adj" fmla="val 757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541264" y="3835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5897879" y="1481328"/>
            <a:ext cx="25877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Text 17"/>
          <p:cNvSpPr txBox="1"/>
          <p:nvPr/>
        </p:nvSpPr>
        <p:spPr>
          <a:xfrm>
            <a:off x="6035040" y="157276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5" name="Text 18"/>
          <p:cNvSpPr txBox="1"/>
          <p:nvPr/>
        </p:nvSpPr>
        <p:spPr>
          <a:xfrm>
            <a:off x="6035040" y="1892808"/>
            <a:ext cx="23134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Pindahkan semua SQL dari </a:t>
            </a:r>
            <a:r>
              <a:rPr sz="900" i="0" b="0">
                <a:solidFill>
                  <a:srgbClr val="B5482A"/>
                </a:solidFill>
                <a:latin typeface="Consolas"/>
              </a:rPr>
              <a:t>main.py</a:t>
            </a:r>
            <a:r>
              <a:rPr sz="900" i="0" b="0">
                <a:solidFill>
                  <a:srgbClr val="434343"/>
                </a:solidFill>
                <a:latin typeface="Inter"/>
              </a:rPr>
              <a:t> ke </a:t>
            </a:r>
            <a:r>
              <a:rPr sz="900" i="0" b="0">
                <a:solidFill>
                  <a:srgbClr val="B5482A"/>
                </a:solidFill>
                <a:latin typeface="Consolas"/>
              </a:rPr>
              <a:t>SqliteOrderRepository</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Buat </a:t>
            </a:r>
            <a:r>
              <a:rPr sz="900" i="0" b="0">
                <a:solidFill>
                  <a:srgbClr val="B5482A"/>
                </a:solidFill>
                <a:latin typeface="Consolas"/>
              </a:rPr>
              <a:t>InMemoryOrderRepository</a:t>
            </a:r>
            <a:r>
              <a:rPr sz="900" i="0" b="0">
                <a:solidFill>
                  <a:srgbClr val="434343"/>
                </a:solidFill>
                <a:latin typeface="Inter"/>
              </a:rPr>
              <a:t> untuk test</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Keduanya punya method yang sama: </a:t>
            </a:r>
            <a:r>
              <a:rPr sz="900" i="0" b="0">
                <a:solidFill>
                  <a:srgbClr val="B5482A"/>
                </a:solidFill>
                <a:latin typeface="Consolas"/>
              </a:rPr>
              <a:t>add()</a:t>
            </a:r>
            <a:r>
              <a:rPr sz="900" i="0" b="0">
                <a:solidFill>
                  <a:srgbClr val="434343"/>
                </a:solidFill>
                <a:latin typeface="Inter"/>
              </a:rPr>
              <a:t> dan </a:t>
            </a:r>
            <a:r>
              <a:rPr sz="900" i="0" b="0">
                <a:solidFill>
                  <a:srgbClr val="B5482A"/>
                </a:solidFill>
                <a:latin typeface="Consolas"/>
              </a:rPr>
              <a:t>get()</a:t>
            </a:r>
          </a:p>
          <a:p>
            <a:pPr algn="l">
              <a:lnSpc>
                <a:spcPct val="115000"/>
              </a:lnSpc>
              <a:spcAft>
                <a:spcPts val="0"/>
              </a:spcAft>
            </a:pPr>
            <a:r>
              <a:rPr sz="540"/>
              <a:t/>
            </a:r>
          </a:p>
          <a:p>
            <a:pPr algn="l">
              <a:lnSpc>
                <a:spcPct val="115000"/>
              </a:lnSpc>
              <a:spcAft>
                <a:spcPts val="400"/>
              </a:spcAft>
            </a:pPr>
            <a:r>
              <a:rPr sz="900" i="0" b="0">
                <a:solidFill>
                  <a:srgbClr val="434343"/>
                </a:solidFill>
                <a:latin typeface="Inter"/>
              </a:rPr>
              <a:t>Lengkapnya (termasuk </a:t>
            </a:r>
            <a:r>
              <a:rPr sz="900" i="0" b="0">
                <a:solidFill>
                  <a:srgbClr val="B5482A"/>
                </a:solidFill>
                <a:latin typeface="Consolas"/>
              </a:rPr>
              <a:t>get()</a:t>
            </a:r>
            <a:r>
              <a:rPr sz="900" i="0" b="0">
                <a:solidFill>
                  <a:srgbClr val="434343"/>
                </a:solidFill>
                <a:latin typeface="Inter"/>
              </a:rPr>
              <a:t>) ada di </a:t>
            </a:r>
            <a:r>
              <a:rPr sz="900" i="0" b="0">
                <a:solidFill>
                  <a:srgbClr val="B5482A"/>
                </a:solidFill>
                <a:latin typeface="Consolas"/>
              </a:rPr>
              <a:t>after/repository.py</a:t>
            </a:r>
            <a:r>
              <a:rPr sz="900" i="0" b="0">
                <a:solidFill>
                  <a:srgbClr val="434343"/>
                </a:solidFill>
                <a:latin typeface="Inter"/>
              </a:rPr>
              <a:t>.</a:t>
            </a:r>
          </a:p>
        </p:txBody>
      </p:sp>
      <p:sp>
        <p:nvSpPr>
          <p:cNvPr id="36" name="Box 19"/>
          <p:cNvSpPr/>
          <p:nvPr/>
        </p:nvSpPr>
        <p:spPr>
          <a:xfrm>
            <a:off x="5897879" y="3721608"/>
            <a:ext cx="25877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Text 20"/>
          <p:cNvSpPr txBox="1"/>
          <p:nvPr/>
        </p:nvSpPr>
        <p:spPr>
          <a:xfrm>
            <a:off x="6035040" y="381304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8" name="Text 21"/>
          <p:cNvSpPr txBox="1"/>
          <p:nvPr/>
        </p:nvSpPr>
        <p:spPr>
          <a:xfrm>
            <a:off x="6035040" y="4133088"/>
            <a:ext cx="2313432" cy="475488"/>
          </a:xfrm>
          <a:prstGeom prst="rect">
            <a:avLst/>
          </a:prstGeom>
          <a:noFill/>
        </p:spPr>
        <p:txBody>
          <a:bodyPr wrap="square" anchor="t" lIns="45720" rIns="45720">
            <a:spAutoFit/>
          </a:bodyPr>
          <a:lstStyle/>
          <a:p>
            <a:pPr algn="l">
              <a:lnSpc>
                <a:spcPct val="115000"/>
              </a:lnSpc>
              <a:spcAft>
                <a:spcPts val="400"/>
              </a:spcAft>
            </a:pPr>
            <a:r>
              <a:rPr sz="900" i="0" b="0">
                <a:solidFill>
                  <a:srgbClr val="434343"/>
                </a:solidFill>
                <a:latin typeface="Inter"/>
              </a:rPr>
              <a:t>Tidak ada lagi </a:t>
            </a:r>
            <a:r>
              <a:rPr sz="900" i="0" b="0">
                <a:solidFill>
                  <a:srgbClr val="B5482A"/>
                </a:solidFill>
                <a:latin typeface="Consolas"/>
              </a:rPr>
              <a:t>sqlite3</a:t>
            </a:r>
            <a:r>
              <a:rPr sz="900" i="0" b="0">
                <a:solidFill>
                  <a:srgbClr val="434343"/>
                </a:solidFill>
                <a:latin typeface="Inter"/>
              </a:rPr>
              <a:t> di luar file ini.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6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service.py: Service Layer</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4805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after/service.py</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120640" cy="2980944"/>
          </a:xfrm>
          <a:prstGeom prst="rect">
            <a:avLst/>
          </a:prstGeom>
          <a:noFill/>
        </p:spPr>
        <p:txBody>
          <a:bodyPr wrap="none" lIns="146304" rIns="146304" tIns="91440" bIns="54864">
            <a:spAutoFit/>
          </a:bodyPr>
          <a:lstStyle/>
          <a:p>
            <a:pPr>
              <a:lnSpc>
                <a:spcPts val="800"/>
              </a:lnSpc>
              <a:spcAft>
                <a:spcPts val="0"/>
              </a:spcAft>
            </a:pPr>
            <a:r>
              <a:rPr sz="650" i="0">
                <a:solidFill>
                  <a:srgbClr val="FF8E6E"/>
                </a:solidFill>
                <a:latin typeface="Consolas"/>
              </a:rPr>
              <a:t>class</a:t>
            </a:r>
            <a:r>
              <a:rPr sz="650" i="0">
                <a:solidFill>
                  <a:srgbClr val="E6EDF3"/>
                </a:solidFill>
                <a:latin typeface="Consolas"/>
              </a:rPr>
              <a:t> </a:t>
            </a:r>
            <a:r>
              <a:rPr sz="650" i="0">
                <a:solidFill>
                  <a:srgbClr val="7FDBCA"/>
                </a:solidFill>
                <a:latin typeface="Consolas"/>
              </a:rPr>
              <a:t>OrderService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__init__</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repo</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OrderRepository</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notifier</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Notifier</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repo</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repo</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notifier</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notifier</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place_order</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customer</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str</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customer_type</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str</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items</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list</a:t>
            </a:r>
            <a:r>
              <a:rPr sz="650" i="0">
                <a:solidFill>
                  <a:srgbClr val="E6EDF3"/>
                </a:solidFill>
                <a:latin typeface="Consolas"/>
              </a:rPr>
              <a:t>[</a:t>
            </a:r>
            <a:r>
              <a:rPr sz="650" i="0">
                <a:solidFill>
                  <a:srgbClr val="C3A6FF"/>
                </a:solidFill>
                <a:latin typeface="Consolas"/>
              </a:rPr>
              <a:t>dict</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sum</a:t>
            </a:r>
            <a:r>
              <a:rPr sz="650" i="0">
                <a:solidFill>
                  <a:srgbClr val="E6EDF3"/>
                </a:solidFill>
                <a:latin typeface="Consolas"/>
              </a:rPr>
              <a:t>(</a:t>
            </a:r>
            <a:r>
              <a:rPr sz="650" i="0">
                <a:solidFill>
                  <a:srgbClr val="E6EDF3"/>
                </a:solidFill>
                <a:latin typeface="Consolas"/>
              </a:rPr>
              <a:t>i</a:t>
            </a:r>
            <a:r>
              <a:rPr sz="650" i="0">
                <a:solidFill>
                  <a:srgbClr val="E6EDF3"/>
                </a:solidFill>
                <a:latin typeface="Consolas"/>
              </a:rPr>
              <a:t>[</a:t>
            </a:r>
            <a:r>
              <a:rPr sz="650" i="0">
                <a:solidFill>
                  <a:srgbClr val="A5D6A7"/>
                </a:solidFill>
                <a:latin typeface="Consolas"/>
              </a:rPr>
              <a:t>"price"</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i</a:t>
            </a:r>
            <a:r>
              <a:rPr sz="650" i="0">
                <a:solidFill>
                  <a:srgbClr val="E6EDF3"/>
                </a:solidFill>
                <a:latin typeface="Consolas"/>
              </a:rPr>
              <a:t>[</a:t>
            </a:r>
            <a:r>
              <a:rPr sz="650" i="0">
                <a:solidFill>
                  <a:srgbClr val="A5D6A7"/>
                </a:solidFill>
                <a:latin typeface="Consolas"/>
              </a:rPr>
              <a:t>"qty"</a:t>
            </a:r>
            <a:r>
              <a:rPr sz="650" i="0">
                <a:solidFill>
                  <a:srgbClr val="E6EDF3"/>
                </a:solidFill>
                <a:latin typeface="Consolas"/>
              </a:rPr>
              <a:t>]</a:t>
            </a:r>
            <a:r>
              <a:rPr sz="650" i="0">
                <a:solidFill>
                  <a:srgbClr val="E6EDF3"/>
                </a:solidFill>
                <a:latin typeface="Consolas"/>
              </a:rPr>
              <a:t> </a:t>
            </a:r>
            <a:r>
              <a:rPr sz="650" i="0">
                <a:solidFill>
                  <a:srgbClr val="FF8E6E"/>
                </a:solidFill>
                <a:latin typeface="Consolas"/>
              </a:rPr>
              <a:t>for</a:t>
            </a:r>
            <a:r>
              <a:rPr sz="650" i="0">
                <a:solidFill>
                  <a:srgbClr val="E6EDF3"/>
                </a:solidFill>
                <a:latin typeface="Consolas"/>
              </a:rPr>
              <a:t> </a:t>
            </a:r>
            <a:r>
              <a:rPr sz="650" i="0">
                <a:solidFill>
                  <a:srgbClr val="E6EDF3"/>
                </a:solidFill>
                <a:latin typeface="Consolas"/>
              </a:rPr>
              <a:t>i</a:t>
            </a:r>
            <a:r>
              <a:rPr sz="650" i="0">
                <a:solidFill>
                  <a:srgbClr val="E6EDF3"/>
                </a:solidFill>
                <a:latin typeface="Consolas"/>
              </a:rPr>
              <a:t> </a:t>
            </a:r>
            <a:r>
              <a:rPr sz="650" i="0">
                <a:solidFill>
                  <a:srgbClr val="FF8E6E"/>
                </a:solidFill>
                <a:latin typeface="Consolas"/>
              </a:rPr>
              <a:t>in</a:t>
            </a:r>
            <a:r>
              <a:rPr sz="650" i="0">
                <a:solidFill>
                  <a:srgbClr val="E6EDF3"/>
                </a:solidFill>
                <a:latin typeface="Consolas"/>
              </a:rPr>
              <a:t> </a:t>
            </a:r>
            <a:r>
              <a:rPr sz="650" i="0">
                <a:solidFill>
                  <a:srgbClr val="E6EDF3"/>
                </a:solidFill>
                <a:latin typeface="Consolas"/>
              </a:rPr>
              <a:t>items</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get_discount</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discount</a:t>
            </a:r>
            <a:r>
              <a:rPr sz="650" i="0">
                <a:solidFill>
                  <a:srgbClr val="E6EDF3"/>
                </a:solidFill>
                <a:latin typeface="Consolas"/>
              </a:rPr>
              <a:t>(</a:t>
            </a:r>
            <a:r>
              <a:rPr sz="650" i="0">
                <a:solidFill>
                  <a:srgbClr val="E6EDF3"/>
                </a:solidFill>
                <a:latin typeface="Consolas"/>
              </a:rPr>
              <a:t>subtotal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repo</a:t>
            </a:r>
            <a:r>
              <a:rPr sz="650" i="0">
                <a:solidFill>
                  <a:srgbClr val="E6EDF3"/>
                </a:solidFill>
                <a:latin typeface="Consolas"/>
              </a:rPr>
              <a:t>.</a:t>
            </a:r>
            <a:r>
              <a:rPr sz="650" i="0">
                <a:solidFill>
                  <a:srgbClr val="E6EDF3"/>
                </a:solidFill>
                <a:latin typeface="Consolas"/>
              </a:rPr>
              <a:t>add</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"customer"</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customer</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"customer_type"</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customer_type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"subtotal"</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subtotal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A5D6A7"/>
                </a:solidFill>
                <a:latin typeface="Consolas"/>
              </a:rPr>
              <a:t>"total"</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total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notifier</a:t>
            </a:r>
            <a:r>
              <a:rPr sz="650" i="0">
                <a:solidFill>
                  <a:srgbClr val="E6EDF3"/>
                </a:solidFill>
                <a:latin typeface="Consolas"/>
              </a:rPr>
              <a:t>.</a:t>
            </a:r>
            <a:r>
              <a:rPr sz="650" i="0">
                <a:solidFill>
                  <a:srgbClr val="E6EDF3"/>
                </a:solidFill>
                <a:latin typeface="Consolas"/>
              </a:rPr>
              <a:t>send</a:t>
            </a:r>
            <a:r>
              <a:rPr sz="650" i="0">
                <a:solidFill>
                  <a:srgbClr val="E6EDF3"/>
                </a:solidFill>
                <a:latin typeface="Consolas"/>
              </a:rPr>
              <a:t>(</a:t>
            </a:r>
            <a:r>
              <a:rPr sz="650" i="0">
                <a:solidFill>
                  <a:srgbClr val="E6EDF3"/>
                </a:solidFill>
                <a:latin typeface="Consolas"/>
              </a:rPr>
              <a:t>customer</a:t>
            </a:r>
            <a:r>
              <a:rPr sz="650" i="0">
                <a:solidFill>
                  <a:srgbClr val="E6EDF3"/>
                </a:solidFill>
                <a:latin typeface="Consolas"/>
              </a:rPr>
              <a:t>,</a:t>
            </a:r>
            <a:r>
              <a:rPr sz="650" i="0">
                <a:solidFill>
                  <a:srgbClr val="E6EDF3"/>
                </a:solidFill>
                <a:latin typeface="Consolas"/>
              </a:rPr>
              <a:t> </a:t>
            </a:r>
            <a:r>
              <a:rPr sz="650" i="0">
                <a:solidFill>
                  <a:srgbClr val="A5D6A7"/>
                </a:solidFill>
                <a:latin typeface="Consolas"/>
              </a:rPr>
              <a:t>f"Order #{order['id']} total Rp{total:,}"</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return</a:t>
            </a:r>
            <a:r>
              <a:rPr sz="650" i="0">
                <a:solidFill>
                  <a:srgbClr val="E6EDF3"/>
                </a:solidFill>
                <a:latin typeface="Consolas"/>
              </a:rPr>
              <a:t> </a:t>
            </a:r>
            <a:r>
              <a:rPr sz="650" i="0">
                <a:solidFill>
                  <a:srgbClr val="E6EDF3"/>
                </a:solidFill>
                <a:latin typeface="Consolas"/>
              </a:rPr>
              <a:t>order</a:t>
            </a:r>
          </a:p>
          <a:p>
            <a:pPr>
              <a:lnSpc>
                <a:spcPts val="800"/>
              </a:lnSpc>
              <a:spcAft>
                <a:spcPts val="0"/>
              </a:spcAft>
            </a:pPr>
            <a:r>
              <a:rPr sz="650" i="0">
                <a:solidFill>
                  <a:srgbClr val="E6EDF3"/>
                </a:solidFill>
                <a:latin typeface="Consolas"/>
              </a:rPr>
              <a:t> </a:t>
            </a:r>
          </a:p>
          <a:p>
            <a:pPr>
              <a:lnSpc>
                <a:spcPts val="800"/>
              </a:lnSpc>
              <a:spcAft>
                <a:spcPts val="0"/>
              </a:spcAft>
            </a:pPr>
            <a:r>
              <a:rPr sz="650" i="0">
                <a:solidFill>
                  <a:srgbClr val="E6EDF3"/>
                </a:solidFill>
                <a:latin typeface="Consolas"/>
              </a:rPr>
              <a:t>    </a:t>
            </a: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get_order</a:t>
            </a:r>
            <a:r>
              <a:rPr sz="650" i="0">
                <a:solidFill>
                  <a:srgbClr val="E6EDF3"/>
                </a:solidFill>
                <a:latin typeface="Consolas"/>
              </a:rPr>
              <a:t>(</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order_id</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int</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&gt;</a:t>
            </a:r>
            <a:r>
              <a:rPr sz="650" i="0">
                <a:solidFill>
                  <a:srgbClr val="E6EDF3"/>
                </a:solidFill>
                <a:latin typeface="Consolas"/>
              </a:rPr>
              <a:t> </a:t>
            </a:r>
            <a:r>
              <a:rPr sz="650" i="0">
                <a:solidFill>
                  <a:srgbClr val="C3A6FF"/>
                </a:solidFill>
                <a:latin typeface="Consolas"/>
              </a:rPr>
              <a:t>dict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self</a:t>
            </a:r>
            <a:r>
              <a:rPr sz="650" i="0">
                <a:solidFill>
                  <a:srgbClr val="E6EDF3"/>
                </a:solidFill>
                <a:latin typeface="Consolas"/>
              </a:rPr>
              <a:t>.</a:t>
            </a:r>
            <a:r>
              <a:rPr sz="650" i="0">
                <a:solidFill>
                  <a:srgbClr val="E6EDF3"/>
                </a:solidFill>
                <a:latin typeface="Consolas"/>
              </a:rPr>
              <a:t>repo</a:t>
            </a:r>
            <a:r>
              <a:rPr sz="650" i="0">
                <a:solidFill>
                  <a:srgbClr val="E6EDF3"/>
                </a:solidFill>
                <a:latin typeface="Consolas"/>
              </a:rPr>
              <a:t>.</a:t>
            </a:r>
            <a:r>
              <a:rPr sz="650" i="0">
                <a:solidFill>
                  <a:srgbClr val="E6EDF3"/>
                </a:solidFill>
                <a:latin typeface="Consolas"/>
              </a:rPr>
              <a:t>get</a:t>
            </a:r>
            <a:r>
              <a:rPr sz="650" i="0">
                <a:solidFill>
                  <a:srgbClr val="E6EDF3"/>
                </a:solidFill>
                <a:latin typeface="Consolas"/>
              </a:rPr>
              <a:t>(</a:t>
            </a:r>
            <a:r>
              <a:rPr sz="650" i="0">
                <a:solidFill>
                  <a:srgbClr val="E6EDF3"/>
                </a:solidFill>
                <a:latin typeface="Consolas"/>
              </a:rPr>
              <a:t>order_id</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if</a:t>
            </a:r>
            <a:r>
              <a:rPr sz="650" i="0">
                <a:solidFill>
                  <a:srgbClr val="E6EDF3"/>
                </a:solidFill>
                <a:latin typeface="Consolas"/>
              </a:rPr>
              <a:t> </a:t>
            </a:r>
            <a:r>
              <a:rPr sz="650" i="0">
                <a:solidFill>
                  <a:srgbClr val="E6EDF3"/>
                </a:solidFill>
                <a:latin typeface="Consolas"/>
              </a:rPr>
              <a:t>order</a:t>
            </a:r>
            <a:r>
              <a:rPr sz="650" i="0">
                <a:solidFill>
                  <a:srgbClr val="E6EDF3"/>
                </a:solidFill>
                <a:latin typeface="Consolas"/>
              </a:rPr>
              <a:t> </a:t>
            </a:r>
            <a:r>
              <a:rPr sz="650" i="0">
                <a:solidFill>
                  <a:srgbClr val="FF8E6E"/>
                </a:solidFill>
                <a:latin typeface="Consolas"/>
              </a:rPr>
              <a:t>is</a:t>
            </a:r>
            <a:r>
              <a:rPr sz="650" i="0">
                <a:solidFill>
                  <a:srgbClr val="E6EDF3"/>
                </a:solidFill>
                <a:latin typeface="Consolas"/>
              </a:rPr>
              <a:t> </a:t>
            </a:r>
            <a:r>
              <a:rPr sz="650" i="0">
                <a:solidFill>
                  <a:srgbClr val="FF8E6E"/>
                </a:solidFill>
                <a:latin typeface="Consolas"/>
              </a:rPr>
              <a:t>None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raise</a:t>
            </a:r>
            <a:r>
              <a:rPr sz="650" i="0">
                <a:solidFill>
                  <a:srgbClr val="E6EDF3"/>
                </a:solidFill>
                <a:latin typeface="Consolas"/>
              </a:rPr>
              <a:t> </a:t>
            </a:r>
            <a:r>
              <a:rPr sz="650" i="0">
                <a:solidFill>
                  <a:srgbClr val="7FDBCA"/>
                </a:solidFill>
                <a:latin typeface="Consolas"/>
              </a:rPr>
              <a:t>OrderNotFound</a:t>
            </a:r>
            <a:r>
              <a:rPr sz="650" i="0">
                <a:solidFill>
                  <a:srgbClr val="E6EDF3"/>
                </a:solidFill>
                <a:latin typeface="Consolas"/>
              </a:rPr>
              <a:t>(</a:t>
            </a:r>
            <a:r>
              <a:rPr sz="650" i="0">
                <a:solidFill>
                  <a:srgbClr val="A5D6A7"/>
                </a:solidFill>
                <a:latin typeface="Consolas"/>
              </a:rPr>
              <a:t>"Order tidak ditemukan"</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return</a:t>
            </a:r>
            <a:r>
              <a:rPr sz="650" i="0">
                <a:solidFill>
                  <a:srgbClr val="E6EDF3"/>
                </a:solidFill>
                <a:latin typeface="Consolas"/>
              </a:rPr>
              <a:t> </a:t>
            </a:r>
            <a:r>
              <a:rPr sz="650" i="0">
                <a:solidFill>
                  <a:srgbClr val="E6EDF3"/>
                </a:solidFill>
                <a:latin typeface="Consolas"/>
              </a:rPr>
              <a:t>order</a:t>
            </a:r>
          </a:p>
        </p:txBody>
      </p:sp>
      <p:sp>
        <p:nvSpPr>
          <p:cNvPr id="29" name="Box 12"/>
          <p:cNvSpPr/>
          <p:nvPr/>
        </p:nvSpPr>
        <p:spPr>
          <a:xfrm>
            <a:off x="704088" y="1925320"/>
            <a:ext cx="495604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541264" y="1955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433320"/>
            <a:ext cx="4956048" cy="908304"/>
          </a:xfrm>
          <a:prstGeom prst="roundRect">
            <a:avLst>
              <a:gd name="adj" fmla="val 503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541264" y="2768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5897879" y="1481328"/>
            <a:ext cx="25877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Text 17"/>
          <p:cNvSpPr txBox="1"/>
          <p:nvPr/>
        </p:nvSpPr>
        <p:spPr>
          <a:xfrm>
            <a:off x="6035040" y="157276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5" name="Text 18"/>
          <p:cNvSpPr txBox="1"/>
          <p:nvPr/>
        </p:nvSpPr>
        <p:spPr>
          <a:xfrm>
            <a:off x="6035040" y="1892808"/>
            <a:ext cx="23134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repo</a:t>
            </a:r>
            <a:r>
              <a:rPr sz="900" i="0" b="0">
                <a:solidFill>
                  <a:srgbClr val="434343"/>
                </a:solidFill>
                <a:latin typeface="Inter"/>
              </a:rPr>
              <a:t> dan </a:t>
            </a:r>
            <a:r>
              <a:rPr sz="900" i="0" b="0">
                <a:solidFill>
                  <a:srgbClr val="B5482A"/>
                </a:solidFill>
                <a:latin typeface="Consolas"/>
              </a:rPr>
              <a:t>notifier</a:t>
            </a:r>
            <a:r>
              <a:rPr sz="900" i="0" b="0">
                <a:solidFill>
                  <a:srgbClr val="434343"/>
                </a:solidFill>
                <a:latin typeface="Inter"/>
              </a:rPr>
              <a:t> diterima dari luar lewat </a:t>
            </a:r>
            <a:r>
              <a:rPr sz="900" i="0" b="0">
                <a:solidFill>
                  <a:srgbClr val="B5482A"/>
                </a:solidFill>
                <a:latin typeface="Consolas"/>
              </a:rPr>
              <a:t>__init__</a:t>
            </a:r>
          </a:p>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place_order</a:t>
            </a:r>
            <a:r>
              <a:rPr sz="900" i="0" b="0">
                <a:solidFill>
                  <a:srgbClr val="434343"/>
                </a:solidFill>
                <a:latin typeface="Inter"/>
              </a:rPr>
              <a:t>: hitung subtotal, pakai strategy diskon, simpan lewat repo, kirim lewat notifier</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Error bisnis = exception biasa (</a:t>
            </a:r>
            <a:r>
              <a:rPr sz="900" i="0" b="0">
                <a:solidFill>
                  <a:srgbClr val="B5482A"/>
                </a:solidFill>
                <a:latin typeface="Consolas"/>
              </a:rPr>
              <a:t>OrderNotFound</a:t>
            </a:r>
            <a:r>
              <a:rPr sz="900" i="0" b="0">
                <a:solidFill>
                  <a:srgbClr val="434343"/>
                </a:solidFill>
                <a:latin typeface="Inter"/>
              </a:rPr>
              <a:t>, </a:t>
            </a:r>
            <a:r>
              <a:rPr sz="900" i="0" b="0">
                <a:solidFill>
                  <a:srgbClr val="B5482A"/>
                </a:solidFill>
                <a:latin typeface="Consolas"/>
              </a:rPr>
              <a:t>ValueError</a:t>
            </a:r>
            <a:r>
              <a:rPr sz="900" i="0" b="0">
                <a:solidFill>
                  <a:srgbClr val="434343"/>
                </a:solidFill>
                <a:latin typeface="Inter"/>
              </a:rPr>
              <a:t>)</a:t>
            </a:r>
          </a:p>
          <a:p>
            <a:pPr algn="l">
              <a:lnSpc>
                <a:spcPct val="115000"/>
              </a:lnSpc>
              <a:spcAft>
                <a:spcPts val="0"/>
              </a:spcAft>
            </a:pPr>
            <a:r>
              <a:rPr sz="540"/>
              <a:t/>
            </a:r>
          </a:p>
          <a:p>
            <a:pPr algn="l">
              <a:lnSpc>
                <a:spcPct val="115000"/>
              </a:lnSpc>
              <a:spcAft>
                <a:spcPts val="400"/>
              </a:spcAft>
            </a:pPr>
            <a:r>
              <a:rPr sz="900" i="0" b="0">
                <a:solidFill>
                  <a:srgbClr val="434343"/>
                </a:solidFill>
                <a:latin typeface="Inter"/>
              </a:rPr>
              <a:t>Import-nya hanya </a:t>
            </a:r>
            <a:r>
              <a:rPr sz="900" i="0" b="0">
                <a:solidFill>
                  <a:srgbClr val="B5482A"/>
                </a:solidFill>
                <a:latin typeface="Consolas"/>
              </a:rPr>
              <a:t>discounts</a:t>
            </a:r>
            <a:r>
              <a:rPr sz="900" i="0" b="0">
                <a:solidFill>
                  <a:srgbClr val="434343"/>
                </a:solidFill>
                <a:latin typeface="Inter"/>
              </a:rPr>
              <a:t>, </a:t>
            </a:r>
            <a:r>
              <a:rPr sz="900" i="0" b="0">
                <a:solidFill>
                  <a:srgbClr val="B5482A"/>
                </a:solidFill>
                <a:latin typeface="Consolas"/>
              </a:rPr>
              <a:t>notifiers</a:t>
            </a:r>
            <a:r>
              <a:rPr sz="900" i="0" b="0">
                <a:solidFill>
                  <a:srgbClr val="434343"/>
                </a:solidFill>
                <a:latin typeface="Inter"/>
              </a:rPr>
              <a:t>, </a:t>
            </a:r>
            <a:r>
              <a:rPr sz="900" i="0" b="0">
                <a:solidFill>
                  <a:srgbClr val="B5482A"/>
                </a:solidFill>
                <a:latin typeface="Consolas"/>
              </a:rPr>
              <a:t>repository</a:t>
            </a:r>
            <a:r>
              <a:rPr sz="900" i="0" b="0">
                <a:solidFill>
                  <a:srgbClr val="434343"/>
                </a:solidFill>
                <a:latin typeface="Inter"/>
              </a:rPr>
              <a:t>.</a:t>
            </a:r>
          </a:p>
        </p:txBody>
      </p:sp>
      <p:sp>
        <p:nvSpPr>
          <p:cNvPr id="36" name="Box 19"/>
          <p:cNvSpPr/>
          <p:nvPr/>
        </p:nvSpPr>
        <p:spPr>
          <a:xfrm>
            <a:off x="5897879" y="3721608"/>
            <a:ext cx="25877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7" name="Text 20"/>
          <p:cNvSpPr txBox="1"/>
          <p:nvPr/>
        </p:nvSpPr>
        <p:spPr>
          <a:xfrm>
            <a:off x="6035040" y="381304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8" name="Text 21"/>
          <p:cNvSpPr txBox="1"/>
          <p:nvPr/>
        </p:nvSpPr>
        <p:spPr>
          <a:xfrm>
            <a:off x="6035040" y="4133088"/>
            <a:ext cx="2313432" cy="475488"/>
          </a:xfrm>
          <a:prstGeom prst="rect">
            <a:avLst/>
          </a:prstGeom>
          <a:noFill/>
        </p:spPr>
        <p:txBody>
          <a:bodyPr wrap="square" anchor="t" lIns="45720" rIns="45720">
            <a:spAutoFit/>
          </a:bodyPr>
          <a:lstStyle/>
          <a:p>
            <a:pPr algn="l">
              <a:lnSpc>
                <a:spcPct val="115000"/>
              </a:lnSpc>
              <a:spcAft>
                <a:spcPts val="400"/>
              </a:spcAft>
            </a:pPr>
            <a:r>
              <a:rPr sz="900" i="0" b="0">
                <a:solidFill>
                  <a:srgbClr val="434343"/>
                </a:solidFill>
                <a:latin typeface="Inter"/>
              </a:rPr>
              <a:t>Di file ini tidak ada </a:t>
            </a:r>
            <a:r>
              <a:rPr sz="900" i="0" b="0">
                <a:solidFill>
                  <a:srgbClr val="B5482A"/>
                </a:solidFill>
                <a:latin typeface="Consolas"/>
              </a:rPr>
              <a:t>fastapi</a:t>
            </a:r>
            <a:r>
              <a:rPr sz="900" i="0" b="0">
                <a:solidFill>
                  <a:srgbClr val="434343"/>
                </a:solidFill>
                <a:latin typeface="Inter"/>
              </a:rPr>
              <a:t> maupun </a:t>
            </a:r>
            <a:r>
              <a:rPr sz="900" i="0" b="0">
                <a:solidFill>
                  <a:srgbClr val="B5482A"/>
                </a:solidFill>
                <a:latin typeface="Consolas"/>
              </a:rPr>
              <a:t>sqlite3</a:t>
            </a:r>
            <a:r>
              <a:rPr sz="900" i="0" b="0">
                <a:solidFill>
                  <a:srgbClr val="434343"/>
                </a:solidFill>
                <a:latin typeface="Inter"/>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7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main.py: Route + Menyiapkan Komponen</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4805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after/main.py</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120640" cy="2980944"/>
          </a:xfrm>
          <a:prstGeom prst="rect">
            <a:avLst/>
          </a:prstGeom>
          <a:noFill/>
        </p:spPr>
        <p:txBody>
          <a:bodyPr wrap="none" lIns="146304" rIns="146304" tIns="91440" bIns="54864">
            <a:spAutoFit/>
          </a:bodyPr>
          <a:lstStyle/>
          <a:p>
            <a:pPr>
              <a:lnSpc>
                <a:spcPts val="900"/>
              </a:lnSpc>
              <a:spcAft>
                <a:spcPts val="0"/>
              </a:spcAft>
            </a:pPr>
            <a:r>
              <a:rPr sz="700" i="0">
                <a:solidFill>
                  <a:srgbClr val="F9C97A"/>
                </a:solidFill>
                <a:latin typeface="Consolas"/>
              </a:rPr>
              <a:t>@lru_cache</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get_order_service</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&gt;</a:t>
            </a:r>
            <a:r>
              <a:rPr sz="700" i="0">
                <a:solidFill>
                  <a:srgbClr val="E6EDF3"/>
                </a:solidFill>
                <a:latin typeface="Consolas"/>
              </a:rPr>
              <a:t> </a:t>
            </a:r>
            <a:r>
              <a:rPr sz="700" i="0">
                <a:solidFill>
                  <a:srgbClr val="7FDBCA"/>
                </a:solidFill>
                <a:latin typeface="Consolas"/>
              </a:rPr>
              <a:t>OrderService</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settings</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get_settings</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7FDBCA"/>
                </a:solidFill>
                <a:latin typeface="Consolas"/>
              </a:rPr>
              <a:t>OrderService</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repo</a:t>
            </a:r>
            <a:r>
              <a:rPr sz="700" i="0">
                <a:solidFill>
                  <a:srgbClr val="E6EDF3"/>
                </a:solidFill>
                <a:latin typeface="Consolas"/>
              </a:rPr>
              <a:t>=</a:t>
            </a:r>
            <a:r>
              <a:rPr sz="700" i="0">
                <a:solidFill>
                  <a:srgbClr val="7FDBCA"/>
                </a:solidFill>
                <a:latin typeface="Consolas"/>
              </a:rPr>
              <a:t>SqliteOrderRepository</a:t>
            </a:r>
            <a:r>
              <a:rPr sz="700" i="0">
                <a:solidFill>
                  <a:srgbClr val="E6EDF3"/>
                </a:solidFill>
                <a:latin typeface="Consolas"/>
              </a:rPr>
              <a:t>(</a:t>
            </a:r>
            <a:r>
              <a:rPr sz="700" i="0">
                <a:solidFill>
                  <a:srgbClr val="E6EDF3"/>
                </a:solidFill>
                <a:latin typeface="Consolas"/>
              </a:rPr>
              <a:t>settings</a:t>
            </a:r>
            <a:r>
              <a:rPr sz="700" i="0">
                <a:solidFill>
                  <a:srgbClr val="E6EDF3"/>
                </a:solidFill>
                <a:latin typeface="Consolas"/>
              </a:rPr>
              <a:t>.</a:t>
            </a:r>
            <a:r>
              <a:rPr sz="700" i="0">
                <a:solidFill>
                  <a:srgbClr val="E6EDF3"/>
                </a:solidFill>
                <a:latin typeface="Consolas"/>
              </a:rPr>
              <a:t>database_path</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notifier</a:t>
            </a:r>
            <a:r>
              <a:rPr sz="700" i="0">
                <a:solidFill>
                  <a:srgbClr val="E6EDF3"/>
                </a:solidFill>
                <a:latin typeface="Consolas"/>
              </a:rPr>
              <a:t>=</a:t>
            </a:r>
            <a:r>
              <a:rPr sz="700" i="0">
                <a:solidFill>
                  <a:srgbClr val="E6EDF3"/>
                </a:solidFill>
                <a:latin typeface="Consolas"/>
              </a:rPr>
              <a:t>create_notifier</a:t>
            </a:r>
            <a:r>
              <a:rPr sz="700" i="0">
                <a:solidFill>
                  <a:srgbClr val="E6EDF3"/>
                </a:solidFill>
                <a:latin typeface="Consolas"/>
              </a:rPr>
              <a:t>(</a:t>
            </a:r>
            <a:r>
              <a:rPr sz="700" i="0">
                <a:solidFill>
                  <a:srgbClr val="E6EDF3"/>
                </a:solidFill>
                <a:latin typeface="Consolas"/>
              </a:rPr>
              <a:t>settings</a:t>
            </a:r>
            <a:r>
              <a:rPr sz="700" i="0">
                <a:solidFill>
                  <a:srgbClr val="E6EDF3"/>
                </a:solidFill>
                <a:latin typeface="Consolas"/>
              </a:rPr>
              <a:t>.</a:t>
            </a:r>
            <a:r>
              <a:rPr sz="700" i="0">
                <a:solidFill>
                  <a:srgbClr val="E6EDF3"/>
                </a:solidFill>
                <a:latin typeface="Consolas"/>
              </a:rPr>
              <a:t>notification_channel</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9C97A"/>
                </a:solidFill>
                <a:latin typeface="Consolas"/>
              </a:rPr>
              <a:t>@app.post</a:t>
            </a:r>
            <a:r>
              <a:rPr sz="700" i="0">
                <a:solidFill>
                  <a:srgbClr val="E6EDF3"/>
                </a:solidFill>
                <a:latin typeface="Consolas"/>
              </a:rPr>
              <a:t>(</a:t>
            </a:r>
            <a:r>
              <a:rPr sz="700" i="0">
                <a:solidFill>
                  <a:srgbClr val="A5D6A7"/>
                </a:solidFill>
                <a:latin typeface="Consolas"/>
              </a:rPr>
              <a:t>"/orders"</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status_code</a:t>
            </a:r>
            <a:r>
              <a:rPr sz="700" i="0">
                <a:solidFill>
                  <a:srgbClr val="E6EDF3"/>
                </a:solidFill>
                <a:latin typeface="Consolas"/>
              </a:rPr>
              <a:t>=</a:t>
            </a:r>
            <a:r>
              <a:rPr sz="700" i="0">
                <a:solidFill>
                  <a:srgbClr val="F9C97A"/>
                </a:solidFill>
                <a:latin typeface="Consolas"/>
              </a:rPr>
              <a:t>201</a:t>
            </a:r>
            <a:r>
              <a:rPr sz="700" i="0">
                <a:solidFill>
                  <a:srgbClr val="E6EDF3"/>
                </a:solidFill>
                <a:latin typeface="Consolas"/>
              </a:rPr>
              <a:t>)</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create_order</a:t>
            </a:r>
            <a:r>
              <a:rPr sz="700" i="0">
                <a:solidFill>
                  <a:srgbClr val="E6EDF3"/>
                </a:solidFill>
                <a:latin typeface="Consolas"/>
              </a:rPr>
              <a:t>(</a:t>
            </a:r>
            <a:r>
              <a:rPr sz="700" i="0">
                <a:solidFill>
                  <a:srgbClr val="E6EDF3"/>
                </a:solidFill>
                <a:latin typeface="Consolas"/>
              </a:rPr>
              <a:t>payload</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OrderIn</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OrderService</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Depends</a:t>
            </a:r>
            <a:r>
              <a:rPr sz="700" i="0">
                <a:solidFill>
                  <a:srgbClr val="E6EDF3"/>
                </a:solidFill>
                <a:latin typeface="Consolas"/>
              </a:rPr>
              <a:t>(</a:t>
            </a:r>
            <a:r>
              <a:rPr sz="700" i="0">
                <a:solidFill>
                  <a:srgbClr val="E6EDF3"/>
                </a:solidFill>
                <a:latin typeface="Consolas"/>
              </a:rPr>
              <a:t>get_order_service</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try</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items</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i</a:t>
            </a:r>
            <a:r>
              <a:rPr sz="700" i="0">
                <a:solidFill>
                  <a:srgbClr val="E6EDF3"/>
                </a:solidFill>
                <a:latin typeface="Consolas"/>
              </a:rPr>
              <a:t>.</a:t>
            </a:r>
            <a:r>
              <a:rPr sz="700" i="0">
                <a:solidFill>
                  <a:srgbClr val="E6EDF3"/>
                </a:solidFill>
                <a:latin typeface="Consolas"/>
              </a:rPr>
              <a:t>model_dump</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FF8E6E"/>
                </a:solidFill>
                <a:latin typeface="Consolas"/>
              </a:rPr>
              <a:t>for</a:t>
            </a:r>
            <a:r>
              <a:rPr sz="700" i="0">
                <a:solidFill>
                  <a:srgbClr val="E6EDF3"/>
                </a:solidFill>
                <a:latin typeface="Consolas"/>
              </a:rPr>
              <a:t> </a:t>
            </a:r>
            <a:r>
              <a:rPr sz="700" i="0">
                <a:solidFill>
                  <a:srgbClr val="E6EDF3"/>
                </a:solidFill>
                <a:latin typeface="Consolas"/>
              </a:rPr>
              <a:t>i</a:t>
            </a:r>
            <a:r>
              <a:rPr sz="700" i="0">
                <a:solidFill>
                  <a:srgbClr val="E6EDF3"/>
                </a:solidFill>
                <a:latin typeface="Consolas"/>
              </a:rPr>
              <a:t> </a:t>
            </a:r>
            <a:r>
              <a:rPr sz="700" i="0">
                <a:solidFill>
                  <a:srgbClr val="FF8E6E"/>
                </a:solidFill>
                <a:latin typeface="Consolas"/>
              </a:rPr>
              <a:t>in</a:t>
            </a:r>
            <a:r>
              <a:rPr sz="700" i="0">
                <a:solidFill>
                  <a:srgbClr val="E6EDF3"/>
                </a:solidFill>
                <a:latin typeface="Consolas"/>
              </a:rPr>
              <a:t> </a:t>
            </a:r>
            <a:r>
              <a:rPr sz="700" i="0">
                <a:solidFill>
                  <a:srgbClr val="E6EDF3"/>
                </a:solidFill>
                <a:latin typeface="Consolas"/>
              </a:rPr>
              <a:t>payload</a:t>
            </a:r>
            <a:r>
              <a:rPr sz="700" i="0">
                <a:solidFill>
                  <a:srgbClr val="E6EDF3"/>
                </a:solidFill>
                <a:latin typeface="Consolas"/>
              </a:rPr>
              <a:t>.</a:t>
            </a:r>
            <a:r>
              <a:rPr sz="700" i="0">
                <a:solidFill>
                  <a:srgbClr val="E6EDF3"/>
                </a:solidFill>
                <a:latin typeface="Consolas"/>
              </a:rPr>
              <a:t>items</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a:t>
            </a:r>
            <a:r>
              <a:rPr sz="700" i="0">
                <a:solidFill>
                  <a:srgbClr val="E6EDF3"/>
                </a:solidFill>
                <a:latin typeface="Consolas"/>
              </a:rPr>
              <a:t>place_order</a:t>
            </a:r>
            <a:r>
              <a:rPr sz="700" i="0">
                <a:solidFill>
                  <a:srgbClr val="E6EDF3"/>
                </a:solidFill>
                <a:latin typeface="Consolas"/>
              </a:rPr>
              <a:t>(</a:t>
            </a:r>
            <a:r>
              <a:rPr sz="700" i="0">
                <a:solidFill>
                  <a:srgbClr val="E6EDF3"/>
                </a:solidFill>
                <a:latin typeface="Consolas"/>
              </a:rPr>
              <a:t>payload</a:t>
            </a:r>
            <a:r>
              <a:rPr sz="700" i="0">
                <a:solidFill>
                  <a:srgbClr val="E6EDF3"/>
                </a:solidFill>
                <a:latin typeface="Consolas"/>
              </a:rPr>
              <a:t>.</a:t>
            </a:r>
            <a:r>
              <a:rPr sz="700" i="0">
                <a:solidFill>
                  <a:srgbClr val="E6EDF3"/>
                </a:solidFill>
                <a:latin typeface="Consolas"/>
              </a:rPr>
              <a:t>customer</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payload</a:t>
            </a:r>
            <a:r>
              <a:rPr sz="700" i="0">
                <a:solidFill>
                  <a:srgbClr val="E6EDF3"/>
                </a:solidFill>
                <a:latin typeface="Consolas"/>
              </a:rPr>
              <a:t>.</a:t>
            </a:r>
            <a:r>
              <a:rPr sz="700" i="0">
                <a:solidFill>
                  <a:srgbClr val="E6EDF3"/>
                </a:solidFill>
                <a:latin typeface="Consolas"/>
              </a:rPr>
              <a:t>customer_type</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items</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except</a:t>
            </a:r>
            <a:r>
              <a:rPr sz="700" i="0">
                <a:solidFill>
                  <a:srgbClr val="E6EDF3"/>
                </a:solidFill>
                <a:latin typeface="Consolas"/>
              </a:rPr>
              <a:t> </a:t>
            </a:r>
            <a:r>
              <a:rPr sz="700" i="0">
                <a:solidFill>
                  <a:srgbClr val="7FDBCA"/>
                </a:solidFill>
                <a:latin typeface="Consolas"/>
              </a:rPr>
              <a:t>ValueError</a:t>
            </a:r>
            <a:r>
              <a:rPr sz="700" i="0">
                <a:solidFill>
                  <a:srgbClr val="E6EDF3"/>
                </a:solidFill>
                <a:latin typeface="Consolas"/>
              </a:rPr>
              <a:t> </a:t>
            </a:r>
            <a:r>
              <a:rPr sz="700" i="0">
                <a:solidFill>
                  <a:srgbClr val="FF8E6E"/>
                </a:solidFill>
                <a:latin typeface="Consolas"/>
              </a:rPr>
              <a:t>as</a:t>
            </a:r>
            <a:r>
              <a:rPr sz="700" i="0">
                <a:solidFill>
                  <a:srgbClr val="E6EDF3"/>
                </a:solidFill>
                <a:latin typeface="Consolas"/>
              </a:rPr>
              <a:t> </a:t>
            </a:r>
            <a:r>
              <a:rPr sz="700" i="0">
                <a:solidFill>
                  <a:srgbClr val="E6EDF3"/>
                </a:solidFill>
                <a:latin typeface="Consolas"/>
              </a:rPr>
              <a:t>e</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raise</a:t>
            </a:r>
            <a:r>
              <a:rPr sz="700" i="0">
                <a:solidFill>
                  <a:srgbClr val="E6EDF3"/>
                </a:solidFill>
                <a:latin typeface="Consolas"/>
              </a:rPr>
              <a:t> </a:t>
            </a:r>
            <a:r>
              <a:rPr sz="700" i="0">
                <a:solidFill>
                  <a:srgbClr val="7FDBCA"/>
                </a:solidFill>
                <a:latin typeface="Consolas"/>
              </a:rPr>
              <a:t>HTTPException</a:t>
            </a:r>
            <a:r>
              <a:rPr sz="700" i="0">
                <a:solidFill>
                  <a:srgbClr val="E6EDF3"/>
                </a:solidFill>
                <a:latin typeface="Consolas"/>
              </a:rPr>
              <a:t>(</a:t>
            </a:r>
            <a:r>
              <a:rPr sz="700" i="0">
                <a:solidFill>
                  <a:srgbClr val="F9C97A"/>
                </a:solidFill>
                <a:latin typeface="Consolas"/>
              </a:rPr>
              <a:t>400</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e</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9C97A"/>
                </a:solidFill>
                <a:latin typeface="Consolas"/>
              </a:rPr>
              <a:t>@app.get</a:t>
            </a:r>
            <a:r>
              <a:rPr sz="700" i="0">
                <a:solidFill>
                  <a:srgbClr val="E6EDF3"/>
                </a:solidFill>
                <a:latin typeface="Consolas"/>
              </a:rPr>
              <a:t>(</a:t>
            </a:r>
            <a:r>
              <a:rPr sz="700" i="0">
                <a:solidFill>
                  <a:srgbClr val="A5D6A7"/>
                </a:solidFill>
                <a:latin typeface="Consolas"/>
              </a:rPr>
              <a:t>"/orders/{order_id}"</a:t>
            </a:r>
            <a:r>
              <a:rPr sz="700" i="0">
                <a:solidFill>
                  <a:srgbClr val="E6EDF3"/>
                </a:solidFill>
                <a:latin typeface="Consolas"/>
              </a:rPr>
              <a:t>)</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get_order</a:t>
            </a:r>
            <a:r>
              <a:rPr sz="700" i="0">
                <a:solidFill>
                  <a:srgbClr val="E6EDF3"/>
                </a:solidFill>
                <a:latin typeface="Consolas"/>
              </a:rPr>
              <a:t>(</a:t>
            </a:r>
            <a:r>
              <a:rPr sz="700" i="0">
                <a:solidFill>
                  <a:srgbClr val="E6EDF3"/>
                </a:solidFill>
                <a:latin typeface="Consolas"/>
              </a:rPr>
              <a:t>order_id</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int</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OrderService</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Depends</a:t>
            </a:r>
            <a:r>
              <a:rPr sz="700" i="0">
                <a:solidFill>
                  <a:srgbClr val="E6EDF3"/>
                </a:solidFill>
                <a:latin typeface="Consolas"/>
              </a:rPr>
              <a:t>(</a:t>
            </a:r>
            <a:r>
              <a:rPr sz="700" i="0">
                <a:solidFill>
                  <a:srgbClr val="E6EDF3"/>
                </a:solidFill>
                <a:latin typeface="Consolas"/>
              </a:rPr>
              <a:t>get_order_service</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try</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a:t>
            </a:r>
            <a:r>
              <a:rPr sz="700" i="0">
                <a:solidFill>
                  <a:srgbClr val="E6EDF3"/>
                </a:solidFill>
                <a:latin typeface="Consolas"/>
              </a:rPr>
              <a:t>get_order</a:t>
            </a:r>
            <a:r>
              <a:rPr sz="700" i="0">
                <a:solidFill>
                  <a:srgbClr val="E6EDF3"/>
                </a:solidFill>
                <a:latin typeface="Consolas"/>
              </a:rPr>
              <a:t>(</a:t>
            </a:r>
            <a:r>
              <a:rPr sz="700" i="0">
                <a:solidFill>
                  <a:srgbClr val="E6EDF3"/>
                </a:solidFill>
                <a:latin typeface="Consolas"/>
              </a:rPr>
              <a:t>order_id</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except</a:t>
            </a:r>
            <a:r>
              <a:rPr sz="700" i="0">
                <a:solidFill>
                  <a:srgbClr val="E6EDF3"/>
                </a:solidFill>
                <a:latin typeface="Consolas"/>
              </a:rPr>
              <a:t> </a:t>
            </a:r>
            <a:r>
              <a:rPr sz="700" i="0">
                <a:solidFill>
                  <a:srgbClr val="7FDBCA"/>
                </a:solidFill>
                <a:latin typeface="Consolas"/>
              </a:rPr>
              <a:t>OrderNotFound</a:t>
            </a:r>
            <a:r>
              <a:rPr sz="700" i="0">
                <a:solidFill>
                  <a:srgbClr val="E6EDF3"/>
                </a:solidFill>
                <a:latin typeface="Consolas"/>
              </a:rPr>
              <a:t> </a:t>
            </a:r>
            <a:r>
              <a:rPr sz="700" i="0">
                <a:solidFill>
                  <a:srgbClr val="FF8E6E"/>
                </a:solidFill>
                <a:latin typeface="Consolas"/>
              </a:rPr>
              <a:t>as</a:t>
            </a:r>
            <a:r>
              <a:rPr sz="700" i="0">
                <a:solidFill>
                  <a:srgbClr val="E6EDF3"/>
                </a:solidFill>
                <a:latin typeface="Consolas"/>
              </a:rPr>
              <a:t> </a:t>
            </a:r>
            <a:r>
              <a:rPr sz="700" i="0">
                <a:solidFill>
                  <a:srgbClr val="E6EDF3"/>
                </a:solidFill>
                <a:latin typeface="Consolas"/>
              </a:rPr>
              <a:t>e</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raise</a:t>
            </a:r>
            <a:r>
              <a:rPr sz="700" i="0">
                <a:solidFill>
                  <a:srgbClr val="E6EDF3"/>
                </a:solidFill>
                <a:latin typeface="Consolas"/>
              </a:rPr>
              <a:t> </a:t>
            </a:r>
            <a:r>
              <a:rPr sz="700" i="0">
                <a:solidFill>
                  <a:srgbClr val="7FDBCA"/>
                </a:solidFill>
                <a:latin typeface="Consolas"/>
              </a:rPr>
              <a:t>HTTPException</a:t>
            </a:r>
            <a:r>
              <a:rPr sz="700" i="0">
                <a:solidFill>
                  <a:srgbClr val="E6EDF3"/>
                </a:solidFill>
                <a:latin typeface="Consolas"/>
              </a:rPr>
              <a:t>(</a:t>
            </a:r>
            <a:r>
              <a:rPr sz="700" i="0">
                <a:solidFill>
                  <a:srgbClr val="F9C97A"/>
                </a:solidFill>
                <a:latin typeface="Consolas"/>
              </a:rPr>
              <a:t>404</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e</a:t>
            </a:r>
            <a:r>
              <a:rPr sz="700" i="0">
                <a:solidFill>
                  <a:srgbClr val="E6EDF3"/>
                </a:solidFill>
                <a:latin typeface="Consolas"/>
              </a:rPr>
              <a:t>)</a:t>
            </a:r>
            <a:r>
              <a:rPr sz="700" i="0">
                <a:solidFill>
                  <a:srgbClr val="E6EDF3"/>
                </a:solidFill>
                <a:latin typeface="Consolas"/>
              </a:rPr>
              <a:t>)</a:t>
            </a:r>
          </a:p>
        </p:txBody>
      </p:sp>
      <p:sp>
        <p:nvSpPr>
          <p:cNvPr id="29" name="Box 12"/>
          <p:cNvSpPr/>
          <p:nvPr/>
        </p:nvSpPr>
        <p:spPr>
          <a:xfrm>
            <a:off x="704088" y="1939671"/>
            <a:ext cx="49560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541264" y="18745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704088" y="2854071"/>
            <a:ext cx="49560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Box 15"/>
          <p:cNvSpPr/>
          <p:nvPr/>
        </p:nvSpPr>
        <p:spPr>
          <a:xfrm>
            <a:off x="5541264" y="27889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2</a:t>
            </a:r>
          </a:p>
        </p:txBody>
      </p:sp>
      <p:sp>
        <p:nvSpPr>
          <p:cNvPr id="33" name="Box 16"/>
          <p:cNvSpPr/>
          <p:nvPr/>
        </p:nvSpPr>
        <p:spPr>
          <a:xfrm>
            <a:off x="704088" y="3768471"/>
            <a:ext cx="49560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4" name="Box 17"/>
          <p:cNvSpPr/>
          <p:nvPr/>
        </p:nvSpPr>
        <p:spPr>
          <a:xfrm>
            <a:off x="5897879" y="1481328"/>
            <a:ext cx="25877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Text 18"/>
          <p:cNvSpPr txBox="1"/>
          <p:nvPr/>
        </p:nvSpPr>
        <p:spPr>
          <a:xfrm>
            <a:off x="6035040" y="157276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6" name="Text 19"/>
          <p:cNvSpPr txBox="1"/>
          <p:nvPr/>
        </p:nvSpPr>
        <p:spPr>
          <a:xfrm>
            <a:off x="6035040" y="1892808"/>
            <a:ext cx="23134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get_order_service()</a:t>
            </a:r>
            <a:r>
              <a:rPr sz="900" i="0" b="0">
                <a:solidFill>
                  <a:srgbClr val="434343"/>
                </a:solidFill>
                <a:latin typeface="Inter"/>
              </a:rPr>
              <a:t> menyiapkan service: config (Singleton), repository, notifier (Factory)</a:t>
            </a:r>
          </a:p>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Depends(...)</a:t>
            </a:r>
            <a:r>
              <a:rPr sz="900" i="0" b="0">
                <a:solidFill>
                  <a:srgbClr val="434343"/>
                </a:solidFill>
                <a:latin typeface="Inter"/>
              </a:rPr>
              <a:t>: FastAPI memanggil </a:t>
            </a:r>
            <a:r>
              <a:rPr sz="900" i="0" b="0">
                <a:solidFill>
                  <a:srgbClr val="B5482A"/>
                </a:solidFill>
                <a:latin typeface="Consolas"/>
              </a:rPr>
              <a:t>get_order_service()</a:t>
            </a:r>
            <a:r>
              <a:rPr sz="900" i="0" b="0">
                <a:solidFill>
                  <a:srgbClr val="434343"/>
                </a:solidFill>
                <a:latin typeface="Inter"/>
              </a:rPr>
              <a:t> dan memberikan hasilnya ke route</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Route hanya menghandle HTTP: panggil service, ubah error jadi 400 / 404</a:t>
            </a:r>
          </a:p>
        </p:txBody>
      </p:sp>
      <p:sp>
        <p:nvSpPr>
          <p:cNvPr id="37" name="Box 20"/>
          <p:cNvSpPr/>
          <p:nvPr/>
        </p:nvSpPr>
        <p:spPr>
          <a:xfrm>
            <a:off x="5897879" y="3721608"/>
            <a:ext cx="25877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Text 21"/>
          <p:cNvSpPr txBox="1"/>
          <p:nvPr/>
        </p:nvSpPr>
        <p:spPr>
          <a:xfrm>
            <a:off x="6035040" y="381304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9" name="Text 22"/>
          <p:cNvSpPr txBox="1"/>
          <p:nvPr/>
        </p:nvSpPr>
        <p:spPr>
          <a:xfrm>
            <a:off x="6035040" y="4133088"/>
            <a:ext cx="2313432" cy="475488"/>
          </a:xfrm>
          <a:prstGeom prst="rect">
            <a:avLst/>
          </a:prstGeom>
          <a:noFill/>
        </p:spPr>
        <p:txBody>
          <a:bodyPr wrap="square" anchor="t" lIns="45720" rIns="45720">
            <a:spAutoFit/>
          </a:bodyPr>
          <a:lstStyle/>
          <a:p>
            <a:pPr algn="l">
              <a:lnSpc>
                <a:spcPct val="115000"/>
              </a:lnSpc>
              <a:spcAft>
                <a:spcPts val="400"/>
              </a:spcAft>
            </a:pPr>
            <a:r>
              <a:rPr sz="900" i="0" b="0">
                <a:solidFill>
                  <a:srgbClr val="434343"/>
                </a:solidFill>
                <a:latin typeface="Inter"/>
              </a:rPr>
              <a:t>Model </a:t>
            </a:r>
            <a:r>
              <a:rPr sz="900" i="0" b="0">
                <a:solidFill>
                  <a:srgbClr val="B5482A"/>
                </a:solidFill>
                <a:latin typeface="Consolas"/>
              </a:rPr>
              <a:t>Item</a:t>
            </a:r>
            <a:r>
              <a:rPr sz="900" i="0" b="0">
                <a:solidFill>
                  <a:srgbClr val="434343"/>
                </a:solidFill>
                <a:latin typeface="Inter"/>
              </a:rPr>
              <a:t> dan </a:t>
            </a:r>
            <a:r>
              <a:rPr sz="900" i="0" b="0">
                <a:solidFill>
                  <a:srgbClr val="B5482A"/>
                </a:solidFill>
                <a:latin typeface="Consolas"/>
              </a:rPr>
              <a:t>OrderIn</a:t>
            </a:r>
            <a:r>
              <a:rPr sz="900" i="0" b="0">
                <a:solidFill>
                  <a:srgbClr val="434343"/>
                </a:solidFill>
                <a:latin typeface="Inter"/>
              </a:rPr>
              <a:t> tetap sama seperti di </a:t>
            </a:r>
            <a:r>
              <a:rPr sz="900" i="0" b="0">
                <a:solidFill>
                  <a:srgbClr val="B5482A"/>
                </a:solidFill>
                <a:latin typeface="Consolas"/>
              </a:rPr>
              <a:t>before/</a:t>
            </a:r>
            <a:r>
              <a:rPr sz="900" i="0" b="0">
                <a:solidFill>
                  <a:srgbClr val="434343"/>
                </a:solidFill>
                <a:latin typeface="Inter"/>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8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test_service.py: Unit Test Tanpa Database</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4480559"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after/test_service.py</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5120640" cy="2980944"/>
          </a:xfrm>
          <a:prstGeom prst="rect">
            <a:avLst/>
          </a:prstGeom>
          <a:noFill/>
        </p:spPr>
        <p:txBody>
          <a:bodyPr wrap="none" lIns="146304" rIns="146304" tIns="91440" bIns="54864">
            <a:spAutoFit/>
          </a:bodyPr>
          <a:lstStyle/>
          <a:p>
            <a:pPr>
              <a:lnSpc>
                <a:spcPts val="900"/>
              </a:lnSpc>
              <a:spcAft>
                <a:spcPts val="0"/>
              </a:spcAft>
            </a:pPr>
            <a:r>
              <a:rPr sz="700" i="0">
                <a:solidFill>
                  <a:srgbClr val="FF8E6E"/>
                </a:solidFill>
                <a:latin typeface="Consolas"/>
              </a:rPr>
              <a:t>class</a:t>
            </a:r>
            <a:r>
              <a:rPr sz="700" i="0">
                <a:solidFill>
                  <a:srgbClr val="E6EDF3"/>
                </a:solidFill>
                <a:latin typeface="Consolas"/>
              </a:rPr>
              <a:t> </a:t>
            </a:r>
            <a:r>
              <a:rPr sz="700" i="0">
                <a:solidFill>
                  <a:srgbClr val="7FDBCA"/>
                </a:solidFill>
                <a:latin typeface="Consolas"/>
              </a:rPr>
              <a:t>FakeNotifier</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__init__</a:t>
            </a:r>
            <a:r>
              <a:rPr sz="700" i="0">
                <a:solidFill>
                  <a:srgbClr val="E6EDF3"/>
                </a:solidFill>
                <a:latin typeface="Consolas"/>
              </a:rPr>
              <a:t>(</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sent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E6EDF3"/>
                </a:solidFill>
                <a:latin typeface="Consolas"/>
              </a:rPr>
              <a:t>    </a:t>
            </a: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send</a:t>
            </a:r>
            <a:r>
              <a:rPr sz="700" i="0">
                <a:solidFill>
                  <a:srgbClr val="E6EDF3"/>
                </a:solidFill>
                <a:latin typeface="Consolas"/>
              </a:rPr>
              <a:t>(</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to</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message</a:t>
            </a:r>
            <a:r>
              <a:rPr sz="700" i="0">
                <a:solidFill>
                  <a:srgbClr val="E6EDF3"/>
                </a:solidFill>
                <a:latin typeface="Consolas"/>
              </a:rPr>
              <a:t>:</a:t>
            </a:r>
            <a:r>
              <a:rPr sz="700" i="0">
                <a:solidFill>
                  <a:srgbClr val="E6EDF3"/>
                </a:solidFill>
                <a:latin typeface="Consolas"/>
              </a:rPr>
              <a:t> </a:t>
            </a:r>
            <a:r>
              <a:rPr sz="700" i="0">
                <a:solidFill>
                  <a:srgbClr val="C3A6FF"/>
                </a:solidFill>
                <a:latin typeface="Consolas"/>
              </a:rPr>
              <a:t>str</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&gt;</a:t>
            </a:r>
            <a:r>
              <a:rPr sz="700" i="0">
                <a:solidFill>
                  <a:srgbClr val="E6EDF3"/>
                </a:solidFill>
                <a:latin typeface="Consolas"/>
              </a:rPr>
              <a:t> </a:t>
            </a:r>
            <a:r>
              <a:rPr sz="700" i="0">
                <a:solidFill>
                  <a:srgbClr val="FF8E6E"/>
                </a:solidFill>
                <a:latin typeface="Consolas"/>
              </a:rPr>
              <a:t>None</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C3A6FF"/>
                </a:solidFill>
                <a:latin typeface="Consolas"/>
              </a:rPr>
              <a:t>self</a:t>
            </a:r>
            <a:r>
              <a:rPr sz="700" i="0">
                <a:solidFill>
                  <a:srgbClr val="E6EDF3"/>
                </a:solidFill>
                <a:latin typeface="Consolas"/>
              </a:rPr>
              <a:t>.</a:t>
            </a:r>
            <a:r>
              <a:rPr sz="700" i="0">
                <a:solidFill>
                  <a:srgbClr val="E6EDF3"/>
                </a:solidFill>
                <a:latin typeface="Consolas"/>
              </a:rPr>
              <a:t>sent</a:t>
            </a:r>
            <a:r>
              <a:rPr sz="700" i="0">
                <a:solidFill>
                  <a:srgbClr val="E6EDF3"/>
                </a:solidFill>
                <a:latin typeface="Consolas"/>
              </a:rPr>
              <a:t>.</a:t>
            </a:r>
            <a:r>
              <a:rPr sz="700" i="0">
                <a:solidFill>
                  <a:srgbClr val="E6EDF3"/>
                </a:solidFill>
                <a:latin typeface="Consolas"/>
              </a:rPr>
              <a:t>append</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to</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message</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make_service</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return</a:t>
            </a:r>
            <a:r>
              <a:rPr sz="700" i="0">
                <a:solidFill>
                  <a:srgbClr val="E6EDF3"/>
                </a:solidFill>
                <a:latin typeface="Consolas"/>
              </a:rPr>
              <a:t> </a:t>
            </a:r>
            <a:r>
              <a:rPr sz="700" i="0">
                <a:solidFill>
                  <a:srgbClr val="7FDBCA"/>
                </a:solidFill>
                <a:latin typeface="Consolas"/>
              </a:rPr>
              <a:t>OrderService</a:t>
            </a:r>
            <a:r>
              <a:rPr sz="700" i="0">
                <a:solidFill>
                  <a:srgbClr val="E6EDF3"/>
                </a:solidFill>
                <a:latin typeface="Consolas"/>
              </a:rPr>
              <a:t>(</a:t>
            </a:r>
            <a:r>
              <a:rPr sz="700" i="0">
                <a:solidFill>
                  <a:srgbClr val="7FDBCA"/>
                </a:solidFill>
                <a:latin typeface="Consolas"/>
              </a:rPr>
              <a:t>InMemoryOrderRepository</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7FDBCA"/>
                </a:solidFill>
                <a:latin typeface="Consolas"/>
              </a:rPr>
              <a:t>FakeNotifier</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test_vip_dapat_diskon_10_persen</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make_service</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order</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service</a:t>
            </a:r>
            <a:r>
              <a:rPr sz="700" i="0">
                <a:solidFill>
                  <a:srgbClr val="E6EDF3"/>
                </a:solidFill>
                <a:latin typeface="Consolas"/>
              </a:rPr>
              <a:t>.</a:t>
            </a:r>
            <a:r>
              <a:rPr sz="700" i="0">
                <a:solidFill>
                  <a:srgbClr val="E6EDF3"/>
                </a:solidFill>
                <a:latin typeface="Consolas"/>
              </a:rPr>
              <a:t>place_order</a:t>
            </a:r>
            <a:r>
              <a:rPr sz="700" i="0">
                <a:solidFill>
                  <a:srgbClr val="E6EDF3"/>
                </a:solidFill>
                <a:latin typeface="Consolas"/>
              </a:rPr>
              <a:t>(</a:t>
            </a:r>
            <a:r>
              <a:rPr sz="700" i="0">
                <a:solidFill>
                  <a:srgbClr val="A5D6A7"/>
                </a:solidFill>
                <a:latin typeface="Consolas"/>
              </a:rPr>
              <a:t>"budi@mail.com"</a:t>
            </a:r>
            <a:r>
              <a:rPr sz="700" i="0">
                <a:solidFill>
                  <a:srgbClr val="E6EDF3"/>
                </a:solidFill>
                <a:latin typeface="Consolas"/>
              </a:rPr>
              <a:t>,</a:t>
            </a:r>
            <a:r>
              <a:rPr sz="700" i="0">
                <a:solidFill>
                  <a:srgbClr val="E6EDF3"/>
                </a:solidFill>
                <a:latin typeface="Consolas"/>
              </a:rPr>
              <a:t> </a:t>
            </a:r>
            <a:r>
              <a:rPr sz="700" i="0">
                <a:solidFill>
                  <a:srgbClr val="A5D6A7"/>
                </a:solidFill>
                <a:latin typeface="Consolas"/>
              </a:rPr>
              <a:t>"vip"</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A5D6A7"/>
                </a:solidFill>
                <a:latin typeface="Consolas"/>
              </a:rPr>
              <a:t>"price"</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500_000</a:t>
            </a:r>
            <a:r>
              <a:rPr sz="700" i="0">
                <a:solidFill>
                  <a:srgbClr val="E6EDF3"/>
                </a:solidFill>
                <a:latin typeface="Consolas"/>
              </a:rPr>
              <a:t>,</a:t>
            </a:r>
            <a:r>
              <a:rPr sz="700" i="0">
                <a:solidFill>
                  <a:srgbClr val="E6EDF3"/>
                </a:solidFill>
                <a:latin typeface="Consolas"/>
              </a:rPr>
              <a:t> </a:t>
            </a:r>
            <a:r>
              <a:rPr sz="700" i="0">
                <a:solidFill>
                  <a:srgbClr val="A5D6A7"/>
                </a:solidFill>
                <a:latin typeface="Consolas"/>
              </a:rPr>
              <a:t>"qty"</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2</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assert</a:t>
            </a:r>
            <a:r>
              <a:rPr sz="700" i="0">
                <a:solidFill>
                  <a:srgbClr val="E6EDF3"/>
                </a:solidFill>
                <a:latin typeface="Consolas"/>
              </a:rPr>
              <a:t> </a:t>
            </a:r>
            <a:r>
              <a:rPr sz="700" i="0">
                <a:solidFill>
                  <a:srgbClr val="E6EDF3"/>
                </a:solidFill>
                <a:latin typeface="Consolas"/>
              </a:rPr>
              <a:t>order</a:t>
            </a:r>
            <a:r>
              <a:rPr sz="700" i="0">
                <a:solidFill>
                  <a:srgbClr val="E6EDF3"/>
                </a:solidFill>
                <a:latin typeface="Consolas"/>
              </a:rPr>
              <a:t>[</a:t>
            </a:r>
            <a:r>
              <a:rPr sz="700" i="0">
                <a:solidFill>
                  <a:srgbClr val="A5D6A7"/>
                </a:solidFill>
                <a:latin typeface="Consolas"/>
              </a:rPr>
              <a:t>"subtotal"</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1_000_000</a:t>
            </a:r>
          </a:p>
          <a:p>
            <a:pPr>
              <a:lnSpc>
                <a:spcPts val="900"/>
              </a:lnSpc>
              <a:spcAft>
                <a:spcPts val="0"/>
              </a:spcAft>
            </a:pPr>
            <a:r>
              <a:rPr sz="700" i="0">
                <a:solidFill>
                  <a:srgbClr val="E6EDF3"/>
                </a:solidFill>
                <a:latin typeface="Consolas"/>
              </a:rPr>
              <a:t>    </a:t>
            </a:r>
            <a:r>
              <a:rPr sz="700" i="0">
                <a:solidFill>
                  <a:srgbClr val="FF8E6E"/>
                </a:solidFill>
                <a:latin typeface="Consolas"/>
              </a:rPr>
              <a:t>assert</a:t>
            </a:r>
            <a:r>
              <a:rPr sz="700" i="0">
                <a:solidFill>
                  <a:srgbClr val="E6EDF3"/>
                </a:solidFill>
                <a:latin typeface="Consolas"/>
              </a:rPr>
              <a:t> </a:t>
            </a:r>
            <a:r>
              <a:rPr sz="700" i="0">
                <a:solidFill>
                  <a:srgbClr val="E6EDF3"/>
                </a:solidFill>
                <a:latin typeface="Consolas"/>
              </a:rPr>
              <a:t>order</a:t>
            </a:r>
            <a:r>
              <a:rPr sz="700" i="0">
                <a:solidFill>
                  <a:srgbClr val="E6EDF3"/>
                </a:solidFill>
                <a:latin typeface="Consolas"/>
              </a:rPr>
              <a:t>[</a:t>
            </a:r>
            <a:r>
              <a:rPr sz="700" i="0">
                <a:solidFill>
                  <a:srgbClr val="A5D6A7"/>
                </a:solidFill>
                <a:latin typeface="Consolas"/>
              </a:rPr>
              <a:t>"total"</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900_000</a:t>
            </a:r>
          </a:p>
          <a:p>
            <a:pPr>
              <a:lnSpc>
                <a:spcPts val="900"/>
              </a:lnSpc>
              <a:spcAft>
                <a:spcPts val="0"/>
              </a:spcAft>
            </a:pPr>
            <a:r>
              <a:rPr sz="700" i="0">
                <a:solidFill>
                  <a:srgbClr val="E6EDF3"/>
                </a:solidFill>
                <a:latin typeface="Consolas"/>
              </a:rPr>
              <a:t> </a:t>
            </a:r>
          </a:p>
          <a:p>
            <a:pPr>
              <a:lnSpc>
                <a:spcPts val="900"/>
              </a:lnSpc>
              <a:spcAft>
                <a:spcPts val="0"/>
              </a:spcAft>
            </a:pPr>
            <a:r>
              <a:rPr sz="700" i="0">
                <a:solidFill>
                  <a:srgbClr val="FF8E6E"/>
                </a:solidFill>
                <a:latin typeface="Consolas"/>
              </a:rPr>
              <a:t>def</a:t>
            </a:r>
            <a:r>
              <a:rPr sz="700" i="0">
                <a:solidFill>
                  <a:srgbClr val="E6EDF3"/>
                </a:solidFill>
                <a:latin typeface="Consolas"/>
              </a:rPr>
              <a:t> </a:t>
            </a:r>
            <a:r>
              <a:rPr sz="700" i="0">
                <a:solidFill>
                  <a:srgbClr val="82B1FF"/>
                </a:solidFill>
                <a:latin typeface="Consolas"/>
              </a:rPr>
              <a:t>test_tipe_customer_tidak_dikenal</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FF8E6E"/>
                </a:solidFill>
                <a:latin typeface="Consolas"/>
              </a:rPr>
              <a:t>with</a:t>
            </a:r>
            <a:r>
              <a:rPr sz="700" i="0">
                <a:solidFill>
                  <a:srgbClr val="E6EDF3"/>
                </a:solidFill>
                <a:latin typeface="Consolas"/>
              </a:rPr>
              <a:t> </a:t>
            </a:r>
            <a:r>
              <a:rPr sz="700" i="0">
                <a:solidFill>
                  <a:srgbClr val="E6EDF3"/>
                </a:solidFill>
                <a:latin typeface="Consolas"/>
              </a:rPr>
              <a:t>pytest</a:t>
            </a:r>
            <a:r>
              <a:rPr sz="700" i="0">
                <a:solidFill>
                  <a:srgbClr val="E6EDF3"/>
                </a:solidFill>
                <a:latin typeface="Consolas"/>
              </a:rPr>
              <a:t>.</a:t>
            </a:r>
            <a:r>
              <a:rPr sz="700" i="0">
                <a:solidFill>
                  <a:srgbClr val="E6EDF3"/>
                </a:solidFill>
                <a:latin typeface="Consolas"/>
              </a:rPr>
              <a:t>raises</a:t>
            </a:r>
            <a:r>
              <a:rPr sz="700" i="0">
                <a:solidFill>
                  <a:srgbClr val="E6EDF3"/>
                </a:solidFill>
                <a:latin typeface="Consolas"/>
              </a:rPr>
              <a:t>(</a:t>
            </a:r>
            <a:r>
              <a:rPr sz="700" i="0">
                <a:solidFill>
                  <a:srgbClr val="7FDBCA"/>
                </a:solidFill>
                <a:latin typeface="Consolas"/>
              </a:rPr>
              <a:t>ValueError</a:t>
            </a:r>
            <a:r>
              <a:rPr sz="700" i="0">
                <a:solidFill>
                  <a:srgbClr val="E6EDF3"/>
                </a:solidFill>
                <a:latin typeface="Consolas"/>
              </a:rPr>
              <a:t>)</a:t>
            </a:r>
            <a:r>
              <a:rPr sz="700" i="0">
                <a:solidFill>
                  <a:srgbClr val="E6EDF3"/>
                </a:solidFill>
                <a:latin typeface="Consolas"/>
              </a:rPr>
              <a:t>:</a:t>
            </a:r>
          </a:p>
          <a:p>
            <a:pPr>
              <a:lnSpc>
                <a:spcPts val="900"/>
              </a:lnSpc>
              <a:spcAft>
                <a:spcPts val="0"/>
              </a:spcAft>
            </a:pPr>
            <a:r>
              <a:rPr sz="700" i="0">
                <a:solidFill>
                  <a:srgbClr val="E6EDF3"/>
                </a:solidFill>
                <a:latin typeface="Consolas"/>
              </a:rPr>
              <a:t>        </a:t>
            </a:r>
            <a:r>
              <a:rPr sz="700" i="0">
                <a:solidFill>
                  <a:srgbClr val="E6EDF3"/>
                </a:solidFill>
                <a:latin typeface="Consolas"/>
              </a:rPr>
              <a:t>make_service</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place_order</a:t>
            </a:r>
            <a:r>
              <a:rPr sz="700" i="0">
                <a:solidFill>
                  <a:srgbClr val="E6EDF3"/>
                </a:solidFill>
                <a:latin typeface="Consolas"/>
              </a:rPr>
              <a:t>(</a:t>
            </a:r>
            <a:r>
              <a:rPr sz="700" i="0">
                <a:solidFill>
                  <a:srgbClr val="A5D6A7"/>
                </a:solidFill>
                <a:latin typeface="Consolas"/>
              </a:rPr>
              <a:t>"budi@mail.com"</a:t>
            </a:r>
            <a:r>
              <a:rPr sz="700" i="0">
                <a:solidFill>
                  <a:srgbClr val="E6EDF3"/>
                </a:solidFill>
                <a:latin typeface="Consolas"/>
              </a:rPr>
              <a:t>,</a:t>
            </a:r>
            <a:r>
              <a:rPr sz="700" i="0">
                <a:solidFill>
                  <a:srgbClr val="E6EDF3"/>
                </a:solidFill>
                <a:latin typeface="Consolas"/>
              </a:rPr>
              <a:t> </a:t>
            </a:r>
            <a:r>
              <a:rPr sz="700" i="0">
                <a:solidFill>
                  <a:srgbClr val="A5D6A7"/>
                </a:solidFill>
                <a:latin typeface="Consolas"/>
              </a:rPr>
              <a:t>"sultan"</a:t>
            </a:r>
            <a:r>
              <a:rPr sz="700" i="0">
                <a:solidFill>
                  <a:srgbClr val="E6EDF3"/>
                </a:solidFill>
                <a:latin typeface="Consolas"/>
              </a:rPr>
              <a:t>,</a:t>
            </a:r>
            <a:r>
              <a:rPr sz="700" i="0">
                <a:solidFill>
                  <a:srgbClr val="E6EDF3"/>
                </a:solidFill>
                <a:latin typeface="Consolas"/>
              </a:rPr>
              <a:t> </a:t>
            </a:r>
            <a:r>
              <a:rPr sz="700" i="0">
                <a:solidFill>
                  <a:srgbClr val="E6EDF3"/>
                </a:solidFill>
                <a:latin typeface="Consolas"/>
              </a:rPr>
              <a:t>[</a:t>
            </a:r>
            <a:r>
              <a:rPr sz="700" i="0">
                <a:solidFill>
                  <a:srgbClr val="E6EDF3"/>
                </a:solidFill>
                <a:latin typeface="Consolas"/>
              </a:rPr>
              <a:t>{</a:t>
            </a:r>
            <a:r>
              <a:rPr sz="700" i="0">
                <a:solidFill>
                  <a:srgbClr val="A5D6A7"/>
                </a:solidFill>
                <a:latin typeface="Consolas"/>
              </a:rPr>
              <a:t>"price"</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50_000</a:t>
            </a:r>
            <a:r>
              <a:rPr sz="700" i="0">
                <a:solidFill>
                  <a:srgbClr val="E6EDF3"/>
                </a:solidFill>
                <a:latin typeface="Consolas"/>
              </a:rPr>
              <a:t>,</a:t>
            </a:r>
            <a:r>
              <a:rPr sz="700" i="0">
                <a:solidFill>
                  <a:srgbClr val="E6EDF3"/>
                </a:solidFill>
                <a:latin typeface="Consolas"/>
              </a:rPr>
              <a:t> </a:t>
            </a:r>
            <a:r>
              <a:rPr sz="700" i="0">
                <a:solidFill>
                  <a:srgbClr val="A5D6A7"/>
                </a:solidFill>
                <a:latin typeface="Consolas"/>
              </a:rPr>
              <a:t>"qty"</a:t>
            </a:r>
            <a:r>
              <a:rPr sz="700" i="0">
                <a:solidFill>
                  <a:srgbClr val="E6EDF3"/>
                </a:solidFill>
                <a:latin typeface="Consolas"/>
              </a:rPr>
              <a:t>:</a:t>
            </a:r>
            <a:r>
              <a:rPr sz="700" i="0">
                <a:solidFill>
                  <a:srgbClr val="E6EDF3"/>
                </a:solidFill>
                <a:latin typeface="Consolas"/>
              </a:rPr>
              <a:t> </a:t>
            </a:r>
            <a:r>
              <a:rPr sz="700" i="0">
                <a:solidFill>
                  <a:srgbClr val="F9C97A"/>
                </a:solidFill>
                <a:latin typeface="Consolas"/>
              </a:rPr>
              <a:t>1</a:t>
            </a:r>
            <a:r>
              <a:rPr sz="700" i="0">
                <a:solidFill>
                  <a:srgbClr val="E6EDF3"/>
                </a:solidFill>
                <a:latin typeface="Consolas"/>
              </a:rPr>
              <a:t>}</a:t>
            </a:r>
            <a:r>
              <a:rPr sz="700" i="0">
                <a:solidFill>
                  <a:srgbClr val="E6EDF3"/>
                </a:solidFill>
                <a:latin typeface="Consolas"/>
              </a:rPr>
              <a:t>]</a:t>
            </a:r>
            <a:r>
              <a:rPr sz="700" i="0">
                <a:solidFill>
                  <a:srgbClr val="E6EDF3"/>
                </a:solidFill>
                <a:latin typeface="Consolas"/>
              </a:rPr>
              <a:t>)</a:t>
            </a:r>
          </a:p>
        </p:txBody>
      </p:sp>
      <p:sp>
        <p:nvSpPr>
          <p:cNvPr id="29" name="Box 12"/>
          <p:cNvSpPr/>
          <p:nvPr/>
        </p:nvSpPr>
        <p:spPr>
          <a:xfrm>
            <a:off x="704088" y="2625471"/>
            <a:ext cx="495604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0" name="Box 13"/>
          <p:cNvSpPr/>
          <p:nvPr/>
        </p:nvSpPr>
        <p:spPr>
          <a:xfrm>
            <a:off x="5541264" y="26174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200"/>
              </a:spcAft>
            </a:pPr>
            <a:r>
              <a:rPr sz="850" i="0" b="1">
                <a:solidFill>
                  <a:srgbClr val="FFFFFF"/>
                </a:solidFill>
                <a:latin typeface="Inter"/>
              </a:rPr>
              <a:t>1</a:t>
            </a:r>
          </a:p>
        </p:txBody>
      </p:sp>
      <p:sp>
        <p:nvSpPr>
          <p:cNvPr id="31" name="Box 14"/>
          <p:cNvSpPr/>
          <p:nvPr/>
        </p:nvSpPr>
        <p:spPr>
          <a:xfrm>
            <a:off x="5897879" y="1481328"/>
            <a:ext cx="25877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Text 15"/>
          <p:cNvSpPr txBox="1"/>
          <p:nvPr/>
        </p:nvSpPr>
        <p:spPr>
          <a:xfrm>
            <a:off x="6035040" y="157276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E0764F"/>
                </a:solidFill>
                <a:latin typeface="Inter"/>
              </a:rPr>
              <a:t>Yang dikerjakan</a:t>
            </a:r>
          </a:p>
        </p:txBody>
      </p:sp>
      <p:sp>
        <p:nvSpPr>
          <p:cNvPr id="33" name="Text 16"/>
          <p:cNvSpPr txBox="1"/>
          <p:nvPr/>
        </p:nvSpPr>
        <p:spPr>
          <a:xfrm>
            <a:off x="6035040" y="1892808"/>
            <a:ext cx="2313432" cy="1645920"/>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00" i="0" b="0">
                <a:solidFill>
                  <a:srgbClr val="B5482A"/>
                </a:solidFill>
                <a:latin typeface="Consolas"/>
              </a:rPr>
              <a:t>FakeNotifier</a:t>
            </a:r>
            <a:r>
              <a:rPr sz="900" i="0" b="0">
                <a:solidFill>
                  <a:srgbClr val="434343"/>
                </a:solidFill>
                <a:latin typeface="Inter"/>
              </a:rPr>
              <a:t> mencatat pesan, tidak mencetak apa-apa</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Service dibuat dengan repository in-memory + notifier palsu</a:t>
            </a:r>
          </a:p>
          <a:p>
            <a:pPr algn="l" marL="182880" indent="-182880">
              <a:lnSpc>
                <a:spcPct val="115000"/>
              </a:lnSpc>
              <a:spcAft>
                <a:spcPts val="400"/>
              </a:spcAft>
              <a:buClr>
                <a:srgbClr val="E0764F"/>
              </a:buClr>
              <a:buSzPct val="100000"/>
              <a:buFont typeface="+mj-lt"/>
              <a:buAutoNum type="arabicPeriod"/>
            </a:pPr>
            <a:r>
              <a:rPr sz="900" i="0" b="0">
                <a:solidFill>
                  <a:srgbClr val="434343"/>
                </a:solidFill>
                <a:latin typeface="Inter"/>
              </a:rPr>
              <a:t>Test business logic langsung, tanpa server dan database</a:t>
            </a:r>
          </a:p>
          <a:p>
            <a:pPr algn="l">
              <a:lnSpc>
                <a:spcPct val="115000"/>
              </a:lnSpc>
              <a:spcAft>
                <a:spcPts val="0"/>
              </a:spcAft>
            </a:pPr>
            <a:r>
              <a:rPr sz="540"/>
              <a:t/>
            </a:r>
          </a:p>
          <a:p>
            <a:pPr algn="l">
              <a:lnSpc>
                <a:spcPct val="115000"/>
              </a:lnSpc>
              <a:spcAft>
                <a:spcPts val="400"/>
              </a:spcAft>
            </a:pPr>
            <a:r>
              <a:rPr sz="900" i="0" b="0">
                <a:solidFill>
                  <a:srgbClr val="434343"/>
                </a:solidFill>
                <a:latin typeface="Inter"/>
              </a:rPr>
              <a:t>Lengkapnya ada 4 test di </a:t>
            </a:r>
            <a:r>
              <a:rPr sz="900" i="0" b="0">
                <a:solidFill>
                  <a:srgbClr val="B5482A"/>
                </a:solidFill>
                <a:latin typeface="Consolas"/>
              </a:rPr>
              <a:t>after/test_service.py</a:t>
            </a:r>
            <a:r>
              <a:rPr sz="900" i="0" b="0">
                <a:solidFill>
                  <a:srgbClr val="434343"/>
                </a:solidFill>
                <a:latin typeface="Inter"/>
              </a:rPr>
              <a:t>.</a:t>
            </a:r>
          </a:p>
        </p:txBody>
      </p:sp>
      <p:sp>
        <p:nvSpPr>
          <p:cNvPr id="34" name="Box 17"/>
          <p:cNvSpPr/>
          <p:nvPr/>
        </p:nvSpPr>
        <p:spPr>
          <a:xfrm>
            <a:off x="5897879" y="3721608"/>
            <a:ext cx="25877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Text 18"/>
          <p:cNvSpPr txBox="1"/>
          <p:nvPr/>
        </p:nvSpPr>
        <p:spPr>
          <a:xfrm>
            <a:off x="6035040" y="3813048"/>
            <a:ext cx="2313432" cy="310896"/>
          </a:xfrm>
          <a:prstGeom prst="rect">
            <a:avLst/>
          </a:prstGeom>
          <a:noFill/>
        </p:spPr>
        <p:txBody>
          <a:bodyPr wrap="square" anchor="t" lIns="45720" rIns="45720">
            <a:spAutoFit/>
          </a:bodyPr>
          <a:lstStyle/>
          <a:p>
            <a:pPr algn="l">
              <a:lnSpc>
                <a:spcPct val="115000"/>
              </a:lnSpc>
              <a:spcAft>
                <a:spcPts val="400"/>
              </a:spcAft>
            </a:pPr>
            <a:r>
              <a:rPr sz="1050" i="0" b="1">
                <a:solidFill>
                  <a:srgbClr val="2E7D5B"/>
                </a:solidFill>
                <a:latin typeface="Inter"/>
              </a:rPr>
              <a:t>Cek</a:t>
            </a:r>
          </a:p>
        </p:txBody>
      </p:sp>
      <p:sp>
        <p:nvSpPr>
          <p:cNvPr id="36" name="Text 19"/>
          <p:cNvSpPr txBox="1"/>
          <p:nvPr/>
        </p:nvSpPr>
        <p:spPr>
          <a:xfrm>
            <a:off x="6035040" y="4133088"/>
            <a:ext cx="2313432" cy="475488"/>
          </a:xfrm>
          <a:prstGeom prst="rect">
            <a:avLst/>
          </a:prstGeom>
          <a:noFill/>
        </p:spPr>
        <p:txBody>
          <a:bodyPr wrap="square" anchor="t" lIns="45720" rIns="45720">
            <a:spAutoFit/>
          </a:bodyPr>
          <a:lstStyle/>
          <a:p>
            <a:pPr algn="l">
              <a:lnSpc>
                <a:spcPct val="115000"/>
              </a:lnSpc>
              <a:spcAft>
                <a:spcPts val="400"/>
              </a:spcAft>
            </a:pPr>
            <a:r>
              <a:rPr sz="900" i="0" b="0">
                <a:solidFill>
                  <a:srgbClr val="B5482A"/>
                </a:solidFill>
                <a:latin typeface="Consolas"/>
              </a:rPr>
              <a:t>pytest -v</a:t>
            </a:r>
            <a:r>
              <a:rPr sz="900" i="0" b="0">
                <a:solidFill>
                  <a:srgbClr val="434343"/>
                </a:solidFill>
                <a:latin typeface="Inter"/>
              </a:rPr>
              <a:t> → 4 passed (lihat langkah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Jalankan Test</a:t>
            </a:r>
          </a:p>
        </p:txBody>
      </p:sp>
      <p:pic>
        <p:nvPicPr>
          <p:cNvPr id="22" name="Image 3" descr="s01-pytest.png"/>
          <p:cNvPicPr>
            <a:picLocks noChangeAspect="1"/>
          </p:cNvPicPr>
          <p:nvPr/>
        </p:nvPicPr>
        <p:blipFill>
          <a:blip r:embed="rId2"/>
          <a:stretch>
            <a:fillRect/>
          </a:stretch>
        </p:blipFill>
        <p:spPr>
          <a:xfrm>
            <a:off x="621792" y="1481328"/>
            <a:ext cx="5212080" cy="1545856"/>
          </a:xfrm>
          <a:prstGeom prst="rect">
            <a:avLst/>
          </a:prstGeom>
          <a:ln w="9525">
            <a:solidFill>
              <a:srgbClr val="D0D5DD"/>
            </a:solidFill>
          </a:ln>
        </p:spPr>
      </p:pic>
      <p:sp>
        <p:nvSpPr>
          <p:cNvPr id="23" name="Box 4"/>
          <p:cNvSpPr/>
          <p:nvPr/>
        </p:nvSpPr>
        <p:spPr>
          <a:xfrm>
            <a:off x="5989320" y="1481328"/>
            <a:ext cx="2496312" cy="3218688"/>
          </a:xfrm>
          <a:prstGeom prst="roundRect">
            <a:avLst>
              <a:gd name="adj" fmla="val 4395"/>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4" name="Text 5"/>
          <p:cNvSpPr txBox="1"/>
          <p:nvPr/>
        </p:nvSpPr>
        <p:spPr>
          <a:xfrm>
            <a:off x="6126480" y="1572768"/>
            <a:ext cx="2221992" cy="310896"/>
          </a:xfrm>
          <a:prstGeom prst="rect">
            <a:avLst/>
          </a:prstGeom>
          <a:noFill/>
        </p:spPr>
        <p:txBody>
          <a:bodyPr wrap="square" anchor="t" lIns="45720" rIns="45720">
            <a:spAutoFit/>
          </a:bodyPr>
          <a:lstStyle/>
          <a:p>
            <a:pPr algn="l">
              <a:lnSpc>
                <a:spcPct val="115000"/>
              </a:lnSpc>
              <a:spcAft>
                <a:spcPts val="400"/>
              </a:spcAft>
            </a:pPr>
            <a:r>
              <a:rPr sz="1100" i="0" b="1">
                <a:solidFill>
                  <a:srgbClr val="E0764F"/>
                </a:solidFill>
                <a:latin typeface="Inter"/>
              </a:rPr>
              <a:t>Yang dikerjakan</a:t>
            </a:r>
          </a:p>
        </p:txBody>
      </p:sp>
      <p:sp>
        <p:nvSpPr>
          <p:cNvPr id="25" name="Text 6"/>
          <p:cNvSpPr txBox="1"/>
          <p:nvPr/>
        </p:nvSpPr>
        <p:spPr>
          <a:xfrm>
            <a:off x="6126480" y="1892808"/>
            <a:ext cx="2221992" cy="2715768"/>
          </a:xfrm>
          <a:prstGeom prst="rect">
            <a:avLst/>
          </a:prstGeom>
          <a:noFill/>
        </p:spPr>
        <p:txBody>
          <a:bodyPr wrap="square" anchor="t" lIns="45720" rIns="45720">
            <a:spAutoFit/>
          </a:bodyPr>
          <a:lstStyle/>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Masuk ke folder </a:t>
            </a:r>
            <a:r>
              <a:rPr sz="950" i="0" b="0">
                <a:solidFill>
                  <a:srgbClr val="B5482A"/>
                </a:solidFill>
                <a:latin typeface="Consolas"/>
              </a:rPr>
              <a:t>latihan/</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Jalankan </a:t>
            </a:r>
            <a:r>
              <a:rPr sz="950" i="0" b="0">
                <a:solidFill>
                  <a:srgbClr val="B5482A"/>
                </a:solidFill>
                <a:latin typeface="Consolas"/>
              </a:rPr>
              <a:t>pytest -v</a:t>
            </a:r>
          </a:p>
          <a:p>
            <a:pPr algn="l" marL="182880" indent="-182880">
              <a:lnSpc>
                <a:spcPct val="115000"/>
              </a:lnSpc>
              <a:spcAft>
                <a:spcPts val="400"/>
              </a:spcAft>
              <a:buClr>
                <a:srgbClr val="E0764F"/>
              </a:buClr>
              <a:buSzPct val="100000"/>
              <a:buFont typeface="+mj-lt"/>
              <a:buAutoNum type="arabicPeriod"/>
            </a:pPr>
            <a:r>
              <a:rPr sz="950" i="0" b="0">
                <a:solidFill>
                  <a:srgbClr val="434343"/>
                </a:solidFill>
                <a:latin typeface="Inter"/>
              </a:rPr>
              <a:t>Semua test harus </a:t>
            </a:r>
            <a:r>
              <a:rPr sz="950" i="0" b="1">
                <a:solidFill>
                  <a:srgbClr val="434343"/>
                </a:solidFill>
                <a:latin typeface="Inter"/>
              </a:rPr>
              <a:t>PASSED</a:t>
            </a:r>
          </a:p>
          <a:p>
            <a:pPr algn="l">
              <a:lnSpc>
                <a:spcPct val="115000"/>
              </a:lnSpc>
              <a:spcAft>
                <a:spcPts val="0"/>
              </a:spcAft>
            </a:pPr>
            <a:r>
              <a:rPr sz="570"/>
              <a:t/>
            </a:r>
          </a:p>
          <a:p>
            <a:pPr algn="l">
              <a:lnSpc>
                <a:spcPct val="115000"/>
              </a:lnSpc>
              <a:spcAft>
                <a:spcPts val="400"/>
              </a:spcAft>
            </a:pPr>
            <a:r>
              <a:rPr sz="950" i="0" b="0">
                <a:solidFill>
                  <a:srgbClr val="434343"/>
                </a:solidFill>
                <a:latin typeface="Inter"/>
              </a:rPr>
              <a:t>Test ini tidak butuh server maupun file database, karena service memakai repository in-memory.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Jalankan Aplikasi &amp; Coba di Swagger</a:t>
            </a:r>
          </a:p>
        </p:txBody>
      </p:sp>
      <p:pic>
        <p:nvPicPr>
          <p:cNvPr id="22" name="Image 3" descr="s01-post.png"/>
          <p:cNvPicPr>
            <a:picLocks noChangeAspect="1"/>
          </p:cNvPicPr>
          <p:nvPr/>
        </p:nvPicPr>
        <p:blipFill>
          <a:blip r:embed="rId2"/>
          <a:stretch>
            <a:fillRect/>
          </a:stretch>
        </p:blipFill>
        <p:spPr>
          <a:xfrm>
            <a:off x="621792" y="1481328"/>
            <a:ext cx="2479164" cy="3218688"/>
          </a:xfrm>
          <a:prstGeom prst="rect">
            <a:avLst/>
          </a:prstGeom>
          <a:ln w="9525">
            <a:solidFill>
              <a:srgbClr val="D0D5DD"/>
            </a:solidFill>
          </a:ln>
        </p:spPr>
      </p:pic>
      <p:pic>
        <p:nvPicPr>
          <p:cNvPr id="23" name="Image 4" descr="s01-get-resp.png"/>
          <p:cNvPicPr>
            <a:picLocks noChangeAspect="1"/>
          </p:cNvPicPr>
          <p:nvPr/>
        </p:nvPicPr>
        <p:blipFill>
          <a:blip r:embed="rId3"/>
          <a:stretch>
            <a:fillRect/>
          </a:stretch>
        </p:blipFill>
        <p:spPr>
          <a:xfrm>
            <a:off x="3291840" y="1481328"/>
            <a:ext cx="4206240" cy="1213583"/>
          </a:xfrm>
          <a:prstGeom prst="rect">
            <a:avLst/>
          </a:prstGeom>
          <a:ln w="9525">
            <a:solidFill>
              <a:srgbClr val="D0D5DD"/>
            </a:solidFill>
          </a:ln>
        </p:spPr>
      </p:pic>
      <p:sp>
        <p:nvSpPr>
          <p:cNvPr id="24" name="Text 5"/>
          <p:cNvSpPr txBox="1"/>
          <p:nvPr/>
        </p:nvSpPr>
        <p:spPr>
          <a:xfrm>
            <a:off x="3291840" y="2715768"/>
            <a:ext cx="5193792" cy="274320"/>
          </a:xfrm>
          <a:prstGeom prst="rect">
            <a:avLst/>
          </a:prstGeom>
          <a:noFill/>
        </p:spPr>
        <p:txBody>
          <a:bodyPr wrap="square" anchor="t" lIns="45720" rIns="45720">
            <a:spAutoFit/>
          </a:bodyPr>
          <a:lstStyle/>
          <a:p>
            <a:pPr algn="l">
              <a:lnSpc>
                <a:spcPct val="115000"/>
              </a:lnSpc>
              <a:spcAft>
                <a:spcPts val="400"/>
              </a:spcAft>
            </a:pPr>
            <a:r>
              <a:rPr sz="850" i="0" b="0">
                <a:solidFill>
                  <a:srgbClr val="7A7A7A"/>
                </a:solidFill>
                <a:latin typeface="Inter"/>
              </a:rPr>
              <a:t>GET /orders/1: order yang baru dibuat bisa dibaca lagi</a:t>
            </a:r>
          </a:p>
        </p:txBody>
      </p:sp>
      <p:pic>
        <p:nvPicPr>
          <p:cNvPr id="25" name="Image 6" descr="s01-uvicorn.png"/>
          <p:cNvPicPr>
            <a:picLocks noChangeAspect="1"/>
          </p:cNvPicPr>
          <p:nvPr/>
        </p:nvPicPr>
        <p:blipFill>
          <a:blip r:embed="rId4"/>
          <a:stretch>
            <a:fillRect/>
          </a:stretch>
        </p:blipFill>
        <p:spPr>
          <a:xfrm>
            <a:off x="3291840" y="3017520"/>
            <a:ext cx="5193792" cy="944326"/>
          </a:xfrm>
          <a:prstGeom prst="rect">
            <a:avLst/>
          </a:prstGeom>
          <a:ln w="9525">
            <a:solidFill>
              <a:srgbClr val="D0D5DD"/>
            </a:solidFill>
          </a:ln>
        </p:spPr>
      </p:pic>
      <p:sp>
        <p:nvSpPr>
          <p:cNvPr id="26" name="Text 7"/>
          <p:cNvSpPr txBox="1"/>
          <p:nvPr/>
        </p:nvSpPr>
        <p:spPr>
          <a:xfrm>
            <a:off x="3291840" y="4041648"/>
            <a:ext cx="5193792" cy="685800"/>
          </a:xfrm>
          <a:prstGeom prst="rect">
            <a:avLst/>
          </a:prstGeom>
          <a:noFill/>
        </p:spPr>
        <p:txBody>
          <a:bodyPr wrap="square" anchor="t" lIns="45720" rIns="45720">
            <a:spAutoFit/>
          </a:bodyPr>
          <a:lstStyle/>
          <a:p>
            <a:pPr algn="l">
              <a:lnSpc>
                <a:spcPct val="115000"/>
              </a:lnSpc>
              <a:spcAft>
                <a:spcPts val="400"/>
              </a:spcAft>
            </a:pPr>
            <a:r>
              <a:rPr sz="900" i="0" b="0">
                <a:solidFill>
                  <a:srgbClr val="434343"/>
                </a:solidFill>
                <a:latin typeface="Inter"/>
              </a:rPr>
              <a:t>Response POST sama dengan langkah 1: 201, total 900.000. Log uvicorn menunjukkan notifikasi terkirim lewat </a:t>
            </a:r>
            <a:r>
              <a:rPr sz="900" i="0" b="0">
                <a:solidFill>
                  <a:srgbClr val="B5482A"/>
                </a:solidFill>
                <a:latin typeface="Consolas"/>
              </a:rPr>
              <a:t>EmailNotifier</a:t>
            </a:r>
            <a:r>
              <a:rPr sz="900" i="0" b="0">
                <a:solidFill>
                  <a:srgbClr val="434343"/>
                </a:solidFill>
                <a:latin typeface="Inter"/>
              </a:rPr>
              <a:t> yang dibuat factory.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3017520"/>
        </p:xfrm>
        <a:graphic>
          <a:graphicData uri="http://schemas.openxmlformats.org/drawingml/2006/table">
            <a:tbl>
              <a:tblPr firstRow="1" bandRow="1"/>
              <a:tblGrid>
                <a:gridCol w="3108960"/>
                <a:gridCol w="4754880"/>
              </a:tblGrid>
              <a:tr h="502920">
                <a:tc>
                  <a:txBody>
                    <a:bodyPr wrap="square"/>
                    <a:lstStyle/>
                    <a:p>
                      <a:pPr algn="l">
                        <a:lnSpc>
                          <a:spcPct val="100000"/>
                        </a:lnSpc>
                        <a:spcAft>
                          <a:spcPts val="0"/>
                        </a:spcAft>
                      </a:pPr>
                      <a:r>
                        <a:rPr sz="950" i="0" b="1">
                          <a:solidFill>
                            <a:srgbClr val="FFFFFF"/>
                          </a:solidFill>
                          <a:latin typeface="Inter"/>
                        </a:rPr>
                        <a:t>Kriteria</a:t>
                      </a:r>
                    </a:p>
                  </a:txBody>
                  <a:tcPr marL="73152" marR="73152" marT="36576" marB="36576" anchor="ctr">
                    <a:solidFill>
                      <a:srgbClr val="1C4587"/>
                    </a:solidFill>
                  </a:tcPr>
                </a:tc>
                <a:tc>
                  <a:txBody>
                    <a:bodyPr wrap="square"/>
                    <a:lstStyle/>
                    <a:p>
                      <a:pPr algn="l">
                        <a:lnSpc>
                          <a:spcPct val="100000"/>
                        </a:lnSpc>
                        <a:spcAft>
                          <a:spcPts val="0"/>
                        </a:spcAft>
                      </a:pPr>
                      <a:r>
                        <a:rPr sz="950" i="0" b="1">
                          <a:solidFill>
                            <a:srgbClr val="FFFFFF"/>
                          </a:solidFill>
                          <a:latin typeface="Inter"/>
                        </a:rPr>
                        <a:t>Cara mengecek</a:t>
                      </a:r>
                    </a:p>
                  </a:txBody>
                  <a:tcPr marL="73152" marR="73152" marT="36576" marB="36576" anchor="ctr">
                    <a:solidFill>
                      <a:srgbClr val="1C4587"/>
                    </a:solidFill>
                  </a:tcPr>
                </a:tc>
              </a:tr>
              <a:tr h="502920">
                <a:tc>
                  <a:txBody>
                    <a:bodyPr wrap="square"/>
                    <a:lstStyle/>
                    <a:p>
                      <a:pPr algn="l">
                        <a:lnSpc>
                          <a:spcPct val="100000"/>
                        </a:lnSpc>
                        <a:spcAft>
                          <a:spcPts val="0"/>
                        </a:spcAft>
                      </a:pPr>
                      <a:r>
                        <a:rPr sz="950" i="0" b="1">
                          <a:solidFill>
                            <a:srgbClr val="1C4587"/>
                          </a:solidFill>
                          <a:latin typeface="Inter"/>
                        </a:rPr>
                        <a:t>POST &amp; GET tetap jalan, response sama</a:t>
                      </a:r>
                    </a:p>
                  </a:txBody>
                  <a:tcPr marL="73152" marR="73152" marT="36576" marB="36576" anchor="ctr">
                    <a:solidFill>
                      <a:srgbClr val="FFFFFF"/>
                    </a:solidFill>
                  </a:tcPr>
                </a:tc>
                <a:tc>
                  <a:txBody>
                    <a:bodyPr wrap="square"/>
                    <a:lstStyle/>
                    <a:p>
                      <a:pPr algn="l">
                        <a:lnSpc>
                          <a:spcPct val="100000"/>
                        </a:lnSpc>
                        <a:spcAft>
                          <a:spcPts val="0"/>
                        </a:spcAft>
                      </a:pPr>
                      <a:r>
                        <a:rPr sz="950" i="0" b="0">
                          <a:solidFill>
                            <a:srgbClr val="434343"/>
                          </a:solidFill>
                          <a:latin typeface="Inter"/>
                        </a:rPr>
                        <a:t>Bandingkan response Swagger langkah 1 dan langkah 9</a:t>
                      </a:r>
                    </a:p>
                  </a:txBody>
                  <a:tcPr marL="73152" marR="73152" marT="36576" marB="36576" anchor="ctr">
                    <a:solidFill>
                      <a:srgbClr val="FFFFFF"/>
                    </a:solidFill>
                  </a:tcPr>
                </a:tc>
              </a:tr>
              <a:tr h="502920">
                <a:tc>
                  <a:txBody>
                    <a:bodyPr wrap="square"/>
                    <a:lstStyle/>
                    <a:p>
                      <a:pPr algn="l">
                        <a:lnSpc>
                          <a:spcPct val="100000"/>
                        </a:lnSpc>
                        <a:spcAft>
                          <a:spcPts val="0"/>
                        </a:spcAft>
                      </a:pPr>
                      <a:r>
                        <a:rPr sz="950" i="0" b="1">
                          <a:solidFill>
                            <a:srgbClr val="1C4587"/>
                          </a:solidFill>
                          <a:latin typeface="Inter"/>
                        </a:rPr>
                        <a:t>service.py tanpa fastapi &amp; sqlite3</a:t>
                      </a:r>
                    </a:p>
                  </a:txBody>
                  <a:tcPr marL="73152" marR="73152" marT="36576" marB="36576" anchor="ctr">
                    <a:solidFill>
                      <a:srgbClr val="F3F4F6"/>
                    </a:solidFill>
                  </a:tcPr>
                </a:tc>
                <a:tc>
                  <a:txBody>
                    <a:bodyPr wrap="square"/>
                    <a:lstStyle/>
                    <a:p>
                      <a:pPr algn="l">
                        <a:lnSpc>
                          <a:spcPct val="100000"/>
                        </a:lnSpc>
                        <a:spcAft>
                          <a:spcPts val="0"/>
                        </a:spcAft>
                      </a:pPr>
                      <a:r>
                        <a:rPr sz="950" i="0" b="0">
                          <a:solidFill>
                            <a:srgbClr val="434343"/>
                          </a:solidFill>
                          <a:latin typeface="Inter"/>
                        </a:rPr>
                        <a:t>Buka service.py: import-nya hanya discounts, notifiers, repository</a:t>
                      </a:r>
                    </a:p>
                  </a:txBody>
                  <a:tcPr marL="73152" marR="73152" marT="36576" marB="36576" anchor="ctr">
                    <a:solidFill>
                      <a:srgbClr val="F3F4F6"/>
                    </a:solidFill>
                  </a:tcPr>
                </a:tc>
              </a:tr>
              <a:tr h="502920">
                <a:tc>
                  <a:txBody>
                    <a:bodyPr wrap="square"/>
                    <a:lstStyle/>
                    <a:p>
                      <a:pPr algn="l">
                        <a:lnSpc>
                          <a:spcPct val="100000"/>
                        </a:lnSpc>
                        <a:spcAft>
                          <a:spcPts val="0"/>
                        </a:spcAft>
                      </a:pPr>
                      <a:r>
                        <a:rPr sz="950" i="0" b="1">
                          <a:solidFill>
                            <a:srgbClr val="1C4587"/>
                          </a:solidFill>
                          <a:latin typeface="Inter"/>
                        </a:rPr>
                        <a:t>Tipe customer baru tanpa ubah service.py</a:t>
                      </a:r>
                    </a:p>
                  </a:txBody>
                  <a:tcPr marL="73152" marR="73152" marT="36576" marB="36576" anchor="ctr">
                    <a:solidFill>
                      <a:srgbClr val="FFFFFF"/>
                    </a:solidFill>
                  </a:tcPr>
                </a:tc>
                <a:tc>
                  <a:txBody>
                    <a:bodyPr wrap="square"/>
                    <a:lstStyle/>
                    <a:p>
                      <a:pPr algn="l">
                        <a:lnSpc>
                          <a:spcPct val="100000"/>
                        </a:lnSpc>
                        <a:spcAft>
                          <a:spcPts val="0"/>
                        </a:spcAft>
                      </a:pPr>
                      <a:r>
                        <a:rPr sz="950" i="0" b="0">
                          <a:solidFill>
                            <a:srgbClr val="434343"/>
                          </a:solidFill>
                          <a:latin typeface="Inter"/>
                        </a:rPr>
                        <a:t>Tambah "student" di DISCOUNTS (discounts.py), service.py tidak disentuh</a:t>
                      </a:r>
                    </a:p>
                  </a:txBody>
                  <a:tcPr marL="73152" marR="73152" marT="36576" marB="36576" anchor="ctr">
                    <a:solidFill>
                      <a:srgbClr val="FFFFFF"/>
                    </a:solidFill>
                  </a:tcPr>
                </a:tc>
              </a:tr>
              <a:tr h="502920">
                <a:tc>
                  <a:txBody>
                    <a:bodyPr wrap="square"/>
                    <a:lstStyle/>
                    <a:p>
                      <a:pPr algn="l">
                        <a:lnSpc>
                          <a:spcPct val="100000"/>
                        </a:lnSpc>
                        <a:spcAft>
                          <a:spcPts val="0"/>
                        </a:spcAft>
                      </a:pPr>
                      <a:r>
                        <a:rPr sz="950" i="0" b="1">
                          <a:solidFill>
                            <a:srgbClr val="1C4587"/>
                          </a:solidFill>
                          <a:latin typeface="Inter"/>
                        </a:rPr>
                        <a:t>Unit test tanpa database</a:t>
                      </a:r>
                    </a:p>
                  </a:txBody>
                  <a:tcPr marL="73152" marR="73152" marT="36576" marB="36576" anchor="ctr">
                    <a:solidFill>
                      <a:srgbClr val="F3F4F6"/>
                    </a:solidFill>
                  </a:tcPr>
                </a:tc>
                <a:tc>
                  <a:txBody>
                    <a:bodyPr wrap="square"/>
                    <a:lstStyle/>
                    <a:p>
                      <a:pPr algn="l">
                        <a:lnSpc>
                          <a:spcPct val="100000"/>
                        </a:lnSpc>
                        <a:spcAft>
                          <a:spcPts val="0"/>
                        </a:spcAft>
                      </a:pPr>
                      <a:r>
                        <a:rPr sz="950" i="0" b="0">
                          <a:solidFill>
                            <a:srgbClr val="434343"/>
                          </a:solidFill>
                          <a:latin typeface="Inter"/>
                        </a:rPr>
                        <a:t>test_service.py memakai InMemoryOrderRepository + FakeNotifier</a:t>
                      </a:r>
                    </a:p>
                  </a:txBody>
                  <a:tcPr marL="73152" marR="73152" marT="36576" marB="36576" anchor="ctr">
                    <a:solidFill>
                      <a:srgbClr val="F3F4F6"/>
                    </a:solidFill>
                  </a:tcPr>
                </a:tc>
              </a:tr>
              <a:tr h="502920">
                <a:tc>
                  <a:txBody>
                    <a:bodyPr wrap="square"/>
                    <a:lstStyle/>
                    <a:p>
                      <a:pPr algn="l">
                        <a:lnSpc>
                          <a:spcPct val="100000"/>
                        </a:lnSpc>
                        <a:spcAft>
                          <a:spcPts val="0"/>
                        </a:spcAft>
                      </a:pPr>
                      <a:r>
                        <a:rPr sz="950" i="0" b="1">
                          <a:solidFill>
                            <a:srgbClr val="1C4587"/>
                          </a:solidFill>
                          <a:latin typeface="Inter"/>
                        </a:rPr>
                        <a:t>pytest hijau</a:t>
                      </a:r>
                    </a:p>
                  </a:txBody>
                  <a:tcPr marL="73152" marR="73152" marT="36576" marB="36576" anchor="ctr">
                    <a:solidFill>
                      <a:srgbClr val="FFFFFF"/>
                    </a:solidFill>
                  </a:tcPr>
                </a:tc>
                <a:tc>
                  <a:txBody>
                    <a:bodyPr wrap="square"/>
                    <a:lstStyle/>
                    <a:p>
                      <a:pPr algn="l">
                        <a:lnSpc>
                          <a:spcPct val="100000"/>
                        </a:lnSpc>
                        <a:spcAft>
                          <a:spcPts val="0"/>
                        </a:spcAft>
                      </a:pPr>
                      <a:r>
                        <a:rPr sz="950" i="0" b="0">
                          <a:solidFill>
                            <a:srgbClr val="434343"/>
                          </a:solidFill>
                          <a:latin typeface="Inter"/>
                        </a:rPr>
                        <a:t>pytest -v → 4 passed</a:t>
                      </a:r>
                    </a:p>
                  </a:txBody>
                  <a:tcPr marL="73152" marR="73152" marT="36576" marB="36576" anchor="ct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Alur Request Setelah Refactor</a:t>
            </a:r>
          </a:p>
        </p:txBody>
      </p:sp>
      <p:sp>
        <p:nvSpPr>
          <p:cNvPr id="22" name="CodeTab 4"/>
          <p:cNvSpPr/>
          <p:nvPr/>
        </p:nvSpPr>
        <p:spPr>
          <a:xfrm>
            <a:off x="621792" y="1481328"/>
            <a:ext cx="45720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 8"/>
          <p:cNvSpPr txBox="1"/>
          <p:nvPr/>
        </p:nvSpPr>
        <p:spPr>
          <a:xfrm>
            <a:off x="1170432" y="1490472"/>
            <a:ext cx="3931920" cy="219456"/>
          </a:xfrm>
          <a:prstGeom prst="rect">
            <a:avLst/>
          </a:prstGeom>
          <a:noFill/>
        </p:spPr>
        <p:txBody>
          <a:bodyPr wrap="square" anchor="ctr" lIns="18288" rIns="18288" tIns="18288" bIns="18288">
            <a:spAutoFit/>
          </a:bodyPr>
          <a:lstStyle/>
          <a:p>
            <a:pPr algn="l">
              <a:lnSpc>
                <a:spcPct val="115000"/>
              </a:lnSpc>
              <a:spcAft>
                <a:spcPts val="400"/>
              </a:spcAft>
            </a:pPr>
            <a:r>
              <a:rPr sz="800" i="0" b="0">
                <a:solidFill>
                  <a:srgbClr val="AEB8C4"/>
                </a:solidFill>
                <a:latin typeface="Consolas"/>
              </a:rPr>
              <a:t>after/main.py</a:t>
            </a:r>
          </a:p>
        </p:txBody>
      </p:sp>
      <p:sp>
        <p:nvSpPr>
          <p:cNvPr id="27" name="CodeBg 10"/>
          <p:cNvSpPr/>
          <p:nvPr/>
        </p:nvSpPr>
        <p:spPr>
          <a:xfrm>
            <a:off x="621792" y="1719072"/>
            <a:ext cx="4572000" cy="950976"/>
          </a:xfrm>
          <a:prstGeom prst="roundRect">
            <a:avLst>
              <a:gd name="adj" fmla="val 192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8" name="Code 11"/>
          <p:cNvSpPr txBox="1"/>
          <p:nvPr/>
        </p:nvSpPr>
        <p:spPr>
          <a:xfrm>
            <a:off x="621792" y="1719072"/>
            <a:ext cx="4572000" cy="950976"/>
          </a:xfrm>
          <a:prstGeom prst="rect">
            <a:avLst/>
          </a:prstGeom>
          <a:noFill/>
        </p:spPr>
        <p:txBody>
          <a:bodyPr wrap="none" lIns="146304" rIns="146304" tIns="91440" bIns="54864">
            <a:spAutoFit/>
          </a:bodyPr>
          <a:lstStyle/>
          <a:p>
            <a:pPr>
              <a:lnSpc>
                <a:spcPts val="800"/>
              </a:lnSpc>
              <a:spcAft>
                <a:spcPts val="0"/>
              </a:spcAft>
            </a:pPr>
            <a:r>
              <a:rPr sz="650" i="0">
                <a:solidFill>
                  <a:srgbClr val="F9C97A"/>
                </a:solidFill>
                <a:latin typeface="Consolas"/>
              </a:rPr>
              <a:t>@app.post</a:t>
            </a:r>
            <a:r>
              <a:rPr sz="650" i="0">
                <a:solidFill>
                  <a:srgbClr val="E6EDF3"/>
                </a:solidFill>
                <a:latin typeface="Consolas"/>
              </a:rPr>
              <a:t>(</a:t>
            </a:r>
            <a:r>
              <a:rPr sz="650" i="0">
                <a:solidFill>
                  <a:srgbClr val="A5D6A7"/>
                </a:solidFill>
                <a:latin typeface="Consolas"/>
              </a:rPr>
              <a:t>"/orders"</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status_code</a:t>
            </a:r>
            <a:r>
              <a:rPr sz="650" i="0">
                <a:solidFill>
                  <a:srgbClr val="E6EDF3"/>
                </a:solidFill>
                <a:latin typeface="Consolas"/>
              </a:rPr>
              <a:t>=</a:t>
            </a:r>
            <a:r>
              <a:rPr sz="650" i="0">
                <a:solidFill>
                  <a:srgbClr val="F9C97A"/>
                </a:solidFill>
                <a:latin typeface="Consolas"/>
              </a:rPr>
              <a:t>201</a:t>
            </a:r>
            <a:r>
              <a:rPr sz="650" i="0">
                <a:solidFill>
                  <a:srgbClr val="E6EDF3"/>
                </a:solidFill>
                <a:latin typeface="Consolas"/>
              </a:rPr>
              <a:t>)</a:t>
            </a:r>
          </a:p>
          <a:p>
            <a:pPr>
              <a:lnSpc>
                <a:spcPts val="800"/>
              </a:lnSpc>
              <a:spcAft>
                <a:spcPts val="0"/>
              </a:spcAft>
            </a:pPr>
            <a:r>
              <a:rPr sz="650" i="0">
                <a:solidFill>
                  <a:srgbClr val="FF8E6E"/>
                </a:solidFill>
                <a:latin typeface="Consolas"/>
              </a:rPr>
              <a:t>def</a:t>
            </a:r>
            <a:r>
              <a:rPr sz="650" i="0">
                <a:solidFill>
                  <a:srgbClr val="E6EDF3"/>
                </a:solidFill>
                <a:latin typeface="Consolas"/>
              </a:rPr>
              <a:t> </a:t>
            </a:r>
            <a:r>
              <a:rPr sz="650" i="0">
                <a:solidFill>
                  <a:srgbClr val="82B1FF"/>
                </a:solidFill>
                <a:latin typeface="Consolas"/>
              </a:rPr>
              <a:t>create_order</a:t>
            </a:r>
            <a:r>
              <a:rPr sz="650" i="0">
                <a:solidFill>
                  <a:srgbClr val="E6EDF3"/>
                </a:solidFill>
                <a:latin typeface="Consolas"/>
              </a:rPr>
              <a:t>(</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OrderIn</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service</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OrderService</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7FDBCA"/>
                </a:solidFill>
                <a:latin typeface="Consolas"/>
              </a:rPr>
              <a:t>Depends</a:t>
            </a:r>
            <a:r>
              <a:rPr sz="650" i="0">
                <a:solidFill>
                  <a:srgbClr val="E6EDF3"/>
                </a:solidFill>
                <a:latin typeface="Consolas"/>
              </a:rPr>
              <a:t>(</a:t>
            </a:r>
            <a:r>
              <a:rPr sz="650" i="0">
                <a:solidFill>
                  <a:srgbClr val="E6EDF3"/>
                </a:solidFill>
                <a:latin typeface="Consolas"/>
              </a:rPr>
              <a:t>get_order_service</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try</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E6EDF3"/>
                </a:solidFill>
                <a:latin typeface="Consolas"/>
              </a:rPr>
              <a:t>items</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a:t>
            </a:r>
            <a:r>
              <a:rPr sz="650" i="0">
                <a:solidFill>
                  <a:srgbClr val="E6EDF3"/>
                </a:solidFill>
                <a:latin typeface="Consolas"/>
              </a:rPr>
              <a:t>i</a:t>
            </a:r>
            <a:r>
              <a:rPr sz="650" i="0">
                <a:solidFill>
                  <a:srgbClr val="E6EDF3"/>
                </a:solidFill>
                <a:latin typeface="Consolas"/>
              </a:rPr>
              <a:t>.</a:t>
            </a:r>
            <a:r>
              <a:rPr sz="650" i="0">
                <a:solidFill>
                  <a:srgbClr val="E6EDF3"/>
                </a:solidFill>
                <a:latin typeface="Consolas"/>
              </a:rPr>
              <a:t>model_dump</a:t>
            </a:r>
            <a:r>
              <a:rPr sz="650" i="0">
                <a:solidFill>
                  <a:srgbClr val="E6EDF3"/>
                </a:solidFill>
                <a:latin typeface="Consolas"/>
              </a:rPr>
              <a:t>(</a:t>
            </a:r>
            <a:r>
              <a:rPr sz="650" i="0">
                <a:solidFill>
                  <a:srgbClr val="E6EDF3"/>
                </a:solidFill>
                <a:latin typeface="Consolas"/>
              </a:rPr>
              <a:t>)</a:t>
            </a:r>
            <a:r>
              <a:rPr sz="650" i="0">
                <a:solidFill>
                  <a:srgbClr val="E6EDF3"/>
                </a:solidFill>
                <a:latin typeface="Consolas"/>
              </a:rPr>
              <a:t> </a:t>
            </a:r>
            <a:r>
              <a:rPr sz="650" i="0">
                <a:solidFill>
                  <a:srgbClr val="FF8E6E"/>
                </a:solidFill>
                <a:latin typeface="Consolas"/>
              </a:rPr>
              <a:t>for</a:t>
            </a:r>
            <a:r>
              <a:rPr sz="650" i="0">
                <a:solidFill>
                  <a:srgbClr val="E6EDF3"/>
                </a:solidFill>
                <a:latin typeface="Consolas"/>
              </a:rPr>
              <a:t> </a:t>
            </a:r>
            <a:r>
              <a:rPr sz="650" i="0">
                <a:solidFill>
                  <a:srgbClr val="E6EDF3"/>
                </a:solidFill>
                <a:latin typeface="Consolas"/>
              </a:rPr>
              <a:t>i</a:t>
            </a:r>
            <a:r>
              <a:rPr sz="650" i="0">
                <a:solidFill>
                  <a:srgbClr val="E6EDF3"/>
                </a:solidFill>
                <a:latin typeface="Consolas"/>
              </a:rPr>
              <a:t> </a:t>
            </a:r>
            <a:r>
              <a:rPr sz="650" i="0">
                <a:solidFill>
                  <a:srgbClr val="FF8E6E"/>
                </a:solidFill>
                <a:latin typeface="Consolas"/>
              </a:rPr>
              <a:t>in</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items</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return</a:t>
            </a:r>
            <a:r>
              <a:rPr sz="650" i="0">
                <a:solidFill>
                  <a:srgbClr val="E6EDF3"/>
                </a:solidFill>
                <a:latin typeface="Consolas"/>
              </a:rPr>
              <a:t> </a:t>
            </a:r>
            <a:r>
              <a:rPr sz="650" i="0">
                <a:solidFill>
                  <a:srgbClr val="E6EDF3"/>
                </a:solidFill>
                <a:latin typeface="Consolas"/>
              </a:rPr>
              <a:t>service</a:t>
            </a:r>
            <a:r>
              <a:rPr sz="650" i="0">
                <a:solidFill>
                  <a:srgbClr val="E6EDF3"/>
                </a:solidFill>
                <a:latin typeface="Consolas"/>
              </a:rPr>
              <a:t>.</a:t>
            </a:r>
            <a:r>
              <a:rPr sz="650" i="0">
                <a:solidFill>
                  <a:srgbClr val="E6EDF3"/>
                </a:solidFill>
                <a:latin typeface="Consolas"/>
              </a:rPr>
              <a:t>place_order</a:t>
            </a:r>
            <a:r>
              <a:rPr sz="650" i="0">
                <a:solidFill>
                  <a:srgbClr val="E6EDF3"/>
                </a:solidFill>
                <a:latin typeface="Consolas"/>
              </a:rPr>
              <a:t>(</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payload</a:t>
            </a:r>
            <a:r>
              <a:rPr sz="650" i="0">
                <a:solidFill>
                  <a:srgbClr val="E6EDF3"/>
                </a:solidFill>
                <a:latin typeface="Consolas"/>
              </a:rPr>
              <a:t>.</a:t>
            </a:r>
            <a:r>
              <a:rPr sz="650" i="0">
                <a:solidFill>
                  <a:srgbClr val="E6EDF3"/>
                </a:solidFill>
                <a:latin typeface="Consolas"/>
              </a:rPr>
              <a:t>customer_type</a:t>
            </a:r>
            <a:r>
              <a:rPr sz="650" i="0">
                <a:solidFill>
                  <a:srgbClr val="E6EDF3"/>
                </a:solidFill>
                <a:latin typeface="Consolas"/>
              </a:rPr>
              <a:t>,</a:t>
            </a:r>
            <a:r>
              <a:rPr sz="650" i="0">
                <a:solidFill>
                  <a:srgbClr val="E6EDF3"/>
                </a:solidFill>
                <a:latin typeface="Consolas"/>
              </a:rPr>
              <a:t> </a:t>
            </a:r>
            <a:r>
              <a:rPr sz="650" i="0">
                <a:solidFill>
                  <a:srgbClr val="E6EDF3"/>
                </a:solidFill>
                <a:latin typeface="Consolas"/>
              </a:rPr>
              <a:t>items</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except</a:t>
            </a:r>
            <a:r>
              <a:rPr sz="650" i="0">
                <a:solidFill>
                  <a:srgbClr val="E6EDF3"/>
                </a:solidFill>
                <a:latin typeface="Consolas"/>
              </a:rPr>
              <a:t> </a:t>
            </a:r>
            <a:r>
              <a:rPr sz="650" i="0">
                <a:solidFill>
                  <a:srgbClr val="7FDBCA"/>
                </a:solidFill>
                <a:latin typeface="Consolas"/>
              </a:rPr>
              <a:t>ValueError</a:t>
            </a:r>
            <a:r>
              <a:rPr sz="650" i="0">
                <a:solidFill>
                  <a:srgbClr val="E6EDF3"/>
                </a:solidFill>
                <a:latin typeface="Consolas"/>
              </a:rPr>
              <a:t> </a:t>
            </a:r>
            <a:r>
              <a:rPr sz="650" i="0">
                <a:solidFill>
                  <a:srgbClr val="FF8E6E"/>
                </a:solidFill>
                <a:latin typeface="Consolas"/>
              </a:rPr>
              <a:t>as</a:t>
            </a:r>
            <a:r>
              <a:rPr sz="650" i="0">
                <a:solidFill>
                  <a:srgbClr val="E6EDF3"/>
                </a:solidFill>
                <a:latin typeface="Consolas"/>
              </a:rPr>
              <a:t> </a:t>
            </a:r>
            <a:r>
              <a:rPr sz="650" i="0">
                <a:solidFill>
                  <a:srgbClr val="E6EDF3"/>
                </a:solidFill>
                <a:latin typeface="Consolas"/>
              </a:rPr>
              <a:t>e</a:t>
            </a:r>
            <a:r>
              <a:rPr sz="650" i="0">
                <a:solidFill>
                  <a:srgbClr val="E6EDF3"/>
                </a:solidFill>
                <a:latin typeface="Consolas"/>
              </a:rPr>
              <a:t>:</a:t>
            </a:r>
          </a:p>
          <a:p>
            <a:pPr>
              <a:lnSpc>
                <a:spcPts val="800"/>
              </a:lnSpc>
              <a:spcAft>
                <a:spcPts val="0"/>
              </a:spcAft>
            </a:pPr>
            <a:r>
              <a:rPr sz="650" i="0">
                <a:solidFill>
                  <a:srgbClr val="E6EDF3"/>
                </a:solidFill>
                <a:latin typeface="Consolas"/>
              </a:rPr>
              <a:t>        </a:t>
            </a:r>
            <a:r>
              <a:rPr sz="650" i="0">
                <a:solidFill>
                  <a:srgbClr val="FF8E6E"/>
                </a:solidFill>
                <a:latin typeface="Consolas"/>
              </a:rPr>
              <a:t>raise</a:t>
            </a:r>
            <a:r>
              <a:rPr sz="650" i="0">
                <a:solidFill>
                  <a:srgbClr val="E6EDF3"/>
                </a:solidFill>
                <a:latin typeface="Consolas"/>
              </a:rPr>
              <a:t> </a:t>
            </a:r>
            <a:r>
              <a:rPr sz="650" i="0">
                <a:solidFill>
                  <a:srgbClr val="7FDBCA"/>
                </a:solidFill>
                <a:latin typeface="Consolas"/>
              </a:rPr>
              <a:t>HTTPException</a:t>
            </a:r>
            <a:r>
              <a:rPr sz="650" i="0">
                <a:solidFill>
                  <a:srgbClr val="E6EDF3"/>
                </a:solidFill>
                <a:latin typeface="Consolas"/>
              </a:rPr>
              <a:t>(</a:t>
            </a:r>
            <a:r>
              <a:rPr sz="650" i="0">
                <a:solidFill>
                  <a:srgbClr val="F9C97A"/>
                </a:solidFill>
                <a:latin typeface="Consolas"/>
              </a:rPr>
              <a:t>400</a:t>
            </a:r>
            <a:r>
              <a:rPr sz="650" i="0">
                <a:solidFill>
                  <a:srgbClr val="E6EDF3"/>
                </a:solidFill>
                <a:latin typeface="Consolas"/>
              </a:rPr>
              <a:t>,</a:t>
            </a:r>
            <a:r>
              <a:rPr sz="650" i="0">
                <a:solidFill>
                  <a:srgbClr val="E6EDF3"/>
                </a:solidFill>
                <a:latin typeface="Consolas"/>
              </a:rPr>
              <a:t> </a:t>
            </a:r>
            <a:r>
              <a:rPr sz="650" i="0">
                <a:solidFill>
                  <a:srgbClr val="C3A6FF"/>
                </a:solidFill>
                <a:latin typeface="Consolas"/>
              </a:rPr>
              <a:t>str</a:t>
            </a:r>
            <a:r>
              <a:rPr sz="650" i="0">
                <a:solidFill>
                  <a:srgbClr val="E6EDF3"/>
                </a:solidFill>
                <a:latin typeface="Consolas"/>
              </a:rPr>
              <a:t>(</a:t>
            </a:r>
            <a:r>
              <a:rPr sz="650" i="0">
                <a:solidFill>
                  <a:srgbClr val="E6EDF3"/>
                </a:solidFill>
                <a:latin typeface="Consolas"/>
              </a:rPr>
              <a:t>e</a:t>
            </a:r>
            <a:r>
              <a:rPr sz="650" i="0">
                <a:solidFill>
                  <a:srgbClr val="E6EDF3"/>
                </a:solidFill>
                <a:latin typeface="Consolas"/>
              </a:rPr>
              <a:t>)</a:t>
            </a:r>
            <a:r>
              <a:rPr sz="650" i="0">
                <a:solidFill>
                  <a:srgbClr val="E6EDF3"/>
                </a:solidFill>
                <a:latin typeface="Consolas"/>
              </a:rPr>
              <a:t>)</a:t>
            </a:r>
          </a:p>
        </p:txBody>
      </p:sp>
      <p:sp>
        <p:nvSpPr>
          <p:cNvPr id="29" name="Box 12"/>
          <p:cNvSpPr/>
          <p:nvPr/>
        </p:nvSpPr>
        <p:spPr>
          <a:xfrm>
            <a:off x="5486400" y="1554480"/>
            <a:ext cx="2999232" cy="384048"/>
          </a:xfrm>
          <a:prstGeom prst="roundRect">
            <a:avLst>
              <a:gd name="adj" fmla="val 2857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POST /orders  (main.py)</a:t>
            </a:r>
          </a:p>
        </p:txBody>
      </p:sp>
      <p:sp>
        <p:nvSpPr>
          <p:cNvPr id="30" name="Box 13"/>
          <p:cNvSpPr/>
          <p:nvPr/>
        </p:nvSpPr>
        <p:spPr>
          <a:xfrm>
            <a:off x="5486400" y="2167128"/>
            <a:ext cx="2999232" cy="384048"/>
          </a:xfrm>
          <a:prstGeom prst="roundRect">
            <a:avLst>
              <a:gd name="adj" fmla="val 28571"/>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FFFFFF"/>
                </a:solidFill>
                <a:latin typeface="Inter"/>
              </a:rPr>
              <a:t>OrderService.place_order</a:t>
            </a:r>
          </a:p>
        </p:txBody>
      </p:sp>
      <p:cxnSp>
        <p:nvCxnSpPr>
          <p:cNvPr id="31" name="Arrow 14"/>
          <p:cNvCxnSpPr/>
          <p:nvPr/>
        </p:nvCxnSpPr>
        <p:spPr>
          <a:xfrm>
            <a:off x="6986016" y="1938528"/>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ox 15"/>
          <p:cNvSpPr/>
          <p:nvPr/>
        </p:nvSpPr>
        <p:spPr>
          <a:xfrm>
            <a:off x="5486400" y="2779776"/>
            <a:ext cx="2999232"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get_discount()  -&gt; Strategy</a:t>
            </a:r>
          </a:p>
        </p:txBody>
      </p:sp>
      <p:cxnSp>
        <p:nvCxnSpPr>
          <p:cNvPr id="33" name="Arrow 16"/>
          <p:cNvCxnSpPr/>
          <p:nvPr/>
        </p:nvCxnSpPr>
        <p:spPr>
          <a:xfrm>
            <a:off x="6986016" y="2551176"/>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Box 17"/>
          <p:cNvSpPr/>
          <p:nvPr/>
        </p:nvSpPr>
        <p:spPr>
          <a:xfrm>
            <a:off x="5486400" y="3392424"/>
            <a:ext cx="2999232"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repo.add()  -&gt; Repository</a:t>
            </a:r>
          </a:p>
        </p:txBody>
      </p:sp>
      <p:cxnSp>
        <p:nvCxnSpPr>
          <p:cNvPr id="35" name="Arrow 18"/>
          <p:cNvCxnSpPr/>
          <p:nvPr/>
        </p:nvCxnSpPr>
        <p:spPr>
          <a:xfrm>
            <a:off x="6986016" y="3163824"/>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Box 19"/>
          <p:cNvSpPr/>
          <p:nvPr/>
        </p:nvSpPr>
        <p:spPr>
          <a:xfrm>
            <a:off x="5486400" y="4005072"/>
            <a:ext cx="2999232"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a:lnSpc>
                <a:spcPct val="105000"/>
              </a:lnSpc>
              <a:spcAft>
                <a:spcPts val="200"/>
              </a:spcAft>
            </a:pPr>
            <a:r>
              <a:rPr sz="950" i="0" b="1">
                <a:solidFill>
                  <a:srgbClr val="1C4587"/>
                </a:solidFill>
                <a:latin typeface="Inter"/>
              </a:rPr>
              <a:t>notifier.send()  -&gt; Factory</a:t>
            </a:r>
          </a:p>
        </p:txBody>
      </p:sp>
      <p:cxnSp>
        <p:nvCxnSpPr>
          <p:cNvPr id="37" name="Arrow 20"/>
          <p:cNvCxnSpPr/>
          <p:nvPr/>
        </p:nvCxnSpPr>
        <p:spPr>
          <a:xfrm>
            <a:off x="6986016" y="3776472"/>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 21"/>
          <p:cNvSpPr txBox="1"/>
          <p:nvPr/>
        </p:nvSpPr>
        <p:spPr>
          <a:xfrm>
            <a:off x="621792" y="2743200"/>
            <a:ext cx="4572000" cy="1828800"/>
          </a:xfrm>
          <a:prstGeom prst="rect">
            <a:avLst/>
          </a:prstGeom>
          <a:noFill/>
        </p:spPr>
        <p:txBody>
          <a:bodyPr wrap="square" anchor="t" lIns="45720" rIns="45720">
            <a:spAutoFit/>
          </a:bodyPr>
          <a:lstStyle/>
          <a:p>
            <a:pPr algn="l">
              <a:lnSpc>
                <a:spcPct val="115000"/>
              </a:lnSpc>
              <a:spcAft>
                <a:spcPts val="400"/>
              </a:spcAft>
            </a:pPr>
            <a:r>
              <a:rPr sz="1050" i="0" b="1">
                <a:solidFill>
                  <a:srgbClr val="1C4587"/>
                </a:solidFill>
                <a:latin typeface="Inter"/>
              </a:rPr>
              <a:t>Hasilnya</a:t>
            </a:r>
          </a:p>
          <a:p>
            <a:pPr algn="l" marL="182880" indent="-182880">
              <a:lnSpc>
                <a:spcPct val="115000"/>
              </a:lnSpc>
              <a:spcAft>
                <a:spcPts val="400"/>
              </a:spcAft>
              <a:buClr>
                <a:srgbClr val="E0764F"/>
              </a:buClr>
              <a:buSzPct val="100000"/>
              <a:buFont typeface="Arial"/>
              <a:buChar char="•"/>
            </a:pPr>
            <a:r>
              <a:rPr sz="950" i="0" b="1">
                <a:solidFill>
                  <a:srgbClr val="434343"/>
                </a:solidFill>
                <a:latin typeface="Inter"/>
              </a:rPr>
              <a:t>Mudah dites</a:t>
            </a:r>
            <a:r>
              <a:rPr sz="950" i="0" b="0">
                <a:solidFill>
                  <a:srgbClr val="434343"/>
                </a:solidFill>
                <a:latin typeface="Inter"/>
              </a:rPr>
              <a:t>: service dites dengan repository in-memory dan notifier palsu</a:t>
            </a:r>
          </a:p>
          <a:p>
            <a:pPr algn="l" marL="182880" indent="-182880">
              <a:lnSpc>
                <a:spcPct val="115000"/>
              </a:lnSpc>
              <a:spcAft>
                <a:spcPts val="400"/>
              </a:spcAft>
              <a:buClr>
                <a:srgbClr val="E0764F"/>
              </a:buClr>
              <a:buSzPct val="100000"/>
              <a:buFont typeface="Arial"/>
              <a:buChar char="•"/>
            </a:pPr>
            <a:r>
              <a:rPr sz="950" i="0" b="1">
                <a:solidFill>
                  <a:srgbClr val="434343"/>
                </a:solidFill>
                <a:latin typeface="Inter"/>
              </a:rPr>
              <a:t>Mudah dikembangkan</a:t>
            </a:r>
            <a:r>
              <a:rPr sz="950" i="0" b="0">
                <a:solidFill>
                  <a:srgbClr val="434343"/>
                </a:solidFill>
                <a:latin typeface="Inter"/>
              </a:rPr>
              <a:t>: tipe customer baru cukup di </a:t>
            </a:r>
            <a:r>
              <a:rPr sz="950" i="0" b="0">
                <a:solidFill>
                  <a:srgbClr val="B5482A"/>
                </a:solidFill>
                <a:latin typeface="Consolas"/>
              </a:rPr>
              <a:t>discounts.py</a:t>
            </a:r>
            <a:r>
              <a:rPr sz="950" i="0" b="0">
                <a:solidFill>
                  <a:srgbClr val="434343"/>
                </a:solidFill>
                <a:latin typeface="Inter"/>
              </a:rPr>
              <a:t>, channel baru cukup di </a:t>
            </a:r>
            <a:r>
              <a:rPr sz="950" i="0" b="0">
                <a:solidFill>
                  <a:srgbClr val="B5482A"/>
                </a:solidFill>
                <a:latin typeface="Consolas"/>
              </a:rPr>
              <a:t>notifiers.py</a:t>
            </a:r>
          </a:p>
          <a:p>
            <a:pPr algn="l" marL="182880" indent="-182880">
              <a:lnSpc>
                <a:spcPct val="115000"/>
              </a:lnSpc>
              <a:spcAft>
                <a:spcPts val="400"/>
              </a:spcAft>
              <a:buClr>
                <a:srgbClr val="E0764F"/>
              </a:buClr>
              <a:buSzPct val="100000"/>
              <a:buFont typeface="Arial"/>
              <a:buChar char="•"/>
            </a:pPr>
            <a:r>
              <a:rPr sz="950" i="0" b="1">
                <a:solidFill>
                  <a:srgbClr val="434343"/>
                </a:solidFill>
                <a:latin typeface="Inter"/>
              </a:rPr>
              <a:t>Mudah dimaintain</a:t>
            </a:r>
            <a:r>
              <a:rPr sz="950" i="0" b="0">
                <a:solidFill>
                  <a:srgbClr val="434343"/>
                </a:solidFill>
                <a:latin typeface="Inter"/>
              </a:rPr>
              <a:t>: satu file, satu tugas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 name="Google Shape;19;p6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20" name="Text 1"/>
          <p:cNvSpPr txBox="1"/>
          <p:nvPr/>
        </p:nvSpPr>
        <p:spPr>
          <a:xfrm>
            <a:off x="621792" y="731520"/>
            <a:ext cx="7863840" cy="292608"/>
          </a:xfrm>
          <a:prstGeom prst="rect">
            <a:avLst/>
          </a:prstGeom>
          <a:noFill/>
        </p:spPr>
        <p:txBody>
          <a:bodyPr wrap="square" anchor="t" tIns="91440" bIns="91440">
            <a:spAutoFit/>
          </a:bodyPr>
          <a:lstStyle/>
          <a:p>
            <a:pPr algn="l">
              <a:lnSpc>
                <a:spcPct val="115000"/>
              </a:lnSpc>
              <a:spcAft>
                <a:spcPts val="400"/>
              </a:spcAft>
            </a:pPr>
            <a:r>
              <a:rPr sz="1300" i="1" b="0">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anchor="t" tIns="91440" bIns="91440">
            <a:spAutoFit/>
          </a:bodyPr>
          <a:lstStyle/>
          <a:p>
            <a:pPr algn="l">
              <a:lnSpc>
                <a:spcPct val="115000"/>
              </a:lnSpc>
              <a:spcAft>
                <a:spcPts val="400"/>
              </a:spcAft>
            </a:pPr>
            <a:r>
              <a:rPr sz="2100" i="0" b="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3" name="Text 4"/>
          <p:cNvSpPr txBox="1"/>
          <p:nvPr/>
        </p:nvSpPr>
        <p:spPr>
          <a:xfrm>
            <a:off x="758952" y="164592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Factory</a:t>
            </a:r>
          </a:p>
        </p:txBody>
      </p:sp>
      <p:sp>
        <p:nvSpPr>
          <p:cNvPr id="24" name="Text 5"/>
          <p:cNvSpPr txBox="1"/>
          <p:nvPr/>
        </p:nvSpPr>
        <p:spPr>
          <a:xfrm>
            <a:off x="758952" y="196596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Pembuatan object di satu tempat: </a:t>
            </a:r>
            <a:r>
              <a:rPr sz="1000" i="0" b="0">
                <a:solidFill>
                  <a:srgbClr val="B5482A"/>
                </a:solidFill>
                <a:latin typeface="Consolas"/>
              </a:rPr>
              <a:t>create_notifier()</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6" name="Text 7"/>
          <p:cNvSpPr txBox="1"/>
          <p:nvPr/>
        </p:nvSpPr>
        <p:spPr>
          <a:xfrm>
            <a:off x="3429000" y="164592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Singleton</a:t>
            </a:r>
          </a:p>
        </p:txBody>
      </p:sp>
      <p:sp>
        <p:nvSpPr>
          <p:cNvPr id="27" name="Text 8"/>
          <p:cNvSpPr txBox="1"/>
          <p:nvPr/>
        </p:nvSpPr>
        <p:spPr>
          <a:xfrm>
            <a:off x="3429000" y="196596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Satu object dipakai bersama: function + </a:t>
            </a:r>
            <a:r>
              <a:rPr sz="1000" i="0" b="0">
                <a:solidFill>
                  <a:srgbClr val="B5482A"/>
                </a:solidFill>
                <a:latin typeface="Consolas"/>
              </a:rPr>
              <a:t>@lru_cache</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29" name="Text 10"/>
          <p:cNvSpPr txBox="1"/>
          <p:nvPr/>
        </p:nvSpPr>
        <p:spPr>
          <a:xfrm>
            <a:off x="6099048" y="164592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Strategy</a:t>
            </a:r>
          </a:p>
        </p:txBody>
      </p:sp>
      <p:sp>
        <p:nvSpPr>
          <p:cNvPr id="30" name="Text 11"/>
          <p:cNvSpPr txBox="1"/>
          <p:nvPr/>
        </p:nvSpPr>
        <p:spPr>
          <a:xfrm>
            <a:off x="6099048" y="196596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Tiap aturan diskon jadi class sendiri, tinggal pilih yang dipakai</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2" name="Text 13"/>
          <p:cNvSpPr txBox="1"/>
          <p:nvPr/>
        </p:nvSpPr>
        <p:spPr>
          <a:xfrm>
            <a:off x="758952" y="320040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Repository</a:t>
            </a:r>
          </a:p>
        </p:txBody>
      </p:sp>
      <p:sp>
        <p:nvSpPr>
          <p:cNvPr id="33" name="Text 14"/>
          <p:cNvSpPr txBox="1"/>
          <p:nvPr/>
        </p:nvSpPr>
        <p:spPr>
          <a:xfrm>
            <a:off x="758952" y="352044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Akses data dibungkus, bisa diganti in-memory</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5" name="Text 16"/>
          <p:cNvSpPr txBox="1"/>
          <p:nvPr/>
        </p:nvSpPr>
        <p:spPr>
          <a:xfrm>
            <a:off x="3429000" y="320040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Service Layer</a:t>
            </a:r>
          </a:p>
        </p:txBody>
      </p:sp>
      <p:sp>
        <p:nvSpPr>
          <p:cNvPr id="36" name="Text 17"/>
          <p:cNvSpPr txBox="1"/>
          <p:nvPr/>
        </p:nvSpPr>
        <p:spPr>
          <a:xfrm>
            <a:off x="3429000" y="352044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Business logic lepas dari HTTP &amp; database</a:t>
            </a:r>
          </a:p>
        </p:txBody>
      </p:sp>
      <p:sp>
        <p:nvSpPr>
          <p:cNvPr id="37" name="Box 18"/>
          <p:cNvSpPr/>
          <p:nvPr/>
        </p:nvSpPr>
        <p:spPr>
          <a:xfrm>
            <a:off x="5961888" y="3108960"/>
            <a:ext cx="2523744" cy="1371600"/>
          </a:xfrm>
          <a:prstGeom prst="roundRect">
            <a:avLst>
              <a:gd name="adj" fmla="val 8000"/>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a:lstStyle/>
          <a:p>
            <a:pPr algn="ctr"/>
          </a:p>
        </p:txBody>
      </p:sp>
      <p:sp>
        <p:nvSpPr>
          <p:cNvPr id="38" name="Text 19"/>
          <p:cNvSpPr txBox="1"/>
          <p:nvPr/>
        </p:nvSpPr>
        <p:spPr>
          <a:xfrm>
            <a:off x="6099048" y="3200400"/>
            <a:ext cx="2249424" cy="310896"/>
          </a:xfrm>
          <a:prstGeom prst="rect">
            <a:avLst/>
          </a:prstGeom>
          <a:noFill/>
        </p:spPr>
        <p:txBody>
          <a:bodyPr wrap="square" anchor="t" lIns="45720" rIns="45720">
            <a:spAutoFit/>
          </a:bodyPr>
          <a:lstStyle/>
          <a:p>
            <a:pPr algn="l">
              <a:lnSpc>
                <a:spcPct val="115000"/>
              </a:lnSpc>
              <a:spcAft>
                <a:spcPts val="400"/>
              </a:spcAft>
            </a:pPr>
            <a:r>
              <a:rPr sz="1150" i="0" b="1">
                <a:solidFill>
                  <a:srgbClr val="1C4587"/>
                </a:solidFill>
                <a:latin typeface="Inter"/>
              </a:rPr>
              <a:t>Pattern vs fitur Python</a:t>
            </a:r>
          </a:p>
        </p:txBody>
      </p:sp>
      <p:sp>
        <p:nvSpPr>
          <p:cNvPr id="39" name="Text 20"/>
          <p:cNvSpPr txBox="1"/>
          <p:nvPr/>
        </p:nvSpPr>
        <p:spPr>
          <a:xfrm>
            <a:off x="6099048" y="3520440"/>
            <a:ext cx="2249424" cy="868680"/>
          </a:xfrm>
          <a:prstGeom prst="rect">
            <a:avLst/>
          </a:prstGeom>
          <a:noFill/>
        </p:spPr>
        <p:txBody>
          <a:bodyPr wrap="square" anchor="t" lIns="45720" rIns="45720">
            <a:spAutoFit/>
          </a:bodyPr>
          <a:lstStyle/>
          <a:p>
            <a:pPr algn="l">
              <a:lnSpc>
                <a:spcPct val="115000"/>
              </a:lnSpc>
              <a:spcAft>
                <a:spcPts val="400"/>
              </a:spcAft>
            </a:pPr>
            <a:r>
              <a:rPr sz="1000" i="0" b="0">
                <a:solidFill>
                  <a:srgbClr val="434343"/>
                </a:solidFill>
                <a:latin typeface="Inter"/>
              </a:rPr>
              <a:t>Pattern = ide. dict, class, </a:t>
            </a:r>
            <a:r>
              <a:rPr sz="1000" i="0" b="0">
                <a:solidFill>
                  <a:srgbClr val="B5482A"/>
                </a:solidFill>
                <a:latin typeface="Consolas"/>
              </a:rPr>
              <a:t>@lru_cache</a:t>
            </a:r>
            <a:r>
              <a:rPr sz="1000" i="0" b="0">
                <a:solidFill>
                  <a:srgbClr val="434343"/>
                </a:solidFill>
                <a:latin typeface="Inter"/>
              </a:rPr>
              <a:t> = alat untuk menuliskannya</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b="0" l="0" r="0" t="0"/>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7200"/>
              <a:buFont typeface="Arial"/>
              <a:buNone/>
            </a:pPr>
            <a:r>
              <a:rPr b="0" i="0" lang="en" sz="3000" u="none" cap="none" strike="noStrike">
                <a:solidFill>
                  <a:srgbClr val="FFFFFF"/>
                </a:solidFill>
                <a:latin typeface="Work Sans ExtraBold"/>
                <a:ea typeface="Work Sans ExtraBold"/>
                <a:cs typeface="Work Sans ExtraBold"/>
                <a:sym typeface="Work Sans ExtraBold"/>
              </a:rPr>
              <a:t>Source Code</a:t>
            </a:r>
            <a:endParaRPr b="0" i="0" sz="3000" u="none" cap="none" strike="noStrik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anchorCtr="0" anchor="t" bIns="91425" lIns="91425" spcFirstLastPara="1" rIns="91425" wrap="non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1300" u="none" cap="none" strike="noStrike">
                <a:solidFill>
                  <a:srgbClr val="FFFFFF"/>
                </a:solidFill>
                <a:latin typeface="Inter"/>
                <a:ea typeface="Inter"/>
                <a:cs typeface="Inter"/>
                <a:sym typeface="Inter"/>
              </a:rPr>
              <a:t>Sesi 1</a:t>
            </a:r>
            <a:endParaRPr b="0" i="1" sz="1500" u="none" cap="none" strike="noStrike">
              <a:solidFill>
                <a:srgbClr val="000000"/>
              </a:solidFill>
              <a:latin typeface="Inter"/>
              <a:ea typeface="Inter"/>
              <a:cs typeface="Inter"/>
              <a:sym typeface="Inter"/>
            </a:endParaRPr>
          </a:p>
        </p:txBody>
      </p:sp>
      <p:sp>
        <p:nvSpPr>
          <p:cNvPr id="256" name="Google Shape;256;g2907dbd8723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pic>
        <p:nvPicPr>
          <p:cNvPr id="257" name="Google Shape;257;g2907dbd8723_0_0"/>
          <p:cNvPicPr preferRelativeResize="0"/>
          <p:nvPr/>
        </p:nvPicPr>
        <p:blipFill rotWithShape="1">
          <a:blip r:embed="rId4">
            <a:alphaModFix/>
          </a:blip>
          <a:srcRect b="0" l="0" r="0" t="0"/>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b="0" l="0" r="0" t="0"/>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b="0" l="0" r="0" t="0"/>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lt1"/>
                </a:solidFill>
                <a:latin typeface="Inter"/>
                <a:ea typeface="Inter"/>
                <a:cs typeface="Inter"/>
                <a:sym typeface="Inter"/>
              </a:rPr>
              <a:t>Hacktiv8id</a:t>
            </a:r>
            <a:endParaRPr b="0" i="0" sz="900" u="none" cap="none" strike="noStrik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lt1"/>
                </a:solidFill>
                <a:latin typeface="Inter"/>
                <a:ea typeface="Inter"/>
                <a:cs typeface="Inter"/>
                <a:sym typeface="Inter"/>
              </a:rPr>
              <a:t>Hacktiv8id</a:t>
            </a:r>
            <a:endParaRPr b="0" i="0" sz="900" u="none" cap="none" strike="noStrik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lt1"/>
                </a:solidFill>
                <a:latin typeface="Inter"/>
                <a:ea typeface="Inter"/>
                <a:cs typeface="Inter"/>
                <a:sym typeface="Inter"/>
              </a:rPr>
              <a:t>Hacktiv8</a:t>
            </a:r>
            <a:endParaRPr b="0" i="0" sz="900" u="none" cap="none" strike="noStrik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lt1"/>
                </a:solidFill>
                <a:latin typeface="Inter"/>
                <a:ea typeface="Inter"/>
                <a:cs typeface="Inter"/>
                <a:sym typeface="Inter"/>
              </a:rPr>
              <a:t>Hacktiv8 Indonesia</a:t>
            </a:r>
            <a:endParaRPr b="0" i="0" sz="900" u="none" cap="none" strike="noStrik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cap="flat" cmpd="sng" w="19050">
            <a:solidFill>
              <a:srgbClr val="FFF5D8"/>
            </a:solidFill>
            <a:prstDash val="solid"/>
            <a:round/>
            <a:headEnd len="sm" w="sm" type="none"/>
            <a:tailEnd len="sm" w="sm" type="none"/>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anchorCtr="0" anchor="t" bIns="91425" lIns="91425" spcFirstLastPara="1" rIns="91425" wrap="none" tIns="91425">
            <a:noAutofit/>
          </a:bodyPr>
          <a:lstStyle/>
          <a:p>
            <a:pPr indent="0" lvl="0" marL="0" marR="0" rtl="0" algn="l">
              <a:lnSpc>
                <a:spcPct val="100000"/>
              </a:lnSpc>
              <a:spcBef>
                <a:spcPts val="0"/>
              </a:spcBef>
              <a:spcAft>
                <a:spcPts val="0"/>
              </a:spcAft>
              <a:buClr>
                <a:srgbClr val="000000"/>
              </a:buClr>
              <a:buSzPts val="2000"/>
              <a:buFont typeface="Arial"/>
              <a:buNone/>
            </a:pPr>
            <a:r>
              <a:rPr b="0" i="1" lang="en" sz="1200" u="sng" cap="none" strike="noStrike">
                <a:solidFill>
                  <a:schemeClr val="hlink"/>
                </a:solidFill>
                <a:latin typeface="Inter"/>
                <a:ea typeface="Inter"/>
                <a:cs typeface="Inter"/>
                <a:sym typeface="Inter"/>
                <a:hlinkClick r:id="rId8"/>
              </a:rPr>
              <a:t>github.com/bagusedghar/fastapi-intermediate</a:t>
            </a:r>
            <a:endParaRPr b="0" i="1" sz="1500" u="sng" cap="none" strike="noStrik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