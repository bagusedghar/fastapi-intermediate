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75"/>
  </p:notesMasterIdLst>
  <p:sldIdLst>
    <p:sldId id="256" r:id="rId2"/>
    <p:sldId id="257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21" r:id="rId48"/>
    <p:sldId id="322" r:id="rId49"/>
    <p:sldId id="323" r:id="rId50"/>
    <p:sldId id="324" r:id="rId51"/>
    <p:sldId id="325" r:id="rId52"/>
    <p:sldId id="326" r:id="rId53"/>
    <p:sldId id="327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</p:sldIdLst>
  <p:sldSz cx="9144000" cy="5143500" type="screen16x9"/>
  <p:notesSz cx="6858000" cy="9144000"/>
  <p:embeddedFontLst>
    <p:embeddedFont>
      <p:font typeface="Inconsolata" pitchFamily="1" charset="0"/>
      <p:regular r:id="rId76"/>
      <p:bold r:id="rId77"/>
    </p:embeddedFont>
    <p:embeddedFont>
      <p:font typeface="Inter" panose="02000503000000020004" pitchFamily="2" charset="0"/>
      <p:regular r:id="rId78"/>
      <p:bold r:id="rId79"/>
      <p:italic r:id="rId80"/>
      <p:boldItalic r:id="rId81"/>
    </p:embeddedFont>
    <p:embeddedFont>
      <p:font typeface="Work Sans ExtraBold" pitchFamily="2" charset="0"/>
      <p:bold r:id="rId82"/>
    </p:embeddedFont>
    <p:embeddedFont>
      <p:font typeface="Work Sans Medium" pitchFamily="2" charset="0"/>
      <p:regular r:id="rId8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6" roundtripDataSignature="AMtx7misuxx245f/qKiEmR3PX6YRe0tI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4.fntdata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83" Type="http://schemas.openxmlformats.org/officeDocument/2006/relationships/font" Target="fonts/font8.fntdata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3.fntdata"/><Relationship Id="rId81" Type="http://schemas.openxmlformats.org/officeDocument/2006/relationships/font" Target="fonts/font6.fntdata"/><Relationship Id="rId86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442ffe4c8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g2442ffe4c8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Peserta mengerjakan hands-on bersama mentor.</a:t>
            </a:r>
          </a:p>
        </p:txBody>
      </p:sp>
    </p:spTree>
    <p:extLst>
      <p:ext uri="{BB962C8B-B14F-4D97-AF65-F5344CB8AC3E}">
        <p14:creationId xmlns:p14="http://schemas.microsoft.com/office/powerpoint/2010/main" val="33469635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907dbd87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907dbd87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2018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200" y="-15150"/>
            <a:ext cx="9190446" cy="516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3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206026" cy="517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91439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" name="Google Shape;28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 1">
  <p:cSld name="TITLE_2_1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200" y="-7175"/>
            <a:ext cx="9204623" cy="517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21"/>
          <p:cNvPicPr preferRelativeResize="0"/>
          <p:nvPr/>
        </p:nvPicPr>
        <p:blipFill rotWithShape="1">
          <a:blip r:embed="rId3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2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350" y="-6375"/>
            <a:ext cx="9160668" cy="5152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6" name="Google Shape;36;p22"/>
          <p:cNvPicPr preferRelativeResize="0"/>
          <p:nvPr/>
        </p:nvPicPr>
        <p:blipFill rotWithShape="1">
          <a:blip r:embed="rId3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5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5" name="Google Shape;45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" name="Google Shape;51;p5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" name="Google Shape;52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5" name="Google Shape;55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5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9" name="Google Shape;59;p55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0" name="Google Shape;60;p5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4" name="Google Shape;6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7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57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3" name="Google Shape;73;p59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 1">
  <p:cSld name="TITLE_1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60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2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pic>
        <p:nvPicPr>
          <p:cNvPr id="79" name="Google Shape;79;p61"/>
          <p:cNvPicPr preferRelativeResize="0"/>
          <p:nvPr/>
        </p:nvPicPr>
        <p:blipFill rotWithShape="1">
          <a:blip r:embed="rId2">
            <a:alphaModFix/>
          </a:blip>
          <a:srcRect t="31469" b="34000"/>
          <a:stretch/>
        </p:blipFill>
        <p:spPr>
          <a:xfrm>
            <a:off x="134750" y="4589275"/>
            <a:ext cx="1410576" cy="344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 1 1">
  <p:cSld name="Title slide 2 1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" name="Google Shape;23;p49"/>
          <p:cNvPicPr preferRelativeResize="0"/>
          <p:nvPr/>
        </p:nvPicPr>
        <p:blipFill rotWithShape="1">
          <a:blip r:embed="rId2">
            <a:alphaModFix/>
          </a:blip>
          <a:srcRect l="-11869" r="-10498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2" cy="51435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69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agusedghar/fastapi-intermediate/tree/main/sesi-01-design-patterns" TargetMode="External"/><Relationship Id="rId3" Type="http://schemas.openxmlformats.org/officeDocument/2006/relationships/image" Target="../media/image26.png"/><Relationship Id="rId7" Type="http://schemas.openxmlformats.org/officeDocument/2006/relationships/hyperlink" Target="https://colab.research.google.com/github/FTDS-learning-materials/phase-2/blob/master/w2/P2W2D1PM%20-%20Data%20Ethics%20&amp;%20Data%20Validation.ipyn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63050" y="2010750"/>
            <a:ext cx="8258100" cy="11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" sz="3500">
                <a:solidFill>
                  <a:srgbClr val="F06634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Python Design Patterns for Backend</a:t>
            </a:r>
            <a:endParaRPr sz="3500" b="0" i="0" u="none" strike="noStrike" cap="none">
              <a:solidFill>
                <a:srgbClr val="F06634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63050" y="3157225"/>
            <a:ext cx="7315200" cy="5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 b="0" i="0" u="none" strike="noStrike" cap="none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Intermediate Backend Developer with FastAPI  -  Sesi 1</a:t>
            </a:r>
            <a:endParaRPr sz="1500" b="0" i="0" u="none" strike="noStrike" cap="none">
              <a:solidFill>
                <a:schemeClr val="dk2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442ffe4c8e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92" name="Google Shape;92;g2442ffe4c8e_0_0"/>
          <p:cNvSpPr txBox="1"/>
          <p:nvPr/>
        </p:nvSpPr>
        <p:spPr>
          <a:xfrm>
            <a:off x="310675" y="249275"/>
            <a:ext cx="44568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300" b="0" i="0" u="none" strike="noStrike" cap="none">
                <a:solidFill>
                  <a:srgbClr val="1D3D70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Contents</a:t>
            </a:r>
            <a:endParaRPr sz="2300" b="0" i="0" u="none" strike="noStrike" cap="none">
              <a:solidFill>
                <a:srgbClr val="1D3D70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93" name="Text 1"/>
          <p:cNvSpPr txBox="1"/>
          <p:nvPr/>
        </p:nvSpPr>
        <p:spPr>
          <a:xfrm>
            <a:off x="548640" y="114300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Empat Pattern Dasar</a:t>
            </a:r>
          </a:p>
        </p:txBody>
      </p:sp>
      <p:cxnSp>
        <p:nvCxnSpPr>
          <p:cNvPr id="94" name="Arrow 2"/>
          <p:cNvCxnSpPr/>
          <p:nvPr/>
        </p:nvCxnSpPr>
        <p:spPr>
          <a:xfrm>
            <a:off x="6318504" y="1325880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 3"/>
          <p:cNvSpPr txBox="1"/>
          <p:nvPr/>
        </p:nvSpPr>
        <p:spPr>
          <a:xfrm>
            <a:off x="8266175" y="1143000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09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548640" y="1527048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Service Layer</a:t>
            </a:r>
          </a:p>
        </p:txBody>
      </p:sp>
      <p:cxnSp>
        <p:nvCxnSpPr>
          <p:cNvPr id="97" name="Arrow 5"/>
          <p:cNvCxnSpPr/>
          <p:nvPr/>
        </p:nvCxnSpPr>
        <p:spPr>
          <a:xfrm>
            <a:off x="6318504" y="1709928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 6"/>
          <p:cNvSpPr txBox="1"/>
          <p:nvPr/>
        </p:nvSpPr>
        <p:spPr>
          <a:xfrm>
            <a:off x="8266175" y="1527048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46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548640" y="1911095"/>
            <a:ext cx="566928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Hands-on: Refactor Order API</a:t>
            </a:r>
          </a:p>
        </p:txBody>
      </p:sp>
      <p:cxnSp>
        <p:nvCxnSpPr>
          <p:cNvPr id="100" name="Arrow 8"/>
          <p:cNvCxnSpPr/>
          <p:nvPr/>
        </p:nvCxnSpPr>
        <p:spPr>
          <a:xfrm>
            <a:off x="6318504" y="2093976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 9"/>
          <p:cNvSpPr txBox="1"/>
          <p:nvPr/>
        </p:nvSpPr>
        <p:spPr>
          <a:xfrm>
            <a:off x="8266175" y="1911095"/>
            <a:ext cx="5486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1">
                <a:solidFill>
                  <a:srgbClr val="E0764F"/>
                </a:solidFill>
                <a:latin typeface="Inter"/>
              </a:rPr>
              <a:t>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Sesi 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Learning Outcome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Box 4"/>
          <p:cNvSpPr/>
          <p:nvPr/>
        </p:nvSpPr>
        <p:spPr>
          <a:xfrm>
            <a:off x="758952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1170432" y="1709928"/>
            <a:ext cx="1883663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Membandingkan pattern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758952" y="2148840"/>
            <a:ext cx="2249424" cy="6355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 dirty="0">
                <a:solidFill>
                  <a:srgbClr val="434343"/>
                </a:solidFill>
                <a:latin typeface="Inter"/>
              </a:rPr>
              <a:t>Factory, Singleton, Strategy, Repository: </a:t>
            </a:r>
            <a:r>
              <a:rPr sz="1050" b="0" i="0" dirty="0" err="1">
                <a:solidFill>
                  <a:srgbClr val="434343"/>
                </a:solidFill>
                <a:latin typeface="Inter"/>
              </a:rPr>
              <a:t>kapan</a:t>
            </a:r>
            <a:r>
              <a:rPr sz="10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50" b="0" i="0" dirty="0" err="1">
                <a:solidFill>
                  <a:srgbClr val="434343"/>
                </a:solidFill>
                <a:latin typeface="Inter"/>
              </a:rPr>
              <a:t>dipakai</a:t>
            </a:r>
            <a:r>
              <a:rPr lang="en-US" sz="1050" b="0" i="0" dirty="0">
                <a:solidFill>
                  <a:srgbClr val="434343"/>
                </a:solidFill>
                <a:latin typeface="Inter"/>
              </a:rPr>
              <a:t> dan </a:t>
            </a:r>
            <a:r>
              <a:rPr lang="en-US" sz="1050" b="0" i="0" dirty="0" err="1">
                <a:solidFill>
                  <a:srgbClr val="434343"/>
                </a:solidFill>
                <a:latin typeface="Inter"/>
              </a:rPr>
              <a:t>bagaimana</a:t>
            </a:r>
            <a:r>
              <a:rPr lang="en-US" sz="1050" b="0" i="0" dirty="0">
                <a:solidFill>
                  <a:srgbClr val="434343"/>
                </a:solidFill>
                <a:latin typeface="Inter"/>
              </a:rPr>
              <a:t> trade-off-</a:t>
            </a:r>
            <a:r>
              <a:rPr lang="en-US" sz="1050" b="0" i="0" dirty="0" err="1">
                <a:solidFill>
                  <a:srgbClr val="434343"/>
                </a:solidFill>
                <a:latin typeface="Inter"/>
              </a:rPr>
              <a:t>nya</a:t>
            </a:r>
            <a:endParaRPr sz="1050" b="0" i="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6" name="Box 7"/>
          <p:cNvSpPr/>
          <p:nvPr/>
        </p:nvSpPr>
        <p:spPr>
          <a:xfrm>
            <a:off x="3291840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7" name="Box 8"/>
          <p:cNvSpPr/>
          <p:nvPr/>
        </p:nvSpPr>
        <p:spPr>
          <a:xfrm>
            <a:off x="3429000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3840480" y="1709928"/>
            <a:ext cx="1883663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Memisahkan logic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3429000" y="2148840"/>
            <a:ext cx="2249424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 dirty="0">
                <a:solidFill>
                  <a:srgbClr val="434343"/>
                </a:solidFill>
                <a:latin typeface="Inter"/>
              </a:rPr>
              <a:t>Business logic </a:t>
            </a:r>
            <a:r>
              <a:rPr sz="1050" b="0" i="0" dirty="0" err="1">
                <a:solidFill>
                  <a:srgbClr val="434343"/>
                </a:solidFill>
                <a:latin typeface="Inter"/>
              </a:rPr>
              <a:t>dipisah</a:t>
            </a:r>
            <a:r>
              <a:rPr sz="10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5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1050" b="0" i="0" dirty="0">
                <a:solidFill>
                  <a:srgbClr val="434343"/>
                </a:solidFill>
                <a:latin typeface="Inter"/>
              </a:rPr>
              <a:t> persistence logic </a:t>
            </a:r>
            <a:r>
              <a:rPr sz="1050" b="0" i="0" dirty="0" err="1">
                <a:solidFill>
                  <a:srgbClr val="434343"/>
                </a:solidFill>
                <a:latin typeface="Inter"/>
              </a:rPr>
              <a:t>lewat</a:t>
            </a:r>
            <a:r>
              <a:rPr sz="1050" b="0" i="0" dirty="0">
                <a:solidFill>
                  <a:srgbClr val="434343"/>
                </a:solidFill>
                <a:latin typeface="Inter"/>
              </a:rPr>
              <a:t> Repository &amp; Service Layer.</a:t>
            </a:r>
          </a:p>
        </p:txBody>
      </p:sp>
      <p:sp>
        <p:nvSpPr>
          <p:cNvPr id="30" name="Box 11"/>
          <p:cNvSpPr/>
          <p:nvPr/>
        </p:nvSpPr>
        <p:spPr>
          <a:xfrm>
            <a:off x="5961888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2"/>
          <p:cNvSpPr/>
          <p:nvPr/>
        </p:nvSpPr>
        <p:spPr>
          <a:xfrm>
            <a:off x="6099048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6510527" y="1709928"/>
            <a:ext cx="188366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C4587"/>
                </a:solidFill>
                <a:latin typeface="Inter"/>
              </a:rPr>
              <a:t>Refactor FastAPI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6099048" y="2148840"/>
            <a:ext cx="2249424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34343"/>
                </a:solidFill>
                <a:latin typeface="Inter"/>
              </a:rPr>
              <a:t>Mengubah modul FastAPI supaya mudah dites, mudah dikembangkan fiturnya, dan mudah dimaintain.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Tema Training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Order Management API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297680" cy="23049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Pada training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memakai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tema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awal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sampai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akhir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yaitu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Order Management API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: API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sederhana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menerima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order,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menghitung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diskon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menyimpan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data order, dan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mengirim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notifikasi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customer.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0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 err="1">
                <a:solidFill>
                  <a:srgbClr val="434343"/>
                </a:solidFill>
                <a:latin typeface="Inter"/>
              </a:rPr>
              <a:t>Aplikasi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kembangkan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sedikit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demi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sedikit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 Di Sesi 1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mulai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masih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file,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merapikannya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 Hasil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akhir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titik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awal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berikutnya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sampai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di Sesi 12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Order API yang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siap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production.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0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Di Sesi 1 (Design Patterns):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didalam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file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akan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kita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perbaiki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: Factory, Singleton, Strategy, Repository, Service Layer.</a:t>
            </a:r>
          </a:p>
        </p:txBody>
      </p:sp>
      <p:sp>
        <p:nvSpPr>
          <p:cNvPr id="23" name="Box 4"/>
          <p:cNvSpPr/>
          <p:nvPr/>
        </p:nvSpPr>
        <p:spPr>
          <a:xfrm>
            <a:off x="5120640" y="1600200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Terima order</a:t>
            </a:r>
          </a:p>
        </p:txBody>
      </p:sp>
      <p:sp>
        <p:nvSpPr>
          <p:cNvPr id="24" name="Box 5"/>
          <p:cNvSpPr/>
          <p:nvPr/>
        </p:nvSpPr>
        <p:spPr>
          <a:xfrm>
            <a:off x="5120640" y="2167128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Hitung diskon</a:t>
            </a:r>
          </a:p>
        </p:txBody>
      </p:sp>
      <p:cxnSp>
        <p:nvCxnSpPr>
          <p:cNvPr id="25" name="Arrow 6"/>
          <p:cNvCxnSpPr/>
          <p:nvPr/>
        </p:nvCxnSpPr>
        <p:spPr>
          <a:xfrm>
            <a:off x="6035040" y="2002536"/>
            <a:ext cx="0" cy="16459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ox 7"/>
          <p:cNvSpPr/>
          <p:nvPr/>
        </p:nvSpPr>
        <p:spPr>
          <a:xfrm>
            <a:off x="5120640" y="2734056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Simpan ke database</a:t>
            </a:r>
          </a:p>
        </p:txBody>
      </p:sp>
      <p:cxnSp>
        <p:nvCxnSpPr>
          <p:cNvPr id="27" name="Arrow 8"/>
          <p:cNvCxnSpPr/>
          <p:nvPr/>
        </p:nvCxnSpPr>
        <p:spPr>
          <a:xfrm>
            <a:off x="6035040" y="2569464"/>
            <a:ext cx="0" cy="16459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Box 9"/>
          <p:cNvSpPr/>
          <p:nvPr/>
        </p:nvSpPr>
        <p:spPr>
          <a:xfrm>
            <a:off x="5120640" y="3300984"/>
            <a:ext cx="1828800" cy="402336"/>
          </a:xfrm>
          <a:prstGeom prst="roundRect">
            <a:avLst>
              <a:gd name="adj" fmla="val 27272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Kirim notifikasi</a:t>
            </a:r>
          </a:p>
        </p:txBody>
      </p:sp>
      <p:cxnSp>
        <p:nvCxnSpPr>
          <p:cNvPr id="29" name="Arrow 10"/>
          <p:cNvCxnSpPr/>
          <p:nvPr/>
        </p:nvCxnSpPr>
        <p:spPr>
          <a:xfrm>
            <a:off x="6035040" y="3136391"/>
            <a:ext cx="0" cy="164593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 11"/>
          <p:cNvSpPr txBox="1"/>
          <p:nvPr/>
        </p:nvSpPr>
        <p:spPr>
          <a:xfrm>
            <a:off x="7086600" y="1600200"/>
            <a:ext cx="1417320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7A7A7A"/>
                </a:solidFill>
                <a:latin typeface="Inter"/>
              </a:rPr>
              <a:t>Aturan diskon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regular: 0%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member: 5%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vip: 10%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7A7A7A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7A7A7A"/>
                </a:solidFill>
                <a:latin typeface="Inter"/>
              </a:rPr>
              <a:t>Notifikasi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A7A7A"/>
                </a:solidFill>
                <a:latin typeface="Inter"/>
              </a:rPr>
              <a:t>email atau SMS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Tema Training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Tahapan Pengembangan Order API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535886"/>
              </p:ext>
            </p:extLst>
          </p:nvPr>
        </p:nvGraphicFramePr>
        <p:xfrm>
          <a:off x="621792" y="1463040"/>
          <a:ext cx="7863840" cy="3031236"/>
        </p:xfrm>
        <a:graphic>
          <a:graphicData uri="http://schemas.openxmlformats.org/drawingml/2006/table">
            <a:tbl>
              <a:tblPr firstRow="1" bandRow="1"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Sesi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Topik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Inter"/>
                        </a:rPr>
                        <a:t>Yang ditambahkan ke Order API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  (sesi ini)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Design Patterns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Kode </a:t>
                      </a:r>
                      <a:r>
                        <a:rPr lang="en-US" sz="8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didalam</a:t>
                      </a:r>
                      <a:r>
                        <a:rPr lang="en-US"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8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satu</a:t>
                      </a:r>
                      <a:r>
                        <a:rPr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 file </a:t>
                      </a:r>
                      <a:r>
                        <a:rPr lang="en-US" sz="8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diperbaiki</a:t>
                      </a:r>
                      <a:r>
                        <a:rPr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: Factory, Singleton, Strategy, Repository, Service Layer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SOLID &amp; Clean Architecture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Dipisah per layer: domain, application, infrastructure, api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Domain-Driven Design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Order jadi aggregate, Money value object, aturan bayar &amp; batal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Modular FastAPI &amp; ORM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Router per modul, SQLAlchemy, Unit of Work, format error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Celery &amp; Redis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Notifikasi dan report dikerjakan di background job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Caching &amp; Rate Limiting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Data produk di-cache di Redis, request dibatasi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Database Optimization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PostgreSQL, index, tanpa N+1, pagination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RabbitMQ &amp; Kafka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Event order, consumer notifikasi yang retry-safe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Observability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Log terstruktur, metrics, dan tracing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API Security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Login OAuth2/JWT, hak akses per role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Docker &amp;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Docker image, Compose, dan pipeline otomatis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i="0">
                          <a:solidFill>
                            <a:srgbClr val="1C4587"/>
                          </a:solidFill>
                          <a:latin typeface="Inter"/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>
                          <a:solidFill>
                            <a:srgbClr val="434343"/>
                          </a:solidFill>
                          <a:latin typeface="Inter"/>
                        </a:rPr>
                        <a:t>Final Project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Order API yang </a:t>
                      </a:r>
                      <a:r>
                        <a:rPr sz="8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siap</a:t>
                      </a:r>
                      <a:r>
                        <a:rPr sz="800" b="0" i="0" dirty="0">
                          <a:solidFill>
                            <a:srgbClr val="434343"/>
                          </a:solidFill>
                          <a:latin typeface="Inter"/>
                        </a:rPr>
                        <a:t> production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Pengantar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 dirty="0">
                <a:solidFill>
                  <a:srgbClr val="1C4587"/>
                </a:solidFill>
                <a:latin typeface="Work Sans ExtraBold"/>
              </a:rPr>
              <a:t>Design Pattern Itu Apa?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17320"/>
            <a:ext cx="7863840" cy="6565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Design pattern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adalah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solusi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umum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masalah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desain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sering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434343"/>
                </a:solidFill>
                <a:latin typeface="Inter"/>
              </a:rPr>
              <a:t>muncul</a:t>
            </a:r>
            <a:r>
              <a:rPr lang="en-US"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1" i="0" dirty="0" err="1">
                <a:solidFill>
                  <a:srgbClr val="434343"/>
                </a:solidFill>
                <a:latin typeface="Inter"/>
              </a:rPr>
              <a:t>dalam</a:t>
            </a:r>
            <a:r>
              <a:rPr lang="en-US"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1" i="0" dirty="0" err="1">
                <a:solidFill>
                  <a:srgbClr val="434343"/>
                </a:solidFill>
                <a:latin typeface="Inter"/>
              </a:rPr>
              <a:t>perancangan</a:t>
            </a:r>
            <a:r>
              <a:rPr lang="en-US" sz="1000" b="1" i="0" dirty="0">
                <a:solidFill>
                  <a:srgbClr val="434343"/>
                </a:solidFill>
                <a:latin typeface="Inter"/>
              </a:rPr>
              <a:t> software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 </a:t>
            </a:r>
            <a:endParaRPr lang="en-US" sz="100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Bukan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kode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siap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pakai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melainkan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sebuah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konsep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dan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panduan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teruji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menyelesaikan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dirty="0" err="1">
                <a:solidFill>
                  <a:srgbClr val="434343"/>
                </a:solidFill>
                <a:latin typeface="Inter"/>
              </a:rPr>
              <a:t>masalah</a:t>
            </a:r>
            <a:r>
              <a:rPr lang="en-US" sz="1000" dirty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0" i="0" dirty="0">
                <a:solidFill>
                  <a:srgbClr val="434343"/>
                </a:solidFill>
                <a:latin typeface="Inter"/>
              </a:rPr>
              <a:t>Design pattern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umumnya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dibagi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tiga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kategori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utama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:</a:t>
            </a:r>
            <a:endParaRPr sz="1000" b="0" i="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3" name="Box 4"/>
          <p:cNvSpPr/>
          <p:nvPr/>
        </p:nvSpPr>
        <p:spPr>
          <a:xfrm>
            <a:off x="621792" y="21488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Cara membuat object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(Creational)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3017520" y="2514600"/>
            <a:ext cx="32004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3337560" y="21488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950" b="1" i="0" dirty="0">
                <a:solidFill>
                  <a:srgbClr val="1C4587"/>
                </a:solidFill>
                <a:latin typeface="Inter"/>
              </a:rPr>
              <a:t>- </a:t>
            </a:r>
            <a:r>
              <a:rPr sz="950" b="1" i="0" dirty="0">
                <a:solidFill>
                  <a:srgbClr val="1C4587"/>
                </a:solidFill>
                <a:latin typeface="Inter"/>
              </a:rPr>
              <a:t>Factory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950" b="1" i="0" dirty="0">
                <a:solidFill>
                  <a:srgbClr val="1C4587"/>
                </a:solidFill>
                <a:latin typeface="Inter"/>
              </a:rPr>
              <a:t>- </a:t>
            </a:r>
            <a:r>
              <a:rPr sz="950" b="1" i="0" dirty="0">
                <a:solidFill>
                  <a:srgbClr val="1C4587"/>
                </a:solidFill>
                <a:latin typeface="Inter"/>
              </a:rPr>
              <a:t>Singleton</a:t>
            </a:r>
          </a:p>
        </p:txBody>
      </p:sp>
      <p:sp>
        <p:nvSpPr>
          <p:cNvPr id="27" name="Box 8"/>
          <p:cNvSpPr/>
          <p:nvPr/>
        </p:nvSpPr>
        <p:spPr>
          <a:xfrm>
            <a:off x="621792" y="301752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3D6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Cara mengatur perilaku object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(Behavioral)</a:t>
            </a:r>
          </a:p>
        </p:txBody>
      </p:sp>
      <p:cxnSp>
        <p:nvCxnSpPr>
          <p:cNvPr id="28" name="Arrow 9"/>
          <p:cNvCxnSpPr/>
          <p:nvPr/>
        </p:nvCxnSpPr>
        <p:spPr>
          <a:xfrm>
            <a:off x="3017520" y="3383279"/>
            <a:ext cx="32004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3337560" y="301752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950" b="1" i="0" dirty="0">
                <a:solidFill>
                  <a:srgbClr val="1C4587"/>
                </a:solidFill>
                <a:latin typeface="Inter"/>
              </a:rPr>
              <a:t>- </a:t>
            </a:r>
            <a:r>
              <a:rPr sz="950" b="1" i="0" dirty="0">
                <a:solidFill>
                  <a:srgbClr val="1C4587"/>
                </a:solidFill>
                <a:latin typeface="Inter"/>
              </a:rPr>
              <a:t>Strategy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88620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Cara membagi kode aplikasi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(Architectural)</a:t>
            </a:r>
          </a:p>
        </p:txBody>
      </p:sp>
      <p:cxnSp>
        <p:nvCxnSpPr>
          <p:cNvPr id="32" name="Arrow 13"/>
          <p:cNvCxnSpPr/>
          <p:nvPr/>
        </p:nvCxnSpPr>
        <p:spPr>
          <a:xfrm>
            <a:off x="3017520" y="4251960"/>
            <a:ext cx="320040" cy="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Box 14"/>
          <p:cNvSpPr/>
          <p:nvPr/>
        </p:nvSpPr>
        <p:spPr>
          <a:xfrm>
            <a:off x="3337560" y="38862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950" b="1" i="0" dirty="0">
                <a:solidFill>
                  <a:srgbClr val="1C4587"/>
                </a:solidFill>
                <a:latin typeface="Inter"/>
              </a:rPr>
              <a:t>- </a:t>
            </a:r>
            <a:r>
              <a:rPr sz="950" b="1" i="0" dirty="0">
                <a:solidFill>
                  <a:srgbClr val="1C4587"/>
                </a:solidFill>
                <a:latin typeface="Inter"/>
              </a:rPr>
              <a:t>Repository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950" b="1" i="0" dirty="0">
                <a:solidFill>
                  <a:srgbClr val="1C4587"/>
                </a:solidFill>
                <a:latin typeface="Inter"/>
              </a:rPr>
              <a:t>- </a:t>
            </a:r>
            <a:r>
              <a:rPr sz="950" b="1" i="0" dirty="0">
                <a:solidFill>
                  <a:srgbClr val="1C4587"/>
                </a:solidFill>
                <a:latin typeface="Inter"/>
              </a:rPr>
              <a:t>Service Layer</a:t>
            </a:r>
          </a:p>
        </p:txBody>
      </p:sp>
      <p:sp>
        <p:nvSpPr>
          <p:cNvPr id="3" name="Box 13">
            <a:extLst>
              <a:ext uri="{FF2B5EF4-FFF2-40B4-BE49-F238E27FC236}">
                <a16:creationId xmlns:a16="http://schemas.microsoft.com/office/drawing/2014/main" id="{A71E4FEE-8008-B657-F875-DC701B8E2D34}"/>
              </a:ext>
            </a:extLst>
          </p:cNvPr>
          <p:cNvSpPr/>
          <p:nvPr/>
        </p:nvSpPr>
        <p:spPr>
          <a:xfrm>
            <a:off x="5074920" y="2148840"/>
            <a:ext cx="3139812" cy="2551176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 dirty="0"/>
          </a:p>
        </p:txBody>
      </p:sp>
      <p:sp>
        <p:nvSpPr>
          <p:cNvPr id="5" name="Text 14">
            <a:extLst>
              <a:ext uri="{FF2B5EF4-FFF2-40B4-BE49-F238E27FC236}">
                <a16:creationId xmlns:a16="http://schemas.microsoft.com/office/drawing/2014/main" id="{E58AFEA5-29DE-67ED-D18B-81E3AD688AE3}"/>
              </a:ext>
            </a:extLst>
          </p:cNvPr>
          <p:cNvSpPr txBox="1"/>
          <p:nvPr/>
        </p:nvSpPr>
        <p:spPr>
          <a:xfrm>
            <a:off x="5207203" y="2269665"/>
            <a:ext cx="3136392" cy="27212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2E7D5B"/>
                </a:solidFill>
                <a:latin typeface="Inter"/>
              </a:rPr>
              <a:t>Manfaat </a:t>
            </a:r>
            <a:r>
              <a:rPr lang="en-US" sz="1100" b="1" i="0" dirty="0" err="1">
                <a:solidFill>
                  <a:srgbClr val="2E7D5B"/>
                </a:solidFill>
                <a:latin typeface="Inter"/>
              </a:rPr>
              <a:t>menggunakan</a:t>
            </a:r>
            <a:r>
              <a:rPr lang="en-US" sz="1100" b="1" i="0" dirty="0">
                <a:solidFill>
                  <a:srgbClr val="2E7D5B"/>
                </a:solidFill>
                <a:latin typeface="Inter"/>
              </a:rPr>
              <a:t> design </a:t>
            </a:r>
            <a:r>
              <a:rPr lang="en-US" sz="1100" b="1" dirty="0">
                <a:solidFill>
                  <a:srgbClr val="2E7D5B"/>
                </a:solidFill>
                <a:latin typeface="Inter"/>
              </a:rPr>
              <a:t>p</a:t>
            </a:r>
            <a:r>
              <a:rPr lang="en-US" sz="1100" b="1" i="0" dirty="0">
                <a:solidFill>
                  <a:srgbClr val="2E7D5B"/>
                </a:solidFill>
                <a:latin typeface="Inter"/>
              </a:rPr>
              <a:t>attern:</a:t>
            </a:r>
            <a:endParaRPr sz="1100" b="1" i="0" dirty="0">
              <a:solidFill>
                <a:srgbClr val="2E7D5B"/>
              </a:solidFill>
              <a:latin typeface="Inter"/>
            </a:endParaRPr>
          </a:p>
        </p:txBody>
      </p:sp>
      <p:sp>
        <p:nvSpPr>
          <p:cNvPr id="7" name="Text 15">
            <a:extLst>
              <a:ext uri="{FF2B5EF4-FFF2-40B4-BE49-F238E27FC236}">
                <a16:creationId xmlns:a16="http://schemas.microsoft.com/office/drawing/2014/main" id="{99CDE389-D9F6-A3F4-452C-25D1536C7DD9}"/>
              </a:ext>
            </a:extLst>
          </p:cNvPr>
          <p:cNvSpPr txBox="1"/>
          <p:nvPr/>
        </p:nvSpPr>
        <p:spPr>
          <a:xfrm>
            <a:off x="5207203" y="2656509"/>
            <a:ext cx="3136392" cy="21197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lang="en-US" sz="950" b="0" i="0" dirty="0">
                <a:solidFill>
                  <a:srgbClr val="434343"/>
                </a:solidFill>
                <a:latin typeface="Inter"/>
              </a:rPr>
              <a:t>Kode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lebih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rapi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dan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terstruktur</a:t>
            </a:r>
            <a:br>
              <a:rPr lang="en-US" sz="950" b="0" i="0" dirty="0">
                <a:solidFill>
                  <a:srgbClr val="434343"/>
                </a:solidFill>
                <a:latin typeface="Inter"/>
              </a:rPr>
            </a:br>
            <a:endParaRPr lang="en-US"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lang="en-US" sz="950" dirty="0" err="1">
                <a:solidFill>
                  <a:srgbClr val="434343"/>
                </a:solidFill>
                <a:latin typeface="Inter"/>
              </a:rPr>
              <a:t>Meningkatkan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dirty="0" err="1">
                <a:solidFill>
                  <a:srgbClr val="434343"/>
                </a:solidFill>
                <a:latin typeface="Inter"/>
              </a:rPr>
              <a:t>reusabilitas</a:t>
            </a:r>
            <a:br>
              <a:rPr lang="en-US" sz="950" dirty="0">
                <a:solidFill>
                  <a:srgbClr val="434343"/>
                </a:solidFill>
                <a:latin typeface="Inter"/>
              </a:rPr>
            </a:br>
            <a:endParaRPr lang="en-US" sz="95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Meningkatkan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fleksibilitas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dan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skalabilitas</a:t>
            </a:r>
            <a:endParaRPr lang="en-US" sz="95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endParaRPr lang="en-US" sz="95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lang="en-US" sz="950" dirty="0" err="1">
                <a:solidFill>
                  <a:srgbClr val="434343"/>
                </a:solidFill>
                <a:latin typeface="Inter"/>
              </a:rPr>
              <a:t>Mempermudah</a:t>
            </a:r>
            <a:r>
              <a:rPr lang="en-US" sz="950" dirty="0">
                <a:solidFill>
                  <a:srgbClr val="434343"/>
                </a:solidFill>
                <a:latin typeface="Inter"/>
              </a:rPr>
              <a:t> maintenance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</a:pPr>
            <a:endParaRPr lang="en-US"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endParaRPr lang="en-US"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endParaRPr sz="950" b="0" i="0" dirty="0">
              <a:solidFill>
                <a:srgbClr val="43434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Pengantar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53033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2100" b="0" i="0" dirty="0" err="1">
                <a:solidFill>
                  <a:srgbClr val="1C4587"/>
                </a:solidFill>
                <a:latin typeface="Work Sans ExtraBold"/>
              </a:rPr>
              <a:t>Perbedaan</a:t>
            </a:r>
            <a:r>
              <a:rPr lang="en-US" sz="2100" b="0" i="0" dirty="0">
                <a:solidFill>
                  <a:srgbClr val="1C4587"/>
                </a:solidFill>
                <a:latin typeface="Work Sans ExtraBold"/>
              </a:rPr>
              <a:t> </a:t>
            </a:r>
            <a:r>
              <a:rPr sz="2100" b="0" i="0" dirty="0">
                <a:solidFill>
                  <a:srgbClr val="1C4587"/>
                </a:solidFill>
                <a:latin typeface="Work Sans ExtraBold"/>
              </a:rPr>
              <a:t>Design Pattern, Library, dan Fitur Python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557693"/>
              </p:ext>
            </p:extLst>
          </p:nvPr>
        </p:nvGraphicFramePr>
        <p:xfrm>
          <a:off x="621792" y="1481328"/>
          <a:ext cx="7863840" cy="1828800"/>
        </p:xfrm>
        <a:graphic>
          <a:graphicData uri="http://schemas.openxmlformats.org/drawingml/2006/table">
            <a:tbl>
              <a:tblPr firstRow="1" bandRow="1"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dirty="0"/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Design pattern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Library / framework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Fitur bawaan Python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 dirty="0" err="1">
                          <a:solidFill>
                            <a:srgbClr val="1C4587"/>
                          </a:solidFill>
                          <a:latin typeface="Inter"/>
                        </a:rPr>
                        <a:t>Bentuknya</a:t>
                      </a:r>
                      <a:endParaRPr sz="900" b="1" i="0" dirty="0">
                        <a:solidFill>
                          <a:srgbClr val="1C4587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Konsep</a:t>
                      </a:r>
                      <a:r>
                        <a:rPr lang="en-US"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lang="en-US"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cara</a:t>
                      </a:r>
                      <a:r>
                        <a:rPr lang="en-US"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lang="en-US"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membuat</a:t>
                      </a:r>
                      <a:r>
                        <a:rPr lang="en-US"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lang="en-US"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kode</a:t>
                      </a:r>
                      <a:endParaRPr sz="90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Kerangka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kerja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yang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siap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pakai</a:t>
                      </a:r>
                      <a:endParaRPr sz="90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Bagian dari bahasa Python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Contoh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Factory, Singleton, Strategy, Repository</a:t>
                      </a:r>
                      <a:r>
                        <a:rPr lang="en-US"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, Service Layer</a:t>
                      </a:r>
                      <a:endParaRPr sz="90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FastAPI, SQLAlchemy, Pydantic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dict, class, @lru_cache, Protocol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Cara memakai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Kita tulis sendiri mengikuti polanya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pip install, lalu import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Langsung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dipakai</a:t>
                      </a:r>
                      <a:endParaRPr sz="90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3520440"/>
            <a:ext cx="7863840" cy="680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 dirty="0" err="1">
                <a:solidFill>
                  <a:srgbClr val="1C4587"/>
                </a:solidFill>
                <a:latin typeface="Inter"/>
              </a:rPr>
              <a:t>Hubungannya</a:t>
            </a:r>
            <a:endParaRPr sz="11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dirty="0">
                <a:solidFill>
                  <a:srgbClr val="434343"/>
                </a:solidFill>
                <a:latin typeface="Inter"/>
              </a:rPr>
              <a:t>Design pattern </a:t>
            </a:r>
            <a:r>
              <a:rPr lang="en-US" sz="1000" b="0" i="0" dirty="0" err="1">
                <a:solidFill>
                  <a:srgbClr val="434343"/>
                </a:solidFill>
                <a:latin typeface="Inter"/>
              </a:rPr>
              <a:t>seringkali</a:t>
            </a:r>
            <a:r>
              <a:rPr lang="en-US"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1" i="0" dirty="0" err="1">
                <a:solidFill>
                  <a:srgbClr val="434343"/>
                </a:solidFill>
                <a:latin typeface="Inter"/>
              </a:rPr>
              <a:t>dibuat</a:t>
            </a:r>
            <a:r>
              <a:rPr sz="10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1000" b="1" i="0" dirty="0" err="1">
                <a:solidFill>
                  <a:srgbClr val="434343"/>
                </a:solidFill>
                <a:latin typeface="Inter"/>
              </a:rPr>
              <a:t>menggunakan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fitur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Python. Di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sesi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Factory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B5482A"/>
                </a:solidFill>
                <a:latin typeface="Inconsolata"/>
              </a:rPr>
              <a:t>dict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+ function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biasa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, Singleton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1000" b="0" i="0" dirty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1000" b="0" i="0" dirty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Empat Pattern Dasar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 dirty="0">
                <a:solidFill>
                  <a:srgbClr val="E3ECFA"/>
                </a:solidFill>
                <a:latin typeface="Inter"/>
              </a:rPr>
              <a:t>Factory, Singleton, Strategy, dan Repository: </a:t>
            </a:r>
            <a:r>
              <a:rPr sz="1200" b="0" i="0" dirty="0" err="1">
                <a:solidFill>
                  <a:srgbClr val="E3ECFA"/>
                </a:solidFill>
                <a:latin typeface="Inter"/>
              </a:rPr>
              <a:t>kapan</a:t>
            </a:r>
            <a:r>
              <a:rPr sz="1200" b="0" i="0" dirty="0">
                <a:solidFill>
                  <a:srgbClr val="E3ECFA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E3ECFA"/>
                </a:solidFill>
                <a:latin typeface="Inter"/>
              </a:rPr>
              <a:t>dipakai</a:t>
            </a:r>
            <a:r>
              <a:rPr sz="1200" b="0" i="0" dirty="0">
                <a:solidFill>
                  <a:srgbClr val="E3ECFA"/>
                </a:solidFill>
                <a:latin typeface="Inter"/>
              </a:rPr>
              <a:t> dan </a:t>
            </a:r>
            <a:r>
              <a:rPr sz="1200" b="0" i="0" dirty="0" err="1">
                <a:solidFill>
                  <a:srgbClr val="E3ECFA"/>
                </a:solidFill>
                <a:latin typeface="Inter"/>
              </a:rPr>
              <a:t>bagaimana</a:t>
            </a:r>
            <a:r>
              <a:rPr sz="1200" b="0" i="0" dirty="0">
                <a:solidFill>
                  <a:srgbClr val="E3ECFA"/>
                </a:solidFill>
                <a:latin typeface="Inter"/>
              </a:rPr>
              <a:t> trade-off-</a:t>
            </a:r>
            <a:r>
              <a:rPr sz="1200" b="0" i="0" dirty="0" err="1">
                <a:solidFill>
                  <a:srgbClr val="E3ECFA"/>
                </a:solidFill>
                <a:latin typeface="Inter"/>
              </a:rPr>
              <a:t>nya</a:t>
            </a:r>
            <a:r>
              <a:rPr sz="1200" b="0" i="0" dirty="0">
                <a:solidFill>
                  <a:srgbClr val="E3ECFA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 dirty="0">
                <a:solidFill>
                  <a:srgbClr val="1C4587"/>
                </a:solidFill>
                <a:latin typeface="Work Sans ExtraBold"/>
              </a:rPr>
              <a:t>Apa Itu Factory?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43797" y="1559052"/>
            <a:ext cx="3520440" cy="233461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>
                <a:solidFill>
                  <a:srgbClr val="1C4587"/>
                </a:solidFill>
                <a:latin typeface="Inter"/>
              </a:rPr>
              <a:t>Factory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adalah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 dirty="0">
                <a:solidFill>
                  <a:srgbClr val="434343"/>
                </a:solidFill>
                <a:latin typeface="Inter"/>
              </a:rPr>
              <a:t>Design pattern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untuk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membuat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object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tanpa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mengungkapkan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logika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nya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secara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langsung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. 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Di Python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biasanya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sebagai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function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biasa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contohnya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B5482A"/>
                </a:solidFill>
                <a:latin typeface="Inconsolata"/>
              </a:rPr>
              <a:t>create_notifier</a:t>
            </a:r>
            <a:r>
              <a:rPr sz="900" b="0" i="0" dirty="0">
                <a:solidFill>
                  <a:srgbClr val="B5482A"/>
                </a:solidFill>
                <a:latin typeface="Inconsolata"/>
              </a:rPr>
              <a:t>()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 Kita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cukup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memanggil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B5482A"/>
                </a:solidFill>
                <a:latin typeface="Inconsolata"/>
              </a:rPr>
              <a:t>create_notifier</a:t>
            </a:r>
            <a:r>
              <a:rPr sz="900" b="0" i="0" dirty="0">
                <a:solidFill>
                  <a:srgbClr val="B5482A"/>
                </a:solidFill>
                <a:latin typeface="Inconsolata"/>
              </a:rPr>
              <a:t>("email")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factory yang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memilih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class dan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membuat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objectnya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 err="1">
                <a:solidFill>
                  <a:srgbClr val="1C4587"/>
                </a:solidFill>
                <a:latin typeface="Inter"/>
              </a:rPr>
              <a:t>Untuk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apa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>
                <a:solidFill>
                  <a:srgbClr val="434343"/>
                </a:solidFill>
                <a:latin typeface="Inter"/>
              </a:rPr>
              <a:t>Cara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memilih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class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cukup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lang="en-US" sz="900" b="1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lang="en-US" sz="900" b="1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1" i="0" dirty="0" err="1">
                <a:solidFill>
                  <a:srgbClr val="434343"/>
                </a:solidFill>
                <a:latin typeface="Inter"/>
              </a:rPr>
              <a:t>tempat</a:t>
            </a:r>
            <a:endParaRPr lang="en-US" sz="900" b="1" i="0" dirty="0">
              <a:solidFill>
                <a:srgbClr val="434343"/>
              </a:solidFill>
              <a:latin typeface="Inter"/>
            </a:endParaRPr>
          </a:p>
          <a:p>
            <a:pPr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>
                <a:solidFill>
                  <a:srgbClr val="434343"/>
                </a:solidFill>
                <a:latin typeface="Inter"/>
              </a:rPr>
              <a:t>Jika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ada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c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hannel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baru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cukup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ditambahkan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di factory, function yang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menggunakannya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tidak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banyak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berubah</a:t>
            </a:r>
            <a:endParaRPr lang="en-US" sz="900" b="0" i="0" dirty="0">
              <a:solidFill>
                <a:srgbClr val="434343"/>
              </a:solidFill>
              <a:latin typeface="Inter"/>
            </a:endParaRPr>
          </a:p>
          <a:p>
            <a:pPr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endParaRPr lang="en-US" sz="900" dirty="0">
              <a:solidFill>
                <a:srgbClr val="434343"/>
              </a:solidFill>
              <a:latin typeface="Inter"/>
            </a:endParaRPr>
          </a:p>
          <a:p>
            <a:pPr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endParaRPr lang="en-US" sz="90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 dirty="0" err="1">
                <a:solidFill>
                  <a:srgbClr val="AEB8C4"/>
                </a:solidFill>
                <a:latin typeface="Inconsolata"/>
              </a:rPr>
              <a:t>tanpa</a:t>
            </a:r>
            <a:r>
              <a:rPr sz="800" b="0" i="0" dirty="0">
                <a:solidFill>
                  <a:srgbClr val="AEB8C4"/>
                </a:solidFill>
                <a:latin typeface="Inconsolata"/>
              </a:rPr>
              <a:t> factory: 01-factory/before.py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389888"/>
          </a:xfrm>
          <a:prstGeom prst="roundRect">
            <a:avLst>
              <a:gd name="adj" fmla="val 131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 dirty="0"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38988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75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7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if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775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775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0">
                <a:solidFill>
                  <a:srgbClr val="FF8E6E"/>
                </a:solidFill>
                <a:latin typeface="Inconsolata"/>
              </a:rPr>
              <a:t>elif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775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775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775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75" i="0">
                <a:solidFill>
                  <a:srgbClr val="E6EDF3"/>
                </a:solidFill>
                <a:latin typeface="Inconsolata"/>
              </a:rPr>
              <a:t> </a:t>
            </a:r>
            <a:r>
              <a:rPr sz="775" i="0">
                <a:solidFill>
                  <a:srgbClr val="82B1FF"/>
                </a:solidFill>
                <a:latin typeface="Inconsolata"/>
              </a:rPr>
              <a:t>cancel_order</a:t>
            </a:r>
            <a:r>
              <a:rPr sz="775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int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5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775" i="0">
                <a:solidFill>
                  <a:srgbClr val="C3A6FF"/>
                </a:solidFill>
                <a:latin typeface="Inconsolata"/>
              </a:rPr>
              <a:t>str</a:t>
            </a:r>
            <a:r>
              <a:rPr sz="77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7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7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75" i="1">
                <a:solidFill>
                  <a:srgbClr val="8B98A8"/>
                </a:solidFill>
                <a:latin typeface="Inconsolata"/>
              </a:rPr>
              <a:t># if/elif yang sama, hasil copy-paste dari place_order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1954022"/>
            <a:ext cx="4023359" cy="500380"/>
          </a:xfrm>
          <a:prstGeom prst="roundRect">
            <a:avLst>
              <a:gd name="adj" fmla="val 913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8284463" y="2085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2" name="Box 15"/>
          <p:cNvSpPr/>
          <p:nvPr/>
        </p:nvSpPr>
        <p:spPr>
          <a:xfrm>
            <a:off x="4379976" y="2843022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Box 16"/>
          <p:cNvSpPr/>
          <p:nvPr/>
        </p:nvSpPr>
        <p:spPr>
          <a:xfrm>
            <a:off x="8284463" y="27838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 dirty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4" name="CodeTab 18"/>
          <p:cNvSpPr/>
          <p:nvPr/>
        </p:nvSpPr>
        <p:spPr>
          <a:xfrm>
            <a:off x="4297680" y="320040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Dot 19"/>
          <p:cNvSpPr/>
          <p:nvPr/>
        </p:nvSpPr>
        <p:spPr>
          <a:xfrm>
            <a:off x="4407408" y="327812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ot 20"/>
          <p:cNvSpPr/>
          <p:nvPr/>
        </p:nvSpPr>
        <p:spPr>
          <a:xfrm>
            <a:off x="4544568" y="327812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ot 21"/>
          <p:cNvSpPr/>
          <p:nvPr/>
        </p:nvSpPr>
        <p:spPr>
          <a:xfrm>
            <a:off x="4681728" y="327812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22"/>
          <p:cNvSpPr txBox="1"/>
          <p:nvPr/>
        </p:nvSpPr>
        <p:spPr>
          <a:xfrm>
            <a:off x="4846320" y="320954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 dirty="0" err="1">
                <a:solidFill>
                  <a:srgbClr val="AEB8C4"/>
                </a:solidFill>
                <a:latin typeface="Inconsolata"/>
              </a:rPr>
              <a:t>dengan</a:t>
            </a:r>
            <a:r>
              <a:rPr sz="800" b="0" i="0" dirty="0">
                <a:solidFill>
                  <a:srgbClr val="AEB8C4"/>
                </a:solidFill>
                <a:latin typeface="Inconsolata"/>
              </a:rPr>
              <a:t> factory: 01-factory/after.py</a:t>
            </a:r>
          </a:p>
        </p:txBody>
      </p:sp>
      <p:sp>
        <p:nvSpPr>
          <p:cNvPr id="39" name="CodeBg 24"/>
          <p:cNvSpPr/>
          <p:nvPr/>
        </p:nvSpPr>
        <p:spPr>
          <a:xfrm>
            <a:off x="4297680" y="3438144"/>
            <a:ext cx="4187951" cy="1618673"/>
          </a:xfrm>
          <a:prstGeom prst="roundRect">
            <a:avLst>
              <a:gd name="adj" fmla="val 240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 dirty="0"/>
          </a:p>
        </p:txBody>
      </p:sp>
      <p:sp>
        <p:nvSpPr>
          <p:cNvPr id="40" name="Code 25"/>
          <p:cNvSpPr txBox="1"/>
          <p:nvPr/>
        </p:nvSpPr>
        <p:spPr>
          <a:xfrm>
            <a:off x="4297680" y="3438144"/>
            <a:ext cx="4054508" cy="1530997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def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1" dirty="0" err="1">
                <a:solidFill>
                  <a:srgbClr val="61AFEF"/>
                </a:solidFill>
                <a:effectLst/>
                <a:latin typeface="Inconsolata" panose="020B0609020204030204" pitchFamily="49" charset="0"/>
              </a:rPr>
              <a:t>create_notifier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(</a:t>
            </a:r>
            <a:r>
              <a:rPr lang="en-US" sz="800" b="0" dirty="0">
                <a:solidFill>
                  <a:srgbClr val="D19A66"/>
                </a:solidFill>
                <a:effectLst/>
                <a:latin typeface="Inconsolata" panose="020B0609020204030204" pitchFamily="49" charset="0"/>
              </a:rPr>
              <a:t>channel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: </a:t>
            </a:r>
            <a:r>
              <a:rPr lang="en-US" sz="800" b="0" dirty="0">
                <a:solidFill>
                  <a:srgbClr val="56B6C2"/>
                </a:solidFill>
                <a:effectLst/>
                <a:latin typeface="Inconsolata" panose="020B0609020204030204" pitchFamily="49" charset="0"/>
              </a:rPr>
              <a:t>str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    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"""Factory: </a:t>
            </a:r>
            <a:r>
              <a:rPr lang="en-US" sz="800" b="0" dirty="0" err="1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terima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 nama channel, </a:t>
            </a:r>
            <a:r>
              <a:rPr lang="en-US" sz="800" b="0" dirty="0" err="1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kembalikan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 object notifier."""</a:t>
            </a:r>
            <a:endParaRPr lang="en-US" sz="800" b="0" dirty="0">
              <a:solidFill>
                <a:srgbClr val="ABB2BF"/>
              </a:solidFill>
              <a:effectLst/>
              <a:latin typeface="Inconsolata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    </a:t>
            </a: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if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channel </a:t>
            </a: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not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in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>
                <a:solidFill>
                  <a:srgbClr val="D19A66"/>
                </a:solidFill>
                <a:effectLst/>
                <a:latin typeface="Inconsolata" panose="020B0609020204030204" pitchFamily="49" charset="0"/>
              </a:rPr>
              <a:t>NOTIFIERS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        </a:t>
            </a: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raise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 err="1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ValueError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(</a:t>
            </a:r>
            <a:r>
              <a:rPr lang="en-US" sz="800" b="0" dirty="0" err="1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f</a:t>
            </a:r>
            <a:r>
              <a:rPr lang="en-US" sz="800" b="0" dirty="0" err="1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"Channel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 err="1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tidak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 err="1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dikenal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: </a:t>
            </a:r>
            <a:r>
              <a:rPr lang="en-US" sz="800" b="0" dirty="0">
                <a:solidFill>
                  <a:srgbClr val="D19A66"/>
                </a:solidFill>
                <a:effectLst/>
                <a:latin typeface="Inconsolata" panose="020B0609020204030204" pitchFamily="49" charset="0"/>
              </a:rPr>
              <a:t>{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channel</a:t>
            </a:r>
            <a:r>
              <a:rPr lang="en-US" sz="800" b="0" dirty="0">
                <a:solidFill>
                  <a:srgbClr val="D19A66"/>
                </a:solidFill>
                <a:effectLst/>
                <a:latin typeface="Inconsolata" panose="020B0609020204030204" pitchFamily="49" charset="0"/>
              </a:rPr>
              <a:t>}</a:t>
            </a:r>
            <a:r>
              <a:rPr lang="en-US" sz="800" b="0" dirty="0">
                <a:solidFill>
                  <a:srgbClr val="98C379"/>
                </a:solidFill>
                <a:effectLst/>
                <a:latin typeface="Inconsolata" panose="020B0609020204030204" pitchFamily="49" charset="0"/>
              </a:rPr>
              <a:t>"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    </a:t>
            </a:r>
            <a:r>
              <a:rPr lang="en-US" sz="800" b="0" dirty="0">
                <a:solidFill>
                  <a:srgbClr val="C678DD"/>
                </a:solidFill>
                <a:effectLst/>
                <a:latin typeface="Inconsolata" panose="020B0609020204030204" pitchFamily="49" charset="0"/>
              </a:rPr>
              <a:t>return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 </a:t>
            </a:r>
            <a:r>
              <a:rPr lang="en-US" sz="800" b="0" dirty="0">
                <a:solidFill>
                  <a:srgbClr val="D19A66"/>
                </a:solidFill>
                <a:effectLst/>
                <a:latin typeface="Inconsolata" panose="020B0609020204030204" pitchFamily="49" charset="0"/>
              </a:rPr>
              <a:t>NOTIFIERS</a:t>
            </a:r>
            <a:r>
              <a:rPr lang="en-US" sz="800" b="0" dirty="0">
                <a:solidFill>
                  <a:srgbClr val="ABB2BF"/>
                </a:solidFill>
                <a:effectLst/>
                <a:latin typeface="Inconsolata" panose="020B0609020204030204" pitchFamily="49" charset="0"/>
              </a:rPr>
              <a:t>[channel]()</a:t>
            </a:r>
            <a:endParaRPr lang="en-US" sz="725" i="0" dirty="0">
              <a:solidFill>
                <a:srgbClr val="FF8E6E"/>
              </a:solidFill>
              <a:latin typeface="Inconsolata"/>
            </a:endParaRPr>
          </a:p>
          <a:p>
            <a:pPr>
              <a:lnSpc>
                <a:spcPct val="103448"/>
              </a:lnSpc>
              <a:spcAft>
                <a:spcPts val="0"/>
              </a:spcAft>
            </a:pPr>
            <a:endParaRPr lang="en-US" sz="725" i="0" dirty="0">
              <a:solidFill>
                <a:srgbClr val="FF8E6E"/>
              </a:solidFill>
              <a:latin typeface="Inconsolata"/>
            </a:endParaRP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lang="en-US" sz="725" i="0" dirty="0">
                <a:solidFill>
                  <a:srgbClr val="FF8E6E"/>
                </a:solidFill>
                <a:latin typeface="Inconsolata"/>
              </a:rPr>
              <a:t>def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 </a:t>
            </a:r>
            <a:r>
              <a:rPr lang="en-US" sz="725" i="0" dirty="0" err="1">
                <a:solidFill>
                  <a:srgbClr val="82B1FF"/>
                </a:solidFill>
                <a:latin typeface="Inconsolata"/>
              </a:rPr>
              <a:t>place_order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(</a:t>
            </a:r>
            <a:r>
              <a:rPr lang="en-US" sz="725" i="0" dirty="0" err="1">
                <a:solidFill>
                  <a:srgbClr val="E6EDF3"/>
                </a:solidFill>
                <a:latin typeface="Inconsolata"/>
              </a:rPr>
              <a:t>order_id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int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str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, channel: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str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) -&gt; </a:t>
            </a:r>
            <a:r>
              <a:rPr lang="en-US" sz="725" i="0" dirty="0">
                <a:solidFill>
                  <a:srgbClr val="FF8E6E"/>
                </a:solidFill>
                <a:latin typeface="Inconsolata"/>
              </a:rPr>
              <a:t>None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lang="en-US" sz="725" i="0" dirty="0">
                <a:solidFill>
                  <a:srgbClr val="E6EDF3"/>
                </a:solidFill>
                <a:latin typeface="Inconsolata"/>
              </a:rPr>
              <a:t>    </a:t>
            </a:r>
            <a:r>
              <a:rPr lang="en-US" sz="725" i="0" dirty="0" err="1">
                <a:solidFill>
                  <a:srgbClr val="E6EDF3"/>
                </a:solidFill>
                <a:latin typeface="Inconsolata"/>
              </a:rPr>
              <a:t>create_notifier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(channel).send(customer, ...)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lang="en-US" sz="725" i="0" dirty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lang="en-US" sz="725" i="0" dirty="0">
                <a:solidFill>
                  <a:srgbClr val="FF8E6E"/>
                </a:solidFill>
                <a:latin typeface="Inconsolata"/>
              </a:rPr>
              <a:t>def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 </a:t>
            </a:r>
            <a:r>
              <a:rPr lang="en-US" sz="725" i="0" dirty="0" err="1">
                <a:solidFill>
                  <a:srgbClr val="82B1FF"/>
                </a:solidFill>
                <a:latin typeface="Inconsolata"/>
              </a:rPr>
              <a:t>cancel_order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(</a:t>
            </a:r>
            <a:r>
              <a:rPr lang="en-US" sz="725" i="0" dirty="0" err="1">
                <a:solidFill>
                  <a:srgbClr val="E6EDF3"/>
                </a:solidFill>
                <a:latin typeface="Inconsolata"/>
              </a:rPr>
              <a:t>order_id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int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str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, channel: </a:t>
            </a:r>
            <a:r>
              <a:rPr lang="en-US" sz="725" i="0" dirty="0">
                <a:solidFill>
                  <a:srgbClr val="C3A6FF"/>
                </a:solidFill>
                <a:latin typeface="Inconsolata"/>
              </a:rPr>
              <a:t>str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) -&gt; </a:t>
            </a:r>
            <a:r>
              <a:rPr lang="en-US" sz="725" i="0" dirty="0">
                <a:solidFill>
                  <a:srgbClr val="FF8E6E"/>
                </a:solidFill>
                <a:latin typeface="Inconsolata"/>
              </a:rPr>
              <a:t>None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lang="en-US" sz="725" i="0" dirty="0">
                <a:solidFill>
                  <a:srgbClr val="E6EDF3"/>
                </a:solidFill>
                <a:latin typeface="Inconsolata"/>
              </a:rPr>
              <a:t>    </a:t>
            </a:r>
            <a:r>
              <a:rPr lang="en-US" sz="725" i="0" dirty="0" err="1">
                <a:solidFill>
                  <a:srgbClr val="E6EDF3"/>
                </a:solidFill>
                <a:latin typeface="Inconsolata"/>
              </a:rPr>
              <a:t>create_notifier</a:t>
            </a:r>
            <a:r>
              <a:rPr lang="en-US" sz="725" i="0" dirty="0">
                <a:solidFill>
                  <a:srgbClr val="E6EDF3"/>
                </a:solidFill>
                <a:latin typeface="Inconsolata"/>
              </a:rPr>
              <a:t>(channel).send(customer, ...)</a:t>
            </a:r>
          </a:p>
        </p:txBody>
      </p:sp>
      <p:sp>
        <p:nvSpPr>
          <p:cNvPr id="41" name="Box 26"/>
          <p:cNvSpPr/>
          <p:nvPr/>
        </p:nvSpPr>
        <p:spPr>
          <a:xfrm>
            <a:off x="4328829" y="4453128"/>
            <a:ext cx="4023359" cy="107442"/>
          </a:xfrm>
          <a:prstGeom prst="roundRect">
            <a:avLst>
              <a:gd name="adj" fmla="val 42553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 dirty="0"/>
          </a:p>
        </p:txBody>
      </p:sp>
      <p:sp>
        <p:nvSpPr>
          <p:cNvPr id="42" name="Box 27"/>
          <p:cNvSpPr/>
          <p:nvPr/>
        </p:nvSpPr>
        <p:spPr>
          <a:xfrm>
            <a:off x="4328829" y="4798314"/>
            <a:ext cx="4023359" cy="107442"/>
          </a:xfrm>
          <a:prstGeom prst="roundRect">
            <a:avLst>
              <a:gd name="adj" fmla="val 42553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53033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2100" dirty="0">
                <a:solidFill>
                  <a:srgbClr val="1C4587"/>
                </a:solidFill>
                <a:latin typeface="Work Sans ExtraBold"/>
              </a:rPr>
              <a:t>Kapan </a:t>
            </a:r>
            <a:r>
              <a:rPr lang="en-US" sz="2100" dirty="0" err="1">
                <a:solidFill>
                  <a:srgbClr val="1C4587"/>
                </a:solidFill>
                <a:latin typeface="Work Sans ExtraBold"/>
              </a:rPr>
              <a:t>menggunakan</a:t>
            </a:r>
            <a:r>
              <a:rPr lang="en-US" sz="2100" dirty="0">
                <a:solidFill>
                  <a:srgbClr val="1C4587"/>
                </a:solidFill>
                <a:latin typeface="Work Sans ExtraBold"/>
              </a:rPr>
              <a:t> </a:t>
            </a:r>
            <a:r>
              <a:rPr sz="2100" b="0" i="0" dirty="0">
                <a:solidFill>
                  <a:srgbClr val="1C4587"/>
                </a:solidFill>
                <a:latin typeface="Work Sans ExtraBold"/>
              </a:rPr>
              <a:t>Factory</a:t>
            </a:r>
            <a:r>
              <a:rPr lang="en-US" sz="2100" b="0" i="0" dirty="0">
                <a:solidFill>
                  <a:srgbClr val="1C4587"/>
                </a:solidFill>
                <a:latin typeface="Work Sans ExtraBold"/>
              </a:rPr>
              <a:t>?</a:t>
            </a:r>
            <a:endParaRPr sz="2100" b="0" i="0" dirty="0">
              <a:solidFill>
                <a:srgbClr val="1C4587"/>
              </a:solidFill>
              <a:latin typeface="Work Sans ExtraBold"/>
            </a:endParaRPr>
          </a:p>
        </p:txBody>
      </p:sp>
      <p:sp>
        <p:nvSpPr>
          <p:cNvPr id="22" name="Text 3"/>
          <p:cNvSpPr txBox="1"/>
          <p:nvPr/>
        </p:nvSpPr>
        <p:spPr>
          <a:xfrm>
            <a:off x="621792" y="1600200"/>
            <a:ext cx="4023360" cy="23010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00" b="1" dirty="0" err="1">
                <a:solidFill>
                  <a:srgbClr val="1C4587"/>
                </a:solidFill>
                <a:latin typeface="Inter"/>
              </a:rPr>
              <a:t>Tanpa</a:t>
            </a:r>
            <a:r>
              <a:rPr lang="en-US" sz="1000" b="1" dirty="0">
                <a:solidFill>
                  <a:srgbClr val="1C4587"/>
                </a:solidFill>
                <a:latin typeface="Inter"/>
              </a:rPr>
              <a:t> Factory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900" dirty="0">
                <a:solidFill>
                  <a:srgbClr val="434343"/>
                </a:solidFill>
                <a:latin typeface="Inter"/>
              </a:rPr>
              <a:t>Order API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bisa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mengirim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notifikasi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lewat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email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atau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SMS.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Tanpa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factory,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setiap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function yang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perlu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mengirim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notifikasi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memilih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classnya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sendiri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if/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mengembalikan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object </a:t>
            </a:r>
            <a:r>
              <a:rPr lang="en-US" sz="900" dirty="0" err="1">
                <a:solidFill>
                  <a:srgbClr val="B5482A"/>
                </a:solidFill>
                <a:latin typeface="Inconsolata"/>
              </a:rPr>
              <a:t>EmailNotifier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atau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B5482A"/>
                </a:solidFill>
                <a:latin typeface="Inconsolata"/>
              </a:rPr>
              <a:t>SmsNotifier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00" b="1" dirty="0">
                <a:solidFill>
                  <a:srgbClr val="1C4587"/>
                </a:solidFill>
                <a:latin typeface="Inter"/>
              </a:rPr>
              <a:t>Jika </a:t>
            </a:r>
            <a:r>
              <a:rPr lang="en-US" sz="1000" b="1" dirty="0" err="1">
                <a:solidFill>
                  <a:srgbClr val="1C4587"/>
                </a:solidFill>
                <a:latin typeface="Inter"/>
              </a:rPr>
              <a:t>functionnya</a:t>
            </a:r>
            <a:r>
              <a:rPr lang="en-US" sz="1000" b="1" dirty="0">
                <a:solidFill>
                  <a:srgbClr val="1C4587"/>
                </a:solidFill>
                <a:latin typeface="Inter"/>
              </a:rPr>
              <a:t> </a:t>
            </a:r>
            <a:r>
              <a:rPr lang="en-US" sz="1000" b="1" dirty="0" err="1">
                <a:solidFill>
                  <a:srgbClr val="1C4587"/>
                </a:solidFill>
                <a:latin typeface="Inter"/>
              </a:rPr>
              <a:t>makin</a:t>
            </a:r>
            <a:r>
              <a:rPr lang="en-US" sz="1000" b="1" dirty="0">
                <a:solidFill>
                  <a:srgbClr val="1C4587"/>
                </a:solidFill>
                <a:latin typeface="Inter"/>
              </a:rPr>
              <a:t> </a:t>
            </a:r>
            <a:r>
              <a:rPr lang="en-US" sz="1000" b="1" dirty="0" err="1">
                <a:solidFill>
                  <a:srgbClr val="1C4587"/>
                </a:solidFill>
                <a:latin typeface="Inter"/>
              </a:rPr>
              <a:t>banyak</a:t>
            </a:r>
            <a:endParaRPr lang="en-US" sz="1000" b="1" dirty="0">
              <a:solidFill>
                <a:srgbClr val="1C4587"/>
              </a:solidFill>
              <a:latin typeface="Inter"/>
            </a:endParaRP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900" dirty="0">
                <a:solidFill>
                  <a:srgbClr val="434343"/>
                </a:solidFill>
                <a:latin typeface="Inter"/>
              </a:rPr>
              <a:t>If/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yang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muncul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lagi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di </a:t>
            </a:r>
            <a:r>
              <a:rPr lang="en-US" sz="900" dirty="0" err="1">
                <a:solidFill>
                  <a:srgbClr val="B5482A"/>
                </a:solidFill>
                <a:latin typeface="Inconsolata"/>
              </a:rPr>
              <a:t>place_order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, </a:t>
            </a:r>
            <a:r>
              <a:rPr lang="en-US" sz="900" dirty="0" err="1">
                <a:solidFill>
                  <a:srgbClr val="B5482A"/>
                </a:solidFill>
                <a:latin typeface="Inconsolata"/>
              </a:rPr>
              <a:t>cancel_order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, dan function lain. Jika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ada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channel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baru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misalnya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WhatsApp,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berarti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mengubah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if/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itu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, dan yang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terlewat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akan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dirty="0" err="1">
                <a:solidFill>
                  <a:srgbClr val="434343"/>
                </a:solidFill>
                <a:latin typeface="Inter"/>
              </a:rPr>
              <a:t>menjadi</a:t>
            </a:r>
            <a:r>
              <a:rPr lang="en-US" sz="900" dirty="0">
                <a:solidFill>
                  <a:srgbClr val="434343"/>
                </a:solidFill>
                <a:latin typeface="Inter"/>
              </a:rPr>
              <a:t> bug.</a:t>
            </a:r>
            <a:endParaRPr lang="en-US"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>
                <a:solidFill>
                  <a:srgbClr val="1C4587"/>
                </a:solidFill>
                <a:latin typeface="Inter"/>
              </a:rPr>
              <a:t>Yang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dipakai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dari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Python: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dict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 dirty="0">
                <a:solidFill>
                  <a:srgbClr val="434343"/>
                </a:solidFill>
                <a:latin typeface="Inter"/>
              </a:rPr>
              <a:t>Supaya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tidak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perlu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if/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daftar notifier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disimpan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sebuah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>
                <a:solidFill>
                  <a:srgbClr val="B5482A"/>
                </a:solidFill>
                <a:latin typeface="Inconsolata"/>
              </a:rPr>
              <a:t>dict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Kuncinya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nama channel,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isinya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class notifier.</a:t>
            </a:r>
            <a:endParaRPr lang="en-US" sz="900" b="0" i="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01-factory/after.py (baris 24-28)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1088136"/>
          </a:xfrm>
          <a:prstGeom prst="roundRect">
            <a:avLst>
              <a:gd name="adj" fmla="val 168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108813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 dirty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 = {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 dirty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 dirty="0">
                <a:solidFill>
                  <a:srgbClr val="A5D6A7"/>
                </a:solidFill>
                <a:latin typeface="Inconsolata"/>
              </a:rPr>
              <a:t>"email"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: </a:t>
            </a:r>
            <a:r>
              <a:rPr sz="900" i="0" dirty="0" err="1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 dirty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 dirty="0">
                <a:solidFill>
                  <a:srgbClr val="A5D6A7"/>
                </a:solidFill>
                <a:latin typeface="Inconsolata"/>
              </a:rPr>
              <a:t>"</a:t>
            </a:r>
            <a:r>
              <a:rPr sz="900" i="0" dirty="0" err="1">
                <a:solidFill>
                  <a:srgbClr val="A5D6A7"/>
                </a:solidFill>
                <a:latin typeface="Inconsolata"/>
              </a:rPr>
              <a:t>sms</a:t>
            </a:r>
            <a:r>
              <a:rPr sz="900" i="0" dirty="0">
                <a:solidFill>
                  <a:srgbClr val="A5D6A7"/>
                </a:solidFill>
                <a:latin typeface="Inconsolata"/>
              </a:rPr>
              <a:t>"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: </a:t>
            </a:r>
            <a:r>
              <a:rPr sz="900" i="0" dirty="0" err="1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 dirty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 dirty="0">
                <a:solidFill>
                  <a:srgbClr val="A5D6A7"/>
                </a:solidFill>
                <a:latin typeface="Inconsolata"/>
              </a:rPr>
              <a:t>"</a:t>
            </a:r>
            <a:r>
              <a:rPr sz="900" i="0" dirty="0" err="1">
                <a:solidFill>
                  <a:srgbClr val="A5D6A7"/>
                </a:solidFill>
                <a:latin typeface="Inconsolata"/>
              </a:rPr>
              <a:t>whatsapp</a:t>
            </a:r>
            <a:r>
              <a:rPr sz="900" i="0" dirty="0">
                <a:solidFill>
                  <a:srgbClr val="A5D6A7"/>
                </a:solidFill>
                <a:latin typeface="Inconsolata"/>
              </a:rPr>
              <a:t>"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: </a:t>
            </a:r>
            <a:r>
              <a:rPr sz="900" i="0" dirty="0" err="1">
                <a:solidFill>
                  <a:srgbClr val="7FDBCA"/>
                </a:solidFill>
                <a:latin typeface="Inconsolata"/>
              </a:rPr>
              <a:t>WhatsAppNotifier</a:t>
            </a:r>
            <a:r>
              <a:rPr sz="900" i="0" dirty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 dirty="0">
                <a:solidFill>
                  <a:srgbClr val="E6EDF3"/>
                </a:solidFill>
                <a:latin typeface="Inconsolata"/>
              </a:rPr>
              <a:t>}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926080"/>
          <a:ext cx="3685032" cy="1645920"/>
        </p:xfrm>
        <a:graphic>
          <a:graphicData uri="http://schemas.openxmlformats.org/drawingml/2006/table">
            <a:tbl>
              <a:tblPr firstRow="1" bandRow="1"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NOTIFIERS["email"]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class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EmailNotifier</a:t>
                      </a:r>
                      <a:endParaRPr sz="85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NOTIFIERS["email"]()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object EmailNotifier, siap dipakai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NOTIFIERS["gojek"]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error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KeyError</a:t>
                      </a: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,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karena</a:t>
                      </a: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kuncinya</a:t>
                      </a: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tidak</a:t>
                      </a:r>
                      <a:r>
                        <a:rPr sz="85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85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ada</a:t>
                      </a:r>
                      <a:endParaRPr sz="85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If/Elif di beberapa function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f"[EMAIL] ke {to}: {message}"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f"[SMS] ke {to}: {message}"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f"Channel tidak dikenal: {channel}"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notifier.send(customer,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f"Order #{order_id} berhasil dibuat"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365373"/>
            <a:ext cx="7699248" cy="829818"/>
          </a:xfrm>
          <a:prstGeom prst="roundRect">
            <a:avLst>
              <a:gd name="adj" fmla="val 550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6614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If/Elif di beberapa function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cancel_order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if/elif yang sama, hasil copy-paste dari place_order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notifier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f"Channel tidak dikenal: {channel}"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notifier.send(customer,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f"Order #{order_id} dibatalkan"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place_order(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cancel_order(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108073"/>
            <a:ext cx="7699248" cy="829818"/>
          </a:xfrm>
          <a:prstGeom prst="roundRect">
            <a:avLst>
              <a:gd name="adj" fmla="val 550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24041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01-factory/before.py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sesi-01-design-patterns/01-factory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1-01-factory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08813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 dirty="0" err="1">
                <a:solidFill>
                  <a:srgbClr val="C0392B"/>
                </a:solidFill>
                <a:latin typeface="Inter"/>
              </a:rPr>
              <a:t>Masalahnya</a:t>
            </a:r>
            <a:endParaRPr sz="1100" b="1" i="0" dirty="0">
              <a:solidFill>
                <a:srgbClr val="C0392B"/>
              </a:solidFill>
              <a:latin typeface="Inter"/>
            </a:endParaRP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141019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memilih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class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sendiri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pakai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if/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20-25)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If/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sama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di-copy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ke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B5482A"/>
                </a:solidFill>
                <a:latin typeface="Inconsolata"/>
              </a:rPr>
              <a:t>cancel_order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31-36)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Tambah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WhatsApp = edit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if/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elif</a:t>
            </a:r>
            <a:endParaRPr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Terlewat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tempat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>
                <a:solidFill>
                  <a:srgbClr val="434343"/>
                </a:solidFill>
                <a:latin typeface="Inter"/>
              </a:rPr>
              <a:t>=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bug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Satu Tempat untuk Membuat Object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f"[EMAIL] ke {to}: {message}"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f"[SMS] ke {to}: {message}"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WhatsAppNotifier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channel baru, place_order &amp; cancel_order tidak disentuh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f"[WA] ke {to}: {message}"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{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"whatsapp"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WhatsAppNotifier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}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924173"/>
            <a:ext cx="7699248" cy="690118"/>
          </a:xfrm>
          <a:prstGeom prst="roundRect">
            <a:avLst>
              <a:gd name="adj" fmla="val 662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41503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2256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33121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Satu Tempat untuk Membuat Object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create_notifier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"""Factory: terima nama channel, kembalikan object notifier."""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channel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f"Channel tidak dikenal: {channel}"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850" i="0">
                <a:solidFill>
                  <a:srgbClr val="E6EDF3"/>
                </a:solidFill>
                <a:latin typeface="Inconsolata"/>
              </a:rPr>
              <a:t>[channel]()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create_notifier(channel).send(customer,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f"Order #{order_id} berhasil dibuat"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42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cancel_order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create_notifier(channel).send(customer,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f"Order #{order_id} dibatalkan"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46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place_order(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cancel_order(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place_order(</a:t>
            </a:r>
            <a:r>
              <a:rPr sz="850" i="0">
                <a:solidFill>
                  <a:srgbClr val="F9C97A"/>
                </a:solidFill>
                <a:latin typeface="Inconsolata"/>
              </a:rPr>
              <a:t>2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"0812xxxx"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"whatsapp"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8673"/>
            <a:ext cx="7699248" cy="690118"/>
          </a:xfrm>
          <a:prstGeom prst="roundRect">
            <a:avLst>
              <a:gd name="adj" fmla="val 662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20548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9462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28930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5050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01-factory/after.py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sesi-01-design-patterns/01-factory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1-01-factory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280160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 dirty="0" err="1">
                <a:solidFill>
                  <a:srgbClr val="2E7D5B"/>
                </a:solidFill>
                <a:latin typeface="Inter"/>
              </a:rPr>
              <a:t>Perbaikannya</a:t>
            </a:r>
            <a:endParaRPr sz="1100" b="1" i="0" dirty="0">
              <a:solidFill>
                <a:srgbClr val="2E7D5B"/>
              </a:solidFill>
              <a:latin typeface="Inter"/>
            </a:endParaRP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If/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diganti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B5482A"/>
                </a:solidFill>
                <a:latin typeface="Inconsolata"/>
              </a:rPr>
              <a:t>dict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: nama channel → class (baris 24-28)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B5482A"/>
                </a:solidFill>
                <a:latin typeface="Inconsolata"/>
              </a:rPr>
              <a:t>create_notifier</a:t>
            </a:r>
            <a:r>
              <a:rPr sz="950" b="0" i="0" dirty="0">
                <a:solidFill>
                  <a:srgbClr val="B5482A"/>
                </a:solidFill>
                <a:latin typeface="Inconsolata"/>
              </a:rPr>
              <a:t>()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=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satu-satunya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tempat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membuat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notifier. </a:t>
            </a:r>
            <a:r>
              <a:rPr sz="950" b="1" i="0" dirty="0" err="1">
                <a:solidFill>
                  <a:srgbClr val="434343"/>
                </a:solidFill>
                <a:latin typeface="Inter"/>
              </a:rPr>
              <a:t>Inilah</a:t>
            </a:r>
            <a:r>
              <a:rPr sz="950" b="1" i="0" dirty="0">
                <a:solidFill>
                  <a:srgbClr val="434343"/>
                </a:solidFill>
                <a:latin typeface="Inter"/>
              </a:rPr>
              <a:t> factory-</a:t>
            </a:r>
            <a:r>
              <a:rPr sz="950" b="1" i="0" dirty="0" err="1">
                <a:solidFill>
                  <a:srgbClr val="434343"/>
                </a:solidFill>
                <a:latin typeface="Inter"/>
              </a:rPr>
              <a:t>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31-35)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Pemakai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cukup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panggil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factory,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tidak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tahu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class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aslinya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39, 43)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Channel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baru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= 1 class + 1 baris di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dict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19-21)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 dirty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Output-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nya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sekarang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punya baris </a:t>
            </a:r>
            <a:r>
              <a:rPr sz="950" b="0" i="0" dirty="0">
                <a:solidFill>
                  <a:srgbClr val="B5482A"/>
                </a:solidFill>
                <a:latin typeface="Inconsolata"/>
              </a:rPr>
              <a:t>[WA]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Factory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07492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348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01-factory/after.py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074920" cy="2139696"/>
          </a:xfrm>
          <a:prstGeom prst="roundRect">
            <a:avLst>
              <a:gd name="adj" fmla="val 85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074920" cy="213969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create_notifier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(channel: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"""Factory: terima nama channel, kembalikan object notifier."""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channel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f"Channel tidak dikenal: {channel}"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750" i="0">
                <a:solidFill>
                  <a:srgbClr val="E6EDF3"/>
                </a:solidFill>
                <a:latin typeface="Inconsolata"/>
              </a:rPr>
              <a:t>[channel]()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channel: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create_notifier(channel).send(customer,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f"Order #{order_id} berhasil dibuat"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place_order(</a:t>
            </a:r>
            <a:r>
              <a:rPr sz="750" i="0">
                <a:solidFill>
                  <a:srgbClr val="F9C97A"/>
                </a:solidFill>
                <a:latin typeface="Inconsolata"/>
              </a:rPr>
              <a:t>1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097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495544" y="3037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716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495544" y="2656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2081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495544" y="202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2335022"/>
            <a:ext cx="49103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495544" y="2275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CodeBg 21"/>
          <p:cNvSpPr/>
          <p:nvPr/>
        </p:nvSpPr>
        <p:spPr>
          <a:xfrm>
            <a:off x="621792" y="3950208"/>
            <a:ext cx="5074920" cy="749808"/>
          </a:xfrm>
          <a:prstGeom prst="roundRect">
            <a:avLst>
              <a:gd name="adj" fmla="val 9756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Code 22"/>
          <p:cNvSpPr txBox="1"/>
          <p:nvPr/>
        </p:nvSpPr>
        <p:spPr>
          <a:xfrm>
            <a:off x="621792" y="3950208"/>
            <a:ext cx="5074920" cy="74980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[EMAIL] ke budi@mail.com: Order #1 berhasil dibuat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[SMS] ke budi@mail.com: Order #1 dibatalkan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[WA] ke 0812xxxx: Order #2 berhasil dibuat</a:t>
            </a:r>
          </a:p>
        </p:txBody>
      </p:sp>
      <p:sp>
        <p:nvSpPr>
          <p:cNvPr id="39" name="Box 23"/>
          <p:cNvSpPr/>
          <p:nvPr/>
        </p:nvSpPr>
        <p:spPr>
          <a:xfrm>
            <a:off x="587959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0" name="Text 24"/>
          <p:cNvSpPr txBox="1"/>
          <p:nvPr/>
        </p:nvSpPr>
        <p:spPr>
          <a:xfrm>
            <a:off x="6208776" y="146304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 dirty="0" err="1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850" b="0" i="0" dirty="0" err="1">
                <a:solidFill>
                  <a:srgbClr val="434343"/>
                </a:solidFill>
                <a:latin typeface="Inter"/>
              </a:rPr>
              <a:t>dipanggil</a:t>
            </a:r>
            <a:r>
              <a:rPr sz="8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85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850" b="0" i="0" dirty="0">
                <a:solidFill>
                  <a:srgbClr val="434343"/>
                </a:solidFill>
                <a:latin typeface="Inter"/>
              </a:rPr>
              <a:t> channel </a:t>
            </a:r>
            <a:r>
              <a:rPr sz="850" b="0" i="0" dirty="0">
                <a:solidFill>
                  <a:srgbClr val="B5482A"/>
                </a:solidFill>
                <a:latin typeface="Inconsolata"/>
              </a:rPr>
              <a:t>"email"</a:t>
            </a:r>
          </a:p>
        </p:txBody>
      </p:sp>
      <p:sp>
        <p:nvSpPr>
          <p:cNvPr id="41" name="Box 25"/>
          <p:cNvSpPr/>
          <p:nvPr/>
        </p:nvSpPr>
        <p:spPr>
          <a:xfrm>
            <a:off x="587959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6208776" y="2106777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 tidak membuat object sendiri, dia minta ke factory: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create_notifier("email")</a:t>
            </a:r>
          </a:p>
        </p:txBody>
      </p:sp>
      <p:sp>
        <p:nvSpPr>
          <p:cNvPr id="43" name="Box 27"/>
          <p:cNvSpPr/>
          <p:nvPr/>
        </p:nvSpPr>
        <p:spPr>
          <a:xfrm>
            <a:off x="587959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6208776" y="2750515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Factory mengecek channel ada di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NOTIFIERS</a:t>
            </a:r>
            <a:r>
              <a:rPr sz="850" b="0" i="0">
                <a:solidFill>
                  <a:srgbClr val="434343"/>
                </a:solidFill>
                <a:latin typeface="Inter"/>
              </a:rPr>
              <a:t>. Tidak ada =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ValueError</a:t>
            </a:r>
          </a:p>
        </p:txBody>
      </p:sp>
      <p:sp>
        <p:nvSpPr>
          <p:cNvPr id="45" name="Box 29"/>
          <p:cNvSpPr/>
          <p:nvPr/>
        </p:nvSpPr>
        <p:spPr>
          <a:xfrm>
            <a:off x="587959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6" name="Text 30"/>
          <p:cNvSpPr txBox="1"/>
          <p:nvPr/>
        </p:nvSpPr>
        <p:spPr>
          <a:xfrm>
            <a:off x="6208776" y="3394252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NOTIFIERS["email"]</a:t>
            </a:r>
            <a:r>
              <a:rPr sz="850" b="0" i="0">
                <a:solidFill>
                  <a:srgbClr val="434343"/>
                </a:solidFill>
                <a:latin typeface="Inter"/>
              </a:rPr>
              <a:t> = class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EmailNotifier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lalu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membuat object-nya</a:t>
            </a:r>
          </a:p>
        </p:txBody>
      </p:sp>
      <p:sp>
        <p:nvSpPr>
          <p:cNvPr id="47" name="Box 31"/>
          <p:cNvSpPr/>
          <p:nvPr/>
        </p:nvSpPr>
        <p:spPr>
          <a:xfrm>
            <a:off x="587959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48" name="Text 32"/>
          <p:cNvSpPr txBox="1"/>
          <p:nvPr/>
        </p:nvSpPr>
        <p:spPr>
          <a:xfrm>
            <a:off x="6208776" y="4037990"/>
            <a:ext cx="22768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Object kembali ke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, lalu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.send(...)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dipanggil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Singleton?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196476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>
                <a:solidFill>
                  <a:srgbClr val="1C4587"/>
                </a:solidFill>
                <a:latin typeface="Inter"/>
              </a:rPr>
              <a:t>Singleton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adalah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 dirty="0">
                <a:solidFill>
                  <a:srgbClr val="434343"/>
                </a:solidFill>
                <a:latin typeface="Inter"/>
              </a:rPr>
              <a:t>Design pattern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memastikan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sebuah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class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hanya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punya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object,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object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itu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dipakai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bersama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oleh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bagian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aplikasi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 Di Python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bisa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ditulis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dengan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function yang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diberi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contohnya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B5482A"/>
                </a:solidFill>
                <a:latin typeface="Inconsolata"/>
              </a:rPr>
              <a:t>get_settings</a:t>
            </a:r>
            <a:r>
              <a:rPr sz="900" b="0" i="0" dirty="0">
                <a:solidFill>
                  <a:srgbClr val="B5482A"/>
                </a:solidFill>
                <a:latin typeface="Inconsolata"/>
              </a:rPr>
              <a:t>()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 err="1">
                <a:solidFill>
                  <a:srgbClr val="1C4587"/>
                </a:solidFill>
                <a:latin typeface="Inter"/>
              </a:rPr>
              <a:t>Untuk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apa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 dirty="0">
                <a:solidFill>
                  <a:srgbClr val="434343"/>
                </a:solidFill>
                <a:latin typeface="Inter"/>
              </a:rPr>
              <a:t>Config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aplikasi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cukup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dibaca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1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900" b="1" i="0" dirty="0">
                <a:solidFill>
                  <a:srgbClr val="434343"/>
                </a:solidFill>
                <a:latin typeface="Inter"/>
              </a:rPr>
              <a:t> kali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Mengurangi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pembuatan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object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berat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berulang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misalnya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koneksi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bagian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aplikasi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memakai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config yang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sama</a:t>
            </a:r>
            <a:endParaRPr sz="900" b="0" i="0" dirty="0">
              <a:solidFill>
                <a:srgbClr val="434343"/>
              </a:solidFill>
              <a:latin typeface="Inter"/>
            </a:endParaRP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singleton: 02-singleton/before.py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435608"/>
          </a:xfrm>
          <a:prstGeom prst="roundRect">
            <a:avLst>
              <a:gd name="adj" fmla="val 127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43560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connect_db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settings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f"connect ke {settings.database_url}"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send_notification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settings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f"kirim via {settings.notification_channel}"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1968373"/>
            <a:ext cx="4023359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8284463" y="19151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2" name="Box 15"/>
          <p:cNvSpPr/>
          <p:nvPr/>
        </p:nvSpPr>
        <p:spPr>
          <a:xfrm>
            <a:off x="4379976" y="2527173"/>
            <a:ext cx="4023359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Box 16"/>
          <p:cNvSpPr/>
          <p:nvPr/>
        </p:nvSpPr>
        <p:spPr>
          <a:xfrm>
            <a:off x="8284463" y="24739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4" name="CodeTab 18"/>
          <p:cNvSpPr/>
          <p:nvPr/>
        </p:nvSpPr>
        <p:spPr>
          <a:xfrm>
            <a:off x="4297680" y="3246120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Dot 19"/>
          <p:cNvSpPr/>
          <p:nvPr/>
        </p:nvSpPr>
        <p:spPr>
          <a:xfrm>
            <a:off x="4407408" y="332384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ot 20"/>
          <p:cNvSpPr/>
          <p:nvPr/>
        </p:nvSpPr>
        <p:spPr>
          <a:xfrm>
            <a:off x="4544568" y="332384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ot 21"/>
          <p:cNvSpPr/>
          <p:nvPr/>
        </p:nvSpPr>
        <p:spPr>
          <a:xfrm>
            <a:off x="4681728" y="332384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22"/>
          <p:cNvSpPr txBox="1"/>
          <p:nvPr/>
        </p:nvSpPr>
        <p:spPr>
          <a:xfrm>
            <a:off x="4846320" y="3255264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singleton: 02-singleton/after.py</a:t>
            </a:r>
          </a:p>
        </p:txBody>
      </p:sp>
      <p:sp>
        <p:nvSpPr>
          <p:cNvPr id="39" name="CodeBg 24"/>
          <p:cNvSpPr/>
          <p:nvPr/>
        </p:nvSpPr>
        <p:spPr>
          <a:xfrm>
            <a:off x="4297680" y="3483864"/>
            <a:ext cx="4187951" cy="1216151"/>
          </a:xfrm>
          <a:prstGeom prst="roundRect">
            <a:avLst>
              <a:gd name="adj" fmla="val 150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Code 25"/>
          <p:cNvSpPr txBox="1"/>
          <p:nvPr/>
        </p:nvSpPr>
        <p:spPr>
          <a:xfrm>
            <a:off x="4297680" y="3483864"/>
            <a:ext cx="4187951" cy="1216151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get_settings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connect_db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f"connect ke {get_settings().database_url}"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41" name="Box 26"/>
          <p:cNvSpPr/>
          <p:nvPr/>
        </p:nvSpPr>
        <p:spPr>
          <a:xfrm>
            <a:off x="4379976" y="3593465"/>
            <a:ext cx="4023359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92792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Singleton?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11480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Singleton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Setiap function yang butuh config membuat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Settings()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sendiri, jadi config dibaca ulang dari environment setiap kali function itu dipanggil.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functionnya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Config makin sering dibaca ulang, dan setiap function memegang object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Settings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yang berbeda. Jika yang dibuat berulang adalah koneksi database, aplikasi bisa kehabisan koneksi.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@lru_cache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adalah decorator dari modul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functools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untuk menyimpan hasil sebuah function. Karena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get_settings()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tidak punya argumen, pemanggilan berikutnya selalu mengembalikan object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Settings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yang sama.</a:t>
            </a:r>
          </a:p>
        </p:txBody>
      </p:sp>
      <p:sp>
        <p:nvSpPr>
          <p:cNvPr id="23" name="CodeTab 5"/>
          <p:cNvSpPr/>
          <p:nvPr/>
        </p:nvSpPr>
        <p:spPr>
          <a:xfrm>
            <a:off x="4892040" y="1481328"/>
            <a:ext cx="359359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500176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13892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27608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440679" y="1490472"/>
            <a:ext cx="295351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dua cara menulis Singleton</a:t>
            </a:r>
          </a:p>
        </p:txBody>
      </p:sp>
      <p:sp>
        <p:nvSpPr>
          <p:cNvPr id="28" name="CodeBg 11"/>
          <p:cNvSpPr/>
          <p:nvPr/>
        </p:nvSpPr>
        <p:spPr>
          <a:xfrm>
            <a:off x="4892040" y="1719072"/>
            <a:ext cx="359359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92040" y="1719072"/>
            <a:ext cx="359359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cara klasik: diatur di __new__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_instance =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__new__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cls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cls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._instance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cls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._instance =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super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().__new__(</a:t>
            </a:r>
            <a:r>
              <a:rPr sz="850" i="0">
                <a:solidFill>
                  <a:srgbClr val="C3A6FF"/>
                </a:solidFill>
                <a:latin typeface="Inconsolata"/>
              </a:rPr>
              <a:t>cls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cls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._instance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cara yang dipakai di sesi ini: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function + @lru_cache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get_settings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275638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Config Dibuat Berulang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02-singleton/before.py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os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"-&gt; membaca config dari environment..."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.app_name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"APP_NAME"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"Order API"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.database_url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"DATABASE_URL"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"sqlite:///orders.db"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.notification_channel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"NOTIFICATION_CHANNEL"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connect_db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settings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f"connect ke {settings.database_url}"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5050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4518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50270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Config Dibuat Berulang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02-singleton/before.py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send_notification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settings =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f"kirim via {settings.notification_channel}"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connect_db()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send_notification()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"object sama?"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())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False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683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19151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9462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289306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841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02-singleton/before.py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sesi-01-design-patterns/02-singleton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1-02-singleton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2020824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connect_db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membuat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Settings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sendiri (baris 19)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send_notification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membuat lagi (baris 24)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Hasilnya object berbeda: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False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31)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Di output, "membaca config" muncul </a:t>
            </a:r>
            <a:r>
              <a:rPr sz="950" b="1" i="0">
                <a:solidFill>
                  <a:srgbClr val="434343"/>
                </a:solidFill>
                <a:latin typeface="Inter"/>
              </a:rPr>
              <a:t>4 kali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Jika yang dibuat koneksi database, resource jadi boros</a:t>
            </a:r>
          </a:p>
        </p:txBody>
      </p:sp>
    </p:spTree>
    <p:extLst>
      <p:ext uri="{BB962C8B-B14F-4D97-AF65-F5344CB8AC3E}">
        <p14:creationId xmlns:p14="http://schemas.microsoft.com/office/powerpoint/2010/main" val="2745862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Cukup @lru_cache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02-singleton/after.py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os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functools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"-&gt; membaca config dari environment..."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.app_name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"APP_NAME"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"Order API"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.database_url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"DATABASE_URL"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"sqlite:///orders.db"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.notification_channel = 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"NOTIFICATION_CHANNEL"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get_settings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5050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5915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689768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Cukup @lru_cache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02-singleton/after.py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connect_db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f"connect ke {get_settings().database_url}"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send_notification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f"kirim via {get_settings().notification_channel}"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connect_db()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send_notification()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"object sama?"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get_settings()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get_settings())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True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Di test, kalau perlu config lain: ubah env lalu kosongkan 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os.environ[</a:t>
            </a:r>
            <a:r>
              <a:rPr sz="850" i="0">
                <a:solidFill>
                  <a:srgbClr val="A5D6A7"/>
                </a:solidFill>
                <a:latin typeface="Inconsolata"/>
              </a:rPr>
              <a:t>"NOTIFICATION_CHANNEL"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]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"sms"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get_settings.cache_clear()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send_notification()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683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19151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5271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704088" y="3365373"/>
            <a:ext cx="7699248" cy="131318"/>
          </a:xfrm>
          <a:prstGeom prst="roundRect">
            <a:avLst>
              <a:gd name="adj" fmla="val 3481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Box 16"/>
          <p:cNvSpPr/>
          <p:nvPr/>
        </p:nvSpPr>
        <p:spPr>
          <a:xfrm>
            <a:off x="8284463" y="33121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4" name="Box 17"/>
          <p:cNvSpPr/>
          <p:nvPr/>
        </p:nvSpPr>
        <p:spPr>
          <a:xfrm>
            <a:off x="704088" y="37844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Box 18"/>
          <p:cNvSpPr/>
          <p:nvPr/>
        </p:nvSpPr>
        <p:spPr>
          <a:xfrm>
            <a:off x="8284463" y="38709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51063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02-singleton/after.py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sesi-01-design-patterns/02-singleton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1-02-singleton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837944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menyimpan hasil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get_settings()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</a:t>
            </a:r>
            <a:r>
              <a:rPr sz="950" b="1" i="0">
                <a:solidFill>
                  <a:srgbClr val="434343"/>
                </a:solidFill>
                <a:latin typeface="Inter"/>
              </a:rPr>
              <a:t>Inilah singletonnya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19-21)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bagian memanggil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get_settings()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bukan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Settings()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25, 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Objectnya sama: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True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35)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Untuk test, cache bisa dikosongkan dengan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cache_clear()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38-40)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Di output, "membaca config" hanya muncul sekali sebelum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cache_clear()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4362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Singleton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4632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062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02-singleton/after.py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46320" cy="2020824"/>
          </a:xfrm>
          <a:prstGeom prst="roundRect">
            <a:avLst>
              <a:gd name="adj" fmla="val 90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46320" cy="202082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get_settings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80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connect_db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f"connect ke {get_settings().database_url}"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send_notification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f"kirim via {get_settings().notification_channel}"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connect_db()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send_notification()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"object sama?"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get_settings()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get_settings())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True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224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266944" y="3164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081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266944" y="202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1827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266944" y="1767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3351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4974336" y="329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704088" y="3478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Box 21"/>
          <p:cNvSpPr/>
          <p:nvPr/>
        </p:nvSpPr>
        <p:spPr>
          <a:xfrm>
            <a:off x="5266944" y="3418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CodeBg 23"/>
          <p:cNvSpPr/>
          <p:nvPr/>
        </p:nvSpPr>
        <p:spPr>
          <a:xfrm>
            <a:off x="621792" y="3831335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Code 24"/>
          <p:cNvSpPr txBox="1"/>
          <p:nvPr/>
        </p:nvSpPr>
        <p:spPr>
          <a:xfrm>
            <a:off x="621792" y="3831335"/>
            <a:ext cx="4846320" cy="86868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-&gt; membaca config dari environment...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connect ke sqlite:///orders.db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kirim via email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object sama? True</a:t>
            </a:r>
          </a:p>
        </p:txBody>
      </p:sp>
      <p:sp>
        <p:nvSpPr>
          <p:cNvPr id="41" name="Box 25"/>
          <p:cNvSpPr/>
          <p:nvPr/>
        </p:nvSpPr>
        <p:spPr>
          <a:xfrm>
            <a:off x="565099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5980176" y="1463040"/>
            <a:ext cx="25054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connect_db()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memanggil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get_settings()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untuk pertama kali</a:t>
            </a:r>
          </a:p>
        </p:txBody>
      </p:sp>
      <p:sp>
        <p:nvSpPr>
          <p:cNvPr id="43" name="Box 27"/>
          <p:cNvSpPr/>
          <p:nvPr/>
        </p:nvSpPr>
        <p:spPr>
          <a:xfrm>
            <a:off x="565099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5980176" y="2106777"/>
            <a:ext cx="25054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Cache masih kosong, jadi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Settings()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dibuat. "membaca config" tercetak </a:t>
            </a:r>
            <a:r>
              <a:rPr sz="850" b="1" i="0">
                <a:solidFill>
                  <a:srgbClr val="434343"/>
                </a:solidFill>
                <a:latin typeface="Inter"/>
              </a:rPr>
              <a:t>sekali</a:t>
            </a:r>
          </a:p>
        </p:txBody>
      </p:sp>
      <p:sp>
        <p:nvSpPr>
          <p:cNvPr id="45" name="Box 29"/>
          <p:cNvSpPr/>
          <p:nvPr/>
        </p:nvSpPr>
        <p:spPr>
          <a:xfrm>
            <a:off x="565099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6" name="Text 30"/>
          <p:cNvSpPr txBox="1"/>
          <p:nvPr/>
        </p:nvSpPr>
        <p:spPr>
          <a:xfrm>
            <a:off x="5980176" y="2750515"/>
            <a:ext cx="25054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menyimpan object itu</a:t>
            </a:r>
          </a:p>
        </p:txBody>
      </p:sp>
      <p:sp>
        <p:nvSpPr>
          <p:cNvPr id="47" name="Box 31"/>
          <p:cNvSpPr/>
          <p:nvPr/>
        </p:nvSpPr>
        <p:spPr>
          <a:xfrm>
            <a:off x="565099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8" name="Text 32"/>
          <p:cNvSpPr txBox="1"/>
          <p:nvPr/>
        </p:nvSpPr>
        <p:spPr>
          <a:xfrm>
            <a:off x="5980176" y="3394252"/>
            <a:ext cx="25054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send_notification()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memanggil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get_settings()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lagi: object yang disimpan langsung dikembalikan,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Settings()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tidak dibuat lagi</a:t>
            </a:r>
          </a:p>
        </p:txBody>
      </p:sp>
      <p:sp>
        <p:nvSpPr>
          <p:cNvPr id="49" name="Box 33"/>
          <p:cNvSpPr/>
          <p:nvPr/>
        </p:nvSpPr>
        <p:spPr>
          <a:xfrm>
            <a:off x="565099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0" name="Text 34"/>
          <p:cNvSpPr txBox="1"/>
          <p:nvPr/>
        </p:nvSpPr>
        <p:spPr>
          <a:xfrm>
            <a:off x="5980176" y="4037990"/>
            <a:ext cx="2505456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Semua panggilan dapat object yang sama: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2167074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Strategy?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5204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Strategy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434343"/>
                </a:solidFill>
                <a:latin typeface="Inter"/>
              </a:rPr>
              <a:t>Design pattern</a:t>
            </a:r>
            <a:r>
              <a:rPr sz="900" b="0" i="0">
                <a:solidFill>
                  <a:srgbClr val="434343"/>
                </a:solidFill>
                <a:latin typeface="Inter"/>
              </a:rPr>
              <a:t> yang memisahkan setiap aturan ke class masing-masing, sehingga aturan yang dipakai bisa dipilih saat program berjalan. Semua class punya method dengan nama yang sama, contohnya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discount()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Cocok untuk aturan yang sering berubah, seperti diskon, ongkir, atau pajak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Jika ada aturan baru, cukup tambah class baru, function yang menghitung total tidak berubah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Setiap aturan bisa dites sendiri-sendiri</a:t>
            </a:r>
          </a:p>
        </p:txBody>
      </p:sp>
      <p:sp>
        <p:nvSpPr>
          <p:cNvPr id="23" name="CodeTab 5"/>
          <p:cNvSpPr/>
          <p:nvPr/>
        </p:nvSpPr>
        <p:spPr>
          <a:xfrm>
            <a:off x="4297680" y="1481328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4074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5445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6817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846320" y="1490472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strategy: 03-strategy/before.py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297680" y="1719072"/>
            <a:ext cx="4187951" cy="1417320"/>
          </a:xfrm>
          <a:prstGeom prst="roundRect">
            <a:avLst>
              <a:gd name="adj" fmla="val 129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297680" y="1719072"/>
            <a:ext cx="4187951" cy="141732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calculate_total</a:t>
            </a:r>
            <a:r>
              <a:rPr sz="80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discount = </a:t>
            </a:r>
            <a:r>
              <a:rPr sz="800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800" i="0">
                <a:solidFill>
                  <a:srgbClr val="F9C97A"/>
                </a:solidFill>
                <a:latin typeface="Inconsolata"/>
              </a:rPr>
              <a:t>5</a:t>
            </a:r>
            <a:r>
              <a:rPr sz="8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</a:t>
            </a:r>
            <a:r>
              <a:rPr sz="8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elif customer_type == "student": ... &lt;- nambah di sini terus</a:t>
            </a:r>
          </a:p>
        </p:txBody>
      </p:sp>
      <p:sp>
        <p:nvSpPr>
          <p:cNvPr id="30" name="Box 13"/>
          <p:cNvSpPr/>
          <p:nvPr/>
        </p:nvSpPr>
        <p:spPr>
          <a:xfrm>
            <a:off x="4379976" y="1954022"/>
            <a:ext cx="4023359" cy="881380"/>
          </a:xfrm>
          <a:prstGeom prst="roundRect">
            <a:avLst>
              <a:gd name="adj" fmla="val 518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297680" y="3227832"/>
            <a:ext cx="41879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407408" y="330555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544568" y="330555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681728" y="330555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846320" y="3236976"/>
            <a:ext cx="35478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strategy: 03-strategy/after.py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297680" y="3465576"/>
            <a:ext cx="4187951" cy="1234440"/>
          </a:xfrm>
          <a:prstGeom prst="roundRect">
            <a:avLst>
              <a:gd name="adj" fmla="val 1481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297680" y="3465576"/>
            <a:ext cx="4187951" cy="123444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subtotal *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.percent // 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calculate_total</a:t>
            </a:r>
            <a:r>
              <a:rPr sz="75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strategy: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subtotal - strategy.discount(subtotal)</a:t>
            </a:r>
          </a:p>
        </p:txBody>
      </p:sp>
      <p:sp>
        <p:nvSpPr>
          <p:cNvPr id="38" name="Box 23"/>
          <p:cNvSpPr/>
          <p:nvPr/>
        </p:nvSpPr>
        <p:spPr>
          <a:xfrm>
            <a:off x="4379976" y="3827525"/>
            <a:ext cx="4023359" cy="246380"/>
          </a:xfrm>
          <a:prstGeom prst="roundRect">
            <a:avLst>
              <a:gd name="adj" fmla="val 18556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379976" y="4335526"/>
            <a:ext cx="4023359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69643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Strategy?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Strategy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aturan diskon ditulis dalam satu function memakai if/elif: regular tidak dapat diskon, member 5%, vip 10%.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aturannya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Setiap ada aturan baru, misalnya diskon student, function yang sama harus ditambah satu cabang lagi. Functionnya makin panjang, dan mengubah satu aturan bisa merusak aturan lain.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Protocol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Protocol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dari modul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typing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dipakai untuk menuliskan method yang harus dimiliki sebuah strategy. Class yang punya method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dianggap sesuai, tanpa perlu inheritance.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03-strategy/after.py (baris 10-11)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539496"/>
          </a:xfrm>
          <a:prstGeom prst="roundRect">
            <a:avLst>
              <a:gd name="adj" fmla="val 338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53949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9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: ...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423160"/>
          <a:ext cx="3685032" cy="1645920"/>
        </p:xfrm>
        <a:graphic>
          <a:graphicData uri="http://schemas.openxmlformats.org/drawingml/2006/table">
            <a:tbl>
              <a:tblPr firstRow="1" bandRow="1"/>
              <a:tblGrid>
                <a:gridCol w="2587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Ditulis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Hasilnya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NoDiscount().discount(1_000_000)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PercentDiscount(10).discount(1_000_000)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100000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StudentDiscount().discount(1_000_000)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75000 (maksimal Rp75.000)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5774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Semua Aturan di Satu Function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03-strategy/before.py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82B1FF"/>
                </a:solidFill>
                <a:latin typeface="Inconsolata"/>
              </a:rPr>
              <a:t>calculate_total</a:t>
            </a:r>
            <a:r>
              <a:rPr sz="90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9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9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9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discount = </a:t>
            </a:r>
            <a:r>
              <a:rPr sz="900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900" i="0">
                <a:solidFill>
                  <a:srgbClr val="F9C97A"/>
                </a:solidFill>
                <a:latin typeface="Inconsolata"/>
              </a:rPr>
              <a:t>5</a:t>
            </a:r>
            <a:r>
              <a:rPr sz="9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customer_type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10</a:t>
            </a:r>
            <a:r>
              <a:rPr sz="9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9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1">
                <a:solidFill>
                  <a:srgbClr val="8B98A8"/>
                </a:solidFill>
                <a:latin typeface="Inconsolata"/>
              </a:rPr>
              <a:t># elif customer_type == "student": ... &lt;- nambah di sini terus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A5D6A7"/>
                </a:solidFill>
                <a:latin typeface="Inconsolata"/>
              </a:rPr>
              <a:t>f"Tipe customer tidak dikenal: {customer_type}"</a:t>
            </a:r>
            <a:r>
              <a:rPr sz="9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900" i="0">
                <a:solidFill>
                  <a:srgbClr val="E6EDF3"/>
                </a:solidFill>
                <a:latin typeface="Inconsolata"/>
              </a:rPr>
              <a:t> subtotal - discount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if</a:t>
            </a:r>
            <a:r>
              <a:rPr sz="9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9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for</a:t>
            </a:r>
            <a:r>
              <a:rPr sz="900" i="0">
                <a:solidFill>
                  <a:srgbClr val="E6EDF3"/>
                </a:solidFill>
                <a:latin typeface="Inconsolata"/>
              </a:rPr>
              <a:t> t </a:t>
            </a:r>
            <a:r>
              <a:rPr sz="900" i="0">
                <a:solidFill>
                  <a:srgbClr val="FF8E6E"/>
                </a:solidFill>
                <a:latin typeface="Inconsolata"/>
              </a:rPr>
              <a:t>in</a:t>
            </a:r>
            <a:r>
              <a:rPr sz="900" i="0">
                <a:solidFill>
                  <a:srgbClr val="E6EDF3"/>
                </a:solidFill>
                <a:latin typeface="Inconsolata"/>
              </a:rPr>
              <a:t> (</a:t>
            </a:r>
            <a:r>
              <a:rPr sz="90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</a:t>
            </a:r>
            <a:r>
              <a:rPr sz="9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9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9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9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900" i="0">
                <a:solidFill>
                  <a:srgbClr val="E6EDF3"/>
                </a:solidFill>
                <a:latin typeface="Inconsolata"/>
              </a:rPr>
              <a:t>(t, calculate_total(</a:t>
            </a:r>
            <a:r>
              <a:rPr sz="900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900" i="0">
                <a:solidFill>
                  <a:srgbClr val="E6EDF3"/>
                </a:solidFill>
                <a:latin typeface="Inconsolata"/>
              </a:rPr>
              <a:t>, t))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82724"/>
            <a:ext cx="7699248" cy="905256"/>
          </a:xfrm>
          <a:prstGeom prst="roundRect">
            <a:avLst>
              <a:gd name="adj" fmla="val 5050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231648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897123"/>
            <a:ext cx="7699248" cy="143255"/>
          </a:xfrm>
          <a:prstGeom prst="roundRect">
            <a:avLst>
              <a:gd name="adj" fmla="val 3191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2849879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17829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03-strategy/before.py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sesi-01-design-patterns/03-strategy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1-03-strategy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280160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157831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diskon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menumpuk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di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if/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elif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10-15)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baru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(student) = edit function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ini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lagi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(baris 16)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 dirty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 dirty="0">
                <a:solidFill>
                  <a:srgbClr val="434343"/>
                </a:solidFill>
                <a:latin typeface="Inter"/>
              </a:rPr>
              <a:t>Ubah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satu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berisiko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merusak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lain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 dirty="0" err="1">
                <a:solidFill>
                  <a:srgbClr val="434343"/>
                </a:solidFill>
                <a:latin typeface="Inter"/>
              </a:rPr>
              <a:t>Mengetes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aturan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vip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ikut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menjalankan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50" b="0" i="0" dirty="0" err="1">
                <a:solidFill>
                  <a:srgbClr val="434343"/>
                </a:solidFill>
                <a:latin typeface="Inter"/>
              </a:rPr>
              <a:t>semua</a:t>
            </a:r>
            <a:r>
              <a:rPr sz="95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50" b="0" i="0" dirty="0" err="1">
                <a:solidFill>
                  <a:srgbClr val="434343"/>
                </a:solidFill>
                <a:latin typeface="Inter"/>
              </a:rPr>
              <a:t>aturan</a:t>
            </a:r>
            <a:endParaRPr sz="950" b="0" i="0" dirty="0">
              <a:solidFill>
                <a:srgbClr val="43434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2443766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Satu Class per Aturan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03-strategy/after.py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typing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Protocol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percent: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.percent = percent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subtotal *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.percent //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100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505073"/>
            <a:ext cx="7699248" cy="829818"/>
          </a:xfrm>
          <a:prstGeom prst="roundRect">
            <a:avLst>
              <a:gd name="adj" fmla="val 550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8011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604365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Satu Class per Aturan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03-strategy/after.py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StudentDiscount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aturan baru: 15%, maksimal Rp75.000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min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(subtotal *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15</a:t>
            </a:r>
            <a:r>
              <a:rPr sz="8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F9C97A"/>
                </a:solidFill>
                <a:latin typeface="Inconsolata"/>
              </a:rPr>
              <a:t>75_000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{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F9C97A"/>
                </a:solidFill>
                <a:latin typeface="Inconsolata"/>
              </a:rPr>
              <a:t>5</a:t>
            </a:r>
            <a:r>
              <a:rPr sz="8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"student"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StudentDiscount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calculate_total</a:t>
            </a:r>
            <a:r>
              <a:rPr sz="85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strategy: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subtotal - strategy.discount(subtotal)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44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 t, strategy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850" i="0">
                <a:solidFill>
                  <a:srgbClr val="E6EDF3"/>
                </a:solidFill>
                <a:latin typeface="Inconsolata"/>
              </a:rPr>
              <a:t>.items():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(t, calculate_total(</a:t>
            </a:r>
            <a:r>
              <a:rPr sz="850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strategy))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86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19151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527173"/>
            <a:ext cx="7699248" cy="829818"/>
          </a:xfrm>
          <a:prstGeom prst="roundRect">
            <a:avLst>
              <a:gd name="adj" fmla="val 550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28232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644773"/>
            <a:ext cx="7699248" cy="271018"/>
          </a:xfrm>
          <a:prstGeom prst="roundRect">
            <a:avLst>
              <a:gd name="adj" fmla="val 1686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8284463" y="366141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23011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03-strategy/after.py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sesi-01-design-patterns/03-strategy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1-03-strategy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463040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Setiap aturan ditulis sebagai satu class dengan method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</a:t>
            </a:r>
            <a:r>
              <a:rPr sz="950" b="1" i="0">
                <a:solidFill>
                  <a:srgbClr val="434343"/>
                </a:solidFill>
                <a:latin typeface="Inter"/>
              </a:rPr>
              <a:t>Inilah strateginya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19-24)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baru = class baru, kode lain tidak disentuh (baris 27-29)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DISCOUNTS</a:t>
            </a:r>
            <a:r>
              <a:rPr sz="950" b="0" i="0">
                <a:solidFill>
                  <a:srgbClr val="434343"/>
                </a:solidFill>
                <a:latin typeface="Inter"/>
              </a:rPr>
              <a:t> memetakan tipe customer ke strategy (baris 32-37)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calculate_total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tidak peduli strategy mana, cukup panggil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40-41)</a:t>
            </a:r>
          </a:p>
        </p:txBody>
      </p:sp>
    </p:spTree>
    <p:extLst>
      <p:ext uri="{BB962C8B-B14F-4D97-AF65-F5344CB8AC3E}">
        <p14:creationId xmlns:p14="http://schemas.microsoft.com/office/powerpoint/2010/main" val="41073335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4632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062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03-strategy/after.py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46320" cy="1975104"/>
          </a:xfrm>
          <a:prstGeom prst="roundRect">
            <a:avLst>
              <a:gd name="adj" fmla="val 92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46320" cy="197510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= {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F9C97A"/>
                </a:solidFill>
                <a:latin typeface="Inconsolata"/>
              </a:rPr>
              <a:t>5</a:t>
            </a:r>
            <a:r>
              <a:rPr sz="80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</a:t>
            </a:r>
            <a:r>
              <a:rPr sz="80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"student"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StudentDiscount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calculate_total</a:t>
            </a:r>
            <a:r>
              <a:rPr sz="800" i="0">
                <a:solidFill>
                  <a:srgbClr val="E6EDF3"/>
                </a:solidFill>
                <a:latin typeface="Inconsolata"/>
              </a:rPr>
              <a:t>(subtotal: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strategy: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subtotal - strategy.discount(subtotal)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for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 t, strategy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800" i="0">
                <a:solidFill>
                  <a:srgbClr val="E6EDF3"/>
                </a:solidFill>
                <a:latin typeface="Inconsolata"/>
              </a:rPr>
              <a:t>.items():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(t, calculate_total(</a:t>
            </a:r>
            <a:r>
              <a:rPr sz="800" i="0">
                <a:solidFill>
                  <a:srgbClr val="F9C97A"/>
                </a:solidFill>
                <a:latin typeface="Inconsolata"/>
              </a:rPr>
              <a:t>1_000_000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strategy))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208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266944" y="2148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351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266944" y="329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2843022"/>
            <a:ext cx="468172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266944" y="2783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CodeBg 19"/>
          <p:cNvSpPr/>
          <p:nvPr/>
        </p:nvSpPr>
        <p:spPr>
          <a:xfrm>
            <a:off x="621792" y="3785615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Code 20"/>
          <p:cNvSpPr txBox="1"/>
          <p:nvPr/>
        </p:nvSpPr>
        <p:spPr>
          <a:xfrm>
            <a:off x="621792" y="3785615"/>
            <a:ext cx="4846320" cy="91440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regular 1000000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member 950000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vip 900000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student 925000</a:t>
            </a:r>
          </a:p>
        </p:txBody>
      </p:sp>
      <p:sp>
        <p:nvSpPr>
          <p:cNvPr id="37" name="Box 21"/>
          <p:cNvSpPr/>
          <p:nvPr/>
        </p:nvSpPr>
        <p:spPr>
          <a:xfrm>
            <a:off x="565099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8" name="Text 22"/>
          <p:cNvSpPr txBox="1"/>
          <p:nvPr/>
        </p:nvSpPr>
        <p:spPr>
          <a:xfrm>
            <a:off x="5980176" y="1463040"/>
            <a:ext cx="250545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Ambil strategy untuk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"vip"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dari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DISCOUNTS</a:t>
            </a:r>
            <a:r>
              <a:rPr sz="850" b="0" i="0">
                <a:solidFill>
                  <a:srgbClr val="434343"/>
                </a:solidFill>
                <a:latin typeface="Inter"/>
              </a:rPr>
              <a:t>: object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PercentDiscount(10)</a:t>
            </a:r>
          </a:p>
        </p:txBody>
      </p:sp>
      <p:sp>
        <p:nvSpPr>
          <p:cNvPr id="39" name="Box 23"/>
          <p:cNvSpPr/>
          <p:nvPr/>
        </p:nvSpPr>
        <p:spPr>
          <a:xfrm>
            <a:off x="5650992" y="230428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0" name="Text 24"/>
          <p:cNvSpPr txBox="1"/>
          <p:nvPr/>
        </p:nvSpPr>
        <p:spPr>
          <a:xfrm>
            <a:off x="5980176" y="2267712"/>
            <a:ext cx="250545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Strategy diberikan ke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calculate_total</a:t>
            </a:r>
            <a:r>
              <a:rPr sz="850" b="0" i="0">
                <a:solidFill>
                  <a:srgbClr val="434343"/>
                </a:solidFill>
                <a:latin typeface="Inter"/>
              </a:rPr>
              <a:t> sebagai argumen</a:t>
            </a:r>
          </a:p>
        </p:txBody>
      </p:sp>
      <p:sp>
        <p:nvSpPr>
          <p:cNvPr id="41" name="Box 25"/>
          <p:cNvSpPr/>
          <p:nvPr/>
        </p:nvSpPr>
        <p:spPr>
          <a:xfrm>
            <a:off x="5650992" y="3108960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5980176" y="3072384"/>
            <a:ext cx="250545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strategy.discount(1_000_000)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menjalankan method milik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PercentDiscount</a:t>
            </a:r>
            <a:r>
              <a:rPr sz="850" b="0" i="0">
                <a:solidFill>
                  <a:srgbClr val="434343"/>
                </a:solidFill>
                <a:latin typeface="Inter"/>
              </a:rPr>
              <a:t>: hasilnya 100.000</a:t>
            </a:r>
          </a:p>
        </p:txBody>
      </p:sp>
      <p:sp>
        <p:nvSpPr>
          <p:cNvPr id="43" name="Box 27"/>
          <p:cNvSpPr/>
          <p:nvPr/>
        </p:nvSpPr>
        <p:spPr>
          <a:xfrm>
            <a:off x="5650992" y="391363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5980176" y="3877056"/>
            <a:ext cx="250545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Total = 1.000.000 - 100.000 = </a:t>
            </a:r>
            <a:r>
              <a:rPr sz="850" b="1" i="0">
                <a:solidFill>
                  <a:srgbClr val="434343"/>
                </a:solidFill>
                <a:latin typeface="Inter"/>
              </a:rPr>
              <a:t>900.000</a:t>
            </a:r>
            <a:r>
              <a:rPr sz="850" b="0" i="0">
                <a:solidFill>
                  <a:srgbClr val="434343"/>
                </a:solidFill>
                <a:latin typeface="Inter"/>
              </a:rPr>
              <a:t>.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calculate_total</a:t>
            </a:r>
            <a:r>
              <a:rPr sz="850" b="0" i="0">
                <a:solidFill>
                  <a:srgbClr val="434343"/>
                </a:solidFill>
                <a:latin typeface="Inter"/>
              </a:rPr>
              <a:t> tidak tahu aturan mana yang dipakai</a:t>
            </a:r>
          </a:p>
        </p:txBody>
      </p:sp>
    </p:spTree>
    <p:extLst>
      <p:ext uri="{BB962C8B-B14F-4D97-AF65-F5344CB8AC3E}">
        <p14:creationId xmlns:p14="http://schemas.microsoft.com/office/powerpoint/2010/main" val="22172633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Perbedaan Strategy dan Factory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481328"/>
          <a:ext cx="7863840" cy="2286000"/>
        </p:xfrm>
        <a:graphic>
          <a:graphicData uri="http://schemas.openxmlformats.org/drawingml/2006/table">
            <a:tbl>
              <a:tblPr firstRow="1" band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Factory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Kategori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Creational: cara membuat object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Behavioral: cara object berperilaku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Pertanyaan yang dijawab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Object mana yang dibuat?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Aturan mana yang dipakai untuk menghitung?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Contoh di sesi ini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B5482A"/>
                          </a:solidFill>
                          <a:latin typeface="Inconsolata"/>
                        </a:rPr>
                        <a:t>create_notifier("email")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B5482A"/>
                          </a:solidFill>
                          <a:latin typeface="Inconsolata"/>
                        </a:rPr>
                        <a:t>PercentDiscount(10).discount(subtotal)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Yang bisa ditambah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Jenis object baru (WhatsApp)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Aturan baru (StudentDiscount)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3931920"/>
            <a:ext cx="78638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Keduanya sering dipakai bersama. Di hands-on,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get_discount("vip")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memilih strategy dari dict (bagian Factory), lalu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.discount(subtotal)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menghitung diskonnya (bagian Strategy).</a:t>
            </a:r>
          </a:p>
        </p:txBody>
      </p:sp>
    </p:spTree>
    <p:extLst>
      <p:ext uri="{BB962C8B-B14F-4D97-AF65-F5344CB8AC3E}">
        <p14:creationId xmlns:p14="http://schemas.microsoft.com/office/powerpoint/2010/main" val="24184089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Repository?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2918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Repository adalah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 i="0">
                <a:solidFill>
                  <a:srgbClr val="434343"/>
                </a:solidFill>
                <a:latin typeface="Inter"/>
              </a:rPr>
              <a:t>Design pattern</a:t>
            </a:r>
            <a:r>
              <a:rPr sz="900" b="0" i="0">
                <a:solidFill>
                  <a:srgbClr val="434343"/>
                </a:solidFill>
                <a:latin typeface="Inter"/>
              </a:rPr>
              <a:t> yang menjadi perantara antara business logic dan tempat penyimpanan data. Semua query ada di repository, bagian lain cukup memanggil method seperti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repo.add()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atau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repo.get()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1C4587"/>
                </a:solidFill>
                <a:latin typeface="Inter"/>
              </a:rPr>
              <a:t>Untuk 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Business logic tidak bercampur dengan SQL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Jika database diganti, cukup repository yang diubah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>
                <a:solidFill>
                  <a:srgbClr val="434343"/>
                </a:solidFill>
                <a:latin typeface="Inter"/>
              </a:rPr>
              <a:t>Saat test, database bisa diganti dengan repository versi in-memory</a:t>
            </a:r>
          </a:p>
        </p:txBody>
      </p:sp>
      <p:sp>
        <p:nvSpPr>
          <p:cNvPr id="23" name="CodeTab 5"/>
          <p:cNvSpPr/>
          <p:nvPr/>
        </p:nvSpPr>
        <p:spPr>
          <a:xfrm>
            <a:off x="4069080" y="1481328"/>
            <a:ext cx="44165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1788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3159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4531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617720" y="1490472"/>
            <a:ext cx="37764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repository: 04-repository/before.py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069080" y="1719072"/>
            <a:ext cx="4416551" cy="1947672"/>
          </a:xfrm>
          <a:prstGeom prst="roundRect">
            <a:avLst>
              <a:gd name="adj" fmla="val 938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069080" y="1719072"/>
            <a:ext cx="4416551" cy="1947672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total = subtotal - subtotal * </a:t>
            </a:r>
            <a:r>
              <a:rPr sz="850" i="0">
                <a:solidFill>
                  <a:srgbClr val="F9C97A"/>
                </a:solidFill>
                <a:latin typeface="Inconsolata"/>
              </a:rPr>
              <a:t>5</a:t>
            </a:r>
            <a:r>
              <a:rPr sz="8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business logic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cur = conn.execute(                   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persistence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"INSERT INTO orders (customer, total) VALUES (?, ?)"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(customer, total),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conn.commit()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cur.lastrowid</a:t>
            </a:r>
          </a:p>
        </p:txBody>
      </p:sp>
      <p:sp>
        <p:nvSpPr>
          <p:cNvPr id="30" name="Box 13"/>
          <p:cNvSpPr/>
          <p:nvPr/>
        </p:nvSpPr>
        <p:spPr>
          <a:xfrm>
            <a:off x="4151376" y="2108073"/>
            <a:ext cx="4251959" cy="690118"/>
          </a:xfrm>
          <a:prstGeom prst="roundRect">
            <a:avLst>
              <a:gd name="adj" fmla="val 6624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069080" y="3758184"/>
            <a:ext cx="44165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178808" y="3835908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315968" y="3835908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453128" y="3835908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617720" y="3767328"/>
            <a:ext cx="37764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repository: 04-repository/after.py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069080" y="3995928"/>
            <a:ext cx="4416551" cy="704088"/>
          </a:xfrm>
          <a:prstGeom prst="roundRect">
            <a:avLst>
              <a:gd name="adj" fmla="val 2597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069080" y="3995928"/>
            <a:ext cx="4416551" cy="70408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(repo: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total = subtotal - subtotal * </a:t>
            </a:r>
            <a:r>
              <a:rPr sz="750" i="0">
                <a:solidFill>
                  <a:srgbClr val="F9C97A"/>
                </a:solidFill>
                <a:latin typeface="Inconsolata"/>
              </a:rPr>
              <a:t>5</a:t>
            </a:r>
            <a:r>
              <a:rPr sz="7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repo.add(customer, total)</a:t>
            </a:r>
          </a:p>
        </p:txBody>
      </p:sp>
      <p:sp>
        <p:nvSpPr>
          <p:cNvPr id="38" name="Box 23"/>
          <p:cNvSpPr/>
          <p:nvPr/>
        </p:nvSpPr>
        <p:spPr>
          <a:xfrm>
            <a:off x="4151376" y="4357878"/>
            <a:ext cx="4251959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86914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Repository?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Repository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Function yang menghitung total juga langsung menulis query SQL untuk menyimpan order ke SQLite.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functionnya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Query SQL tersebar di banyak function. Untuk mengetes perhitungan total saja tetap butuh database, dan jika pindah ke PostgreSQL, semua function itu harus diubah.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Protocol dan dict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OrderRepository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ditulis sebagai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Protocol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sama seperti di Strategy. Versi in-memory cukup memakai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dict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biasa untuk menyimpan order.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04-repository/after.py (baris 11-13)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676656"/>
          </a:xfrm>
          <a:prstGeom prst="roundRect">
            <a:avLst>
              <a:gd name="adj" fmla="val 270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67665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825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25" i="0">
                <a:solidFill>
                  <a:srgbClr val="E6EDF3"/>
                </a:solidFill>
                <a:latin typeface="Inconsolata"/>
              </a:rPr>
              <a:t> </a:t>
            </a:r>
            <a:r>
              <a:rPr sz="825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825" i="0">
                <a:solidFill>
                  <a:srgbClr val="E6EDF3"/>
                </a:solidFill>
                <a:latin typeface="Inconsolata"/>
              </a:rPr>
              <a:t>(</a:t>
            </a:r>
            <a:r>
              <a:rPr sz="825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82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8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825" i="0">
                <a:solidFill>
                  <a:srgbClr val="E6EDF3"/>
                </a:solidFill>
                <a:latin typeface="Inconsolata"/>
              </a:rPr>
              <a:t> </a:t>
            </a:r>
            <a:r>
              <a:rPr sz="825" i="0">
                <a:solidFill>
                  <a:srgbClr val="82B1FF"/>
                </a:solidFill>
                <a:latin typeface="Inconsolata"/>
              </a:rPr>
              <a:t>add</a:t>
            </a:r>
            <a:r>
              <a:rPr sz="825" i="0">
                <a:solidFill>
                  <a:srgbClr val="E6EDF3"/>
                </a:solidFill>
                <a:latin typeface="Inconsolata"/>
              </a:rPr>
              <a:t>(</a:t>
            </a:r>
            <a:r>
              <a:rPr sz="8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25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25" i="0">
                <a:solidFill>
                  <a:srgbClr val="C3A6FF"/>
                </a:solidFill>
                <a:latin typeface="Inconsolata"/>
              </a:rPr>
              <a:t>str</a:t>
            </a:r>
            <a:r>
              <a:rPr sz="825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8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8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825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8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825" i="0">
                <a:solidFill>
                  <a:srgbClr val="E6EDF3"/>
                </a:solidFill>
                <a:latin typeface="Inconsolata"/>
              </a:rPr>
              <a:t> </a:t>
            </a:r>
            <a:r>
              <a:rPr sz="825" i="0">
                <a:solidFill>
                  <a:srgbClr val="82B1FF"/>
                </a:solidFill>
                <a:latin typeface="Inconsolata"/>
              </a:rPr>
              <a:t>get</a:t>
            </a:r>
            <a:r>
              <a:rPr sz="825" i="0">
                <a:solidFill>
                  <a:srgbClr val="E6EDF3"/>
                </a:solidFill>
                <a:latin typeface="Inconsolata"/>
              </a:rPr>
              <a:t>(</a:t>
            </a:r>
            <a:r>
              <a:rPr sz="825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25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825" i="0">
                <a:solidFill>
                  <a:srgbClr val="C3A6FF"/>
                </a:solidFill>
                <a:latin typeface="Inconsolata"/>
              </a:rPr>
              <a:t>int</a:t>
            </a:r>
            <a:r>
              <a:rPr sz="825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25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25" i="0">
                <a:solidFill>
                  <a:srgbClr val="E6EDF3"/>
                </a:solidFill>
                <a:latin typeface="Inconsolata"/>
              </a:rPr>
              <a:t> | </a:t>
            </a:r>
            <a:r>
              <a:rPr sz="825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25" i="0">
                <a:solidFill>
                  <a:srgbClr val="E6EDF3"/>
                </a:solidFill>
                <a:latin typeface="Inconsolata"/>
              </a:rPr>
              <a:t>: ...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560320"/>
          <a:ext cx="3685032" cy="1234440"/>
        </p:xfrm>
        <a:graphic>
          <a:graphicData uri="http://schemas.openxmlformats.org/drawingml/2006/table">
            <a:tbl>
              <a:tblPr firstRow="1" bandRow="1"/>
              <a:tblGrid>
                <a:gridCol w="1673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Repository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Data disimpan di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Dipakai untuk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SqliteOrderRepository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file orders.db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aplikasi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InMemoryOrderRepository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dict di memory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test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60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Hitung dan Query Campur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sqlite3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conn = sqlite3.connect(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"orders.db"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conn.execute(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"CREATE TABLE IF NOT EXISTS orders 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"(id INTEGER PRIMARY KEY, customer TEXT, total INTEGER)"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total = subtotal - subtotal * </a:t>
            </a:r>
            <a:r>
              <a:rPr sz="850" i="0">
                <a:solidFill>
                  <a:srgbClr val="F9C97A"/>
                </a:solidFill>
                <a:latin typeface="Inconsolata"/>
              </a:rPr>
              <a:t>5</a:t>
            </a:r>
            <a:r>
              <a:rPr sz="8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business logic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cur = conn.execute(                       </a:t>
            </a:r>
            <a:r>
              <a:rPr sz="850" i="1">
                <a:solidFill>
                  <a:srgbClr val="8B98A8"/>
                </a:solidFill>
                <a:latin typeface="Inconsolata"/>
              </a:rPr>
              <a:t># persistence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"INSERT INTO orders (customer, total) VALUES (?, ?)"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(customer, total),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conn.commit()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cur.lastrowid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108073"/>
            <a:ext cx="7699248" cy="550418"/>
          </a:xfrm>
          <a:prstGeom prst="roundRect">
            <a:avLst>
              <a:gd name="adj" fmla="val 830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22644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225673"/>
            <a:ext cx="7699248" cy="829818"/>
          </a:xfrm>
          <a:prstGeom prst="roundRect">
            <a:avLst>
              <a:gd name="adj" fmla="val 5509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352171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95487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Hitung dan Query Campur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row = conn.execute(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"SELECT id, customer, total FROM orders WHERE id = ?"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(order_id,)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).fetchone()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{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0</a:t>
            </a:r>
            <a:r>
              <a:rPr sz="850" i="0">
                <a:solidFill>
                  <a:srgbClr val="E6EDF3"/>
                </a:solidFill>
                <a:latin typeface="Inconsolata"/>
              </a:rPr>
              <a:t>],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],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2</a:t>
            </a:r>
            <a:r>
              <a:rPr sz="850" i="0">
                <a:solidFill>
                  <a:srgbClr val="E6EDF3"/>
                </a:solidFill>
                <a:latin typeface="Inconsolata"/>
              </a:rPr>
              <a:t>]}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row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order_id = place_order(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(get_order(order_id))</a:t>
            </a:r>
          </a:p>
        </p:txBody>
      </p:sp>
    </p:spTree>
    <p:extLst>
      <p:ext uri="{BB962C8B-B14F-4D97-AF65-F5344CB8AC3E}">
        <p14:creationId xmlns:p14="http://schemas.microsoft.com/office/powerpoint/2010/main" val="37129266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04-repository/before.py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sesi-01-design-patterns/04-repository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before.py</a:t>
            </a:r>
          </a:p>
        </p:txBody>
      </p:sp>
      <p:pic>
        <p:nvPicPr>
          <p:cNvPr id="29" name="Image 12" descr="s01-04-repository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905256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Koneksi database global, dipakai langsung oleh function (baris 9-12)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Business logic (hitung total) dan SQL di function yang sama (baris 17-22)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Mau tes hitung total saja tetap butuh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Pindah ke PostgreSQL = bongkar semua function</a:t>
            </a:r>
          </a:p>
        </p:txBody>
      </p:sp>
    </p:spTree>
    <p:extLst>
      <p:ext uri="{BB962C8B-B14F-4D97-AF65-F5344CB8AC3E}">
        <p14:creationId xmlns:p14="http://schemas.microsoft.com/office/powerpoint/2010/main" val="2678104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Akses Data Dibungkus (1/3)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sqlite3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8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typing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Protocol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SqliteOrderRepository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path: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"orders.db"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.conn = sqlite3.connect(path)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.conn.execute(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"CREATE TABLE IF NOT EXISTS orders 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"(id INTEGER PRIMARY KEY, customer TEXT, total INTEGER)"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3874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24739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085973"/>
            <a:ext cx="7699248" cy="969518"/>
          </a:xfrm>
          <a:prstGeom prst="roundRect">
            <a:avLst>
              <a:gd name="adj" fmla="val 4715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34518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855729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Akses Data Dibungkus (2/3)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cur =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.conn.execute(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"INSERT INTO orders (customer, total) VALUES (?, ?)"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    (customer, total),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.conn.commit()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cur.lastrowid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row =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.conn.execute(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"SELECT id, customer, total FROM orders WHERE id = ?"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(order_id,)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).fetchone()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{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0</a:t>
            </a:r>
            <a:r>
              <a:rPr sz="850" i="0">
                <a:solidFill>
                  <a:srgbClr val="E6EDF3"/>
                </a:solidFill>
                <a:latin typeface="Inconsolata"/>
              </a:rPr>
              <a:t>],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  <a:r>
              <a:rPr sz="850" i="0">
                <a:solidFill>
                  <a:srgbClr val="E6EDF3"/>
                </a:solidFill>
                <a:latin typeface="Inconsolata"/>
              </a:rPr>
              <a:t>],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row[</a:t>
            </a:r>
            <a:r>
              <a:rPr sz="850" i="0">
                <a:solidFill>
                  <a:srgbClr val="F9C97A"/>
                </a:solidFill>
                <a:latin typeface="Inconsolata"/>
              </a:rPr>
              <a:t>2</a:t>
            </a:r>
            <a:r>
              <a:rPr sz="850" i="0">
                <a:solidFill>
                  <a:srgbClr val="E6EDF3"/>
                </a:solidFill>
                <a:latin typeface="Inconsolata"/>
              </a:rPr>
              <a:t>]}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row </a:t>
            </a:r>
            <a:r>
              <a:rPr sz="85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InMemoryOrderRepository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.rows: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[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] = {}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8673"/>
            <a:ext cx="7699248" cy="1807718"/>
          </a:xfrm>
          <a:prstGeom prst="roundRect">
            <a:avLst>
              <a:gd name="adj" fmla="val 2529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704088" y="39241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8284463" y="40106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746289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Akses Data Dibungkus (3/3)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order_id = </a:t>
            </a:r>
            <a:r>
              <a:rPr sz="850" i="0">
                <a:solidFill>
                  <a:srgbClr val="C3A6FF"/>
                </a:solidFill>
                <a:latin typeface="Inconsolata"/>
              </a:rPr>
              <a:t>len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.rows) +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.rows[order_id] = {</a:t>
            </a:r>
            <a:r>
              <a:rPr sz="8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order_id,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customer,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 total}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order_id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47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8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49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50" i="0">
                <a:solidFill>
                  <a:srgbClr val="E6EDF3"/>
                </a:solidFill>
                <a:latin typeface="Inconsolata"/>
              </a:rPr>
              <a:t>.rows.get(order_id)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51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52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50" i="0">
                <a:solidFill>
                  <a:srgbClr val="E6EDF3"/>
                </a:solidFill>
                <a:latin typeface="Inconsolata"/>
              </a:rPr>
              <a:t>(repo: </a:t>
            </a:r>
            <a:r>
              <a:rPr sz="8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53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total = subtotal - subtotal * </a:t>
            </a:r>
            <a:r>
              <a:rPr sz="850" i="0">
                <a:solidFill>
                  <a:srgbClr val="F9C97A"/>
                </a:solidFill>
                <a:latin typeface="Inconsolata"/>
              </a:rPr>
              <a:t>5</a:t>
            </a:r>
            <a:r>
              <a:rPr sz="8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54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repo.add(customer, total)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55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56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57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58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850" i="0">
                <a:solidFill>
                  <a:srgbClr val="E6EDF3"/>
                </a:solidFill>
                <a:latin typeface="Inconsolata"/>
              </a:rPr>
              <a:t> repo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(</a:t>
            </a:r>
            <a:r>
              <a:rPr sz="850" i="0">
                <a:solidFill>
                  <a:srgbClr val="7FDBCA"/>
                </a:solidFill>
                <a:latin typeface="Inconsolata"/>
              </a:rPr>
              <a:t>SqliteOrderRepository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(), </a:t>
            </a:r>
            <a:r>
              <a:rPr sz="850" i="0">
                <a:solidFill>
                  <a:srgbClr val="7FDBCA"/>
                </a:solidFill>
                <a:latin typeface="Inconsolata"/>
              </a:rPr>
              <a:t>InMemoryOrderRepository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()):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59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order_id = place_order(repo,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5C6773"/>
                </a:solidFill>
                <a:latin typeface="Inconsolata"/>
              </a:rPr>
              <a:t>60  </a:t>
            </a:r>
            <a:r>
              <a:rPr sz="8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  <a:r>
              <a:rPr sz="850" i="0">
                <a:solidFill>
                  <a:srgbClr val="C3A6FF"/>
                </a:solidFill>
                <a:latin typeface="Inconsolata"/>
              </a:rPr>
              <a:t>type</a:t>
            </a:r>
            <a:r>
              <a:rPr sz="850" i="0">
                <a:solidFill>
                  <a:srgbClr val="E6EDF3"/>
                </a:solidFill>
                <a:latin typeface="Inconsolata"/>
              </a:rPr>
              <a:t>(repo).__name__, repo.get(order_id))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828673"/>
            <a:ext cx="7699248" cy="969518"/>
          </a:xfrm>
          <a:prstGeom prst="roundRect">
            <a:avLst>
              <a:gd name="adj" fmla="val 4715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704088" y="3085973"/>
            <a:ext cx="7699248" cy="410718"/>
          </a:xfrm>
          <a:prstGeom prst="roundRect">
            <a:avLst>
              <a:gd name="adj" fmla="val 11131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Box 14"/>
          <p:cNvSpPr/>
          <p:nvPr/>
        </p:nvSpPr>
        <p:spPr>
          <a:xfrm>
            <a:off x="8284463" y="317246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150432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04-repository/after.py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sesi-01-design-patterns/04-repository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python after.py</a:t>
            </a:r>
          </a:p>
        </p:txBody>
      </p:sp>
      <p:pic>
        <p:nvPicPr>
          <p:cNvPr id="29" name="Image 12" descr="s01-04-repository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463040"/>
          </a:xfrm>
          <a:prstGeom prst="rect">
            <a:avLst/>
          </a:prstGeom>
        </p:spPr>
      </p:pic>
      <p:sp>
        <p:nvSpPr>
          <p:cNvPr id="30" name="Box 13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Text 14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OrderRepository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berisi daftar method yang harus ada (baris 11-13)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Versi SQLite: SQL hanya ada di sini (baris 16-36)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Versi in-memory: dict biasa, untuk test (baris 39-49)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hanya tahu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repo.add()</a:t>
            </a:r>
            <a:r>
              <a:rPr sz="950" b="0" i="0">
                <a:solidFill>
                  <a:srgbClr val="434343"/>
                </a:solidFill>
                <a:latin typeface="Inter"/>
              </a:rPr>
              <a:t>. </a:t>
            </a:r>
            <a:r>
              <a:rPr sz="950" b="1" i="0">
                <a:solidFill>
                  <a:srgbClr val="434343"/>
                </a:solidFill>
                <a:latin typeface="Inter"/>
              </a:rPr>
              <a:t>Repositorynya diberikan dari luar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52-54)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Output kedua repository sama persis.</a:t>
            </a:r>
          </a:p>
        </p:txBody>
      </p:sp>
    </p:spTree>
    <p:extLst>
      <p:ext uri="{BB962C8B-B14F-4D97-AF65-F5344CB8AC3E}">
        <p14:creationId xmlns:p14="http://schemas.microsoft.com/office/powerpoint/2010/main" val="19467417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Repository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Cara Membaca Flow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2578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6177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04-repository/after.py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257800" cy="2231136"/>
          </a:xfrm>
          <a:prstGeom prst="roundRect">
            <a:avLst>
              <a:gd name="adj" fmla="val 81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257800" cy="223113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(repo: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total = subtotal - subtotal * </a:t>
            </a:r>
            <a:r>
              <a:rPr sz="750" i="0">
                <a:solidFill>
                  <a:srgbClr val="F9C97A"/>
                </a:solidFill>
                <a:latin typeface="Inconsolata"/>
              </a:rPr>
              <a:t>5</a:t>
            </a:r>
            <a:r>
              <a:rPr sz="7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7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repo.add(customer, total)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 repo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(</a:t>
            </a:r>
            <a:r>
              <a:rPr sz="750" i="0">
                <a:solidFill>
                  <a:srgbClr val="7FDBCA"/>
                </a:solidFill>
                <a:latin typeface="Inconsolata"/>
              </a:rPr>
              <a:t>SqliteOrderRepository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(), </a:t>
            </a:r>
            <a:r>
              <a:rPr sz="750" i="0">
                <a:solidFill>
                  <a:srgbClr val="7FDBCA"/>
                </a:solidFill>
                <a:latin typeface="Inconsolata"/>
              </a:rPr>
              <a:t>InMemoryOrderRepository</a:t>
            </a:r>
            <a:r>
              <a:rPr sz="750" i="0">
                <a:solidFill>
                  <a:srgbClr val="E6EDF3"/>
                </a:solidFill>
                <a:latin typeface="Inconsolata"/>
              </a:rPr>
              <a:t>()):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order_id = place_order(repo,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type</a:t>
            </a:r>
            <a:r>
              <a:rPr sz="750" i="0">
                <a:solidFill>
                  <a:srgbClr val="E6EDF3"/>
                </a:solidFill>
                <a:latin typeface="Inconsolata"/>
              </a:rPr>
              <a:t>(repo).__name__, repo.get(order_id))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462022"/>
            <a:ext cx="509320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678424" y="2402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589022"/>
            <a:ext cx="509320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85816" y="2529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1954022"/>
            <a:ext cx="509320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678424" y="1894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2081022"/>
            <a:ext cx="509320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385816" y="2021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704088" y="2716022"/>
            <a:ext cx="509320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Box 21"/>
          <p:cNvSpPr/>
          <p:nvPr/>
        </p:nvSpPr>
        <p:spPr>
          <a:xfrm>
            <a:off x="5678424" y="2656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CodeBg 23"/>
          <p:cNvSpPr/>
          <p:nvPr/>
        </p:nvSpPr>
        <p:spPr>
          <a:xfrm>
            <a:off x="621792" y="4041648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0" name="Code 24"/>
          <p:cNvSpPr txBox="1"/>
          <p:nvPr/>
        </p:nvSpPr>
        <p:spPr>
          <a:xfrm>
            <a:off x="621792" y="4041648"/>
            <a:ext cx="5257800" cy="658368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$ python after.py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SqliteOrderRepository {'id': 1, 'customer': 'budi@mail.com', 'total': 190000}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InMemoryOrderRepository {'id': 1, 'customer': 'budi@mail.com', 'total': 190000}</a:t>
            </a:r>
          </a:p>
        </p:txBody>
      </p:sp>
      <p:sp>
        <p:nvSpPr>
          <p:cNvPr id="41" name="Box 25"/>
          <p:cNvSpPr/>
          <p:nvPr/>
        </p:nvSpPr>
        <p:spPr>
          <a:xfrm>
            <a:off x="6062472" y="149961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2" name="Text 26"/>
          <p:cNvSpPr txBox="1"/>
          <p:nvPr/>
        </p:nvSpPr>
        <p:spPr>
          <a:xfrm>
            <a:off x="6391656" y="1463040"/>
            <a:ext cx="2093975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Dua repository dibuat: SQLite dan in-memory. Keduanya punya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add()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get()</a:t>
            </a:r>
          </a:p>
        </p:txBody>
      </p:sp>
      <p:sp>
        <p:nvSpPr>
          <p:cNvPr id="43" name="Box 27"/>
          <p:cNvSpPr/>
          <p:nvPr/>
        </p:nvSpPr>
        <p:spPr>
          <a:xfrm>
            <a:off x="6062472" y="2143353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4" name="Text 28"/>
          <p:cNvSpPr txBox="1"/>
          <p:nvPr/>
        </p:nvSpPr>
        <p:spPr>
          <a:xfrm>
            <a:off x="6391656" y="2106777"/>
            <a:ext cx="2093975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Repository diberikan ke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 sebagai argumen</a:t>
            </a:r>
          </a:p>
        </p:txBody>
      </p:sp>
      <p:sp>
        <p:nvSpPr>
          <p:cNvPr id="45" name="Box 29"/>
          <p:cNvSpPr/>
          <p:nvPr/>
        </p:nvSpPr>
        <p:spPr>
          <a:xfrm>
            <a:off x="6062472" y="2787091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46" name="Text 30"/>
          <p:cNvSpPr txBox="1"/>
          <p:nvPr/>
        </p:nvSpPr>
        <p:spPr>
          <a:xfrm>
            <a:off x="6391656" y="2750515"/>
            <a:ext cx="2093975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menghitung total tanpa SQL</a:t>
            </a:r>
          </a:p>
        </p:txBody>
      </p:sp>
      <p:sp>
        <p:nvSpPr>
          <p:cNvPr id="47" name="Box 31"/>
          <p:cNvSpPr/>
          <p:nvPr/>
        </p:nvSpPr>
        <p:spPr>
          <a:xfrm>
            <a:off x="6062472" y="3430828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8" name="Text 32"/>
          <p:cNvSpPr txBox="1"/>
          <p:nvPr/>
        </p:nvSpPr>
        <p:spPr>
          <a:xfrm>
            <a:off x="6391656" y="3394252"/>
            <a:ext cx="2093975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B5482A"/>
                </a:solidFill>
                <a:latin typeface="Inconsolata"/>
              </a:rPr>
              <a:t>repo.add()</a:t>
            </a:r>
            <a:r>
              <a:rPr sz="850" b="0" i="0">
                <a:solidFill>
                  <a:srgbClr val="434343"/>
                </a:solidFill>
                <a:latin typeface="Inter"/>
              </a:rPr>
              <a:t> menjalankan versi milik object yang diberikan: INSERT ke SQLite, atau simpan ke dict</a:t>
            </a:r>
          </a:p>
        </p:txBody>
      </p:sp>
      <p:sp>
        <p:nvSpPr>
          <p:cNvPr id="49" name="Box 33"/>
          <p:cNvSpPr/>
          <p:nvPr/>
        </p:nvSpPr>
        <p:spPr>
          <a:xfrm>
            <a:off x="6062472" y="4074566"/>
            <a:ext cx="256032" cy="256032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0" name="Text 34"/>
          <p:cNvSpPr txBox="1"/>
          <p:nvPr/>
        </p:nvSpPr>
        <p:spPr>
          <a:xfrm>
            <a:off x="6391656" y="4037990"/>
            <a:ext cx="2093975" cy="64373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434343"/>
                </a:solidFill>
                <a:latin typeface="Inter"/>
              </a:rPr>
              <a:t>Hasilnya sama persis. </a:t>
            </a:r>
            <a:r>
              <a:rPr sz="85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850" b="0" i="0">
                <a:solidFill>
                  <a:srgbClr val="434343"/>
                </a:solidFill>
                <a:latin typeface="Inter"/>
              </a:rPr>
              <a:t> tidak berubah sama sekali</a:t>
            </a:r>
          </a:p>
        </p:txBody>
      </p:sp>
    </p:spTree>
    <p:extLst>
      <p:ext uri="{BB962C8B-B14F-4D97-AF65-F5344CB8AC3E}">
        <p14:creationId xmlns:p14="http://schemas.microsoft.com/office/powerpoint/2010/main" val="13026509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Rangkuman Bagian 1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Perbandingan &amp; Trade-off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045817"/>
              </p:ext>
            </p:extLst>
          </p:nvPr>
        </p:nvGraphicFramePr>
        <p:xfrm>
          <a:off x="621792" y="1481328"/>
          <a:ext cx="7863840" cy="2834640"/>
        </p:xfrm>
        <a:graphic>
          <a:graphicData uri="http://schemas.openxmlformats.org/drawingml/2006/table">
            <a:tbl>
              <a:tblPr firstRow="1" bandRow="1"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Pattern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Masalah yang diselesaikan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Kapan dipakai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Inter"/>
                        </a:rPr>
                        <a:t>Trade-off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Factory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If/elif pembuatan object tersebar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Ada beberapa jenis object yang dipilih saat program jalan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Ada lapisan tambahan, harus membuka factory untuk tahu class aslinya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Singleton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Object yang sama dibuat berulang-ulang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Config aplikasi, koneksi database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Object dipakai bersama, saat test perlu </a:t>
                      </a:r>
                      <a:r>
                        <a:rPr sz="900" b="0" i="0">
                          <a:solidFill>
                            <a:srgbClr val="B5482A"/>
                          </a:solidFill>
                          <a:latin typeface="Inconsolata"/>
                        </a:rPr>
                        <a:t>cache_clear()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Function penuh if/elif aturan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Aturan yang sering bertambah atau berubah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Jumlah class bertambah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1C4587"/>
                          </a:solidFill>
                          <a:latin typeface="Inter"/>
                        </a:rPr>
                        <a:t>Repository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434343"/>
                          </a:solidFill>
                          <a:latin typeface="Inter"/>
                        </a:rPr>
                        <a:t>SQL campur business logic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Logic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perlu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dites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tanpa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database, database </a:t>
                      </a:r>
                      <a:r>
                        <a:rPr lang="en-US"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bisa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diganti</a:t>
                      </a:r>
                      <a:endParaRPr sz="900" b="0" i="0" dirty="0">
                        <a:solidFill>
                          <a:srgbClr val="434343"/>
                        </a:solidFill>
                        <a:latin typeface="Inter"/>
                      </a:endParaRP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Kode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tambahan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untuk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</a:t>
                      </a:r>
                      <a:r>
                        <a:rPr sz="900" b="0" i="0" dirty="0" err="1">
                          <a:solidFill>
                            <a:srgbClr val="434343"/>
                          </a:solidFill>
                          <a:latin typeface="Inter"/>
                        </a:rPr>
                        <a:t>tiap</a:t>
                      </a:r>
                      <a:r>
                        <a:rPr sz="900" b="0" i="0" dirty="0">
                          <a:solidFill>
                            <a:srgbClr val="434343"/>
                          </a:solidFill>
                          <a:latin typeface="Inter"/>
                        </a:rPr>
                        <a:t> entity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83301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47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02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Service Layer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Memisahkan business logic dari HTTP dan dari persistence logic.</a:t>
            </a:r>
          </a:p>
        </p:txBody>
      </p:sp>
    </p:spTree>
    <p:extLst>
      <p:ext uri="{BB962C8B-B14F-4D97-AF65-F5344CB8AC3E}">
        <p14:creationId xmlns:p14="http://schemas.microsoft.com/office/powerpoint/2010/main" val="2271200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Apa Itu Service Layer?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3291840" cy="196476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>
                <a:solidFill>
                  <a:srgbClr val="1C4587"/>
                </a:solidFill>
                <a:latin typeface="Inter"/>
              </a:rPr>
              <a:t>Service Layer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adalah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434343"/>
                </a:solidFill>
                <a:latin typeface="Inter"/>
              </a:rPr>
              <a:t>Design </a:t>
            </a:r>
            <a:r>
              <a:rPr sz="900" b="1" i="0" dirty="0">
                <a:solidFill>
                  <a:srgbClr val="434343"/>
                </a:solidFill>
                <a:latin typeface="Inter"/>
              </a:rPr>
              <a:t>pattern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yang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memisahkan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business logic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ke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lapisan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(layer)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tersendiri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. Route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hanya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menerima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request,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memanggil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service,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lalu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mengembalikan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response.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 i="0" dirty="0" err="1">
                <a:solidFill>
                  <a:srgbClr val="1C4587"/>
                </a:solidFill>
                <a:latin typeface="Inter"/>
              </a:rPr>
              <a:t>Untuk</a:t>
            </a:r>
            <a:r>
              <a:rPr sz="1000" b="1" i="0" dirty="0">
                <a:solidFill>
                  <a:srgbClr val="1C4587"/>
                </a:solidFill>
                <a:latin typeface="Inter"/>
              </a:rPr>
              <a:t> </a:t>
            </a:r>
            <a:r>
              <a:rPr sz="1000" b="1" i="0" dirty="0" err="1">
                <a:solidFill>
                  <a:srgbClr val="1C4587"/>
                </a:solidFill>
                <a:latin typeface="Inter"/>
              </a:rPr>
              <a:t>apa</a:t>
            </a:r>
            <a:endParaRPr sz="1000" b="1" i="0" dirty="0">
              <a:solidFill>
                <a:srgbClr val="1C4587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 dirty="0">
                <a:solidFill>
                  <a:srgbClr val="434343"/>
                </a:solidFill>
                <a:latin typeface="Inter"/>
              </a:rPr>
              <a:t>Business logic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bisa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dipakai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ulang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misalnya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dari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script CLI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atau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background job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00" b="0" i="0" dirty="0">
                <a:solidFill>
                  <a:srgbClr val="434343"/>
                </a:solidFill>
                <a:latin typeface="Inter"/>
              </a:rPr>
              <a:t>Business logic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bisa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dites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tanpa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HTTP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lang="en-US" sz="900" b="0" i="0" dirty="0">
                <a:solidFill>
                  <a:srgbClr val="434343"/>
                </a:solidFill>
                <a:latin typeface="Inter"/>
              </a:rPr>
              <a:t>File 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service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tidak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lang="en-US" sz="900" b="0" i="0" dirty="0" err="1">
                <a:solidFill>
                  <a:srgbClr val="434343"/>
                </a:solidFill>
                <a:latin typeface="Inter"/>
              </a:rPr>
              <a:t>perlu</a:t>
            </a:r>
            <a:r>
              <a:rPr lang="en-US"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import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FastAPI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434343"/>
                </a:solidFill>
                <a:latin typeface="Inter"/>
              </a:rPr>
              <a:t>maupun</a:t>
            </a:r>
            <a:r>
              <a:rPr sz="900" b="0" i="0" dirty="0">
                <a:solidFill>
                  <a:srgbClr val="434343"/>
                </a:solidFill>
                <a:latin typeface="Inter"/>
              </a:rPr>
              <a:t> library database</a:t>
            </a:r>
          </a:p>
        </p:txBody>
      </p:sp>
      <p:sp>
        <p:nvSpPr>
          <p:cNvPr id="23" name="CodeTab 5"/>
          <p:cNvSpPr/>
          <p:nvPr/>
        </p:nvSpPr>
        <p:spPr>
          <a:xfrm>
            <a:off x="4069080" y="1481328"/>
            <a:ext cx="44165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17880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431596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45312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4617720" y="1490472"/>
            <a:ext cx="37764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tanpa service layer: 05-service-layer/before.py</a:t>
            </a:r>
          </a:p>
        </p:txBody>
      </p:sp>
      <p:sp>
        <p:nvSpPr>
          <p:cNvPr id="28" name="CodeBg 11"/>
          <p:cNvSpPr/>
          <p:nvPr/>
        </p:nvSpPr>
        <p:spPr>
          <a:xfrm>
            <a:off x="4069080" y="1719072"/>
            <a:ext cx="4416551" cy="868680"/>
          </a:xfrm>
          <a:prstGeom prst="roundRect">
            <a:avLst>
              <a:gd name="adj" fmla="val 210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069080" y="1719072"/>
            <a:ext cx="4416551" cy="868680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725" i="0">
                <a:solidFill>
                  <a:srgbClr val="E6EDF3"/>
                </a:solidFill>
                <a:latin typeface="Inconsolata"/>
              </a:rPr>
              <a:t>(</a:t>
            </a:r>
            <a:r>
              <a:rPr sz="725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725" i="0">
                <a:solidFill>
                  <a:srgbClr val="F9C97A"/>
                </a:solidFill>
                <a:latin typeface="Inconsolata"/>
              </a:rPr>
              <a:t>201</a:t>
            </a:r>
            <a:r>
              <a:rPr sz="72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FF8E6E"/>
                </a:solidFill>
                <a:latin typeface="Inconsolata"/>
              </a:rPr>
              <a:t>def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725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725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725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if</a:t>
            </a:r>
            <a:r>
              <a:rPr sz="725" i="0">
                <a:solidFill>
                  <a:srgbClr val="E6EDF3"/>
                </a:solidFill>
                <a:latin typeface="Inconsolata"/>
              </a:rPr>
              <a:t> payload.subtotal &lt; </a:t>
            </a:r>
            <a:r>
              <a:rPr sz="725" i="0">
                <a:solidFill>
                  <a:srgbClr val="F9C97A"/>
                </a:solidFill>
                <a:latin typeface="Inconsolata"/>
              </a:rPr>
              <a:t>10_000</a:t>
            </a:r>
            <a:r>
              <a:rPr sz="725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25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25" i="0">
                <a:solidFill>
                  <a:srgbClr val="E6EDF3"/>
                </a:solidFill>
                <a:latin typeface="Inconsolata"/>
              </a:rPr>
              <a:t> </a:t>
            </a:r>
            <a:r>
              <a:rPr sz="725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25" i="0">
                <a:solidFill>
                  <a:srgbClr val="E6EDF3"/>
                </a:solidFill>
                <a:latin typeface="Inconsolata"/>
              </a:rPr>
              <a:t>(</a:t>
            </a:r>
            <a:r>
              <a:rPr sz="725" i="0">
                <a:solidFill>
                  <a:srgbClr val="F9C97A"/>
                </a:solidFill>
                <a:latin typeface="Inconsolata"/>
              </a:rPr>
              <a:t>400</a:t>
            </a:r>
            <a:r>
              <a:rPr sz="725" i="0">
                <a:solidFill>
                  <a:srgbClr val="E6EDF3"/>
                </a:solidFill>
                <a:latin typeface="Inconsolata"/>
              </a:rPr>
              <a:t>, </a:t>
            </a:r>
            <a:r>
              <a:rPr sz="725" i="0">
                <a:solidFill>
                  <a:srgbClr val="A5D6A7"/>
                </a:solidFill>
                <a:latin typeface="Inconsolata"/>
              </a:rPr>
              <a:t>"Minimal order Rp10.000"</a:t>
            </a:r>
            <a:r>
              <a:rPr sz="725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total = payload.subtotal - payload.subtotal * </a:t>
            </a:r>
            <a:r>
              <a:rPr sz="725" i="0">
                <a:solidFill>
                  <a:srgbClr val="F9C97A"/>
                </a:solidFill>
                <a:latin typeface="Inconsolata"/>
              </a:rPr>
              <a:t>5</a:t>
            </a:r>
            <a:r>
              <a:rPr sz="725" i="0">
                <a:solidFill>
                  <a:srgbClr val="E6EDF3"/>
                </a:solidFill>
                <a:latin typeface="Inconsolata"/>
              </a:rPr>
              <a:t> // </a:t>
            </a:r>
            <a:r>
              <a:rPr sz="725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3448"/>
              </a:lnSpc>
              <a:spcAft>
                <a:spcPts val="0"/>
              </a:spcAft>
            </a:pPr>
            <a:r>
              <a:rPr sz="725" i="0">
                <a:solidFill>
                  <a:srgbClr val="E6EDF3"/>
                </a:solidFill>
                <a:latin typeface="Inconsolata"/>
              </a:rPr>
              <a:t>    ...</a:t>
            </a:r>
          </a:p>
        </p:txBody>
      </p:sp>
      <p:sp>
        <p:nvSpPr>
          <p:cNvPr id="30" name="Box 13"/>
          <p:cNvSpPr/>
          <p:nvPr/>
        </p:nvSpPr>
        <p:spPr>
          <a:xfrm>
            <a:off x="4151376" y="2053971"/>
            <a:ext cx="4251959" cy="336042"/>
          </a:xfrm>
          <a:prstGeom prst="roundRect">
            <a:avLst>
              <a:gd name="adj" fmla="val 13605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Tab 15"/>
          <p:cNvSpPr/>
          <p:nvPr/>
        </p:nvSpPr>
        <p:spPr>
          <a:xfrm>
            <a:off x="4069080" y="2679192"/>
            <a:ext cx="4416551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Dot 16"/>
          <p:cNvSpPr/>
          <p:nvPr/>
        </p:nvSpPr>
        <p:spPr>
          <a:xfrm>
            <a:off x="4178808" y="2756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Dot 17"/>
          <p:cNvSpPr/>
          <p:nvPr/>
        </p:nvSpPr>
        <p:spPr>
          <a:xfrm>
            <a:off x="4315968" y="2756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ot 18"/>
          <p:cNvSpPr/>
          <p:nvPr/>
        </p:nvSpPr>
        <p:spPr>
          <a:xfrm>
            <a:off x="4453128" y="2756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19"/>
          <p:cNvSpPr txBox="1"/>
          <p:nvPr/>
        </p:nvSpPr>
        <p:spPr>
          <a:xfrm>
            <a:off x="4617720" y="2688336"/>
            <a:ext cx="3776471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dengan service layer: 05-service-layer/after.py</a:t>
            </a:r>
          </a:p>
        </p:txBody>
      </p:sp>
      <p:sp>
        <p:nvSpPr>
          <p:cNvPr id="36" name="CodeBg 21"/>
          <p:cNvSpPr/>
          <p:nvPr/>
        </p:nvSpPr>
        <p:spPr>
          <a:xfrm>
            <a:off x="4069080" y="2916936"/>
            <a:ext cx="4416551" cy="1783079"/>
          </a:xfrm>
          <a:prstGeom prst="roundRect">
            <a:avLst>
              <a:gd name="adj" fmla="val 102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Code 22"/>
          <p:cNvSpPr txBox="1"/>
          <p:nvPr/>
        </p:nvSpPr>
        <p:spPr>
          <a:xfrm>
            <a:off x="4069080" y="2916936"/>
            <a:ext cx="4416551" cy="1783079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subtotal &lt;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"Minimal order Rp10.000"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...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800" i="0">
                <a:solidFill>
                  <a:srgbClr val="F9C97A"/>
                </a:solidFill>
                <a:latin typeface="Inconsolata"/>
              </a:rPr>
              <a:t>201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service.place_order(payload.customer, payload.subtotal)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FF8E6E"/>
                </a:solidFill>
                <a:latin typeface="Inconsolata"/>
              </a:rPr>
              <a:t>as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F9C97A"/>
                </a:solidFill>
                <a:latin typeface="Inconsolata"/>
              </a:rPr>
              <a:t>400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(e))</a:t>
            </a:r>
          </a:p>
        </p:txBody>
      </p:sp>
      <p:sp>
        <p:nvSpPr>
          <p:cNvPr id="38" name="Box 23"/>
          <p:cNvSpPr/>
          <p:nvPr/>
        </p:nvSpPr>
        <p:spPr>
          <a:xfrm>
            <a:off x="4151376" y="3151886"/>
            <a:ext cx="4251959" cy="373380"/>
          </a:xfrm>
          <a:prstGeom prst="roundRect">
            <a:avLst>
              <a:gd name="adj" fmla="val 12244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9" name="Box 24"/>
          <p:cNvSpPr/>
          <p:nvPr/>
        </p:nvSpPr>
        <p:spPr>
          <a:xfrm>
            <a:off x="4151376" y="4040886"/>
            <a:ext cx="4251959" cy="500380"/>
          </a:xfrm>
          <a:prstGeom prst="roundRect">
            <a:avLst>
              <a:gd name="adj" fmla="val 913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44742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Kapan menggunakan Service Layer?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481328"/>
            <a:ext cx="402336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Tanpa Service Layer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langkah ditulis di dalam route FastAPI: cek minimal order, hitung total, simpan ke database, lalu kirim notifikasi.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Jika aturannya makin banyak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Route makin panjang dan business logic terkunci di dalam route. Logic itu tidak bisa dipakai dari tempat lain, dan hanya bisa dites dengan mengirim request HTTP.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Yang dipakai dari Python: class dan exception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Service cukup ditulis sebagai class biasa. Jika aturan bisnis gagal, service melempar exception biasa seperti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BusinessError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lalu route yang mengubahnya menjadi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HTTPException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  <p:sp>
        <p:nvSpPr>
          <p:cNvPr id="23" name="CodeTab 5"/>
          <p:cNvSpPr/>
          <p:nvPr/>
        </p:nvSpPr>
        <p:spPr>
          <a:xfrm>
            <a:off x="4800600" y="1481328"/>
            <a:ext cx="368503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491032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504748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518464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9"/>
          <p:cNvSpPr txBox="1"/>
          <p:nvPr/>
        </p:nvSpPr>
        <p:spPr>
          <a:xfrm>
            <a:off x="5349240" y="1490472"/>
            <a:ext cx="304495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05-service-layer/after.py (baris 14-15)</a:t>
            </a:r>
          </a:p>
        </p:txBody>
      </p:sp>
      <p:sp>
        <p:nvSpPr>
          <p:cNvPr id="28" name="CodeBg 11"/>
          <p:cNvSpPr/>
          <p:nvPr/>
        </p:nvSpPr>
        <p:spPr>
          <a:xfrm>
            <a:off x="4800600" y="1719072"/>
            <a:ext cx="3685032" cy="539496"/>
          </a:xfrm>
          <a:prstGeom prst="roundRect">
            <a:avLst>
              <a:gd name="adj" fmla="val 338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Code 12"/>
          <p:cNvSpPr txBox="1"/>
          <p:nvPr/>
        </p:nvSpPr>
        <p:spPr>
          <a:xfrm>
            <a:off x="4800600" y="1719072"/>
            <a:ext cx="3685032" cy="53949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900" i="0">
                <a:solidFill>
                  <a:srgbClr val="E6EDF3"/>
                </a:solidFill>
                <a:latin typeface="Inconsolata"/>
              </a:rPr>
              <a:t> </a:t>
            </a:r>
            <a:r>
              <a:rPr sz="9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900" i="0">
                <a:solidFill>
                  <a:srgbClr val="E6EDF3"/>
                </a:solidFill>
                <a:latin typeface="Inconsolata"/>
              </a:rPr>
              <a:t>(</a:t>
            </a:r>
            <a:r>
              <a:rPr sz="90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9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900" i="0">
                <a:solidFill>
                  <a:srgbClr val="FF8E6E"/>
                </a:solidFill>
                <a:latin typeface="Inconsolata"/>
              </a:rPr>
              <a:t>pass</a:t>
            </a:r>
          </a:p>
        </p:txBody>
      </p:sp>
      <p:graphicFrame>
        <p:nvGraphicFramePr>
          <p:cNvPr id="30" name="Table 13"/>
          <p:cNvGraphicFramePr>
            <a:graphicFrameLocks noGrp="1"/>
          </p:cNvGraphicFramePr>
          <p:nvPr/>
        </p:nvGraphicFramePr>
        <p:xfrm>
          <a:off x="4800600" y="2423160"/>
          <a:ext cx="3685032" cy="1234440"/>
        </p:xfrm>
        <a:graphic>
          <a:graphicData uri="http://schemas.openxmlformats.org/drawingml/2006/table">
            <a:tbl>
              <a:tblPr firstRow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 service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Inter"/>
                        </a:rPr>
                        <a:t>Diubah route menjadi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return order (dict)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Response 201 berisi JSON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1" i="0">
                          <a:solidFill>
                            <a:srgbClr val="1C4587"/>
                          </a:solidFill>
                          <a:latin typeface="Inter"/>
                        </a:rPr>
                        <a:t>raise BusinessError(...)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50" b="0" i="0">
                          <a:solidFill>
                            <a:srgbClr val="434343"/>
                          </a:solidFill>
                          <a:latin typeface="Inter"/>
                        </a:rPr>
                        <a:t>HTTPException 400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09929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Before: Endpoint Mengerjakan Semuanya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05-service-layer/before.py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0" i="0">
                <a:solidFill>
                  <a:srgbClr val="E6EDF3"/>
                </a:solidFill>
                <a:latin typeface="Inconsolata"/>
              </a:rPr>
              <a:t> fastapi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FastAPI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7FDBCA"/>
                </a:solidFill>
                <a:latin typeface="Inconsolata"/>
              </a:rPr>
              <a:t>HTTPException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0" i="0">
                <a:solidFill>
                  <a:srgbClr val="E6EDF3"/>
                </a:solidFill>
                <a:latin typeface="Inconsolata"/>
              </a:rPr>
              <a:t> pydantic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BaseModel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app = </a:t>
            </a:r>
            <a:r>
              <a:rPr sz="800" i="0">
                <a:solidFill>
                  <a:srgbClr val="7FDBCA"/>
                </a:solidFill>
                <a:latin typeface="Inconsolata"/>
              </a:rPr>
              <a:t>FastAPI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[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] = {}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BaseModel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0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800" i="0">
                <a:solidFill>
                  <a:srgbClr val="F9C97A"/>
                </a:solidFill>
                <a:latin typeface="Inconsolata"/>
              </a:rPr>
              <a:t>201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payload.subtotal &lt;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F9C97A"/>
                </a:solidFill>
                <a:latin typeface="Inconsolata"/>
              </a:rPr>
              <a:t>400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"Minimal order Rp10.000"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total = payload.subtotal - payload.subtotal * </a:t>
            </a:r>
            <a:r>
              <a:rPr sz="800" i="0">
                <a:solidFill>
                  <a:srgbClr val="F9C97A"/>
                </a:solidFill>
                <a:latin typeface="Inconsolata"/>
              </a:rPr>
              <a:t>5</a:t>
            </a:r>
            <a:r>
              <a:rPr sz="8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order = {</a:t>
            </a:r>
            <a:r>
              <a:rPr sz="80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len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+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payload.customer,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total}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</a:t>
            </a:r>
            <a:r>
              <a:rPr sz="800" i="0">
                <a:solidFill>
                  <a:srgbClr val="E6EDF3"/>
                </a:solidFill>
                <a:latin typeface="Inconsolata"/>
              </a:rPr>
              <a:t>[order[</a:t>
            </a:r>
            <a:r>
              <a:rPr sz="80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00" i="0">
                <a:solidFill>
                  <a:srgbClr val="E6EDF3"/>
                </a:solidFill>
                <a:latin typeface="Inconsolata"/>
              </a:rPr>
              <a:t>]] = order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f"[EMAIL] ke {payload.customer}: Order #{order['id']} berhasil dibuat"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30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order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605022"/>
            <a:ext cx="7699248" cy="246380"/>
          </a:xfrm>
          <a:prstGeom prst="roundRect">
            <a:avLst>
              <a:gd name="adj" fmla="val 18556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609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859022"/>
            <a:ext cx="7699248" cy="500380"/>
          </a:xfrm>
          <a:prstGeom prst="roundRect">
            <a:avLst>
              <a:gd name="adj" fmla="val 913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399034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08769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05-service-layer/before.py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sesi-01-design-patterns/05-service-layer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uvicorn before:app --reload</a:t>
            </a:r>
          </a:p>
        </p:txBody>
      </p:sp>
      <p:pic>
        <p:nvPicPr>
          <p:cNvPr id="29" name="Image 12" descr="s01-05-service-layer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155570"/>
          </a:xfrm>
          <a:prstGeom prst="rect">
            <a:avLst/>
          </a:prstGeom>
        </p:spPr>
      </p:pic>
      <p:sp>
        <p:nvSpPr>
          <p:cNvPr id="30" name="Text 13"/>
          <p:cNvSpPr txBox="1"/>
          <p:nvPr/>
        </p:nvSpPr>
        <p:spPr>
          <a:xfrm>
            <a:off x="621792" y="3441569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Buka http://127.0.0.1:8000/docs, POST /orders dengan body {"customer": "budi@mail.com", "subtotal": 200000}</a:t>
            </a:r>
          </a:p>
        </p:txBody>
      </p:sp>
      <p:sp>
        <p:nvSpPr>
          <p:cNvPr id="31" name="Box 14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5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3" name="Text 16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bisnis (minimal order) langsung melempar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HTTPException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24-25)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Hitung total, simpan, dan kirim notifikasi di dalam route (baris 26-29)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Tidak bisa dipakai ulang dari CLI atau job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Testnya harus lewat request HTTP</a:t>
            </a:r>
          </a:p>
        </p:txBody>
      </p:sp>
    </p:spTree>
    <p:extLst>
      <p:ext uri="{BB962C8B-B14F-4D97-AF65-F5344CB8AC3E}">
        <p14:creationId xmlns:p14="http://schemas.microsoft.com/office/powerpoint/2010/main" val="1277829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Route Simple, Service Handle Business Logic (1/2)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05-service-layer/after.py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 9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0" i="0">
                <a:solidFill>
                  <a:srgbClr val="E6EDF3"/>
                </a:solidFill>
                <a:latin typeface="Inconsolata"/>
              </a:rPr>
              <a:t> fastapi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FastAPI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7FDBCA"/>
                </a:solidFill>
                <a:latin typeface="Inconsolata"/>
              </a:rPr>
              <a:t>HTTPException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10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00" i="0">
                <a:solidFill>
                  <a:srgbClr val="E6EDF3"/>
                </a:solidFill>
                <a:latin typeface="Inconsolata"/>
              </a:rPr>
              <a:t> pydantic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BaseModel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11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12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13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---------- service: murni Python, tanpa FastAPI ----------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14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Exception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pass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17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18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19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20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.orders: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[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] = {}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21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22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8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23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subtotal &lt;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24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"Minimal order Rp10.000"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total = subtotal - subtotal * </a:t>
            </a:r>
            <a:r>
              <a:rPr sz="800" i="0">
                <a:solidFill>
                  <a:srgbClr val="F9C97A"/>
                </a:solidFill>
                <a:latin typeface="Inconsolata"/>
              </a:rPr>
              <a:t>5</a:t>
            </a:r>
            <a:r>
              <a:rPr sz="80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order = {</a:t>
            </a:r>
            <a:r>
              <a:rPr sz="80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len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.orders) + </a:t>
            </a:r>
            <a:r>
              <a:rPr sz="800" i="0">
                <a:solidFill>
                  <a:srgbClr val="F9C97A"/>
                </a:solidFill>
                <a:latin typeface="Inconsolata"/>
              </a:rPr>
              <a:t>1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customer,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 total}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27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800" i="0">
                <a:solidFill>
                  <a:srgbClr val="E6EDF3"/>
                </a:solidFill>
                <a:latin typeface="Inconsolata"/>
              </a:rPr>
              <a:t>.orders[order[</a:t>
            </a:r>
            <a:r>
              <a:rPr sz="80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800" i="0">
                <a:solidFill>
                  <a:srgbClr val="E6EDF3"/>
                </a:solidFill>
                <a:latin typeface="Inconsolata"/>
              </a:rPr>
              <a:t>]] = order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28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f"[EMAIL] ke {customer}: Order #{order['id']} berhasil dibuat"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29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order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970022"/>
            <a:ext cx="7699248" cy="1516380"/>
          </a:xfrm>
          <a:prstGeom prst="roundRect">
            <a:avLst>
              <a:gd name="adj" fmla="val 3015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609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732022"/>
            <a:ext cx="7699248" cy="119380"/>
          </a:xfrm>
          <a:prstGeom prst="roundRect">
            <a:avLst>
              <a:gd name="adj" fmla="val 38297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8284463" y="36728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059430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After: Route Simple, Service Handle Business Logic (2/2)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7863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72237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05-service-layer/after.py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78638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78638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32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---------- route: simple, hanya menghandle HTTP ----------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33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app = </a:t>
            </a:r>
            <a:r>
              <a:rPr sz="800" i="0">
                <a:solidFill>
                  <a:srgbClr val="7FDBCA"/>
                </a:solidFill>
                <a:latin typeface="Inconsolata"/>
              </a:rPr>
              <a:t>FastAPI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34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service =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37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BaseModel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38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customer: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39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subtotal: </a:t>
            </a:r>
            <a:r>
              <a:rPr sz="800" i="0">
                <a:solidFill>
                  <a:srgbClr val="C3A6FF"/>
                </a:solidFill>
                <a:latin typeface="Inconsolata"/>
              </a:rPr>
              <a:t>int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40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41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42  </a:t>
            </a:r>
            <a:r>
              <a:rPr sz="80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800" i="0">
                <a:solidFill>
                  <a:srgbClr val="F9C97A"/>
                </a:solidFill>
                <a:latin typeface="Inconsolata"/>
              </a:rPr>
              <a:t>201</a:t>
            </a:r>
            <a:r>
              <a:rPr sz="8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43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8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44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45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00" i="0">
                <a:solidFill>
                  <a:srgbClr val="E6EDF3"/>
                </a:solidFill>
                <a:latin typeface="Inconsolata"/>
              </a:rPr>
              <a:t> service.place_order(payload.customer, payload.subtotal)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46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BusinessError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FF8E6E"/>
                </a:solidFill>
                <a:latin typeface="Inconsolata"/>
              </a:rPr>
              <a:t>as</a:t>
            </a:r>
            <a:r>
              <a:rPr sz="8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47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  <a:r>
              <a:rPr sz="8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F9C97A"/>
                </a:solidFill>
                <a:latin typeface="Inconsolata"/>
              </a:rPr>
              <a:t>400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800" i="0">
                <a:solidFill>
                  <a:srgbClr val="E6EDF3"/>
                </a:solidFill>
                <a:latin typeface="Inconsolata"/>
              </a:rPr>
              <a:t>(e))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48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49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50  </a:t>
            </a:r>
            <a:r>
              <a:rPr sz="800" i="0">
                <a:solidFill>
                  <a:srgbClr val="FF8E6E"/>
                </a:solidFill>
                <a:latin typeface="Inconsolata"/>
              </a:rPr>
              <a:t>if</a:t>
            </a:r>
            <a:r>
              <a:rPr sz="800" i="0">
                <a:solidFill>
                  <a:srgbClr val="E6EDF3"/>
                </a:solidFill>
                <a:latin typeface="Inconsolata"/>
              </a:rPr>
              <a:t> __name__ == </a:t>
            </a:r>
            <a:r>
              <a:rPr sz="800" i="0">
                <a:solidFill>
                  <a:srgbClr val="A5D6A7"/>
                </a:solidFill>
                <a:latin typeface="Inconsolata"/>
              </a:rPr>
              <a:t>"__main__"</a:t>
            </a:r>
            <a:r>
              <a:rPr sz="8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51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1">
                <a:solidFill>
                  <a:srgbClr val="8B98A8"/>
                </a:solidFill>
                <a:latin typeface="Inconsolata"/>
              </a:rPr>
              <a:t># service bisa dipakai tanpa server sama sekali</a:t>
            </a:r>
          </a:p>
          <a:p>
            <a:pPr>
              <a:lnSpc>
                <a:spcPct val="104167"/>
              </a:lnSpc>
              <a:spcAft>
                <a:spcPts val="0"/>
              </a:spcAft>
            </a:pPr>
            <a:r>
              <a:rPr sz="800" i="0">
                <a:solidFill>
                  <a:srgbClr val="5C6773"/>
                </a:solidFill>
                <a:latin typeface="Inconsolata"/>
              </a:rPr>
              <a:t>52  </a:t>
            </a:r>
            <a:r>
              <a:rPr sz="8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0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800" i="0">
                <a:solidFill>
                  <a:srgbClr val="E6EDF3"/>
                </a:solidFill>
                <a:latin typeface="Inconsolata"/>
              </a:rPr>
              <a:t>(</a:t>
            </a:r>
            <a:r>
              <a:rPr sz="8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800" i="0">
                <a:solidFill>
                  <a:srgbClr val="E6EDF3"/>
                </a:solidFill>
                <a:latin typeface="Inconsolata"/>
              </a:rPr>
              <a:t>().place_order(</a:t>
            </a:r>
            <a:r>
              <a:rPr sz="80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800" i="0">
                <a:solidFill>
                  <a:srgbClr val="E6EDF3"/>
                </a:solidFill>
                <a:latin typeface="Inconsolata"/>
              </a:rPr>
              <a:t>, </a:t>
            </a:r>
            <a:r>
              <a:rPr sz="800" i="0">
                <a:solidFill>
                  <a:srgbClr val="F9C97A"/>
                </a:solidFill>
                <a:latin typeface="Inconsolata"/>
              </a:rPr>
              <a:t>200_000</a:t>
            </a:r>
            <a:r>
              <a:rPr sz="800" i="0">
                <a:solidFill>
                  <a:srgbClr val="E6EDF3"/>
                </a:solidFill>
                <a:latin typeface="Inconsolata"/>
              </a:rPr>
              <a:t>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097022"/>
            <a:ext cx="7699248" cy="754380"/>
          </a:xfrm>
          <a:prstGeom prst="roundRect">
            <a:avLst>
              <a:gd name="adj" fmla="val 6060"/>
            </a:avLst>
          </a:prstGeom>
          <a:solidFill>
            <a:srgbClr val="2E7D5B">
              <a:alpha val="22000"/>
            </a:srgbClr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8284463" y="3355340"/>
            <a:ext cx="237744" cy="23774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791606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Menjalankan 05-service-layer/after.py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29768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6576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cara menjalankan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297680" cy="402335"/>
          </a:xfrm>
          <a:prstGeom prst="roundRect">
            <a:avLst>
              <a:gd name="adj" fmla="val 4545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297680" cy="402335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cd sesi-01-design-patterns/05-service-layer</a:t>
            </a:r>
          </a:p>
          <a:p>
            <a:pPr>
              <a:lnSpc>
                <a:spcPct val="107527"/>
              </a:lnSpc>
              <a:spcAft>
                <a:spcPts val="0"/>
              </a:spcAft>
            </a:pPr>
            <a:r>
              <a:rPr sz="775" i="0">
                <a:solidFill>
                  <a:srgbClr val="82B1FF"/>
                </a:solidFill>
                <a:latin typeface="Inconsolata"/>
              </a:rPr>
              <a:t>$ uvicorn after:app --reload</a:t>
            </a:r>
          </a:p>
        </p:txBody>
      </p:sp>
      <p:pic>
        <p:nvPicPr>
          <p:cNvPr id="29" name="Image 12" descr="s01-05-service-layer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0280"/>
            <a:ext cx="4297680" cy="1155570"/>
          </a:xfrm>
          <a:prstGeom prst="rect">
            <a:avLst/>
          </a:prstGeom>
        </p:spPr>
      </p:pic>
      <p:sp>
        <p:nvSpPr>
          <p:cNvPr id="30" name="Text 13"/>
          <p:cNvSpPr txBox="1"/>
          <p:nvPr/>
        </p:nvSpPr>
        <p:spPr>
          <a:xfrm>
            <a:off x="621792" y="3441569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Request yang sama di Swagger, response tetap 201 dengan total 190000</a:t>
            </a:r>
          </a:p>
        </p:txBody>
      </p:sp>
      <p:sp>
        <p:nvSpPr>
          <p:cNvPr id="31" name="Box 14"/>
          <p:cNvSpPr/>
          <p:nvPr/>
        </p:nvSpPr>
        <p:spPr>
          <a:xfrm>
            <a:off x="5074920" y="1481328"/>
            <a:ext cx="3410712" cy="3218688"/>
          </a:xfrm>
          <a:prstGeom prst="roundRect">
            <a:avLst>
              <a:gd name="adj" fmla="val 3409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5"/>
          <p:cNvSpPr txBox="1"/>
          <p:nvPr/>
        </p:nvSpPr>
        <p:spPr>
          <a:xfrm>
            <a:off x="5212080" y="1572768"/>
            <a:ext cx="31363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D5B"/>
                </a:solidFill>
                <a:latin typeface="Inter"/>
              </a:rPr>
              <a:t>Perbaikannya</a:t>
            </a:r>
          </a:p>
        </p:txBody>
      </p:sp>
      <p:sp>
        <p:nvSpPr>
          <p:cNvPr id="33" name="Text 16"/>
          <p:cNvSpPr txBox="1"/>
          <p:nvPr/>
        </p:nvSpPr>
        <p:spPr>
          <a:xfrm>
            <a:off x="5212080" y="1892808"/>
            <a:ext cx="31363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OrderService</a:t>
            </a:r>
            <a:r>
              <a:rPr sz="950" b="0" i="0">
                <a:solidFill>
                  <a:srgbClr val="434343"/>
                </a:solidFill>
                <a:latin typeface="Inter"/>
              </a:rPr>
              <a:t> berisi semua business logic, tanpa import FastAPI (baris 18-29)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Jika aturan bisnis gagal, service melempar exception biasa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BusinessError</a:t>
            </a:r>
            <a:r>
              <a:rPr sz="950" b="0" i="0">
                <a:solidFill>
                  <a:srgbClr val="434343"/>
                </a:solidFill>
                <a:latin typeface="Inter"/>
              </a:rPr>
              <a:t> (baris 24)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Route hanya menghandle HTTP: panggil service, ubah error jadi HTTP 400 (baris 42-47)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Responsenya sama. Service juga bisa dipanggil tanpa server: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python after.py</a:t>
            </a:r>
            <a:r>
              <a:rPr sz="95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463562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Service Layer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Request Flow dengan Service Layer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481328"/>
            <a:ext cx="292608" cy="292608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3" name="Box 4"/>
          <p:cNvSpPr/>
          <p:nvPr/>
        </p:nvSpPr>
        <p:spPr>
          <a:xfrm>
            <a:off x="1051560" y="144475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POST /orders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3611880" y="1463040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Client mengirim JSON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{customer, subtotal}</a:t>
            </a:r>
          </a:p>
        </p:txBody>
      </p:sp>
      <p:sp>
        <p:nvSpPr>
          <p:cNvPr id="25" name="Box 6"/>
          <p:cNvSpPr/>
          <p:nvPr/>
        </p:nvSpPr>
        <p:spPr>
          <a:xfrm>
            <a:off x="621792" y="2121408"/>
            <a:ext cx="292608" cy="292608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6" name="Box 7"/>
          <p:cNvSpPr/>
          <p:nvPr/>
        </p:nvSpPr>
        <p:spPr>
          <a:xfrm>
            <a:off x="1051560" y="208483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create_order (route)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611880" y="2103120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FastAPI memvalidasi body jadi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OrderIn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lalu route memanggil service</a:t>
            </a:r>
          </a:p>
        </p:txBody>
      </p:sp>
      <p:cxnSp>
        <p:nvCxnSpPr>
          <p:cNvPr id="28" name="Arrow 9"/>
          <p:cNvCxnSpPr/>
          <p:nvPr/>
        </p:nvCxnSpPr>
        <p:spPr>
          <a:xfrm>
            <a:off x="2240280" y="1847088"/>
            <a:ext cx="0" cy="237744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621792" y="2761488"/>
            <a:ext cx="292608" cy="292608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0" name="Box 11"/>
          <p:cNvSpPr/>
          <p:nvPr/>
        </p:nvSpPr>
        <p:spPr>
          <a:xfrm>
            <a:off x="1051560" y="272491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OrderService.place_order</a:t>
            </a:r>
          </a:p>
        </p:txBody>
      </p:sp>
      <p:sp>
        <p:nvSpPr>
          <p:cNvPr id="31" name="Text 12"/>
          <p:cNvSpPr txBox="1"/>
          <p:nvPr/>
        </p:nvSpPr>
        <p:spPr>
          <a:xfrm>
            <a:off x="3611880" y="2743200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Cek minimal order, hitung total, simpan, kirim notifikasi</a:t>
            </a:r>
          </a:p>
        </p:txBody>
      </p:sp>
      <p:cxnSp>
        <p:nvCxnSpPr>
          <p:cNvPr id="32" name="Arrow 13"/>
          <p:cNvCxnSpPr/>
          <p:nvPr/>
        </p:nvCxnSpPr>
        <p:spPr>
          <a:xfrm>
            <a:off x="2240280" y="2487168"/>
            <a:ext cx="0" cy="237744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Box 14"/>
          <p:cNvSpPr/>
          <p:nvPr/>
        </p:nvSpPr>
        <p:spPr>
          <a:xfrm>
            <a:off x="621792" y="3401568"/>
            <a:ext cx="292608" cy="292608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4" name="Box 15"/>
          <p:cNvSpPr/>
          <p:nvPr/>
        </p:nvSpPr>
        <p:spPr>
          <a:xfrm>
            <a:off x="1051560" y="3364991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route</a:t>
            </a:r>
          </a:p>
        </p:txBody>
      </p:sp>
      <p:sp>
        <p:nvSpPr>
          <p:cNvPr id="35" name="Text 16"/>
          <p:cNvSpPr txBox="1"/>
          <p:nvPr/>
        </p:nvSpPr>
        <p:spPr>
          <a:xfrm>
            <a:off x="3611880" y="3383279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Berhasil: dict dikembalikan jadi JSON 201.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BusinessError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diubah jadi HTTP 400</a:t>
            </a:r>
          </a:p>
        </p:txBody>
      </p:sp>
      <p:cxnSp>
        <p:nvCxnSpPr>
          <p:cNvPr id="36" name="Arrow 17"/>
          <p:cNvCxnSpPr/>
          <p:nvPr/>
        </p:nvCxnSpPr>
        <p:spPr>
          <a:xfrm>
            <a:off x="2240280" y="3127248"/>
            <a:ext cx="0" cy="237743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ox 18"/>
          <p:cNvSpPr/>
          <p:nvPr/>
        </p:nvSpPr>
        <p:spPr>
          <a:xfrm>
            <a:off x="621792" y="4041648"/>
            <a:ext cx="292608" cy="292608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8" name="Box 19"/>
          <p:cNvSpPr/>
          <p:nvPr/>
        </p:nvSpPr>
        <p:spPr>
          <a:xfrm>
            <a:off x="1051560" y="4005072"/>
            <a:ext cx="2377440" cy="384048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Response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3611880" y="4023360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Client menerima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{"id": 1, "customer": ..., "total": 190000}</a:t>
            </a:r>
          </a:p>
        </p:txBody>
      </p:sp>
      <p:cxnSp>
        <p:nvCxnSpPr>
          <p:cNvPr id="40" name="Arrow 21"/>
          <p:cNvCxnSpPr/>
          <p:nvPr/>
        </p:nvCxnSpPr>
        <p:spPr>
          <a:xfrm>
            <a:off x="2240280" y="3767328"/>
            <a:ext cx="0" cy="237744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39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56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>
                <a:solidFill>
                  <a:srgbClr val="CFE0FA"/>
                </a:solidFill>
                <a:latin typeface="Inter"/>
              </a:rPr>
              <a:t>Bagian 03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Work Sans ExtraBold"/>
              </a:rPr>
              <a:t>Hands-on: Refactor Order API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E3ECFA"/>
                </a:solidFill>
                <a:latin typeface="Inter"/>
              </a:rPr>
              <a:t>Dikerjakan bersama mentor, langkah demi langkah. Semua pattern digabung ke satu aplikasi FastAPI.</a:t>
            </a:r>
          </a:p>
        </p:txBody>
      </p:sp>
    </p:spTree>
    <p:extLst>
      <p:ext uri="{BB962C8B-B14F-4D97-AF65-F5344CB8AC3E}">
        <p14:creationId xmlns:p14="http://schemas.microsoft.com/office/powerpoint/2010/main" val="9083924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Kondisi Awal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Kode Awal: Semua di Satu Endpoint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2578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6177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06-refactor-order-api/before/main.py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25780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25780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650" i="0">
                <a:solidFill>
                  <a:srgbClr val="F9C97A"/>
                </a:solidFill>
                <a:latin typeface="Inconsolata"/>
              </a:rPr>
              <a:t>201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subtotal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sum</a:t>
            </a:r>
            <a:r>
              <a:rPr sz="650" i="0">
                <a:solidFill>
                  <a:srgbClr val="E6EDF3"/>
                </a:solidFill>
                <a:latin typeface="Inconsolata"/>
              </a:rPr>
              <a:t>(i.price * i.qty </a:t>
            </a:r>
            <a:r>
              <a:rPr sz="6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i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payload.items)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payload.customer_type ==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discount = </a:t>
            </a:r>
            <a:r>
              <a:rPr sz="650" i="0">
                <a:solidFill>
                  <a:srgbClr val="F9C97A"/>
                </a:solidFill>
                <a:latin typeface="Inconsolata"/>
              </a:rPr>
              <a:t>0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payload.customer_type ==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650" i="0">
                <a:solidFill>
                  <a:srgbClr val="F9C97A"/>
                </a:solidFill>
                <a:latin typeface="Inconsolata"/>
              </a:rPr>
              <a:t>5</a:t>
            </a:r>
            <a:r>
              <a:rPr sz="6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payload.customer_type ==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discount = subtotal *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10</a:t>
            </a:r>
            <a:r>
              <a:rPr sz="650" i="0">
                <a:solidFill>
                  <a:srgbClr val="E6EDF3"/>
                </a:solidFill>
                <a:latin typeface="Inconsolata"/>
              </a:rPr>
              <a:t> //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else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F9C97A"/>
                </a:solidFill>
                <a:latin typeface="Inconsolata"/>
              </a:rPr>
              <a:t>400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"Tipe customer tidak dikenal"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total = subtotal - discount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cur = conn.execute(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"INSERT INTO orders (customer, customer_type, subtotal, total) VALUES (?, ?, ?, ?)"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(payload.customer, payload.customer_type, subtotal, total),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conn.commit()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order_id = cur.lastrowid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channel = os.getenv(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"NOTIFICATION_CHANNEL"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f"[EMAIL] ke {payload.customer}: Order #{order_id} total Rp{total:,}"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elif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channel ==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f"[SMS] ke {payload.customer}: Order #{order_id} total Rp{total:,}"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230120"/>
            <a:ext cx="5093208" cy="806703"/>
          </a:xfrm>
          <a:prstGeom prst="roundRect">
            <a:avLst>
              <a:gd name="adj" fmla="val 5667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678424" y="251460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246120"/>
            <a:ext cx="5093208" cy="603503"/>
          </a:xfrm>
          <a:prstGeom prst="roundRect">
            <a:avLst>
              <a:gd name="adj" fmla="val 7575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678424" y="342900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957319"/>
            <a:ext cx="5093208" cy="95504"/>
          </a:xfrm>
          <a:prstGeom prst="roundRect">
            <a:avLst>
              <a:gd name="adj" fmla="val 47872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678424" y="388620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5" name="Box 18"/>
          <p:cNvSpPr/>
          <p:nvPr/>
        </p:nvSpPr>
        <p:spPr>
          <a:xfrm>
            <a:off x="704088" y="4058920"/>
            <a:ext cx="5093208" cy="400304"/>
          </a:xfrm>
          <a:prstGeom prst="roundRect">
            <a:avLst>
              <a:gd name="adj" fmla="val 11421"/>
            </a:avLst>
          </a:prstGeom>
          <a:solidFill>
            <a:srgbClr val="C0392B">
              <a:alpha val="22000"/>
            </a:srgbClr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Box 19"/>
          <p:cNvSpPr/>
          <p:nvPr/>
        </p:nvSpPr>
        <p:spPr>
          <a:xfrm>
            <a:off x="5678424" y="4140200"/>
            <a:ext cx="237744" cy="23774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7" name="Box 20"/>
          <p:cNvSpPr/>
          <p:nvPr/>
        </p:nvSpPr>
        <p:spPr>
          <a:xfrm>
            <a:off x="6035040" y="1481328"/>
            <a:ext cx="2450591" cy="3218688"/>
          </a:xfrm>
          <a:prstGeom prst="roundRect">
            <a:avLst>
              <a:gd name="adj" fmla="val 4477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Text 21"/>
          <p:cNvSpPr txBox="1"/>
          <p:nvPr/>
        </p:nvSpPr>
        <p:spPr>
          <a:xfrm>
            <a:off x="6172200" y="1572768"/>
            <a:ext cx="217627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9" name="Text 22"/>
          <p:cNvSpPr txBox="1"/>
          <p:nvPr/>
        </p:nvSpPr>
        <p:spPr>
          <a:xfrm>
            <a:off x="6172200" y="1892808"/>
            <a:ext cx="217627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Aturan diskon pakai if/elif. Tipe baru = edit endpoint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Query SQL langsung di route. Tidak bisa dites tanpa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Config dibaca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os.getenv</a:t>
            </a:r>
            <a:r>
              <a:rPr sz="950" b="0" i="0">
                <a:solidFill>
                  <a:srgbClr val="434343"/>
                </a:solidFill>
                <a:latin typeface="Inter"/>
              </a:rPr>
              <a:t> di tengah kode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Channel notifikasi dipilih pakai if/elif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dikerjakan di satu function, sehingga susah dites dan susah dikembangkan. Kode ini yang akan kita refactor di hands-on.</a:t>
            </a:r>
          </a:p>
        </p:txBody>
      </p:sp>
    </p:spTree>
    <p:extLst>
      <p:ext uri="{BB962C8B-B14F-4D97-AF65-F5344CB8AC3E}">
        <p14:creationId xmlns:p14="http://schemas.microsoft.com/office/powerpoint/2010/main" val="25869863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mulai dari 06-refactor-order-api/before/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Tujuan &amp; Kriteria Selesai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481328"/>
            <a:ext cx="3840480" cy="3218688"/>
          </a:xfrm>
          <a:prstGeom prst="roundRect">
            <a:avLst>
              <a:gd name="adj" fmla="val 3409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Text 4"/>
          <p:cNvSpPr txBox="1"/>
          <p:nvPr/>
        </p:nvSpPr>
        <p:spPr>
          <a:xfrm>
            <a:off x="758952" y="1572768"/>
            <a:ext cx="356616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Kriteria selesai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892808"/>
            <a:ext cx="3566160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b="0" i="0">
                <a:solidFill>
                  <a:srgbClr val="B5482A"/>
                </a:solidFill>
                <a:latin typeface="Inconsolata"/>
              </a:rPr>
              <a:t>POST /orders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GET /orders/{id}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tetap jalan dengan response yang sama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b="0" i="0">
                <a:solidFill>
                  <a:srgbClr val="B5482A"/>
                </a:solidFill>
                <a:latin typeface="Inconsolata"/>
              </a:rPr>
              <a:t>service.py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tidak import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fastapi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maupun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sqlite3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b="0" i="0">
                <a:solidFill>
                  <a:srgbClr val="434343"/>
                </a:solidFill>
                <a:latin typeface="Inter"/>
              </a:rPr>
              <a:t>Tambah tipe customer baru tanpa mengubah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service.py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b="0" i="0">
                <a:solidFill>
                  <a:srgbClr val="434343"/>
                </a:solidFill>
                <a:latin typeface="Inter"/>
              </a:rPr>
              <a:t>Unit test service jalan tanpa database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b="0" i="0">
                <a:solidFill>
                  <a:srgbClr val="B5482A"/>
                </a:solidFill>
                <a:latin typeface="Inconsolata"/>
              </a:rPr>
              <a:t>pytest</a:t>
            </a:r>
            <a:r>
              <a:rPr sz="1000" b="0" i="0">
                <a:solidFill>
                  <a:srgbClr val="434343"/>
                </a:solidFill>
                <a:latin typeface="Inter"/>
              </a:rPr>
              <a:t> hijau</a:t>
            </a:r>
          </a:p>
        </p:txBody>
      </p:sp>
      <p:sp>
        <p:nvSpPr>
          <p:cNvPr id="25" name="CodeTab 7"/>
          <p:cNvSpPr/>
          <p:nvPr/>
        </p:nvSpPr>
        <p:spPr>
          <a:xfrm>
            <a:off x="4617720" y="1481328"/>
            <a:ext cx="38679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Dot 8"/>
          <p:cNvSpPr/>
          <p:nvPr/>
        </p:nvSpPr>
        <p:spPr>
          <a:xfrm>
            <a:off x="4727448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Dot 9"/>
          <p:cNvSpPr/>
          <p:nvPr/>
        </p:nvSpPr>
        <p:spPr>
          <a:xfrm>
            <a:off x="4864608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Dot 10"/>
          <p:cNvSpPr/>
          <p:nvPr/>
        </p:nvSpPr>
        <p:spPr>
          <a:xfrm>
            <a:off x="5001768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 11"/>
          <p:cNvSpPr txBox="1"/>
          <p:nvPr/>
        </p:nvSpPr>
        <p:spPr>
          <a:xfrm>
            <a:off x="5166359" y="1490472"/>
            <a:ext cx="3227832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target struktur</a:t>
            </a:r>
          </a:p>
        </p:txBody>
      </p:sp>
      <p:sp>
        <p:nvSpPr>
          <p:cNvPr id="30" name="CodeBg 13"/>
          <p:cNvSpPr/>
          <p:nvPr/>
        </p:nvSpPr>
        <p:spPr>
          <a:xfrm>
            <a:off x="4617720" y="1719072"/>
            <a:ext cx="3867912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Code 14"/>
          <p:cNvSpPr txBox="1"/>
          <p:nvPr/>
        </p:nvSpPr>
        <p:spPr>
          <a:xfrm>
            <a:off x="4617720" y="1719072"/>
            <a:ext cx="3867912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latihan/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config.py        # langkah 2: Singleton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notifiers.py     # langkah 3: Factory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discounts.py     # langkah 4: Strategy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repository.py    # langkah 5: Repository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service.py       # langkah 6: Service Layer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main.py          # langkah 7: route + Depends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Inconsolata"/>
              </a:rPr>
              <a:t>  test_service.py  # langkah 8: unit test</a:t>
            </a:r>
          </a:p>
        </p:txBody>
      </p:sp>
    </p:spTree>
    <p:extLst>
      <p:ext uri="{BB962C8B-B14F-4D97-AF65-F5344CB8AC3E}">
        <p14:creationId xmlns:p14="http://schemas.microsoft.com/office/powerpoint/2010/main" val="4785551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Jalankan Kode Awal &amp; Catat Responsenya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terminal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cd sesi-01-design-patterns/06-refactor-order-api/before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pip install -r ../../requirements.txt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82B1FF"/>
                </a:solidFill>
                <a:latin typeface="Inconsolata"/>
              </a:rPr>
              <a:t>$ uvicorn main:app --reload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endParaRPr sz="850" i="0">
              <a:solidFill>
                <a:srgbClr val="82B1FF"/>
              </a:solidFill>
              <a:latin typeface="Inconsolata"/>
            </a:endParaRP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buka http://127.0.0.1:8000/docs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Inconsolata"/>
              </a:rPr>
              <a:t># POST /orders -&gt; Try it out -&gt; isi body: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{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"customer": "budi@mail.com",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"customer_type": "vip",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"items": [{"name": "Keyboard", "price": 500000, "qty": 2}]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}</a:t>
            </a:r>
          </a:p>
        </p:txBody>
      </p:sp>
      <p:sp>
        <p:nvSpPr>
          <p:cNvPr id="29" name="Box 12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Text 13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Jalankan aplikasi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before/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Buka Swagger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/docs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Kirim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POST /orders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dengan body di samping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Simpan responsenya. Setelah refactor, response harus </a:t>
            </a:r>
            <a:r>
              <a:rPr sz="900" b="1" i="0">
                <a:solidFill>
                  <a:srgbClr val="434343"/>
                </a:solidFill>
                <a:latin typeface="Inter"/>
              </a:rPr>
              <a:t>sama persis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folder kerja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latihan/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sebelah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before/</a:t>
            </a:r>
          </a:p>
        </p:txBody>
      </p:sp>
      <p:sp>
        <p:nvSpPr>
          <p:cNvPr id="32" name="Box 15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Text 16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4" name="Text 17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Response 201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"total": 900000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(diskon vip 10%).</a:t>
            </a:r>
          </a:p>
        </p:txBody>
      </p:sp>
    </p:spTree>
    <p:extLst>
      <p:ext uri="{BB962C8B-B14F-4D97-AF65-F5344CB8AC3E}">
        <p14:creationId xmlns:p14="http://schemas.microsoft.com/office/powerpoint/2010/main" val="3005852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1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Response dari Kode Awal</a:t>
            </a:r>
          </a:p>
        </p:txBody>
      </p:sp>
      <p:pic>
        <p:nvPicPr>
          <p:cNvPr id="22" name="Image 3" descr="s01-before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528969" cy="3218688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Text 4"/>
          <p:cNvSpPr txBox="1"/>
          <p:nvPr/>
        </p:nvSpPr>
        <p:spPr>
          <a:xfrm>
            <a:off x="4206240" y="1481328"/>
            <a:ext cx="2011680" cy="320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Di Swagger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Klik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POST /orders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Klik </a:t>
            </a:r>
            <a:r>
              <a:rPr sz="950" b="1" i="0">
                <a:solidFill>
                  <a:srgbClr val="434343"/>
                </a:solidFill>
                <a:latin typeface="Inter"/>
              </a:rPr>
              <a:t>Try it out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Isi request body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Klik </a:t>
            </a:r>
            <a:r>
              <a:rPr sz="950" b="1" i="0">
                <a:solidFill>
                  <a:srgbClr val="434343"/>
                </a:solidFill>
                <a:latin typeface="Inter"/>
              </a:rPr>
              <a:t>Execute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Lihat </a:t>
            </a:r>
            <a:r>
              <a:rPr sz="950" b="1" i="0">
                <a:solidFill>
                  <a:srgbClr val="434343"/>
                </a:solidFill>
                <a:latin typeface="Inter"/>
              </a:rPr>
              <a:t>Server response</a:t>
            </a:r>
          </a:p>
        </p:txBody>
      </p:sp>
      <p:sp>
        <p:nvSpPr>
          <p:cNvPr id="24" name="Box 5"/>
          <p:cNvSpPr/>
          <p:nvPr/>
        </p:nvSpPr>
        <p:spPr>
          <a:xfrm>
            <a:off x="6355080" y="1481328"/>
            <a:ext cx="2130552" cy="3218688"/>
          </a:xfrm>
          <a:prstGeom prst="roundRect">
            <a:avLst>
              <a:gd name="adj" fmla="val 5150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5" name="Text 6"/>
          <p:cNvSpPr txBox="1"/>
          <p:nvPr/>
        </p:nvSpPr>
        <p:spPr>
          <a:xfrm>
            <a:off x="6492240" y="1572768"/>
            <a:ext cx="18562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E0764F"/>
                </a:solidFill>
                <a:latin typeface="Inter"/>
              </a:rPr>
              <a:t>Catat ini</a:t>
            </a:r>
          </a:p>
        </p:txBody>
      </p:sp>
      <p:sp>
        <p:nvSpPr>
          <p:cNvPr id="26" name="Text 7"/>
          <p:cNvSpPr txBox="1"/>
          <p:nvPr/>
        </p:nvSpPr>
        <p:spPr>
          <a:xfrm>
            <a:off x="6492240" y="1892808"/>
            <a:ext cx="185623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434343"/>
                </a:solidFill>
                <a:latin typeface="Inter"/>
              </a:rPr>
              <a:t>Status </a:t>
            </a:r>
            <a:r>
              <a:rPr sz="950" b="1" i="0">
                <a:solidFill>
                  <a:srgbClr val="434343"/>
                </a:solidFill>
                <a:latin typeface="Inter"/>
              </a:rPr>
              <a:t>201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subtotal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1.000.000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0" i="0">
                <a:solidFill>
                  <a:srgbClr val="B5482A"/>
                </a:solidFill>
                <a:latin typeface="Inconsolata"/>
              </a:rPr>
              <a:t>total</a:t>
            </a:r>
            <a:r>
              <a:rPr sz="950" b="0" i="0">
                <a:solidFill>
                  <a:srgbClr val="434343"/>
                </a:solidFill>
                <a:latin typeface="Inter"/>
              </a:rPr>
              <a:t> 900.000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Response hasil refactor nanti dibandingkan dengan ini.</a:t>
            </a:r>
          </a:p>
        </p:txBody>
      </p:sp>
    </p:spTree>
    <p:extLst>
      <p:ext uri="{BB962C8B-B14F-4D97-AF65-F5344CB8AC3E}">
        <p14:creationId xmlns:p14="http://schemas.microsoft.com/office/powerpoint/2010/main" val="36489906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2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config.py: Singleton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latihan/config.py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os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dataclasses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dataclass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850" i="0">
                <a:solidFill>
                  <a:srgbClr val="E6EDF3"/>
                </a:solidFill>
                <a:latin typeface="Inconsolata"/>
              </a:rPr>
              <a:t> functools </a:t>
            </a:r>
            <a:r>
              <a:rPr sz="8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850" i="0">
                <a:solidFill>
                  <a:srgbClr val="E6EDF3"/>
                </a:solidFill>
                <a:latin typeface="Inconsolata"/>
              </a:rPr>
              <a:t> 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Inconsolata"/>
              </a:rPr>
              <a:t>@dataclass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(frozen=</a:t>
            </a:r>
            <a:r>
              <a:rPr sz="850" i="0">
                <a:solidFill>
                  <a:srgbClr val="FF8E6E"/>
                </a:solidFill>
                <a:latin typeface="Inconsolata"/>
              </a:rPr>
              <a:t>True</a:t>
            </a:r>
            <a:r>
              <a:rPr sz="8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database_path: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notification_channel: </a:t>
            </a:r>
            <a:r>
              <a:rPr sz="850" i="0">
                <a:solidFill>
                  <a:srgbClr val="C3A6FF"/>
                </a:solidFill>
                <a:latin typeface="Inconsolata"/>
              </a:rPr>
              <a:t>str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82B1FF"/>
                </a:solidFill>
                <a:latin typeface="Inconsolata"/>
              </a:rPr>
              <a:t>get_settings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8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850" i="0">
                <a:solidFill>
                  <a:srgbClr val="E6EDF3"/>
                </a:solidFill>
                <a:latin typeface="Inconsolata"/>
              </a:rPr>
              <a:t> </a:t>
            </a:r>
            <a:r>
              <a:rPr sz="850" i="0">
                <a:solidFill>
                  <a:srgbClr val="7FDBCA"/>
                </a:solidFill>
                <a:latin typeface="Inconsolata"/>
              </a:rPr>
              <a:t>Settings</a:t>
            </a:r>
            <a:r>
              <a:rPr sz="85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database_path=os.getenv(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"DATABASE_PATH"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"orders.db"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    notification_channel=os.getenv(</a:t>
            </a:r>
            <a:r>
              <a:rPr sz="850" i="0">
                <a:solidFill>
                  <a:srgbClr val="A5D6A7"/>
                </a:solidFill>
                <a:latin typeface="Inconsolata"/>
              </a:rPr>
              <a:t>"NOTIFICATION_CHANNEL"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, </a:t>
            </a:r>
            <a:r>
              <a:rPr sz="8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85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843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Inconsolata"/>
              </a:rPr>
              <a:t>    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085973"/>
            <a:ext cx="4727448" cy="410718"/>
          </a:xfrm>
          <a:prstGeom prst="roundRect">
            <a:avLst>
              <a:gd name="adj" fmla="val 11131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317246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5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3" name="Text 16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latihan/config.py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Pindahkan semua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os.getenv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dari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main.py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ke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Settings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Pasang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@lru_cache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get_settings()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B5482A"/>
              </a:solidFill>
              <a:latin typeface="Inconsolata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frozen=True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membuat config tidak bisa diubah setelah dibuat.</a:t>
            </a:r>
          </a:p>
        </p:txBody>
      </p:sp>
      <p:sp>
        <p:nvSpPr>
          <p:cNvPr id="34" name="Box 17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Text 18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6" name="Text 19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get_settings() is get_settings()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→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1907895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3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notifiers.py: Factory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latihan/notifiers.py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from</a:t>
            </a:r>
            <a:r>
              <a:rPr sz="750" i="0">
                <a:solidFill>
                  <a:srgbClr val="E6EDF3"/>
                </a:solidFill>
                <a:latin typeface="Inconsolata"/>
              </a:rPr>
              <a:t> typing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import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Protocol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7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f"[EMAIL] ke {to}: {message}"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C3A6FF"/>
                </a:solidFill>
                <a:latin typeface="Inconsolata"/>
              </a:rPr>
              <a:t>print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f"[SMS] ke {to}: {message}"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750" i="0">
                <a:solidFill>
                  <a:srgbClr val="E6EDF3"/>
                </a:solidFill>
                <a:latin typeface="Inconsolata"/>
              </a:rPr>
              <a:t> = {</a:t>
            </a:r>
            <a:r>
              <a:rPr sz="750" i="0">
                <a:solidFill>
                  <a:srgbClr val="A5D6A7"/>
                </a:solidFill>
                <a:latin typeface="Inconsolata"/>
              </a:rPr>
              <a:t>"email"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EmailNotifier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, </a:t>
            </a:r>
            <a:r>
              <a:rPr sz="750" i="0">
                <a:solidFill>
                  <a:srgbClr val="A5D6A7"/>
                </a:solidFill>
                <a:latin typeface="Inconsolata"/>
              </a:rPr>
              <a:t>"sms"</a:t>
            </a:r>
            <a:r>
              <a:rPr sz="750" i="0">
                <a:solidFill>
                  <a:srgbClr val="E6EDF3"/>
                </a:solidFill>
                <a:latin typeface="Inconsolata"/>
              </a:rPr>
              <a:t>: </a:t>
            </a:r>
            <a:r>
              <a:rPr sz="750" i="0">
                <a:solidFill>
                  <a:srgbClr val="7FDBCA"/>
                </a:solidFill>
                <a:latin typeface="Inconsolata"/>
              </a:rPr>
              <a:t>SmsNotifier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82B1FF"/>
                </a:solidFill>
                <a:latin typeface="Inconsolata"/>
              </a:rPr>
              <a:t>create_notifier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(channel: </a:t>
            </a:r>
            <a:r>
              <a:rPr sz="7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if</a:t>
            </a:r>
            <a:r>
              <a:rPr sz="750" i="0">
                <a:solidFill>
                  <a:srgbClr val="E6EDF3"/>
                </a:solidFill>
                <a:latin typeface="Inconsolata"/>
              </a:rPr>
              <a:t> channel </a:t>
            </a:r>
            <a:r>
              <a:rPr sz="750" i="0">
                <a:solidFill>
                  <a:srgbClr val="FF8E6E"/>
                </a:solidFill>
                <a:latin typeface="Inconsolata"/>
              </a:rPr>
              <a:t>not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FF8E6E"/>
                </a:solidFill>
                <a:latin typeface="Inconsolata"/>
              </a:rPr>
              <a:t>in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7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50" i="0">
                <a:solidFill>
                  <a:srgbClr val="E6EDF3"/>
                </a:solidFill>
                <a:latin typeface="Inconsolata"/>
              </a:rPr>
              <a:t>(</a:t>
            </a:r>
            <a:r>
              <a:rPr sz="750" i="0">
                <a:solidFill>
                  <a:srgbClr val="A5D6A7"/>
                </a:solidFill>
                <a:latin typeface="Inconsolata"/>
              </a:rPr>
              <a:t>f"Channel tidak dikenal: {channel}"</a:t>
            </a:r>
            <a:r>
              <a:rPr sz="7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11111"/>
              </a:lnSpc>
              <a:spcAft>
                <a:spcPts val="0"/>
              </a:spcAft>
            </a:pPr>
            <a:r>
              <a:rPr sz="7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50" i="0">
                <a:solidFill>
                  <a:srgbClr val="E6EDF3"/>
                </a:solidFill>
                <a:latin typeface="Inconsolata"/>
              </a:rPr>
              <a:t> </a:t>
            </a:r>
            <a:r>
              <a:rPr sz="750" i="0">
                <a:solidFill>
                  <a:srgbClr val="7FDBCA"/>
                </a:solidFill>
                <a:latin typeface="Inconsolata"/>
              </a:rPr>
              <a:t>NOTIFIERS</a:t>
            </a:r>
            <a:r>
              <a:rPr sz="750" i="0">
                <a:solidFill>
                  <a:srgbClr val="E6EDF3"/>
                </a:solidFill>
                <a:latin typeface="Inconsolata"/>
              </a:rPr>
              <a:t>[channel]()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478022"/>
            <a:ext cx="4727448" cy="119380"/>
          </a:xfrm>
          <a:prstGeom prst="roundRect">
            <a:avLst>
              <a:gd name="adj" fmla="val 382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341884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732022"/>
            <a:ext cx="4727448" cy="500380"/>
          </a:xfrm>
          <a:prstGeom prst="roundRect">
            <a:avLst>
              <a:gd name="adj" fmla="val 913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3" name="Text 16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4" name="Text 17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class per channel, methodnya sama: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send(to, message)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Notifier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(Protocol) berisi method yang wajib dimiliki semua notifier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Ganti if/elif channel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main.py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NOTIFIERS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+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create_notifier()</a:t>
            </a:r>
          </a:p>
        </p:txBody>
      </p:sp>
      <p:sp>
        <p:nvSpPr>
          <p:cNvPr id="35" name="Box 18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6" name="Text 19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7" name="Text 20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create_notifier("sms")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→ object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SmsNotifier</a:t>
            </a:r>
          </a:p>
        </p:txBody>
      </p:sp>
    </p:spTree>
    <p:extLst>
      <p:ext uri="{BB962C8B-B14F-4D97-AF65-F5344CB8AC3E}">
        <p14:creationId xmlns:p14="http://schemas.microsoft.com/office/powerpoint/2010/main" val="23726332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63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4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discounts.py: Strategy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8920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2519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latihan/discounts.py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8920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8920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7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percent: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.percent = percent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subtotal: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subtotal *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.percent // </a:t>
            </a:r>
            <a:r>
              <a:rPr sz="700" i="0">
                <a:solidFill>
                  <a:srgbClr val="F9C97A"/>
                </a:solidFill>
                <a:latin typeface="Inconsolata"/>
              </a:rPr>
              <a:t>100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700" i="0">
                <a:solidFill>
                  <a:srgbClr val="E6EDF3"/>
                </a:solidFill>
                <a:latin typeface="Inconsolata"/>
              </a:rPr>
              <a:t>[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700" i="0">
                <a:solidFill>
                  <a:srgbClr val="E6EDF3"/>
                </a:solidFill>
                <a:latin typeface="Inconsolata"/>
              </a:rPr>
              <a:t>] = {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"regular"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NoDiscount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"member"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5</a:t>
            </a:r>
            <a:r>
              <a:rPr sz="70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PercentDiscount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10</a:t>
            </a:r>
            <a:r>
              <a:rPr sz="700" i="0">
                <a:solidFill>
                  <a:srgbClr val="E6EDF3"/>
                </a:solidFill>
                <a:latin typeface="Inconsolata"/>
              </a:rPr>
              <a:t>),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}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get_discount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(customer_type: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DiscountStrategy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customer_type </a:t>
            </a:r>
            <a:r>
              <a:rPr sz="700" i="0">
                <a:solidFill>
                  <a:srgbClr val="FF8E6E"/>
                </a:solidFill>
                <a:latin typeface="Inconsolata"/>
              </a:rPr>
              <a:t>not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"Tipe customer tidak dikenal"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DISCOUNTS</a:t>
            </a:r>
            <a:r>
              <a:rPr sz="700" i="0">
                <a:solidFill>
                  <a:srgbClr val="E6EDF3"/>
                </a:solidFill>
                <a:latin typeface="Inconsolata"/>
              </a:rPr>
              <a:t>[customer_type]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3311271"/>
            <a:ext cx="4727448" cy="564642"/>
          </a:xfrm>
          <a:prstGeom prst="roundRect">
            <a:avLst>
              <a:gd name="adj" fmla="val 8097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312664" y="34747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997071"/>
            <a:ext cx="4727448" cy="450342"/>
          </a:xfrm>
          <a:prstGeom prst="roundRect">
            <a:avLst>
              <a:gd name="adj" fmla="val 10152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312664" y="41033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5669279" y="1481328"/>
            <a:ext cx="28163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5806440" y="157276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5806440" y="1892808"/>
            <a:ext cx="25420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Satu class per aturan diskon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DISCOUNTS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memetakan tipe customer ke strategy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get_discount()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memilih strategy, error jika tipe tidak dikenal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Hapus if/elif diskon dari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main.py</a:t>
            </a:r>
          </a:p>
        </p:txBody>
      </p:sp>
      <p:sp>
        <p:nvSpPr>
          <p:cNvPr id="36" name="Box 19"/>
          <p:cNvSpPr/>
          <p:nvPr/>
        </p:nvSpPr>
        <p:spPr>
          <a:xfrm>
            <a:off x="5669279" y="3721608"/>
            <a:ext cx="28163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Text 20"/>
          <p:cNvSpPr txBox="1"/>
          <p:nvPr/>
        </p:nvSpPr>
        <p:spPr>
          <a:xfrm>
            <a:off x="5806440" y="3813048"/>
            <a:ext cx="25420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8" name="Text 21"/>
          <p:cNvSpPr txBox="1"/>
          <p:nvPr/>
        </p:nvSpPr>
        <p:spPr>
          <a:xfrm>
            <a:off x="5806440" y="4133088"/>
            <a:ext cx="25420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get_discount("vip").discount(1_000_000)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→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100000</a:t>
            </a:r>
          </a:p>
        </p:txBody>
      </p:sp>
    </p:spTree>
    <p:extLst>
      <p:ext uri="{BB962C8B-B14F-4D97-AF65-F5344CB8AC3E}">
        <p14:creationId xmlns:p14="http://schemas.microsoft.com/office/powerpoint/2010/main" val="810319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64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5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repository.py: Repository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latihan/repository.py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7FDBCA"/>
                </a:solidFill>
                <a:latin typeface="Inconsolata"/>
              </a:rPr>
              <a:t>Protocol</a:t>
            </a:r>
            <a:r>
              <a:rPr sz="6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get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 |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SqliteOrderRepository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path: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 = sqlite3.connect(path, check_same_thread=</a:t>
            </a:r>
            <a:r>
              <a:rPr sz="650" i="0">
                <a:solidFill>
                  <a:srgbClr val="FF8E6E"/>
                </a:solidFill>
                <a:latin typeface="Inconsolata"/>
              </a:rPr>
              <a:t>False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cur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.conn.execute(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"INSERT INTO orders (customer, customer_type, subtotal, total) VALUES (?, ?, ?, ?)"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(order[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], order[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"customer_type"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], order[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"subtotal"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], order[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]),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.conn.commit()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{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cur.lastrowid, **order}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InMemoryOrderRepository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...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add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saved = {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len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.rows) + </a:t>
            </a:r>
            <a:r>
              <a:rPr sz="650" i="0">
                <a:solidFill>
                  <a:srgbClr val="F9C97A"/>
                </a:solidFill>
                <a:latin typeface="Inconsolata"/>
              </a:rPr>
              <a:t>1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**order}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.rows[saved[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"id"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]] = saved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saved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...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230120"/>
            <a:ext cx="4956048" cy="1213104"/>
          </a:xfrm>
          <a:prstGeom prst="roundRect">
            <a:avLst>
              <a:gd name="adj" fmla="val 3768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27178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3652520"/>
            <a:ext cx="4956048" cy="603503"/>
          </a:xfrm>
          <a:prstGeom prst="roundRect">
            <a:avLst>
              <a:gd name="adj" fmla="val 7575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541264" y="38354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5897879" y="1481328"/>
            <a:ext cx="25877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6035040" y="157276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6035040" y="1892808"/>
            <a:ext cx="23134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Pindahkan semua SQL dari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main.py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ke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SqliteOrderRepository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Buat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InMemoryOrderRepository</a:t>
            </a:r>
            <a:r>
              <a:rPr sz="900" b="0" i="0">
                <a:solidFill>
                  <a:srgbClr val="434343"/>
                </a:solidFill>
                <a:latin typeface="Inter"/>
              </a:rPr>
              <a:t> untuk test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Keduanya punya method yang sama: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add()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get()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B5482A"/>
              </a:solidFill>
              <a:latin typeface="Inconsolata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Method get() juga dibuat di kedua repository.</a:t>
            </a:r>
          </a:p>
        </p:txBody>
      </p:sp>
      <p:sp>
        <p:nvSpPr>
          <p:cNvPr id="36" name="Box 19"/>
          <p:cNvSpPr/>
          <p:nvPr/>
        </p:nvSpPr>
        <p:spPr>
          <a:xfrm>
            <a:off x="5897879" y="3721608"/>
            <a:ext cx="25877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Text 20"/>
          <p:cNvSpPr txBox="1"/>
          <p:nvPr/>
        </p:nvSpPr>
        <p:spPr>
          <a:xfrm>
            <a:off x="6035040" y="381304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8" name="Text 21"/>
          <p:cNvSpPr txBox="1"/>
          <p:nvPr/>
        </p:nvSpPr>
        <p:spPr>
          <a:xfrm>
            <a:off x="6035040" y="4133088"/>
            <a:ext cx="23134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Tidak ada lagi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sqlite3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 luar file ini.</a:t>
            </a:r>
          </a:p>
        </p:txBody>
      </p:sp>
    </p:spTree>
    <p:extLst>
      <p:ext uri="{BB962C8B-B14F-4D97-AF65-F5344CB8AC3E}">
        <p14:creationId xmlns:p14="http://schemas.microsoft.com/office/powerpoint/2010/main" val="15050914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65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6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service.py: Service Layer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latihan/service.py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repo: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OrderRepository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notifier: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Notifier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.repo = repo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.notifier = notifier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place_order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customer: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customer_type: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items: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list</a:t>
            </a:r>
            <a:r>
              <a:rPr sz="650" i="0">
                <a:solidFill>
                  <a:srgbClr val="E6EDF3"/>
                </a:solidFill>
                <a:latin typeface="Inconsolata"/>
              </a:rPr>
              <a:t>[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])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subtotal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sum</a:t>
            </a:r>
            <a:r>
              <a:rPr sz="650" i="0">
                <a:solidFill>
                  <a:srgbClr val="E6EDF3"/>
                </a:solidFill>
                <a:latin typeface="Inconsolata"/>
              </a:rPr>
              <a:t>(i[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 * i[</a:t>
            </a:r>
            <a:r>
              <a:rPr sz="65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650" i="0">
                <a:solidFill>
                  <a:srgbClr val="E6EDF3"/>
                </a:solidFill>
                <a:latin typeface="Inconsolata"/>
              </a:rPr>
              <a:t>] </a:t>
            </a:r>
            <a:r>
              <a:rPr sz="6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i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items)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total = subtotal - get_discount(customer_type).discount(subtotal)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.repo.add({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"customer"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customer,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"customer_type"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customer_type,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"subtotal"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subtotal,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650" i="0">
                <a:solidFill>
                  <a:srgbClr val="E6EDF3"/>
                </a:solidFill>
                <a:latin typeface="Inconsolata"/>
              </a:rPr>
              <a:t>: total,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})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.notifier.send(customer, </a:t>
            </a:r>
            <a:r>
              <a:rPr sz="650" i="0">
                <a:solidFill>
                  <a:srgbClr val="A5D6A7"/>
                </a:solidFill>
                <a:latin typeface="Inconsolata"/>
              </a:rPr>
              <a:t>f"Order #{order['id']} total Rp{total:,}"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get_order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order_id: </a:t>
            </a:r>
            <a:r>
              <a:rPr sz="650" i="0">
                <a:solidFill>
                  <a:srgbClr val="C3A6FF"/>
                </a:solidFill>
                <a:latin typeface="Inconsolata"/>
              </a:rPr>
              <a:t>int</a:t>
            </a:r>
            <a:r>
              <a:rPr sz="65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650" i="0">
                <a:solidFill>
                  <a:srgbClr val="C3A6FF"/>
                </a:solidFill>
                <a:latin typeface="Inconsolata"/>
              </a:rPr>
              <a:t>dict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order =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650" i="0">
                <a:solidFill>
                  <a:srgbClr val="E6EDF3"/>
                </a:solidFill>
                <a:latin typeface="Inconsolata"/>
              </a:rPr>
              <a:t>.repo.get(order_id)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OrderNotFound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"Order tidak ditemukan"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order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25320"/>
            <a:ext cx="4956048" cy="298704"/>
          </a:xfrm>
          <a:prstGeom prst="roundRect">
            <a:avLst>
              <a:gd name="adj" fmla="val 15306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19558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433320"/>
            <a:ext cx="4956048" cy="908304"/>
          </a:xfrm>
          <a:prstGeom prst="roundRect">
            <a:avLst>
              <a:gd name="adj" fmla="val 503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541264" y="276860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5897879" y="1481328"/>
            <a:ext cx="25877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Text 17"/>
          <p:cNvSpPr txBox="1"/>
          <p:nvPr/>
        </p:nvSpPr>
        <p:spPr>
          <a:xfrm>
            <a:off x="6035040" y="157276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5" name="Text 18"/>
          <p:cNvSpPr txBox="1"/>
          <p:nvPr/>
        </p:nvSpPr>
        <p:spPr>
          <a:xfrm>
            <a:off x="6035040" y="1892808"/>
            <a:ext cx="23134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repo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notifier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diterima dari luar lewat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__init__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place_order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: hitung subtotal, pakai strategy diskon, simpan lewat repo, kirim lewat notifier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Error bisnis ditulis sebagai exception biasa (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OrderNotFound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ValueError</a:t>
            </a:r>
            <a:r>
              <a:rPr sz="900" b="0" i="0">
                <a:solidFill>
                  <a:srgbClr val="434343"/>
                </a:solidFill>
                <a:latin typeface="Inter"/>
              </a:rPr>
              <a:t>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Importnya hanya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discounts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notifiers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repository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  <p:sp>
        <p:nvSpPr>
          <p:cNvPr id="36" name="Box 19"/>
          <p:cNvSpPr/>
          <p:nvPr/>
        </p:nvSpPr>
        <p:spPr>
          <a:xfrm>
            <a:off x="5897879" y="3721608"/>
            <a:ext cx="25877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7" name="Text 20"/>
          <p:cNvSpPr txBox="1"/>
          <p:nvPr/>
        </p:nvSpPr>
        <p:spPr>
          <a:xfrm>
            <a:off x="6035040" y="381304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8" name="Text 21"/>
          <p:cNvSpPr txBox="1"/>
          <p:nvPr/>
        </p:nvSpPr>
        <p:spPr>
          <a:xfrm>
            <a:off x="6035040" y="4133088"/>
            <a:ext cx="23134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Di file ini tidak ada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fastapi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maupun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sqlite3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696312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66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7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main.py: Route + Menyiapkan Komponen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latihan/main.py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@lru_cache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get_order_service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 -&gt;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settings = get_settings()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repo=</a:t>
            </a:r>
            <a:r>
              <a:rPr sz="700" i="0">
                <a:solidFill>
                  <a:srgbClr val="7FDBCA"/>
                </a:solidFill>
                <a:latin typeface="Inconsolata"/>
              </a:rPr>
              <a:t>SqliteOrderRepository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(settings.database_path),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notifier=create_notifier(settings.notification_channel),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700" i="0">
                <a:solidFill>
                  <a:srgbClr val="F9C97A"/>
                </a:solidFill>
                <a:latin typeface="Inconsolata"/>
              </a:rPr>
              <a:t>201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service: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Depends</a:t>
            </a:r>
            <a:r>
              <a:rPr sz="700" i="0">
                <a:solidFill>
                  <a:srgbClr val="E6EDF3"/>
                </a:solidFill>
                <a:latin typeface="Inconsolata"/>
              </a:rPr>
              <a:t>(get_order_service)):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items = [i.model_dump() </a:t>
            </a:r>
            <a:r>
              <a:rPr sz="700" i="0">
                <a:solidFill>
                  <a:srgbClr val="FF8E6E"/>
                </a:solidFill>
                <a:latin typeface="Inconsolata"/>
              </a:rPr>
              <a:t>for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 i </a:t>
            </a:r>
            <a:r>
              <a:rPr sz="700" i="0">
                <a:solidFill>
                  <a:srgbClr val="FF8E6E"/>
                </a:solidFill>
                <a:latin typeface="Inconsolata"/>
              </a:rPr>
              <a:t>in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payload.items]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service.place_order(payload.customer, payload.customer_type, items)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400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(e))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9C97A"/>
                </a:solidFill>
                <a:latin typeface="Inconsolata"/>
              </a:rPr>
              <a:t>@app.get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"/orders/{order_id}"</a:t>
            </a:r>
            <a:r>
              <a:rPr sz="70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get_order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(order_id: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int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service: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= </a:t>
            </a:r>
            <a:r>
              <a:rPr sz="700" i="0">
                <a:solidFill>
                  <a:srgbClr val="7FDBCA"/>
                </a:solidFill>
                <a:latin typeface="Inconsolata"/>
              </a:rPr>
              <a:t>Depends</a:t>
            </a:r>
            <a:r>
              <a:rPr sz="700" i="0">
                <a:solidFill>
                  <a:srgbClr val="E6EDF3"/>
                </a:solidFill>
                <a:latin typeface="Inconsolata"/>
              </a:rPr>
              <a:t>(get_order_service)):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try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service.get_order(order_id)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OrderNotFound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F9C97A"/>
                </a:solidFill>
                <a:latin typeface="Inconsolata"/>
              </a:rPr>
              <a:t>404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(e))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19396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18745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704088" y="28540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Box 15"/>
          <p:cNvSpPr/>
          <p:nvPr/>
        </p:nvSpPr>
        <p:spPr>
          <a:xfrm>
            <a:off x="5541264" y="278892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3" name="Box 16"/>
          <p:cNvSpPr/>
          <p:nvPr/>
        </p:nvSpPr>
        <p:spPr>
          <a:xfrm>
            <a:off x="704088" y="3768471"/>
            <a:ext cx="4956048" cy="107442"/>
          </a:xfrm>
          <a:prstGeom prst="roundRect">
            <a:avLst>
              <a:gd name="adj" fmla="val 42553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4" name="Box 17"/>
          <p:cNvSpPr/>
          <p:nvPr/>
        </p:nvSpPr>
        <p:spPr>
          <a:xfrm>
            <a:off x="5897879" y="1481328"/>
            <a:ext cx="25877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Text 18"/>
          <p:cNvSpPr txBox="1"/>
          <p:nvPr/>
        </p:nvSpPr>
        <p:spPr>
          <a:xfrm>
            <a:off x="6035040" y="157276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6" name="Text 19"/>
          <p:cNvSpPr txBox="1"/>
          <p:nvPr/>
        </p:nvSpPr>
        <p:spPr>
          <a:xfrm>
            <a:off x="6035040" y="1892808"/>
            <a:ext cx="23134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get_order_service()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menyiapkan service: config (Singleton), repository, notifier (Factory)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Dengan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Depends(...)</a:t>
            </a:r>
            <a:r>
              <a:rPr sz="900" b="0" i="0">
                <a:solidFill>
                  <a:srgbClr val="434343"/>
                </a:solidFill>
                <a:latin typeface="Inter"/>
              </a:rPr>
              <a:t>, FastAPI memanggil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get_order_service()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memberikan hasilnya ke route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Route hanya menghandle HTTP: panggil service, ubah error jadi 400 / 404</a:t>
            </a:r>
          </a:p>
        </p:txBody>
      </p:sp>
      <p:sp>
        <p:nvSpPr>
          <p:cNvPr id="37" name="Box 20"/>
          <p:cNvSpPr/>
          <p:nvPr/>
        </p:nvSpPr>
        <p:spPr>
          <a:xfrm>
            <a:off x="5897879" y="3721608"/>
            <a:ext cx="25877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Text 21"/>
          <p:cNvSpPr txBox="1"/>
          <p:nvPr/>
        </p:nvSpPr>
        <p:spPr>
          <a:xfrm>
            <a:off x="6035040" y="381304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9" name="Text 22"/>
          <p:cNvSpPr txBox="1"/>
          <p:nvPr/>
        </p:nvSpPr>
        <p:spPr>
          <a:xfrm>
            <a:off x="6035040" y="4133088"/>
            <a:ext cx="23134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Model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Item</a:t>
            </a:r>
            <a:r>
              <a:rPr sz="900" b="0" i="0">
                <a:solidFill>
                  <a:srgbClr val="434343"/>
                </a:solidFill>
                <a:latin typeface="Inter"/>
              </a:rPr>
              <a:t> dan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OrderIn</a:t>
            </a:r>
            <a:r>
              <a:rPr sz="900" b="0" i="0">
                <a:solidFill>
                  <a:srgbClr val="434343"/>
                </a:solidFill>
                <a:latin typeface="Inter"/>
              </a:rPr>
              <a:t> tetap sama seperti di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before/</a:t>
            </a:r>
            <a:r>
              <a:rPr sz="900" b="0" i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00114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67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8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test_service.py: Unit Test Tanpa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4480559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latihan/test_service.py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5120640" cy="2980944"/>
          </a:xfrm>
          <a:prstGeom prst="roundRect">
            <a:avLst>
              <a:gd name="adj" fmla="val 61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5120640" cy="2980944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class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FakeNotifier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__init__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.sent = []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send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to: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message: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str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 -&gt; </a:t>
            </a:r>
            <a:r>
              <a:rPr sz="700" i="0">
                <a:solidFill>
                  <a:srgbClr val="FF8E6E"/>
                </a:solidFill>
                <a:latin typeface="Inconsolata"/>
              </a:rPr>
              <a:t>None</a:t>
            </a:r>
            <a:r>
              <a:rPr sz="70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700" i="0">
                <a:solidFill>
                  <a:srgbClr val="C3A6FF"/>
                </a:solidFill>
                <a:latin typeface="Inconsolata"/>
              </a:rPr>
              <a:t>self</a:t>
            </a:r>
            <a:r>
              <a:rPr sz="700" i="0">
                <a:solidFill>
                  <a:srgbClr val="E6EDF3"/>
                </a:solidFill>
                <a:latin typeface="Inconsolata"/>
              </a:rPr>
              <a:t>.sent.append((to, message))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make_service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700" i="0">
                <a:solidFill>
                  <a:srgbClr val="E6EDF3"/>
                </a:solidFill>
                <a:latin typeface="Inconsolata"/>
              </a:rPr>
              <a:t>(</a:t>
            </a:r>
            <a:r>
              <a:rPr sz="700" i="0">
                <a:solidFill>
                  <a:srgbClr val="7FDBCA"/>
                </a:solidFill>
                <a:latin typeface="Inconsolata"/>
              </a:rPr>
              <a:t>InMemoryOrderRepository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(), </a:t>
            </a:r>
            <a:r>
              <a:rPr sz="700" i="0">
                <a:solidFill>
                  <a:srgbClr val="7FDBCA"/>
                </a:solidFill>
                <a:latin typeface="Inconsolata"/>
              </a:rPr>
              <a:t>FakeNotifier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test_vip_dapat_diskon_10_persen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service = make_service()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order = service.place_order(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"vip"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[{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F9C97A"/>
                </a:solidFill>
                <a:latin typeface="Inconsolata"/>
              </a:rPr>
              <a:t>500_000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F9C97A"/>
                </a:solidFill>
                <a:latin typeface="Inconsolata"/>
              </a:rPr>
              <a:t>2</a:t>
            </a:r>
            <a:r>
              <a:rPr sz="700" i="0">
                <a:solidFill>
                  <a:srgbClr val="E6EDF3"/>
                </a:solidFill>
                <a:latin typeface="Inconsolata"/>
              </a:rPr>
              <a:t>}])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assert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order[</a:t>
            </a:r>
            <a:r>
              <a:rPr sz="700" i="0">
                <a:solidFill>
                  <a:srgbClr val="A5D6A7"/>
                </a:solidFill>
                <a:latin typeface="Inconsolata"/>
              </a:rPr>
              <a:t>"subtotal"</a:t>
            </a:r>
            <a:r>
              <a:rPr sz="700" i="0">
                <a:solidFill>
                  <a:srgbClr val="E6EDF3"/>
                </a:solidFill>
                <a:latin typeface="Inconsolata"/>
              </a:rPr>
              <a:t>] == </a:t>
            </a:r>
            <a:r>
              <a:rPr sz="700" i="0">
                <a:solidFill>
                  <a:srgbClr val="F9C97A"/>
                </a:solidFill>
                <a:latin typeface="Inconsolata"/>
              </a:rPr>
              <a:t>1_000_000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assert</a:t>
            </a:r>
            <a:r>
              <a:rPr sz="700" i="0">
                <a:solidFill>
                  <a:srgbClr val="E6EDF3"/>
                </a:solidFill>
                <a:latin typeface="Inconsolata"/>
              </a:rPr>
              <a:t> order[</a:t>
            </a:r>
            <a:r>
              <a:rPr sz="700" i="0">
                <a:solidFill>
                  <a:srgbClr val="A5D6A7"/>
                </a:solidFill>
                <a:latin typeface="Inconsolata"/>
              </a:rPr>
              <a:t>"total"</a:t>
            </a:r>
            <a:r>
              <a:rPr sz="700" i="0">
                <a:solidFill>
                  <a:srgbClr val="E6EDF3"/>
                </a:solidFill>
                <a:latin typeface="Inconsolata"/>
              </a:rPr>
              <a:t>] == </a:t>
            </a:r>
            <a:r>
              <a:rPr sz="700" i="0">
                <a:solidFill>
                  <a:srgbClr val="F9C97A"/>
                </a:solidFill>
                <a:latin typeface="Inconsolata"/>
              </a:rPr>
              <a:t>900_000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FF8E6E"/>
                </a:solidFill>
                <a:latin typeface="Inconsolata"/>
              </a:rPr>
              <a:t>def</a:t>
            </a:r>
            <a:r>
              <a:rPr sz="700" i="0">
                <a:solidFill>
                  <a:srgbClr val="E6EDF3"/>
                </a:solidFill>
                <a:latin typeface="Inconsolata"/>
              </a:rPr>
              <a:t> </a:t>
            </a:r>
            <a:r>
              <a:rPr sz="700" i="0">
                <a:solidFill>
                  <a:srgbClr val="82B1FF"/>
                </a:solidFill>
                <a:latin typeface="Inconsolata"/>
              </a:rPr>
              <a:t>test_tipe_customer_tidak_dikenal</a:t>
            </a:r>
            <a:r>
              <a:rPr sz="700" i="0">
                <a:solidFill>
                  <a:srgbClr val="E6EDF3"/>
                </a:solidFill>
                <a:latin typeface="Inconsolata"/>
              </a:rPr>
              <a:t>():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700" i="0">
                <a:solidFill>
                  <a:srgbClr val="FF8E6E"/>
                </a:solidFill>
                <a:latin typeface="Inconsolata"/>
              </a:rPr>
              <a:t>with</a:t>
            </a:r>
            <a:r>
              <a:rPr sz="700" i="0">
                <a:solidFill>
                  <a:srgbClr val="E6EDF3"/>
                </a:solidFill>
                <a:latin typeface="Inconsolata"/>
              </a:rPr>
              <a:t> pytest.raises(</a:t>
            </a:r>
            <a:r>
              <a:rPr sz="70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700" i="0">
                <a:solidFill>
                  <a:srgbClr val="E6EDF3"/>
                </a:solidFill>
                <a:latin typeface="Inconsolata"/>
              </a:rPr>
              <a:t>):</a:t>
            </a:r>
          </a:p>
          <a:p>
            <a:pPr>
              <a:lnSpc>
                <a:spcPct val="107143"/>
              </a:lnSpc>
              <a:spcAft>
                <a:spcPts val="0"/>
              </a:spcAft>
            </a:pPr>
            <a:r>
              <a:rPr sz="700" i="0">
                <a:solidFill>
                  <a:srgbClr val="E6EDF3"/>
                </a:solidFill>
                <a:latin typeface="Inconsolata"/>
              </a:rPr>
              <a:t>        make_service().place_order(</a:t>
            </a:r>
            <a:r>
              <a:rPr sz="700" i="0">
                <a:solidFill>
                  <a:srgbClr val="A5D6A7"/>
                </a:solidFill>
                <a:latin typeface="Inconsolata"/>
              </a:rPr>
              <a:t>"budi@mail.com"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"sultan"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[{</a:t>
            </a:r>
            <a:r>
              <a:rPr sz="700" i="0">
                <a:solidFill>
                  <a:srgbClr val="A5D6A7"/>
                </a:solidFill>
                <a:latin typeface="Inconsolata"/>
              </a:rPr>
              <a:t>"price"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F9C97A"/>
                </a:solidFill>
                <a:latin typeface="Inconsolata"/>
              </a:rPr>
              <a:t>50_000</a:t>
            </a:r>
            <a:r>
              <a:rPr sz="700" i="0">
                <a:solidFill>
                  <a:srgbClr val="E6EDF3"/>
                </a:solidFill>
                <a:latin typeface="Inconsolata"/>
              </a:rPr>
              <a:t>, </a:t>
            </a:r>
            <a:r>
              <a:rPr sz="700" i="0">
                <a:solidFill>
                  <a:srgbClr val="A5D6A7"/>
                </a:solidFill>
                <a:latin typeface="Inconsolata"/>
              </a:rPr>
              <a:t>"qty"</a:t>
            </a:r>
            <a:r>
              <a:rPr sz="700" i="0">
                <a:solidFill>
                  <a:srgbClr val="E6EDF3"/>
                </a:solidFill>
                <a:latin typeface="Inconsolata"/>
              </a:rPr>
              <a:t>: </a:t>
            </a:r>
            <a:r>
              <a:rPr sz="700" i="0">
                <a:solidFill>
                  <a:srgbClr val="F9C97A"/>
                </a:solidFill>
                <a:latin typeface="Inconsolata"/>
              </a:rPr>
              <a:t>1</a:t>
            </a:r>
            <a:r>
              <a:rPr sz="700" i="0">
                <a:solidFill>
                  <a:srgbClr val="E6EDF3"/>
                </a:solidFill>
                <a:latin typeface="Inconsolata"/>
              </a:rPr>
              <a:t>}])</a:t>
            </a:r>
          </a:p>
        </p:txBody>
      </p:sp>
      <p:sp>
        <p:nvSpPr>
          <p:cNvPr id="29" name="Box 12"/>
          <p:cNvSpPr/>
          <p:nvPr/>
        </p:nvSpPr>
        <p:spPr>
          <a:xfrm>
            <a:off x="704088" y="2625471"/>
            <a:ext cx="4956048" cy="221742"/>
          </a:xfrm>
          <a:prstGeom prst="roundRect">
            <a:avLst>
              <a:gd name="adj" fmla="val 20618"/>
            </a:avLst>
          </a:prstGeom>
          <a:solidFill>
            <a:srgbClr val="E0764F">
              <a:alpha val="22000"/>
            </a:srgbClr>
          </a:solidFill>
          <a:ln w="12700">
            <a:solidFill>
              <a:srgbClr val="E07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0" name="Box 13"/>
          <p:cNvSpPr/>
          <p:nvPr/>
        </p:nvSpPr>
        <p:spPr>
          <a:xfrm>
            <a:off x="5541264" y="2617470"/>
            <a:ext cx="237744" cy="23774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1" name="Box 14"/>
          <p:cNvSpPr/>
          <p:nvPr/>
        </p:nvSpPr>
        <p:spPr>
          <a:xfrm>
            <a:off x="5897879" y="1481328"/>
            <a:ext cx="2587752" cy="2148840"/>
          </a:xfrm>
          <a:prstGeom prst="roundRect">
            <a:avLst>
              <a:gd name="adj" fmla="val 5106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5"/>
          <p:cNvSpPr txBox="1"/>
          <p:nvPr/>
        </p:nvSpPr>
        <p:spPr>
          <a:xfrm>
            <a:off x="6035040" y="157276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33" name="Text 16"/>
          <p:cNvSpPr txBox="1"/>
          <p:nvPr/>
        </p:nvSpPr>
        <p:spPr>
          <a:xfrm>
            <a:off x="6035040" y="1892808"/>
            <a:ext cx="2313432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FakeNotifier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mencatat pesan, tidak mencetak apa-apa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Service dibuat dengan repository in-memory + notifier palsu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00" b="0" i="0">
                <a:solidFill>
                  <a:srgbClr val="434343"/>
                </a:solidFill>
                <a:latin typeface="Inter"/>
              </a:rPr>
              <a:t>Test business logic langsung, tanpa server dan database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00" b="0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Total ada 4 test di test_service.py.</a:t>
            </a:r>
          </a:p>
        </p:txBody>
      </p:sp>
      <p:sp>
        <p:nvSpPr>
          <p:cNvPr id="34" name="Box 17"/>
          <p:cNvSpPr/>
          <p:nvPr/>
        </p:nvSpPr>
        <p:spPr>
          <a:xfrm>
            <a:off x="5897879" y="3721608"/>
            <a:ext cx="2587752" cy="978408"/>
          </a:xfrm>
          <a:prstGeom prst="roundRect">
            <a:avLst>
              <a:gd name="adj" fmla="val 1121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Text 18"/>
          <p:cNvSpPr txBox="1"/>
          <p:nvPr/>
        </p:nvSpPr>
        <p:spPr>
          <a:xfrm>
            <a:off x="6035040" y="3813048"/>
            <a:ext cx="231343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2E7D5B"/>
                </a:solidFill>
                <a:latin typeface="Inter"/>
              </a:rPr>
              <a:t>Cek</a:t>
            </a:r>
          </a:p>
        </p:txBody>
      </p:sp>
      <p:sp>
        <p:nvSpPr>
          <p:cNvPr id="36" name="Text 19"/>
          <p:cNvSpPr txBox="1"/>
          <p:nvPr/>
        </p:nvSpPr>
        <p:spPr>
          <a:xfrm>
            <a:off x="6035040" y="4133088"/>
            <a:ext cx="2313432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B5482A"/>
                </a:solidFill>
                <a:latin typeface="Inconsolata"/>
              </a:rPr>
              <a:t>pytest -v</a:t>
            </a:r>
            <a:r>
              <a:rPr sz="900" b="0" i="0">
                <a:solidFill>
                  <a:srgbClr val="434343"/>
                </a:solidFill>
                <a:latin typeface="Inter"/>
              </a:rPr>
              <a:t> → 4 passed (lihat langkah 9).</a:t>
            </a:r>
          </a:p>
        </p:txBody>
      </p:sp>
    </p:spTree>
    <p:extLst>
      <p:ext uri="{BB962C8B-B14F-4D97-AF65-F5344CB8AC3E}">
        <p14:creationId xmlns:p14="http://schemas.microsoft.com/office/powerpoint/2010/main" val="11266689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68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9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Jalankan Test</a:t>
            </a:r>
          </a:p>
        </p:txBody>
      </p:sp>
      <p:pic>
        <p:nvPicPr>
          <p:cNvPr id="22" name="Image 3" descr="s01-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5212080" cy="1545856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3" name="Box 4"/>
          <p:cNvSpPr/>
          <p:nvPr/>
        </p:nvSpPr>
        <p:spPr>
          <a:xfrm>
            <a:off x="5989320" y="1481328"/>
            <a:ext cx="2496312" cy="3218688"/>
          </a:xfrm>
          <a:prstGeom prst="roundRect">
            <a:avLst>
              <a:gd name="adj" fmla="val 4395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4" name="Text 5"/>
          <p:cNvSpPr txBox="1"/>
          <p:nvPr/>
        </p:nvSpPr>
        <p:spPr>
          <a:xfrm>
            <a:off x="6126480" y="1572768"/>
            <a:ext cx="222199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E0764F"/>
                </a:solidFill>
                <a:latin typeface="Inter"/>
              </a:rPr>
              <a:t>Yang dikerjakan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6126480" y="1892808"/>
            <a:ext cx="2221992" cy="2715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Masuk ke folder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latihan/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Jalankan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pytest -v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+mj-lt"/>
              <a:buAutoNum type="arabicPeriod"/>
            </a:pPr>
            <a:r>
              <a:rPr sz="950" b="0" i="0">
                <a:solidFill>
                  <a:srgbClr val="434343"/>
                </a:solidFill>
                <a:latin typeface="Inter"/>
              </a:rPr>
              <a:t>Semua test harus </a:t>
            </a:r>
            <a:r>
              <a:rPr sz="950" b="1" i="0">
                <a:solidFill>
                  <a:srgbClr val="434343"/>
                </a:solidFill>
                <a:latin typeface="Inter"/>
              </a:rPr>
              <a:t>PASSED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950" b="1" i="0">
              <a:solidFill>
                <a:srgbClr val="434343"/>
              </a:solidFill>
              <a:latin typeface="Inter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434343"/>
                </a:solidFill>
                <a:latin typeface="Inter"/>
              </a:rPr>
              <a:t>Test ini tidak butuh server maupun file database, karena service memakai repository in-memory.</a:t>
            </a:r>
          </a:p>
        </p:txBody>
      </p:sp>
    </p:spTree>
    <p:extLst>
      <p:ext uri="{BB962C8B-B14F-4D97-AF65-F5344CB8AC3E}">
        <p14:creationId xmlns:p14="http://schemas.microsoft.com/office/powerpoint/2010/main" val="35657956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69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  ·  Langkah 9 dari 9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Jalankan Aplikasi &amp; Coba di Swagger</a:t>
            </a:r>
          </a:p>
        </p:txBody>
      </p:sp>
      <p:pic>
        <p:nvPicPr>
          <p:cNvPr id="22" name="Image 3" descr="s01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479164" cy="3218688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pic>
        <p:nvPicPr>
          <p:cNvPr id="23" name="Image 4" descr="s01-get-re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481328"/>
            <a:ext cx="4206240" cy="1213583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4" name="Text 5"/>
          <p:cNvSpPr txBox="1"/>
          <p:nvPr/>
        </p:nvSpPr>
        <p:spPr>
          <a:xfrm>
            <a:off x="3291840" y="2715768"/>
            <a:ext cx="51937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 i="0">
                <a:solidFill>
                  <a:srgbClr val="7A7A7A"/>
                </a:solidFill>
                <a:latin typeface="Inter"/>
              </a:rPr>
              <a:t>GET /orders/1: order yang baru dibuat bisa dibaca lagi</a:t>
            </a:r>
          </a:p>
        </p:txBody>
      </p:sp>
      <p:pic>
        <p:nvPicPr>
          <p:cNvPr id="25" name="Image 6" descr="s01-uvico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3017520"/>
            <a:ext cx="5193792" cy="944326"/>
          </a:xfrm>
          <a:prstGeom prst="rect">
            <a:avLst/>
          </a:prstGeom>
          <a:ln w="9525">
            <a:solidFill>
              <a:srgbClr val="D0D5DD"/>
            </a:solidFill>
          </a:ln>
        </p:spPr>
      </p:pic>
      <p:sp>
        <p:nvSpPr>
          <p:cNvPr id="26" name="Text 7"/>
          <p:cNvSpPr txBox="1"/>
          <p:nvPr/>
        </p:nvSpPr>
        <p:spPr>
          <a:xfrm>
            <a:off x="3291840" y="4041648"/>
            <a:ext cx="5193792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434343"/>
                </a:solidFill>
                <a:latin typeface="Inter"/>
              </a:rPr>
              <a:t>Response POST sama dengan langkah 1: 201, total 900.000. Log uvicorn menunjukkan notifikasi terkirim lewat </a:t>
            </a:r>
            <a:r>
              <a:rPr sz="900" b="0" i="0">
                <a:solidFill>
                  <a:srgbClr val="B5482A"/>
                </a:solidFill>
                <a:latin typeface="Inconsolata"/>
              </a:rPr>
              <a:t>EmailNotifier</a:t>
            </a:r>
            <a:r>
              <a:rPr sz="900" b="0" i="0">
                <a:solidFill>
                  <a:srgbClr val="434343"/>
                </a:solidFill>
                <a:latin typeface="Inter"/>
              </a:rPr>
              <a:t> yang dibuat factory.</a:t>
            </a:r>
          </a:p>
        </p:txBody>
      </p:sp>
    </p:spTree>
    <p:extLst>
      <p:ext uri="{BB962C8B-B14F-4D97-AF65-F5344CB8AC3E}">
        <p14:creationId xmlns:p14="http://schemas.microsoft.com/office/powerpoint/2010/main" val="36391110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70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Cek Kriteria Selesai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481328"/>
          <a:ext cx="7863840" cy="3017520"/>
        </p:xfrm>
        <a:graphic>
          <a:graphicData uri="http://schemas.openxmlformats.org/drawingml/2006/table">
            <a:tbl>
              <a:tblPr firstRow="1" bandRow="1"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Kriteria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Inter"/>
                        </a:rPr>
                        <a:t>Cara mengecek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POST &amp; GET tetap jalan, response sama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Bandingkan response Swagger langkah 1 dan langkah 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service.py tanpa fastapi &amp; sqlite3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Buka service.py: importnya hanya discounts, notifiers, repository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Tipe customer baru tanpa ubah service.py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Tambah "student" di DISCOUNTS (discounts.py), service.py tidak disentuh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Unit test tanpa database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test_service.py memakai InMemoryOrderRepository + FakeNotifier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1C4587"/>
                          </a:solidFill>
                          <a:latin typeface="Inter"/>
                        </a:rPr>
                        <a:t>pytest hijau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434343"/>
                          </a:solidFill>
                          <a:latin typeface="Inter"/>
                        </a:rPr>
                        <a:t>pytest -v → 4 passed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390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71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Hands-on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Alur Request Setelah Refactor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481328"/>
            <a:ext cx="45720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Dot 5"/>
          <p:cNvSpPr/>
          <p:nvPr/>
        </p:nvSpPr>
        <p:spPr>
          <a:xfrm>
            <a:off x="731520" y="1559052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ot 6"/>
          <p:cNvSpPr/>
          <p:nvPr/>
        </p:nvSpPr>
        <p:spPr>
          <a:xfrm>
            <a:off x="868680" y="1559052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t 7"/>
          <p:cNvSpPr/>
          <p:nvPr/>
        </p:nvSpPr>
        <p:spPr>
          <a:xfrm>
            <a:off x="1005840" y="1559052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8"/>
          <p:cNvSpPr txBox="1"/>
          <p:nvPr/>
        </p:nvSpPr>
        <p:spPr>
          <a:xfrm>
            <a:off x="1170432" y="1490472"/>
            <a:ext cx="393192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AEB8C4"/>
                </a:solidFill>
                <a:latin typeface="Inconsolata"/>
              </a:rPr>
              <a:t>latihan/main.py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19072"/>
            <a:ext cx="4572000" cy="950976"/>
          </a:xfrm>
          <a:prstGeom prst="roundRect">
            <a:avLst>
              <a:gd name="adj" fmla="val 1923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8" name="Code 11"/>
          <p:cNvSpPr txBox="1"/>
          <p:nvPr/>
        </p:nvSpPr>
        <p:spPr>
          <a:xfrm>
            <a:off x="621792" y="1719072"/>
            <a:ext cx="4572000" cy="950976"/>
          </a:xfrm>
          <a:prstGeom prst="rect">
            <a:avLst/>
          </a:prstGeom>
          <a:noFill/>
        </p:spPr>
        <p:txBody>
          <a:bodyPr wrap="none" lIns="146304" tIns="91440" rIns="146304" bIns="54864">
            <a:spAutoFit/>
          </a:bodyPr>
          <a:lstStyle/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9C97A"/>
                </a:solidFill>
                <a:latin typeface="Inconsolata"/>
              </a:rPr>
              <a:t>@app.post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A5D6A7"/>
                </a:solidFill>
                <a:latin typeface="Inconsolata"/>
              </a:rPr>
              <a:t>"/orders"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status_code=</a:t>
            </a:r>
            <a:r>
              <a:rPr sz="650" i="0">
                <a:solidFill>
                  <a:srgbClr val="F9C97A"/>
                </a:solidFill>
                <a:latin typeface="Inconsolata"/>
              </a:rPr>
              <a:t>201</a:t>
            </a:r>
            <a:r>
              <a:rPr sz="650" i="0">
                <a:solidFill>
                  <a:srgbClr val="E6EDF3"/>
                </a:solidFill>
                <a:latin typeface="Inconsolata"/>
              </a:rPr>
              <a:t>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FF8E6E"/>
                </a:solidFill>
                <a:latin typeface="Inconsolata"/>
              </a:rPr>
              <a:t>def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82B1FF"/>
                </a:solidFill>
                <a:latin typeface="Inconsolata"/>
              </a:rPr>
              <a:t>create_order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(payload: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service: </a:t>
            </a:r>
            <a:r>
              <a:rPr sz="650" i="0">
                <a:solidFill>
                  <a:srgbClr val="7FDBCA"/>
                </a:solidFill>
                <a:latin typeface="Inconsolata"/>
              </a:rPr>
              <a:t>OrderService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= </a:t>
            </a:r>
            <a:r>
              <a:rPr sz="650" i="0">
                <a:solidFill>
                  <a:srgbClr val="7FDBCA"/>
                </a:solidFill>
                <a:latin typeface="Inconsolata"/>
              </a:rPr>
              <a:t>Depends</a:t>
            </a:r>
            <a:r>
              <a:rPr sz="650" i="0">
                <a:solidFill>
                  <a:srgbClr val="E6EDF3"/>
                </a:solidFill>
                <a:latin typeface="Inconsolata"/>
              </a:rPr>
              <a:t>(get_order_service)):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try</a:t>
            </a:r>
            <a:r>
              <a:rPr sz="650" i="0">
                <a:solidFill>
                  <a:srgbClr val="E6EDF3"/>
                </a:solidFill>
                <a:latin typeface="Inconsolata"/>
              </a:rPr>
              <a:t>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items = [i.model_dump() </a:t>
            </a:r>
            <a:r>
              <a:rPr sz="650" i="0">
                <a:solidFill>
                  <a:srgbClr val="FF8E6E"/>
                </a:solidFill>
                <a:latin typeface="Inconsolata"/>
              </a:rPr>
              <a:t>for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i </a:t>
            </a:r>
            <a:r>
              <a:rPr sz="650" i="0">
                <a:solidFill>
                  <a:srgbClr val="FF8E6E"/>
                </a:solidFill>
                <a:latin typeface="Inconsolata"/>
              </a:rPr>
              <a:t>in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payload.items]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return</a:t>
            </a:r>
            <a:r>
              <a:rPr sz="650" i="0">
                <a:solidFill>
                  <a:srgbClr val="E6EDF3"/>
                </a:solidFill>
                <a:latin typeface="Inconsolata"/>
              </a:rPr>
              <a:t> service.place_order(payload.customer, payload.customer_type, items)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except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ValueError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FF8E6E"/>
                </a:solidFill>
                <a:latin typeface="Inconsolata"/>
              </a:rPr>
              <a:t>as</a:t>
            </a:r>
            <a:r>
              <a:rPr sz="650" i="0">
                <a:solidFill>
                  <a:srgbClr val="E6EDF3"/>
                </a:solidFill>
                <a:latin typeface="Inconsolata"/>
              </a:rPr>
              <a:t> e:</a:t>
            </a:r>
          </a:p>
          <a:p>
            <a:pPr>
              <a:lnSpc>
                <a:spcPct val="102564"/>
              </a:lnSpc>
              <a:spcAft>
                <a:spcPts val="0"/>
              </a:spcAft>
            </a:pPr>
            <a:r>
              <a:rPr sz="650" i="0">
                <a:solidFill>
                  <a:srgbClr val="E6EDF3"/>
                </a:solidFill>
                <a:latin typeface="Inconsolata"/>
              </a:rPr>
              <a:t>        </a:t>
            </a:r>
            <a:r>
              <a:rPr sz="650" i="0">
                <a:solidFill>
                  <a:srgbClr val="FF8E6E"/>
                </a:solidFill>
                <a:latin typeface="Inconsolata"/>
              </a:rPr>
              <a:t>raise</a:t>
            </a:r>
            <a:r>
              <a:rPr sz="650" i="0">
                <a:solidFill>
                  <a:srgbClr val="E6EDF3"/>
                </a:solidFill>
                <a:latin typeface="Inconsolata"/>
              </a:rPr>
              <a:t> </a:t>
            </a:r>
            <a:r>
              <a:rPr sz="650" i="0">
                <a:solidFill>
                  <a:srgbClr val="7FDBCA"/>
                </a:solidFill>
                <a:latin typeface="Inconsolata"/>
              </a:rPr>
              <a:t>HTTPException</a:t>
            </a:r>
            <a:r>
              <a:rPr sz="650" i="0">
                <a:solidFill>
                  <a:srgbClr val="E6EDF3"/>
                </a:solidFill>
                <a:latin typeface="Inconsolata"/>
              </a:rPr>
              <a:t>(</a:t>
            </a:r>
            <a:r>
              <a:rPr sz="650" i="0">
                <a:solidFill>
                  <a:srgbClr val="F9C97A"/>
                </a:solidFill>
                <a:latin typeface="Inconsolata"/>
              </a:rPr>
              <a:t>400</a:t>
            </a:r>
            <a:r>
              <a:rPr sz="650" i="0">
                <a:solidFill>
                  <a:srgbClr val="E6EDF3"/>
                </a:solidFill>
                <a:latin typeface="Inconsolata"/>
              </a:rPr>
              <a:t>, </a:t>
            </a:r>
            <a:r>
              <a:rPr sz="650" i="0">
                <a:solidFill>
                  <a:srgbClr val="C3A6FF"/>
                </a:solidFill>
                <a:latin typeface="Inconsolata"/>
              </a:rPr>
              <a:t>str</a:t>
            </a:r>
            <a:r>
              <a:rPr sz="650" i="0">
                <a:solidFill>
                  <a:srgbClr val="E6EDF3"/>
                </a:solidFill>
                <a:latin typeface="Inconsolata"/>
              </a:rPr>
              <a:t>(e))</a:t>
            </a:r>
          </a:p>
        </p:txBody>
      </p:sp>
      <p:sp>
        <p:nvSpPr>
          <p:cNvPr id="29" name="Box 12"/>
          <p:cNvSpPr/>
          <p:nvPr/>
        </p:nvSpPr>
        <p:spPr>
          <a:xfrm>
            <a:off x="5486400" y="1554480"/>
            <a:ext cx="2999232" cy="384048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POST /orders  (main.py)</a:t>
            </a:r>
          </a:p>
        </p:txBody>
      </p:sp>
      <p:sp>
        <p:nvSpPr>
          <p:cNvPr id="30" name="Box 13"/>
          <p:cNvSpPr/>
          <p:nvPr/>
        </p:nvSpPr>
        <p:spPr>
          <a:xfrm>
            <a:off x="5486400" y="2167128"/>
            <a:ext cx="2999232" cy="384048"/>
          </a:xfrm>
          <a:prstGeom prst="roundRect">
            <a:avLst>
              <a:gd name="adj" fmla="val 28571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Inter"/>
              </a:rPr>
              <a:t>OrderService.place_order</a:t>
            </a:r>
          </a:p>
        </p:txBody>
      </p:sp>
      <p:cxnSp>
        <p:nvCxnSpPr>
          <p:cNvPr id="31" name="Arrow 14"/>
          <p:cNvCxnSpPr/>
          <p:nvPr/>
        </p:nvCxnSpPr>
        <p:spPr>
          <a:xfrm>
            <a:off x="6986016" y="1938528"/>
            <a:ext cx="0" cy="22860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Box 15"/>
          <p:cNvSpPr/>
          <p:nvPr/>
        </p:nvSpPr>
        <p:spPr>
          <a:xfrm>
            <a:off x="5486400" y="2779776"/>
            <a:ext cx="2999232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get_discount()  -&gt; Strategy</a:t>
            </a:r>
          </a:p>
        </p:txBody>
      </p:sp>
      <p:cxnSp>
        <p:nvCxnSpPr>
          <p:cNvPr id="33" name="Arrow 16"/>
          <p:cNvCxnSpPr/>
          <p:nvPr/>
        </p:nvCxnSpPr>
        <p:spPr>
          <a:xfrm>
            <a:off x="6986016" y="2551176"/>
            <a:ext cx="0" cy="22860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Box 17"/>
          <p:cNvSpPr/>
          <p:nvPr/>
        </p:nvSpPr>
        <p:spPr>
          <a:xfrm>
            <a:off x="5486400" y="3392424"/>
            <a:ext cx="2999232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repo.add()  -&gt; Repository</a:t>
            </a:r>
          </a:p>
        </p:txBody>
      </p:sp>
      <p:cxnSp>
        <p:nvCxnSpPr>
          <p:cNvPr id="35" name="Arrow 18"/>
          <p:cNvCxnSpPr/>
          <p:nvPr/>
        </p:nvCxnSpPr>
        <p:spPr>
          <a:xfrm>
            <a:off x="6986016" y="3163824"/>
            <a:ext cx="0" cy="22860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Box 19"/>
          <p:cNvSpPr/>
          <p:nvPr/>
        </p:nvSpPr>
        <p:spPr>
          <a:xfrm>
            <a:off x="5486400" y="4005072"/>
            <a:ext cx="2999232" cy="384048"/>
          </a:xfrm>
          <a:prstGeom prst="roundRect">
            <a:avLst>
              <a:gd name="adj" fmla="val 28571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 i="0">
                <a:solidFill>
                  <a:srgbClr val="1C4587"/>
                </a:solidFill>
                <a:latin typeface="Inter"/>
              </a:rPr>
              <a:t>notifier.send()  -&gt; Factory</a:t>
            </a:r>
          </a:p>
        </p:txBody>
      </p:sp>
      <p:cxnSp>
        <p:nvCxnSpPr>
          <p:cNvPr id="37" name="Arrow 20"/>
          <p:cNvCxnSpPr/>
          <p:nvPr/>
        </p:nvCxnSpPr>
        <p:spPr>
          <a:xfrm>
            <a:off x="6986016" y="3776472"/>
            <a:ext cx="0" cy="22860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21"/>
          <p:cNvSpPr txBox="1"/>
          <p:nvPr/>
        </p:nvSpPr>
        <p:spPr>
          <a:xfrm>
            <a:off x="621792" y="2743200"/>
            <a:ext cx="45720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 i="0">
                <a:solidFill>
                  <a:srgbClr val="1C4587"/>
                </a:solidFill>
                <a:latin typeface="Inter"/>
              </a:rPr>
              <a:t>Hasilnya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1" i="0">
                <a:solidFill>
                  <a:srgbClr val="434343"/>
                </a:solidFill>
                <a:latin typeface="Inter"/>
              </a:rPr>
              <a:t>Mudah dites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service dites dengan repository in-memory dan notifier palsu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1" i="0">
                <a:solidFill>
                  <a:srgbClr val="434343"/>
                </a:solidFill>
                <a:latin typeface="Inter"/>
              </a:rPr>
              <a:t>Mudah dikembangkan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tipe customer baru cukup di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discounts.py</a:t>
            </a:r>
            <a:r>
              <a:rPr sz="950" b="0" i="0">
                <a:solidFill>
                  <a:srgbClr val="434343"/>
                </a:solidFill>
                <a:latin typeface="Inter"/>
              </a:rPr>
              <a:t>, channel baru cukup di </a:t>
            </a:r>
            <a:r>
              <a:rPr sz="950" b="0" i="0">
                <a:solidFill>
                  <a:srgbClr val="B5482A"/>
                </a:solidFill>
                <a:latin typeface="Inconsolata"/>
              </a:rPr>
              <a:t>notifiers.py</a:t>
            </a:r>
          </a:p>
          <a:p>
            <a:pPr marL="182880" indent="-182880" algn="l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b="1" i="0">
                <a:solidFill>
                  <a:srgbClr val="434343"/>
                </a:solidFill>
                <a:latin typeface="Inter"/>
              </a:rPr>
              <a:t>Mudah dimaintain</a:t>
            </a:r>
            <a:r>
              <a:rPr sz="950" b="0" i="0">
                <a:solidFill>
                  <a:srgbClr val="434343"/>
                </a:solidFill>
                <a:latin typeface="Inter"/>
              </a:rPr>
              <a:t>: setiap file punya satu tugas</a:t>
            </a:r>
          </a:p>
        </p:txBody>
      </p:sp>
    </p:spTree>
    <p:extLst>
      <p:ext uri="{BB962C8B-B14F-4D97-AF65-F5344CB8AC3E}">
        <p14:creationId xmlns:p14="http://schemas.microsoft.com/office/powerpoint/2010/main" val="414750425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72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1">
                <a:solidFill>
                  <a:srgbClr val="E0764F"/>
                </a:solidFill>
                <a:latin typeface="Inter"/>
              </a:rPr>
              <a:t>Penutup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0" i="0">
                <a:solidFill>
                  <a:srgbClr val="1C4587"/>
                </a:solidFill>
                <a:latin typeface="Work Sans ExtraBold"/>
              </a:rPr>
              <a:t>Rangkuman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3" name="Text 4"/>
          <p:cNvSpPr txBox="1"/>
          <p:nvPr/>
        </p:nvSpPr>
        <p:spPr>
          <a:xfrm>
            <a:off x="758952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Factory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Pembuatan object dikumpulkan di satu tempat, yaitu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create_notifier()</a:t>
            </a:r>
          </a:p>
        </p:txBody>
      </p:sp>
      <p:sp>
        <p:nvSpPr>
          <p:cNvPr id="25" name="Box 6"/>
          <p:cNvSpPr/>
          <p:nvPr/>
        </p:nvSpPr>
        <p:spPr>
          <a:xfrm>
            <a:off x="3291840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Text 7"/>
          <p:cNvSpPr txBox="1"/>
          <p:nvPr/>
        </p:nvSpPr>
        <p:spPr>
          <a:xfrm>
            <a:off x="3429000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Singleton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429000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Satu object dipakai bersama, ditulis dengan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@lru_cache</a:t>
            </a:r>
          </a:p>
        </p:txBody>
      </p:sp>
      <p:sp>
        <p:nvSpPr>
          <p:cNvPr id="28" name="Box 9"/>
          <p:cNvSpPr/>
          <p:nvPr/>
        </p:nvSpPr>
        <p:spPr>
          <a:xfrm>
            <a:off x="5961888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9" name="Text 10"/>
          <p:cNvSpPr txBox="1"/>
          <p:nvPr/>
        </p:nvSpPr>
        <p:spPr>
          <a:xfrm>
            <a:off x="6099048" y="164592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Strategy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6099048" y="196596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Tiap aturan diskon jadi class sendiri, tinggal pilih yang dipakai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2" name="Text 13"/>
          <p:cNvSpPr txBox="1"/>
          <p:nvPr/>
        </p:nvSpPr>
        <p:spPr>
          <a:xfrm>
            <a:off x="758952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Repository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758952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Akses data dibungkus, bisa diganti in-memory</a:t>
            </a:r>
          </a:p>
        </p:txBody>
      </p:sp>
      <p:sp>
        <p:nvSpPr>
          <p:cNvPr id="34" name="Box 15"/>
          <p:cNvSpPr/>
          <p:nvPr/>
        </p:nvSpPr>
        <p:spPr>
          <a:xfrm>
            <a:off x="3291840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5" name="Text 16"/>
          <p:cNvSpPr txBox="1"/>
          <p:nvPr/>
        </p:nvSpPr>
        <p:spPr>
          <a:xfrm>
            <a:off x="3429000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Service Layer</a:t>
            </a:r>
          </a:p>
        </p:txBody>
      </p:sp>
      <p:sp>
        <p:nvSpPr>
          <p:cNvPr id="36" name="Text 17"/>
          <p:cNvSpPr txBox="1"/>
          <p:nvPr/>
        </p:nvSpPr>
        <p:spPr>
          <a:xfrm>
            <a:off x="3429000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Business logic lepas dari HTTP &amp; database</a:t>
            </a:r>
          </a:p>
        </p:txBody>
      </p:sp>
      <p:sp>
        <p:nvSpPr>
          <p:cNvPr id="37" name="Box 18"/>
          <p:cNvSpPr/>
          <p:nvPr/>
        </p:nvSpPr>
        <p:spPr>
          <a:xfrm>
            <a:off x="5961888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8" name="Text 19"/>
          <p:cNvSpPr txBox="1"/>
          <p:nvPr/>
        </p:nvSpPr>
        <p:spPr>
          <a:xfrm>
            <a:off x="6099048" y="3200400"/>
            <a:ext cx="22494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1C4587"/>
                </a:solidFill>
                <a:latin typeface="Inter"/>
              </a:rPr>
              <a:t>Pattern dan fitur Python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6099048" y="3520440"/>
            <a:ext cx="2249424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434343"/>
                </a:solidFill>
                <a:latin typeface="Inter"/>
              </a:rPr>
              <a:t>Design pattern ditulis memakai fitur Python seperti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dict</a:t>
            </a:r>
            <a:r>
              <a:rPr sz="1000" b="0" i="0">
                <a:solidFill>
                  <a:srgbClr val="434343"/>
                </a:solidFill>
                <a:latin typeface="Inter"/>
              </a:rPr>
              <a:t>,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class</a:t>
            </a:r>
            <a:r>
              <a:rPr sz="1000" b="0" i="0">
                <a:solidFill>
                  <a:srgbClr val="434343"/>
                </a:solidFill>
                <a:latin typeface="Inter"/>
              </a:rPr>
              <a:t>, dan </a:t>
            </a:r>
            <a:r>
              <a:rPr sz="1000" b="0" i="0">
                <a:solidFill>
                  <a:srgbClr val="B5482A"/>
                </a:solidFill>
                <a:latin typeface="Inconsolata"/>
              </a:rPr>
              <a:t>@lru_cache</a:t>
            </a:r>
          </a:p>
        </p:txBody>
      </p:sp>
    </p:spTree>
    <p:extLst>
      <p:ext uri="{BB962C8B-B14F-4D97-AF65-F5344CB8AC3E}">
        <p14:creationId xmlns:p14="http://schemas.microsoft.com/office/powerpoint/2010/main" val="29028674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g2907dbd872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43401" y="4399825"/>
            <a:ext cx="244986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907dbd8723_0_0"/>
          <p:cNvSpPr txBox="1"/>
          <p:nvPr/>
        </p:nvSpPr>
        <p:spPr>
          <a:xfrm>
            <a:off x="843350" y="1097280"/>
            <a:ext cx="49770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" sz="3000" b="0" i="0" u="none" strike="noStrike" cap="none">
                <a:solidFill>
                  <a:srgbClr val="FFFFFF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Source Code</a:t>
            </a:r>
            <a:endParaRPr sz="3000" b="0" i="0" u="none" strike="noStrike" cap="none">
              <a:solidFill>
                <a:srgbClr val="FFFFFF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255" name="Google Shape;255;g2907dbd8723_0_0"/>
          <p:cNvSpPr txBox="1"/>
          <p:nvPr/>
        </p:nvSpPr>
        <p:spPr>
          <a:xfrm>
            <a:off x="1230650" y="1934520"/>
            <a:ext cx="192024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3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Sesi 1</a:t>
            </a:r>
            <a:endParaRPr sz="1500" b="0" i="1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g2907dbd8723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73</a:t>
            </a:fld>
            <a:endParaRPr/>
          </a:p>
        </p:txBody>
      </p:sp>
      <p:pic>
        <p:nvPicPr>
          <p:cNvPr id="257" name="Google Shape;257;g2907dbd8723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54775" y="4399825"/>
            <a:ext cx="284713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2907dbd8723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05899" y="4399825"/>
            <a:ext cx="198637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g2907dbd8723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28695" y="4399825"/>
            <a:ext cx="20194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g2907dbd8723_0_0"/>
          <p:cNvSpPr txBox="1"/>
          <p:nvPr/>
        </p:nvSpPr>
        <p:spPr>
          <a:xfrm>
            <a:off x="123065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2907dbd8723_0_0"/>
          <p:cNvSpPr txBox="1"/>
          <p:nvPr/>
        </p:nvSpPr>
        <p:spPr>
          <a:xfrm>
            <a:off x="3088375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2907dbd8723_0_0"/>
          <p:cNvSpPr txBox="1"/>
          <p:nvPr/>
        </p:nvSpPr>
        <p:spPr>
          <a:xfrm>
            <a:off x="494610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2907dbd8723_0_0"/>
          <p:cNvSpPr txBox="1"/>
          <p:nvPr/>
        </p:nvSpPr>
        <p:spPr>
          <a:xfrm>
            <a:off x="6704525" y="4338875"/>
            <a:ext cx="1423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 Indonesia</a:t>
            </a:r>
            <a:endParaRPr sz="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g2907dbd8723_0_0"/>
          <p:cNvCxnSpPr/>
          <p:nvPr/>
        </p:nvCxnSpPr>
        <p:spPr>
          <a:xfrm>
            <a:off x="3063240" y="2160270"/>
            <a:ext cx="914400" cy="9600"/>
          </a:xfrm>
          <a:prstGeom prst="straightConnector1">
            <a:avLst/>
          </a:prstGeom>
          <a:noFill/>
          <a:ln w="19050" cap="flat" cmpd="sng">
            <a:solidFill>
              <a:srgbClr val="FFF5D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5" name="Google Shape;265;g2907dbd8723_0_0">
            <a:hlinkClick r:id="rId7"/>
          </p:cNvPr>
          <p:cNvSpPr txBox="1"/>
          <p:nvPr/>
        </p:nvSpPr>
        <p:spPr>
          <a:xfrm>
            <a:off x="4206240" y="1934520"/>
            <a:ext cx="402336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b="0" i="1" u="sng" strike="noStrike" cap="non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github.com/bagusedghar/fastapi-intermediate</a:t>
            </a:r>
            <a:endParaRPr sz="1500" b="0" i="1" u="sng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7316940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10234</Words>
  <Application>Microsoft Office PowerPoint</Application>
  <PresentationFormat>On-screen Show (16:9)</PresentationFormat>
  <Paragraphs>1534</Paragraphs>
  <Slides>73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Work Sans ExtraBold</vt:lpstr>
      <vt:lpstr>Work Sans Medium</vt:lpstr>
      <vt:lpstr>Arial</vt:lpstr>
      <vt:lpstr>Inter</vt:lpstr>
      <vt:lpstr>Inconsolata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Bagus Edghar</cp:lastModifiedBy>
  <cp:revision>30</cp:revision>
  <dcterms:modified xsi:type="dcterms:W3CDTF">2026-10-26T01:33:16Z</dcterms:modified>
</cp:coreProperties>
</file>