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17"/>
    <p:sldId id="286" r:id="rId16"/>
    <p:sldId id="287" r:id="rId15"/>
    <p:sldId id="288" r:id="rId14"/>
    <p:sldId id="289" r:id="rId13"/>
    <p:sldId id="290" r:id="rId12"/>
    <p:sldId id="291" r:id="rId11"/>
    <p:sldId id="292" r:id="rId10"/>
    <p:sldId id="293" r:id="rId9"/>
    <p:sldId id="294" r:id="rId8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276" r:id="rId26"/>
  </p:sldIdLst>
  <p:sldSz cy="5143500" cx="9144000"/>
  <p:notesSz cx="6858000" cy="9144000"/>
  <p:embeddedFontLst>
    <p:embeddedFont>
      <p:font typeface="Inter"/>
      <p:regular r:id="rId27"/>
      <p:bold r:id="rId28"/>
    </p:embeddedFont>
    <p:embeddedFont>
      <p:font typeface="Work Sans Medium"/>
      <p:regular r:id="rId29"/>
      <p:bold r:id="rId30"/>
      <p:italic r:id="rId31"/>
      <p:boldItalic r:id="rId32"/>
    </p:embeddedFont>
    <p:embeddedFont>
      <p:font typeface="Work Sa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suxx245f/qKiEmR3PX6YRe0tI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6.xml"/><Relationship Id="rId13" Type="http://schemas.openxmlformats.org/officeDocument/2006/relationships/slide" Target="slides/slide15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30.xml"/><Relationship Id="rId27" Type="http://schemas.openxmlformats.org/officeDocument/2006/relationships/font" Target="fonts/Inter-regular.fntdata"/><Relationship Id="rId28" Type="http://schemas.openxmlformats.org/officeDocument/2006/relationships/font" Target="fonts/Inter-bold.fntdata"/><Relationship Id="rId29" Type="http://schemas.openxmlformats.org/officeDocument/2006/relationships/font" Target="fonts/WorkSansMedium-regular.fntdata"/><Relationship Id="rId30" Type="http://schemas.openxmlformats.org/officeDocument/2006/relationships/font" Target="fonts/WorkSansMedium-bold.fntdata"/><Relationship Id="rId31" Type="http://schemas.openxmlformats.org/officeDocument/2006/relationships/font" Target="fonts/WorkSansMedium-italic.fntdata"/><Relationship Id="rId32" Type="http://schemas.openxmlformats.org/officeDocument/2006/relationships/font" Target="fonts/WorkSansMedium-boldItalic.fntdata"/><Relationship Id="rId33" Type="http://schemas.openxmlformats.org/officeDocument/2006/relationships/font" Target="fonts/WorkSansExtraBold-bold.fntdata"/><Relationship Id="rId34" Type="http://schemas.openxmlformats.org/officeDocument/2006/relationships/font" Target="fonts/WorkSansExtraBold-boldItalic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42ffe4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442ffe4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Peserta hands-on, jawaban sudah ada di folder after/.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7dbd87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907dbd87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15150"/>
            <a:ext cx="9190446" cy="51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206026" cy="51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 1">
  <p:cSld name="TITLE_2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2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7175"/>
            <a:ext cx="9204623" cy="5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350" y="-6375"/>
            <a:ext cx="9160668" cy="51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" name="Google Shape;51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59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0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 b="34000" l="0" r="0" t="31469"/>
          <a:stretch/>
        </p:blipFill>
        <p:spPr>
          <a:xfrm>
            <a:off x="134750" y="4589275"/>
            <a:ext cx="1410576" cy="34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colab.research.google.com/github/FTDS-learning-materials/phase-2/blob/master/w2/P2W2D1PM%20-%20Data%20Ethics%20&amp;%20Data%20Validation.ipynb" TargetMode="External"/><Relationship Id="rId8" Type="http://schemas.openxmlformats.org/officeDocument/2006/relationships/hyperlink" Target="https://github.com/bagusedghar/fastapi-intermediate/tree/main/sesi-01-design-patter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63050" y="2010750"/>
            <a:ext cx="82581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>
                <a:solidFill>
                  <a:srgbClr val="F0663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Python Design Patterns for Backend</a:t>
            </a:r>
            <a:endParaRPr b="0" i="0" sz="3500" u="none" cap="none" strike="noStrike">
              <a:solidFill>
                <a:srgbClr val="F0663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63050" y="3157225"/>
            <a:ext cx="731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Intermediate Backend Developer with FastAPI  -  Sesi 1</a:t>
            </a:r>
            <a:endParaRPr b="0" i="0" sz="1500" u="none" cap="none" strike="noStrike">
              <a:solidFill>
                <a:schemeClr val="dk2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42ffe4c8e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g2442ffe4c8e_0_0"/>
          <p:cNvSpPr txBox="1"/>
          <p:nvPr/>
        </p:nvSpPr>
        <p:spPr>
          <a:xfrm>
            <a:off x="310675" y="249275"/>
            <a:ext cx="4456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1D3D7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Contents</a:t>
            </a:r>
            <a:endParaRPr b="0" i="0" sz="2300" u="none" cap="none" strike="noStrike">
              <a:solidFill>
                <a:srgbClr val="1D3D7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93" name="Text 1"/>
          <p:cNvSpPr txBox="1"/>
          <p:nvPr/>
        </p:nvSpPr>
        <p:spPr>
          <a:xfrm>
            <a:off x="548640" y="1143000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Empat Pattern Dasar</a:t>
            </a:r>
          </a:p>
        </p:txBody>
      </p:sp>
      <p:cxnSp>
        <p:nvCxnSpPr>
          <p:cNvPr id="94" name="Arrow 2"/>
          <p:cNvCxnSpPr/>
          <p:nvPr/>
        </p:nvCxnSpPr>
        <p:spPr>
          <a:xfrm>
            <a:off x="6318504" y="1325880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 3"/>
          <p:cNvSpPr txBox="1"/>
          <p:nvPr/>
        </p:nvSpPr>
        <p:spPr>
          <a:xfrm>
            <a:off x="8266175" y="1143000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07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48640" y="1527048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Service Layer</a:t>
            </a:r>
          </a:p>
        </p:txBody>
      </p:sp>
      <p:cxnSp>
        <p:nvCxnSpPr>
          <p:cNvPr id="97" name="Arrow 5"/>
          <p:cNvCxnSpPr/>
          <p:nvPr/>
        </p:nvCxnSpPr>
        <p:spPr>
          <a:xfrm>
            <a:off x="6318504" y="1709928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 6"/>
          <p:cNvSpPr txBox="1"/>
          <p:nvPr/>
        </p:nvSpPr>
        <p:spPr>
          <a:xfrm>
            <a:off x="8266175" y="1527048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21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548640" y="1911095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Refactor Order API</a:t>
            </a:r>
          </a:p>
        </p:txBody>
      </p:sp>
      <p:cxnSp>
        <p:nvCxnSpPr>
          <p:cNvPr id="100" name="Arrow 8"/>
          <p:cNvCxnSpPr/>
          <p:nvPr/>
        </p:nvCxnSpPr>
        <p:spPr>
          <a:xfrm>
            <a:off x="6318504" y="2093976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9"/>
          <p:cNvSpPr txBox="1"/>
          <p:nvPr/>
        </p:nvSpPr>
        <p:spPr>
          <a:xfrm>
            <a:off x="8266175" y="1911095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Sesi 1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Learning Outcome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Box 4"/>
          <p:cNvSpPr/>
          <p:nvPr/>
        </p:nvSpPr>
        <p:spPr>
          <a:xfrm>
            <a:off x="758952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1170432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Membandingkan pattern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Factory, Singleton, Strategy, Repository: kapan dipakai, apa trade-off-nya.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Box 8"/>
          <p:cNvSpPr/>
          <p:nvPr/>
        </p:nvSpPr>
        <p:spPr>
          <a:xfrm>
            <a:off x="3429000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840480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Memisahkan logic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3429000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Business logic dipisah dari persistence logic lewat Repository &amp; Service Layer.</a:t>
            </a:r>
          </a:p>
        </p:txBody>
      </p:sp>
      <p:sp>
        <p:nvSpPr>
          <p:cNvPr id="30" name="Box 11"/>
          <p:cNvSpPr/>
          <p:nvPr/>
        </p:nvSpPr>
        <p:spPr>
          <a:xfrm>
            <a:off x="5961888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Box 12"/>
          <p:cNvSpPr/>
          <p:nvPr/>
        </p:nvSpPr>
        <p:spPr>
          <a:xfrm>
            <a:off x="6099048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510527" y="1709928"/>
            <a:ext cx="1883664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Refactor FastAPI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6099048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Mengubah modul FastAPI supaya mudah dites, mudah dikembangkan fiturnya, dan mudah dimaintain.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Studi Kasus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Order API Sederhana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4592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i="0" b="1">
                <a:solidFill>
                  <a:srgbClr val="FFFFFF"/>
                </a:solidFill>
                <a:latin typeface="Inter"/>
              </a:rPr>
              <a:t>Terima order</a:t>
            </a:r>
          </a:p>
        </p:txBody>
      </p:sp>
      <p:sp>
        <p:nvSpPr>
          <p:cNvPr id="23" name="Box 4"/>
          <p:cNvSpPr/>
          <p:nvPr/>
        </p:nvSpPr>
        <p:spPr>
          <a:xfrm>
            <a:off x="2633472" y="164592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i="0" b="1">
                <a:solidFill>
                  <a:srgbClr val="1C4587"/>
                </a:solidFill>
                <a:latin typeface="Inter"/>
              </a:rPr>
              <a:t>Hitung diskon</a:t>
            </a:r>
          </a:p>
        </p:txBody>
      </p:sp>
      <p:cxnSp>
        <p:nvCxnSpPr>
          <p:cNvPr id="24" name="Arrow 5"/>
          <p:cNvCxnSpPr/>
          <p:nvPr/>
        </p:nvCxnSpPr>
        <p:spPr>
          <a:xfrm>
            <a:off x="2359152" y="1901952"/>
            <a:ext cx="274320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 6"/>
          <p:cNvSpPr/>
          <p:nvPr/>
        </p:nvSpPr>
        <p:spPr>
          <a:xfrm>
            <a:off x="4645152" y="164592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i="0" b="1">
                <a:solidFill>
                  <a:srgbClr val="1C4587"/>
                </a:solidFill>
                <a:latin typeface="Inter"/>
              </a:rPr>
              <a:t>Simpan ke DB</a:t>
            </a:r>
          </a:p>
        </p:txBody>
      </p:sp>
      <p:cxnSp>
        <p:nvCxnSpPr>
          <p:cNvPr id="26" name="Arrow 7"/>
          <p:cNvCxnSpPr/>
          <p:nvPr/>
        </p:nvCxnSpPr>
        <p:spPr>
          <a:xfrm>
            <a:off x="4370832" y="1901952"/>
            <a:ext cx="274320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 8"/>
          <p:cNvSpPr/>
          <p:nvPr/>
        </p:nvSpPr>
        <p:spPr>
          <a:xfrm>
            <a:off x="6656832" y="164592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i="0" b="1">
                <a:solidFill>
                  <a:srgbClr val="1C4587"/>
                </a:solidFill>
                <a:latin typeface="Inter"/>
              </a:rPr>
              <a:t>Kirim notifikasi</a:t>
            </a:r>
          </a:p>
        </p:txBody>
      </p:sp>
      <p:cxnSp>
        <p:nvCxnSpPr>
          <p:cNvPr id="28" name="Arrow 9"/>
          <p:cNvCxnSpPr/>
          <p:nvPr/>
        </p:nvCxnSpPr>
        <p:spPr>
          <a:xfrm>
            <a:off x="6382512" y="1901952"/>
            <a:ext cx="274320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10"/>
          <p:cNvSpPr txBox="1"/>
          <p:nvPr/>
        </p:nvSpPr>
        <p:spPr>
          <a:xfrm>
            <a:off x="621792" y="2377440"/>
            <a:ext cx="38404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Business logic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B5482A"/>
                </a:solidFill>
                <a:latin typeface="Consolas"/>
              </a:rPr>
              <a:t>regular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tanpa diskon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B5482A"/>
                </a:solidFill>
                <a:latin typeface="Consolas"/>
              </a:rPr>
              <a:t>member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diskon 5%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B5482A"/>
                </a:solidFill>
                <a:latin typeface="Consolas"/>
              </a:rPr>
              <a:t>vip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diskon 10%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Notifikasi via email atau SMS (diatur di config)</a:t>
            </a:r>
          </a:p>
        </p:txBody>
      </p:sp>
      <p:sp>
        <p:nvSpPr>
          <p:cNvPr id="30" name="Box 11"/>
          <p:cNvSpPr/>
          <p:nvPr/>
        </p:nvSpPr>
        <p:spPr>
          <a:xfrm>
            <a:off x="4663440" y="2377440"/>
            <a:ext cx="3822191" cy="2240280"/>
          </a:xfrm>
          <a:prstGeom prst="roundRect">
            <a:avLst>
              <a:gd name="adj" fmla="val 4897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2"/>
          <p:cNvSpPr txBox="1"/>
          <p:nvPr/>
        </p:nvSpPr>
        <p:spPr>
          <a:xfrm>
            <a:off x="4800600" y="2468880"/>
            <a:ext cx="354787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Kondisi awal kodenya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4800600" y="2788920"/>
            <a:ext cx="3547872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Semua ditulis di </a:t>
            </a:r>
            <a:r>
              <a:rPr sz="1000" i="0" b="1">
                <a:solidFill>
                  <a:srgbClr val="434343"/>
                </a:solidFill>
                <a:latin typeface="Inter"/>
              </a:rPr>
              <a:t>satu endpoint</a:t>
            </a:r>
            <a:r>
              <a:rPr sz="1000" i="0" b="0">
                <a:solidFill>
                  <a:srgbClr val="434343"/>
                </a:solidFill>
                <a:latin typeface="Inter"/>
              </a:rPr>
              <a:t>: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query SQL langsung di route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diskon pakai if/elif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pilih notifikasi pakai if/elif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config dibaca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os.getenv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di tengah kode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Pengantar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Design Pattern Itu Apa?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7863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0">
                <a:solidFill>
                  <a:srgbClr val="434343"/>
                </a:solidFill>
                <a:latin typeface="Inter"/>
              </a:rPr>
              <a:t>Solusi umum untuk masalah desain kode yang sering muncul. Bukan library, bukan framework, tapi cara menyusun kode yang sudah terbukti.</a:t>
            </a:r>
          </a:p>
        </p:txBody>
      </p:sp>
      <p:sp>
        <p:nvSpPr>
          <p:cNvPr id="23" name="Box 4"/>
          <p:cNvSpPr/>
          <p:nvPr/>
        </p:nvSpPr>
        <p:spPr>
          <a:xfrm>
            <a:off x="621792" y="2240280"/>
            <a:ext cx="2523744" cy="1600200"/>
          </a:xfrm>
          <a:prstGeom prst="roundRect">
            <a:avLst>
              <a:gd name="adj" fmla="val 6857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4" name="Text 5"/>
          <p:cNvSpPr txBox="1"/>
          <p:nvPr/>
        </p:nvSpPr>
        <p:spPr>
          <a:xfrm>
            <a:off x="758952" y="23317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Creational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651760"/>
            <a:ext cx="224942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Cara </a:t>
            </a:r>
            <a:r>
              <a:rPr sz="1000" i="0" b="1">
                <a:solidFill>
                  <a:srgbClr val="434343"/>
                </a:solidFill>
                <a:latin typeface="Inter"/>
              </a:rPr>
              <a:t>membuat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object.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/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Factory, Singleton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2240280"/>
            <a:ext cx="2523744" cy="1600200"/>
          </a:xfrm>
          <a:prstGeom prst="roundRect">
            <a:avLst>
              <a:gd name="adj" fmla="val 6857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Text 8"/>
          <p:cNvSpPr txBox="1"/>
          <p:nvPr/>
        </p:nvSpPr>
        <p:spPr>
          <a:xfrm>
            <a:off x="3429000" y="23317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Behavioral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429000" y="2651760"/>
            <a:ext cx="224942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Cara object </a:t>
            </a:r>
            <a:r>
              <a:rPr sz="1000" i="0" b="1">
                <a:solidFill>
                  <a:srgbClr val="434343"/>
                </a:solidFill>
                <a:latin typeface="Inter"/>
              </a:rPr>
              <a:t>berperilaku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dan bisa ditukar.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/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Strategy</a:t>
            </a:r>
          </a:p>
        </p:txBody>
      </p:sp>
      <p:sp>
        <p:nvSpPr>
          <p:cNvPr id="29" name="Box 10"/>
          <p:cNvSpPr/>
          <p:nvPr/>
        </p:nvSpPr>
        <p:spPr>
          <a:xfrm>
            <a:off x="5961888" y="2240280"/>
            <a:ext cx="2523744" cy="1600200"/>
          </a:xfrm>
          <a:prstGeom prst="roundRect">
            <a:avLst>
              <a:gd name="adj" fmla="val 6857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1"/>
          <p:cNvSpPr txBox="1"/>
          <p:nvPr/>
        </p:nvSpPr>
        <p:spPr>
          <a:xfrm>
            <a:off x="6099048" y="23317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Architectural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6099048" y="2651760"/>
            <a:ext cx="224942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Cara </a:t>
            </a:r>
            <a:r>
              <a:rPr sz="1000" i="0" b="1">
                <a:solidFill>
                  <a:srgbClr val="434343"/>
                </a:solidFill>
                <a:latin typeface="Inter"/>
              </a:rPr>
              <a:t>membagi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aplikasi jadi beberapa lapisan.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/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Repository, Service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Empat Pattern Dasar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Factory, Singleton, Strategy, dan Repository: kapan dipakai dan bagaimana trade-off-nya.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Factory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Factory?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Satu function/class yang tugasnya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membuat object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 Pemanggil cukup bilang mau yang mana, tidak perlu tahu class aslinya.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Menghilangkan if/elif pembuatan object yang tersebar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Tambah jenis baru cukup di satu tempat</a:t>
            </a:r>
          </a:p>
        </p:txBody>
      </p:sp>
      <p:sp>
        <p:nvSpPr>
          <p:cNvPr id="23" name="Box 4"/>
          <p:cNvSpPr/>
          <p:nvPr/>
        </p:nvSpPr>
        <p:spPr>
          <a:xfrm>
            <a:off x="5029200" y="1600200"/>
            <a:ext cx="15544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place_order()</a:t>
            </a:r>
          </a:p>
        </p:txBody>
      </p:sp>
      <p:sp>
        <p:nvSpPr>
          <p:cNvPr id="24" name="Box 5"/>
          <p:cNvSpPr/>
          <p:nvPr/>
        </p:nvSpPr>
        <p:spPr>
          <a:xfrm>
            <a:off x="6812280" y="1600200"/>
            <a:ext cx="15544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cancel_order()</a:t>
            </a:r>
          </a:p>
        </p:txBody>
      </p:sp>
      <p:sp>
        <p:nvSpPr>
          <p:cNvPr id="25" name="Box 6"/>
          <p:cNvSpPr/>
          <p:nvPr/>
        </p:nvSpPr>
        <p:spPr>
          <a:xfrm>
            <a:off x="5486400" y="2468880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create_notifier("email")</a:t>
            </a:r>
          </a:p>
        </p:txBody>
      </p:sp>
      <p:cxnSp>
        <p:nvCxnSpPr>
          <p:cNvPr id="26" name="Arrow 7"/>
          <p:cNvCxnSpPr/>
          <p:nvPr/>
        </p:nvCxnSpPr>
        <p:spPr>
          <a:xfrm>
            <a:off x="5806440" y="2011680"/>
            <a:ext cx="502920" cy="4572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row 8"/>
          <p:cNvCxnSpPr/>
          <p:nvPr/>
        </p:nvCxnSpPr>
        <p:spPr>
          <a:xfrm flipH="1">
            <a:off x="7132320" y="2011680"/>
            <a:ext cx="457200" cy="4572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4937760" y="342900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EmailNotifier</a:t>
            </a:r>
          </a:p>
        </p:txBody>
      </p:sp>
      <p:cxnSp>
        <p:nvCxnSpPr>
          <p:cNvPr id="29" name="Arrow 10"/>
          <p:cNvCxnSpPr/>
          <p:nvPr/>
        </p:nvCxnSpPr>
        <p:spPr>
          <a:xfrm flipH="1">
            <a:off x="5486400" y="2926080"/>
            <a:ext cx="1207008" cy="50292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6126480" y="342900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SmsNotifier</a:t>
            </a:r>
          </a:p>
        </p:txBody>
      </p:sp>
      <p:cxnSp>
        <p:nvCxnSpPr>
          <p:cNvPr id="31" name="Arrow 12"/>
          <p:cNvCxnSpPr/>
          <p:nvPr/>
        </p:nvCxnSpPr>
        <p:spPr>
          <a:xfrm flipH="1">
            <a:off x="6675120" y="2926080"/>
            <a:ext cx="18288" cy="50292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x 13"/>
          <p:cNvSpPr/>
          <p:nvPr/>
        </p:nvSpPr>
        <p:spPr>
          <a:xfrm>
            <a:off x="7315200" y="342900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WhatsApp...</a:t>
            </a:r>
          </a:p>
        </p:txBody>
      </p:sp>
      <p:cxnSp>
        <p:nvCxnSpPr>
          <p:cNvPr id="33" name="Arrow 14"/>
          <p:cNvCxnSpPr/>
          <p:nvPr/>
        </p:nvCxnSpPr>
        <p:spPr>
          <a:xfrm>
            <a:off x="6693408" y="2926080"/>
            <a:ext cx="1170432" cy="50292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Factory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If/Elif di Mana-mana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01-factory/before.py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EmailNotifier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elif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"sms"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SmsNotifier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else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"Channel tidak dikenal"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send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f"Order #{order_id} dibuat"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cancel_order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if/elif yang sama, hasil copy-paste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EmailNotifier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elif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"sms"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SmsNotifier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Logic pembuatan object di-copy ke banyak function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Tambah WhatsApp = edit semua if/elif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Gampang lupa satu tempat, jadi bug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Factory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Satu Tempat untuk Membuat Object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01-factory/after.py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7FDBCA"/>
                </a:solidFill>
                <a:latin typeface="Consolas"/>
              </a:rPr>
              <a:t>NOTIFIERS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EmailNotifier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"sms"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SmsNotifier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"whatsapp"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WhatsAppNotifier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channel baru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create_notifier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if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not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in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NOTIFIERS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"Channel tidak dikenal"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NOTIFIERS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create_notifier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f"Order #{order_id} dibuat"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cancel_order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create_notifier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f"Order #{order_id} batal"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If/elif hilang, diganti dict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Tambah channel = 1 class + 1 baris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place_order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&amp;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cancel_order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tidak perlu disentuh lagi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Singleton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Singleton?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Memastikan sebuah object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hanya dibuat sekali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dan semua bagian aplikasi memakai object yang sama.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Object yang cukup dibuat sekali lalu dipakai bersama, misalnya config aplikasi atau koneksi database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Semua bagian aplikasi membaca nilai yang sama</a:t>
            </a:r>
          </a:p>
        </p:txBody>
      </p:sp>
      <p:sp>
        <p:nvSpPr>
          <p:cNvPr id="23" name="Box 4"/>
          <p:cNvSpPr/>
          <p:nvPr/>
        </p:nvSpPr>
        <p:spPr>
          <a:xfrm>
            <a:off x="4937760" y="169164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connect_db()</a:t>
            </a:r>
          </a:p>
        </p:txBody>
      </p:sp>
      <p:cxnSp>
        <p:nvCxnSpPr>
          <p:cNvPr id="24" name="Arrow 5"/>
          <p:cNvCxnSpPr/>
          <p:nvPr/>
        </p:nvCxnSpPr>
        <p:spPr>
          <a:xfrm>
            <a:off x="5486400" y="2103120"/>
            <a:ext cx="1234440" cy="5029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 6"/>
          <p:cNvSpPr/>
          <p:nvPr/>
        </p:nvSpPr>
        <p:spPr>
          <a:xfrm>
            <a:off x="6126480" y="169164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notify()</a:t>
            </a:r>
          </a:p>
        </p:txBody>
      </p:sp>
      <p:cxnSp>
        <p:nvCxnSpPr>
          <p:cNvPr id="26" name="Arrow 7"/>
          <p:cNvCxnSpPr/>
          <p:nvPr/>
        </p:nvCxnSpPr>
        <p:spPr>
          <a:xfrm>
            <a:off x="6675120" y="2103120"/>
            <a:ext cx="45720" cy="5029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 8"/>
          <p:cNvSpPr/>
          <p:nvPr/>
        </p:nvSpPr>
        <p:spPr>
          <a:xfrm>
            <a:off x="7315200" y="1691640"/>
            <a:ext cx="10972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route /orders</a:t>
            </a:r>
          </a:p>
        </p:txBody>
      </p:sp>
      <p:cxnSp>
        <p:nvCxnSpPr>
          <p:cNvPr id="28" name="Arrow 9"/>
          <p:cNvCxnSpPr/>
          <p:nvPr/>
        </p:nvCxnSpPr>
        <p:spPr>
          <a:xfrm flipH="1">
            <a:off x="6720840" y="2103120"/>
            <a:ext cx="1143000" cy="5029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x 10"/>
          <p:cNvSpPr/>
          <p:nvPr/>
        </p:nvSpPr>
        <p:spPr>
          <a:xfrm>
            <a:off x="5760720" y="260604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i="0" b="1">
                <a:solidFill>
                  <a:srgbClr val="FFFFFF"/>
                </a:solidFill>
                <a:latin typeface="Inter"/>
              </a:rPr>
              <a:t>get_settings()</a:t>
            </a:r>
          </a:p>
        </p:txBody>
      </p:sp>
      <p:cxnSp>
        <p:nvCxnSpPr>
          <p:cNvPr id="30" name="Arrow 11"/>
          <p:cNvCxnSpPr/>
          <p:nvPr/>
        </p:nvCxnSpPr>
        <p:spPr>
          <a:xfrm>
            <a:off x="6720840" y="3063240"/>
            <a:ext cx="0" cy="41148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ox 12"/>
          <p:cNvSpPr/>
          <p:nvPr/>
        </p:nvSpPr>
        <p:spPr>
          <a:xfrm>
            <a:off x="5577840" y="34747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i="0" b="1">
                <a:solidFill>
                  <a:srgbClr val="FFFFFF"/>
                </a:solidFill>
                <a:latin typeface="Inter"/>
              </a:rPr>
              <a:t>Settings (1 object)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Singleton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Config Dibuat Berulang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02-singleton/before.py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__init__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print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"-&gt; membaca config..."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database_url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getenv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"DATABASE_URL"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"..."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notification_channel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getenv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connect_db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object baru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send_notification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object baru lagi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False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Config dibaca ulang setiap dipanggil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Tiap bagian pegang object berbeda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Kalau yang dibuat itu koneksi DB, boros resource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Singleton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Cukup @lru_cache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02-singleton/after.py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from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functools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import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lru_cache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@lru_cache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hanya jalan sekali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connect_db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C3A6FF"/>
                </a:solidFill>
                <a:latin typeface="Consolas"/>
              </a:rPr>
              <a:t>print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database_url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send_notification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C3A6FF"/>
                </a:solidFill>
                <a:latin typeface="Consolas"/>
              </a:rPr>
              <a:t>print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notification_channel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di test: reset kalau butuh config lain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cache_clear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Config dibaca sekali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Semua bagian dapat object yang sama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Tetap bisa di-reset untuk test dengan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cache_clear()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Strategy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Strategy?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Setiap variasi aturan dibuat jadi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class sendiri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dengan method yang sama, sehingga bisa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ditukar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tanpa mengubah kode pemakainya.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Aturan yang sering berubah/bertambah (diskon, ongkir, pajak)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Tiap aturan bisa dites sendiri</a:t>
            </a:r>
          </a:p>
        </p:txBody>
      </p:sp>
      <p:sp>
        <p:nvSpPr>
          <p:cNvPr id="23" name="Box 4"/>
          <p:cNvSpPr/>
          <p:nvPr/>
        </p:nvSpPr>
        <p:spPr>
          <a:xfrm>
            <a:off x="5120640" y="169164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calculate_total(subtotal, strategy)</a:t>
            </a:r>
          </a:p>
        </p:txBody>
      </p:sp>
      <p:sp>
        <p:nvSpPr>
          <p:cNvPr id="24" name="Box 5"/>
          <p:cNvSpPr/>
          <p:nvPr/>
        </p:nvSpPr>
        <p:spPr>
          <a:xfrm>
            <a:off x="4937760" y="2743200"/>
            <a:ext cx="841248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NoDiscount</a:t>
            </a:r>
          </a:p>
        </p:txBody>
      </p:sp>
      <p:cxnSp>
        <p:nvCxnSpPr>
          <p:cNvPr id="25" name="Arrow 6"/>
          <p:cNvCxnSpPr/>
          <p:nvPr/>
        </p:nvCxnSpPr>
        <p:spPr>
          <a:xfrm flipV="1">
            <a:off x="5349240" y="2148840"/>
            <a:ext cx="1371600" cy="59436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ox 7"/>
          <p:cNvSpPr/>
          <p:nvPr/>
        </p:nvSpPr>
        <p:spPr>
          <a:xfrm>
            <a:off x="5833872" y="2743200"/>
            <a:ext cx="841248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Percent 5</a:t>
            </a:r>
          </a:p>
        </p:txBody>
      </p:sp>
      <p:cxnSp>
        <p:nvCxnSpPr>
          <p:cNvPr id="27" name="Arrow 8"/>
          <p:cNvCxnSpPr/>
          <p:nvPr/>
        </p:nvCxnSpPr>
        <p:spPr>
          <a:xfrm flipV="1">
            <a:off x="6245352" y="2148840"/>
            <a:ext cx="475488" cy="59436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6729984" y="2743200"/>
            <a:ext cx="841248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Percent 10</a:t>
            </a:r>
          </a:p>
        </p:txBody>
      </p:sp>
      <p:cxnSp>
        <p:nvCxnSpPr>
          <p:cNvPr id="29" name="Arrow 10"/>
          <p:cNvCxnSpPr/>
          <p:nvPr/>
        </p:nvCxnSpPr>
        <p:spPr>
          <a:xfrm flipH="1" flipV="1">
            <a:off x="6720840" y="2148840"/>
            <a:ext cx="420624" cy="59436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7626096" y="2743200"/>
            <a:ext cx="841248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Student</a:t>
            </a:r>
          </a:p>
        </p:txBody>
      </p:sp>
      <p:cxnSp>
        <p:nvCxnSpPr>
          <p:cNvPr id="31" name="Arrow 12"/>
          <p:cNvCxnSpPr/>
          <p:nvPr/>
        </p:nvCxnSpPr>
        <p:spPr>
          <a:xfrm flipH="1" flipV="1">
            <a:off x="6720840" y="2148840"/>
            <a:ext cx="1316735" cy="59436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13"/>
          <p:cNvSpPr txBox="1"/>
          <p:nvPr/>
        </p:nvSpPr>
        <p:spPr>
          <a:xfrm>
            <a:off x="4937760" y="338328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Semua punya method </a:t>
            </a:r>
            <a:r>
              <a:rPr sz="900" i="0" b="0">
                <a:solidFill>
                  <a:srgbClr val="B5482A"/>
                </a:solidFill>
                <a:latin typeface="Consolas"/>
              </a:rPr>
              <a:t>discount(subtotal)</a:t>
            </a:r>
            <a:r>
              <a:rPr sz="900" i="0" b="0">
                <a:solidFill>
                  <a:srgbClr val="7A7A7A"/>
                </a:solidFill>
                <a:latin typeface="Inter"/>
              </a:rPr>
              <a:t>, jadi bisa dipasang yang mana saja.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Strategy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Semua Aturan di Satu Function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03-strategy/before.py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FF8E6E"/>
                </a:solidFill>
                <a:latin typeface="Consolas"/>
              </a:rPr>
              <a:t>def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82B1FF"/>
                </a:solidFill>
                <a:latin typeface="Consolas"/>
              </a:rPr>
              <a:t>calculate_total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,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if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A5D6A7"/>
                </a:solidFill>
                <a:latin typeface="Consolas"/>
              </a:rPr>
              <a:t>"regular"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elif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A5D6A7"/>
                </a:solidFill>
                <a:latin typeface="Consolas"/>
              </a:rPr>
              <a:t>"member"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*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5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elif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A5D6A7"/>
                </a:solidFill>
                <a:latin typeface="Consolas"/>
              </a:rPr>
              <a:t>"vip"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*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10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1">
                <a:solidFill>
                  <a:srgbClr val="8B98A8"/>
                </a:solidFill>
                <a:latin typeface="Consolas"/>
              </a:rPr>
              <a:t># elif "student": ...  &lt;- nambah terus di sini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else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raise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A5D6A7"/>
                </a:solidFill>
                <a:latin typeface="Consolas"/>
              </a:rPr>
              <a:t>"Tipe tidak dikenal"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-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discount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Function makin panjang tiap ada aturan baru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Ubah satu aturan berisiko merusak yang lain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Susah dites satu per satu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Strategy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Satu Class per Aturan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03-strategy/after.py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PercentDiscount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__init__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StudentDiscount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aturan baru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min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15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75_000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7FDBCA"/>
                </a:solidFill>
                <a:latin typeface="Consolas"/>
              </a:rPr>
              <a:t>DISCOUNTS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"regular"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NoDiscount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"member"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PercentDiscount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5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</a:t>
            </a:r>
            <a:r>
              <a:rPr sz="900" i="0">
                <a:solidFill>
                  <a:srgbClr val="A5D6A7"/>
                </a:solidFill>
                <a:latin typeface="Consolas"/>
              </a:rPr>
              <a:t>"vip"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PercentDiscount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"student"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StudentDiscount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calculate_total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strategy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strategy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Tambah aturan = tambah class,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calculate_total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tidak diubah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Tiap aturan kecil dan bisa dites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DISCOUNTS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sekaligus jadi factory sederhana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Repository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Repository?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Class yang membungkus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semua akses data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(query, insert, update). Kode lain cukup panggil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repo.add()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atau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repo.get()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Business logic tidak tahu data disimpan di mana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Database bisa diganti in-memory saat test</a:t>
            </a:r>
          </a:p>
        </p:txBody>
      </p:sp>
      <p:sp>
        <p:nvSpPr>
          <p:cNvPr id="23" name="Box 4"/>
          <p:cNvSpPr/>
          <p:nvPr/>
        </p:nvSpPr>
        <p:spPr>
          <a:xfrm>
            <a:off x="5486400" y="1645920"/>
            <a:ext cx="2468880" cy="411480"/>
          </a:xfrm>
          <a:prstGeom prst="roundRect">
            <a:avLst>
              <a:gd name="adj" fmla="val 2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place_order(repo, ...)</a:t>
            </a:r>
          </a:p>
        </p:txBody>
      </p:sp>
      <p:cxnSp>
        <p:nvCxnSpPr>
          <p:cNvPr id="24" name="Arrow 5"/>
          <p:cNvCxnSpPr/>
          <p:nvPr/>
        </p:nvCxnSpPr>
        <p:spPr>
          <a:xfrm>
            <a:off x="6720840" y="2057400"/>
            <a:ext cx="0" cy="32004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 6"/>
          <p:cNvSpPr/>
          <p:nvPr/>
        </p:nvSpPr>
        <p:spPr>
          <a:xfrm>
            <a:off x="5486400" y="237744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OrderRepository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add() · get()</a:t>
            </a:r>
          </a:p>
        </p:txBody>
      </p:sp>
      <p:sp>
        <p:nvSpPr>
          <p:cNvPr id="26" name="Box 7"/>
          <p:cNvSpPr/>
          <p:nvPr/>
        </p:nvSpPr>
        <p:spPr>
          <a:xfrm>
            <a:off x="4892040" y="3246120"/>
            <a:ext cx="1783080" cy="457200"/>
          </a:xfrm>
          <a:prstGeom prst="roundRect">
            <a:avLst>
              <a:gd name="adj" fmla="val 24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SqliteOrderRepository</a:t>
            </a:r>
          </a:p>
        </p:txBody>
      </p:sp>
      <p:sp>
        <p:nvSpPr>
          <p:cNvPr id="27" name="Box 8"/>
          <p:cNvSpPr/>
          <p:nvPr/>
        </p:nvSpPr>
        <p:spPr>
          <a:xfrm>
            <a:off x="6766560" y="3246120"/>
            <a:ext cx="1783080" cy="457200"/>
          </a:xfrm>
          <a:prstGeom prst="roundRect">
            <a:avLst>
              <a:gd name="adj" fmla="val 24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00" i="0" b="1">
                <a:solidFill>
                  <a:srgbClr val="1C4587"/>
                </a:solidFill>
                <a:latin typeface="Inter"/>
              </a:rPr>
              <a:t>InMemoryOrderRepository</a:t>
            </a:r>
          </a:p>
        </p:txBody>
      </p:sp>
      <p:cxnSp>
        <p:nvCxnSpPr>
          <p:cNvPr id="28" name="Arrow 9"/>
          <p:cNvCxnSpPr/>
          <p:nvPr/>
        </p:nvCxnSpPr>
        <p:spPr>
          <a:xfrm flipH="1">
            <a:off x="5760720" y="2834640"/>
            <a:ext cx="365760" cy="41148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rrow 10"/>
          <p:cNvCxnSpPr/>
          <p:nvPr/>
        </p:nvCxnSpPr>
        <p:spPr>
          <a:xfrm>
            <a:off x="7315200" y="2834640"/>
            <a:ext cx="365760" cy="41148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11"/>
          <p:cNvSpPr txBox="1"/>
          <p:nvPr/>
        </p:nvSpPr>
        <p:spPr>
          <a:xfrm>
            <a:off x="4937760" y="379476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i="0" b="0">
                <a:solidFill>
                  <a:srgbClr val="7A7A7A"/>
                </a:solidFill>
                <a:latin typeface="Inter"/>
              </a:rPr>
              <a:t>untuk aplikasi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6812280" y="379476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i="0" b="0">
                <a:solidFill>
                  <a:srgbClr val="7A7A7A"/>
                </a:solidFill>
                <a:latin typeface="Inter"/>
              </a:rPr>
              <a:t>untuk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Repository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Hitung dan Query Campur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04-repository/before.py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conn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sqlite3</a:t>
            </a:r>
            <a:r>
              <a:rPr sz="1000" i="0">
                <a:solidFill>
                  <a:srgbClr val="E6EDF3"/>
                </a:solidFill>
                <a:latin typeface="Consolas"/>
              </a:rPr>
              <a:t>.</a:t>
            </a:r>
            <a:r>
              <a:rPr sz="1000" i="0">
                <a:solidFill>
                  <a:srgbClr val="E6EDF3"/>
                </a:solidFill>
                <a:latin typeface="Consolas"/>
              </a:rPr>
              <a:t>connect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A5D6A7"/>
                </a:solidFill>
                <a:latin typeface="Consolas"/>
              </a:rPr>
              <a:t>"orders.db"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FF8E6E"/>
                </a:solidFill>
                <a:latin typeface="Consolas"/>
              </a:rPr>
              <a:t>def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1000" i="0">
                <a:solidFill>
                  <a:srgbClr val="E6EDF3"/>
                </a:solidFill>
                <a:latin typeface="Consolas"/>
              </a:rPr>
              <a:t>,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-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*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5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/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9C97A"/>
                </a:solidFill>
                <a:latin typeface="Consolas"/>
              </a:rPr>
              <a:t>100</a:t>
            </a:r>
            <a:r>
              <a:rPr sz="1000" i="0">
                <a:solidFill>
                  <a:srgbClr val="E6EDF3"/>
                </a:solidFill>
                <a:latin typeface="Consolas"/>
              </a:rPr>
              <a:t>     </a:t>
            </a:r>
            <a:r>
              <a:rPr sz="1000" i="1">
                <a:solidFill>
                  <a:srgbClr val="8B98A8"/>
                </a:solidFill>
                <a:latin typeface="Consolas"/>
              </a:rPr>
              <a:t># business logic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cur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conn</a:t>
            </a:r>
            <a:r>
              <a:rPr sz="1000" i="0">
                <a:solidFill>
                  <a:srgbClr val="E6EDF3"/>
                </a:solidFill>
                <a:latin typeface="Consolas"/>
              </a:rPr>
              <a:t>.</a:t>
            </a:r>
            <a:r>
              <a:rPr sz="100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E6EDF3"/>
                </a:solidFill>
                <a:latin typeface="Consolas"/>
              </a:rPr>
              <a:t>                          </a:t>
            </a:r>
            <a:r>
              <a:rPr sz="1000" i="1">
                <a:solidFill>
                  <a:srgbClr val="8B98A8"/>
                </a:solidFill>
                <a:latin typeface="Consolas"/>
              </a:rPr>
              <a:t># persistence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A5D6A7"/>
                </a:solidFill>
                <a:latin typeface="Consolas"/>
              </a:rPr>
              <a:t>"INSERT INTO orders (customer, total) VALUES (?, ?)"</a:t>
            </a:r>
            <a:r>
              <a:rPr sz="10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1000" i="0">
                <a:solidFill>
                  <a:srgbClr val="E6EDF3"/>
                </a:solidFill>
                <a:latin typeface="Consolas"/>
              </a:rPr>
              <a:t>,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  <a:r>
              <a:rPr sz="10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conn</a:t>
            </a:r>
            <a:r>
              <a:rPr sz="1000" i="0">
                <a:solidFill>
                  <a:srgbClr val="E6EDF3"/>
                </a:solidFill>
                <a:latin typeface="Consolas"/>
              </a:rPr>
              <a:t>.</a:t>
            </a:r>
            <a:r>
              <a:rPr sz="1000" i="0">
                <a:solidFill>
                  <a:srgbClr val="E6EDF3"/>
                </a:solidFill>
                <a:latin typeface="Consolas"/>
              </a:rPr>
              <a:t>commit</a:t>
            </a:r>
            <a:r>
              <a:rPr sz="1000" i="0">
                <a:solidFill>
                  <a:srgbClr val="E6EDF3"/>
                </a:solidFill>
                <a:latin typeface="Consolas"/>
              </a:rPr>
              <a:t>(</a:t>
            </a:r>
            <a:r>
              <a:rPr sz="10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cur</a:t>
            </a:r>
            <a:r>
              <a:rPr sz="1000" i="0">
                <a:solidFill>
                  <a:srgbClr val="E6EDF3"/>
                </a:solidFill>
                <a:latin typeface="Consolas"/>
              </a:rPr>
              <a:t>.</a:t>
            </a:r>
            <a:r>
              <a:rPr sz="1000" i="0">
                <a:solidFill>
                  <a:srgbClr val="E6EDF3"/>
                </a:solidFill>
                <a:latin typeface="Consolas"/>
              </a:rPr>
              <a:t>lastrowid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Mau tes hitung total saja tetap butuh database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Ganti ke PostgreSQL/ORM = bongkar function ini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SQL tersebar di banyak tempat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Repository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Akses Data Dibungkus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04-repository/after.py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SqliteOrderRepository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add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cur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conn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"INSERT ..."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conn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cur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lastrowid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InMemoryOrderRepository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__init__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rows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add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len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rows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+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rows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"total"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repo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-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5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/</a:t>
            </a:r>
            <a:r>
              <a:rPr sz="850" i="0">
                <a:solidFill>
                  <a:srgbClr val="E6EDF3"/>
                </a:solidFill>
                <a:latin typeface="Consolas"/>
              </a:rPr>
              <a:t>/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repo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add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place_order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tidak tahu soal SQL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Test pakai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InMemoryOrderRepository</a:t>
            </a:r>
            <a:r>
              <a:rPr sz="1000" i="0" b="0">
                <a:solidFill>
                  <a:srgbClr val="434343"/>
                </a:solidFill>
                <a:latin typeface="Inter"/>
              </a:rPr>
              <a:t>, cepat dan tanpa DB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Ganti database cukup buat repository baru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Rangkuman Bagian 1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Perbandingan &amp; Trade-off</a:t>
            </a:r>
          </a:p>
        </p:txBody>
      </p:sp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621792" y="1554480"/>
          <a:ext cx="7863840" cy="2514600"/>
        </p:xfrm>
        <a:graphic>
          <a:graphicData uri="http://schemas.openxmlformats.org/drawingml/2006/table">
            <a:tbl>
              <a:tblPr firstRow="1" bandRow="1"/>
              <a:tblGrid>
                <a:gridCol w="1097280"/>
                <a:gridCol w="2286000"/>
                <a:gridCol w="237744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Pattern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Masalah yang diselesaikan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Kapan dipakai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Trade-off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Factory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If/elif pembuatan object tersebar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Ada beberapa jenis object yang dipilih saat runtime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Tambah satu lapisan indirection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Singleton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Object yang sama dibuat berulang-ulang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Config aplikasi, koneksi database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Global state, perlu reset di test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Function penuh if/elif aturan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Aturan yang sering bertambah/berubah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Jumlah class bertambah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Repository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SQL campur business logic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Logic perlu dites tanpa DB, DB mungkin diganti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Kode tambahan untuk tiap entity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02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Service Layer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Memisahkan business logic dari HTTP dan dari persistence logic.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Service Layer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Service Layer?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Lapisan tempat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business logic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 Route tidak menghitung apa-apa, cukup memanggil service.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Business logic bisa dipakai dari mana saja (API, CLI, background job)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Bisa dites tanpa HTTP dan tanpa database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Aturan praktis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Service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tidak import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FastAPI maupun library database.</a:t>
            </a:r>
          </a:p>
        </p:txBody>
      </p:sp>
      <p:sp>
        <p:nvSpPr>
          <p:cNvPr id="23" name="Box 4"/>
          <p:cNvSpPr/>
          <p:nvPr/>
        </p:nvSpPr>
        <p:spPr>
          <a:xfrm>
            <a:off x="5394960" y="16002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Route  (HTTP request/response)</a:t>
            </a:r>
          </a:p>
        </p:txBody>
      </p:sp>
      <p:sp>
        <p:nvSpPr>
          <p:cNvPr id="24" name="Box 5"/>
          <p:cNvSpPr/>
          <p:nvPr/>
        </p:nvSpPr>
        <p:spPr>
          <a:xfrm>
            <a:off x="5394960" y="2350008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Service  (business logic)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6720840" y="2057400"/>
            <a:ext cx="0" cy="29260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ox 7"/>
          <p:cNvSpPr/>
          <p:nvPr/>
        </p:nvSpPr>
        <p:spPr>
          <a:xfrm>
            <a:off x="5394960" y="3099816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Repository  (akses data)</a:t>
            </a:r>
          </a:p>
        </p:txBody>
      </p:sp>
      <p:cxnSp>
        <p:nvCxnSpPr>
          <p:cNvPr id="27" name="Arrow 8"/>
          <p:cNvCxnSpPr/>
          <p:nvPr/>
        </p:nvCxnSpPr>
        <p:spPr>
          <a:xfrm>
            <a:off x="6720840" y="2807208"/>
            <a:ext cx="0" cy="29260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5394960" y="3849624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Database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6720840" y="3557016"/>
            <a:ext cx="0" cy="29260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Service Layer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Endpoint Mengerjakan Semuanya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05-service-layer/before.py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OrderIn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&lt;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10_000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raise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F9C97A"/>
                </a:solidFill>
                <a:latin typeface="Consolas"/>
              </a:rPr>
              <a:t>400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"Minimal order Rp10.000"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*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5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/</a:t>
            </a:r>
            <a:r>
              <a:rPr sz="950" i="0">
                <a:solidFill>
                  <a:srgbClr val="E6EDF3"/>
                </a:solidFill>
                <a:latin typeface="Consolas"/>
              </a:rPr>
              <a:t>/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{</a:t>
            </a:r>
            <a:r>
              <a:rPr sz="950" i="0">
                <a:solidFill>
                  <a:srgbClr val="A5D6A7"/>
                </a:solidFill>
                <a:latin typeface="Consolas"/>
              </a:rPr>
              <a:t>"id"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len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+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"total"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A5D6A7"/>
                </a:solidFill>
                <a:latin typeface="Consolas"/>
              </a:rPr>
              <a:t>"id"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f"[EMAIL] ke {payload.customer}: Order dibuat"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Business logic terkunci di HTTP handler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Tidak bisa dipakai ulang dari CLI/job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Testnya harus lewat request HTTP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Service Layer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Route simple, Service handle Business Logic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05-service-layer/after.py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tanpa import FastAPI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if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&lt;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10_000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BusinessError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"Minimal order Rp10.000"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-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5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/</a:t>
            </a:r>
            <a:r>
              <a:rPr sz="850" i="0">
                <a:solidFill>
                  <a:srgbClr val="E6EDF3"/>
                </a:solidFill>
                <a:latin typeface="Consolas"/>
              </a:rPr>
              <a:t>/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"id"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len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+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"total"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orders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"id"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F9C97A"/>
                </a:solidFill>
                <a:latin typeface="Consolas"/>
              </a:rPr>
              <a:t>201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OrderIn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try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BusinessError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as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F9C97A"/>
                </a:solidFill>
                <a:latin typeface="Consolas"/>
              </a:rPr>
              <a:t>400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hanya menghandle HTTP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Service bisa dipanggil langsung: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OrderService().place_order(...)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Error bisnis jadi exception biasa, route yang ubah ke HTTP 400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03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Refactor Order API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Gabungkan semua pattern ke satu aplikasi FastAPI kecil.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Refactor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Struktur Sebelum vs Sesudah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54480"/>
            <a:ext cx="23774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32204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32204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32204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63624"/>
            <a:ext cx="17373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06-refactor-order-api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92224"/>
            <a:ext cx="2377440" cy="1133856"/>
          </a:xfrm>
          <a:prstGeom prst="roundRect">
            <a:avLst>
              <a:gd name="adj" fmla="val 161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92224"/>
            <a:ext cx="2377440" cy="1133856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before/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main.py     # semuanya</a:t>
            </a:r>
          </a:p>
        </p:txBody>
      </p:sp>
      <p:cxnSp>
        <p:nvCxnSpPr>
          <p:cNvPr id="29" name="Arrow 12"/>
          <p:cNvCxnSpPr/>
          <p:nvPr/>
        </p:nvCxnSpPr>
        <p:spPr>
          <a:xfrm>
            <a:off x="3108960" y="2240280"/>
            <a:ext cx="457200" cy="0"/>
          </a:xfrm>
          <a:prstGeom prst="line">
            <a:avLst/>
          </a:prstGeom>
          <a:ln w="25400">
            <a:solidFill>
              <a:srgbClr val="E07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odeTab 14"/>
          <p:cNvSpPr/>
          <p:nvPr/>
        </p:nvSpPr>
        <p:spPr>
          <a:xfrm>
            <a:off x="3657600" y="1554480"/>
            <a:ext cx="482803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Dot 15"/>
          <p:cNvSpPr/>
          <p:nvPr/>
        </p:nvSpPr>
        <p:spPr>
          <a:xfrm>
            <a:off x="3767328" y="1632204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t 16"/>
          <p:cNvSpPr/>
          <p:nvPr/>
        </p:nvSpPr>
        <p:spPr>
          <a:xfrm>
            <a:off x="3904488" y="1632204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t 17"/>
          <p:cNvSpPr/>
          <p:nvPr/>
        </p:nvSpPr>
        <p:spPr>
          <a:xfrm>
            <a:off x="4041648" y="1632204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 18"/>
          <p:cNvSpPr txBox="1"/>
          <p:nvPr/>
        </p:nvSpPr>
        <p:spPr>
          <a:xfrm>
            <a:off x="4206240" y="1563624"/>
            <a:ext cx="418795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06-refactor-order-api</a:t>
            </a:r>
          </a:p>
        </p:txBody>
      </p:sp>
      <p:sp>
        <p:nvSpPr>
          <p:cNvPr id="35" name="CodeBg 20"/>
          <p:cNvSpPr/>
          <p:nvPr/>
        </p:nvSpPr>
        <p:spPr>
          <a:xfrm>
            <a:off x="3657600" y="1792224"/>
            <a:ext cx="4828032" cy="1499616"/>
          </a:xfrm>
          <a:prstGeom prst="roundRect">
            <a:avLst>
              <a:gd name="adj" fmla="val 1219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6" name="Code 21"/>
          <p:cNvSpPr txBox="1"/>
          <p:nvPr/>
        </p:nvSpPr>
        <p:spPr>
          <a:xfrm>
            <a:off x="3657600" y="1792224"/>
            <a:ext cx="4828032" cy="1499616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after/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main.py         # route + rakit komponen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config.py       # Singleton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notifiers.py    # Factory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discounts.py    # Strategy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repository.py   # Repository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service.py      # Service Layer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test_service.py # unit test</a:t>
            </a:r>
          </a:p>
        </p:txBody>
      </p:sp>
      <p:sp>
        <p:nvSpPr>
          <p:cNvPr id="37" name="Text 22"/>
          <p:cNvSpPr txBox="1"/>
          <p:nvPr/>
        </p:nvSpPr>
        <p:spPr>
          <a:xfrm>
            <a:off x="621792" y="310896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Response API sama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POST /orders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dan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GET /orders/{id}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tetap mengembalikan JSON yang sama persis.</a:t>
            </a:r>
          </a:p>
        </p:txBody>
      </p:sp>
      <p:sp>
        <p:nvSpPr>
          <p:cNvPr id="38" name="Box 23"/>
          <p:cNvSpPr/>
          <p:nvPr/>
        </p:nvSpPr>
        <p:spPr>
          <a:xfrm>
            <a:off x="3657600" y="3520440"/>
            <a:ext cx="4828032" cy="822960"/>
          </a:xfrm>
          <a:prstGeom prst="roundRect">
            <a:avLst>
              <a:gd name="adj" fmla="val 1333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9" name="Box 24"/>
          <p:cNvSpPr/>
          <p:nvPr/>
        </p:nvSpPr>
        <p:spPr>
          <a:xfrm>
            <a:off x="3767328" y="363016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i="0" b="1">
                <a:solidFill>
                  <a:srgbClr val="FFFFFF"/>
                </a:solidFill>
                <a:latin typeface="Inter"/>
              </a:rPr>
              <a:t>TIPS</a:t>
            </a:r>
          </a:p>
        </p:txBody>
      </p:sp>
      <p:sp>
        <p:nvSpPr>
          <p:cNvPr id="40" name="Text 25"/>
          <p:cNvSpPr txBox="1"/>
          <p:nvPr/>
        </p:nvSpPr>
        <p:spPr>
          <a:xfrm>
            <a:off x="4425696" y="3575304"/>
            <a:ext cx="3959352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file, satu tugas. Kalau aturan diskon berubah, kita tahu harus buka file mana.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Refactor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Alur Request Setelah Refactor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57200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93192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after/main.py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57200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57200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F9C97A"/>
                </a:solidFill>
                <a:latin typeface="Consolas"/>
              </a:rPr>
              <a:t>@lru_cache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FF8E6E"/>
                </a:solidFill>
                <a:latin typeface="Consolas"/>
              </a:rPr>
              <a:t>def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82B1FF"/>
                </a:solidFill>
                <a:latin typeface="Consolas"/>
              </a:rPr>
              <a:t>get_order_service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-</a:t>
            </a:r>
            <a:r>
              <a:rPr sz="800" i="0">
                <a:solidFill>
                  <a:srgbClr val="E6EDF3"/>
                </a:solidFill>
                <a:latin typeface="Consolas"/>
              </a:rPr>
              <a:t>&gt;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</a:t>
            </a:r>
            <a:r>
              <a:rPr sz="800" i="0">
                <a:solidFill>
                  <a:srgbClr val="E6EDF3"/>
                </a:solidFill>
                <a:latin typeface="Consolas"/>
              </a:rPr>
              <a:t>settings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get_settings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</a:t>
            </a:r>
            <a:r>
              <a:rPr sz="8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00" i="0">
                <a:solidFill>
                  <a:srgbClr val="E6EDF3"/>
                </a:solidFill>
                <a:latin typeface="Consolas"/>
              </a:rPr>
              <a:t>repo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7FDBCA"/>
                </a:solidFill>
                <a:latin typeface="Consolas"/>
              </a:rPr>
              <a:t>SqliteOrderRepository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settings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database_path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E6EDF3"/>
                </a:solidFill>
                <a:latin typeface="Consolas"/>
              </a:rPr>
              <a:t>create_notifier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settings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notification_channel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F9C97A"/>
                </a:solidFill>
                <a:latin typeface="Consolas"/>
              </a:rPr>
              <a:t>201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FF8E6E"/>
                </a:solidFill>
                <a:latin typeface="Consolas"/>
              </a:rPr>
              <a:t>def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OrderIn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         </a:t>
            </a:r>
            <a:r>
              <a:rPr sz="80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Depends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get_order_service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</a:t>
            </a:r>
            <a:r>
              <a:rPr sz="800" i="0">
                <a:solidFill>
                  <a:srgbClr val="FF8E6E"/>
                </a:solidFill>
                <a:latin typeface="Consolas"/>
              </a:rPr>
              <a:t>try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00" i="0">
                <a:solidFill>
                  <a:srgbClr val="E6EDF3"/>
                </a:solidFill>
                <a:latin typeface="Consolas"/>
              </a:rPr>
              <a:t>items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=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[</a:t>
            </a:r>
            <a:r>
              <a:rPr sz="800" i="0">
                <a:solidFill>
                  <a:srgbClr val="E6EDF3"/>
                </a:solidFill>
                <a:latin typeface="Consolas"/>
              </a:rPr>
              <a:t>i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model_dump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FF8E6E"/>
                </a:solidFill>
                <a:latin typeface="Consolas"/>
              </a:rPr>
              <a:t>for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i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FF8E6E"/>
                </a:solidFill>
                <a:latin typeface="Consolas"/>
              </a:rPr>
              <a:t>in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items</a:t>
            </a:r>
            <a:r>
              <a:rPr sz="80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place_order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                           </a:t>
            </a:r>
            <a:r>
              <a:rPr sz="80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800" i="0">
                <a:solidFill>
                  <a:srgbClr val="E6EDF3"/>
                </a:solidFill>
                <a:latin typeface="Consolas"/>
              </a:rPr>
              <a:t>.</a:t>
            </a:r>
            <a:r>
              <a:rPr sz="8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items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</a:t>
            </a:r>
            <a:r>
              <a:rPr sz="80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FF8E6E"/>
                </a:solidFill>
                <a:latin typeface="Consolas"/>
              </a:rPr>
              <a:t>as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E6EDF3"/>
                </a:solidFill>
                <a:latin typeface="Consolas"/>
              </a:rPr>
              <a:t>e</a:t>
            </a:r>
            <a:r>
              <a:rPr sz="8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00" i="0">
                <a:solidFill>
                  <a:srgbClr val="FF8E6E"/>
                </a:solidFill>
                <a:latin typeface="Consolas"/>
              </a:rPr>
              <a:t>raise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F9C97A"/>
                </a:solidFill>
                <a:latin typeface="Consolas"/>
              </a:rPr>
              <a:t>400</a:t>
            </a:r>
            <a:r>
              <a:rPr sz="800" i="0">
                <a:solidFill>
                  <a:srgbClr val="E6EDF3"/>
                </a:solidFill>
                <a:latin typeface="Consolas"/>
              </a:rPr>
              <a:t>,</a:t>
            </a:r>
            <a:r>
              <a:rPr sz="800" i="0">
                <a:solidFill>
                  <a:srgbClr val="E6EDF3"/>
                </a:solidFill>
                <a:latin typeface="Consolas"/>
              </a:rPr>
              <a:t> </a:t>
            </a:r>
            <a:r>
              <a:rPr sz="800" i="0">
                <a:solidFill>
                  <a:srgbClr val="C3A6FF"/>
                </a:solidFill>
                <a:latin typeface="Consolas"/>
              </a:rPr>
              <a:t>str</a:t>
            </a:r>
            <a:r>
              <a:rPr sz="800" i="0">
                <a:solidFill>
                  <a:srgbClr val="E6EDF3"/>
                </a:solidFill>
                <a:latin typeface="Consolas"/>
              </a:rPr>
              <a:t>(</a:t>
            </a:r>
            <a:r>
              <a:rPr sz="800" i="0">
                <a:solidFill>
                  <a:srgbClr val="E6EDF3"/>
                </a:solidFill>
                <a:latin typeface="Consolas"/>
              </a:rPr>
              <a:t>e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  <a:r>
              <a:rPr sz="8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486400" y="1554480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POST /orders  (main.py)</a:t>
            </a:r>
          </a:p>
        </p:txBody>
      </p:sp>
      <p:sp>
        <p:nvSpPr>
          <p:cNvPr id="30" name="Box 13"/>
          <p:cNvSpPr/>
          <p:nvPr/>
        </p:nvSpPr>
        <p:spPr>
          <a:xfrm>
            <a:off x="5486400" y="2167128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OrderService.place_order</a:t>
            </a:r>
          </a:p>
        </p:txBody>
      </p:sp>
      <p:cxnSp>
        <p:nvCxnSpPr>
          <p:cNvPr id="31" name="Arrow 14"/>
          <p:cNvCxnSpPr/>
          <p:nvPr/>
        </p:nvCxnSpPr>
        <p:spPr>
          <a:xfrm>
            <a:off x="6986016" y="1938528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x 15"/>
          <p:cNvSpPr/>
          <p:nvPr/>
        </p:nvSpPr>
        <p:spPr>
          <a:xfrm>
            <a:off x="5486400" y="2779776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get_discount()  -&gt; Strategy</a:t>
            </a:r>
          </a:p>
        </p:txBody>
      </p:sp>
      <p:cxnSp>
        <p:nvCxnSpPr>
          <p:cNvPr id="33" name="Arrow 16"/>
          <p:cNvCxnSpPr/>
          <p:nvPr/>
        </p:nvCxnSpPr>
        <p:spPr>
          <a:xfrm>
            <a:off x="6986016" y="2551176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ox 17"/>
          <p:cNvSpPr/>
          <p:nvPr/>
        </p:nvSpPr>
        <p:spPr>
          <a:xfrm>
            <a:off x="5486400" y="3392424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repo.add()  -&gt; Repository</a:t>
            </a:r>
          </a:p>
        </p:txBody>
      </p:sp>
      <p:cxnSp>
        <p:nvCxnSpPr>
          <p:cNvPr id="35" name="Arrow 18"/>
          <p:cNvCxnSpPr/>
          <p:nvPr/>
        </p:nvCxnSpPr>
        <p:spPr>
          <a:xfrm>
            <a:off x="6986016" y="3163824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ox 19"/>
          <p:cNvSpPr/>
          <p:nvPr/>
        </p:nvSpPr>
        <p:spPr>
          <a:xfrm>
            <a:off x="5486400" y="4005072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notifier.send()  -&gt; Factory</a:t>
            </a:r>
          </a:p>
        </p:txBody>
      </p:sp>
      <p:cxnSp>
        <p:nvCxnSpPr>
          <p:cNvPr id="37" name="Arrow 20"/>
          <p:cNvCxnSpPr/>
          <p:nvPr/>
        </p:nvCxnSpPr>
        <p:spPr>
          <a:xfrm>
            <a:off x="6986016" y="3776472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Refactor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Hasilnya: Mudah Dites &amp; Mudah Dikembangkan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57200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93192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after/test_service.py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57200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57200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FakeNotifier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__init__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sent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message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sent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append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to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message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test_vip_dapat_diskon_10_persen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InMemoryOrderRepository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      </a:t>
            </a:r>
            <a:r>
              <a:rPr sz="850" i="0">
                <a:solidFill>
                  <a:srgbClr val="7FDBCA"/>
                </a:solidFill>
                <a:latin typeface="Consolas"/>
              </a:rPr>
              <a:t>FakeNotifier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"vip"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"price"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500_000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"qty"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2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assert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"total"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900_000</a:t>
            </a:r>
          </a:p>
        </p:txBody>
      </p:sp>
      <p:sp>
        <p:nvSpPr>
          <p:cNvPr id="29" name="Box 12"/>
          <p:cNvSpPr/>
          <p:nvPr/>
        </p:nvSpPr>
        <p:spPr>
          <a:xfrm>
            <a:off x="5349240" y="1536192"/>
            <a:ext cx="3136392" cy="1463040"/>
          </a:xfrm>
          <a:prstGeom prst="roundRect">
            <a:avLst>
              <a:gd name="adj" fmla="val 75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5486400" y="1627632"/>
            <a:ext cx="286207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2E7D5B"/>
                </a:solidFill>
                <a:latin typeface="Inter"/>
              </a:rPr>
              <a:t>Mudah dites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5486400" y="1947672"/>
            <a:ext cx="2862072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Service dites pakai repository in-memory dan notifier palsu. Tanpa database, tanpa server.</a:t>
            </a:r>
          </a:p>
        </p:txBody>
      </p:sp>
      <p:sp>
        <p:nvSpPr>
          <p:cNvPr id="32" name="Box 15"/>
          <p:cNvSpPr/>
          <p:nvPr/>
        </p:nvSpPr>
        <p:spPr>
          <a:xfrm>
            <a:off x="5349240" y="3154680"/>
            <a:ext cx="3136392" cy="1508760"/>
          </a:xfrm>
          <a:prstGeom prst="roundRect">
            <a:avLst>
              <a:gd name="adj" fmla="val 7272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3" name="Text 16"/>
          <p:cNvSpPr txBox="1"/>
          <p:nvPr/>
        </p:nvSpPr>
        <p:spPr>
          <a:xfrm>
            <a:off x="5486400" y="3246120"/>
            <a:ext cx="286207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Mudah dikembangkan</a:t>
            </a:r>
          </a:p>
        </p:txBody>
      </p:sp>
      <p:sp>
        <p:nvSpPr>
          <p:cNvPr id="34" name="Text 17"/>
          <p:cNvSpPr txBox="1"/>
          <p:nvPr/>
        </p:nvSpPr>
        <p:spPr>
          <a:xfrm>
            <a:off x="5486400" y="3566160"/>
            <a:ext cx="2862072" cy="1005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Tipe customer baru cukup tambah di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discounts.py</a:t>
            </a:r>
            <a:r>
              <a:rPr sz="950" i="0" b="0">
                <a:solidFill>
                  <a:srgbClr val="434343"/>
                </a:solidFill>
                <a:latin typeface="Inter"/>
              </a:rPr>
              <a:t>. Channel baru cukup tambah di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notifiers.py</a:t>
            </a:r>
            <a:r>
              <a:rPr sz="950" i="0" b="0">
                <a:solidFill>
                  <a:srgbClr val="434343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Hands-on  ·  mulai dari 06-refactor-order-api/before/main.py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Refactor Order API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36192"/>
            <a:ext cx="3840480" cy="3127248"/>
          </a:xfrm>
          <a:prstGeom prst="roundRect">
            <a:avLst>
              <a:gd name="adj" fmla="val 3508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27632"/>
            <a:ext cx="35661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Kriteria selesai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47672"/>
            <a:ext cx="3566160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POST /orders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dan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GET /orders/{id}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tetap jalan dengan response yang sama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service.py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tidak import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fastapi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maupun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sqlite3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Tambah tipe customer baru tanpa mengubah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service.py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Unit test service jalan tanpa database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pytest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hijau</a:t>
            </a:r>
          </a:p>
        </p:txBody>
      </p:sp>
      <p:sp>
        <p:nvSpPr>
          <p:cNvPr id="25" name="CodeTab 7"/>
          <p:cNvSpPr/>
          <p:nvPr/>
        </p:nvSpPr>
        <p:spPr>
          <a:xfrm>
            <a:off x="4617720" y="1536192"/>
            <a:ext cx="386791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Dot 8"/>
          <p:cNvSpPr/>
          <p:nvPr/>
        </p:nvSpPr>
        <p:spPr>
          <a:xfrm>
            <a:off x="4727448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 9"/>
          <p:cNvSpPr/>
          <p:nvPr/>
        </p:nvSpPr>
        <p:spPr>
          <a:xfrm>
            <a:off x="4864608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 10"/>
          <p:cNvSpPr/>
          <p:nvPr/>
        </p:nvSpPr>
        <p:spPr>
          <a:xfrm>
            <a:off x="5001768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 11"/>
          <p:cNvSpPr txBox="1"/>
          <p:nvPr/>
        </p:nvSpPr>
        <p:spPr>
          <a:xfrm>
            <a:off x="5166359" y="1545336"/>
            <a:ext cx="322783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target struktur</a:t>
            </a:r>
          </a:p>
        </p:txBody>
      </p:sp>
      <p:sp>
        <p:nvSpPr>
          <p:cNvPr id="30" name="CodeBg 13"/>
          <p:cNvSpPr/>
          <p:nvPr/>
        </p:nvSpPr>
        <p:spPr>
          <a:xfrm>
            <a:off x="4617720" y="1773936"/>
            <a:ext cx="3867912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Code 14"/>
          <p:cNvSpPr txBox="1"/>
          <p:nvPr/>
        </p:nvSpPr>
        <p:spPr>
          <a:xfrm>
            <a:off x="4617720" y="1773936"/>
            <a:ext cx="3867912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after/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main.py          # route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config.py        # Singleton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notifiers.py     # Factory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discounts.py     # Strategy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repository.py    # Repository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service.py       # Service Layer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test_service.py  # unit test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Penutup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Rangkuman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Factory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Pembuatan object di satu tempat</a:t>
            </a:r>
          </a:p>
        </p:txBody>
      </p:sp>
      <p:sp>
        <p:nvSpPr>
          <p:cNvPr id="25" name="Box 6"/>
          <p:cNvSpPr/>
          <p:nvPr/>
        </p:nvSpPr>
        <p:spPr>
          <a:xfrm>
            <a:off x="3291840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Text 7"/>
          <p:cNvSpPr txBox="1"/>
          <p:nvPr/>
        </p:nvSpPr>
        <p:spPr>
          <a:xfrm>
            <a:off x="3429000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Singleton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3429000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object dipakai bersama,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@lru_cache</a:t>
            </a:r>
          </a:p>
        </p:txBody>
      </p:sp>
      <p:sp>
        <p:nvSpPr>
          <p:cNvPr id="28" name="Box 9"/>
          <p:cNvSpPr/>
          <p:nvPr/>
        </p:nvSpPr>
        <p:spPr>
          <a:xfrm>
            <a:off x="5961888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9" name="Text 10"/>
          <p:cNvSpPr txBox="1"/>
          <p:nvPr/>
        </p:nvSpPr>
        <p:spPr>
          <a:xfrm>
            <a:off x="6099048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Strategy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6099048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Tiap aturan diskon jadi class sendiri, tinggal pilih yang dipakai</a:t>
            </a:r>
          </a:p>
        </p:txBody>
      </p:sp>
      <p:sp>
        <p:nvSpPr>
          <p:cNvPr id="31" name="Box 12"/>
          <p:cNvSpPr/>
          <p:nvPr/>
        </p:nvSpPr>
        <p:spPr>
          <a:xfrm>
            <a:off x="621792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2" name="Text 13"/>
          <p:cNvSpPr txBox="1"/>
          <p:nvPr/>
        </p:nvSpPr>
        <p:spPr>
          <a:xfrm>
            <a:off x="758952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Repository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58952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Akses data dibungkus, bisa diganti in-memory</a:t>
            </a:r>
          </a:p>
        </p:txBody>
      </p:sp>
      <p:sp>
        <p:nvSpPr>
          <p:cNvPr id="34" name="Box 15"/>
          <p:cNvSpPr/>
          <p:nvPr/>
        </p:nvSpPr>
        <p:spPr>
          <a:xfrm>
            <a:off x="3291840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5" name="Text 16"/>
          <p:cNvSpPr txBox="1"/>
          <p:nvPr/>
        </p:nvSpPr>
        <p:spPr>
          <a:xfrm>
            <a:off x="3429000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Service Layer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3429000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Business logic lepas dari HTTP &amp; DB</a:t>
            </a:r>
          </a:p>
        </p:txBody>
      </p:sp>
      <p:sp>
        <p:nvSpPr>
          <p:cNvPr id="37" name="Box 18"/>
          <p:cNvSpPr/>
          <p:nvPr/>
        </p:nvSpPr>
        <p:spPr>
          <a:xfrm>
            <a:off x="5961888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 19"/>
          <p:cNvSpPr txBox="1"/>
          <p:nvPr/>
        </p:nvSpPr>
        <p:spPr>
          <a:xfrm>
            <a:off x="6099048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Hasilnya</a:t>
            </a:r>
          </a:p>
        </p:txBody>
      </p:sp>
      <p:sp>
        <p:nvSpPr>
          <p:cNvPr id="39" name="Text 20"/>
          <p:cNvSpPr txBox="1"/>
          <p:nvPr/>
        </p:nvSpPr>
        <p:spPr>
          <a:xfrm>
            <a:off x="6099048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Kode mudah dites, dikembangkan, dan dimaintain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907dbd872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401" y="4399825"/>
            <a:ext cx="24498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907dbd8723_0_0"/>
          <p:cNvSpPr txBox="1"/>
          <p:nvPr/>
        </p:nvSpPr>
        <p:spPr>
          <a:xfrm>
            <a:off x="843350" y="1097280"/>
            <a:ext cx="4977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Source Code</a:t>
            </a:r>
            <a:endParaRPr b="0" i="0" sz="3000" u="none" cap="none" strike="noStrike">
              <a:solidFill>
                <a:srgbClr val="FFFFF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255" name="Google Shape;255;g2907dbd8723_0_0"/>
          <p:cNvSpPr txBox="1"/>
          <p:nvPr/>
        </p:nvSpPr>
        <p:spPr>
          <a:xfrm>
            <a:off x="1230650" y="1934520"/>
            <a:ext cx="192024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Sesi 1</a:t>
            </a:r>
            <a:endParaRPr b="0" i="1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g2907dbd872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907dbd87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775" y="4399825"/>
            <a:ext cx="284713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07dbd872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899" y="4399825"/>
            <a:ext cx="198637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907dbd872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695" y="4399825"/>
            <a:ext cx="20194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907dbd8723_0_0"/>
          <p:cNvSpPr txBox="1"/>
          <p:nvPr/>
        </p:nvSpPr>
        <p:spPr>
          <a:xfrm>
            <a:off x="123065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07dbd8723_0_0"/>
          <p:cNvSpPr txBox="1"/>
          <p:nvPr/>
        </p:nvSpPr>
        <p:spPr>
          <a:xfrm>
            <a:off x="3088375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07dbd8723_0_0"/>
          <p:cNvSpPr txBox="1"/>
          <p:nvPr/>
        </p:nvSpPr>
        <p:spPr>
          <a:xfrm>
            <a:off x="494610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907dbd8723_0_0"/>
          <p:cNvSpPr txBox="1"/>
          <p:nvPr/>
        </p:nvSpPr>
        <p:spPr>
          <a:xfrm>
            <a:off x="6704525" y="4338875"/>
            <a:ext cx="14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 Indonesia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2907dbd8723_0_0"/>
          <p:cNvCxnSpPr/>
          <p:nvPr/>
        </p:nvCxnSpPr>
        <p:spPr>
          <a:xfrm>
            <a:off x="3063240" y="2160270"/>
            <a:ext cx="914400" cy="9600"/>
          </a:xfrm>
          <a:prstGeom prst="straightConnector1">
            <a:avLst/>
          </a:prstGeom>
          <a:noFill/>
          <a:ln cap="flat" cmpd="sng" w="19050">
            <a:solidFill>
              <a:srgbClr val="FFF5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2907dbd8723_0_0">
            <a:hlinkClick r:id="rId7"/>
          </p:cNvPr>
          <p:cNvSpPr txBox="1"/>
          <p:nvPr/>
        </p:nvSpPr>
        <p:spPr>
          <a:xfrm>
            <a:off x="4206240" y="1934520"/>
            <a:ext cx="402336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github.com/bagusedghar/fastapi-intermediate</a:t>
            </a:r>
            <a:endParaRPr b="0" i="1" sz="1500" u="sng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