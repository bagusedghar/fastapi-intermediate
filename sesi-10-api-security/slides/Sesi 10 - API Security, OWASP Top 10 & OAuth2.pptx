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87"/>
  </p:notesMasterIdLst>
  <p:sldIdLst>
    <p:sldId id="256" r:id="rId2"/>
    <p:sldId id="257" r:id="rId3"/>
    <p:sldId id="277" r:id="rId4"/>
    <p:sldId id="278" r:id="rId5"/>
    <p:sldId id="279" r:id="rId6"/>
    <p:sldId id="280" r:id="rId7"/>
    <p:sldId id="281" r:id="rId8"/>
    <p:sldId id="282" r:id="rId9"/>
    <p:sldId id="283" r:id="rId10"/>
    <p:sldId id="284" r:id="rId11"/>
    <p:sldId id="285" r:id="rId12"/>
    <p:sldId id="286" r:id="rId13"/>
    <p:sldId id="287" r:id="rId14"/>
    <p:sldId id="288" r:id="rId15"/>
    <p:sldId id="289" r:id="rId16"/>
    <p:sldId id="290" r:id="rId17"/>
    <p:sldId id="291" r:id="rId18"/>
    <p:sldId id="292" r:id="rId19"/>
    <p:sldId id="293" r:id="rId20"/>
    <p:sldId id="294" r:id="rId21"/>
    <p:sldId id="295" r:id="rId22"/>
    <p:sldId id="296" r:id="rId23"/>
    <p:sldId id="297" r:id="rId24"/>
    <p:sldId id="298" r:id="rId25"/>
    <p:sldId id="299" r:id="rId26"/>
    <p:sldId id="300" r:id="rId27"/>
    <p:sldId id="301" r:id="rId28"/>
    <p:sldId id="302" r:id="rId29"/>
    <p:sldId id="303" r:id="rId30"/>
    <p:sldId id="304" r:id="rId31"/>
    <p:sldId id="305" r:id="rId32"/>
    <p:sldId id="306" r:id="rId33"/>
    <p:sldId id="307" r:id="rId34"/>
    <p:sldId id="308" r:id="rId35"/>
    <p:sldId id="309" r:id="rId36"/>
    <p:sldId id="310" r:id="rId37"/>
    <p:sldId id="311" r:id="rId38"/>
    <p:sldId id="312" r:id="rId39"/>
    <p:sldId id="313" r:id="rId40"/>
    <p:sldId id="314" r:id="rId41"/>
    <p:sldId id="315" r:id="rId42"/>
    <p:sldId id="316" r:id="rId43"/>
    <p:sldId id="317" r:id="rId44"/>
    <p:sldId id="318" r:id="rId45"/>
    <p:sldId id="319" r:id="rId46"/>
    <p:sldId id="320" r:id="rId47"/>
    <p:sldId id="321" r:id="rId48"/>
    <p:sldId id="322" r:id="rId49"/>
    <p:sldId id="323" r:id="rId50"/>
    <p:sldId id="324" r:id="rId51"/>
    <p:sldId id="325" r:id="rId52"/>
    <p:sldId id="326" r:id="rId53"/>
    <p:sldId id="327" r:id="rId54"/>
    <p:sldId id="328" r:id="rId55"/>
    <p:sldId id="329" r:id="rId56"/>
    <p:sldId id="330" r:id="rId57"/>
    <p:sldId id="331" r:id="rId58"/>
    <p:sldId id="332" r:id="rId59"/>
    <p:sldId id="333" r:id="rId60"/>
    <p:sldId id="334" r:id="rId61"/>
    <p:sldId id="335" r:id="rId62"/>
    <p:sldId id="336" r:id="rId63"/>
    <p:sldId id="337" r:id="rId64"/>
    <p:sldId id="338" r:id="rId65"/>
    <p:sldId id="339" r:id="rId66"/>
    <p:sldId id="340" r:id="rId67"/>
    <p:sldId id="341" r:id="rId68"/>
    <p:sldId id="342" r:id="rId69"/>
    <p:sldId id="343" r:id="rId70"/>
    <p:sldId id="344" r:id="rId71"/>
    <p:sldId id="345" r:id="rId72"/>
    <p:sldId id="346" r:id="rId73"/>
    <p:sldId id="347" r:id="rId74"/>
    <p:sldId id="348" r:id="rId75"/>
    <p:sldId id="349" r:id="rId76"/>
    <p:sldId id="350" r:id="rId77"/>
    <p:sldId id="351" r:id="rId78"/>
    <p:sldId id="352" r:id="rId79"/>
    <p:sldId id="353" r:id="rId80"/>
    <p:sldId id="354" r:id="rId81"/>
    <p:sldId id="355" r:id="rId82"/>
    <p:sldId id="356" r:id="rId83"/>
    <p:sldId id="357" r:id="rId84"/>
    <p:sldId id="358" r:id="rId85"/>
    <p:sldId id="276" r:id="rId86"/>
  </p:sldIdLst>
  <p:sldSz cx="9144000" cy="5143500" type="screen16x9"/>
  <p:notesSz cx="6858000" cy="9144000"/>
  <p:embeddedFontLst>
    <p:embeddedFont>
      <p:font typeface="Inconsolata" pitchFamily="1" charset="0"/>
      <p:regular r:id="rId88"/>
      <p:bold r:id="rId89"/>
    </p:embeddedFont>
    <p:embeddedFont>
      <p:font typeface="Inter" panose="02000503000000020004" pitchFamily="2" charset="0"/>
      <p:regular r:id="rId90"/>
      <p:bold r:id="rId91"/>
      <p:italic r:id="rId92"/>
      <p:boldItalic r:id="rId93"/>
    </p:embeddedFont>
    <p:embeddedFont>
      <p:font typeface="Work Sans ExtraBold" pitchFamily="2" charset="0"/>
      <p:boldItalic r:id="rId94"/>
    </p:embeddedFont>
    <p:embeddedFont>
      <p:font typeface="Work Sans Medium" pitchFamily="2" charset="0"/>
      <p:regular r:id="rId9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A4A3A4"/>
          </p15:clr>
        </p15:guide>
        <p15:guide id="2" pos="2880">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96" roundtripDataSignature="AMtx7misuxx245f/qKiEmR3PX6YRe0tIPQ=="/>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font" Target="fonts/font2.fntdata"/><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font" Target="fonts/font3.fntdata"/><Relationship Id="rId95" Type="http://schemas.openxmlformats.org/officeDocument/2006/relationships/font" Target="fonts/font8.fntdata"/><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font" Target="fonts/font1.fntdata"/><Relationship Id="rId91" Type="http://schemas.openxmlformats.org/officeDocument/2006/relationships/font" Target="fonts/font4.fntdata"/><Relationship Id="rId96"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font" Target="fonts/font7.fntdata"/><Relationship Id="rId9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presProps" Target="presProps.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font" Target="fonts/font5.fntdata"/><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font" Target="fonts/font6.fntdata"/><Relationship Id="rId98"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
        <p:cNvGrpSpPr/>
        <p:nvPr/>
      </p:nvGrpSpPr>
      <p:grpSpPr>
        <a:xfrm>
          <a:off x="0" y="0"/>
          <a:ext cx="0" cy="0"/>
          <a:chOff x="0" y="0"/>
          <a:chExt cx="0" cy="0"/>
        </a:xfrm>
      </p:grpSpPr>
      <p:sp>
        <p:nvSpPr>
          <p:cNvPr id="81" name="Google Shape;81;p5: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2" name="Google Shape;82;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g2442ffe4c8e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9" name="Google Shape;89;g2442ffe4c8e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idx="1"/>
          </p:nvPr>
        </p:nvSpPr>
        <p:spPr/>
        <p:txBody>
          <a:bodyPr/>
          <a:lstStyle/>
          <a:p>
            <a:r>
              <a:t>Peserta mengerjakan hands-on bersama mentor.</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9"/>
        <p:cNvGrpSpPr/>
        <p:nvPr/>
      </p:nvGrpSpPr>
      <p:grpSpPr>
        <a:xfrm>
          <a:off x="0" y="0"/>
          <a:ext cx="0" cy="0"/>
          <a:chOff x="0" y="0"/>
          <a:chExt cx="0" cy="0"/>
        </a:xfrm>
      </p:grpSpPr>
      <p:sp>
        <p:nvSpPr>
          <p:cNvPr id="250" name="Google Shape;250;g2907dbd872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1" name="Google Shape;251;g2907dbd872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pic>
        <p:nvPicPr>
          <p:cNvPr id="10" name="Google Shape;10;p19"/>
          <p:cNvPicPr preferRelativeResize="0"/>
          <p:nvPr/>
        </p:nvPicPr>
        <p:blipFill rotWithShape="1">
          <a:blip r:embed="rId2">
            <a:alphaModFix/>
          </a:blip>
          <a:srcRect/>
          <a:stretch/>
        </p:blipFill>
        <p:spPr>
          <a:xfrm>
            <a:off x="-7200" y="-15150"/>
            <a:ext cx="9190446" cy="5169626"/>
          </a:xfrm>
          <a:prstGeom prst="rect">
            <a:avLst/>
          </a:prstGeom>
          <a:noFill/>
          <a:ln>
            <a:noFill/>
          </a:ln>
        </p:spPr>
      </p:pic>
      <p:sp>
        <p:nvSpPr>
          <p:cNvPr id="11" name="Google Shape;11;p1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2" name="Google Shape;12;p19"/>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pic>
        <p:nvPicPr>
          <p:cNvPr id="14" name="Google Shape;14;p23"/>
          <p:cNvPicPr preferRelativeResize="0"/>
          <p:nvPr/>
        </p:nvPicPr>
        <p:blipFill rotWithShape="1">
          <a:blip r:embed="rId2">
            <a:alphaModFix/>
          </a:blip>
          <a:srcRect/>
          <a:stretch/>
        </p:blipFill>
        <p:spPr>
          <a:xfrm>
            <a:off x="0" y="-1"/>
            <a:ext cx="9144003" cy="5143504"/>
          </a:xfrm>
          <a:prstGeom prst="rect">
            <a:avLst/>
          </a:prstGeom>
          <a:noFill/>
          <a:ln>
            <a:noFill/>
          </a:ln>
        </p:spPr>
      </p:pic>
      <p:sp>
        <p:nvSpPr>
          <p:cNvPr id="15" name="Google Shape;15;p2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16" name="Google Shape;16;p23"/>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Section header 1">
  <p:cSld name="SECTION_HEADER_3">
    <p:spTree>
      <p:nvGrpSpPr>
        <p:cNvPr id="1" name="Shape 17"/>
        <p:cNvGrpSpPr/>
        <p:nvPr/>
      </p:nvGrpSpPr>
      <p:grpSpPr>
        <a:xfrm>
          <a:off x="0" y="0"/>
          <a:ext cx="0" cy="0"/>
          <a:chOff x="0" y="0"/>
          <a:chExt cx="0" cy="0"/>
        </a:xfrm>
      </p:grpSpPr>
      <p:pic>
        <p:nvPicPr>
          <p:cNvPr id="18" name="Google Shape;18;p62"/>
          <p:cNvPicPr preferRelativeResize="0"/>
          <p:nvPr/>
        </p:nvPicPr>
        <p:blipFill rotWithShape="1">
          <a:blip r:embed="rId2">
            <a:alphaModFix/>
          </a:blip>
          <a:srcRect/>
          <a:stretch/>
        </p:blipFill>
        <p:spPr>
          <a:xfrm>
            <a:off x="0" y="-1"/>
            <a:ext cx="9206026" cy="5178401"/>
          </a:xfrm>
          <a:prstGeom prst="rect">
            <a:avLst/>
          </a:prstGeom>
          <a:noFill/>
          <a:ln>
            <a:noFill/>
          </a:ln>
        </p:spPr>
      </p:pic>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0" name="Google Shape;20;p62"/>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slide 2 1 1">
  <p:cSld name="TITLE_2_1_1">
    <p:spTree>
      <p:nvGrpSpPr>
        <p:cNvPr id="1" name="Shape 21"/>
        <p:cNvGrpSpPr/>
        <p:nvPr/>
      </p:nvGrpSpPr>
      <p:grpSpPr>
        <a:xfrm>
          <a:off x="0" y="0"/>
          <a:ext cx="0" cy="0"/>
          <a:chOff x="0" y="0"/>
          <a:chExt cx="0" cy="0"/>
        </a:xfrm>
      </p:grpSpPr>
      <p:sp>
        <p:nvSpPr>
          <p:cNvPr id="22" name="Google Shape;22;p4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3" name="Google Shape;23;p49"/>
          <p:cNvPicPr preferRelativeResize="0"/>
          <p:nvPr/>
        </p:nvPicPr>
        <p:blipFill rotWithShape="1">
          <a:blip r:embed="rId2">
            <a:alphaModFix/>
          </a:blip>
          <a:srcRect l="-11869" r="-10498"/>
          <a:stretch/>
        </p:blipFill>
        <p:spPr>
          <a:xfrm>
            <a:off x="7614450" y="286450"/>
            <a:ext cx="1372051" cy="247350"/>
          </a:xfrm>
          <a:prstGeom prst="rect">
            <a:avLst/>
          </a:prstGeom>
          <a:noFill/>
          <a:ln>
            <a:noFill/>
          </a:ln>
        </p:spPr>
      </p:pic>
      <p:pic>
        <p:nvPicPr>
          <p:cNvPr id="24" name="Google Shape;24;p49"/>
          <p:cNvPicPr preferRelativeResize="0"/>
          <p:nvPr/>
        </p:nvPicPr>
        <p:blipFill rotWithShape="1">
          <a:blip r:embed="rId3">
            <a:alphaModFix/>
          </a:blip>
          <a:srcRect/>
          <a:stretch/>
        </p:blipFill>
        <p:spPr>
          <a:xfrm>
            <a:off x="0" y="0"/>
            <a:ext cx="9143992" cy="5143501"/>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3">
  <p:cSld name="SECTION_HEADER_4">
    <p:spTree>
      <p:nvGrpSpPr>
        <p:cNvPr id="1" name="Shape 25"/>
        <p:cNvGrpSpPr/>
        <p:nvPr/>
      </p:nvGrpSpPr>
      <p:grpSpPr>
        <a:xfrm>
          <a:off x="0" y="0"/>
          <a:ext cx="0" cy="0"/>
          <a:chOff x="0" y="0"/>
          <a:chExt cx="0" cy="0"/>
        </a:xfrm>
      </p:grpSpPr>
      <p:pic>
        <p:nvPicPr>
          <p:cNvPr id="26" name="Google Shape;26;p20"/>
          <p:cNvPicPr preferRelativeResize="0"/>
          <p:nvPr/>
        </p:nvPicPr>
        <p:blipFill rotWithShape="1">
          <a:blip r:embed="rId2">
            <a:alphaModFix/>
          </a:blip>
          <a:srcRect/>
          <a:stretch/>
        </p:blipFill>
        <p:spPr>
          <a:xfrm>
            <a:off x="0" y="-1"/>
            <a:ext cx="9143992" cy="5143501"/>
          </a:xfrm>
          <a:prstGeom prst="rect">
            <a:avLst/>
          </a:prstGeom>
          <a:noFill/>
          <a:ln>
            <a:noFill/>
          </a:ln>
        </p:spPr>
      </p:pic>
      <p:sp>
        <p:nvSpPr>
          <p:cNvPr id="27" name="Google Shape;27;p2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28" name="Google Shape;28;p20"/>
          <p:cNvPicPr preferRelativeResize="0"/>
          <p:nvPr/>
        </p:nvPicPr>
        <p:blipFill rotWithShape="1">
          <a:blip r:embed="rId3">
            <a:alphaModFix/>
          </a:blip>
          <a:srcRect/>
          <a:stretch/>
        </p:blipFill>
        <p:spPr>
          <a:xfrm>
            <a:off x="7768176" y="286450"/>
            <a:ext cx="1080001" cy="2473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slide 2 1">
  <p:cSld name="TITLE_2_1">
    <p:spTree>
      <p:nvGrpSpPr>
        <p:cNvPr id="1" name="Shape 29"/>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1" name="Google Shape;31;p21"/>
          <p:cNvPicPr preferRelativeResize="0"/>
          <p:nvPr/>
        </p:nvPicPr>
        <p:blipFill rotWithShape="1">
          <a:blip r:embed="rId2">
            <a:alphaModFix/>
          </a:blip>
          <a:srcRect/>
          <a:stretch/>
        </p:blipFill>
        <p:spPr>
          <a:xfrm>
            <a:off x="-7200" y="-7175"/>
            <a:ext cx="9204623" cy="5177601"/>
          </a:xfrm>
          <a:prstGeom prst="rect">
            <a:avLst/>
          </a:prstGeom>
          <a:noFill/>
          <a:ln>
            <a:noFill/>
          </a:ln>
        </p:spPr>
      </p:pic>
      <p:pic>
        <p:nvPicPr>
          <p:cNvPr id="32" name="Google Shape;32;p21"/>
          <p:cNvPicPr preferRelativeResize="0"/>
          <p:nvPr/>
        </p:nvPicPr>
        <p:blipFill rotWithShape="1">
          <a:blip r:embed="rId3">
            <a:alphaModFix/>
          </a:blip>
          <a:srcRect l="-11869" r="-10498"/>
          <a:stretch/>
        </p:blipFill>
        <p:spPr>
          <a:xfrm>
            <a:off x="7614450" y="286450"/>
            <a:ext cx="1372051" cy="247350"/>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2">
  <p:cSld name="TITLE_2">
    <p:spTree>
      <p:nvGrpSpPr>
        <p:cNvPr id="1" name="Shape 33"/>
        <p:cNvGrpSpPr/>
        <p:nvPr/>
      </p:nvGrpSpPr>
      <p:grpSpPr>
        <a:xfrm>
          <a:off x="0" y="0"/>
          <a:ext cx="0" cy="0"/>
          <a:chOff x="0" y="0"/>
          <a:chExt cx="0" cy="0"/>
        </a:xfrm>
      </p:grpSpPr>
      <p:pic>
        <p:nvPicPr>
          <p:cNvPr id="34" name="Google Shape;34;p22"/>
          <p:cNvPicPr preferRelativeResize="0"/>
          <p:nvPr/>
        </p:nvPicPr>
        <p:blipFill rotWithShape="1">
          <a:blip r:embed="rId2">
            <a:alphaModFix/>
          </a:blip>
          <a:srcRect/>
          <a:stretch/>
        </p:blipFill>
        <p:spPr>
          <a:xfrm>
            <a:off x="-14350" y="-6375"/>
            <a:ext cx="9160668" cy="5152876"/>
          </a:xfrm>
          <a:prstGeom prst="rect">
            <a:avLst/>
          </a:prstGeom>
          <a:noFill/>
          <a:ln>
            <a:noFill/>
          </a:ln>
        </p:spPr>
      </p:pic>
      <p:sp>
        <p:nvSpPr>
          <p:cNvPr id="35" name="Google Shape;35;p2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pic>
        <p:nvPicPr>
          <p:cNvPr id="36" name="Google Shape;36;p22"/>
          <p:cNvPicPr preferRelativeResize="0"/>
          <p:nvPr/>
        </p:nvPicPr>
        <p:blipFill rotWithShape="1">
          <a:blip r:embed="rId3">
            <a:alphaModFix/>
          </a:blip>
          <a:srcRect l="-11869" r="-10498"/>
          <a:stretch/>
        </p:blipFill>
        <p:spPr>
          <a:xfrm>
            <a:off x="7614450" y="286450"/>
            <a:ext cx="1372051" cy="247350"/>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37"/>
        <p:cNvGrpSpPr/>
        <p:nvPr/>
      </p:nvGrpSpPr>
      <p:grpSpPr>
        <a:xfrm>
          <a:off x="0" y="0"/>
          <a:ext cx="0" cy="0"/>
          <a:chOff x="0" y="0"/>
          <a:chExt cx="0" cy="0"/>
        </a:xfrm>
      </p:grpSpPr>
      <p:sp>
        <p:nvSpPr>
          <p:cNvPr id="38" name="Google Shape;38;p50"/>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39" name="Google Shape;39;p50"/>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5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41"/>
        <p:cNvGrpSpPr/>
        <p:nvPr/>
      </p:nvGrpSpPr>
      <p:grpSpPr>
        <a:xfrm>
          <a:off x="0" y="0"/>
          <a:ext cx="0" cy="0"/>
          <a:chOff x="0" y="0"/>
          <a:chExt cx="0" cy="0"/>
        </a:xfrm>
      </p:grpSpPr>
      <p:sp>
        <p:nvSpPr>
          <p:cNvPr id="42" name="Google Shape;42;p5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3" name="Google Shape;43;p51"/>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4" name="Google Shape;44;p51"/>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45" name="Google Shape;45;p5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6"/>
        <p:cNvGrpSpPr/>
        <p:nvPr/>
      </p:nvGrpSpPr>
      <p:grpSpPr>
        <a:xfrm>
          <a:off x="0" y="0"/>
          <a:ext cx="0" cy="0"/>
          <a:chOff x="0" y="0"/>
          <a:chExt cx="0" cy="0"/>
        </a:xfrm>
      </p:grpSpPr>
      <p:sp>
        <p:nvSpPr>
          <p:cNvPr id="47" name="Google Shape;47;p52"/>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48" name="Google Shape;48;p5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49"/>
        <p:cNvGrpSpPr/>
        <p:nvPr/>
      </p:nvGrpSpPr>
      <p:grpSpPr>
        <a:xfrm>
          <a:off x="0" y="0"/>
          <a:ext cx="0" cy="0"/>
          <a:chOff x="0" y="0"/>
          <a:chExt cx="0" cy="0"/>
        </a:xfrm>
      </p:grpSpPr>
      <p:sp>
        <p:nvSpPr>
          <p:cNvPr id="50" name="Google Shape;50;p53"/>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51" name="Google Shape;51;p53"/>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52" name="Google Shape;52;p5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53"/>
        <p:cNvGrpSpPr/>
        <p:nvPr/>
      </p:nvGrpSpPr>
      <p:grpSpPr>
        <a:xfrm>
          <a:off x="0" y="0"/>
          <a:ext cx="0" cy="0"/>
          <a:chOff x="0" y="0"/>
          <a:chExt cx="0" cy="0"/>
        </a:xfrm>
      </p:grpSpPr>
      <p:sp>
        <p:nvSpPr>
          <p:cNvPr id="54" name="Google Shape;54;p54"/>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55" name="Google Shape;55;p5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56"/>
        <p:cNvGrpSpPr/>
        <p:nvPr/>
      </p:nvGrpSpPr>
      <p:grpSpPr>
        <a:xfrm>
          <a:off x="0" y="0"/>
          <a:ext cx="0" cy="0"/>
          <a:chOff x="0" y="0"/>
          <a:chExt cx="0" cy="0"/>
        </a:xfrm>
      </p:grpSpPr>
      <p:sp>
        <p:nvSpPr>
          <p:cNvPr id="57" name="Google Shape;57;p55"/>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55"/>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59" name="Google Shape;59;p55"/>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60" name="Google Shape;60;p55"/>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61" name="Google Shape;61;p5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62"/>
        <p:cNvGrpSpPr/>
        <p:nvPr/>
      </p:nvGrpSpPr>
      <p:grpSpPr>
        <a:xfrm>
          <a:off x="0" y="0"/>
          <a:ext cx="0" cy="0"/>
          <a:chOff x="0" y="0"/>
          <a:chExt cx="0" cy="0"/>
        </a:xfrm>
      </p:grpSpPr>
      <p:sp>
        <p:nvSpPr>
          <p:cNvPr id="63" name="Google Shape;63;p56"/>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64" name="Google Shape;64;p5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65"/>
        <p:cNvGrpSpPr/>
        <p:nvPr/>
      </p:nvGrpSpPr>
      <p:grpSpPr>
        <a:xfrm>
          <a:off x="0" y="0"/>
          <a:ext cx="0" cy="0"/>
          <a:chOff x="0" y="0"/>
          <a:chExt cx="0" cy="0"/>
        </a:xfrm>
      </p:grpSpPr>
      <p:sp>
        <p:nvSpPr>
          <p:cNvPr id="66" name="Google Shape;66;p57"/>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67" name="Google Shape;67;p57"/>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68" name="Google Shape;68;p5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69"/>
        <p:cNvGrpSpPr/>
        <p:nvPr/>
      </p:nvGrpSpPr>
      <p:grpSpPr>
        <a:xfrm>
          <a:off x="0" y="0"/>
          <a:ext cx="0" cy="0"/>
          <a:chOff x="0" y="0"/>
          <a:chExt cx="0" cy="0"/>
        </a:xfrm>
      </p:grpSpPr>
      <p:sp>
        <p:nvSpPr>
          <p:cNvPr id="70" name="Google Shape;70;p5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slide 1">
  <p:cSld name="TITLE_1">
    <p:spTree>
      <p:nvGrpSpPr>
        <p:cNvPr id="1" name="Shape 71"/>
        <p:cNvGrpSpPr/>
        <p:nvPr/>
      </p:nvGrpSpPr>
      <p:grpSpPr>
        <a:xfrm>
          <a:off x="0" y="0"/>
          <a:ext cx="0" cy="0"/>
          <a:chOff x="0" y="0"/>
          <a:chExt cx="0" cy="0"/>
        </a:xfrm>
      </p:grpSpPr>
      <p:sp>
        <p:nvSpPr>
          <p:cNvPr id="72" name="Google Shape;72;p5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73" name="Google Shape;73;p59"/>
          <p:cNvCxnSpPr/>
          <p:nvPr/>
        </p:nvCxnSpPr>
        <p:spPr>
          <a:xfrm>
            <a:off x="2740288" y="3545850"/>
            <a:ext cx="3824400" cy="0"/>
          </a:xfrm>
          <a:prstGeom prst="straightConnector1">
            <a:avLst/>
          </a:prstGeom>
          <a:noFill/>
          <a:ln w="9525" cap="flat" cmpd="sng">
            <a:solidFill>
              <a:srgbClr val="FFFFFF"/>
            </a:solidFill>
            <a:prstDash val="solid"/>
            <a:round/>
            <a:headEnd type="none" w="sm" len="sm"/>
            <a:tailEnd type="none" w="sm" len="sm"/>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slide 1 1">
  <p:cSld name="TITLE_1_1">
    <p:spTree>
      <p:nvGrpSpPr>
        <p:cNvPr id="1" name="Shape 74"/>
        <p:cNvGrpSpPr/>
        <p:nvPr/>
      </p:nvGrpSpPr>
      <p:grpSpPr>
        <a:xfrm>
          <a:off x="0" y="0"/>
          <a:ext cx="0" cy="0"/>
          <a:chOff x="0" y="0"/>
          <a:chExt cx="0" cy="0"/>
        </a:xfrm>
      </p:grpSpPr>
      <p:sp>
        <p:nvSpPr>
          <p:cNvPr id="75" name="Google Shape;75;p6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cxnSp>
        <p:nvCxnSpPr>
          <p:cNvPr id="76" name="Google Shape;76;p60"/>
          <p:cNvCxnSpPr/>
          <p:nvPr/>
        </p:nvCxnSpPr>
        <p:spPr>
          <a:xfrm>
            <a:off x="2740288" y="3545850"/>
            <a:ext cx="3824400" cy="0"/>
          </a:xfrm>
          <a:prstGeom prst="straightConnector1">
            <a:avLst/>
          </a:prstGeom>
          <a:noFill/>
          <a:ln w="9525" cap="flat" cmpd="sng">
            <a:solidFill>
              <a:srgbClr val="FFFFFF"/>
            </a:solidFill>
            <a:prstDash val="solid"/>
            <a:round/>
            <a:headEnd type="none" w="sm" len="sm"/>
            <a:tailEnd type="none" w="sm" len="sm"/>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header 2">
  <p:cSld name="SECTION_HEADER_2">
    <p:spTree>
      <p:nvGrpSpPr>
        <p:cNvPr id="1" name="Shape 77"/>
        <p:cNvGrpSpPr/>
        <p:nvPr/>
      </p:nvGrpSpPr>
      <p:grpSpPr>
        <a:xfrm>
          <a:off x="0" y="0"/>
          <a:ext cx="0" cy="0"/>
          <a:chOff x="0" y="0"/>
          <a:chExt cx="0" cy="0"/>
        </a:xfrm>
      </p:grpSpPr>
      <p:sp>
        <p:nvSpPr>
          <p:cNvPr id="78" name="Google Shape;78;p61"/>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pic>
        <p:nvPicPr>
          <p:cNvPr id="79" name="Google Shape;79;p61"/>
          <p:cNvPicPr preferRelativeResize="0"/>
          <p:nvPr/>
        </p:nvPicPr>
        <p:blipFill rotWithShape="1">
          <a:blip r:embed="rId2">
            <a:alphaModFix/>
          </a:blip>
          <a:srcRect t="31469" b="34000"/>
          <a:stretch/>
        </p:blipFill>
        <p:spPr>
          <a:xfrm>
            <a:off x="134750" y="4589275"/>
            <a:ext cx="1410576" cy="344348"/>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 id="2147483666" r:id="rId18"/>
    <p:sldLayoutId id="2147483667" r:id="rId19"/>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5.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3.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3.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s>
</file>

<file path=ppt/slides/_rels/slide72.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3.xml"/></Relationships>
</file>

<file path=ppt/slides/_rels/slide73.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74.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3.xml"/></Relationships>
</file>

<file path=ppt/slides/_rels/slide7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image" Target="../media/image34.png"/><Relationship Id="rId1" Type="http://schemas.openxmlformats.org/officeDocument/2006/relationships/slideLayout" Target="../slideLayouts/slideLayout3.xml"/></Relationships>
</file>

<file path=ppt/slides/_rels/slide83.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3.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5.xml.rels><?xml version="1.0" encoding="UTF-8" standalone="yes"?>
<Relationships xmlns="http://schemas.openxmlformats.org/package/2006/relationships"><Relationship Id="rId8" Type="http://schemas.openxmlformats.org/officeDocument/2006/relationships/hyperlink" Target="https://github.com/bagusedghar/fastapi-intermediate/tree/main/sesi-10-api-security" TargetMode="External"/><Relationship Id="rId3" Type="http://schemas.openxmlformats.org/officeDocument/2006/relationships/image" Target="../media/image37.png"/><Relationship Id="rId7" Type="http://schemas.openxmlformats.org/officeDocument/2006/relationships/hyperlink" Target="https://colab.research.google.com/github/FTDS-learning-materials/phase-2/blob/master/w2/P2W2D1PM%20-%20Data%20Ethics%20&amp;%20Data%20Validation.ipynb" TargetMode="External"/><Relationship Id="rId2" Type="http://schemas.openxmlformats.org/officeDocument/2006/relationships/notesSlide" Target="../notesSlides/notesSlide4.xml"/><Relationship Id="rId1" Type="http://schemas.openxmlformats.org/officeDocument/2006/relationships/slideLayout" Target="../slideLayouts/slideLayout4.xml"/><Relationship Id="rId6" Type="http://schemas.openxmlformats.org/officeDocument/2006/relationships/image" Target="../media/image40.png"/><Relationship Id="rId5" Type="http://schemas.openxmlformats.org/officeDocument/2006/relationships/image" Target="../media/image39.png"/><Relationship Id="rId4" Type="http://schemas.openxmlformats.org/officeDocument/2006/relationships/image" Target="../media/image3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SzPts val="1000"/>
              <a:buNone/>
            </a:pPr>
            <a:fld id="{00000000-1234-1234-1234-123412341234}" type="slidenum">
              <a:rPr lang="en"/>
              <a:t>1</a:t>
            </a:fld>
            <a:endParaRPr/>
          </a:p>
        </p:txBody>
      </p:sp>
      <p:sp>
        <p:nvSpPr>
          <p:cNvPr id="85" name="Google Shape;85;p5"/>
          <p:cNvSpPr txBox="1"/>
          <p:nvPr/>
        </p:nvSpPr>
        <p:spPr>
          <a:xfrm>
            <a:off x="763050" y="2010750"/>
            <a:ext cx="8258100" cy="11034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3500"/>
              <a:buFont typeface="Arial"/>
              <a:buNone/>
            </a:pPr>
            <a:r>
              <a:rPr lang="en" sz="3500">
                <a:solidFill>
                  <a:srgbClr val="F06634"/>
                </a:solidFill>
                <a:latin typeface="Work Sans ExtraBold"/>
                <a:ea typeface="Work Sans ExtraBold"/>
                <a:cs typeface="Work Sans ExtraBold"/>
                <a:sym typeface="Work Sans ExtraBold"/>
              </a:rPr>
              <a:t>API Security: OWASP Top 10 &amp; OAuth2</a:t>
            </a:r>
            <a:endParaRPr sz="3500" b="0" i="0" u="none" strike="noStrike" cap="none">
              <a:solidFill>
                <a:srgbClr val="F06634"/>
              </a:solidFill>
              <a:latin typeface="Work Sans ExtraBold"/>
              <a:ea typeface="Work Sans ExtraBold"/>
              <a:cs typeface="Work Sans ExtraBold"/>
              <a:sym typeface="Work Sans ExtraBold"/>
            </a:endParaRPr>
          </a:p>
        </p:txBody>
      </p:sp>
      <p:sp>
        <p:nvSpPr>
          <p:cNvPr id="86" name="Google Shape;86;p5"/>
          <p:cNvSpPr txBox="1"/>
          <p:nvPr/>
        </p:nvSpPr>
        <p:spPr>
          <a:xfrm>
            <a:off x="763050" y="3157225"/>
            <a:ext cx="7315200" cy="5313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1500"/>
              <a:buFont typeface="Arial"/>
              <a:buNone/>
            </a:pPr>
            <a:r>
              <a:rPr lang="en" sz="1500" b="0" i="0" u="none" strike="noStrike" cap="none">
                <a:solidFill>
                  <a:schemeClr val="dk2"/>
                </a:solidFill>
                <a:latin typeface="Work Sans Medium"/>
                <a:ea typeface="Work Sans Medium"/>
                <a:cs typeface="Work Sans Medium"/>
                <a:sym typeface="Work Sans Medium"/>
              </a:rPr>
              <a:t>Intermediate Backend Developer with FastAPI  -  Sesi 10</a:t>
            </a:r>
            <a:endParaRPr sz="1500" b="0" i="0" u="none" strike="noStrike" cap="none">
              <a:solidFill>
                <a:schemeClr val="dk2"/>
              </a:solidFill>
              <a:latin typeface="Work Sans Medium"/>
              <a:ea typeface="Work Sans Medium"/>
              <a:cs typeface="Work Sans Medium"/>
              <a:sym typeface="Work Sans Medium"/>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1" name="Google Shape;91;g2442ffe4c8e_0_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p>
            <a:pPr marL="0" lvl="0" indent="0" algn="r" rtl="0">
              <a:lnSpc>
                <a:spcPct val="100000"/>
              </a:lnSpc>
              <a:spcBef>
                <a:spcPts val="0"/>
              </a:spcBef>
              <a:spcAft>
                <a:spcPts val="0"/>
              </a:spcAft>
              <a:buClr>
                <a:srgbClr val="000000"/>
              </a:buClr>
              <a:buSzPts val="1000"/>
              <a:buFont typeface="Arial"/>
              <a:buNone/>
            </a:pPr>
            <a:fld id="{00000000-1234-1234-1234-123412341234}" type="slidenum">
              <a:rPr lang="en"/>
              <a:t>2</a:t>
            </a:fld>
            <a:endParaRPr/>
          </a:p>
        </p:txBody>
      </p:sp>
      <p:sp>
        <p:nvSpPr>
          <p:cNvPr id="92" name="Google Shape;92;g2442ffe4c8e_0_0"/>
          <p:cNvSpPr txBox="1"/>
          <p:nvPr/>
        </p:nvSpPr>
        <p:spPr>
          <a:xfrm>
            <a:off x="310675" y="249275"/>
            <a:ext cx="4456800" cy="4842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300"/>
              <a:buFont typeface="Arial"/>
              <a:buNone/>
            </a:pPr>
            <a:r>
              <a:rPr lang="en" sz="2300" b="0" i="0" u="none" strike="noStrike" cap="none">
                <a:solidFill>
                  <a:srgbClr val="1D3D70"/>
                </a:solidFill>
                <a:latin typeface="Work Sans ExtraBold"/>
                <a:ea typeface="Work Sans ExtraBold"/>
                <a:cs typeface="Work Sans ExtraBold"/>
                <a:sym typeface="Work Sans ExtraBold"/>
              </a:rPr>
              <a:t>Contents</a:t>
            </a:r>
            <a:endParaRPr sz="2300" b="0" i="0" u="none" strike="noStrike" cap="none">
              <a:solidFill>
                <a:srgbClr val="1D3D70"/>
              </a:solidFill>
              <a:latin typeface="Work Sans ExtraBold"/>
              <a:ea typeface="Work Sans ExtraBold"/>
              <a:cs typeface="Work Sans ExtraBold"/>
              <a:sym typeface="Work Sans ExtraBold"/>
            </a:endParaRPr>
          </a:p>
        </p:txBody>
      </p:sp>
      <p:sp>
        <p:nvSpPr>
          <p:cNvPr id="93" name="Text 1"/>
          <p:cNvSpPr txBox="1"/>
          <p:nvPr/>
        </p:nvSpPr>
        <p:spPr>
          <a:xfrm>
            <a:off x="548640" y="1143000"/>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Celah Keamanan Umum</a:t>
            </a:r>
          </a:p>
        </p:txBody>
      </p:sp>
      <p:cxnSp>
        <p:nvCxnSpPr>
          <p:cNvPr id="94" name="Arrow 2"/>
          <p:cNvCxnSpPr/>
          <p:nvPr/>
        </p:nvCxnSpPr>
        <p:spPr>
          <a:xfrm>
            <a:off x="6318504" y="1325880"/>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95" name="Text 3"/>
          <p:cNvSpPr txBox="1"/>
          <p:nvPr/>
        </p:nvSpPr>
        <p:spPr>
          <a:xfrm>
            <a:off x="8266175" y="1143000"/>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09</a:t>
            </a:r>
          </a:p>
        </p:txBody>
      </p:sp>
      <p:sp>
        <p:nvSpPr>
          <p:cNvPr id="96" name="Text 4"/>
          <p:cNvSpPr txBox="1"/>
          <p:nvPr/>
        </p:nvSpPr>
        <p:spPr>
          <a:xfrm>
            <a:off x="548640" y="1527048"/>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Authentication &amp; Authorization</a:t>
            </a:r>
          </a:p>
        </p:txBody>
      </p:sp>
      <p:cxnSp>
        <p:nvCxnSpPr>
          <p:cNvPr id="97" name="Arrow 5"/>
          <p:cNvCxnSpPr/>
          <p:nvPr/>
        </p:nvCxnSpPr>
        <p:spPr>
          <a:xfrm>
            <a:off x="6318504" y="1709928"/>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98" name="Text 6"/>
          <p:cNvSpPr txBox="1"/>
          <p:nvPr/>
        </p:nvSpPr>
        <p:spPr>
          <a:xfrm>
            <a:off x="8266175" y="1527048"/>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28</a:t>
            </a:r>
          </a:p>
        </p:txBody>
      </p:sp>
      <p:sp>
        <p:nvSpPr>
          <p:cNvPr id="99" name="Text 7"/>
          <p:cNvSpPr txBox="1"/>
          <p:nvPr/>
        </p:nvSpPr>
        <p:spPr>
          <a:xfrm>
            <a:off x="548640" y="1911095"/>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Secrets &amp; Input Validation</a:t>
            </a:r>
          </a:p>
        </p:txBody>
      </p:sp>
      <p:cxnSp>
        <p:nvCxnSpPr>
          <p:cNvPr id="100" name="Arrow 8"/>
          <p:cNvCxnSpPr/>
          <p:nvPr/>
        </p:nvCxnSpPr>
        <p:spPr>
          <a:xfrm>
            <a:off x="6318504" y="2093976"/>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1" name="Text 9"/>
          <p:cNvSpPr txBox="1"/>
          <p:nvPr/>
        </p:nvSpPr>
        <p:spPr>
          <a:xfrm>
            <a:off x="8266175" y="1911095"/>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47</a:t>
            </a:r>
          </a:p>
        </p:txBody>
      </p:sp>
      <p:sp>
        <p:nvSpPr>
          <p:cNvPr id="102" name="Text 10"/>
          <p:cNvSpPr txBox="1"/>
          <p:nvPr/>
        </p:nvSpPr>
        <p:spPr>
          <a:xfrm>
            <a:off x="548640" y="2295144"/>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Hands-on: Login OAuth2 dan Hak Akses per Role</a:t>
            </a:r>
          </a:p>
        </p:txBody>
      </p:sp>
      <p:cxnSp>
        <p:nvCxnSpPr>
          <p:cNvPr id="103" name="Arrow 11"/>
          <p:cNvCxnSpPr/>
          <p:nvPr/>
        </p:nvCxnSpPr>
        <p:spPr>
          <a:xfrm>
            <a:off x="6318504" y="2478024"/>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4" name="Text 12"/>
          <p:cNvSpPr txBox="1"/>
          <p:nvPr/>
        </p:nvSpPr>
        <p:spPr>
          <a:xfrm>
            <a:off x="8266175" y="2295144"/>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59</a:t>
            </a:r>
          </a:p>
        </p:txBody>
      </p:sp>
      <p:sp>
        <p:nvSpPr>
          <p:cNvPr id="105" name="Text 13"/>
          <p:cNvSpPr txBox="1"/>
          <p:nvPr/>
        </p:nvSpPr>
        <p:spPr>
          <a:xfrm>
            <a:off x="548640" y="2679191"/>
            <a:ext cx="5669280" cy="292608"/>
          </a:xfrm>
          <a:prstGeom prst="rect">
            <a:avLst/>
          </a:prstGeom>
          <a:noFill/>
        </p:spPr>
        <p:txBody>
          <a:bodyPr wrap="square" lIns="45720" rIns="45720" anchor="ctr">
            <a:spAutoFit/>
          </a:bodyPr>
          <a:lstStyle/>
          <a:p>
            <a:pPr algn="r">
              <a:lnSpc>
                <a:spcPct val="115000"/>
              </a:lnSpc>
              <a:spcAft>
                <a:spcPts val="400"/>
              </a:spcAft>
            </a:pPr>
            <a:r>
              <a:rPr sz="1000" b="0" i="0">
                <a:solidFill>
                  <a:srgbClr val="434343"/>
                </a:solidFill>
                <a:latin typeface="Inter"/>
              </a:rPr>
              <a:t>Studi Kasus: Batasi Login Gagal</a:t>
            </a:r>
          </a:p>
        </p:txBody>
      </p:sp>
      <p:cxnSp>
        <p:nvCxnSpPr>
          <p:cNvPr id="106" name="Arrow 14"/>
          <p:cNvCxnSpPr/>
          <p:nvPr/>
        </p:nvCxnSpPr>
        <p:spPr>
          <a:xfrm>
            <a:off x="6318504" y="2862072"/>
            <a:ext cx="1947671" cy="0"/>
          </a:xfrm>
          <a:prstGeom prst="line">
            <a:avLst/>
          </a:prstGeom>
          <a:ln w="12700">
            <a:solidFill>
              <a:srgbClr val="1C4587"/>
            </a:solidFill>
          </a:ln>
        </p:spPr>
        <p:style>
          <a:lnRef idx="2">
            <a:schemeClr val="accent1"/>
          </a:lnRef>
          <a:fillRef idx="0">
            <a:schemeClr val="accent1"/>
          </a:fillRef>
          <a:effectRef idx="1">
            <a:schemeClr val="accent1"/>
          </a:effectRef>
          <a:fontRef idx="minor">
            <a:schemeClr val="tx1"/>
          </a:fontRef>
        </p:style>
      </p:cxnSp>
      <p:sp>
        <p:nvSpPr>
          <p:cNvPr id="107" name="Text 15"/>
          <p:cNvSpPr txBox="1"/>
          <p:nvPr/>
        </p:nvSpPr>
        <p:spPr>
          <a:xfrm>
            <a:off x="8266175" y="2679191"/>
            <a:ext cx="548640" cy="292608"/>
          </a:xfrm>
          <a:prstGeom prst="rect">
            <a:avLst/>
          </a:prstGeom>
          <a:noFill/>
        </p:spPr>
        <p:txBody>
          <a:bodyPr wrap="square" lIns="45720" rIns="45720" anchor="ctr">
            <a:spAutoFit/>
          </a:bodyPr>
          <a:lstStyle/>
          <a:p>
            <a:pPr algn="l">
              <a:lnSpc>
                <a:spcPct val="115000"/>
              </a:lnSpc>
              <a:spcAft>
                <a:spcPts val="400"/>
              </a:spcAft>
            </a:pPr>
            <a:r>
              <a:rPr sz="1000" b="1" i="1">
                <a:solidFill>
                  <a:srgbClr val="E0764F"/>
                </a:solidFill>
                <a:latin typeface="Inter"/>
              </a:rPr>
              <a:t>80</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Sesi 10</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Learning Outcome</a:t>
            </a:r>
          </a:p>
        </p:txBody>
      </p:sp>
      <p:sp>
        <p:nvSpPr>
          <p:cNvPr id="22" name="Box 3"/>
          <p:cNvSpPr/>
          <p:nvPr/>
        </p:nvSpPr>
        <p:spPr>
          <a:xfrm>
            <a:off x="621792" y="1600200"/>
            <a:ext cx="2523744" cy="2011680"/>
          </a:xfrm>
          <a:prstGeom prst="roundRect">
            <a:avLst>
              <a:gd name="adj" fmla="val 5454"/>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Box 4"/>
          <p:cNvSpPr/>
          <p:nvPr/>
        </p:nvSpPr>
        <p:spPr>
          <a:xfrm>
            <a:off x="758952"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1</a:t>
            </a:r>
          </a:p>
        </p:txBody>
      </p:sp>
      <p:sp>
        <p:nvSpPr>
          <p:cNvPr id="24" name="Text 5"/>
          <p:cNvSpPr txBox="1"/>
          <p:nvPr/>
        </p:nvSpPr>
        <p:spPr>
          <a:xfrm>
            <a:off x="1170432" y="1709928"/>
            <a:ext cx="1883663"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OWASP</a:t>
            </a:r>
          </a:p>
        </p:txBody>
      </p:sp>
      <p:sp>
        <p:nvSpPr>
          <p:cNvPr id="25" name="Text 6"/>
          <p:cNvSpPr txBox="1"/>
          <p:nvPr/>
        </p:nvSpPr>
        <p:spPr>
          <a:xfrm>
            <a:off x="758952"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Mengidentifikasi kerentanan API umum, termasuk broken access control, injection, dan security misconfiguration.</a:t>
            </a:r>
          </a:p>
        </p:txBody>
      </p:sp>
      <p:sp>
        <p:nvSpPr>
          <p:cNvPr id="26" name="Box 7"/>
          <p:cNvSpPr/>
          <p:nvPr/>
        </p:nvSpPr>
        <p:spPr>
          <a:xfrm>
            <a:off x="3291840" y="1600200"/>
            <a:ext cx="2523744" cy="2011680"/>
          </a:xfrm>
          <a:prstGeom prst="roundRect">
            <a:avLst>
              <a:gd name="adj" fmla="val 5454"/>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7" name="Box 8"/>
          <p:cNvSpPr/>
          <p:nvPr/>
        </p:nvSpPr>
        <p:spPr>
          <a:xfrm>
            <a:off x="3429000"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2</a:t>
            </a:r>
          </a:p>
        </p:txBody>
      </p:sp>
      <p:sp>
        <p:nvSpPr>
          <p:cNvPr id="28" name="Text 9"/>
          <p:cNvSpPr txBox="1"/>
          <p:nvPr/>
        </p:nvSpPr>
        <p:spPr>
          <a:xfrm>
            <a:off x="3840480" y="1709928"/>
            <a:ext cx="1883663"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OAuth2 &amp; JWT</a:t>
            </a:r>
          </a:p>
        </p:txBody>
      </p:sp>
      <p:sp>
        <p:nvSpPr>
          <p:cNvPr id="29" name="Text 10"/>
          <p:cNvSpPr txBox="1"/>
          <p:nvPr/>
        </p:nvSpPr>
        <p:spPr>
          <a:xfrm>
            <a:off x="3429000"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Mengimplementasikan OAuth2/JWT authentication dan role/scope-based authorization di FastAPI.</a:t>
            </a:r>
          </a:p>
        </p:txBody>
      </p:sp>
      <p:sp>
        <p:nvSpPr>
          <p:cNvPr id="30" name="Box 11"/>
          <p:cNvSpPr/>
          <p:nvPr/>
        </p:nvSpPr>
        <p:spPr>
          <a:xfrm>
            <a:off x="5961888" y="1600200"/>
            <a:ext cx="2523744" cy="2011680"/>
          </a:xfrm>
          <a:prstGeom prst="roundRect">
            <a:avLst>
              <a:gd name="adj" fmla="val 545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Box 12"/>
          <p:cNvSpPr/>
          <p:nvPr/>
        </p:nvSpPr>
        <p:spPr>
          <a:xfrm>
            <a:off x="6099048" y="1737360"/>
            <a:ext cx="329184" cy="32918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1100" b="1" i="0">
                <a:solidFill>
                  <a:srgbClr val="FFFFFF"/>
                </a:solidFill>
                <a:latin typeface="Inter"/>
              </a:rPr>
              <a:t>3</a:t>
            </a:r>
          </a:p>
        </p:txBody>
      </p:sp>
      <p:sp>
        <p:nvSpPr>
          <p:cNvPr id="32" name="Text 13"/>
          <p:cNvSpPr txBox="1"/>
          <p:nvPr/>
        </p:nvSpPr>
        <p:spPr>
          <a:xfrm>
            <a:off x="6510527" y="1709928"/>
            <a:ext cx="1883664" cy="384048"/>
          </a:xfrm>
          <a:prstGeom prst="rect">
            <a:avLst/>
          </a:prstGeom>
          <a:noFill/>
        </p:spPr>
        <p:txBody>
          <a:bodyPr wrap="square" lIns="45720" rIns="45720" anchor="ctr">
            <a:spAutoFit/>
          </a:bodyPr>
          <a:lstStyle/>
          <a:p>
            <a:pPr algn="l">
              <a:lnSpc>
                <a:spcPct val="115000"/>
              </a:lnSpc>
              <a:spcAft>
                <a:spcPts val="400"/>
              </a:spcAft>
            </a:pPr>
            <a:r>
              <a:rPr sz="1200" b="1" i="0">
                <a:solidFill>
                  <a:srgbClr val="1C4587"/>
                </a:solidFill>
                <a:latin typeface="Inter"/>
              </a:rPr>
              <a:t>Secrets &amp; Validasi</a:t>
            </a:r>
          </a:p>
        </p:txBody>
      </p:sp>
      <p:sp>
        <p:nvSpPr>
          <p:cNvPr id="33" name="Text 14"/>
          <p:cNvSpPr txBox="1"/>
          <p:nvPr/>
        </p:nvSpPr>
        <p:spPr>
          <a:xfrm>
            <a:off x="6099048" y="2148840"/>
            <a:ext cx="2249424" cy="1371600"/>
          </a:xfrm>
          <a:prstGeom prst="rect">
            <a:avLst/>
          </a:prstGeom>
          <a:noFill/>
        </p:spPr>
        <p:txBody>
          <a:bodyPr wrap="square" lIns="45720" rIns="45720" anchor="t">
            <a:spAutoFit/>
          </a:bodyPr>
          <a:lstStyle/>
          <a:p>
            <a:pPr algn="l">
              <a:lnSpc>
                <a:spcPct val="115000"/>
              </a:lnSpc>
              <a:spcAft>
                <a:spcPts val="400"/>
              </a:spcAft>
            </a:pPr>
            <a:r>
              <a:rPr sz="1050" b="0" i="0">
                <a:solidFill>
                  <a:srgbClr val="434343"/>
                </a:solidFill>
                <a:latin typeface="Inter"/>
              </a:rPr>
              <a:t>Menerapkan prinsip secrets handling, input validation, dan least privilege pada API.</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Tema Training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Order Management API</a:t>
            </a:r>
          </a:p>
        </p:txBody>
      </p:sp>
      <p:sp>
        <p:nvSpPr>
          <p:cNvPr id="22" name="Text 3"/>
          <p:cNvSpPr txBox="1"/>
          <p:nvPr/>
        </p:nvSpPr>
        <p:spPr>
          <a:xfrm>
            <a:off x="621792" y="1481328"/>
            <a:ext cx="4297680" cy="324612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Pada training ini, kita akan memakai satu tema yang sama dari awal sampai akhir, yaitu </a:t>
            </a:r>
            <a:r>
              <a:rPr sz="1000" b="1" i="0">
                <a:solidFill>
                  <a:srgbClr val="434343"/>
                </a:solidFill>
                <a:latin typeface="Inter"/>
              </a:rPr>
              <a:t>Order Management API</a:t>
            </a:r>
            <a:r>
              <a:rPr sz="1000" b="0" i="0">
                <a:solidFill>
                  <a:srgbClr val="434343"/>
                </a:solidFill>
                <a:latin typeface="Inter"/>
              </a:rPr>
              <a:t>: API sederhana untuk menerima order, menghitung diskon, menyimpan data order, dan mengirim notifikasi ke customer.</a:t>
            </a:r>
          </a:p>
          <a:p>
            <a:pPr algn="l">
              <a:lnSpc>
                <a:spcPct val="115000"/>
              </a:lnSpc>
              <a:spcAft>
                <a:spcPts val="0"/>
              </a:spcAft>
            </a:pPr>
            <a:endParaRPr sz="1000" b="0" i="0">
              <a:solidFill>
                <a:srgbClr val="434343"/>
              </a:solidFill>
              <a:latin typeface="Inter"/>
            </a:endParaRPr>
          </a:p>
          <a:p>
            <a:pPr algn="l">
              <a:lnSpc>
                <a:spcPct val="115000"/>
              </a:lnSpc>
              <a:spcAft>
                <a:spcPts val="400"/>
              </a:spcAft>
            </a:pPr>
            <a:r>
              <a:rPr sz="1000" b="0" i="0">
                <a:solidFill>
                  <a:srgbClr val="434343"/>
                </a:solidFill>
                <a:latin typeface="Inter"/>
              </a:rPr>
              <a:t>Aplikasi ini kita kembangkan sedikit demi sedikit di setiap sesi. Di Sesi 1 kita mulai dari kode yang masih ditulis di satu file, lalu merapikannya. Hasil akhir setiap sesi menjadi titik awal sesi berikutnya, sampai di Sesi 12 menjadi Order API yang siap production.</a:t>
            </a:r>
          </a:p>
          <a:p>
            <a:pPr algn="l">
              <a:lnSpc>
                <a:spcPct val="115000"/>
              </a:lnSpc>
              <a:spcAft>
                <a:spcPts val="0"/>
              </a:spcAft>
            </a:pPr>
            <a:endParaRPr sz="1000" b="0" i="0">
              <a:solidFill>
                <a:srgbClr val="434343"/>
              </a:solidFill>
              <a:latin typeface="Inter"/>
            </a:endParaRPr>
          </a:p>
          <a:p>
            <a:pPr algn="l">
              <a:lnSpc>
                <a:spcPct val="115000"/>
              </a:lnSpc>
              <a:spcAft>
                <a:spcPts val="400"/>
              </a:spcAft>
            </a:pPr>
            <a:r>
              <a:rPr sz="1000" b="0" i="0">
                <a:solidFill>
                  <a:srgbClr val="434343"/>
                </a:solidFill>
                <a:latin typeface="Inter"/>
              </a:rPr>
              <a:t>Di Sesi 10 (API Security): login OAuth2/JWT, hak akses per role.</a:t>
            </a:r>
          </a:p>
        </p:txBody>
      </p:sp>
      <p:sp>
        <p:nvSpPr>
          <p:cNvPr id="23" name="Box 4"/>
          <p:cNvSpPr/>
          <p:nvPr/>
        </p:nvSpPr>
        <p:spPr>
          <a:xfrm>
            <a:off x="5120640" y="1600200"/>
            <a:ext cx="1828800" cy="402336"/>
          </a:xfrm>
          <a:prstGeom prst="roundRect">
            <a:avLst>
              <a:gd name="adj" fmla="val 27272"/>
            </a:avLst>
          </a:prstGeom>
          <a:solidFill>
            <a:srgbClr val="1C4587"/>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FFFFFF"/>
                </a:solidFill>
                <a:latin typeface="Inter"/>
              </a:rPr>
              <a:t>Terima order</a:t>
            </a:r>
          </a:p>
        </p:txBody>
      </p:sp>
      <p:sp>
        <p:nvSpPr>
          <p:cNvPr id="24" name="Box 5"/>
          <p:cNvSpPr/>
          <p:nvPr/>
        </p:nvSpPr>
        <p:spPr>
          <a:xfrm>
            <a:off x="5120640" y="2167128"/>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Hitung diskon</a:t>
            </a:r>
          </a:p>
        </p:txBody>
      </p:sp>
      <p:cxnSp>
        <p:nvCxnSpPr>
          <p:cNvPr id="25" name="Arrow 6"/>
          <p:cNvCxnSpPr/>
          <p:nvPr/>
        </p:nvCxnSpPr>
        <p:spPr>
          <a:xfrm>
            <a:off x="6035040" y="2002536"/>
            <a:ext cx="0" cy="16459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6" name="Box 7"/>
          <p:cNvSpPr/>
          <p:nvPr/>
        </p:nvSpPr>
        <p:spPr>
          <a:xfrm>
            <a:off x="5120640" y="2734056"/>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Simpan ke database</a:t>
            </a:r>
          </a:p>
        </p:txBody>
      </p:sp>
      <p:cxnSp>
        <p:nvCxnSpPr>
          <p:cNvPr id="27" name="Arrow 8"/>
          <p:cNvCxnSpPr/>
          <p:nvPr/>
        </p:nvCxnSpPr>
        <p:spPr>
          <a:xfrm>
            <a:off x="6035040" y="2569464"/>
            <a:ext cx="0" cy="164592"/>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Box 9"/>
          <p:cNvSpPr/>
          <p:nvPr/>
        </p:nvSpPr>
        <p:spPr>
          <a:xfrm>
            <a:off x="5120640" y="3300984"/>
            <a:ext cx="1828800" cy="402336"/>
          </a:xfrm>
          <a:prstGeom prst="roundRect">
            <a:avLst>
              <a:gd name="adj" fmla="val 27272"/>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73152" rIns="73152" bIns="73152" rtlCol="0" anchor="ctr"/>
          <a:lstStyle/>
          <a:p>
            <a:pPr algn="ctr">
              <a:lnSpc>
                <a:spcPct val="105000"/>
              </a:lnSpc>
              <a:spcAft>
                <a:spcPts val="200"/>
              </a:spcAft>
            </a:pPr>
            <a:r>
              <a:rPr sz="950" b="1" i="0">
                <a:solidFill>
                  <a:srgbClr val="1C4587"/>
                </a:solidFill>
                <a:latin typeface="Inter"/>
              </a:rPr>
              <a:t>Kirim notifikasi</a:t>
            </a:r>
          </a:p>
        </p:txBody>
      </p:sp>
      <p:cxnSp>
        <p:nvCxnSpPr>
          <p:cNvPr id="29" name="Arrow 10"/>
          <p:cNvCxnSpPr/>
          <p:nvPr/>
        </p:nvCxnSpPr>
        <p:spPr>
          <a:xfrm>
            <a:off x="6035040" y="3136391"/>
            <a:ext cx="0" cy="164593"/>
          </a:xfrm>
          <a:prstGeom prst="line">
            <a:avLst/>
          </a:prstGeom>
          <a:ln w="19050">
            <a:solidFill>
              <a:srgbClr val="7A7A7A"/>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Text 11"/>
          <p:cNvSpPr txBox="1"/>
          <p:nvPr/>
        </p:nvSpPr>
        <p:spPr>
          <a:xfrm>
            <a:off x="7086600" y="1600200"/>
            <a:ext cx="1417320" cy="2103120"/>
          </a:xfrm>
          <a:prstGeom prst="rect">
            <a:avLst/>
          </a:prstGeom>
          <a:noFill/>
        </p:spPr>
        <p:txBody>
          <a:bodyPr wrap="square" lIns="45720" rIns="45720" anchor="t">
            <a:spAutoFit/>
          </a:bodyPr>
          <a:lstStyle/>
          <a:p>
            <a:pPr algn="l">
              <a:lnSpc>
                <a:spcPct val="115000"/>
              </a:lnSpc>
              <a:spcAft>
                <a:spcPts val="400"/>
              </a:spcAft>
            </a:pPr>
            <a:r>
              <a:rPr sz="900" b="1" i="0">
                <a:solidFill>
                  <a:srgbClr val="7A7A7A"/>
                </a:solidFill>
                <a:latin typeface="Inter"/>
              </a:rPr>
              <a:t>Aturan diskon</a:t>
            </a:r>
          </a:p>
          <a:p>
            <a:pPr algn="l">
              <a:lnSpc>
                <a:spcPct val="115000"/>
              </a:lnSpc>
              <a:spcAft>
                <a:spcPts val="400"/>
              </a:spcAft>
            </a:pPr>
            <a:r>
              <a:rPr sz="900" b="0" i="0">
                <a:solidFill>
                  <a:srgbClr val="7A7A7A"/>
                </a:solidFill>
                <a:latin typeface="Inter"/>
              </a:rPr>
              <a:t>regular: 0%</a:t>
            </a:r>
          </a:p>
          <a:p>
            <a:pPr algn="l">
              <a:lnSpc>
                <a:spcPct val="115000"/>
              </a:lnSpc>
              <a:spcAft>
                <a:spcPts val="400"/>
              </a:spcAft>
            </a:pPr>
            <a:r>
              <a:rPr sz="900" b="0" i="0">
                <a:solidFill>
                  <a:srgbClr val="7A7A7A"/>
                </a:solidFill>
                <a:latin typeface="Inter"/>
              </a:rPr>
              <a:t>member: 5%</a:t>
            </a:r>
          </a:p>
          <a:p>
            <a:pPr algn="l">
              <a:lnSpc>
                <a:spcPct val="115000"/>
              </a:lnSpc>
              <a:spcAft>
                <a:spcPts val="400"/>
              </a:spcAft>
            </a:pPr>
            <a:r>
              <a:rPr sz="900" b="0" i="0">
                <a:solidFill>
                  <a:srgbClr val="7A7A7A"/>
                </a:solidFill>
                <a:latin typeface="Inter"/>
              </a:rPr>
              <a:t>vip: 10%</a:t>
            </a:r>
          </a:p>
          <a:p>
            <a:pPr algn="l">
              <a:lnSpc>
                <a:spcPct val="115000"/>
              </a:lnSpc>
              <a:spcAft>
                <a:spcPts val="0"/>
              </a:spcAft>
            </a:pPr>
            <a:endParaRPr sz="900" b="0" i="0">
              <a:solidFill>
                <a:srgbClr val="7A7A7A"/>
              </a:solidFill>
              <a:latin typeface="Inter"/>
            </a:endParaRPr>
          </a:p>
          <a:p>
            <a:pPr algn="l">
              <a:lnSpc>
                <a:spcPct val="115000"/>
              </a:lnSpc>
              <a:spcAft>
                <a:spcPts val="400"/>
              </a:spcAft>
            </a:pPr>
            <a:r>
              <a:rPr sz="900" b="1" i="0">
                <a:solidFill>
                  <a:srgbClr val="7A7A7A"/>
                </a:solidFill>
                <a:latin typeface="Inter"/>
              </a:rPr>
              <a:t>Notifikasi</a:t>
            </a:r>
          </a:p>
          <a:p>
            <a:pPr algn="l">
              <a:lnSpc>
                <a:spcPct val="115000"/>
              </a:lnSpc>
              <a:spcAft>
                <a:spcPts val="400"/>
              </a:spcAft>
            </a:pPr>
            <a:r>
              <a:rPr sz="900" b="0" i="0">
                <a:solidFill>
                  <a:srgbClr val="7A7A7A"/>
                </a:solidFill>
                <a:latin typeface="Inter"/>
              </a:rPr>
              <a:t>email atau SMS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Tema Training</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Tahapan Pengembangan Order API</a:t>
            </a:r>
          </a:p>
        </p:txBody>
      </p:sp>
      <p:graphicFrame>
        <p:nvGraphicFramePr>
          <p:cNvPr id="22" name="Table 3"/>
          <p:cNvGraphicFramePr>
            <a:graphicFrameLocks noGrp="1"/>
          </p:cNvGraphicFramePr>
          <p:nvPr/>
        </p:nvGraphicFramePr>
        <p:xfrm>
          <a:off x="621792" y="1463040"/>
          <a:ext cx="7863840" cy="3031236"/>
        </p:xfrm>
        <a:graphic>
          <a:graphicData uri="http://schemas.openxmlformats.org/drawingml/2006/table">
            <a:tbl>
              <a:tblPr firstRow="1" bandRow="1"/>
              <a:tblGrid>
                <a:gridCol w="96012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4846320">
                  <a:extLst>
                    <a:ext uri="{9D8B030D-6E8A-4147-A177-3AD203B41FA5}">
                      <a16:colId xmlns:a16="http://schemas.microsoft.com/office/drawing/2014/main" val="20002"/>
                    </a:ext>
                  </a:extLst>
                </a:gridCol>
              </a:tblGrid>
              <a:tr h="233172">
                <a:tc>
                  <a:txBody>
                    <a:bodyPr/>
                    <a:lstStyle/>
                    <a:p>
                      <a:pPr algn="l">
                        <a:lnSpc>
                          <a:spcPct val="100000"/>
                        </a:lnSpc>
                        <a:spcAft>
                          <a:spcPts val="0"/>
                        </a:spcAft>
                      </a:pPr>
                      <a:r>
                        <a:rPr sz="800" b="1" i="0">
                          <a:solidFill>
                            <a:srgbClr val="FFFFFF"/>
                          </a:solidFill>
                          <a:latin typeface="Inter"/>
                        </a:rPr>
                        <a:t>Sesi</a:t>
                      </a:r>
                    </a:p>
                  </a:txBody>
                  <a:tcPr marL="73152" marR="73152" marT="36576" marB="36576" anchor="ctr">
                    <a:solidFill>
                      <a:srgbClr val="1C4587"/>
                    </a:solidFill>
                  </a:tcPr>
                </a:tc>
                <a:tc>
                  <a:txBody>
                    <a:bodyPr/>
                    <a:lstStyle/>
                    <a:p>
                      <a:pPr algn="l">
                        <a:lnSpc>
                          <a:spcPct val="100000"/>
                        </a:lnSpc>
                        <a:spcAft>
                          <a:spcPts val="0"/>
                        </a:spcAft>
                      </a:pPr>
                      <a:r>
                        <a:rPr sz="800" b="1" i="0">
                          <a:solidFill>
                            <a:srgbClr val="FFFFFF"/>
                          </a:solidFill>
                          <a:latin typeface="Inter"/>
                        </a:rPr>
                        <a:t>Topik</a:t>
                      </a:r>
                    </a:p>
                  </a:txBody>
                  <a:tcPr marL="73152" marR="73152" marT="36576" marB="36576" anchor="ctr">
                    <a:solidFill>
                      <a:srgbClr val="1C4587"/>
                    </a:solidFill>
                  </a:tcPr>
                </a:tc>
                <a:tc>
                  <a:txBody>
                    <a:bodyPr/>
                    <a:lstStyle/>
                    <a:p>
                      <a:pPr algn="l">
                        <a:lnSpc>
                          <a:spcPct val="100000"/>
                        </a:lnSpc>
                        <a:spcAft>
                          <a:spcPts val="0"/>
                        </a:spcAft>
                      </a:pPr>
                      <a:r>
                        <a:rPr sz="800" b="1" i="0">
                          <a:solidFill>
                            <a:srgbClr val="FFFFFF"/>
                          </a:solidFill>
                          <a:latin typeface="Inter"/>
                        </a:rPr>
                        <a:t>Yang ditambahkan ke Order API</a:t>
                      </a:r>
                    </a:p>
                  </a:txBody>
                  <a:tcPr marL="73152" marR="73152" marT="36576" marB="36576" anchor="ctr">
                    <a:solidFill>
                      <a:srgbClr val="1C4587"/>
                    </a:solidFill>
                  </a:tcPr>
                </a:tc>
                <a:extLst>
                  <a:ext uri="{0D108BD9-81ED-4DB2-BD59-A6C34878D82A}">
                    <a16:rowId xmlns:a16="http://schemas.microsoft.com/office/drawing/2014/main" val="10000"/>
                  </a:ext>
                </a:extLst>
              </a:tr>
              <a:tr h="233172">
                <a:tc>
                  <a:txBody>
                    <a:bodyPr/>
                    <a:lstStyle/>
                    <a:p>
                      <a:pPr algn="l">
                        <a:lnSpc>
                          <a:spcPct val="100000"/>
                        </a:lnSpc>
                        <a:spcAft>
                          <a:spcPts val="0"/>
                        </a:spcAft>
                      </a:pPr>
                      <a:r>
                        <a:rPr sz="800" b="1" i="0">
                          <a:solidFill>
                            <a:srgbClr val="1C4587"/>
                          </a:solidFill>
                          <a:latin typeface="Inter"/>
                        </a:rPr>
                        <a:t>1</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Design Patterns</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Kode didalam satu file diperbaiki: Factory, Singleton, Strategy, Repository, Service Layer</a:t>
                      </a:r>
                    </a:p>
                  </a:txBody>
                  <a:tcPr marL="73152" marR="73152" marT="36576" marB="36576" anchor="ctr">
                    <a:solidFill>
                      <a:srgbClr val="FFFFFF"/>
                    </a:solidFill>
                  </a:tcPr>
                </a:tc>
                <a:extLst>
                  <a:ext uri="{0D108BD9-81ED-4DB2-BD59-A6C34878D82A}">
                    <a16:rowId xmlns:a16="http://schemas.microsoft.com/office/drawing/2014/main" val="10001"/>
                  </a:ext>
                </a:extLst>
              </a:tr>
              <a:tr h="233172">
                <a:tc>
                  <a:txBody>
                    <a:bodyPr/>
                    <a:lstStyle/>
                    <a:p>
                      <a:pPr algn="l">
                        <a:lnSpc>
                          <a:spcPct val="100000"/>
                        </a:lnSpc>
                        <a:spcAft>
                          <a:spcPts val="0"/>
                        </a:spcAft>
                      </a:pPr>
                      <a:r>
                        <a:rPr sz="800" b="1" i="0">
                          <a:solidFill>
                            <a:srgbClr val="1C4587"/>
                          </a:solidFill>
                          <a:latin typeface="Inter"/>
                        </a:rPr>
                        <a:t>2</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SOLID &amp; Clean Architecture</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Dipisah per layer: domain, application, infrastructure, api</a:t>
                      </a:r>
                    </a:p>
                  </a:txBody>
                  <a:tcPr marL="73152" marR="73152" marT="36576" marB="36576" anchor="ctr">
                    <a:solidFill>
                      <a:srgbClr val="F3F4F6"/>
                    </a:solidFill>
                  </a:tcPr>
                </a:tc>
                <a:extLst>
                  <a:ext uri="{0D108BD9-81ED-4DB2-BD59-A6C34878D82A}">
                    <a16:rowId xmlns:a16="http://schemas.microsoft.com/office/drawing/2014/main" val="10002"/>
                  </a:ext>
                </a:extLst>
              </a:tr>
              <a:tr h="233172">
                <a:tc>
                  <a:txBody>
                    <a:bodyPr/>
                    <a:lstStyle/>
                    <a:p>
                      <a:pPr algn="l">
                        <a:lnSpc>
                          <a:spcPct val="100000"/>
                        </a:lnSpc>
                        <a:spcAft>
                          <a:spcPts val="0"/>
                        </a:spcAft>
                      </a:pPr>
                      <a:r>
                        <a:rPr sz="800" b="1" i="0">
                          <a:solidFill>
                            <a:srgbClr val="1C4587"/>
                          </a:solidFill>
                          <a:latin typeface="Inter"/>
                        </a:rPr>
                        <a:t>3</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Domain-Driven Design</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Order jadi aggregate, Money value object, aturan bayar &amp; batal</a:t>
                      </a:r>
                    </a:p>
                  </a:txBody>
                  <a:tcPr marL="73152" marR="73152" marT="36576" marB="36576" anchor="ctr">
                    <a:solidFill>
                      <a:srgbClr val="FFFFFF"/>
                    </a:solidFill>
                  </a:tcPr>
                </a:tc>
                <a:extLst>
                  <a:ext uri="{0D108BD9-81ED-4DB2-BD59-A6C34878D82A}">
                    <a16:rowId xmlns:a16="http://schemas.microsoft.com/office/drawing/2014/main" val="10003"/>
                  </a:ext>
                </a:extLst>
              </a:tr>
              <a:tr h="233172">
                <a:tc>
                  <a:txBody>
                    <a:bodyPr/>
                    <a:lstStyle/>
                    <a:p>
                      <a:pPr algn="l">
                        <a:lnSpc>
                          <a:spcPct val="100000"/>
                        </a:lnSpc>
                        <a:spcAft>
                          <a:spcPts val="0"/>
                        </a:spcAft>
                      </a:pPr>
                      <a:r>
                        <a:rPr sz="800" b="1" i="0">
                          <a:solidFill>
                            <a:srgbClr val="1C4587"/>
                          </a:solidFill>
                          <a:latin typeface="Inter"/>
                        </a:rPr>
                        <a:t>4</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Modular FastAPI &amp; ORM</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Router per modul, SQLAlchemy, Unit of Work, format error</a:t>
                      </a:r>
                    </a:p>
                  </a:txBody>
                  <a:tcPr marL="73152" marR="73152" marT="36576" marB="36576" anchor="ctr">
                    <a:solidFill>
                      <a:srgbClr val="F3F4F6"/>
                    </a:solidFill>
                  </a:tcPr>
                </a:tc>
                <a:extLst>
                  <a:ext uri="{0D108BD9-81ED-4DB2-BD59-A6C34878D82A}">
                    <a16:rowId xmlns:a16="http://schemas.microsoft.com/office/drawing/2014/main" val="10004"/>
                  </a:ext>
                </a:extLst>
              </a:tr>
              <a:tr h="233172">
                <a:tc>
                  <a:txBody>
                    <a:bodyPr/>
                    <a:lstStyle/>
                    <a:p>
                      <a:pPr algn="l">
                        <a:lnSpc>
                          <a:spcPct val="100000"/>
                        </a:lnSpc>
                        <a:spcAft>
                          <a:spcPts val="0"/>
                        </a:spcAft>
                      </a:pPr>
                      <a:r>
                        <a:rPr sz="800" b="1" i="0">
                          <a:solidFill>
                            <a:srgbClr val="1C4587"/>
                          </a:solidFill>
                          <a:latin typeface="Inter"/>
                        </a:rPr>
                        <a:t>5</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Celery &amp; Redis</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Notifikasi dan report dikerjakan di background job</a:t>
                      </a:r>
                    </a:p>
                  </a:txBody>
                  <a:tcPr marL="73152" marR="73152" marT="36576" marB="36576" anchor="ctr">
                    <a:solidFill>
                      <a:srgbClr val="FFFFFF"/>
                    </a:solidFill>
                  </a:tcPr>
                </a:tc>
                <a:extLst>
                  <a:ext uri="{0D108BD9-81ED-4DB2-BD59-A6C34878D82A}">
                    <a16:rowId xmlns:a16="http://schemas.microsoft.com/office/drawing/2014/main" val="10005"/>
                  </a:ext>
                </a:extLst>
              </a:tr>
              <a:tr h="233172">
                <a:tc>
                  <a:txBody>
                    <a:bodyPr/>
                    <a:lstStyle/>
                    <a:p>
                      <a:pPr algn="l">
                        <a:lnSpc>
                          <a:spcPct val="100000"/>
                        </a:lnSpc>
                        <a:spcAft>
                          <a:spcPts val="0"/>
                        </a:spcAft>
                      </a:pPr>
                      <a:r>
                        <a:rPr sz="800" b="1" i="0">
                          <a:solidFill>
                            <a:srgbClr val="1C4587"/>
                          </a:solidFill>
                          <a:latin typeface="Inter"/>
                        </a:rPr>
                        <a:t>6</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Caching &amp; Rate Limiting</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Data produk di-cache di Redis, request dibatasi</a:t>
                      </a:r>
                    </a:p>
                  </a:txBody>
                  <a:tcPr marL="73152" marR="73152" marT="36576" marB="36576" anchor="ctr">
                    <a:solidFill>
                      <a:srgbClr val="F3F4F6"/>
                    </a:solidFill>
                  </a:tcPr>
                </a:tc>
                <a:extLst>
                  <a:ext uri="{0D108BD9-81ED-4DB2-BD59-A6C34878D82A}">
                    <a16:rowId xmlns:a16="http://schemas.microsoft.com/office/drawing/2014/main" val="10006"/>
                  </a:ext>
                </a:extLst>
              </a:tr>
              <a:tr h="233172">
                <a:tc>
                  <a:txBody>
                    <a:bodyPr/>
                    <a:lstStyle/>
                    <a:p>
                      <a:pPr algn="l">
                        <a:lnSpc>
                          <a:spcPct val="100000"/>
                        </a:lnSpc>
                        <a:spcAft>
                          <a:spcPts val="0"/>
                        </a:spcAft>
                      </a:pPr>
                      <a:r>
                        <a:rPr sz="800" b="1" i="0">
                          <a:solidFill>
                            <a:srgbClr val="1C4587"/>
                          </a:solidFill>
                          <a:latin typeface="Inter"/>
                        </a:rPr>
                        <a:t>7</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Database Optimization</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PostgreSQL, index, tanpa N+1, pagination</a:t>
                      </a:r>
                    </a:p>
                  </a:txBody>
                  <a:tcPr marL="73152" marR="73152" marT="36576" marB="36576" anchor="ctr">
                    <a:solidFill>
                      <a:srgbClr val="FFFFFF"/>
                    </a:solidFill>
                  </a:tcPr>
                </a:tc>
                <a:extLst>
                  <a:ext uri="{0D108BD9-81ED-4DB2-BD59-A6C34878D82A}">
                    <a16:rowId xmlns:a16="http://schemas.microsoft.com/office/drawing/2014/main" val="10007"/>
                  </a:ext>
                </a:extLst>
              </a:tr>
              <a:tr h="233172">
                <a:tc>
                  <a:txBody>
                    <a:bodyPr/>
                    <a:lstStyle/>
                    <a:p>
                      <a:pPr algn="l">
                        <a:lnSpc>
                          <a:spcPct val="100000"/>
                        </a:lnSpc>
                        <a:spcAft>
                          <a:spcPts val="0"/>
                        </a:spcAft>
                      </a:pPr>
                      <a:r>
                        <a:rPr sz="800" b="1" i="0">
                          <a:solidFill>
                            <a:srgbClr val="1C4587"/>
                          </a:solidFill>
                          <a:latin typeface="Inter"/>
                        </a:rPr>
                        <a:t>8</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RabbitMQ &amp; Kafka</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Event order, consumer notifikasi yang retry-safe</a:t>
                      </a:r>
                    </a:p>
                  </a:txBody>
                  <a:tcPr marL="73152" marR="73152" marT="36576" marB="36576" anchor="ctr">
                    <a:solidFill>
                      <a:srgbClr val="F3F4F6"/>
                    </a:solidFill>
                  </a:tcPr>
                </a:tc>
                <a:extLst>
                  <a:ext uri="{0D108BD9-81ED-4DB2-BD59-A6C34878D82A}">
                    <a16:rowId xmlns:a16="http://schemas.microsoft.com/office/drawing/2014/main" val="10008"/>
                  </a:ext>
                </a:extLst>
              </a:tr>
              <a:tr h="233172">
                <a:tc>
                  <a:txBody>
                    <a:bodyPr/>
                    <a:lstStyle/>
                    <a:p>
                      <a:pPr algn="l">
                        <a:lnSpc>
                          <a:spcPct val="100000"/>
                        </a:lnSpc>
                        <a:spcAft>
                          <a:spcPts val="0"/>
                        </a:spcAft>
                      </a:pPr>
                      <a:r>
                        <a:rPr sz="800" b="1" i="0">
                          <a:solidFill>
                            <a:srgbClr val="1C4587"/>
                          </a:solidFill>
                          <a:latin typeface="Inter"/>
                        </a:rPr>
                        <a:t>9</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Observability</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Log terstruktur, metrics, dan tracing</a:t>
                      </a:r>
                    </a:p>
                  </a:txBody>
                  <a:tcPr marL="73152" marR="73152" marT="36576" marB="36576" anchor="ctr">
                    <a:solidFill>
                      <a:srgbClr val="FFFFFF"/>
                    </a:solidFill>
                  </a:tcPr>
                </a:tc>
                <a:extLst>
                  <a:ext uri="{0D108BD9-81ED-4DB2-BD59-A6C34878D82A}">
                    <a16:rowId xmlns:a16="http://schemas.microsoft.com/office/drawing/2014/main" val="10009"/>
                  </a:ext>
                </a:extLst>
              </a:tr>
              <a:tr h="233172">
                <a:tc>
                  <a:txBody>
                    <a:bodyPr/>
                    <a:lstStyle/>
                    <a:p>
                      <a:pPr algn="l">
                        <a:lnSpc>
                          <a:spcPct val="100000"/>
                        </a:lnSpc>
                        <a:spcAft>
                          <a:spcPts val="0"/>
                        </a:spcAft>
                      </a:pPr>
                      <a:r>
                        <a:rPr sz="800" b="1" i="0">
                          <a:solidFill>
                            <a:srgbClr val="1C4587"/>
                          </a:solidFill>
                          <a:latin typeface="Inter"/>
                        </a:rPr>
                        <a:t>10  (sesi ini)</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API Security</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Login OAuth2/JWT, hak akses per role</a:t>
                      </a:r>
                    </a:p>
                  </a:txBody>
                  <a:tcPr marL="73152" marR="73152" marT="36576" marB="36576" anchor="ctr">
                    <a:solidFill>
                      <a:srgbClr val="F3F4F6"/>
                    </a:solidFill>
                  </a:tcPr>
                </a:tc>
                <a:extLst>
                  <a:ext uri="{0D108BD9-81ED-4DB2-BD59-A6C34878D82A}">
                    <a16:rowId xmlns:a16="http://schemas.microsoft.com/office/drawing/2014/main" val="10010"/>
                  </a:ext>
                </a:extLst>
              </a:tr>
              <a:tr h="233172">
                <a:tc>
                  <a:txBody>
                    <a:bodyPr/>
                    <a:lstStyle/>
                    <a:p>
                      <a:pPr algn="l">
                        <a:lnSpc>
                          <a:spcPct val="100000"/>
                        </a:lnSpc>
                        <a:spcAft>
                          <a:spcPts val="0"/>
                        </a:spcAft>
                      </a:pPr>
                      <a:r>
                        <a:rPr sz="800" b="1" i="0">
                          <a:solidFill>
                            <a:srgbClr val="1C4587"/>
                          </a:solidFill>
                          <a:latin typeface="Inter"/>
                        </a:rPr>
                        <a:t>11</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Docker &amp; CI/CD</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Docker image, Compose, dan pipeline otomatis</a:t>
                      </a:r>
                    </a:p>
                  </a:txBody>
                  <a:tcPr marL="73152" marR="73152" marT="36576" marB="36576" anchor="ctr">
                    <a:solidFill>
                      <a:srgbClr val="FFFFFF"/>
                    </a:solidFill>
                  </a:tcPr>
                </a:tc>
                <a:extLst>
                  <a:ext uri="{0D108BD9-81ED-4DB2-BD59-A6C34878D82A}">
                    <a16:rowId xmlns:a16="http://schemas.microsoft.com/office/drawing/2014/main" val="10011"/>
                  </a:ext>
                </a:extLst>
              </a:tr>
              <a:tr h="233172">
                <a:tc>
                  <a:txBody>
                    <a:bodyPr/>
                    <a:lstStyle/>
                    <a:p>
                      <a:pPr algn="l">
                        <a:lnSpc>
                          <a:spcPct val="100000"/>
                        </a:lnSpc>
                        <a:spcAft>
                          <a:spcPts val="0"/>
                        </a:spcAft>
                      </a:pPr>
                      <a:r>
                        <a:rPr sz="800" b="1" i="0">
                          <a:solidFill>
                            <a:srgbClr val="1C4587"/>
                          </a:solidFill>
                          <a:latin typeface="Inter"/>
                        </a:rPr>
                        <a:t>12</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Final Project</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Order API yang siap production</a:t>
                      </a:r>
                    </a:p>
                  </a:txBody>
                  <a:tcPr marL="73152" marR="73152" marT="36576" marB="36576" anchor="ctr">
                    <a:solidFill>
                      <a:srgbClr val="F3F4F6"/>
                    </a:solidFill>
                  </a:tcPr>
                </a:tc>
                <a:extLst>
                  <a:ext uri="{0D108BD9-81ED-4DB2-BD59-A6C34878D82A}">
                    <a16:rowId xmlns:a16="http://schemas.microsoft.com/office/drawing/2014/main" val="10012"/>
                  </a:ext>
                </a:extLst>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Pengantar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Fitur Library dan Pattern di Sesi Ini</a:t>
            </a:r>
          </a:p>
        </p:txBody>
      </p:sp>
      <p:graphicFrame>
        <p:nvGraphicFramePr>
          <p:cNvPr id="22" name="Table 3"/>
          <p:cNvGraphicFramePr>
            <a:graphicFrameLocks noGrp="1"/>
          </p:cNvGraphicFramePr>
          <p:nvPr/>
        </p:nvGraphicFramePr>
        <p:xfrm>
          <a:off x="621792" y="1481328"/>
          <a:ext cx="7863840" cy="2798064"/>
        </p:xfrm>
        <a:graphic>
          <a:graphicData uri="http://schemas.openxmlformats.org/drawingml/2006/table">
            <a:tbl>
              <a:tblPr firstRow="1" bandRow="1"/>
              <a:tblGrid>
                <a:gridCol w="256032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3840480">
                  <a:extLst>
                    <a:ext uri="{9D8B030D-6E8A-4147-A177-3AD203B41FA5}">
                      <a16:colId xmlns:a16="http://schemas.microsoft.com/office/drawing/2014/main" val="20002"/>
                    </a:ext>
                  </a:extLst>
                </a:gridCol>
              </a:tblGrid>
              <a:tr h="310896">
                <a:tc>
                  <a:txBody>
                    <a:bodyPr/>
                    <a:lstStyle/>
                    <a:p>
                      <a:pPr algn="l">
                        <a:lnSpc>
                          <a:spcPct val="100000"/>
                        </a:lnSpc>
                        <a:spcAft>
                          <a:spcPts val="0"/>
                        </a:spcAft>
                      </a:pPr>
                      <a:r>
                        <a:rPr sz="950" b="1" i="0">
                          <a:solidFill>
                            <a:srgbClr val="FFFFFF"/>
                          </a:solidFill>
                          <a:latin typeface="Inter"/>
                        </a:rPr>
                        <a:t>Topik</a:t>
                      </a:r>
                    </a:p>
                  </a:txBody>
                  <a:tcPr marL="73152" marR="73152" marT="36576" marB="36576" anchor="ctr">
                    <a:solidFill>
                      <a:srgbClr val="1C4587"/>
                    </a:solidFill>
                  </a:tcPr>
                </a:tc>
                <a:tc>
                  <a:txBody>
                    <a:bodyPr/>
                    <a:lstStyle/>
                    <a:p>
                      <a:pPr algn="l">
                        <a:lnSpc>
                          <a:spcPct val="100000"/>
                        </a:lnSpc>
                        <a:spcAft>
                          <a:spcPts val="0"/>
                        </a:spcAft>
                      </a:pPr>
                      <a:r>
                        <a:rPr sz="950" b="1" i="0">
                          <a:solidFill>
                            <a:srgbClr val="FFFFFF"/>
                          </a:solidFill>
                          <a:latin typeface="Inter"/>
                        </a:rPr>
                        <a:t>Jenisnya</a:t>
                      </a:r>
                    </a:p>
                  </a:txBody>
                  <a:tcPr marL="73152" marR="73152" marT="36576" marB="36576" anchor="ctr">
                    <a:solidFill>
                      <a:srgbClr val="1C4587"/>
                    </a:solidFill>
                  </a:tcPr>
                </a:tc>
                <a:tc>
                  <a:txBody>
                    <a:bodyPr/>
                    <a:lstStyle/>
                    <a:p>
                      <a:pPr algn="l">
                        <a:lnSpc>
                          <a:spcPct val="100000"/>
                        </a:lnSpc>
                        <a:spcAft>
                          <a:spcPts val="0"/>
                        </a:spcAft>
                      </a:pPr>
                      <a:r>
                        <a:rPr sz="950" b="1" i="0">
                          <a:solidFill>
                            <a:srgbClr val="FFFFFF"/>
                          </a:solidFill>
                          <a:latin typeface="Inter"/>
                        </a:rPr>
                        <a:t>Disediakan oleh</a:t>
                      </a:r>
                    </a:p>
                  </a:txBody>
                  <a:tcPr marL="73152" marR="73152" marT="36576" marB="36576" anchor="ctr">
                    <a:solidFill>
                      <a:srgbClr val="1C4587"/>
                    </a:solidFill>
                  </a:tcPr>
                </a:tc>
                <a:extLst>
                  <a:ext uri="{0D108BD9-81ED-4DB2-BD59-A6C34878D82A}">
                    <a16:rowId xmlns:a16="http://schemas.microsoft.com/office/drawing/2014/main" val="10000"/>
                  </a:ext>
                </a:extLst>
              </a:tr>
              <a:tr h="310896">
                <a:tc>
                  <a:txBody>
                    <a:bodyPr/>
                    <a:lstStyle/>
                    <a:p>
                      <a:pPr algn="l">
                        <a:lnSpc>
                          <a:spcPct val="100000"/>
                        </a:lnSpc>
                        <a:spcAft>
                          <a:spcPts val="0"/>
                        </a:spcAft>
                      </a:pPr>
                      <a:r>
                        <a:rPr sz="950" b="1" i="0">
                          <a:solidFill>
                            <a:srgbClr val="1C4587"/>
                          </a:solidFill>
                          <a:latin typeface="Inter"/>
                        </a:rPr>
                        <a:t>Cek pemilik data (access control)</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Aturan keamanan</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Ditulis sendiri di use case</a:t>
                      </a:r>
                    </a:p>
                  </a:txBody>
                  <a:tcPr marL="73152" marR="73152" marT="36576" marB="36576" anchor="ctr">
                    <a:solidFill>
                      <a:srgbClr val="FFFFFF"/>
                    </a:solidFill>
                  </a:tcPr>
                </a:tc>
                <a:extLst>
                  <a:ext uri="{0D108BD9-81ED-4DB2-BD59-A6C34878D82A}">
                    <a16:rowId xmlns:a16="http://schemas.microsoft.com/office/drawing/2014/main" val="10001"/>
                  </a:ext>
                </a:extLst>
              </a:tr>
              <a:tr h="310896">
                <a:tc>
                  <a:txBody>
                    <a:bodyPr/>
                    <a:lstStyle/>
                    <a:p>
                      <a:pPr algn="l">
                        <a:lnSpc>
                          <a:spcPct val="100000"/>
                        </a:lnSpc>
                        <a:spcAft>
                          <a:spcPts val="0"/>
                        </a:spcAft>
                      </a:pPr>
                      <a:r>
                        <a:rPr sz="950" b="1" i="0">
                          <a:solidFill>
                            <a:srgbClr val="1C4587"/>
                          </a:solidFill>
                          <a:latin typeface="Inter"/>
                        </a:rPr>
                        <a:t>Parameter query</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Fitur library</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sqlite3, SQLAlchemy: placeholder ? atau :param</a:t>
                      </a:r>
                    </a:p>
                  </a:txBody>
                  <a:tcPr marL="73152" marR="73152" marT="36576" marB="36576" anchor="ctr">
                    <a:solidFill>
                      <a:srgbClr val="F3F4F6"/>
                    </a:solidFill>
                  </a:tcPr>
                </a:tc>
                <a:extLst>
                  <a:ext uri="{0D108BD9-81ED-4DB2-BD59-A6C34878D82A}">
                    <a16:rowId xmlns:a16="http://schemas.microsoft.com/office/drawing/2014/main" val="10002"/>
                  </a:ext>
                </a:extLst>
              </a:tr>
              <a:tr h="310896">
                <a:tc>
                  <a:txBody>
                    <a:bodyPr/>
                    <a:lstStyle/>
                    <a:p>
                      <a:pPr algn="l">
                        <a:lnSpc>
                          <a:spcPct val="100000"/>
                        </a:lnSpc>
                        <a:spcAft>
                          <a:spcPts val="0"/>
                        </a:spcAft>
                      </a:pPr>
                      <a:r>
                        <a:rPr sz="950" b="1" i="0">
                          <a:solidFill>
                            <a:srgbClr val="1C4587"/>
                          </a:solidFill>
                          <a:latin typeface="Inter"/>
                        </a:rPr>
                        <a:t>Setting production</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Konfigurasi</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FastAPI (docs_url), CORSMiddleware</a:t>
                      </a:r>
                    </a:p>
                  </a:txBody>
                  <a:tcPr marL="73152" marR="73152" marT="36576" marB="36576" anchor="ctr">
                    <a:solidFill>
                      <a:srgbClr val="FFFFFF"/>
                    </a:solidFill>
                  </a:tcPr>
                </a:tc>
                <a:extLst>
                  <a:ext uri="{0D108BD9-81ED-4DB2-BD59-A6C34878D82A}">
                    <a16:rowId xmlns:a16="http://schemas.microsoft.com/office/drawing/2014/main" val="10003"/>
                  </a:ext>
                </a:extLst>
              </a:tr>
              <a:tr h="310896">
                <a:tc>
                  <a:txBody>
                    <a:bodyPr/>
                    <a:lstStyle/>
                    <a:p>
                      <a:pPr algn="l">
                        <a:lnSpc>
                          <a:spcPct val="100000"/>
                        </a:lnSpc>
                        <a:spcAft>
                          <a:spcPts val="0"/>
                        </a:spcAft>
                      </a:pPr>
                      <a:r>
                        <a:rPr sz="950" b="1" i="0">
                          <a:solidFill>
                            <a:srgbClr val="1C4587"/>
                          </a:solidFill>
                          <a:latin typeface="Inter"/>
                        </a:rPr>
                        <a:t>JWT</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Standar token</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Library PyJWT</a:t>
                      </a:r>
                    </a:p>
                  </a:txBody>
                  <a:tcPr marL="73152" marR="73152" marT="36576" marB="36576" anchor="ctr">
                    <a:solidFill>
                      <a:srgbClr val="F3F4F6"/>
                    </a:solidFill>
                  </a:tcPr>
                </a:tc>
                <a:extLst>
                  <a:ext uri="{0D108BD9-81ED-4DB2-BD59-A6C34878D82A}">
                    <a16:rowId xmlns:a16="http://schemas.microsoft.com/office/drawing/2014/main" val="10004"/>
                  </a:ext>
                </a:extLst>
              </a:tr>
              <a:tr h="310896">
                <a:tc>
                  <a:txBody>
                    <a:bodyPr/>
                    <a:lstStyle/>
                    <a:p>
                      <a:pPr algn="l">
                        <a:lnSpc>
                          <a:spcPct val="100000"/>
                        </a:lnSpc>
                        <a:spcAft>
                          <a:spcPts val="0"/>
                        </a:spcAft>
                      </a:pPr>
                      <a:r>
                        <a:rPr sz="950" b="1" i="0">
                          <a:solidFill>
                            <a:srgbClr val="1C4587"/>
                          </a:solidFill>
                          <a:latin typeface="Inter"/>
                        </a:rPr>
                        <a:t>OAuth2 password flow + Bearer</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Fitur FastAPI</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OAuth2PasswordBearer, OAuth2PasswordRequestForm</a:t>
                      </a:r>
                    </a:p>
                  </a:txBody>
                  <a:tcPr marL="73152" marR="73152" marT="36576" marB="36576" anchor="ctr">
                    <a:solidFill>
                      <a:srgbClr val="FFFFFF"/>
                    </a:solidFill>
                  </a:tcPr>
                </a:tc>
                <a:extLst>
                  <a:ext uri="{0D108BD9-81ED-4DB2-BD59-A6C34878D82A}">
                    <a16:rowId xmlns:a16="http://schemas.microsoft.com/office/drawing/2014/main" val="10005"/>
                  </a:ext>
                </a:extLst>
              </a:tr>
              <a:tr h="310896">
                <a:tc>
                  <a:txBody>
                    <a:bodyPr/>
                    <a:lstStyle/>
                    <a:p>
                      <a:pPr algn="l">
                        <a:lnSpc>
                          <a:spcPct val="100000"/>
                        </a:lnSpc>
                        <a:spcAft>
                          <a:spcPts val="0"/>
                        </a:spcAft>
                      </a:pPr>
                      <a:r>
                        <a:rPr sz="950" b="1" i="0">
                          <a:solidFill>
                            <a:srgbClr val="1C4587"/>
                          </a:solidFill>
                          <a:latin typeface="Inter"/>
                        </a:rPr>
                        <a:t>Hash password</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Fitur library</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pwdlib dengan algoritma Argon2</a:t>
                      </a:r>
                    </a:p>
                  </a:txBody>
                  <a:tcPr marL="73152" marR="73152" marT="36576" marB="36576" anchor="ctr">
                    <a:solidFill>
                      <a:srgbClr val="F3F4F6"/>
                    </a:solidFill>
                  </a:tcPr>
                </a:tc>
                <a:extLst>
                  <a:ext uri="{0D108BD9-81ED-4DB2-BD59-A6C34878D82A}">
                    <a16:rowId xmlns:a16="http://schemas.microsoft.com/office/drawing/2014/main" val="10006"/>
                  </a:ext>
                </a:extLst>
              </a:tr>
              <a:tr h="310896">
                <a:tc>
                  <a:txBody>
                    <a:bodyPr/>
                    <a:lstStyle/>
                    <a:p>
                      <a:pPr algn="l">
                        <a:lnSpc>
                          <a:spcPct val="100000"/>
                        </a:lnSpc>
                        <a:spcAft>
                          <a:spcPts val="0"/>
                        </a:spcAft>
                      </a:pPr>
                      <a:r>
                        <a:rPr sz="950" b="1" i="0">
                          <a:solidFill>
                            <a:srgbClr val="1C4587"/>
                          </a:solidFill>
                          <a:latin typeface="Inter"/>
                        </a:rPr>
                        <a:t>RBAC dan scope</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Fitur FastAPI</a:t>
                      </a:r>
                    </a:p>
                  </a:txBody>
                  <a:tcPr marL="73152" marR="73152" marT="36576" marB="36576" anchor="ctr">
                    <a:solidFill>
                      <a:srgbClr val="FFFFFF"/>
                    </a:solidFill>
                  </a:tcPr>
                </a:tc>
                <a:tc>
                  <a:txBody>
                    <a:bodyPr/>
                    <a:lstStyle/>
                    <a:p>
                      <a:pPr algn="l">
                        <a:lnSpc>
                          <a:spcPct val="100000"/>
                        </a:lnSpc>
                        <a:spcAft>
                          <a:spcPts val="0"/>
                        </a:spcAft>
                      </a:pPr>
                      <a:r>
                        <a:rPr sz="950" b="0" i="0">
                          <a:solidFill>
                            <a:srgbClr val="434343"/>
                          </a:solidFill>
                          <a:latin typeface="Inter"/>
                        </a:rPr>
                        <a:t>Security(..., scopes=[...]), SecurityScopes</a:t>
                      </a:r>
                    </a:p>
                  </a:txBody>
                  <a:tcPr marL="73152" marR="73152" marT="36576" marB="36576" anchor="ctr">
                    <a:solidFill>
                      <a:srgbClr val="FFFFFF"/>
                    </a:solidFill>
                  </a:tcPr>
                </a:tc>
                <a:extLst>
                  <a:ext uri="{0D108BD9-81ED-4DB2-BD59-A6C34878D82A}">
                    <a16:rowId xmlns:a16="http://schemas.microsoft.com/office/drawing/2014/main" val="10007"/>
                  </a:ext>
                </a:extLst>
              </a:tr>
              <a:tr h="310896">
                <a:tc>
                  <a:txBody>
                    <a:bodyPr/>
                    <a:lstStyle/>
                    <a:p>
                      <a:pPr algn="l">
                        <a:lnSpc>
                          <a:spcPct val="100000"/>
                        </a:lnSpc>
                        <a:spcAft>
                          <a:spcPts val="0"/>
                        </a:spcAft>
                      </a:pPr>
                      <a:r>
                        <a:rPr sz="950" b="1" i="0">
                          <a:solidFill>
                            <a:srgbClr val="1C4587"/>
                          </a:solidFill>
                          <a:latin typeface="Inter"/>
                        </a:rPr>
                        <a:t>Secrets dan validasi input</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Fitur library</a:t>
                      </a:r>
                    </a:p>
                  </a:txBody>
                  <a:tcPr marL="73152" marR="73152" marT="36576" marB="36576" anchor="ctr">
                    <a:solidFill>
                      <a:srgbClr val="F3F4F6"/>
                    </a:solidFill>
                  </a:tcPr>
                </a:tc>
                <a:tc>
                  <a:txBody>
                    <a:bodyPr/>
                    <a:lstStyle/>
                    <a:p>
                      <a:pPr algn="l">
                        <a:lnSpc>
                          <a:spcPct val="100000"/>
                        </a:lnSpc>
                        <a:spcAft>
                          <a:spcPts val="0"/>
                        </a:spcAft>
                      </a:pPr>
                      <a:r>
                        <a:rPr sz="950" b="0" i="0">
                          <a:solidFill>
                            <a:srgbClr val="434343"/>
                          </a:solidFill>
                          <a:latin typeface="Inter"/>
                        </a:rPr>
                        <a:t>pydantic-settings (SecretStr), Pydantic Field</a:t>
                      </a:r>
                    </a:p>
                  </a:txBody>
                  <a:tcPr marL="73152" marR="73152" marT="36576" marB="36576" anchor="ctr">
                    <a:solidFill>
                      <a:srgbClr val="F3F4F6"/>
                    </a:solidFill>
                  </a:tcPr>
                </a:tc>
                <a:extLst>
                  <a:ext uri="{0D108BD9-81ED-4DB2-BD59-A6C34878D82A}">
                    <a16:rowId xmlns:a16="http://schemas.microsoft.com/office/drawing/2014/main" val="10008"/>
                  </a:ext>
                </a:extLst>
              </a:tr>
            </a:tbl>
          </a:graphicData>
        </a:graphic>
      </p:graphicFrame>
      <p:sp>
        <p:nvSpPr>
          <p:cNvPr id="23" name="Text 4"/>
          <p:cNvSpPr txBox="1"/>
          <p:nvPr/>
        </p:nvSpPr>
        <p:spPr>
          <a:xfrm>
            <a:off x="621792" y="4526280"/>
            <a:ext cx="7863840" cy="274320"/>
          </a:xfrm>
          <a:prstGeom prst="rect">
            <a:avLst/>
          </a:prstGeom>
          <a:noFill/>
        </p:spPr>
        <p:txBody>
          <a:bodyPr wrap="square" lIns="45720" rIns="45720" anchor="t">
            <a:spAutoFit/>
          </a:bodyPr>
          <a:lstStyle/>
          <a:p>
            <a:pPr algn="l">
              <a:lnSpc>
                <a:spcPct val="115000"/>
              </a:lnSpc>
              <a:spcAft>
                <a:spcPts val="400"/>
              </a:spcAft>
            </a:pPr>
            <a:r>
              <a:rPr sz="950" b="0" i="0">
                <a:solidFill>
                  <a:srgbClr val="1C4587"/>
                </a:solidFill>
                <a:latin typeface="Inter"/>
              </a:rPr>
              <a:t>Bagian 1 membahas celah keamanan umum, bagian 2 login dan hak akses, bagian 3 secrets dan validasi input.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Pengantar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OWASP API Security Top 10?</a:t>
            </a:r>
          </a:p>
        </p:txBody>
      </p:sp>
      <p:sp>
        <p:nvSpPr>
          <p:cNvPr id="22" name="Text 3"/>
          <p:cNvSpPr txBox="1"/>
          <p:nvPr/>
        </p:nvSpPr>
        <p:spPr>
          <a:xfrm>
            <a:off x="621792" y="1481328"/>
            <a:ext cx="384048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OWASP API Security Top 10 adalah</a:t>
            </a:r>
          </a:p>
          <a:p>
            <a:pPr algn="l">
              <a:lnSpc>
                <a:spcPct val="115000"/>
              </a:lnSpc>
              <a:spcAft>
                <a:spcPts val="400"/>
              </a:spcAft>
            </a:pPr>
            <a:r>
              <a:rPr sz="950" b="0" i="0">
                <a:solidFill>
                  <a:srgbClr val="434343"/>
                </a:solidFill>
                <a:latin typeface="Inter"/>
              </a:rPr>
              <a:t>Daftar 10 risiko keamanan API yang paling sering ditemukan, disusun oleh </a:t>
            </a:r>
            <a:r>
              <a:rPr sz="950" b="1" i="0">
                <a:solidFill>
                  <a:srgbClr val="434343"/>
                </a:solidFill>
                <a:latin typeface="Inter"/>
              </a:rPr>
              <a:t>OWASP</a:t>
            </a:r>
            <a:r>
              <a:rPr sz="950" b="0" i="0">
                <a:solidFill>
                  <a:srgbClr val="434343"/>
                </a:solidFill>
                <a:latin typeface="Inter"/>
              </a:rPr>
              <a:t> (Open Worldwide Application Security Project), komunitas keamanan aplikasi yang terbuka. Sehingga tim developer punya daftar acuan yang sama saat membangun dan me-review API.</a:t>
            </a:r>
          </a:p>
          <a:p>
            <a:pPr algn="l">
              <a:lnSpc>
                <a:spcPct val="115000"/>
              </a:lnSpc>
              <a:spcAft>
                <a:spcPts val="400"/>
              </a:spcAft>
            </a:pPr>
            <a:r>
              <a:rPr sz="105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Mengenali celah yang paling sering dipakai penyerang</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Menjadi checklist saat code review dan sebelum rilis</a:t>
            </a:r>
          </a:p>
        </p:txBody>
      </p:sp>
      <p:graphicFrame>
        <p:nvGraphicFramePr>
          <p:cNvPr id="23" name="Table 4"/>
          <p:cNvGraphicFramePr>
            <a:graphicFrameLocks noGrp="1"/>
          </p:cNvGraphicFramePr>
          <p:nvPr/>
        </p:nvGraphicFramePr>
        <p:xfrm>
          <a:off x="4892040" y="1481328"/>
          <a:ext cx="3593592" cy="2560320"/>
        </p:xfrm>
        <a:graphic>
          <a:graphicData uri="http://schemas.openxmlformats.org/drawingml/2006/table">
            <a:tbl>
              <a:tblPr firstRow="1" bandRow="1"/>
              <a:tblGrid>
                <a:gridCol w="2587752">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tblGrid>
              <a:tr h="365760">
                <a:tc>
                  <a:txBody>
                    <a:bodyPr/>
                    <a:lstStyle/>
                    <a:p>
                      <a:pPr algn="l">
                        <a:lnSpc>
                          <a:spcPct val="100000"/>
                        </a:lnSpc>
                        <a:spcAft>
                          <a:spcPts val="0"/>
                        </a:spcAft>
                      </a:pPr>
                      <a:r>
                        <a:rPr sz="800" b="1" i="0">
                          <a:solidFill>
                            <a:srgbClr val="FFFFFF"/>
                          </a:solidFill>
                          <a:latin typeface="Inter"/>
                        </a:rPr>
                        <a:t>Risiko (versi 2023)</a:t>
                      </a:r>
                    </a:p>
                  </a:txBody>
                  <a:tcPr marL="73152" marR="73152" marT="36576" marB="36576" anchor="ctr">
                    <a:solidFill>
                      <a:srgbClr val="1C4587"/>
                    </a:solidFill>
                  </a:tcPr>
                </a:tc>
                <a:tc>
                  <a:txBody>
                    <a:bodyPr/>
                    <a:lstStyle/>
                    <a:p>
                      <a:pPr algn="l">
                        <a:lnSpc>
                          <a:spcPct val="100000"/>
                        </a:lnSpc>
                        <a:spcAft>
                          <a:spcPts val="0"/>
                        </a:spcAft>
                      </a:pPr>
                      <a:r>
                        <a:rPr sz="800" b="1" i="0">
                          <a:solidFill>
                            <a:srgbClr val="FFFFFF"/>
                          </a:solidFill>
                          <a:latin typeface="Inter"/>
                        </a:rPr>
                        <a:t>Di sesi ini</a:t>
                      </a:r>
                    </a:p>
                  </a:txBody>
                  <a:tcPr marL="73152" marR="73152" marT="36576" marB="36576" anchor="ctr">
                    <a:solidFill>
                      <a:srgbClr val="1C4587"/>
                    </a:solidFill>
                  </a:tcPr>
                </a:tc>
                <a:extLst>
                  <a:ext uri="{0D108BD9-81ED-4DB2-BD59-A6C34878D82A}">
                    <a16:rowId xmlns:a16="http://schemas.microsoft.com/office/drawing/2014/main" val="10000"/>
                  </a:ext>
                </a:extLst>
              </a:tr>
              <a:tr h="365760">
                <a:tc>
                  <a:txBody>
                    <a:bodyPr/>
                    <a:lstStyle/>
                    <a:p>
                      <a:pPr algn="l">
                        <a:lnSpc>
                          <a:spcPct val="100000"/>
                        </a:lnSpc>
                        <a:spcAft>
                          <a:spcPts val="0"/>
                        </a:spcAft>
                      </a:pPr>
                      <a:r>
                        <a:rPr sz="800" b="1" i="0">
                          <a:solidFill>
                            <a:srgbClr val="1C4587"/>
                          </a:solidFill>
                          <a:latin typeface="Inter"/>
                        </a:rPr>
                        <a:t>API1 Broken Object Level Authorization</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Contoh 01</a:t>
                      </a:r>
                    </a:p>
                  </a:txBody>
                  <a:tcPr marL="73152" marR="73152" marT="36576" marB="36576" anchor="ctr">
                    <a:solidFill>
                      <a:srgbClr val="FFFFFF"/>
                    </a:solidFill>
                  </a:tcPr>
                </a:tc>
                <a:extLst>
                  <a:ext uri="{0D108BD9-81ED-4DB2-BD59-A6C34878D82A}">
                    <a16:rowId xmlns:a16="http://schemas.microsoft.com/office/drawing/2014/main" val="10001"/>
                  </a:ext>
                </a:extLst>
              </a:tr>
              <a:tr h="365760">
                <a:tc>
                  <a:txBody>
                    <a:bodyPr/>
                    <a:lstStyle/>
                    <a:p>
                      <a:pPr algn="l">
                        <a:lnSpc>
                          <a:spcPct val="100000"/>
                        </a:lnSpc>
                        <a:spcAft>
                          <a:spcPts val="0"/>
                        </a:spcAft>
                      </a:pPr>
                      <a:r>
                        <a:rPr sz="800" b="1" i="0">
                          <a:solidFill>
                            <a:srgbClr val="1C4587"/>
                          </a:solidFill>
                          <a:latin typeface="Inter"/>
                        </a:rPr>
                        <a:t>API2 Broken Authentication</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Contoh 04, 05</a:t>
                      </a:r>
                    </a:p>
                  </a:txBody>
                  <a:tcPr marL="73152" marR="73152" marT="36576" marB="36576" anchor="ctr">
                    <a:solidFill>
                      <a:srgbClr val="F3F4F6"/>
                    </a:solidFill>
                  </a:tcPr>
                </a:tc>
                <a:extLst>
                  <a:ext uri="{0D108BD9-81ED-4DB2-BD59-A6C34878D82A}">
                    <a16:rowId xmlns:a16="http://schemas.microsoft.com/office/drawing/2014/main" val="10002"/>
                  </a:ext>
                </a:extLst>
              </a:tr>
              <a:tr h="365760">
                <a:tc>
                  <a:txBody>
                    <a:bodyPr/>
                    <a:lstStyle/>
                    <a:p>
                      <a:pPr algn="l">
                        <a:lnSpc>
                          <a:spcPct val="100000"/>
                        </a:lnSpc>
                        <a:spcAft>
                          <a:spcPts val="0"/>
                        </a:spcAft>
                      </a:pPr>
                      <a:r>
                        <a:rPr sz="800" b="1" i="0">
                          <a:solidFill>
                            <a:srgbClr val="1C4587"/>
                          </a:solidFill>
                          <a:latin typeface="Inter"/>
                        </a:rPr>
                        <a:t>API3 Broken Object Property Level Authorization</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Contoh 08</a:t>
                      </a:r>
                    </a:p>
                  </a:txBody>
                  <a:tcPr marL="73152" marR="73152" marT="36576" marB="36576" anchor="ctr">
                    <a:solidFill>
                      <a:srgbClr val="FFFFFF"/>
                    </a:solidFill>
                  </a:tcPr>
                </a:tc>
                <a:extLst>
                  <a:ext uri="{0D108BD9-81ED-4DB2-BD59-A6C34878D82A}">
                    <a16:rowId xmlns:a16="http://schemas.microsoft.com/office/drawing/2014/main" val="10003"/>
                  </a:ext>
                </a:extLst>
              </a:tr>
              <a:tr h="365760">
                <a:tc>
                  <a:txBody>
                    <a:bodyPr/>
                    <a:lstStyle/>
                    <a:p>
                      <a:pPr algn="l">
                        <a:lnSpc>
                          <a:spcPct val="100000"/>
                        </a:lnSpc>
                        <a:spcAft>
                          <a:spcPts val="0"/>
                        </a:spcAft>
                      </a:pPr>
                      <a:r>
                        <a:rPr sz="800" b="1" i="0">
                          <a:solidFill>
                            <a:srgbClr val="1C4587"/>
                          </a:solidFill>
                          <a:latin typeface="Inter"/>
                        </a:rPr>
                        <a:t>API5 Broken Function Level Authorization</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Contoh 06</a:t>
                      </a:r>
                    </a:p>
                  </a:txBody>
                  <a:tcPr marL="73152" marR="73152" marT="36576" marB="36576" anchor="ctr">
                    <a:solidFill>
                      <a:srgbClr val="F3F4F6"/>
                    </a:solidFill>
                  </a:tcPr>
                </a:tc>
                <a:extLst>
                  <a:ext uri="{0D108BD9-81ED-4DB2-BD59-A6C34878D82A}">
                    <a16:rowId xmlns:a16="http://schemas.microsoft.com/office/drawing/2014/main" val="10004"/>
                  </a:ext>
                </a:extLst>
              </a:tr>
              <a:tr h="365760">
                <a:tc>
                  <a:txBody>
                    <a:bodyPr/>
                    <a:lstStyle/>
                    <a:p>
                      <a:pPr algn="l">
                        <a:lnSpc>
                          <a:spcPct val="100000"/>
                        </a:lnSpc>
                        <a:spcAft>
                          <a:spcPts val="0"/>
                        </a:spcAft>
                      </a:pPr>
                      <a:r>
                        <a:rPr sz="800" b="1" i="0">
                          <a:solidFill>
                            <a:srgbClr val="1C4587"/>
                          </a:solidFill>
                          <a:latin typeface="Inter"/>
                        </a:rPr>
                        <a:t>API8 Security Misconfiguration</a:t>
                      </a:r>
                    </a:p>
                  </a:txBody>
                  <a:tcPr marL="73152" marR="73152" marT="36576" marB="36576" anchor="ctr">
                    <a:solidFill>
                      <a:srgbClr val="FFFFFF"/>
                    </a:solidFill>
                  </a:tcPr>
                </a:tc>
                <a:tc>
                  <a:txBody>
                    <a:bodyPr/>
                    <a:lstStyle/>
                    <a:p>
                      <a:pPr algn="l">
                        <a:lnSpc>
                          <a:spcPct val="100000"/>
                        </a:lnSpc>
                        <a:spcAft>
                          <a:spcPts val="0"/>
                        </a:spcAft>
                      </a:pPr>
                      <a:r>
                        <a:rPr sz="800" b="0" i="0">
                          <a:solidFill>
                            <a:srgbClr val="434343"/>
                          </a:solidFill>
                          <a:latin typeface="Inter"/>
                        </a:rPr>
                        <a:t>Contoh 03, 07</a:t>
                      </a:r>
                    </a:p>
                  </a:txBody>
                  <a:tcPr marL="73152" marR="73152" marT="36576" marB="36576" anchor="ctr">
                    <a:solidFill>
                      <a:srgbClr val="FFFFFF"/>
                    </a:solidFill>
                  </a:tcPr>
                </a:tc>
                <a:extLst>
                  <a:ext uri="{0D108BD9-81ED-4DB2-BD59-A6C34878D82A}">
                    <a16:rowId xmlns:a16="http://schemas.microsoft.com/office/drawing/2014/main" val="10005"/>
                  </a:ext>
                </a:extLst>
              </a:tr>
              <a:tr h="365760">
                <a:tc>
                  <a:txBody>
                    <a:bodyPr/>
                    <a:lstStyle/>
                    <a:p>
                      <a:pPr algn="l">
                        <a:lnSpc>
                          <a:spcPct val="100000"/>
                        </a:lnSpc>
                        <a:spcAft>
                          <a:spcPts val="0"/>
                        </a:spcAft>
                      </a:pPr>
                      <a:r>
                        <a:rPr sz="800" b="1" i="0">
                          <a:solidFill>
                            <a:srgbClr val="1C4587"/>
                          </a:solidFill>
                          <a:latin typeface="Inter"/>
                        </a:rPr>
                        <a:t>Injection (OWASP Top 10 web, A03)</a:t>
                      </a:r>
                    </a:p>
                  </a:txBody>
                  <a:tcPr marL="73152" marR="73152" marT="36576" marB="36576" anchor="ctr">
                    <a:solidFill>
                      <a:srgbClr val="F3F4F6"/>
                    </a:solidFill>
                  </a:tcPr>
                </a:tc>
                <a:tc>
                  <a:txBody>
                    <a:bodyPr/>
                    <a:lstStyle/>
                    <a:p>
                      <a:pPr algn="l">
                        <a:lnSpc>
                          <a:spcPct val="100000"/>
                        </a:lnSpc>
                        <a:spcAft>
                          <a:spcPts val="0"/>
                        </a:spcAft>
                      </a:pPr>
                      <a:r>
                        <a:rPr sz="800" b="0" i="0">
                          <a:solidFill>
                            <a:srgbClr val="434343"/>
                          </a:solidFill>
                          <a:latin typeface="Inter"/>
                        </a:rPr>
                        <a:t>Contoh 02</a:t>
                      </a:r>
                    </a:p>
                  </a:txBody>
                  <a:tcPr marL="73152" marR="73152" marT="36576" marB="36576" anchor="ctr">
                    <a:solidFill>
                      <a:srgbClr val="F3F4F6"/>
                    </a:solid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8</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01</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Celah Keamanan Umum</a:t>
            </a:r>
          </a:p>
        </p:txBody>
      </p:sp>
      <p:sp>
        <p:nvSpPr>
          <p:cNvPr id="33" name="Text 3"/>
          <p:cNvSpPr txBox="1"/>
          <p:nvPr/>
        </p:nvSpPr>
        <p:spPr>
          <a:xfrm>
            <a:off x="822960" y="274320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Broken access control, injection, dan security misconfiguration.</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Broken Access Control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Broken Access Control?</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Broken access control adalah</a:t>
            </a:r>
          </a:p>
          <a:p>
            <a:pPr algn="l">
              <a:lnSpc>
                <a:spcPct val="115000"/>
              </a:lnSpc>
              <a:spcAft>
                <a:spcPts val="400"/>
              </a:spcAft>
            </a:pPr>
            <a:r>
              <a:rPr sz="900" b="0" i="0">
                <a:solidFill>
                  <a:srgbClr val="434343"/>
                </a:solidFill>
                <a:latin typeface="Inter"/>
              </a:rPr>
              <a:t>Celah keamanan saat API tidak mengecek apakah user yang sudah login </a:t>
            </a:r>
            <a:r>
              <a:rPr sz="900" b="1" i="0">
                <a:solidFill>
                  <a:srgbClr val="434343"/>
                </a:solidFill>
                <a:latin typeface="Inter"/>
              </a:rPr>
              <a:t>berhak</a:t>
            </a:r>
            <a:r>
              <a:rPr sz="900" b="0" i="0">
                <a:solidFill>
                  <a:srgbClr val="434343"/>
                </a:solidFill>
                <a:latin typeface="Inter"/>
              </a:rPr>
              <a:t> mengakses data yang diminta. Bentuk paling umum adalah </a:t>
            </a:r>
            <a:r>
              <a:rPr sz="900" b="1" i="0">
                <a:solidFill>
                  <a:srgbClr val="434343"/>
                </a:solidFill>
                <a:latin typeface="Inter"/>
              </a:rPr>
              <a:t>IDOR</a:t>
            </a:r>
            <a:r>
              <a:rPr sz="900" b="0" i="0">
                <a:solidFill>
                  <a:srgbClr val="434343"/>
                </a:solidFill>
                <a:latin typeface="Inter"/>
              </a:rPr>
              <a:t> (Insecure Direct Object Reference): cukup mengganti id di URL untuk membaca data orang lain.</a:t>
            </a:r>
          </a:p>
          <a:p>
            <a:pPr algn="l">
              <a:lnSpc>
                <a:spcPct val="115000"/>
              </a:lnSpc>
              <a:spcAft>
                <a:spcPts val="400"/>
              </a:spcAft>
            </a:pPr>
            <a:r>
              <a:rPr sz="1000" b="1" i="0">
                <a:solidFill>
                  <a:srgbClr val="1C4587"/>
                </a:solidFill>
                <a:latin typeface="Inter"/>
              </a:rPr>
              <a:t>Untuk apa dicegah</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Menjaga data customer hanya bisa dibaca pemiliknya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Mencegah data bocor hanya dengan menebak id</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tanpa cek pemilik: 01-broken-access-control/before.py</a:t>
            </a:r>
          </a:p>
        </p:txBody>
      </p:sp>
      <p:sp>
        <p:nvSpPr>
          <p:cNvPr id="28" name="CodeBg 11"/>
          <p:cNvSpPr/>
          <p:nvPr/>
        </p:nvSpPr>
        <p:spPr>
          <a:xfrm>
            <a:off x="4297680" y="1719072"/>
            <a:ext cx="4187951" cy="1325880"/>
          </a:xfrm>
          <a:prstGeom prst="roundRect">
            <a:avLst>
              <a:gd name="adj" fmla="val 137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1325880"/>
          </a:xfrm>
          <a:prstGeom prst="rect">
            <a:avLst/>
          </a:prstGeom>
          <a:noFill/>
        </p:spPr>
        <p:txBody>
          <a:bodyPr wrap="none" lIns="146304" tIns="91440" rIns="146304" bIns="54864">
            <a:spAutoFit/>
          </a:bodyPr>
          <a:lstStyle/>
          <a:p>
            <a:pPr>
              <a:lnSpc>
                <a:spcPct val="107843"/>
              </a:lnSpc>
              <a:spcAft>
                <a:spcPts val="0"/>
              </a:spcAft>
            </a:pPr>
            <a:r>
              <a:rPr sz="850" i="0">
                <a:solidFill>
                  <a:srgbClr val="F9C97A"/>
                </a:solidFill>
                <a:latin typeface="Inconsolata"/>
              </a:rPr>
              <a:t>@app.get</a:t>
            </a:r>
            <a:r>
              <a:rPr sz="850" i="0">
                <a:solidFill>
                  <a:srgbClr val="E6EDF3"/>
                </a:solidFill>
                <a:latin typeface="Inconsolata"/>
              </a:rPr>
              <a:t>(</a:t>
            </a:r>
            <a:r>
              <a:rPr sz="850" i="0">
                <a:solidFill>
                  <a:srgbClr val="A5D6A7"/>
                </a:solidFill>
                <a:latin typeface="Inconsolata"/>
              </a:rPr>
              <a:t>"/orders/{order_id}"</a:t>
            </a:r>
            <a:r>
              <a:rPr sz="850" i="0">
                <a:solidFill>
                  <a:srgbClr val="E6EDF3"/>
                </a:solidFill>
                <a:latin typeface="Inconsolata"/>
              </a:rPr>
              <a:t>)</a:t>
            </a:r>
          </a:p>
          <a:p>
            <a:pPr>
              <a:lnSpc>
                <a:spcPct val="107843"/>
              </a:lnSpc>
              <a:spcAft>
                <a:spcPts val="0"/>
              </a:spcAft>
            </a:pP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get_order</a:t>
            </a:r>
            <a:r>
              <a:rPr sz="850" i="0">
                <a:solidFill>
                  <a:srgbClr val="E6EDF3"/>
                </a:solidFill>
                <a:latin typeface="Inconsolata"/>
              </a:rPr>
              <a:t>(order_id: </a:t>
            </a:r>
            <a:r>
              <a:rPr sz="850" i="0">
                <a:solidFill>
                  <a:srgbClr val="C3A6FF"/>
                </a:solidFill>
                <a:latin typeface="Inconsolata"/>
              </a:rPr>
              <a:t>int</a:t>
            </a:r>
            <a:r>
              <a:rPr sz="850" i="0">
                <a:solidFill>
                  <a:srgbClr val="E6EDF3"/>
                </a:solidFill>
                <a:latin typeface="Inconsolata"/>
              </a:rPr>
              <a:t>, user: </a:t>
            </a:r>
            <a:r>
              <a:rPr sz="850" i="0">
                <a:solidFill>
                  <a:srgbClr val="C3A6FF"/>
                </a:solidFill>
                <a:latin typeface="Inconsolata"/>
              </a:rPr>
              <a:t>str</a:t>
            </a:r>
            <a:r>
              <a:rPr sz="850" i="0">
                <a:solidFill>
                  <a:srgbClr val="E6EDF3"/>
                </a:solidFill>
                <a:latin typeface="Inconsolata"/>
              </a:rPr>
              <a:t> = </a:t>
            </a:r>
            <a:r>
              <a:rPr sz="850" i="0">
                <a:solidFill>
                  <a:srgbClr val="7FDBCA"/>
                </a:solidFill>
                <a:latin typeface="Inconsolata"/>
              </a:rPr>
              <a:t>Depends</a:t>
            </a:r>
            <a:r>
              <a:rPr sz="850" i="0">
                <a:solidFill>
                  <a:srgbClr val="E6EDF3"/>
                </a:solidFill>
                <a:latin typeface="Inconsolata"/>
              </a:rPr>
              <a:t>(current_user)):</a:t>
            </a:r>
          </a:p>
          <a:p>
            <a:pPr>
              <a:lnSpc>
                <a:spcPct val="107843"/>
              </a:lnSpc>
              <a:spcAft>
                <a:spcPts val="0"/>
              </a:spcAft>
            </a:pPr>
            <a:r>
              <a:rPr sz="850" i="0">
                <a:solidFill>
                  <a:srgbClr val="E6EDF3"/>
                </a:solidFill>
                <a:latin typeface="Inconsolata"/>
              </a:rPr>
              <a:t>    order = </a:t>
            </a:r>
            <a:r>
              <a:rPr sz="850" i="0">
                <a:solidFill>
                  <a:srgbClr val="7FDBCA"/>
                </a:solidFill>
                <a:latin typeface="Inconsolata"/>
              </a:rPr>
              <a:t>ORDERS</a:t>
            </a:r>
            <a:r>
              <a:rPr sz="850" i="0">
                <a:solidFill>
                  <a:srgbClr val="E6EDF3"/>
                </a:solidFill>
                <a:latin typeface="Inconsolata"/>
              </a:rPr>
              <a:t>.get(order_id)</a:t>
            </a:r>
          </a:p>
          <a:p>
            <a:pPr>
              <a:lnSpc>
                <a:spcPct val="107843"/>
              </a:lnSpc>
              <a:spcAft>
                <a:spcPts val="0"/>
              </a:spcAft>
            </a:pPr>
            <a:r>
              <a:rPr sz="850" i="0">
                <a:solidFill>
                  <a:srgbClr val="E6EDF3"/>
                </a:solidFill>
                <a:latin typeface="Inconsolata"/>
              </a:rPr>
              <a:t>    </a:t>
            </a:r>
            <a:r>
              <a:rPr sz="850" i="0">
                <a:solidFill>
                  <a:srgbClr val="FF8E6E"/>
                </a:solidFill>
                <a:latin typeface="Inconsolata"/>
              </a:rPr>
              <a:t>if</a:t>
            </a:r>
            <a:r>
              <a:rPr sz="850" i="0">
                <a:solidFill>
                  <a:srgbClr val="E6EDF3"/>
                </a:solidFill>
                <a:latin typeface="Inconsolata"/>
              </a:rPr>
              <a:t> order </a:t>
            </a:r>
            <a:r>
              <a:rPr sz="850" i="0">
                <a:solidFill>
                  <a:srgbClr val="FF8E6E"/>
                </a:solidFill>
                <a:latin typeface="Inconsolata"/>
              </a:rPr>
              <a:t>is</a:t>
            </a:r>
            <a:r>
              <a:rPr sz="850" i="0">
                <a:solidFill>
                  <a:srgbClr val="E6EDF3"/>
                </a:solidFill>
                <a:latin typeface="Inconsolata"/>
              </a:rPr>
              <a:t> </a:t>
            </a:r>
            <a:r>
              <a:rPr sz="850" i="0">
                <a:solidFill>
                  <a:srgbClr val="FF8E6E"/>
                </a:solidFill>
                <a:latin typeface="Inconsolata"/>
              </a:rPr>
              <a:t>None</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FF8E6E"/>
                </a:solidFill>
                <a:latin typeface="Inconsolata"/>
              </a:rPr>
              <a:t>raise</a:t>
            </a:r>
            <a:r>
              <a:rPr sz="850" i="0">
                <a:solidFill>
                  <a:srgbClr val="E6EDF3"/>
                </a:solidFill>
                <a:latin typeface="Inconsolata"/>
              </a:rPr>
              <a:t> </a:t>
            </a:r>
            <a:r>
              <a:rPr sz="850" i="0">
                <a:solidFill>
                  <a:srgbClr val="7FDBCA"/>
                </a:solidFill>
                <a:latin typeface="Inconsolata"/>
              </a:rPr>
              <a:t>HTTPException</a:t>
            </a:r>
            <a:r>
              <a:rPr sz="850" i="0">
                <a:solidFill>
                  <a:srgbClr val="E6EDF3"/>
                </a:solidFill>
                <a:latin typeface="Inconsolata"/>
              </a:rPr>
              <a:t>(</a:t>
            </a:r>
            <a:r>
              <a:rPr sz="850" i="0">
                <a:solidFill>
                  <a:srgbClr val="F9C97A"/>
                </a:solidFill>
                <a:latin typeface="Inconsolata"/>
              </a:rPr>
              <a:t>404</a:t>
            </a:r>
            <a:r>
              <a:rPr sz="850" i="0">
                <a:solidFill>
                  <a:srgbClr val="E6EDF3"/>
                </a:solidFill>
                <a:latin typeface="Inconsolata"/>
              </a:rPr>
              <a:t>, </a:t>
            </a:r>
            <a:r>
              <a:rPr sz="850" i="0">
                <a:solidFill>
                  <a:srgbClr val="A5D6A7"/>
                </a:solidFill>
                <a:latin typeface="Inconsolata"/>
              </a:rPr>
              <a:t>"order tidak ditemukan"</a:t>
            </a:r>
            <a:r>
              <a:rPr sz="850" i="0">
                <a:solidFill>
                  <a:srgbClr val="E6EDF3"/>
                </a:solidFill>
                <a:latin typeface="Inconsolata"/>
              </a:rPr>
              <a:t>)</a:t>
            </a:r>
          </a:p>
        </p:txBody>
      </p:sp>
      <p:sp>
        <p:nvSpPr>
          <p:cNvPr id="30" name="Box 13"/>
          <p:cNvSpPr/>
          <p:nvPr/>
        </p:nvSpPr>
        <p:spPr>
          <a:xfrm>
            <a:off x="4379976" y="2108073"/>
            <a:ext cx="4023359" cy="271018"/>
          </a:xfrm>
          <a:prstGeom prst="roundRect">
            <a:avLst>
              <a:gd name="adj" fmla="val 16869"/>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313639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321411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321411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321411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314553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cek pemilik: 01-broken-access-control/after.py</a:t>
            </a:r>
          </a:p>
        </p:txBody>
      </p:sp>
      <p:sp>
        <p:nvSpPr>
          <p:cNvPr id="36" name="CodeBg 21"/>
          <p:cNvSpPr/>
          <p:nvPr/>
        </p:nvSpPr>
        <p:spPr>
          <a:xfrm>
            <a:off x="4297680" y="3374136"/>
            <a:ext cx="4187951" cy="1325879"/>
          </a:xfrm>
          <a:prstGeom prst="roundRect">
            <a:avLst>
              <a:gd name="adj" fmla="val 137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3374136"/>
            <a:ext cx="4187951" cy="1325879"/>
          </a:xfrm>
          <a:prstGeom prst="rect">
            <a:avLst/>
          </a:prstGeom>
          <a:noFill/>
        </p:spPr>
        <p:txBody>
          <a:bodyPr wrap="none" lIns="146304" tIns="91440" rIns="146304" bIns="54864">
            <a:spAutoFit/>
          </a:bodyPr>
          <a:lstStyle/>
          <a:p>
            <a:pPr>
              <a:lnSpc>
                <a:spcPct val="107843"/>
              </a:lnSpc>
              <a:spcAft>
                <a:spcPts val="0"/>
              </a:spcAft>
            </a:pPr>
            <a:r>
              <a:rPr sz="850" i="0">
                <a:solidFill>
                  <a:srgbClr val="FF8E6E"/>
                </a:solidFill>
                <a:latin typeface="Inconsolata"/>
              </a:rPr>
              <a:t>def</a:t>
            </a:r>
            <a:r>
              <a:rPr sz="850" i="0">
                <a:solidFill>
                  <a:srgbClr val="E6EDF3"/>
                </a:solidFill>
                <a:latin typeface="Inconsolata"/>
              </a:rPr>
              <a:t> </a:t>
            </a:r>
            <a:r>
              <a:rPr sz="850" i="0">
                <a:solidFill>
                  <a:srgbClr val="82B1FF"/>
                </a:solidFill>
                <a:latin typeface="Inconsolata"/>
              </a:rPr>
              <a:t>can_access</a:t>
            </a:r>
            <a:r>
              <a:rPr sz="850" i="0">
                <a:solidFill>
                  <a:srgbClr val="E6EDF3"/>
                </a:solidFill>
                <a:latin typeface="Inconsolata"/>
              </a:rPr>
              <a:t>(user: </a:t>
            </a:r>
            <a:r>
              <a:rPr sz="850" i="0">
                <a:solidFill>
                  <a:srgbClr val="C3A6FF"/>
                </a:solidFill>
                <a:latin typeface="Inconsolata"/>
              </a:rPr>
              <a:t>str</a:t>
            </a:r>
            <a:r>
              <a:rPr sz="850" i="0">
                <a:solidFill>
                  <a:srgbClr val="E6EDF3"/>
                </a:solidFill>
                <a:latin typeface="Inconsolata"/>
              </a:rPr>
              <a:t>, order: </a:t>
            </a:r>
            <a:r>
              <a:rPr sz="850" i="0">
                <a:solidFill>
                  <a:srgbClr val="C3A6FF"/>
                </a:solidFill>
                <a:latin typeface="Inconsolata"/>
              </a:rPr>
              <a:t>dict</a:t>
            </a:r>
            <a:r>
              <a:rPr sz="850" i="0">
                <a:solidFill>
                  <a:srgbClr val="E6EDF3"/>
                </a:solidFill>
                <a:latin typeface="Inconsolata"/>
              </a:rPr>
              <a:t>) -&gt; </a:t>
            </a:r>
            <a:r>
              <a:rPr sz="850" i="0">
                <a:solidFill>
                  <a:srgbClr val="C3A6FF"/>
                </a:solidFill>
                <a:latin typeface="Inconsolata"/>
              </a:rPr>
              <a:t>bool</a:t>
            </a: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FF8E6E"/>
                </a:solidFill>
                <a:latin typeface="Inconsolata"/>
              </a:rPr>
              <a:t>return</a:t>
            </a:r>
            <a:r>
              <a:rPr sz="850" i="0">
                <a:solidFill>
                  <a:srgbClr val="E6EDF3"/>
                </a:solidFill>
                <a:latin typeface="Inconsolata"/>
              </a:rPr>
              <a:t> order[</a:t>
            </a:r>
            <a:r>
              <a:rPr sz="850" i="0">
                <a:solidFill>
                  <a:srgbClr val="A5D6A7"/>
                </a:solidFill>
                <a:latin typeface="Inconsolata"/>
              </a:rPr>
              <a:t>"customer"</a:t>
            </a:r>
            <a:r>
              <a:rPr sz="850" i="0">
                <a:solidFill>
                  <a:srgbClr val="E6EDF3"/>
                </a:solidFill>
                <a:latin typeface="Inconsolata"/>
              </a:rPr>
              <a:t>] == user </a:t>
            </a:r>
            <a:r>
              <a:rPr sz="850" i="0">
                <a:solidFill>
                  <a:srgbClr val="FF8E6E"/>
                </a:solidFill>
                <a:latin typeface="Inconsolata"/>
              </a:rPr>
              <a:t>or</a:t>
            </a:r>
            <a:r>
              <a:rPr sz="850" i="0">
                <a:solidFill>
                  <a:srgbClr val="E6EDF3"/>
                </a:solidFill>
                <a:latin typeface="Inconsolata"/>
              </a:rPr>
              <a:t> user </a:t>
            </a:r>
            <a:r>
              <a:rPr sz="850" i="0">
                <a:solidFill>
                  <a:srgbClr val="FF8E6E"/>
                </a:solidFill>
                <a:latin typeface="Inconsolata"/>
              </a:rPr>
              <a:t>in</a:t>
            </a:r>
            <a:r>
              <a:rPr sz="850" i="0">
                <a:solidFill>
                  <a:srgbClr val="E6EDF3"/>
                </a:solidFill>
                <a:latin typeface="Inconsolata"/>
              </a:rPr>
              <a:t> </a:t>
            </a:r>
            <a:r>
              <a:rPr sz="850" i="0">
                <a:solidFill>
                  <a:srgbClr val="7FDBCA"/>
                </a:solidFill>
                <a:latin typeface="Inconsolata"/>
              </a:rPr>
              <a:t>ADMINS</a:t>
            </a:r>
          </a:p>
          <a:p>
            <a:pPr>
              <a:lnSpc>
                <a:spcPct val="107843"/>
              </a:lnSpc>
              <a:spcAft>
                <a:spcPts val="0"/>
              </a:spcAft>
            </a:pPr>
            <a:r>
              <a:rPr sz="850" i="0">
                <a:solidFill>
                  <a:srgbClr val="E6EDF3"/>
                </a:solidFill>
                <a:latin typeface="Inconsolata"/>
              </a:rPr>
              <a:t>...</a:t>
            </a:r>
          </a:p>
          <a:p>
            <a:pPr>
              <a:lnSpc>
                <a:spcPct val="107843"/>
              </a:lnSpc>
              <a:spcAft>
                <a:spcPts val="0"/>
              </a:spcAft>
            </a:pPr>
            <a:r>
              <a:rPr sz="850" i="0">
                <a:solidFill>
                  <a:srgbClr val="E6EDF3"/>
                </a:solidFill>
                <a:latin typeface="Inconsolata"/>
              </a:rPr>
              <a:t>    </a:t>
            </a:r>
            <a:r>
              <a:rPr sz="850" i="0">
                <a:solidFill>
                  <a:srgbClr val="FF8E6E"/>
                </a:solidFill>
                <a:latin typeface="Inconsolata"/>
              </a:rPr>
              <a:t>if</a:t>
            </a:r>
            <a:r>
              <a:rPr sz="850" i="0">
                <a:solidFill>
                  <a:srgbClr val="E6EDF3"/>
                </a:solidFill>
                <a:latin typeface="Inconsolata"/>
              </a:rPr>
              <a:t> order </a:t>
            </a:r>
            <a:r>
              <a:rPr sz="850" i="0">
                <a:solidFill>
                  <a:srgbClr val="FF8E6E"/>
                </a:solidFill>
                <a:latin typeface="Inconsolata"/>
              </a:rPr>
              <a:t>is</a:t>
            </a:r>
            <a:r>
              <a:rPr sz="850" i="0">
                <a:solidFill>
                  <a:srgbClr val="E6EDF3"/>
                </a:solidFill>
                <a:latin typeface="Inconsolata"/>
              </a:rPr>
              <a:t> </a:t>
            </a:r>
            <a:r>
              <a:rPr sz="850" i="0">
                <a:solidFill>
                  <a:srgbClr val="FF8E6E"/>
                </a:solidFill>
                <a:latin typeface="Inconsolata"/>
              </a:rPr>
              <a:t>None</a:t>
            </a:r>
            <a:r>
              <a:rPr sz="850" i="0">
                <a:solidFill>
                  <a:srgbClr val="E6EDF3"/>
                </a:solidFill>
                <a:latin typeface="Inconsolata"/>
              </a:rPr>
              <a:t> </a:t>
            </a:r>
            <a:r>
              <a:rPr sz="850" i="0">
                <a:solidFill>
                  <a:srgbClr val="FF8E6E"/>
                </a:solidFill>
                <a:latin typeface="Inconsolata"/>
              </a:rPr>
              <a:t>or</a:t>
            </a:r>
            <a:r>
              <a:rPr sz="850" i="0">
                <a:solidFill>
                  <a:srgbClr val="E6EDF3"/>
                </a:solidFill>
                <a:latin typeface="Inconsolata"/>
              </a:rPr>
              <a:t> </a:t>
            </a:r>
            <a:r>
              <a:rPr sz="850" i="0">
                <a:solidFill>
                  <a:srgbClr val="FF8E6E"/>
                </a:solidFill>
                <a:latin typeface="Inconsolata"/>
              </a:rPr>
              <a:t>not</a:t>
            </a:r>
            <a:r>
              <a:rPr sz="850" i="0">
                <a:solidFill>
                  <a:srgbClr val="E6EDF3"/>
                </a:solidFill>
                <a:latin typeface="Inconsolata"/>
              </a:rPr>
              <a:t> can_access(user, order):</a:t>
            </a:r>
          </a:p>
          <a:p>
            <a:pPr>
              <a:lnSpc>
                <a:spcPct val="107843"/>
              </a:lnSpc>
              <a:spcAft>
                <a:spcPts val="0"/>
              </a:spcAft>
            </a:pPr>
            <a:r>
              <a:rPr sz="850" i="0">
                <a:solidFill>
                  <a:srgbClr val="E6EDF3"/>
                </a:solidFill>
                <a:latin typeface="Inconsolata"/>
              </a:rPr>
              <a:t>        </a:t>
            </a:r>
            <a:r>
              <a:rPr sz="850" i="0">
                <a:solidFill>
                  <a:srgbClr val="FF8E6E"/>
                </a:solidFill>
                <a:latin typeface="Inconsolata"/>
              </a:rPr>
              <a:t>raise</a:t>
            </a:r>
            <a:r>
              <a:rPr sz="850" i="0">
                <a:solidFill>
                  <a:srgbClr val="E6EDF3"/>
                </a:solidFill>
                <a:latin typeface="Inconsolata"/>
              </a:rPr>
              <a:t> </a:t>
            </a:r>
            <a:r>
              <a:rPr sz="850" i="0">
                <a:solidFill>
                  <a:srgbClr val="7FDBCA"/>
                </a:solidFill>
                <a:latin typeface="Inconsolata"/>
              </a:rPr>
              <a:t>HTTPException</a:t>
            </a:r>
            <a:r>
              <a:rPr sz="850" i="0">
                <a:solidFill>
                  <a:srgbClr val="E6EDF3"/>
                </a:solidFill>
                <a:latin typeface="Inconsolata"/>
              </a:rPr>
              <a:t>(</a:t>
            </a:r>
            <a:r>
              <a:rPr sz="850" i="0">
                <a:solidFill>
                  <a:srgbClr val="F9C97A"/>
                </a:solidFill>
                <a:latin typeface="Inconsolata"/>
              </a:rPr>
              <a:t>404</a:t>
            </a:r>
            <a:r>
              <a:rPr sz="850" i="0">
                <a:solidFill>
                  <a:srgbClr val="E6EDF3"/>
                </a:solidFill>
                <a:latin typeface="Inconsolata"/>
              </a:rPr>
              <a:t>, </a:t>
            </a:r>
            <a:r>
              <a:rPr sz="850" i="0">
                <a:solidFill>
                  <a:srgbClr val="A5D6A7"/>
                </a:solidFill>
                <a:latin typeface="Inconsolata"/>
              </a:rPr>
              <a:t>"order tidak ditemukan"</a:t>
            </a:r>
            <a:r>
              <a:rPr sz="850" i="0">
                <a:solidFill>
                  <a:srgbClr val="E6EDF3"/>
                </a:solidFill>
                <a:latin typeface="Inconsolata"/>
              </a:rPr>
              <a:t>)</a:t>
            </a:r>
          </a:p>
        </p:txBody>
      </p:sp>
      <p:sp>
        <p:nvSpPr>
          <p:cNvPr id="38" name="Box 23"/>
          <p:cNvSpPr/>
          <p:nvPr/>
        </p:nvSpPr>
        <p:spPr>
          <a:xfrm>
            <a:off x="4379976" y="3483737"/>
            <a:ext cx="4023359" cy="271018"/>
          </a:xfrm>
          <a:prstGeom prst="roundRect">
            <a:avLst>
              <a:gd name="adj" fmla="val 16869"/>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902837"/>
            <a:ext cx="4023359" cy="131318"/>
          </a:xfrm>
          <a:prstGeom prst="roundRect">
            <a:avLst>
              <a:gd name="adj" fmla="val 3481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Broken Access Control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mengecek Hak Akses per Data?</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cek pemilik</a:t>
            </a:r>
          </a:p>
          <a:p>
            <a:pPr algn="l">
              <a:lnSpc>
                <a:spcPct val="115000"/>
              </a:lnSpc>
              <a:spcAft>
                <a:spcPts val="400"/>
              </a:spcAft>
            </a:pPr>
            <a:r>
              <a:rPr sz="950" b="0" i="0">
                <a:solidFill>
                  <a:srgbClr val="434343"/>
                </a:solidFill>
                <a:latin typeface="Inter"/>
              </a:rPr>
              <a:t>Endpoint hanya memastikan user sudah login. Budi mengganti </a:t>
            </a:r>
            <a:r>
              <a:rPr sz="950" b="0" i="0">
                <a:solidFill>
                  <a:srgbClr val="B5482A"/>
                </a:solidFill>
                <a:latin typeface="Inconsolata"/>
              </a:rPr>
              <a:t>/orders/1</a:t>
            </a:r>
            <a:r>
              <a:rPr sz="950" b="0" i="0">
                <a:solidFill>
                  <a:srgbClr val="434343"/>
                </a:solidFill>
                <a:latin typeface="Inter"/>
              </a:rPr>
              <a:t> menjadi </a:t>
            </a:r>
            <a:r>
              <a:rPr sz="950" b="0" i="0">
                <a:solidFill>
                  <a:srgbClr val="B5482A"/>
                </a:solidFill>
                <a:latin typeface="Inconsolata"/>
              </a:rPr>
              <a:t>/orders/2</a:t>
            </a:r>
            <a:r>
              <a:rPr sz="950" b="0" i="0">
                <a:solidFill>
                  <a:srgbClr val="434343"/>
                </a:solidFill>
                <a:latin typeface="Inter"/>
              </a:rPr>
              <a:t>, dan alamat Ani terbaca.</a:t>
            </a:r>
          </a:p>
          <a:p>
            <a:pPr algn="l">
              <a:lnSpc>
                <a:spcPct val="115000"/>
              </a:lnSpc>
              <a:spcAft>
                <a:spcPts val="400"/>
              </a:spcAft>
            </a:pPr>
            <a:r>
              <a:rPr sz="1050" b="1" i="0">
                <a:solidFill>
                  <a:srgbClr val="1C4587"/>
                </a:solidFill>
                <a:latin typeface="Inter"/>
              </a:rPr>
              <a:t>Jika datanya makin banyak</a:t>
            </a:r>
          </a:p>
          <a:p>
            <a:pPr algn="l">
              <a:lnSpc>
                <a:spcPct val="115000"/>
              </a:lnSpc>
              <a:spcAft>
                <a:spcPts val="400"/>
              </a:spcAft>
            </a:pPr>
            <a:r>
              <a:rPr sz="950" b="0" i="0">
                <a:solidFill>
                  <a:srgbClr val="434343"/>
                </a:solidFill>
                <a:latin typeface="Inter"/>
              </a:rPr>
              <a:t>Id yang berurutan membuat semua data bisa dibaca hanya dengan loop dari 1 sampai sekian.</a:t>
            </a:r>
          </a:p>
          <a:p>
            <a:pPr algn="l">
              <a:lnSpc>
                <a:spcPct val="115000"/>
              </a:lnSpc>
              <a:spcAft>
                <a:spcPts val="400"/>
              </a:spcAft>
            </a:pPr>
            <a:r>
              <a:rPr sz="950" b="0" i="0">
                <a:solidFill>
                  <a:srgbClr val="434343"/>
                </a:solidFill>
                <a:latin typeface="Inter"/>
              </a:rPr>
              <a:t>Hal ini menimbulkan potensi kebocoran data seluruh customer dari satu akun biasa.</a:t>
            </a:r>
          </a:p>
          <a:p>
            <a:pPr algn="l">
              <a:lnSpc>
                <a:spcPct val="115000"/>
              </a:lnSpc>
              <a:spcAft>
                <a:spcPts val="400"/>
              </a:spcAft>
            </a:pPr>
            <a:r>
              <a:rPr sz="1050" b="1" i="0">
                <a:solidFill>
                  <a:srgbClr val="1C4587"/>
                </a:solidFill>
                <a:latin typeface="Inter"/>
              </a:rPr>
              <a:t>Yang perlu diperhatikan</a:t>
            </a:r>
          </a:p>
          <a:p>
            <a:pPr algn="l">
              <a:lnSpc>
                <a:spcPct val="115000"/>
              </a:lnSpc>
              <a:spcAft>
                <a:spcPts val="400"/>
              </a:spcAft>
            </a:pPr>
            <a:r>
              <a:rPr sz="950" b="0" i="0">
                <a:solidFill>
                  <a:srgbClr val="434343"/>
                </a:solidFill>
                <a:latin typeface="Inter"/>
              </a:rPr>
              <a:t>Login (authentication) dan hak akses (authorization) adalah dua pengecekan yang berbeda. Keduanya harus ada.</a:t>
            </a:r>
          </a:p>
        </p:txBody>
      </p:sp>
      <p:graphicFrame>
        <p:nvGraphicFramePr>
          <p:cNvPr id="23" name="Table 4"/>
          <p:cNvGraphicFramePr>
            <a:graphicFrameLocks noGrp="1"/>
          </p:cNvGraphicFramePr>
          <p:nvPr/>
        </p:nvGraphicFramePr>
        <p:xfrm>
          <a:off x="4800600" y="1481328"/>
          <a:ext cx="3685032" cy="1828800"/>
        </p:xfrm>
        <a:graphic>
          <a:graphicData uri="http://schemas.openxmlformats.org/drawingml/2006/table">
            <a:tbl>
              <a:tblPr firstRow="1" bandRow="1"/>
              <a:tblGrid>
                <a:gridCol w="1463040">
                  <a:extLst>
                    <a:ext uri="{9D8B030D-6E8A-4147-A177-3AD203B41FA5}">
                      <a16:colId xmlns:a16="http://schemas.microsoft.com/office/drawing/2014/main" val="20000"/>
                    </a:ext>
                  </a:extLst>
                </a:gridCol>
                <a:gridCol w="2221992">
                  <a:extLst>
                    <a:ext uri="{9D8B030D-6E8A-4147-A177-3AD203B41FA5}">
                      <a16:colId xmlns:a16="http://schemas.microsoft.com/office/drawing/2014/main" val="20001"/>
                    </a:ext>
                  </a:extLst>
                </a:gridCol>
              </a:tblGrid>
              <a:tr h="457200">
                <a:tc>
                  <a:txBody>
                    <a:bodyPr/>
                    <a:lstStyle/>
                    <a:p>
                      <a:pPr algn="l">
                        <a:lnSpc>
                          <a:spcPct val="100000"/>
                        </a:lnSpc>
                        <a:spcAft>
                          <a:spcPts val="0"/>
                        </a:spcAft>
                      </a:pPr>
                      <a:r>
                        <a:rPr sz="850" b="1" i="0">
                          <a:solidFill>
                            <a:srgbClr val="FFFFFF"/>
                          </a:solidFill>
                          <a:latin typeface="Inter"/>
                        </a:rPr>
                        <a:t>Jawaban API</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 untuk penyerang</a:t>
                      </a:r>
                    </a:p>
                  </a:txBody>
                  <a:tcPr marL="73152" marR="73152" marT="36576" marB="36576" anchor="ctr">
                    <a:solidFill>
                      <a:srgbClr val="1C4587"/>
                    </a:solidFill>
                  </a:tcPr>
                </a:tc>
                <a:extLst>
                  <a:ext uri="{0D108BD9-81ED-4DB2-BD59-A6C34878D82A}">
                    <a16:rowId xmlns:a16="http://schemas.microsoft.com/office/drawing/2014/main" val="10000"/>
                  </a:ext>
                </a:extLst>
              </a:tr>
              <a:tr h="457200">
                <a:tc>
                  <a:txBody>
                    <a:bodyPr/>
                    <a:lstStyle/>
                    <a:p>
                      <a:pPr algn="l">
                        <a:lnSpc>
                          <a:spcPct val="100000"/>
                        </a:lnSpc>
                        <a:spcAft>
                          <a:spcPts val="0"/>
                        </a:spcAft>
                      </a:pPr>
                      <a:r>
                        <a:rPr sz="850" b="1" i="0">
                          <a:solidFill>
                            <a:srgbClr val="1C4587"/>
                          </a:solidFill>
                          <a:latin typeface="Inter"/>
                        </a:rPr>
                        <a:t>200 + data</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Celah: data orang lain terbaca</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lnSpc>
                          <a:spcPct val="100000"/>
                        </a:lnSpc>
                        <a:spcAft>
                          <a:spcPts val="0"/>
                        </a:spcAft>
                      </a:pPr>
                      <a:r>
                        <a:rPr sz="850" b="1" i="0">
                          <a:solidFill>
                            <a:srgbClr val="1C4587"/>
                          </a:solidFill>
                          <a:latin typeface="Inter"/>
                        </a:rPr>
                        <a:t>403 Forbidden</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Data dengan id itu ada</a:t>
                      </a:r>
                    </a:p>
                  </a:txBody>
                  <a:tcPr marL="73152" marR="73152" marT="36576" marB="36576" anchor="ctr">
                    <a:solidFill>
                      <a:srgbClr val="F3F4F6"/>
                    </a:solidFill>
                  </a:tcPr>
                </a:tc>
                <a:extLst>
                  <a:ext uri="{0D108BD9-81ED-4DB2-BD59-A6C34878D82A}">
                    <a16:rowId xmlns:a16="http://schemas.microsoft.com/office/drawing/2014/main" val="10002"/>
                  </a:ext>
                </a:extLst>
              </a:tr>
              <a:tr h="457200">
                <a:tc>
                  <a:txBody>
                    <a:bodyPr/>
                    <a:lstStyle/>
                    <a:p>
                      <a:pPr algn="l">
                        <a:lnSpc>
                          <a:spcPct val="100000"/>
                        </a:lnSpc>
                        <a:spcAft>
                          <a:spcPts val="0"/>
                        </a:spcAft>
                      </a:pPr>
                      <a:r>
                        <a:rPr sz="850" b="1" i="0">
                          <a:solidFill>
                            <a:srgbClr val="1C4587"/>
                          </a:solidFill>
                          <a:latin typeface="Inter"/>
                        </a:rPr>
                        <a:t>404 Not Found</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Tidak tahu apakah data itu ada</a:t>
                      </a:r>
                    </a:p>
                  </a:txBody>
                  <a:tcPr marL="73152" marR="73152" marT="36576" marB="36576" anchor="ctr">
                    <a:solidFill>
                      <a:srgbClr val="FFFFFF"/>
                    </a:solidFill>
                  </a:tcPr>
                </a:tc>
                <a:extLst>
                  <a:ext uri="{0D108BD9-81ED-4DB2-BD59-A6C34878D82A}">
                    <a16:rowId xmlns:a16="http://schemas.microsoft.com/office/drawing/2014/main" val="10003"/>
                  </a:ext>
                </a:extLst>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Broken Access Control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order dicari hanya berdasarkan id</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01-broken-access-control/before.py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5686"/>
              </a:lnSpc>
              <a:spcAft>
                <a:spcPts val="0"/>
              </a:spcAft>
            </a:pPr>
            <a:r>
              <a:rPr sz="709" i="0">
                <a:solidFill>
                  <a:srgbClr val="5C6773"/>
                </a:solidFill>
                <a:latin typeface="Inconsolata"/>
              </a:rPr>
              <a:t>10  </a:t>
            </a:r>
            <a:r>
              <a:rPr sz="709" i="0">
                <a:solidFill>
                  <a:srgbClr val="FF8E6E"/>
                </a:solidFill>
                <a:latin typeface="Inconsolata"/>
              </a:rPr>
              <a:t>from</a:t>
            </a:r>
            <a:r>
              <a:rPr sz="709" i="0">
                <a:solidFill>
                  <a:srgbClr val="E6EDF3"/>
                </a:solidFill>
                <a:latin typeface="Inconsolata"/>
              </a:rPr>
              <a:t> fastapi </a:t>
            </a:r>
            <a:r>
              <a:rPr sz="709" i="0">
                <a:solidFill>
                  <a:srgbClr val="FF8E6E"/>
                </a:solidFill>
                <a:latin typeface="Inconsolata"/>
              </a:rPr>
              <a:t>import</a:t>
            </a:r>
            <a:r>
              <a:rPr sz="709" i="0">
                <a:solidFill>
                  <a:srgbClr val="E6EDF3"/>
                </a:solidFill>
                <a:latin typeface="Inconsolata"/>
              </a:rPr>
              <a:t> </a:t>
            </a:r>
            <a:r>
              <a:rPr sz="709" i="0">
                <a:solidFill>
                  <a:srgbClr val="7FDBCA"/>
                </a:solidFill>
                <a:latin typeface="Inconsolata"/>
              </a:rPr>
              <a:t>Depends</a:t>
            </a:r>
            <a:r>
              <a:rPr sz="709" i="0">
                <a:solidFill>
                  <a:srgbClr val="E6EDF3"/>
                </a:solidFill>
                <a:latin typeface="Inconsolata"/>
              </a:rPr>
              <a:t>, </a:t>
            </a:r>
            <a:r>
              <a:rPr sz="709" i="0">
                <a:solidFill>
                  <a:srgbClr val="7FDBCA"/>
                </a:solidFill>
                <a:latin typeface="Inconsolata"/>
              </a:rPr>
              <a:t>FastAPI</a:t>
            </a:r>
            <a:r>
              <a:rPr sz="709" i="0">
                <a:solidFill>
                  <a:srgbClr val="E6EDF3"/>
                </a:solidFill>
                <a:latin typeface="Inconsolata"/>
              </a:rPr>
              <a:t>, </a:t>
            </a:r>
            <a:r>
              <a:rPr sz="709" i="0">
                <a:solidFill>
                  <a:srgbClr val="7FDBCA"/>
                </a:solidFill>
                <a:latin typeface="Inconsolata"/>
              </a:rPr>
              <a:t>Header</a:t>
            </a:r>
            <a:r>
              <a:rPr sz="709" i="0">
                <a:solidFill>
                  <a:srgbClr val="E6EDF3"/>
                </a:solidFill>
                <a:latin typeface="Inconsolata"/>
              </a:rPr>
              <a:t>, </a:t>
            </a:r>
            <a:r>
              <a:rPr sz="709" i="0">
                <a:solidFill>
                  <a:srgbClr val="7FDBCA"/>
                </a:solidFill>
                <a:latin typeface="Inconsolata"/>
              </a:rPr>
              <a:t>HTTPException</a:t>
            </a:r>
          </a:p>
          <a:p>
            <a:pPr>
              <a:lnSpc>
                <a:spcPct val="105686"/>
              </a:lnSpc>
              <a:spcAft>
                <a:spcPts val="0"/>
              </a:spcAft>
            </a:pPr>
            <a:r>
              <a:rPr sz="709" i="0">
                <a:solidFill>
                  <a:srgbClr val="5C6773"/>
                </a:solidFill>
                <a:latin typeface="Inconsolata"/>
              </a:rPr>
              <a:t>11  </a:t>
            </a:r>
            <a:r>
              <a:rPr sz="709" i="0">
                <a:solidFill>
                  <a:srgbClr val="FF8E6E"/>
                </a:solidFill>
                <a:latin typeface="Inconsolata"/>
              </a:rPr>
              <a:t>from</a:t>
            </a:r>
            <a:r>
              <a:rPr sz="709" i="0">
                <a:solidFill>
                  <a:srgbClr val="E6EDF3"/>
                </a:solidFill>
                <a:latin typeface="Inconsolata"/>
              </a:rPr>
              <a:t> fastapi.testclient </a:t>
            </a:r>
            <a:r>
              <a:rPr sz="709" i="0">
                <a:solidFill>
                  <a:srgbClr val="FF8E6E"/>
                </a:solidFill>
                <a:latin typeface="Inconsolata"/>
              </a:rPr>
              <a:t>import</a:t>
            </a:r>
            <a:r>
              <a:rPr sz="709" i="0">
                <a:solidFill>
                  <a:srgbClr val="E6EDF3"/>
                </a:solidFill>
                <a:latin typeface="Inconsolata"/>
              </a:rPr>
              <a:t> </a:t>
            </a:r>
            <a:r>
              <a:rPr sz="709" i="0">
                <a:solidFill>
                  <a:srgbClr val="7FDBCA"/>
                </a:solidFill>
                <a:latin typeface="Inconsolata"/>
              </a:rPr>
              <a:t>TestClient</a:t>
            </a:r>
          </a:p>
          <a:p>
            <a:pPr>
              <a:lnSpc>
                <a:spcPct val="105686"/>
              </a:lnSpc>
              <a:spcAft>
                <a:spcPts val="0"/>
              </a:spcAft>
            </a:pPr>
            <a:r>
              <a:rPr sz="709" i="0">
                <a:solidFill>
                  <a:srgbClr val="5C6773"/>
                </a:solidFill>
                <a:latin typeface="Inconsolata"/>
              </a:rPr>
              <a:t>12  </a:t>
            </a:r>
            <a:r>
              <a:rPr sz="709" i="0">
                <a:solidFill>
                  <a:srgbClr val="E6EDF3"/>
                </a:solidFill>
                <a:latin typeface="Inconsolata"/>
              </a:rPr>
              <a:t> </a:t>
            </a:r>
          </a:p>
          <a:p>
            <a:pPr>
              <a:lnSpc>
                <a:spcPct val="105686"/>
              </a:lnSpc>
              <a:spcAft>
                <a:spcPts val="0"/>
              </a:spcAft>
            </a:pPr>
            <a:r>
              <a:rPr sz="709" i="0">
                <a:solidFill>
                  <a:srgbClr val="5C6773"/>
                </a:solidFill>
                <a:latin typeface="Inconsolata"/>
              </a:rPr>
              <a:t>13  </a:t>
            </a:r>
            <a:r>
              <a:rPr sz="709" i="0">
                <a:solidFill>
                  <a:srgbClr val="E6EDF3"/>
                </a:solidFill>
                <a:latin typeface="Inconsolata"/>
              </a:rPr>
              <a:t>app = </a:t>
            </a:r>
            <a:r>
              <a:rPr sz="709" i="0">
                <a:solidFill>
                  <a:srgbClr val="7FDBCA"/>
                </a:solidFill>
                <a:latin typeface="Inconsolata"/>
              </a:rPr>
              <a:t>FastAPI</a:t>
            </a:r>
            <a:r>
              <a:rPr sz="709" i="0">
                <a:solidFill>
                  <a:srgbClr val="E6EDF3"/>
                </a:solidFill>
                <a:latin typeface="Inconsolata"/>
              </a:rPr>
              <a:t>()</a:t>
            </a:r>
          </a:p>
          <a:p>
            <a:pPr>
              <a:lnSpc>
                <a:spcPct val="105686"/>
              </a:lnSpc>
              <a:spcAft>
                <a:spcPts val="0"/>
              </a:spcAft>
            </a:pPr>
            <a:r>
              <a:rPr sz="709" i="0">
                <a:solidFill>
                  <a:srgbClr val="5C6773"/>
                </a:solidFill>
                <a:latin typeface="Inconsolata"/>
              </a:rPr>
              <a:t>14  </a:t>
            </a:r>
            <a:r>
              <a:rPr sz="709" i="0">
                <a:solidFill>
                  <a:srgbClr val="7FDBCA"/>
                </a:solidFill>
                <a:latin typeface="Inconsolata"/>
              </a:rPr>
              <a:t>ORDERS</a:t>
            </a:r>
            <a:r>
              <a:rPr sz="709" i="0">
                <a:solidFill>
                  <a:srgbClr val="E6EDF3"/>
                </a:solidFill>
                <a:latin typeface="Inconsolata"/>
              </a:rPr>
              <a:t> = {</a:t>
            </a:r>
            <a:r>
              <a:rPr sz="709" i="0">
                <a:solidFill>
                  <a:srgbClr val="F9C97A"/>
                </a:solidFill>
                <a:latin typeface="Inconsolata"/>
              </a:rPr>
              <a:t>1</a:t>
            </a:r>
            <a:r>
              <a:rPr sz="709" i="0">
                <a:solidFill>
                  <a:srgbClr val="E6EDF3"/>
                </a:solidFill>
                <a:latin typeface="Inconsolata"/>
              </a:rPr>
              <a:t>: {</a:t>
            </a:r>
            <a:r>
              <a:rPr sz="709" i="0">
                <a:solidFill>
                  <a:srgbClr val="A5D6A7"/>
                </a:solidFill>
                <a:latin typeface="Inconsolata"/>
              </a:rPr>
              <a:t>"id"</a:t>
            </a:r>
            <a:r>
              <a:rPr sz="709" i="0">
                <a:solidFill>
                  <a:srgbClr val="E6EDF3"/>
                </a:solidFill>
                <a:latin typeface="Inconsolata"/>
              </a:rPr>
              <a:t>: </a:t>
            </a:r>
            <a:r>
              <a:rPr sz="709" i="0">
                <a:solidFill>
                  <a:srgbClr val="F9C97A"/>
                </a:solidFill>
                <a:latin typeface="Inconsolata"/>
              </a:rPr>
              <a:t>1</a:t>
            </a:r>
            <a:r>
              <a:rPr sz="709" i="0">
                <a:solidFill>
                  <a:srgbClr val="E6EDF3"/>
                </a:solidFill>
                <a:latin typeface="Inconsolata"/>
              </a:rPr>
              <a:t>, </a:t>
            </a:r>
            <a:r>
              <a:rPr sz="709" i="0">
                <a:solidFill>
                  <a:srgbClr val="A5D6A7"/>
                </a:solidFill>
                <a:latin typeface="Inconsolata"/>
              </a:rPr>
              <a:t>"customer"</a:t>
            </a:r>
            <a:r>
              <a:rPr sz="709" i="0">
                <a:solidFill>
                  <a:srgbClr val="E6EDF3"/>
                </a:solidFill>
                <a:latin typeface="Inconsolata"/>
              </a:rPr>
              <a:t>: </a:t>
            </a:r>
            <a:r>
              <a:rPr sz="709" i="0">
                <a:solidFill>
                  <a:srgbClr val="A5D6A7"/>
                </a:solidFill>
                <a:latin typeface="Inconsolata"/>
              </a:rPr>
              <a:t>"budi@mail.com"</a:t>
            </a:r>
            <a:r>
              <a:rPr sz="709" i="0">
                <a:solidFill>
                  <a:srgbClr val="E6EDF3"/>
                </a:solidFill>
                <a:latin typeface="Inconsolata"/>
              </a:rPr>
              <a:t>, </a:t>
            </a:r>
            <a:r>
              <a:rPr sz="709" i="0">
                <a:solidFill>
                  <a:srgbClr val="A5D6A7"/>
                </a:solidFill>
                <a:latin typeface="Inconsolata"/>
              </a:rPr>
              <a:t>"total"</a:t>
            </a:r>
            <a:r>
              <a:rPr sz="709" i="0">
                <a:solidFill>
                  <a:srgbClr val="E6EDF3"/>
                </a:solidFill>
                <a:latin typeface="Inconsolata"/>
              </a:rPr>
              <a:t>: </a:t>
            </a:r>
            <a:r>
              <a:rPr sz="709" i="0">
                <a:solidFill>
                  <a:srgbClr val="F9C97A"/>
                </a:solidFill>
                <a:latin typeface="Inconsolata"/>
              </a:rPr>
              <a:t>900_000</a:t>
            </a:r>
            <a:r>
              <a:rPr sz="709" i="0">
                <a:solidFill>
                  <a:srgbClr val="E6EDF3"/>
                </a:solidFill>
                <a:latin typeface="Inconsolata"/>
              </a:rPr>
              <a:t>},</a:t>
            </a:r>
          </a:p>
          <a:p>
            <a:pPr>
              <a:lnSpc>
                <a:spcPct val="105686"/>
              </a:lnSpc>
              <a:spcAft>
                <a:spcPts val="0"/>
              </a:spcAft>
            </a:pPr>
            <a:r>
              <a:rPr sz="709" i="0">
                <a:solidFill>
                  <a:srgbClr val="5C6773"/>
                </a:solidFill>
                <a:latin typeface="Inconsolata"/>
              </a:rPr>
              <a:t>15  </a:t>
            </a:r>
            <a:r>
              <a:rPr sz="709" i="0">
                <a:solidFill>
                  <a:srgbClr val="E6EDF3"/>
                </a:solidFill>
                <a:latin typeface="Inconsolata"/>
              </a:rPr>
              <a:t>          </a:t>
            </a:r>
            <a:r>
              <a:rPr sz="709" i="0">
                <a:solidFill>
                  <a:srgbClr val="F9C97A"/>
                </a:solidFill>
                <a:latin typeface="Inconsolata"/>
              </a:rPr>
              <a:t>2</a:t>
            </a:r>
            <a:r>
              <a:rPr sz="709" i="0">
                <a:solidFill>
                  <a:srgbClr val="E6EDF3"/>
                </a:solidFill>
                <a:latin typeface="Inconsolata"/>
              </a:rPr>
              <a:t>: {</a:t>
            </a:r>
            <a:r>
              <a:rPr sz="709" i="0">
                <a:solidFill>
                  <a:srgbClr val="A5D6A7"/>
                </a:solidFill>
                <a:latin typeface="Inconsolata"/>
              </a:rPr>
              <a:t>"id"</a:t>
            </a:r>
            <a:r>
              <a:rPr sz="709" i="0">
                <a:solidFill>
                  <a:srgbClr val="E6EDF3"/>
                </a:solidFill>
                <a:latin typeface="Inconsolata"/>
              </a:rPr>
              <a:t>: </a:t>
            </a:r>
            <a:r>
              <a:rPr sz="709" i="0">
                <a:solidFill>
                  <a:srgbClr val="F9C97A"/>
                </a:solidFill>
                <a:latin typeface="Inconsolata"/>
              </a:rPr>
              <a:t>2</a:t>
            </a:r>
            <a:r>
              <a:rPr sz="709" i="0">
                <a:solidFill>
                  <a:srgbClr val="E6EDF3"/>
                </a:solidFill>
                <a:latin typeface="Inconsolata"/>
              </a:rPr>
              <a:t>, </a:t>
            </a:r>
            <a:r>
              <a:rPr sz="709" i="0">
                <a:solidFill>
                  <a:srgbClr val="A5D6A7"/>
                </a:solidFill>
                <a:latin typeface="Inconsolata"/>
              </a:rPr>
              <a:t>"customer"</a:t>
            </a:r>
            <a:r>
              <a:rPr sz="709" i="0">
                <a:solidFill>
                  <a:srgbClr val="E6EDF3"/>
                </a:solidFill>
                <a:latin typeface="Inconsolata"/>
              </a:rPr>
              <a:t>: </a:t>
            </a:r>
            <a:r>
              <a:rPr sz="709" i="0">
                <a:solidFill>
                  <a:srgbClr val="A5D6A7"/>
                </a:solidFill>
                <a:latin typeface="Inconsolata"/>
              </a:rPr>
              <a:t>"ani@mail.com"</a:t>
            </a:r>
            <a:r>
              <a:rPr sz="709" i="0">
                <a:solidFill>
                  <a:srgbClr val="E6EDF3"/>
                </a:solidFill>
                <a:latin typeface="Inconsolata"/>
              </a:rPr>
              <a:t>, </a:t>
            </a:r>
            <a:r>
              <a:rPr sz="709" i="0">
                <a:solidFill>
                  <a:srgbClr val="A5D6A7"/>
                </a:solidFill>
                <a:latin typeface="Inconsolata"/>
              </a:rPr>
              <a:t>"total"</a:t>
            </a:r>
            <a:r>
              <a:rPr sz="709" i="0">
                <a:solidFill>
                  <a:srgbClr val="E6EDF3"/>
                </a:solidFill>
                <a:latin typeface="Inconsolata"/>
              </a:rPr>
              <a:t>: </a:t>
            </a:r>
            <a:r>
              <a:rPr sz="709" i="0">
                <a:solidFill>
                  <a:srgbClr val="F9C97A"/>
                </a:solidFill>
                <a:latin typeface="Inconsolata"/>
              </a:rPr>
              <a:t>4_500_000</a:t>
            </a:r>
            <a:r>
              <a:rPr sz="709" i="0">
                <a:solidFill>
                  <a:srgbClr val="E6EDF3"/>
                </a:solidFill>
                <a:latin typeface="Inconsolata"/>
              </a:rPr>
              <a:t>,</a:t>
            </a:r>
          </a:p>
          <a:p>
            <a:pPr>
              <a:lnSpc>
                <a:spcPct val="105686"/>
              </a:lnSpc>
              <a:spcAft>
                <a:spcPts val="0"/>
              </a:spcAft>
            </a:pPr>
            <a:r>
              <a:rPr sz="709" i="0">
                <a:solidFill>
                  <a:srgbClr val="5C6773"/>
                </a:solidFill>
                <a:latin typeface="Inconsolata"/>
              </a:rPr>
              <a:t>16  </a:t>
            </a:r>
            <a:r>
              <a:rPr sz="709" i="0">
                <a:solidFill>
                  <a:srgbClr val="E6EDF3"/>
                </a:solidFill>
                <a:latin typeface="Inconsolata"/>
              </a:rPr>
              <a:t>              </a:t>
            </a:r>
            <a:r>
              <a:rPr sz="709" i="0">
                <a:solidFill>
                  <a:srgbClr val="A5D6A7"/>
                </a:solidFill>
                <a:latin typeface="Inconsolata"/>
              </a:rPr>
              <a:t>"address"</a:t>
            </a:r>
            <a:r>
              <a:rPr sz="709" i="0">
                <a:solidFill>
                  <a:srgbClr val="E6EDF3"/>
                </a:solidFill>
                <a:latin typeface="Inconsolata"/>
              </a:rPr>
              <a:t>: </a:t>
            </a:r>
            <a:r>
              <a:rPr sz="709" i="0">
                <a:solidFill>
                  <a:srgbClr val="A5D6A7"/>
                </a:solidFill>
                <a:latin typeface="Inconsolata"/>
              </a:rPr>
              <a:t>"Jl. Melati 7, Bandung"</a:t>
            </a:r>
            <a:r>
              <a:rPr sz="709" i="0">
                <a:solidFill>
                  <a:srgbClr val="E6EDF3"/>
                </a:solidFill>
                <a:latin typeface="Inconsolata"/>
              </a:rPr>
              <a:t>}}</a:t>
            </a:r>
          </a:p>
          <a:p>
            <a:pPr>
              <a:lnSpc>
                <a:spcPct val="105686"/>
              </a:lnSpc>
              <a:spcAft>
                <a:spcPts val="0"/>
              </a:spcAft>
            </a:pPr>
            <a:r>
              <a:rPr sz="709" i="0">
                <a:solidFill>
                  <a:srgbClr val="5C6773"/>
                </a:solidFill>
                <a:latin typeface="Inconsolata"/>
              </a:rPr>
              <a:t>17  </a:t>
            </a:r>
            <a:r>
              <a:rPr sz="709" i="0">
                <a:solidFill>
                  <a:srgbClr val="E6EDF3"/>
                </a:solidFill>
                <a:latin typeface="Inconsolata"/>
              </a:rPr>
              <a:t> </a:t>
            </a:r>
          </a:p>
          <a:p>
            <a:pPr>
              <a:lnSpc>
                <a:spcPct val="105686"/>
              </a:lnSpc>
              <a:spcAft>
                <a:spcPts val="0"/>
              </a:spcAft>
            </a:pPr>
            <a:r>
              <a:rPr sz="709" i="0">
                <a:solidFill>
                  <a:srgbClr val="5C6773"/>
                </a:solidFill>
                <a:latin typeface="Inconsolata"/>
              </a:rPr>
              <a:t>18  </a:t>
            </a:r>
            <a:r>
              <a:rPr sz="709" i="0">
                <a:solidFill>
                  <a:srgbClr val="E6EDF3"/>
                </a:solidFill>
                <a:latin typeface="Inconsolata"/>
              </a:rPr>
              <a:t> </a:t>
            </a:r>
          </a:p>
          <a:p>
            <a:pPr>
              <a:lnSpc>
                <a:spcPct val="105686"/>
              </a:lnSpc>
              <a:spcAft>
                <a:spcPts val="0"/>
              </a:spcAft>
            </a:pPr>
            <a:r>
              <a:rPr sz="709" i="0">
                <a:solidFill>
                  <a:srgbClr val="5C6773"/>
                </a:solidFill>
                <a:latin typeface="Inconsolata"/>
              </a:rPr>
              <a:t>19  </a:t>
            </a:r>
            <a:r>
              <a:rPr sz="709" i="0">
                <a:solidFill>
                  <a:srgbClr val="FF8E6E"/>
                </a:solidFill>
                <a:latin typeface="Inconsolata"/>
              </a:rPr>
              <a:t>def</a:t>
            </a:r>
            <a:r>
              <a:rPr sz="709" i="0">
                <a:solidFill>
                  <a:srgbClr val="E6EDF3"/>
                </a:solidFill>
                <a:latin typeface="Inconsolata"/>
              </a:rPr>
              <a:t> </a:t>
            </a:r>
            <a:r>
              <a:rPr sz="709" i="0">
                <a:solidFill>
                  <a:srgbClr val="82B1FF"/>
                </a:solidFill>
                <a:latin typeface="Inconsolata"/>
              </a:rPr>
              <a:t>current_user</a:t>
            </a:r>
            <a:r>
              <a:rPr sz="709" i="0">
                <a:solidFill>
                  <a:srgbClr val="E6EDF3"/>
                </a:solidFill>
                <a:latin typeface="Inconsolata"/>
              </a:rPr>
              <a:t>(x_user: </a:t>
            </a:r>
            <a:r>
              <a:rPr sz="709" i="0">
                <a:solidFill>
                  <a:srgbClr val="C3A6FF"/>
                </a:solidFill>
                <a:latin typeface="Inconsolata"/>
              </a:rPr>
              <a:t>str</a:t>
            </a:r>
            <a:r>
              <a:rPr sz="709" i="0">
                <a:solidFill>
                  <a:srgbClr val="E6EDF3"/>
                </a:solidFill>
                <a:latin typeface="Inconsolata"/>
              </a:rPr>
              <a:t> = </a:t>
            </a:r>
            <a:r>
              <a:rPr sz="709" i="0">
                <a:solidFill>
                  <a:srgbClr val="7FDBCA"/>
                </a:solidFill>
                <a:latin typeface="Inconsolata"/>
              </a:rPr>
              <a:t>Header</a:t>
            </a:r>
            <a:r>
              <a:rPr sz="709" i="0">
                <a:solidFill>
                  <a:srgbClr val="E6EDF3"/>
                </a:solidFill>
                <a:latin typeface="Inconsolata"/>
              </a:rPr>
              <a:t>()) -&gt; </a:t>
            </a:r>
            <a:r>
              <a:rPr sz="709" i="0">
                <a:solidFill>
                  <a:srgbClr val="C3A6FF"/>
                </a:solidFill>
                <a:latin typeface="Inconsolata"/>
              </a:rPr>
              <a:t>str</a:t>
            </a:r>
            <a:r>
              <a:rPr sz="709" i="0">
                <a:solidFill>
                  <a:srgbClr val="E6EDF3"/>
                </a:solidFill>
                <a:latin typeface="Inconsolata"/>
              </a:rPr>
              <a:t>:</a:t>
            </a:r>
          </a:p>
          <a:p>
            <a:pPr>
              <a:lnSpc>
                <a:spcPct val="105686"/>
              </a:lnSpc>
              <a:spcAft>
                <a:spcPts val="0"/>
              </a:spcAft>
            </a:pPr>
            <a:r>
              <a:rPr sz="709" i="0">
                <a:solidFill>
                  <a:srgbClr val="5C6773"/>
                </a:solidFill>
                <a:latin typeface="Inconsolata"/>
              </a:rPr>
              <a:t>20  </a:t>
            </a:r>
            <a:r>
              <a:rPr sz="709" i="0">
                <a:solidFill>
                  <a:srgbClr val="E6EDF3"/>
                </a:solidFill>
                <a:latin typeface="Inconsolata"/>
              </a:rPr>
              <a:t>    </a:t>
            </a:r>
            <a:r>
              <a:rPr sz="709" i="0">
                <a:solidFill>
                  <a:srgbClr val="FF8E6E"/>
                </a:solidFill>
                <a:latin typeface="Inconsolata"/>
              </a:rPr>
              <a:t>return</a:t>
            </a:r>
            <a:r>
              <a:rPr sz="709" i="0">
                <a:solidFill>
                  <a:srgbClr val="E6EDF3"/>
                </a:solidFill>
                <a:latin typeface="Inconsolata"/>
              </a:rPr>
              <a:t> x_user                    </a:t>
            </a:r>
            <a:r>
              <a:rPr sz="709" i="1">
                <a:solidFill>
                  <a:srgbClr val="8B98A8"/>
                </a:solidFill>
                <a:latin typeface="Inconsolata"/>
              </a:rPr>
              <a:t># anggap: hasil login yang valid</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01-broken-access-control/before.py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5686"/>
              </a:lnSpc>
              <a:spcAft>
                <a:spcPts val="0"/>
              </a:spcAft>
            </a:pPr>
            <a:r>
              <a:rPr sz="709" i="0">
                <a:solidFill>
                  <a:srgbClr val="5C6773"/>
                </a:solidFill>
                <a:latin typeface="Inconsolata"/>
              </a:rPr>
              <a:t>23  </a:t>
            </a:r>
            <a:r>
              <a:rPr sz="709" i="0">
                <a:solidFill>
                  <a:srgbClr val="F9C97A"/>
                </a:solidFill>
                <a:latin typeface="Inconsolata"/>
              </a:rPr>
              <a:t>@app.get</a:t>
            </a:r>
            <a:r>
              <a:rPr sz="709" i="0">
                <a:solidFill>
                  <a:srgbClr val="E6EDF3"/>
                </a:solidFill>
                <a:latin typeface="Inconsolata"/>
              </a:rPr>
              <a:t>(</a:t>
            </a:r>
            <a:r>
              <a:rPr sz="709" i="0">
                <a:solidFill>
                  <a:srgbClr val="A5D6A7"/>
                </a:solidFill>
                <a:latin typeface="Inconsolata"/>
              </a:rPr>
              <a:t>"/orders/{order_id}"</a:t>
            </a:r>
            <a:r>
              <a:rPr sz="709" i="0">
                <a:solidFill>
                  <a:srgbClr val="E6EDF3"/>
                </a:solidFill>
                <a:latin typeface="Inconsolata"/>
              </a:rPr>
              <a:t>)</a:t>
            </a:r>
          </a:p>
          <a:p>
            <a:pPr>
              <a:lnSpc>
                <a:spcPct val="105686"/>
              </a:lnSpc>
              <a:spcAft>
                <a:spcPts val="0"/>
              </a:spcAft>
            </a:pPr>
            <a:r>
              <a:rPr sz="709" i="0">
                <a:solidFill>
                  <a:srgbClr val="5C6773"/>
                </a:solidFill>
                <a:latin typeface="Inconsolata"/>
              </a:rPr>
              <a:t>24  </a:t>
            </a:r>
            <a:r>
              <a:rPr sz="709" i="0">
                <a:solidFill>
                  <a:srgbClr val="FF8E6E"/>
                </a:solidFill>
                <a:latin typeface="Inconsolata"/>
              </a:rPr>
              <a:t>def</a:t>
            </a:r>
            <a:r>
              <a:rPr sz="709" i="0">
                <a:solidFill>
                  <a:srgbClr val="E6EDF3"/>
                </a:solidFill>
                <a:latin typeface="Inconsolata"/>
              </a:rPr>
              <a:t> </a:t>
            </a:r>
            <a:r>
              <a:rPr sz="709" i="0">
                <a:solidFill>
                  <a:srgbClr val="82B1FF"/>
                </a:solidFill>
                <a:latin typeface="Inconsolata"/>
              </a:rPr>
              <a:t>get_order</a:t>
            </a:r>
            <a:r>
              <a:rPr sz="709" i="0">
                <a:solidFill>
                  <a:srgbClr val="E6EDF3"/>
                </a:solidFill>
                <a:latin typeface="Inconsolata"/>
              </a:rPr>
              <a:t>(order_id: </a:t>
            </a:r>
            <a:r>
              <a:rPr sz="709" i="0">
                <a:solidFill>
                  <a:srgbClr val="C3A6FF"/>
                </a:solidFill>
                <a:latin typeface="Inconsolata"/>
              </a:rPr>
              <a:t>int</a:t>
            </a:r>
            <a:r>
              <a:rPr sz="709" i="0">
                <a:solidFill>
                  <a:srgbClr val="E6EDF3"/>
                </a:solidFill>
                <a:latin typeface="Inconsolata"/>
              </a:rPr>
              <a:t>, user: </a:t>
            </a:r>
            <a:r>
              <a:rPr sz="709" i="0">
                <a:solidFill>
                  <a:srgbClr val="C3A6FF"/>
                </a:solidFill>
                <a:latin typeface="Inconsolata"/>
              </a:rPr>
              <a:t>str</a:t>
            </a:r>
            <a:r>
              <a:rPr sz="709" i="0">
                <a:solidFill>
                  <a:srgbClr val="E6EDF3"/>
                </a:solidFill>
                <a:latin typeface="Inconsolata"/>
              </a:rPr>
              <a:t> = </a:t>
            </a:r>
            <a:r>
              <a:rPr sz="709" i="0">
                <a:solidFill>
                  <a:srgbClr val="7FDBCA"/>
                </a:solidFill>
                <a:latin typeface="Inconsolata"/>
              </a:rPr>
              <a:t>Depends</a:t>
            </a:r>
            <a:r>
              <a:rPr sz="709" i="0">
                <a:solidFill>
                  <a:srgbClr val="E6EDF3"/>
                </a:solidFill>
                <a:latin typeface="Inconsolata"/>
              </a:rPr>
              <a:t>(current_user)):</a:t>
            </a:r>
          </a:p>
          <a:p>
            <a:pPr>
              <a:lnSpc>
                <a:spcPct val="105686"/>
              </a:lnSpc>
              <a:spcAft>
                <a:spcPts val="0"/>
              </a:spcAft>
            </a:pPr>
            <a:r>
              <a:rPr sz="709" i="0">
                <a:solidFill>
                  <a:srgbClr val="5C6773"/>
                </a:solidFill>
                <a:latin typeface="Inconsolata"/>
              </a:rPr>
              <a:t>25  </a:t>
            </a:r>
            <a:r>
              <a:rPr sz="709" i="0">
                <a:solidFill>
                  <a:srgbClr val="E6EDF3"/>
                </a:solidFill>
                <a:latin typeface="Inconsolata"/>
              </a:rPr>
              <a:t>    order = </a:t>
            </a:r>
            <a:r>
              <a:rPr sz="709" i="0">
                <a:solidFill>
                  <a:srgbClr val="7FDBCA"/>
                </a:solidFill>
                <a:latin typeface="Inconsolata"/>
              </a:rPr>
              <a:t>ORDERS</a:t>
            </a:r>
            <a:r>
              <a:rPr sz="709" i="0">
                <a:solidFill>
                  <a:srgbClr val="E6EDF3"/>
                </a:solidFill>
                <a:latin typeface="Inconsolata"/>
              </a:rPr>
              <a:t>.get(order_id)</a:t>
            </a:r>
          </a:p>
          <a:p>
            <a:pPr>
              <a:lnSpc>
                <a:spcPct val="105686"/>
              </a:lnSpc>
              <a:spcAft>
                <a:spcPts val="0"/>
              </a:spcAft>
            </a:pPr>
            <a:r>
              <a:rPr sz="709" i="0">
                <a:solidFill>
                  <a:srgbClr val="5C6773"/>
                </a:solidFill>
                <a:latin typeface="Inconsolata"/>
              </a:rPr>
              <a:t>26  </a:t>
            </a:r>
            <a:r>
              <a:rPr sz="709" i="0">
                <a:solidFill>
                  <a:srgbClr val="E6EDF3"/>
                </a:solidFill>
                <a:latin typeface="Inconsolata"/>
              </a:rPr>
              <a:t>    </a:t>
            </a:r>
            <a:r>
              <a:rPr sz="709" i="0">
                <a:solidFill>
                  <a:srgbClr val="FF8E6E"/>
                </a:solidFill>
                <a:latin typeface="Inconsolata"/>
              </a:rPr>
              <a:t>if</a:t>
            </a:r>
            <a:r>
              <a:rPr sz="709" i="0">
                <a:solidFill>
                  <a:srgbClr val="E6EDF3"/>
                </a:solidFill>
                <a:latin typeface="Inconsolata"/>
              </a:rPr>
              <a:t> order </a:t>
            </a:r>
            <a:r>
              <a:rPr sz="709" i="0">
                <a:solidFill>
                  <a:srgbClr val="FF8E6E"/>
                </a:solidFill>
                <a:latin typeface="Inconsolata"/>
              </a:rPr>
              <a:t>is</a:t>
            </a:r>
            <a:r>
              <a:rPr sz="709" i="0">
                <a:solidFill>
                  <a:srgbClr val="E6EDF3"/>
                </a:solidFill>
                <a:latin typeface="Inconsolata"/>
              </a:rPr>
              <a:t> </a:t>
            </a:r>
            <a:r>
              <a:rPr sz="709" i="0">
                <a:solidFill>
                  <a:srgbClr val="FF8E6E"/>
                </a:solidFill>
                <a:latin typeface="Inconsolata"/>
              </a:rPr>
              <a:t>None</a:t>
            </a:r>
            <a:r>
              <a:rPr sz="709" i="0">
                <a:solidFill>
                  <a:srgbClr val="E6EDF3"/>
                </a:solidFill>
                <a:latin typeface="Inconsolata"/>
              </a:rPr>
              <a:t>:</a:t>
            </a:r>
          </a:p>
          <a:p>
            <a:pPr>
              <a:lnSpc>
                <a:spcPct val="105686"/>
              </a:lnSpc>
              <a:spcAft>
                <a:spcPts val="0"/>
              </a:spcAft>
            </a:pPr>
            <a:r>
              <a:rPr sz="709" i="0">
                <a:solidFill>
                  <a:srgbClr val="5C6773"/>
                </a:solidFill>
                <a:latin typeface="Inconsolata"/>
              </a:rPr>
              <a:t>27  </a:t>
            </a:r>
            <a:r>
              <a:rPr sz="709" i="0">
                <a:solidFill>
                  <a:srgbClr val="E6EDF3"/>
                </a:solidFill>
                <a:latin typeface="Inconsolata"/>
              </a:rPr>
              <a:t>        </a:t>
            </a:r>
            <a:r>
              <a:rPr sz="709" i="0">
                <a:solidFill>
                  <a:srgbClr val="FF8E6E"/>
                </a:solidFill>
                <a:latin typeface="Inconsolata"/>
              </a:rPr>
              <a:t>raise</a:t>
            </a:r>
            <a:r>
              <a:rPr sz="709" i="0">
                <a:solidFill>
                  <a:srgbClr val="E6EDF3"/>
                </a:solidFill>
                <a:latin typeface="Inconsolata"/>
              </a:rPr>
              <a:t> </a:t>
            </a:r>
            <a:r>
              <a:rPr sz="709" i="0">
                <a:solidFill>
                  <a:srgbClr val="7FDBCA"/>
                </a:solidFill>
                <a:latin typeface="Inconsolata"/>
              </a:rPr>
              <a:t>HTTPException</a:t>
            </a:r>
            <a:r>
              <a:rPr sz="709" i="0">
                <a:solidFill>
                  <a:srgbClr val="E6EDF3"/>
                </a:solidFill>
                <a:latin typeface="Inconsolata"/>
              </a:rPr>
              <a:t>(</a:t>
            </a:r>
            <a:r>
              <a:rPr sz="709" i="0">
                <a:solidFill>
                  <a:srgbClr val="F9C97A"/>
                </a:solidFill>
                <a:latin typeface="Inconsolata"/>
              </a:rPr>
              <a:t>404</a:t>
            </a:r>
            <a:r>
              <a:rPr sz="709" i="0">
                <a:solidFill>
                  <a:srgbClr val="E6EDF3"/>
                </a:solidFill>
                <a:latin typeface="Inconsolata"/>
              </a:rPr>
              <a:t>, </a:t>
            </a:r>
            <a:r>
              <a:rPr sz="709" i="0">
                <a:solidFill>
                  <a:srgbClr val="A5D6A7"/>
                </a:solidFill>
                <a:latin typeface="Inconsolata"/>
              </a:rPr>
              <a:t>"order tidak ditemukan"</a:t>
            </a:r>
            <a:r>
              <a:rPr sz="709" i="0">
                <a:solidFill>
                  <a:srgbClr val="E6EDF3"/>
                </a:solidFill>
                <a:latin typeface="Inconsolata"/>
              </a:rPr>
              <a:t>)</a:t>
            </a:r>
          </a:p>
          <a:p>
            <a:pPr>
              <a:lnSpc>
                <a:spcPct val="105686"/>
              </a:lnSpc>
              <a:spcAft>
                <a:spcPts val="0"/>
              </a:spcAft>
            </a:pPr>
            <a:r>
              <a:rPr sz="709" i="0">
                <a:solidFill>
                  <a:srgbClr val="5C6773"/>
                </a:solidFill>
                <a:latin typeface="Inconsolata"/>
              </a:rPr>
              <a:t>28  </a:t>
            </a:r>
            <a:r>
              <a:rPr sz="709" i="0">
                <a:solidFill>
                  <a:srgbClr val="E6EDF3"/>
                </a:solidFill>
                <a:latin typeface="Inconsolata"/>
              </a:rPr>
              <a:t>    </a:t>
            </a:r>
            <a:r>
              <a:rPr sz="709" i="0">
                <a:solidFill>
                  <a:srgbClr val="FF8E6E"/>
                </a:solidFill>
                <a:latin typeface="Inconsolata"/>
              </a:rPr>
              <a:t>return</a:t>
            </a:r>
            <a:r>
              <a:rPr sz="709" i="0">
                <a:solidFill>
                  <a:srgbClr val="E6EDF3"/>
                </a:solidFill>
                <a:latin typeface="Inconsolata"/>
              </a:rPr>
              <a:t> order</a:t>
            </a:r>
          </a:p>
          <a:p>
            <a:pPr>
              <a:lnSpc>
                <a:spcPct val="105686"/>
              </a:lnSpc>
              <a:spcAft>
                <a:spcPts val="0"/>
              </a:spcAft>
            </a:pPr>
            <a:r>
              <a:rPr sz="709" i="0">
                <a:solidFill>
                  <a:srgbClr val="5C6773"/>
                </a:solidFill>
                <a:latin typeface="Inconsolata"/>
              </a:rPr>
              <a:t>29  </a:t>
            </a:r>
            <a:r>
              <a:rPr sz="709" i="0">
                <a:solidFill>
                  <a:srgbClr val="E6EDF3"/>
                </a:solidFill>
                <a:latin typeface="Inconsolata"/>
              </a:rPr>
              <a:t> </a:t>
            </a:r>
          </a:p>
          <a:p>
            <a:pPr>
              <a:lnSpc>
                <a:spcPct val="105686"/>
              </a:lnSpc>
              <a:spcAft>
                <a:spcPts val="0"/>
              </a:spcAft>
            </a:pPr>
            <a:r>
              <a:rPr sz="709" i="0">
                <a:solidFill>
                  <a:srgbClr val="5C6773"/>
                </a:solidFill>
                <a:latin typeface="Inconsolata"/>
              </a:rPr>
              <a:t>30  </a:t>
            </a:r>
            <a:r>
              <a:rPr sz="709" i="0">
                <a:solidFill>
                  <a:srgbClr val="E6EDF3"/>
                </a:solidFill>
                <a:latin typeface="Inconsolata"/>
              </a:rPr>
              <a:t> </a:t>
            </a:r>
          </a:p>
          <a:p>
            <a:pPr>
              <a:lnSpc>
                <a:spcPct val="105686"/>
              </a:lnSpc>
              <a:spcAft>
                <a:spcPts val="0"/>
              </a:spcAft>
            </a:pPr>
            <a:r>
              <a:rPr sz="709" i="0">
                <a:solidFill>
                  <a:srgbClr val="5C6773"/>
                </a:solidFill>
                <a:latin typeface="Inconsolata"/>
              </a:rPr>
              <a:t>31  </a:t>
            </a:r>
            <a:r>
              <a:rPr sz="709" i="0">
                <a:solidFill>
                  <a:srgbClr val="FF8E6E"/>
                </a:solidFill>
                <a:latin typeface="Inconsolata"/>
              </a:rPr>
              <a:t>if</a:t>
            </a:r>
            <a:r>
              <a:rPr sz="709" i="0">
                <a:solidFill>
                  <a:srgbClr val="E6EDF3"/>
                </a:solidFill>
                <a:latin typeface="Inconsolata"/>
              </a:rPr>
              <a:t> __name__ == </a:t>
            </a:r>
            <a:r>
              <a:rPr sz="709" i="0">
                <a:solidFill>
                  <a:srgbClr val="A5D6A7"/>
                </a:solidFill>
                <a:latin typeface="Inconsolata"/>
              </a:rPr>
              <a:t>"__main__"</a:t>
            </a:r>
            <a:r>
              <a:rPr sz="709" i="0">
                <a:solidFill>
                  <a:srgbClr val="E6EDF3"/>
                </a:solidFill>
                <a:latin typeface="Inconsolata"/>
              </a:rPr>
              <a:t>:</a:t>
            </a:r>
          </a:p>
          <a:p>
            <a:pPr>
              <a:lnSpc>
                <a:spcPct val="105686"/>
              </a:lnSpc>
              <a:spcAft>
                <a:spcPts val="0"/>
              </a:spcAft>
            </a:pPr>
            <a:r>
              <a:rPr sz="709" i="0">
                <a:solidFill>
                  <a:srgbClr val="5C6773"/>
                </a:solidFill>
                <a:latin typeface="Inconsolata"/>
              </a:rPr>
              <a:t>32  </a:t>
            </a:r>
            <a:r>
              <a:rPr sz="709" i="0">
                <a:solidFill>
                  <a:srgbClr val="E6EDF3"/>
                </a:solidFill>
                <a:latin typeface="Inconsolata"/>
              </a:rPr>
              <a:t>    client = </a:t>
            </a:r>
            <a:r>
              <a:rPr sz="709" i="0">
                <a:solidFill>
                  <a:srgbClr val="7FDBCA"/>
                </a:solidFill>
                <a:latin typeface="Inconsolata"/>
              </a:rPr>
              <a:t>TestClient</a:t>
            </a:r>
            <a:r>
              <a:rPr sz="709" i="0">
                <a:solidFill>
                  <a:srgbClr val="E6EDF3"/>
                </a:solidFill>
                <a:latin typeface="Inconsolata"/>
              </a:rPr>
              <a:t>(app)</a:t>
            </a:r>
          </a:p>
          <a:p>
            <a:pPr>
              <a:lnSpc>
                <a:spcPct val="105686"/>
              </a:lnSpc>
              <a:spcAft>
                <a:spcPts val="0"/>
              </a:spcAft>
            </a:pPr>
            <a:r>
              <a:rPr sz="709" i="0">
                <a:solidFill>
                  <a:srgbClr val="5C6773"/>
                </a:solidFill>
                <a:latin typeface="Inconsolata"/>
              </a:rPr>
              <a:t>33  </a:t>
            </a:r>
            <a:r>
              <a:rPr sz="709" i="0">
                <a:solidFill>
                  <a:srgbClr val="E6EDF3"/>
                </a:solidFill>
                <a:latin typeface="Inconsolata"/>
              </a:rPr>
              <a:t>    </a:t>
            </a:r>
            <a:r>
              <a:rPr sz="709" i="0">
                <a:solidFill>
                  <a:srgbClr val="FF8E6E"/>
                </a:solidFill>
                <a:latin typeface="Inconsolata"/>
              </a:rPr>
              <a:t>for</a:t>
            </a:r>
            <a:r>
              <a:rPr sz="709" i="0">
                <a:solidFill>
                  <a:srgbClr val="E6EDF3"/>
                </a:solidFill>
                <a:latin typeface="Inconsolata"/>
              </a:rPr>
              <a:t> order_id </a:t>
            </a:r>
            <a:r>
              <a:rPr sz="709" i="0">
                <a:solidFill>
                  <a:srgbClr val="FF8E6E"/>
                </a:solidFill>
                <a:latin typeface="Inconsolata"/>
              </a:rPr>
              <a:t>in</a:t>
            </a:r>
            <a:r>
              <a:rPr sz="709" i="0">
                <a:solidFill>
                  <a:srgbClr val="E6EDF3"/>
                </a:solidFill>
                <a:latin typeface="Inconsolata"/>
              </a:rPr>
              <a:t> (</a:t>
            </a:r>
            <a:r>
              <a:rPr sz="709" i="0">
                <a:solidFill>
                  <a:srgbClr val="F9C97A"/>
                </a:solidFill>
                <a:latin typeface="Inconsolata"/>
              </a:rPr>
              <a:t>1</a:t>
            </a:r>
            <a:r>
              <a:rPr sz="709" i="0">
                <a:solidFill>
                  <a:srgbClr val="E6EDF3"/>
                </a:solidFill>
                <a:latin typeface="Inconsolata"/>
              </a:rPr>
              <a:t>, </a:t>
            </a:r>
            <a:r>
              <a:rPr sz="709" i="0">
                <a:solidFill>
                  <a:srgbClr val="F9C97A"/>
                </a:solidFill>
                <a:latin typeface="Inconsolata"/>
              </a:rPr>
              <a:t>2</a:t>
            </a:r>
            <a:r>
              <a:rPr sz="709" i="0">
                <a:solidFill>
                  <a:srgbClr val="E6EDF3"/>
                </a:solidFill>
                <a:latin typeface="Inconsolata"/>
              </a:rPr>
              <a:t>):</a:t>
            </a:r>
          </a:p>
          <a:p>
            <a:pPr>
              <a:lnSpc>
                <a:spcPct val="105686"/>
              </a:lnSpc>
              <a:spcAft>
                <a:spcPts val="0"/>
              </a:spcAft>
            </a:pPr>
            <a:r>
              <a:rPr sz="709" i="0">
                <a:solidFill>
                  <a:srgbClr val="5C6773"/>
                </a:solidFill>
                <a:latin typeface="Inconsolata"/>
              </a:rPr>
              <a:t>34  </a:t>
            </a:r>
            <a:r>
              <a:rPr sz="709" i="0">
                <a:solidFill>
                  <a:srgbClr val="E6EDF3"/>
                </a:solidFill>
                <a:latin typeface="Inconsolata"/>
              </a:rPr>
              <a:t>        response = client.get(</a:t>
            </a:r>
            <a:r>
              <a:rPr sz="709" i="0">
                <a:solidFill>
                  <a:srgbClr val="A5D6A7"/>
                </a:solidFill>
                <a:latin typeface="Inconsolata"/>
              </a:rPr>
              <a:t>f"/orders/{order_id}"</a:t>
            </a:r>
            <a:r>
              <a:rPr sz="709" i="0">
                <a:solidFill>
                  <a:srgbClr val="E6EDF3"/>
                </a:solidFill>
                <a:latin typeface="Inconsolata"/>
              </a:rPr>
              <a:t>,</a:t>
            </a:r>
          </a:p>
          <a:p>
            <a:pPr>
              <a:lnSpc>
                <a:spcPct val="105686"/>
              </a:lnSpc>
              <a:spcAft>
                <a:spcPts val="0"/>
              </a:spcAft>
            </a:pPr>
            <a:r>
              <a:rPr sz="709" i="0">
                <a:solidFill>
                  <a:srgbClr val="5C6773"/>
                </a:solidFill>
                <a:latin typeface="Inconsolata"/>
              </a:rPr>
              <a:t>35  </a:t>
            </a:r>
            <a:r>
              <a:rPr sz="709" i="0">
                <a:solidFill>
                  <a:srgbClr val="E6EDF3"/>
                </a:solidFill>
                <a:latin typeface="Inconsolata"/>
              </a:rPr>
              <a:t>                              headers={</a:t>
            </a:r>
            <a:r>
              <a:rPr sz="709" i="0">
                <a:solidFill>
                  <a:srgbClr val="A5D6A7"/>
                </a:solidFill>
                <a:latin typeface="Inconsolata"/>
              </a:rPr>
              <a:t>"X-User"</a:t>
            </a:r>
            <a:r>
              <a:rPr sz="709" i="0">
                <a:solidFill>
                  <a:srgbClr val="E6EDF3"/>
                </a:solidFill>
                <a:latin typeface="Inconsolata"/>
              </a:rPr>
              <a:t>: </a:t>
            </a:r>
            <a:r>
              <a:rPr sz="709" i="0">
                <a:solidFill>
                  <a:srgbClr val="A5D6A7"/>
                </a:solidFill>
                <a:latin typeface="Inconsolata"/>
              </a:rPr>
              <a:t>"budi@mail.com"</a:t>
            </a:r>
            <a:r>
              <a:rPr sz="709" i="0">
                <a:solidFill>
                  <a:srgbClr val="E6EDF3"/>
                </a:solidFill>
                <a:latin typeface="Inconsolata"/>
              </a:rPr>
              <a:t>})</a:t>
            </a:r>
          </a:p>
          <a:p>
            <a:pPr>
              <a:lnSpc>
                <a:spcPct val="105686"/>
              </a:lnSpc>
              <a:spcAft>
                <a:spcPts val="0"/>
              </a:spcAft>
            </a:pPr>
            <a:r>
              <a:rPr sz="709" i="0">
                <a:solidFill>
                  <a:srgbClr val="5C6773"/>
                </a:solidFill>
                <a:latin typeface="Inconsolata"/>
              </a:rPr>
              <a:t>36  </a:t>
            </a:r>
            <a:r>
              <a:rPr sz="709" i="0">
                <a:solidFill>
                  <a:srgbClr val="E6EDF3"/>
                </a:solidFill>
                <a:latin typeface="Inconsolata"/>
              </a:rPr>
              <a:t>        </a:t>
            </a:r>
            <a:r>
              <a:rPr sz="709" i="0">
                <a:solidFill>
                  <a:srgbClr val="C3A6FF"/>
                </a:solidFill>
                <a:latin typeface="Inconsolata"/>
              </a:rPr>
              <a:t>print</a:t>
            </a:r>
            <a:r>
              <a:rPr sz="709" i="0">
                <a:solidFill>
                  <a:srgbClr val="E6EDF3"/>
                </a:solidFill>
                <a:latin typeface="Inconsolata"/>
              </a:rPr>
              <a:t>(</a:t>
            </a:r>
            <a:r>
              <a:rPr sz="709" i="0">
                <a:solidFill>
                  <a:srgbClr val="A5D6A7"/>
                </a:solidFill>
                <a:latin typeface="Inconsolata"/>
              </a:rPr>
              <a:t>f"budi GET /orders/{order_id} -&gt; {response.status_code} "</a:t>
            </a:r>
          </a:p>
          <a:p>
            <a:pPr>
              <a:lnSpc>
                <a:spcPct val="105686"/>
              </a:lnSpc>
              <a:spcAft>
                <a:spcPts val="0"/>
              </a:spcAft>
            </a:pPr>
            <a:r>
              <a:rPr sz="709" i="0">
                <a:solidFill>
                  <a:srgbClr val="5C6773"/>
                </a:solidFill>
                <a:latin typeface="Inconsolata"/>
              </a:rPr>
              <a:t>37  </a:t>
            </a:r>
            <a:r>
              <a:rPr sz="709" i="0">
                <a:solidFill>
                  <a:srgbClr val="E6EDF3"/>
                </a:solidFill>
                <a:latin typeface="Inconsolata"/>
              </a:rPr>
              <a:t>              </a:t>
            </a:r>
            <a:r>
              <a:rPr sz="709" i="0">
                <a:solidFill>
                  <a:srgbClr val="A5D6A7"/>
                </a:solidFill>
                <a:latin typeface="Inconsolata"/>
              </a:rPr>
              <a:t>f"{response.json()}"</a:t>
            </a:r>
            <a:r>
              <a:rPr sz="709" i="0">
                <a:solidFill>
                  <a:srgbClr val="E6EDF3"/>
                </a:solidFill>
                <a:latin typeface="Inconsolata"/>
              </a:rPr>
              <a:t>)</a:t>
            </a:r>
          </a:p>
        </p:txBody>
      </p:sp>
      <p:sp>
        <p:nvSpPr>
          <p:cNvPr id="36" name="Box 21"/>
          <p:cNvSpPr/>
          <p:nvPr/>
        </p:nvSpPr>
        <p:spPr>
          <a:xfrm>
            <a:off x="704088" y="2396871"/>
            <a:ext cx="3694176" cy="221742"/>
          </a:xfrm>
          <a:prstGeom prst="roundRect">
            <a:avLst>
              <a:gd name="adj" fmla="val 20618"/>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3888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2053971"/>
            <a:ext cx="3694176" cy="450342"/>
          </a:xfrm>
          <a:prstGeom prst="roundRect">
            <a:avLst>
              <a:gd name="adj" fmla="val 10152"/>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1602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Broken Access Control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01-broken-access-control/before.py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sesi-10-api-security/01-broken-access-control</a:t>
            </a:r>
          </a:p>
          <a:p>
            <a:pPr>
              <a:lnSpc>
                <a:spcPct val="111111"/>
              </a:lnSpc>
              <a:spcAft>
                <a:spcPts val="0"/>
              </a:spcAft>
            </a:pPr>
            <a:r>
              <a:rPr sz="900" i="0">
                <a:solidFill>
                  <a:srgbClr val="82B1FF"/>
                </a:solidFill>
                <a:latin typeface="Inconsolata"/>
              </a:rPr>
              <a:t>$ python before.py</a:t>
            </a:r>
          </a:p>
        </p:txBody>
      </p:sp>
      <p:pic>
        <p:nvPicPr>
          <p:cNvPr id="29" name="Image 12" descr="s10-01-broken-access-control-before.png"/>
          <p:cNvPicPr>
            <a:picLocks noChangeAspect="1"/>
          </p:cNvPicPr>
          <p:nvPr/>
        </p:nvPicPr>
        <p:blipFill>
          <a:blip r:embed="rId2"/>
          <a:stretch>
            <a:fillRect/>
          </a:stretch>
        </p:blipFill>
        <p:spPr>
          <a:xfrm>
            <a:off x="621792" y="2322576"/>
            <a:ext cx="4297680" cy="791678"/>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Order Ani berisi alamat (baris 15-16)</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Endpoint hanya mencari berdasarkan id, tanpa cek pemilik (baris 25-28)</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Budi membaca order Ani dengan status 200.</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Broken Access Control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cek pemilik order</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01-broken-access-control/after.py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 9  </a:t>
            </a:r>
            <a:r>
              <a:rPr sz="719" i="0">
                <a:solidFill>
                  <a:srgbClr val="FF8E6E"/>
                </a:solidFill>
                <a:latin typeface="Inconsolata"/>
              </a:rPr>
              <a:t>from</a:t>
            </a:r>
            <a:r>
              <a:rPr sz="719" i="0">
                <a:solidFill>
                  <a:srgbClr val="E6EDF3"/>
                </a:solidFill>
                <a:latin typeface="Inconsolata"/>
              </a:rPr>
              <a:t> fastapi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Depends</a:t>
            </a:r>
            <a:r>
              <a:rPr sz="719" i="0">
                <a:solidFill>
                  <a:srgbClr val="E6EDF3"/>
                </a:solidFill>
                <a:latin typeface="Inconsolata"/>
              </a:rPr>
              <a:t>, </a:t>
            </a:r>
            <a:r>
              <a:rPr sz="719" i="0">
                <a:solidFill>
                  <a:srgbClr val="7FDBCA"/>
                </a:solidFill>
                <a:latin typeface="Inconsolata"/>
              </a:rPr>
              <a:t>FastAPI</a:t>
            </a:r>
            <a:r>
              <a:rPr sz="719" i="0">
                <a:solidFill>
                  <a:srgbClr val="E6EDF3"/>
                </a:solidFill>
                <a:latin typeface="Inconsolata"/>
              </a:rPr>
              <a:t>, </a:t>
            </a:r>
            <a:r>
              <a:rPr sz="719" i="0">
                <a:solidFill>
                  <a:srgbClr val="7FDBCA"/>
                </a:solidFill>
                <a:latin typeface="Inconsolata"/>
              </a:rPr>
              <a:t>Header</a:t>
            </a:r>
            <a:r>
              <a:rPr sz="719" i="0">
                <a:solidFill>
                  <a:srgbClr val="E6EDF3"/>
                </a:solidFill>
                <a:latin typeface="Inconsolata"/>
              </a:rPr>
              <a:t>, </a:t>
            </a:r>
            <a:r>
              <a:rPr sz="719" i="0">
                <a:solidFill>
                  <a:srgbClr val="7FDBCA"/>
                </a:solidFill>
                <a:latin typeface="Inconsolata"/>
              </a:rPr>
              <a:t>HTTPException</a:t>
            </a:r>
          </a:p>
          <a:p>
            <a:pPr>
              <a:lnSpc>
                <a:spcPct val="104277"/>
              </a:lnSpc>
              <a:spcAft>
                <a:spcPts val="0"/>
              </a:spcAft>
            </a:pPr>
            <a:r>
              <a:rPr sz="719" i="0">
                <a:solidFill>
                  <a:srgbClr val="5C6773"/>
                </a:solidFill>
                <a:latin typeface="Inconsolata"/>
              </a:rPr>
              <a:t>10  </a:t>
            </a:r>
            <a:r>
              <a:rPr sz="719" i="0">
                <a:solidFill>
                  <a:srgbClr val="FF8E6E"/>
                </a:solidFill>
                <a:latin typeface="Inconsolata"/>
              </a:rPr>
              <a:t>from</a:t>
            </a:r>
            <a:r>
              <a:rPr sz="719" i="0">
                <a:solidFill>
                  <a:srgbClr val="E6EDF3"/>
                </a:solidFill>
                <a:latin typeface="Inconsolata"/>
              </a:rPr>
              <a:t> fastapi.testclient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TestClient</a:t>
            </a:r>
          </a:p>
          <a:p>
            <a:pPr>
              <a:lnSpc>
                <a:spcPct val="104277"/>
              </a:lnSpc>
              <a:spcAft>
                <a:spcPts val="0"/>
              </a:spcAft>
            </a:pPr>
            <a:r>
              <a:rPr sz="719" i="0">
                <a:solidFill>
                  <a:srgbClr val="5C6773"/>
                </a:solidFill>
                <a:latin typeface="Inconsolata"/>
              </a:rPr>
              <a:t>11  </a:t>
            </a:r>
            <a:r>
              <a:rPr sz="719" i="0">
                <a:solidFill>
                  <a:srgbClr val="E6EDF3"/>
                </a:solidFill>
                <a:latin typeface="Inconsolata"/>
              </a:rPr>
              <a:t> </a:t>
            </a:r>
          </a:p>
          <a:p>
            <a:pPr>
              <a:lnSpc>
                <a:spcPct val="104277"/>
              </a:lnSpc>
              <a:spcAft>
                <a:spcPts val="0"/>
              </a:spcAft>
            </a:pPr>
            <a:r>
              <a:rPr sz="719" i="0">
                <a:solidFill>
                  <a:srgbClr val="5C6773"/>
                </a:solidFill>
                <a:latin typeface="Inconsolata"/>
              </a:rPr>
              <a:t>12  </a:t>
            </a:r>
            <a:r>
              <a:rPr sz="719" i="0">
                <a:solidFill>
                  <a:srgbClr val="E6EDF3"/>
                </a:solidFill>
                <a:latin typeface="Inconsolata"/>
              </a:rPr>
              <a:t>app = </a:t>
            </a:r>
            <a:r>
              <a:rPr sz="719" i="0">
                <a:solidFill>
                  <a:srgbClr val="7FDBCA"/>
                </a:solidFill>
                <a:latin typeface="Inconsolata"/>
              </a:rPr>
              <a:t>FastAPI</a:t>
            </a:r>
            <a:r>
              <a:rPr sz="719" i="0">
                <a:solidFill>
                  <a:srgbClr val="E6EDF3"/>
                </a:solidFill>
                <a:latin typeface="Inconsolata"/>
              </a:rPr>
              <a:t>()</a:t>
            </a:r>
          </a:p>
          <a:p>
            <a:pPr>
              <a:lnSpc>
                <a:spcPct val="104277"/>
              </a:lnSpc>
              <a:spcAft>
                <a:spcPts val="0"/>
              </a:spcAft>
            </a:pPr>
            <a:r>
              <a:rPr sz="719" i="0">
                <a:solidFill>
                  <a:srgbClr val="5C6773"/>
                </a:solidFill>
                <a:latin typeface="Inconsolata"/>
              </a:rPr>
              <a:t>13  </a:t>
            </a:r>
            <a:r>
              <a:rPr sz="719" i="0">
                <a:solidFill>
                  <a:srgbClr val="7FDBCA"/>
                </a:solidFill>
                <a:latin typeface="Inconsolata"/>
              </a:rPr>
              <a:t>ORDERS</a:t>
            </a:r>
            <a:r>
              <a:rPr sz="719" i="0">
                <a:solidFill>
                  <a:srgbClr val="E6EDF3"/>
                </a:solidFill>
                <a:latin typeface="Inconsolata"/>
              </a:rPr>
              <a:t> = {</a:t>
            </a:r>
            <a:r>
              <a:rPr sz="719" i="0">
                <a:solidFill>
                  <a:srgbClr val="F9C97A"/>
                </a:solidFill>
                <a:latin typeface="Inconsolata"/>
              </a:rPr>
              <a:t>1</a:t>
            </a:r>
            <a:r>
              <a:rPr sz="719" i="0">
                <a:solidFill>
                  <a:srgbClr val="E6EDF3"/>
                </a:solidFill>
                <a:latin typeface="Inconsolata"/>
              </a:rPr>
              <a:t>: {</a:t>
            </a:r>
            <a:r>
              <a:rPr sz="719" i="0">
                <a:solidFill>
                  <a:srgbClr val="A5D6A7"/>
                </a:solidFill>
                <a:latin typeface="Inconsolata"/>
              </a:rPr>
              <a:t>"id"</a:t>
            </a:r>
            <a:r>
              <a:rPr sz="719" i="0">
                <a:solidFill>
                  <a:srgbClr val="E6EDF3"/>
                </a:solidFill>
                <a:latin typeface="Inconsolata"/>
              </a:rPr>
              <a:t>: </a:t>
            </a:r>
            <a:r>
              <a:rPr sz="719" i="0">
                <a:solidFill>
                  <a:srgbClr val="F9C97A"/>
                </a:solidFill>
                <a:latin typeface="Inconsolata"/>
              </a:rPr>
              <a:t>1</a:t>
            </a:r>
            <a:r>
              <a:rPr sz="719" i="0">
                <a:solidFill>
                  <a:srgbClr val="E6EDF3"/>
                </a:solidFill>
                <a:latin typeface="Inconsolata"/>
              </a:rPr>
              <a:t>, </a:t>
            </a:r>
            <a:r>
              <a:rPr sz="719" i="0">
                <a:solidFill>
                  <a:srgbClr val="A5D6A7"/>
                </a:solidFill>
                <a:latin typeface="Inconsolata"/>
              </a:rPr>
              <a:t>"customer"</a:t>
            </a:r>
            <a:r>
              <a:rPr sz="719" i="0">
                <a:solidFill>
                  <a:srgbClr val="E6EDF3"/>
                </a:solidFill>
                <a:latin typeface="Inconsolata"/>
              </a:rPr>
              <a:t>: </a:t>
            </a:r>
            <a:r>
              <a:rPr sz="719" i="0">
                <a:solidFill>
                  <a:srgbClr val="A5D6A7"/>
                </a:solidFill>
                <a:latin typeface="Inconsolata"/>
              </a:rPr>
              <a:t>"budi@mail.com"</a:t>
            </a:r>
            <a:r>
              <a:rPr sz="719" i="0">
                <a:solidFill>
                  <a:srgbClr val="E6EDF3"/>
                </a:solidFill>
                <a:latin typeface="Inconsolata"/>
              </a:rPr>
              <a:t>, </a:t>
            </a:r>
            <a:r>
              <a:rPr sz="719" i="0">
                <a:solidFill>
                  <a:srgbClr val="A5D6A7"/>
                </a:solidFill>
                <a:latin typeface="Inconsolata"/>
              </a:rPr>
              <a:t>"total"</a:t>
            </a:r>
            <a:r>
              <a:rPr sz="719" i="0">
                <a:solidFill>
                  <a:srgbClr val="E6EDF3"/>
                </a:solidFill>
                <a:latin typeface="Inconsolata"/>
              </a:rPr>
              <a:t>: </a:t>
            </a:r>
            <a:r>
              <a:rPr sz="719" i="0">
                <a:solidFill>
                  <a:srgbClr val="F9C97A"/>
                </a:solidFill>
                <a:latin typeface="Inconsolata"/>
              </a:rPr>
              <a:t>900_000</a:t>
            </a:r>
            <a:r>
              <a:rPr sz="719" i="0">
                <a:solidFill>
                  <a:srgbClr val="E6EDF3"/>
                </a:solidFill>
                <a:latin typeface="Inconsolata"/>
              </a:rPr>
              <a:t>},</a:t>
            </a:r>
          </a:p>
          <a:p>
            <a:pPr>
              <a:lnSpc>
                <a:spcPct val="104277"/>
              </a:lnSpc>
              <a:spcAft>
                <a:spcPts val="0"/>
              </a:spcAft>
            </a:pPr>
            <a:r>
              <a:rPr sz="719" i="0">
                <a:solidFill>
                  <a:srgbClr val="5C6773"/>
                </a:solidFill>
                <a:latin typeface="Inconsolata"/>
              </a:rPr>
              <a:t>14  </a:t>
            </a:r>
            <a:r>
              <a:rPr sz="719" i="0">
                <a:solidFill>
                  <a:srgbClr val="E6EDF3"/>
                </a:solidFill>
                <a:latin typeface="Inconsolata"/>
              </a:rPr>
              <a:t>          </a:t>
            </a:r>
            <a:r>
              <a:rPr sz="719" i="0">
                <a:solidFill>
                  <a:srgbClr val="F9C97A"/>
                </a:solidFill>
                <a:latin typeface="Inconsolata"/>
              </a:rPr>
              <a:t>2</a:t>
            </a:r>
            <a:r>
              <a:rPr sz="719" i="0">
                <a:solidFill>
                  <a:srgbClr val="E6EDF3"/>
                </a:solidFill>
                <a:latin typeface="Inconsolata"/>
              </a:rPr>
              <a:t>: {</a:t>
            </a:r>
            <a:r>
              <a:rPr sz="719" i="0">
                <a:solidFill>
                  <a:srgbClr val="A5D6A7"/>
                </a:solidFill>
                <a:latin typeface="Inconsolata"/>
              </a:rPr>
              <a:t>"id"</a:t>
            </a:r>
            <a:r>
              <a:rPr sz="719" i="0">
                <a:solidFill>
                  <a:srgbClr val="E6EDF3"/>
                </a:solidFill>
                <a:latin typeface="Inconsolata"/>
              </a:rPr>
              <a:t>: </a:t>
            </a:r>
            <a:r>
              <a:rPr sz="719" i="0">
                <a:solidFill>
                  <a:srgbClr val="F9C97A"/>
                </a:solidFill>
                <a:latin typeface="Inconsolata"/>
              </a:rPr>
              <a:t>2</a:t>
            </a:r>
            <a:r>
              <a:rPr sz="719" i="0">
                <a:solidFill>
                  <a:srgbClr val="E6EDF3"/>
                </a:solidFill>
                <a:latin typeface="Inconsolata"/>
              </a:rPr>
              <a:t>, </a:t>
            </a:r>
            <a:r>
              <a:rPr sz="719" i="0">
                <a:solidFill>
                  <a:srgbClr val="A5D6A7"/>
                </a:solidFill>
                <a:latin typeface="Inconsolata"/>
              </a:rPr>
              <a:t>"customer"</a:t>
            </a:r>
            <a:r>
              <a:rPr sz="719" i="0">
                <a:solidFill>
                  <a:srgbClr val="E6EDF3"/>
                </a:solidFill>
                <a:latin typeface="Inconsolata"/>
              </a:rPr>
              <a:t>: </a:t>
            </a:r>
            <a:r>
              <a:rPr sz="719" i="0">
                <a:solidFill>
                  <a:srgbClr val="A5D6A7"/>
                </a:solidFill>
                <a:latin typeface="Inconsolata"/>
              </a:rPr>
              <a:t>"ani@mail.com"</a:t>
            </a:r>
            <a:r>
              <a:rPr sz="719" i="0">
                <a:solidFill>
                  <a:srgbClr val="E6EDF3"/>
                </a:solidFill>
                <a:latin typeface="Inconsolata"/>
              </a:rPr>
              <a:t>, </a:t>
            </a:r>
            <a:r>
              <a:rPr sz="719" i="0">
                <a:solidFill>
                  <a:srgbClr val="A5D6A7"/>
                </a:solidFill>
                <a:latin typeface="Inconsolata"/>
              </a:rPr>
              <a:t>"total"</a:t>
            </a:r>
            <a:r>
              <a:rPr sz="719" i="0">
                <a:solidFill>
                  <a:srgbClr val="E6EDF3"/>
                </a:solidFill>
                <a:latin typeface="Inconsolata"/>
              </a:rPr>
              <a:t>: </a:t>
            </a:r>
            <a:r>
              <a:rPr sz="719" i="0">
                <a:solidFill>
                  <a:srgbClr val="F9C97A"/>
                </a:solidFill>
                <a:latin typeface="Inconsolata"/>
              </a:rPr>
              <a:t>4_500_000</a:t>
            </a:r>
            <a:r>
              <a:rPr sz="719" i="0">
                <a:solidFill>
                  <a:srgbClr val="E6EDF3"/>
                </a:solidFill>
                <a:latin typeface="Inconsolata"/>
              </a:rPr>
              <a:t>,</a:t>
            </a:r>
          </a:p>
          <a:p>
            <a:pPr>
              <a:lnSpc>
                <a:spcPct val="104277"/>
              </a:lnSpc>
              <a:spcAft>
                <a:spcPts val="0"/>
              </a:spcAft>
            </a:pPr>
            <a:r>
              <a:rPr sz="719" i="0">
                <a:solidFill>
                  <a:srgbClr val="5C6773"/>
                </a:solidFill>
                <a:latin typeface="Inconsolata"/>
              </a:rPr>
              <a:t>15  </a:t>
            </a:r>
            <a:r>
              <a:rPr sz="719" i="0">
                <a:solidFill>
                  <a:srgbClr val="E6EDF3"/>
                </a:solidFill>
                <a:latin typeface="Inconsolata"/>
              </a:rPr>
              <a:t>              </a:t>
            </a:r>
            <a:r>
              <a:rPr sz="719" i="0">
                <a:solidFill>
                  <a:srgbClr val="A5D6A7"/>
                </a:solidFill>
                <a:latin typeface="Inconsolata"/>
              </a:rPr>
              <a:t>"address"</a:t>
            </a:r>
            <a:r>
              <a:rPr sz="719" i="0">
                <a:solidFill>
                  <a:srgbClr val="E6EDF3"/>
                </a:solidFill>
                <a:latin typeface="Inconsolata"/>
              </a:rPr>
              <a:t>: </a:t>
            </a:r>
            <a:r>
              <a:rPr sz="719" i="0">
                <a:solidFill>
                  <a:srgbClr val="A5D6A7"/>
                </a:solidFill>
                <a:latin typeface="Inconsolata"/>
              </a:rPr>
              <a:t>"Jl. Melati 7, Bandung"</a:t>
            </a:r>
            <a:r>
              <a:rPr sz="719" i="0">
                <a:solidFill>
                  <a:srgbClr val="E6EDF3"/>
                </a:solidFill>
                <a:latin typeface="Inconsolata"/>
              </a:rPr>
              <a:t>}}</a:t>
            </a:r>
          </a:p>
          <a:p>
            <a:pPr>
              <a:lnSpc>
                <a:spcPct val="104277"/>
              </a:lnSpc>
              <a:spcAft>
                <a:spcPts val="0"/>
              </a:spcAft>
            </a:pPr>
            <a:r>
              <a:rPr sz="719" i="0">
                <a:solidFill>
                  <a:srgbClr val="5C6773"/>
                </a:solidFill>
                <a:latin typeface="Inconsolata"/>
              </a:rPr>
              <a:t>16  </a:t>
            </a:r>
            <a:r>
              <a:rPr sz="719" i="0">
                <a:solidFill>
                  <a:srgbClr val="7FDBCA"/>
                </a:solidFill>
                <a:latin typeface="Inconsolata"/>
              </a:rPr>
              <a:t>ADMINS</a:t>
            </a:r>
            <a:r>
              <a:rPr sz="719" i="0">
                <a:solidFill>
                  <a:srgbClr val="E6EDF3"/>
                </a:solidFill>
                <a:latin typeface="Inconsolata"/>
              </a:rPr>
              <a:t> = {</a:t>
            </a:r>
            <a:r>
              <a:rPr sz="719" i="0">
                <a:solidFill>
                  <a:srgbClr val="A5D6A7"/>
                </a:solidFill>
                <a:latin typeface="Inconsolata"/>
              </a:rPr>
              <a:t>"admin@toko.com"</a:t>
            </a:r>
            <a:r>
              <a:rPr sz="719" i="0">
                <a:solidFill>
                  <a:srgbClr val="E6EDF3"/>
                </a:solidFill>
                <a:latin typeface="Inconsolata"/>
              </a:rPr>
              <a:t>}</a:t>
            </a:r>
          </a:p>
          <a:p>
            <a:pPr>
              <a:lnSpc>
                <a:spcPct val="104277"/>
              </a:lnSpc>
              <a:spcAft>
                <a:spcPts val="0"/>
              </a:spcAft>
            </a:pPr>
            <a:r>
              <a:rPr sz="719" i="0">
                <a:solidFill>
                  <a:srgbClr val="5C6773"/>
                </a:solidFill>
                <a:latin typeface="Inconsolata"/>
              </a:rPr>
              <a:t>17  </a:t>
            </a:r>
            <a:r>
              <a:rPr sz="719" i="0">
                <a:solidFill>
                  <a:srgbClr val="E6EDF3"/>
                </a:solidFill>
                <a:latin typeface="Inconsolata"/>
              </a:rPr>
              <a:t> </a:t>
            </a:r>
          </a:p>
          <a:p>
            <a:pPr>
              <a:lnSpc>
                <a:spcPct val="104277"/>
              </a:lnSpc>
              <a:spcAft>
                <a:spcPts val="0"/>
              </a:spcAft>
            </a:pPr>
            <a:r>
              <a:rPr sz="719" i="0">
                <a:solidFill>
                  <a:srgbClr val="5C6773"/>
                </a:solidFill>
                <a:latin typeface="Inconsolata"/>
              </a:rPr>
              <a:t>18  </a:t>
            </a:r>
            <a:r>
              <a:rPr sz="719" i="0">
                <a:solidFill>
                  <a:srgbClr val="E6EDF3"/>
                </a:solidFill>
                <a:latin typeface="Inconsolata"/>
              </a:rPr>
              <a:t> </a:t>
            </a:r>
          </a:p>
          <a:p>
            <a:pPr>
              <a:lnSpc>
                <a:spcPct val="104277"/>
              </a:lnSpc>
              <a:spcAft>
                <a:spcPts val="0"/>
              </a:spcAft>
            </a:pPr>
            <a:r>
              <a:rPr sz="719" i="0">
                <a:solidFill>
                  <a:srgbClr val="5C6773"/>
                </a:solidFill>
                <a:latin typeface="Inconsolata"/>
              </a:rPr>
              <a:t>19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current_user</a:t>
            </a:r>
            <a:r>
              <a:rPr sz="719" i="0">
                <a:solidFill>
                  <a:srgbClr val="E6EDF3"/>
                </a:solidFill>
                <a:latin typeface="Inconsolata"/>
              </a:rPr>
              <a:t>(x_user: </a:t>
            </a:r>
            <a:r>
              <a:rPr sz="719" i="0">
                <a:solidFill>
                  <a:srgbClr val="C3A6FF"/>
                </a:solidFill>
                <a:latin typeface="Inconsolata"/>
              </a:rPr>
              <a:t>str</a:t>
            </a:r>
            <a:r>
              <a:rPr sz="719" i="0">
                <a:solidFill>
                  <a:srgbClr val="E6EDF3"/>
                </a:solidFill>
                <a:latin typeface="Inconsolata"/>
              </a:rPr>
              <a:t> = </a:t>
            </a:r>
            <a:r>
              <a:rPr sz="719" i="0">
                <a:solidFill>
                  <a:srgbClr val="7FDBCA"/>
                </a:solidFill>
                <a:latin typeface="Inconsolata"/>
              </a:rPr>
              <a:t>Header</a:t>
            </a:r>
            <a:r>
              <a:rPr sz="719" i="0">
                <a:solidFill>
                  <a:srgbClr val="E6EDF3"/>
                </a:solidFill>
                <a:latin typeface="Inconsolata"/>
              </a:rPr>
              <a:t>()) -&gt; </a:t>
            </a:r>
            <a:r>
              <a:rPr sz="719" i="0">
                <a:solidFill>
                  <a:srgbClr val="C3A6FF"/>
                </a:solidFill>
                <a:latin typeface="Inconsolata"/>
              </a:rPr>
              <a:t>str</a:t>
            </a:r>
            <a:r>
              <a:rPr sz="719" i="0">
                <a:solidFill>
                  <a:srgbClr val="E6EDF3"/>
                </a:solidFill>
                <a:latin typeface="Inconsolata"/>
              </a:rPr>
              <a:t>:</a:t>
            </a:r>
          </a:p>
          <a:p>
            <a:pPr>
              <a:lnSpc>
                <a:spcPct val="104277"/>
              </a:lnSpc>
              <a:spcAft>
                <a:spcPts val="0"/>
              </a:spcAft>
            </a:pPr>
            <a:r>
              <a:rPr sz="719" i="0">
                <a:solidFill>
                  <a:srgbClr val="5C6773"/>
                </a:solidFill>
                <a:latin typeface="Inconsolata"/>
              </a:rPr>
              <a:t>20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x_user                    </a:t>
            </a:r>
            <a:r>
              <a:rPr sz="719" i="1">
                <a:solidFill>
                  <a:srgbClr val="8B98A8"/>
                </a:solidFill>
                <a:latin typeface="Inconsolata"/>
              </a:rPr>
              <a:t># anggap: hasil login yang valid</a:t>
            </a:r>
          </a:p>
          <a:p>
            <a:pPr>
              <a:lnSpc>
                <a:spcPct val="104277"/>
              </a:lnSpc>
              <a:spcAft>
                <a:spcPts val="0"/>
              </a:spcAft>
            </a:pPr>
            <a:r>
              <a:rPr sz="719" i="0">
                <a:solidFill>
                  <a:srgbClr val="5C6773"/>
                </a:solidFill>
                <a:latin typeface="Inconsolata"/>
              </a:rPr>
              <a:t>21  </a:t>
            </a:r>
            <a:r>
              <a:rPr sz="719" i="0">
                <a:solidFill>
                  <a:srgbClr val="E6EDF3"/>
                </a:solidFill>
                <a:latin typeface="Inconsolata"/>
              </a:rPr>
              <a:t> </a:t>
            </a:r>
          </a:p>
          <a:p>
            <a:pPr>
              <a:lnSpc>
                <a:spcPct val="104277"/>
              </a:lnSpc>
              <a:spcAft>
                <a:spcPts val="0"/>
              </a:spcAft>
            </a:pPr>
            <a:r>
              <a:rPr sz="719" i="0">
                <a:solidFill>
                  <a:srgbClr val="5C6773"/>
                </a:solidFill>
                <a:latin typeface="Inconsolata"/>
              </a:rPr>
              <a:t>22  </a:t>
            </a:r>
            <a:r>
              <a:rPr sz="719" i="0">
                <a:solidFill>
                  <a:srgbClr val="E6EDF3"/>
                </a:solidFill>
                <a:latin typeface="Inconsolata"/>
              </a:rPr>
              <a:t> </a:t>
            </a:r>
          </a:p>
          <a:p>
            <a:pPr>
              <a:lnSpc>
                <a:spcPct val="104277"/>
              </a:lnSpc>
              <a:spcAft>
                <a:spcPts val="0"/>
              </a:spcAft>
            </a:pPr>
            <a:r>
              <a:rPr sz="719" i="0">
                <a:solidFill>
                  <a:srgbClr val="5C6773"/>
                </a:solidFill>
                <a:latin typeface="Inconsolata"/>
              </a:rPr>
              <a:t>23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can_access</a:t>
            </a:r>
            <a:r>
              <a:rPr sz="719" i="0">
                <a:solidFill>
                  <a:srgbClr val="E6EDF3"/>
                </a:solidFill>
                <a:latin typeface="Inconsolata"/>
              </a:rPr>
              <a:t>(user: </a:t>
            </a:r>
            <a:r>
              <a:rPr sz="719" i="0">
                <a:solidFill>
                  <a:srgbClr val="C3A6FF"/>
                </a:solidFill>
                <a:latin typeface="Inconsolata"/>
              </a:rPr>
              <a:t>str</a:t>
            </a:r>
            <a:r>
              <a:rPr sz="719" i="0">
                <a:solidFill>
                  <a:srgbClr val="E6EDF3"/>
                </a:solidFill>
                <a:latin typeface="Inconsolata"/>
              </a:rPr>
              <a:t>, order: </a:t>
            </a:r>
            <a:r>
              <a:rPr sz="719" i="0">
                <a:solidFill>
                  <a:srgbClr val="C3A6FF"/>
                </a:solidFill>
                <a:latin typeface="Inconsolata"/>
              </a:rPr>
              <a:t>dict</a:t>
            </a:r>
            <a:r>
              <a:rPr sz="719" i="0">
                <a:solidFill>
                  <a:srgbClr val="E6EDF3"/>
                </a:solidFill>
                <a:latin typeface="Inconsolata"/>
              </a:rPr>
              <a:t>) -&gt; </a:t>
            </a:r>
            <a:r>
              <a:rPr sz="719" i="0">
                <a:solidFill>
                  <a:srgbClr val="C3A6FF"/>
                </a:solidFill>
                <a:latin typeface="Inconsolata"/>
              </a:rPr>
              <a:t>bool</a:t>
            </a:r>
            <a:r>
              <a:rPr sz="719" i="0">
                <a:solidFill>
                  <a:srgbClr val="E6EDF3"/>
                </a:solidFill>
                <a:latin typeface="Inconsolata"/>
              </a:rPr>
              <a:t>:</a:t>
            </a:r>
          </a:p>
          <a:p>
            <a:pPr>
              <a:lnSpc>
                <a:spcPct val="104277"/>
              </a:lnSpc>
              <a:spcAft>
                <a:spcPts val="0"/>
              </a:spcAft>
            </a:pPr>
            <a:r>
              <a:rPr sz="719" i="0">
                <a:solidFill>
                  <a:srgbClr val="5C6773"/>
                </a:solidFill>
                <a:latin typeface="Inconsolata"/>
              </a:rPr>
              <a:t>24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order[</a:t>
            </a:r>
            <a:r>
              <a:rPr sz="719" i="0">
                <a:solidFill>
                  <a:srgbClr val="A5D6A7"/>
                </a:solidFill>
                <a:latin typeface="Inconsolata"/>
              </a:rPr>
              <a:t>"customer"</a:t>
            </a:r>
            <a:r>
              <a:rPr sz="719" i="0">
                <a:solidFill>
                  <a:srgbClr val="E6EDF3"/>
                </a:solidFill>
                <a:latin typeface="Inconsolata"/>
              </a:rPr>
              <a:t>] == user </a:t>
            </a:r>
            <a:r>
              <a:rPr sz="719" i="0">
                <a:solidFill>
                  <a:srgbClr val="FF8E6E"/>
                </a:solidFill>
                <a:latin typeface="Inconsolata"/>
              </a:rPr>
              <a:t>or</a:t>
            </a:r>
            <a:r>
              <a:rPr sz="719" i="0">
                <a:solidFill>
                  <a:srgbClr val="E6EDF3"/>
                </a:solidFill>
                <a:latin typeface="Inconsolata"/>
              </a:rPr>
              <a:t> user </a:t>
            </a:r>
            <a:r>
              <a:rPr sz="719" i="0">
                <a:solidFill>
                  <a:srgbClr val="FF8E6E"/>
                </a:solidFill>
                <a:latin typeface="Inconsolata"/>
              </a:rPr>
              <a:t>in</a:t>
            </a:r>
            <a:r>
              <a:rPr sz="719" i="0">
                <a:solidFill>
                  <a:srgbClr val="E6EDF3"/>
                </a:solidFill>
                <a:latin typeface="Inconsolata"/>
              </a:rPr>
              <a:t> </a:t>
            </a:r>
            <a:r>
              <a:rPr sz="719" i="0">
                <a:solidFill>
                  <a:srgbClr val="7FDBCA"/>
                </a:solidFill>
                <a:latin typeface="Inconsolata"/>
              </a:rPr>
              <a:t>ADMINS</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01-broken-access-control/after.py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27  </a:t>
            </a:r>
            <a:r>
              <a:rPr sz="719" i="0">
                <a:solidFill>
                  <a:srgbClr val="F9C97A"/>
                </a:solidFill>
                <a:latin typeface="Inconsolata"/>
              </a:rPr>
              <a:t>@app.get</a:t>
            </a:r>
            <a:r>
              <a:rPr sz="719" i="0">
                <a:solidFill>
                  <a:srgbClr val="E6EDF3"/>
                </a:solidFill>
                <a:latin typeface="Inconsolata"/>
              </a:rPr>
              <a:t>(</a:t>
            </a:r>
            <a:r>
              <a:rPr sz="719" i="0">
                <a:solidFill>
                  <a:srgbClr val="A5D6A7"/>
                </a:solidFill>
                <a:latin typeface="Inconsolata"/>
              </a:rPr>
              <a:t>"/orders/{order_id}"</a:t>
            </a:r>
            <a:r>
              <a:rPr sz="719" i="0">
                <a:solidFill>
                  <a:srgbClr val="E6EDF3"/>
                </a:solidFill>
                <a:latin typeface="Inconsolata"/>
              </a:rPr>
              <a:t>)</a:t>
            </a:r>
          </a:p>
          <a:p>
            <a:pPr>
              <a:lnSpc>
                <a:spcPct val="104277"/>
              </a:lnSpc>
              <a:spcAft>
                <a:spcPts val="0"/>
              </a:spcAft>
            </a:pPr>
            <a:r>
              <a:rPr sz="719" i="0">
                <a:solidFill>
                  <a:srgbClr val="5C6773"/>
                </a:solidFill>
                <a:latin typeface="Inconsolata"/>
              </a:rPr>
              <a:t>28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get_order</a:t>
            </a:r>
            <a:r>
              <a:rPr sz="719" i="0">
                <a:solidFill>
                  <a:srgbClr val="E6EDF3"/>
                </a:solidFill>
                <a:latin typeface="Inconsolata"/>
              </a:rPr>
              <a:t>(order_id: </a:t>
            </a:r>
            <a:r>
              <a:rPr sz="719" i="0">
                <a:solidFill>
                  <a:srgbClr val="C3A6FF"/>
                </a:solidFill>
                <a:latin typeface="Inconsolata"/>
              </a:rPr>
              <a:t>int</a:t>
            </a:r>
            <a:r>
              <a:rPr sz="719" i="0">
                <a:solidFill>
                  <a:srgbClr val="E6EDF3"/>
                </a:solidFill>
                <a:latin typeface="Inconsolata"/>
              </a:rPr>
              <a:t>, user: </a:t>
            </a:r>
            <a:r>
              <a:rPr sz="719" i="0">
                <a:solidFill>
                  <a:srgbClr val="C3A6FF"/>
                </a:solidFill>
                <a:latin typeface="Inconsolata"/>
              </a:rPr>
              <a:t>str</a:t>
            </a:r>
            <a:r>
              <a:rPr sz="719" i="0">
                <a:solidFill>
                  <a:srgbClr val="E6EDF3"/>
                </a:solidFill>
                <a:latin typeface="Inconsolata"/>
              </a:rPr>
              <a:t> = </a:t>
            </a:r>
            <a:r>
              <a:rPr sz="719" i="0">
                <a:solidFill>
                  <a:srgbClr val="7FDBCA"/>
                </a:solidFill>
                <a:latin typeface="Inconsolata"/>
              </a:rPr>
              <a:t>Depends</a:t>
            </a:r>
            <a:r>
              <a:rPr sz="719" i="0">
                <a:solidFill>
                  <a:srgbClr val="E6EDF3"/>
                </a:solidFill>
                <a:latin typeface="Inconsolata"/>
              </a:rPr>
              <a:t>(current_user)):</a:t>
            </a:r>
          </a:p>
          <a:p>
            <a:pPr>
              <a:lnSpc>
                <a:spcPct val="104277"/>
              </a:lnSpc>
              <a:spcAft>
                <a:spcPts val="0"/>
              </a:spcAft>
            </a:pPr>
            <a:r>
              <a:rPr sz="719" i="0">
                <a:solidFill>
                  <a:srgbClr val="5C6773"/>
                </a:solidFill>
                <a:latin typeface="Inconsolata"/>
              </a:rPr>
              <a:t>29  </a:t>
            </a:r>
            <a:r>
              <a:rPr sz="719" i="0">
                <a:solidFill>
                  <a:srgbClr val="E6EDF3"/>
                </a:solidFill>
                <a:latin typeface="Inconsolata"/>
              </a:rPr>
              <a:t>    order = </a:t>
            </a:r>
            <a:r>
              <a:rPr sz="719" i="0">
                <a:solidFill>
                  <a:srgbClr val="7FDBCA"/>
                </a:solidFill>
                <a:latin typeface="Inconsolata"/>
              </a:rPr>
              <a:t>ORDERS</a:t>
            </a:r>
            <a:r>
              <a:rPr sz="719" i="0">
                <a:solidFill>
                  <a:srgbClr val="E6EDF3"/>
                </a:solidFill>
                <a:latin typeface="Inconsolata"/>
              </a:rPr>
              <a:t>.get(order_id)</a:t>
            </a:r>
          </a:p>
          <a:p>
            <a:pPr>
              <a:lnSpc>
                <a:spcPct val="104277"/>
              </a:lnSpc>
              <a:spcAft>
                <a:spcPts val="0"/>
              </a:spcAft>
            </a:pPr>
            <a:r>
              <a:rPr sz="719" i="0">
                <a:solidFill>
                  <a:srgbClr val="5C6773"/>
                </a:solidFill>
                <a:latin typeface="Inconsolata"/>
              </a:rPr>
              <a:t>30  </a:t>
            </a:r>
            <a:r>
              <a:rPr sz="719" i="0">
                <a:solidFill>
                  <a:srgbClr val="E6EDF3"/>
                </a:solidFill>
                <a:latin typeface="Inconsolata"/>
              </a:rPr>
              <a:t>    </a:t>
            </a:r>
            <a:r>
              <a:rPr sz="719" i="0">
                <a:solidFill>
                  <a:srgbClr val="FF8E6E"/>
                </a:solidFill>
                <a:latin typeface="Inconsolata"/>
              </a:rPr>
              <a:t>if</a:t>
            </a:r>
            <a:r>
              <a:rPr sz="719" i="0">
                <a:solidFill>
                  <a:srgbClr val="E6EDF3"/>
                </a:solidFill>
                <a:latin typeface="Inconsolata"/>
              </a:rPr>
              <a:t> order </a:t>
            </a:r>
            <a:r>
              <a:rPr sz="719" i="0">
                <a:solidFill>
                  <a:srgbClr val="FF8E6E"/>
                </a:solidFill>
                <a:latin typeface="Inconsolata"/>
              </a:rPr>
              <a:t>is</a:t>
            </a:r>
            <a:r>
              <a:rPr sz="719" i="0">
                <a:solidFill>
                  <a:srgbClr val="E6EDF3"/>
                </a:solidFill>
                <a:latin typeface="Inconsolata"/>
              </a:rPr>
              <a:t> </a:t>
            </a:r>
            <a:r>
              <a:rPr sz="719" i="0">
                <a:solidFill>
                  <a:srgbClr val="FF8E6E"/>
                </a:solidFill>
                <a:latin typeface="Inconsolata"/>
              </a:rPr>
              <a:t>None</a:t>
            </a:r>
            <a:r>
              <a:rPr sz="719" i="0">
                <a:solidFill>
                  <a:srgbClr val="E6EDF3"/>
                </a:solidFill>
                <a:latin typeface="Inconsolata"/>
              </a:rPr>
              <a:t> </a:t>
            </a:r>
            <a:r>
              <a:rPr sz="719" i="0">
                <a:solidFill>
                  <a:srgbClr val="FF8E6E"/>
                </a:solidFill>
                <a:latin typeface="Inconsolata"/>
              </a:rPr>
              <a:t>or</a:t>
            </a:r>
            <a:r>
              <a:rPr sz="719" i="0">
                <a:solidFill>
                  <a:srgbClr val="E6EDF3"/>
                </a:solidFill>
                <a:latin typeface="Inconsolata"/>
              </a:rPr>
              <a:t> </a:t>
            </a:r>
            <a:r>
              <a:rPr sz="719" i="0">
                <a:solidFill>
                  <a:srgbClr val="FF8E6E"/>
                </a:solidFill>
                <a:latin typeface="Inconsolata"/>
              </a:rPr>
              <a:t>not</a:t>
            </a:r>
            <a:r>
              <a:rPr sz="719" i="0">
                <a:solidFill>
                  <a:srgbClr val="E6EDF3"/>
                </a:solidFill>
                <a:latin typeface="Inconsolata"/>
              </a:rPr>
              <a:t> can_access(user, order):</a:t>
            </a:r>
          </a:p>
          <a:p>
            <a:pPr>
              <a:lnSpc>
                <a:spcPct val="104277"/>
              </a:lnSpc>
              <a:spcAft>
                <a:spcPts val="0"/>
              </a:spcAft>
            </a:pPr>
            <a:r>
              <a:rPr sz="719" i="0">
                <a:solidFill>
                  <a:srgbClr val="5C6773"/>
                </a:solidFill>
                <a:latin typeface="Inconsolata"/>
              </a:rPr>
              <a:t>31  </a:t>
            </a:r>
            <a:r>
              <a:rPr sz="719" i="0">
                <a:solidFill>
                  <a:srgbClr val="E6EDF3"/>
                </a:solidFill>
                <a:latin typeface="Inconsolata"/>
              </a:rPr>
              <a:t>        </a:t>
            </a:r>
            <a:r>
              <a:rPr sz="719" i="0">
                <a:solidFill>
                  <a:srgbClr val="FF8E6E"/>
                </a:solidFill>
                <a:latin typeface="Inconsolata"/>
              </a:rPr>
              <a:t>raise</a:t>
            </a:r>
            <a:r>
              <a:rPr sz="719" i="0">
                <a:solidFill>
                  <a:srgbClr val="E6EDF3"/>
                </a:solidFill>
                <a:latin typeface="Inconsolata"/>
              </a:rPr>
              <a:t> </a:t>
            </a:r>
            <a:r>
              <a:rPr sz="719" i="0">
                <a:solidFill>
                  <a:srgbClr val="7FDBCA"/>
                </a:solidFill>
                <a:latin typeface="Inconsolata"/>
              </a:rPr>
              <a:t>HTTPException</a:t>
            </a:r>
            <a:r>
              <a:rPr sz="719" i="0">
                <a:solidFill>
                  <a:srgbClr val="E6EDF3"/>
                </a:solidFill>
                <a:latin typeface="Inconsolata"/>
              </a:rPr>
              <a:t>(</a:t>
            </a:r>
            <a:r>
              <a:rPr sz="719" i="0">
                <a:solidFill>
                  <a:srgbClr val="F9C97A"/>
                </a:solidFill>
                <a:latin typeface="Inconsolata"/>
              </a:rPr>
              <a:t>404</a:t>
            </a:r>
            <a:r>
              <a:rPr sz="719" i="0">
                <a:solidFill>
                  <a:srgbClr val="E6EDF3"/>
                </a:solidFill>
                <a:latin typeface="Inconsolata"/>
              </a:rPr>
              <a:t>, </a:t>
            </a:r>
            <a:r>
              <a:rPr sz="719" i="0">
                <a:solidFill>
                  <a:srgbClr val="A5D6A7"/>
                </a:solidFill>
                <a:latin typeface="Inconsolata"/>
              </a:rPr>
              <a:t>"order tidak ditemukan"</a:t>
            </a:r>
            <a:r>
              <a:rPr sz="719" i="0">
                <a:solidFill>
                  <a:srgbClr val="E6EDF3"/>
                </a:solidFill>
                <a:latin typeface="Inconsolata"/>
              </a:rPr>
              <a:t>)</a:t>
            </a:r>
          </a:p>
          <a:p>
            <a:pPr>
              <a:lnSpc>
                <a:spcPct val="104277"/>
              </a:lnSpc>
              <a:spcAft>
                <a:spcPts val="0"/>
              </a:spcAft>
            </a:pPr>
            <a:r>
              <a:rPr sz="719" i="0">
                <a:solidFill>
                  <a:srgbClr val="5C6773"/>
                </a:solidFill>
                <a:latin typeface="Inconsolata"/>
              </a:rPr>
              <a:t>32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order</a:t>
            </a:r>
          </a:p>
          <a:p>
            <a:pPr>
              <a:lnSpc>
                <a:spcPct val="104277"/>
              </a:lnSpc>
              <a:spcAft>
                <a:spcPts val="0"/>
              </a:spcAft>
            </a:pPr>
            <a:r>
              <a:rPr sz="719" i="0">
                <a:solidFill>
                  <a:srgbClr val="5C6773"/>
                </a:solidFill>
                <a:latin typeface="Inconsolata"/>
              </a:rPr>
              <a:t>33  </a:t>
            </a:r>
            <a:r>
              <a:rPr sz="719" i="0">
                <a:solidFill>
                  <a:srgbClr val="E6EDF3"/>
                </a:solidFill>
                <a:latin typeface="Inconsolata"/>
              </a:rPr>
              <a:t> </a:t>
            </a:r>
          </a:p>
          <a:p>
            <a:pPr>
              <a:lnSpc>
                <a:spcPct val="104277"/>
              </a:lnSpc>
              <a:spcAft>
                <a:spcPts val="0"/>
              </a:spcAft>
            </a:pPr>
            <a:r>
              <a:rPr sz="719" i="0">
                <a:solidFill>
                  <a:srgbClr val="5C6773"/>
                </a:solidFill>
                <a:latin typeface="Inconsolata"/>
              </a:rPr>
              <a:t>34  </a:t>
            </a:r>
            <a:r>
              <a:rPr sz="719" i="0">
                <a:solidFill>
                  <a:srgbClr val="E6EDF3"/>
                </a:solidFill>
                <a:latin typeface="Inconsolata"/>
              </a:rPr>
              <a:t> </a:t>
            </a:r>
          </a:p>
          <a:p>
            <a:pPr>
              <a:lnSpc>
                <a:spcPct val="104277"/>
              </a:lnSpc>
              <a:spcAft>
                <a:spcPts val="0"/>
              </a:spcAft>
            </a:pPr>
            <a:r>
              <a:rPr sz="719" i="0">
                <a:solidFill>
                  <a:srgbClr val="5C6773"/>
                </a:solidFill>
                <a:latin typeface="Inconsolata"/>
              </a:rPr>
              <a:t>35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36  </a:t>
            </a:r>
            <a:r>
              <a:rPr sz="719" i="0">
                <a:solidFill>
                  <a:srgbClr val="E6EDF3"/>
                </a:solidFill>
                <a:latin typeface="Inconsolata"/>
              </a:rPr>
              <a:t>    client = </a:t>
            </a:r>
            <a:r>
              <a:rPr sz="719" i="0">
                <a:solidFill>
                  <a:srgbClr val="7FDBCA"/>
                </a:solidFill>
                <a:latin typeface="Inconsolata"/>
              </a:rPr>
              <a:t>TestClient</a:t>
            </a:r>
            <a:r>
              <a:rPr sz="719" i="0">
                <a:solidFill>
                  <a:srgbClr val="E6EDF3"/>
                </a:solidFill>
                <a:latin typeface="Inconsolata"/>
              </a:rPr>
              <a:t>(app)</a:t>
            </a:r>
          </a:p>
          <a:p>
            <a:pPr>
              <a:lnSpc>
                <a:spcPct val="104277"/>
              </a:lnSpc>
              <a:spcAft>
                <a:spcPts val="0"/>
              </a:spcAft>
            </a:pPr>
            <a:r>
              <a:rPr sz="719" i="0">
                <a:solidFill>
                  <a:srgbClr val="5C6773"/>
                </a:solidFill>
                <a:latin typeface="Inconsolata"/>
              </a:rPr>
              <a:t>37  </a:t>
            </a:r>
            <a:r>
              <a:rPr sz="719" i="0">
                <a:solidFill>
                  <a:srgbClr val="E6EDF3"/>
                </a:solidFill>
                <a:latin typeface="Inconsolata"/>
              </a:rPr>
              <a:t>    </a:t>
            </a:r>
            <a:r>
              <a:rPr sz="719" i="0">
                <a:solidFill>
                  <a:srgbClr val="FF8E6E"/>
                </a:solidFill>
                <a:latin typeface="Inconsolata"/>
              </a:rPr>
              <a:t>for</a:t>
            </a:r>
            <a:r>
              <a:rPr sz="719" i="0">
                <a:solidFill>
                  <a:srgbClr val="E6EDF3"/>
                </a:solidFill>
                <a:latin typeface="Inconsolata"/>
              </a:rPr>
              <a:t> user, order_id </a:t>
            </a:r>
            <a:r>
              <a:rPr sz="719" i="0">
                <a:solidFill>
                  <a:srgbClr val="FF8E6E"/>
                </a:solidFill>
                <a:latin typeface="Inconsolata"/>
              </a:rPr>
              <a:t>in</a:t>
            </a:r>
            <a:r>
              <a:rPr sz="719" i="0">
                <a:solidFill>
                  <a:srgbClr val="E6EDF3"/>
                </a:solidFill>
                <a:latin typeface="Inconsolata"/>
              </a:rPr>
              <a:t> [(</a:t>
            </a:r>
            <a:r>
              <a:rPr sz="719" i="0">
                <a:solidFill>
                  <a:srgbClr val="A5D6A7"/>
                </a:solidFill>
                <a:latin typeface="Inconsolata"/>
              </a:rPr>
              <a:t>"budi@mail.com"</a:t>
            </a:r>
            <a:r>
              <a:rPr sz="719" i="0">
                <a:solidFill>
                  <a:srgbClr val="E6EDF3"/>
                </a:solidFill>
                <a:latin typeface="Inconsolata"/>
              </a:rPr>
              <a:t>, </a:t>
            </a:r>
            <a:r>
              <a:rPr sz="719" i="0">
                <a:solidFill>
                  <a:srgbClr val="F9C97A"/>
                </a:solidFill>
                <a:latin typeface="Inconsolata"/>
              </a:rPr>
              <a:t>1</a:t>
            </a:r>
            <a:r>
              <a:rPr sz="719" i="0">
                <a:solidFill>
                  <a:srgbClr val="E6EDF3"/>
                </a:solidFill>
                <a:latin typeface="Inconsolata"/>
              </a:rPr>
              <a:t>), (</a:t>
            </a:r>
            <a:r>
              <a:rPr sz="719" i="0">
                <a:solidFill>
                  <a:srgbClr val="A5D6A7"/>
                </a:solidFill>
                <a:latin typeface="Inconsolata"/>
              </a:rPr>
              <a:t>"budi@mail.com"</a:t>
            </a:r>
            <a:r>
              <a:rPr sz="719" i="0">
                <a:solidFill>
                  <a:srgbClr val="E6EDF3"/>
                </a:solidFill>
                <a:latin typeface="Inconsolata"/>
              </a:rPr>
              <a:t>, </a:t>
            </a:r>
            <a:r>
              <a:rPr sz="719" i="0">
                <a:solidFill>
                  <a:srgbClr val="F9C97A"/>
                </a:solidFill>
                <a:latin typeface="Inconsolata"/>
              </a:rPr>
              <a:t>2</a:t>
            </a:r>
            <a:r>
              <a:rPr sz="719" i="0">
                <a:solidFill>
                  <a:srgbClr val="E6EDF3"/>
                </a:solidFill>
                <a:latin typeface="Inconsolata"/>
              </a:rPr>
              <a:t>),</a:t>
            </a:r>
          </a:p>
          <a:p>
            <a:pPr>
              <a:lnSpc>
                <a:spcPct val="104277"/>
              </a:lnSpc>
              <a:spcAft>
                <a:spcPts val="0"/>
              </a:spcAft>
            </a:pPr>
            <a:r>
              <a:rPr sz="719" i="0">
                <a:solidFill>
                  <a:srgbClr val="5C6773"/>
                </a:solidFill>
                <a:latin typeface="Inconsolata"/>
              </a:rPr>
              <a:t>38  </a:t>
            </a:r>
            <a:r>
              <a:rPr sz="719" i="0">
                <a:solidFill>
                  <a:srgbClr val="E6EDF3"/>
                </a:solidFill>
                <a:latin typeface="Inconsolata"/>
              </a:rPr>
              <a:t>                           (</a:t>
            </a:r>
            <a:r>
              <a:rPr sz="719" i="0">
                <a:solidFill>
                  <a:srgbClr val="A5D6A7"/>
                </a:solidFill>
                <a:latin typeface="Inconsolata"/>
              </a:rPr>
              <a:t>"admin@toko.com"</a:t>
            </a:r>
            <a:r>
              <a:rPr sz="719" i="0">
                <a:solidFill>
                  <a:srgbClr val="E6EDF3"/>
                </a:solidFill>
                <a:latin typeface="Inconsolata"/>
              </a:rPr>
              <a:t>, </a:t>
            </a:r>
            <a:r>
              <a:rPr sz="719" i="0">
                <a:solidFill>
                  <a:srgbClr val="F9C97A"/>
                </a:solidFill>
                <a:latin typeface="Inconsolata"/>
              </a:rPr>
              <a:t>2</a:t>
            </a:r>
            <a:r>
              <a:rPr sz="719" i="0">
                <a:solidFill>
                  <a:srgbClr val="E6EDF3"/>
                </a:solidFill>
                <a:latin typeface="Inconsolata"/>
              </a:rPr>
              <a:t>)]:</a:t>
            </a:r>
          </a:p>
          <a:p>
            <a:pPr>
              <a:lnSpc>
                <a:spcPct val="104277"/>
              </a:lnSpc>
              <a:spcAft>
                <a:spcPts val="0"/>
              </a:spcAft>
            </a:pPr>
            <a:r>
              <a:rPr sz="719" i="0">
                <a:solidFill>
                  <a:srgbClr val="5C6773"/>
                </a:solidFill>
                <a:latin typeface="Inconsolata"/>
              </a:rPr>
              <a:t>39  </a:t>
            </a:r>
            <a:r>
              <a:rPr sz="719" i="0">
                <a:solidFill>
                  <a:srgbClr val="E6EDF3"/>
                </a:solidFill>
                <a:latin typeface="Inconsolata"/>
              </a:rPr>
              <a:t>        response = client.get(</a:t>
            </a:r>
            <a:r>
              <a:rPr sz="719" i="0">
                <a:solidFill>
                  <a:srgbClr val="A5D6A7"/>
                </a:solidFill>
                <a:latin typeface="Inconsolata"/>
              </a:rPr>
              <a:t>f"/orders/{order_id}"</a:t>
            </a:r>
            <a:r>
              <a:rPr sz="719" i="0">
                <a:solidFill>
                  <a:srgbClr val="E6EDF3"/>
                </a:solidFill>
                <a:latin typeface="Inconsolata"/>
              </a:rPr>
              <a:t>,</a:t>
            </a:r>
          </a:p>
          <a:p>
            <a:pPr>
              <a:lnSpc>
                <a:spcPct val="104277"/>
              </a:lnSpc>
              <a:spcAft>
                <a:spcPts val="0"/>
              </a:spcAft>
            </a:pPr>
            <a:r>
              <a:rPr sz="719" i="0">
                <a:solidFill>
                  <a:srgbClr val="5C6773"/>
                </a:solidFill>
                <a:latin typeface="Inconsolata"/>
              </a:rPr>
              <a:t>40  </a:t>
            </a:r>
            <a:r>
              <a:rPr sz="719" i="0">
                <a:solidFill>
                  <a:srgbClr val="E6EDF3"/>
                </a:solidFill>
                <a:latin typeface="Inconsolata"/>
              </a:rPr>
              <a:t>                              headers={</a:t>
            </a:r>
            <a:r>
              <a:rPr sz="719" i="0">
                <a:solidFill>
                  <a:srgbClr val="A5D6A7"/>
                </a:solidFill>
                <a:latin typeface="Inconsolata"/>
              </a:rPr>
              <a:t>"X-User"</a:t>
            </a:r>
            <a:r>
              <a:rPr sz="719" i="0">
                <a:solidFill>
                  <a:srgbClr val="E6EDF3"/>
                </a:solidFill>
                <a:latin typeface="Inconsolata"/>
              </a:rPr>
              <a:t>: user})</a:t>
            </a:r>
          </a:p>
          <a:p>
            <a:pPr>
              <a:lnSpc>
                <a:spcPct val="104277"/>
              </a:lnSpc>
              <a:spcAft>
                <a:spcPts val="0"/>
              </a:spcAft>
            </a:pPr>
            <a:r>
              <a:rPr sz="719" i="0">
                <a:solidFill>
                  <a:srgbClr val="5C6773"/>
                </a:solidFill>
                <a:latin typeface="Inconsolata"/>
              </a:rPr>
              <a:t>41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f"{user.split('@')[0]} GET /orders/{order_id} -&gt; "</a:t>
            </a:r>
          </a:p>
          <a:p>
            <a:pPr>
              <a:lnSpc>
                <a:spcPct val="104277"/>
              </a:lnSpc>
              <a:spcAft>
                <a:spcPts val="0"/>
              </a:spcAft>
            </a:pPr>
            <a:r>
              <a:rPr sz="719" i="0">
                <a:solidFill>
                  <a:srgbClr val="5C6773"/>
                </a:solidFill>
                <a:latin typeface="Inconsolata"/>
              </a:rPr>
              <a:t>42  </a:t>
            </a:r>
            <a:r>
              <a:rPr sz="719" i="0">
                <a:solidFill>
                  <a:srgbClr val="E6EDF3"/>
                </a:solidFill>
                <a:latin typeface="Inconsolata"/>
              </a:rPr>
              <a:t>              </a:t>
            </a:r>
            <a:r>
              <a:rPr sz="719" i="0">
                <a:solidFill>
                  <a:srgbClr val="A5D6A7"/>
                </a:solidFill>
                <a:latin typeface="Inconsolata"/>
              </a:rPr>
              <a:t>f"{response.status_code} {response.json()}"</a:t>
            </a:r>
            <a:r>
              <a:rPr sz="719" i="0">
                <a:solidFill>
                  <a:srgbClr val="E6EDF3"/>
                </a:solidFill>
                <a:latin typeface="Inconsolata"/>
              </a:rPr>
              <a:t>)</a:t>
            </a:r>
          </a:p>
        </p:txBody>
      </p:sp>
      <p:sp>
        <p:nvSpPr>
          <p:cNvPr id="36" name="Box 21"/>
          <p:cNvSpPr/>
          <p:nvPr/>
        </p:nvSpPr>
        <p:spPr>
          <a:xfrm>
            <a:off x="704088" y="3425571"/>
            <a:ext cx="3694176" cy="221742"/>
          </a:xfrm>
          <a:prstGeom prst="roundRect">
            <a:avLst>
              <a:gd name="adj" fmla="val 20618"/>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4175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2168271"/>
            <a:ext cx="3694176" cy="221742"/>
          </a:xfrm>
          <a:prstGeom prst="roundRect">
            <a:avLst>
              <a:gd name="adj" fmla="val 20618"/>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1602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Broken Access Control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01-broken-access-control/after.py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sesi-10-api-security/01-broken-access-control</a:t>
            </a:r>
          </a:p>
          <a:p>
            <a:pPr>
              <a:lnSpc>
                <a:spcPct val="111111"/>
              </a:lnSpc>
              <a:spcAft>
                <a:spcPts val="0"/>
              </a:spcAft>
            </a:pPr>
            <a:r>
              <a:rPr sz="900" i="0">
                <a:solidFill>
                  <a:srgbClr val="82B1FF"/>
                </a:solidFill>
                <a:latin typeface="Inconsolata"/>
              </a:rPr>
              <a:t>$ python after.py</a:t>
            </a:r>
          </a:p>
        </p:txBody>
      </p:sp>
      <p:pic>
        <p:nvPicPr>
          <p:cNvPr id="29" name="Image 12" descr="s10-01-broken-access-control-after.png"/>
          <p:cNvPicPr>
            <a:picLocks noChangeAspect="1"/>
          </p:cNvPicPr>
          <p:nvPr/>
        </p:nvPicPr>
        <p:blipFill>
          <a:blip r:embed="rId2"/>
          <a:stretch>
            <a:fillRect/>
          </a:stretch>
        </p:blipFill>
        <p:spPr>
          <a:xfrm>
            <a:off x="621792" y="2322576"/>
            <a:ext cx="4297680" cy="904775"/>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Pemilik order atau admin yang boleh mengakses (baris 23-24)</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Bukan pemilik dijawab 404, sama seperti order yang tidak ada (baris 30-31)</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Budi mendapat 404 untuk order Ani, admin tetap bisa membuka.</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Injection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SQL Injection?</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SQL injection adalah</a:t>
            </a:r>
          </a:p>
          <a:p>
            <a:pPr algn="l">
              <a:lnSpc>
                <a:spcPct val="115000"/>
              </a:lnSpc>
              <a:spcAft>
                <a:spcPts val="400"/>
              </a:spcAft>
            </a:pPr>
            <a:r>
              <a:rPr sz="900" b="0" i="0">
                <a:solidFill>
                  <a:srgbClr val="434343"/>
                </a:solidFill>
                <a:latin typeface="Inter"/>
              </a:rPr>
              <a:t>Celah keamanan saat input dari user digabung langsung ke perintah SQL. Penyerang bisa menulis input yang berisi potongan SQL, sehingga database menjalankan perintah milik penyerang, misalnya membaca tabel lain atau menghapus data.</a:t>
            </a:r>
          </a:p>
          <a:p>
            <a:pPr algn="l">
              <a:lnSpc>
                <a:spcPct val="115000"/>
              </a:lnSpc>
              <a:spcAft>
                <a:spcPts val="400"/>
              </a:spcAft>
            </a:pPr>
            <a:r>
              <a:rPr sz="1000" b="1" i="0">
                <a:solidFill>
                  <a:srgbClr val="1C4587"/>
                </a:solidFill>
                <a:latin typeface="Inter"/>
              </a:rPr>
              <a:t>Untuk apa dicegah</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Menjaga tabel lain, misalnya users, tidak bisa dibaca dari endpoint pencarian</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Memastikan input user selalu diperlakukan sebagai data</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f-string: 02-injection/before.py</a:t>
            </a:r>
          </a:p>
        </p:txBody>
      </p:sp>
      <p:sp>
        <p:nvSpPr>
          <p:cNvPr id="28" name="CodeBg 11"/>
          <p:cNvSpPr/>
          <p:nvPr/>
        </p:nvSpPr>
        <p:spPr>
          <a:xfrm>
            <a:off x="4297680" y="1719072"/>
            <a:ext cx="4187951" cy="1325880"/>
          </a:xfrm>
          <a:prstGeom prst="roundRect">
            <a:avLst>
              <a:gd name="adj" fmla="val 137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1325880"/>
          </a:xfrm>
          <a:prstGeom prst="rect">
            <a:avLst/>
          </a:prstGeom>
          <a:noFill/>
        </p:spPr>
        <p:txBody>
          <a:bodyPr wrap="none" lIns="146304" tIns="91440" rIns="146304" bIns="54864">
            <a:spAutoFit/>
          </a:bodyPr>
          <a:lstStyle/>
          <a:p>
            <a:pPr>
              <a:lnSpc>
                <a:spcPct val="111111"/>
              </a:lnSpc>
              <a:spcAft>
                <a:spcPts val="0"/>
              </a:spcAft>
            </a:pPr>
            <a:r>
              <a:rPr sz="750" i="0">
                <a:solidFill>
                  <a:srgbClr val="E6EDF3"/>
                </a:solidFill>
                <a:latin typeface="Inconsolata"/>
              </a:rPr>
              <a:t>    sql = </a:t>
            </a:r>
            <a:r>
              <a:rPr sz="750" i="0">
                <a:solidFill>
                  <a:srgbClr val="A5D6A7"/>
                </a:solidFill>
                <a:latin typeface="Inconsolata"/>
              </a:rPr>
              <a:t>f"SELECT name, price FROM products WHERE name LIKE '%{q}%'"</a:t>
            </a:r>
          </a:p>
          <a:p>
            <a:pPr>
              <a:lnSpc>
                <a:spcPct val="111111"/>
              </a:lnSpc>
              <a:spcAft>
                <a:spcPts val="0"/>
              </a:spcAft>
            </a:pPr>
            <a:r>
              <a:rPr sz="750" i="0">
                <a:solidFill>
                  <a:srgbClr val="E6EDF3"/>
                </a:solidFill>
                <a:latin typeface="Inconsolata"/>
              </a:rPr>
              <a:t>    </a:t>
            </a:r>
            <a:r>
              <a:rPr sz="750" i="0">
                <a:solidFill>
                  <a:srgbClr val="FF8E6E"/>
                </a:solidFill>
                <a:latin typeface="Inconsolata"/>
              </a:rPr>
              <a:t>return</a:t>
            </a:r>
            <a:r>
              <a:rPr sz="750" i="0">
                <a:solidFill>
                  <a:srgbClr val="E6EDF3"/>
                </a:solidFill>
                <a:latin typeface="Inconsolata"/>
              </a:rPr>
              <a:t> db.execute(sql).fetchall()</a:t>
            </a:r>
          </a:p>
        </p:txBody>
      </p:sp>
      <p:sp>
        <p:nvSpPr>
          <p:cNvPr id="30" name="Box 13"/>
          <p:cNvSpPr/>
          <p:nvPr/>
        </p:nvSpPr>
        <p:spPr>
          <a:xfrm>
            <a:off x="4379976" y="1827022"/>
            <a:ext cx="4023359"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313639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321411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321411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321411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314553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parameter query: 02-injection/after.py</a:t>
            </a:r>
          </a:p>
        </p:txBody>
      </p:sp>
      <p:sp>
        <p:nvSpPr>
          <p:cNvPr id="36" name="CodeBg 21"/>
          <p:cNvSpPr/>
          <p:nvPr/>
        </p:nvSpPr>
        <p:spPr>
          <a:xfrm>
            <a:off x="4297680" y="3374136"/>
            <a:ext cx="4187951" cy="1325879"/>
          </a:xfrm>
          <a:prstGeom prst="roundRect">
            <a:avLst>
              <a:gd name="adj" fmla="val 137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3374136"/>
            <a:ext cx="4187951" cy="1325879"/>
          </a:xfrm>
          <a:prstGeom prst="rect">
            <a:avLst/>
          </a:prstGeom>
          <a:noFill/>
        </p:spPr>
        <p:txBody>
          <a:bodyPr wrap="none" lIns="146304" tIns="91440" rIns="146304" bIns="54864">
            <a:spAutoFit/>
          </a:bodyPr>
          <a:lstStyle/>
          <a:p>
            <a:pPr>
              <a:lnSpc>
                <a:spcPct val="111111"/>
              </a:lnSpc>
              <a:spcAft>
                <a:spcPts val="0"/>
              </a:spcAft>
            </a:pPr>
            <a:r>
              <a:rPr sz="750" i="0">
                <a:solidFill>
                  <a:srgbClr val="E6EDF3"/>
                </a:solidFill>
                <a:latin typeface="Inconsolata"/>
              </a:rPr>
              <a:t>    sql = </a:t>
            </a:r>
            <a:r>
              <a:rPr sz="750" i="0">
                <a:solidFill>
                  <a:srgbClr val="A5D6A7"/>
                </a:solidFill>
                <a:latin typeface="Inconsolata"/>
              </a:rPr>
              <a:t>"SELECT name, price FROM products WHERE name LIKE ?"</a:t>
            </a:r>
          </a:p>
          <a:p>
            <a:pPr>
              <a:lnSpc>
                <a:spcPct val="111111"/>
              </a:lnSpc>
              <a:spcAft>
                <a:spcPts val="0"/>
              </a:spcAft>
            </a:pPr>
            <a:r>
              <a:rPr sz="750" i="0">
                <a:solidFill>
                  <a:srgbClr val="E6EDF3"/>
                </a:solidFill>
                <a:latin typeface="Inconsolata"/>
              </a:rPr>
              <a:t>    </a:t>
            </a:r>
            <a:r>
              <a:rPr sz="750" i="0">
                <a:solidFill>
                  <a:srgbClr val="FF8E6E"/>
                </a:solidFill>
                <a:latin typeface="Inconsolata"/>
              </a:rPr>
              <a:t>return</a:t>
            </a:r>
            <a:r>
              <a:rPr sz="750" i="0">
                <a:solidFill>
                  <a:srgbClr val="E6EDF3"/>
                </a:solidFill>
                <a:latin typeface="Inconsolata"/>
              </a:rPr>
              <a:t> db.execute(sql, (</a:t>
            </a:r>
            <a:r>
              <a:rPr sz="750" i="0">
                <a:solidFill>
                  <a:srgbClr val="A5D6A7"/>
                </a:solidFill>
                <a:latin typeface="Inconsolata"/>
              </a:rPr>
              <a:t>f"%{q}%"</a:t>
            </a:r>
            <a:r>
              <a:rPr sz="750" i="0">
                <a:solidFill>
                  <a:srgbClr val="E6EDF3"/>
                </a:solidFill>
                <a:latin typeface="Inconsolata"/>
              </a:rPr>
              <a:t>,)).fetchall()</a:t>
            </a:r>
          </a:p>
        </p:txBody>
      </p:sp>
      <p:sp>
        <p:nvSpPr>
          <p:cNvPr id="38" name="Box 23"/>
          <p:cNvSpPr/>
          <p:nvPr/>
        </p:nvSpPr>
        <p:spPr>
          <a:xfrm>
            <a:off x="4379976" y="3482086"/>
            <a:ext cx="4023359" cy="246380"/>
          </a:xfrm>
          <a:prstGeom prst="roundRect">
            <a:avLst>
              <a:gd name="adj" fmla="val 1855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Injection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memakai Parameter Query?</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Dengan f-string</a:t>
            </a:r>
          </a:p>
          <a:p>
            <a:pPr algn="l">
              <a:lnSpc>
                <a:spcPct val="115000"/>
              </a:lnSpc>
              <a:spcAft>
                <a:spcPts val="400"/>
              </a:spcAft>
            </a:pPr>
            <a:r>
              <a:rPr sz="950" b="0" i="0">
                <a:solidFill>
                  <a:srgbClr val="434343"/>
                </a:solidFill>
                <a:latin typeface="Inter"/>
              </a:rPr>
              <a:t>Input </a:t>
            </a:r>
            <a:r>
              <a:rPr sz="950" b="0" i="0">
                <a:solidFill>
                  <a:srgbClr val="B5482A"/>
                </a:solidFill>
                <a:latin typeface="Inconsolata"/>
              </a:rPr>
              <a:t>x' UNION SELECT email, password_hash FROM users --</a:t>
            </a:r>
            <a:r>
              <a:rPr sz="950" b="0" i="0">
                <a:solidFill>
                  <a:srgbClr val="434343"/>
                </a:solidFill>
                <a:latin typeface="Inter"/>
              </a:rPr>
              <a:t> menutup tanda petik, lalu menambah query baru.</a:t>
            </a:r>
          </a:p>
          <a:p>
            <a:pPr algn="l">
              <a:lnSpc>
                <a:spcPct val="115000"/>
              </a:lnSpc>
              <a:spcAft>
                <a:spcPts val="400"/>
              </a:spcAft>
            </a:pPr>
            <a:r>
              <a:rPr sz="1050" b="1" i="0">
                <a:solidFill>
                  <a:srgbClr val="1C4587"/>
                </a:solidFill>
                <a:latin typeface="Inter"/>
              </a:rPr>
              <a:t>Jika query dari input user makin banyak</a:t>
            </a:r>
          </a:p>
          <a:p>
            <a:pPr algn="l">
              <a:lnSpc>
                <a:spcPct val="115000"/>
              </a:lnSpc>
              <a:spcAft>
                <a:spcPts val="400"/>
              </a:spcAft>
            </a:pPr>
            <a:r>
              <a:rPr sz="950" b="0" i="0">
                <a:solidFill>
                  <a:srgbClr val="434343"/>
                </a:solidFill>
                <a:latin typeface="Inter"/>
              </a:rPr>
              <a:t>Setiap pencarian, filter, dan sorting menjadi celah baru.</a:t>
            </a:r>
          </a:p>
          <a:p>
            <a:pPr algn="l">
              <a:lnSpc>
                <a:spcPct val="115000"/>
              </a:lnSpc>
              <a:spcAft>
                <a:spcPts val="400"/>
              </a:spcAft>
            </a:pPr>
            <a:r>
              <a:rPr sz="950" b="0" i="0">
                <a:solidFill>
                  <a:srgbClr val="434343"/>
                </a:solidFill>
                <a:latin typeface="Inter"/>
              </a:rPr>
              <a:t>Hal ini menimbulkan potensi seluruh isi database terbaca dari satu kolom pencarian.</a:t>
            </a:r>
          </a:p>
          <a:p>
            <a:pPr algn="l">
              <a:lnSpc>
                <a:spcPct val="115000"/>
              </a:lnSpc>
              <a:spcAft>
                <a:spcPts val="400"/>
              </a:spcAft>
            </a:pPr>
            <a:r>
              <a:rPr sz="1050" b="1" i="0">
                <a:solidFill>
                  <a:srgbClr val="1C4587"/>
                </a:solidFill>
                <a:latin typeface="Inter"/>
              </a:rPr>
              <a:t>Yang dipakai: parameter query</a:t>
            </a:r>
          </a:p>
          <a:p>
            <a:pPr algn="l">
              <a:lnSpc>
                <a:spcPct val="115000"/>
              </a:lnSpc>
              <a:spcAft>
                <a:spcPts val="400"/>
              </a:spcAft>
            </a:pPr>
            <a:r>
              <a:rPr sz="950" b="0" i="0">
                <a:solidFill>
                  <a:srgbClr val="434343"/>
                </a:solidFill>
                <a:latin typeface="Inter"/>
              </a:rPr>
              <a:t>Selalu, setiap kali ada nilai dari luar. SQLAlchemy ORM (</a:t>
            </a:r>
            <a:r>
              <a:rPr sz="950" b="0" i="0">
                <a:solidFill>
                  <a:srgbClr val="B5482A"/>
                </a:solidFill>
                <a:latin typeface="Inconsolata"/>
              </a:rPr>
              <a:t>select().where()</a:t>
            </a:r>
            <a:r>
              <a:rPr sz="950" b="0" i="0">
                <a:solidFill>
                  <a:srgbClr val="434343"/>
                </a:solidFill>
                <a:latin typeface="Inter"/>
              </a:rPr>
              <a:t>) sudah memakai parameter secara otomatis.</a:t>
            </a:r>
          </a:p>
        </p:txBody>
      </p:sp>
      <p:graphicFrame>
        <p:nvGraphicFramePr>
          <p:cNvPr id="23" name="Table 4"/>
          <p:cNvGraphicFramePr>
            <a:graphicFrameLocks noGrp="1"/>
          </p:cNvGraphicFramePr>
          <p:nvPr/>
        </p:nvGraphicFramePr>
        <p:xfrm>
          <a:off x="4800600" y="1481328"/>
          <a:ext cx="3685032" cy="2057400"/>
        </p:xfrm>
        <a:graphic>
          <a:graphicData uri="http://schemas.openxmlformats.org/drawingml/2006/table">
            <a:tbl>
              <a:tblPr firstRow="1" bandRow="1"/>
              <a:tblGrid>
                <a:gridCol w="2039112">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Aman?</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f"... '{q}'"</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Tidak, input jadi bagian SQL</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 ?", (q,)</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Ya, sqlite3</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text("... :q"), {"q": q}</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Ya, SQLAlchemy</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select(X).where(X.name == q)</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Ya, SQLAlchemy ORM</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Injection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SQL disusun dengan f-string</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02-injection/before.py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 9  </a:t>
            </a:r>
            <a:r>
              <a:rPr sz="719" i="0">
                <a:solidFill>
                  <a:srgbClr val="FF8E6E"/>
                </a:solidFill>
                <a:latin typeface="Inconsolata"/>
              </a:rPr>
              <a:t>import</a:t>
            </a:r>
            <a:r>
              <a:rPr sz="719" i="0">
                <a:solidFill>
                  <a:srgbClr val="E6EDF3"/>
                </a:solidFill>
                <a:latin typeface="Inconsolata"/>
              </a:rPr>
              <a:t> sqlite3</a:t>
            </a:r>
          </a:p>
          <a:p>
            <a:pPr>
              <a:lnSpc>
                <a:spcPct val="104277"/>
              </a:lnSpc>
              <a:spcAft>
                <a:spcPts val="0"/>
              </a:spcAft>
            </a:pPr>
            <a:r>
              <a:rPr sz="719" i="0">
                <a:solidFill>
                  <a:srgbClr val="5C6773"/>
                </a:solidFill>
                <a:latin typeface="Inconsolata"/>
              </a:rPr>
              <a:t>10  </a:t>
            </a:r>
            <a:r>
              <a:rPr sz="719" i="0">
                <a:solidFill>
                  <a:srgbClr val="E6EDF3"/>
                </a:solidFill>
                <a:latin typeface="Inconsolata"/>
              </a:rPr>
              <a:t> </a:t>
            </a:r>
          </a:p>
          <a:p>
            <a:pPr>
              <a:lnSpc>
                <a:spcPct val="104277"/>
              </a:lnSpc>
              <a:spcAft>
                <a:spcPts val="0"/>
              </a:spcAft>
            </a:pPr>
            <a:r>
              <a:rPr sz="719" i="0">
                <a:solidFill>
                  <a:srgbClr val="5C6773"/>
                </a:solidFill>
                <a:latin typeface="Inconsolata"/>
              </a:rPr>
              <a:t>11  </a:t>
            </a:r>
            <a:r>
              <a:rPr sz="719" i="0">
                <a:solidFill>
                  <a:srgbClr val="FF8E6E"/>
                </a:solidFill>
                <a:latin typeface="Inconsolata"/>
              </a:rPr>
              <a:t>from</a:t>
            </a:r>
            <a:r>
              <a:rPr sz="719" i="0">
                <a:solidFill>
                  <a:srgbClr val="E6EDF3"/>
                </a:solidFill>
                <a:latin typeface="Inconsolata"/>
              </a:rPr>
              <a:t> fastapi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FastAPI</a:t>
            </a:r>
          </a:p>
          <a:p>
            <a:pPr>
              <a:lnSpc>
                <a:spcPct val="104277"/>
              </a:lnSpc>
              <a:spcAft>
                <a:spcPts val="0"/>
              </a:spcAft>
            </a:pPr>
            <a:r>
              <a:rPr sz="719" i="0">
                <a:solidFill>
                  <a:srgbClr val="5C6773"/>
                </a:solidFill>
                <a:latin typeface="Inconsolata"/>
              </a:rPr>
              <a:t>12  </a:t>
            </a:r>
            <a:r>
              <a:rPr sz="719" i="0">
                <a:solidFill>
                  <a:srgbClr val="FF8E6E"/>
                </a:solidFill>
                <a:latin typeface="Inconsolata"/>
              </a:rPr>
              <a:t>from</a:t>
            </a:r>
            <a:r>
              <a:rPr sz="719" i="0">
                <a:solidFill>
                  <a:srgbClr val="E6EDF3"/>
                </a:solidFill>
                <a:latin typeface="Inconsolata"/>
              </a:rPr>
              <a:t> fastapi.testclient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TestClient</a:t>
            </a:r>
          </a:p>
          <a:p>
            <a:pPr>
              <a:lnSpc>
                <a:spcPct val="104277"/>
              </a:lnSpc>
              <a:spcAft>
                <a:spcPts val="0"/>
              </a:spcAft>
            </a:pPr>
            <a:r>
              <a:rPr sz="719" i="0">
                <a:solidFill>
                  <a:srgbClr val="5C6773"/>
                </a:solidFill>
                <a:latin typeface="Inconsolata"/>
              </a:rPr>
              <a:t>13  </a:t>
            </a:r>
            <a:r>
              <a:rPr sz="719" i="0">
                <a:solidFill>
                  <a:srgbClr val="E6EDF3"/>
                </a:solidFill>
                <a:latin typeface="Inconsolata"/>
              </a:rPr>
              <a:t> </a:t>
            </a:r>
          </a:p>
          <a:p>
            <a:pPr>
              <a:lnSpc>
                <a:spcPct val="104277"/>
              </a:lnSpc>
              <a:spcAft>
                <a:spcPts val="0"/>
              </a:spcAft>
            </a:pPr>
            <a:r>
              <a:rPr sz="719" i="0">
                <a:solidFill>
                  <a:srgbClr val="5C6773"/>
                </a:solidFill>
                <a:latin typeface="Inconsolata"/>
              </a:rPr>
              <a:t>14  </a:t>
            </a:r>
            <a:r>
              <a:rPr sz="719" i="0">
                <a:solidFill>
                  <a:srgbClr val="E6EDF3"/>
                </a:solidFill>
                <a:latin typeface="Inconsolata"/>
              </a:rPr>
              <a:t>db = sqlite3.connect(</a:t>
            </a:r>
            <a:r>
              <a:rPr sz="719" i="0">
                <a:solidFill>
                  <a:srgbClr val="A5D6A7"/>
                </a:solidFill>
                <a:latin typeface="Inconsolata"/>
              </a:rPr>
              <a:t>":memory:"</a:t>
            </a:r>
            <a:r>
              <a:rPr sz="719" i="0">
                <a:solidFill>
                  <a:srgbClr val="E6EDF3"/>
                </a:solidFill>
                <a:latin typeface="Inconsolata"/>
              </a:rPr>
              <a:t>, check_same_thread=</a:t>
            </a:r>
            <a:r>
              <a:rPr sz="719" i="0">
                <a:solidFill>
                  <a:srgbClr val="FF8E6E"/>
                </a:solidFill>
                <a:latin typeface="Inconsolata"/>
              </a:rPr>
              <a:t>False</a:t>
            </a:r>
            <a:r>
              <a:rPr sz="719" i="0">
                <a:solidFill>
                  <a:srgbClr val="E6EDF3"/>
                </a:solidFill>
                <a:latin typeface="Inconsolata"/>
              </a:rPr>
              <a:t>)</a:t>
            </a:r>
          </a:p>
          <a:p>
            <a:pPr>
              <a:lnSpc>
                <a:spcPct val="104277"/>
              </a:lnSpc>
              <a:spcAft>
                <a:spcPts val="0"/>
              </a:spcAft>
            </a:pPr>
            <a:r>
              <a:rPr sz="719" i="0">
                <a:solidFill>
                  <a:srgbClr val="5C6773"/>
                </a:solidFill>
                <a:latin typeface="Inconsolata"/>
              </a:rPr>
              <a:t>15  </a:t>
            </a:r>
            <a:r>
              <a:rPr sz="719" i="0">
                <a:solidFill>
                  <a:srgbClr val="E6EDF3"/>
                </a:solidFill>
                <a:latin typeface="Inconsolata"/>
              </a:rPr>
              <a:t>db.executescript(</a:t>
            </a:r>
            <a:r>
              <a:rPr sz="719" i="0">
                <a:solidFill>
                  <a:srgbClr val="A5D6A7"/>
                </a:solidFill>
                <a:latin typeface="Inconsolata"/>
              </a:rPr>
              <a:t>"""</a:t>
            </a:r>
          </a:p>
          <a:p>
            <a:pPr>
              <a:lnSpc>
                <a:spcPct val="104277"/>
              </a:lnSpc>
              <a:spcAft>
                <a:spcPts val="0"/>
              </a:spcAft>
            </a:pPr>
            <a:r>
              <a:rPr sz="719" i="0">
                <a:solidFill>
                  <a:srgbClr val="5C6773"/>
                </a:solidFill>
                <a:latin typeface="Inconsolata"/>
              </a:rPr>
              <a:t>16  </a:t>
            </a:r>
            <a:r>
              <a:rPr sz="719" i="0">
                <a:solidFill>
                  <a:srgbClr val="A5D6A7"/>
                </a:solidFill>
                <a:latin typeface="Inconsolata"/>
              </a:rPr>
              <a:t>CREATE TABLE products (name TEXT, price INT);</a:t>
            </a:r>
          </a:p>
          <a:p>
            <a:pPr>
              <a:lnSpc>
                <a:spcPct val="104277"/>
              </a:lnSpc>
              <a:spcAft>
                <a:spcPts val="0"/>
              </a:spcAft>
            </a:pPr>
            <a:r>
              <a:rPr sz="719" i="0">
                <a:solidFill>
                  <a:srgbClr val="5C6773"/>
                </a:solidFill>
                <a:latin typeface="Inconsolata"/>
              </a:rPr>
              <a:t>17  </a:t>
            </a:r>
            <a:r>
              <a:rPr sz="719" i="0">
                <a:solidFill>
                  <a:srgbClr val="A5D6A7"/>
                </a:solidFill>
                <a:latin typeface="Inconsolata"/>
              </a:rPr>
              <a:t>INSERT INTO products VALUES ('Keyboard', 500000), ('Mouse', 100000);</a:t>
            </a:r>
          </a:p>
          <a:p>
            <a:pPr>
              <a:lnSpc>
                <a:spcPct val="104277"/>
              </a:lnSpc>
              <a:spcAft>
                <a:spcPts val="0"/>
              </a:spcAft>
            </a:pPr>
            <a:r>
              <a:rPr sz="719" i="0">
                <a:solidFill>
                  <a:srgbClr val="5C6773"/>
                </a:solidFill>
                <a:latin typeface="Inconsolata"/>
              </a:rPr>
              <a:t>18  </a:t>
            </a:r>
            <a:r>
              <a:rPr sz="719" i="0">
                <a:solidFill>
                  <a:srgbClr val="A5D6A7"/>
                </a:solidFill>
                <a:latin typeface="Inconsolata"/>
              </a:rPr>
              <a:t>CREATE TABLE users (email TEXT, password_hash TEXT);</a:t>
            </a:r>
          </a:p>
          <a:p>
            <a:pPr>
              <a:lnSpc>
                <a:spcPct val="104277"/>
              </a:lnSpc>
              <a:spcAft>
                <a:spcPts val="0"/>
              </a:spcAft>
            </a:pPr>
            <a:r>
              <a:rPr sz="719" i="0">
                <a:solidFill>
                  <a:srgbClr val="5C6773"/>
                </a:solidFill>
                <a:latin typeface="Inconsolata"/>
              </a:rPr>
              <a:t>19  </a:t>
            </a:r>
            <a:r>
              <a:rPr sz="719" i="0">
                <a:solidFill>
                  <a:srgbClr val="A5D6A7"/>
                </a:solidFill>
                <a:latin typeface="Inconsolata"/>
              </a:rPr>
              <a:t>INSERT INTO users VALUES ('admin@toko.com', '$argon2id$v=19$m=65536');</a:t>
            </a:r>
          </a:p>
          <a:p>
            <a:pPr>
              <a:lnSpc>
                <a:spcPct val="104277"/>
              </a:lnSpc>
              <a:spcAft>
                <a:spcPts val="0"/>
              </a:spcAft>
            </a:pPr>
            <a:r>
              <a:rPr sz="719" i="0">
                <a:solidFill>
                  <a:srgbClr val="5C6773"/>
                </a:solidFill>
                <a:latin typeface="Inconsolata"/>
              </a:rPr>
              <a:t>20  </a:t>
            </a:r>
            <a:r>
              <a:rPr sz="719" i="0">
                <a:solidFill>
                  <a:srgbClr val="A5D6A7"/>
                </a:solidFill>
                <a:latin typeface="Inconsolata"/>
              </a:rPr>
              <a:t>"""</a:t>
            </a:r>
            <a:r>
              <a:rPr sz="719" i="0">
                <a:solidFill>
                  <a:srgbClr val="E6EDF3"/>
                </a:solidFill>
                <a:latin typeface="Inconsolata"/>
              </a:rPr>
              <a:t>)</a:t>
            </a:r>
          </a:p>
          <a:p>
            <a:pPr>
              <a:lnSpc>
                <a:spcPct val="104277"/>
              </a:lnSpc>
              <a:spcAft>
                <a:spcPts val="0"/>
              </a:spcAft>
            </a:pPr>
            <a:r>
              <a:rPr sz="719" i="0">
                <a:solidFill>
                  <a:srgbClr val="5C6773"/>
                </a:solidFill>
                <a:latin typeface="Inconsolata"/>
              </a:rPr>
              <a:t>21  </a:t>
            </a:r>
            <a:r>
              <a:rPr sz="719" i="0">
                <a:solidFill>
                  <a:srgbClr val="E6EDF3"/>
                </a:solidFill>
                <a:latin typeface="Inconsolata"/>
              </a:rPr>
              <a:t>app = </a:t>
            </a:r>
            <a:r>
              <a:rPr sz="719" i="0">
                <a:solidFill>
                  <a:srgbClr val="7FDBCA"/>
                </a:solidFill>
                <a:latin typeface="Inconsolata"/>
              </a:rPr>
              <a:t>FastAPI</a:t>
            </a:r>
            <a:r>
              <a:rPr sz="719"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02-injection/before.py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24  </a:t>
            </a:r>
            <a:r>
              <a:rPr sz="719" i="0">
                <a:solidFill>
                  <a:srgbClr val="F9C97A"/>
                </a:solidFill>
                <a:latin typeface="Inconsolata"/>
              </a:rPr>
              <a:t>@app.get</a:t>
            </a:r>
            <a:r>
              <a:rPr sz="719" i="0">
                <a:solidFill>
                  <a:srgbClr val="E6EDF3"/>
                </a:solidFill>
                <a:latin typeface="Inconsolata"/>
              </a:rPr>
              <a:t>(</a:t>
            </a:r>
            <a:r>
              <a:rPr sz="719" i="0">
                <a:solidFill>
                  <a:srgbClr val="A5D6A7"/>
                </a:solidFill>
                <a:latin typeface="Inconsolata"/>
              </a:rPr>
              <a:t>"/products/search"</a:t>
            </a:r>
            <a:r>
              <a:rPr sz="719" i="0">
                <a:solidFill>
                  <a:srgbClr val="E6EDF3"/>
                </a:solidFill>
                <a:latin typeface="Inconsolata"/>
              </a:rPr>
              <a:t>)</a:t>
            </a:r>
          </a:p>
          <a:p>
            <a:pPr>
              <a:lnSpc>
                <a:spcPct val="104277"/>
              </a:lnSpc>
              <a:spcAft>
                <a:spcPts val="0"/>
              </a:spcAft>
            </a:pPr>
            <a:r>
              <a:rPr sz="719" i="0">
                <a:solidFill>
                  <a:srgbClr val="5C6773"/>
                </a:solidFill>
                <a:latin typeface="Inconsolata"/>
              </a:rPr>
              <a:t>25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search</a:t>
            </a:r>
            <a:r>
              <a:rPr sz="719" i="0">
                <a:solidFill>
                  <a:srgbClr val="E6EDF3"/>
                </a:solidFill>
                <a:latin typeface="Inconsolata"/>
              </a:rPr>
              <a:t>(q: </a:t>
            </a:r>
            <a:r>
              <a:rPr sz="719" i="0">
                <a:solidFill>
                  <a:srgbClr val="C3A6FF"/>
                </a:solidFill>
                <a:latin typeface="Inconsolata"/>
              </a:rPr>
              <a:t>str</a:t>
            </a:r>
            <a:r>
              <a:rPr sz="719" i="0">
                <a:solidFill>
                  <a:srgbClr val="E6EDF3"/>
                </a:solidFill>
                <a:latin typeface="Inconsolata"/>
              </a:rPr>
              <a:t>):</a:t>
            </a:r>
          </a:p>
          <a:p>
            <a:pPr>
              <a:lnSpc>
                <a:spcPct val="104277"/>
              </a:lnSpc>
              <a:spcAft>
                <a:spcPts val="0"/>
              </a:spcAft>
            </a:pPr>
            <a:r>
              <a:rPr sz="719" i="0">
                <a:solidFill>
                  <a:srgbClr val="5C6773"/>
                </a:solidFill>
                <a:latin typeface="Inconsolata"/>
              </a:rPr>
              <a:t>26  </a:t>
            </a:r>
            <a:r>
              <a:rPr sz="719" i="0">
                <a:solidFill>
                  <a:srgbClr val="E6EDF3"/>
                </a:solidFill>
                <a:latin typeface="Inconsolata"/>
              </a:rPr>
              <a:t>    sql = </a:t>
            </a:r>
            <a:r>
              <a:rPr sz="719" i="0">
                <a:solidFill>
                  <a:srgbClr val="A5D6A7"/>
                </a:solidFill>
                <a:latin typeface="Inconsolata"/>
              </a:rPr>
              <a:t>f"SELECT name, price FROM products WHERE name LIKE '%{q}%'"</a:t>
            </a:r>
          </a:p>
          <a:p>
            <a:pPr>
              <a:lnSpc>
                <a:spcPct val="104277"/>
              </a:lnSpc>
              <a:spcAft>
                <a:spcPts val="0"/>
              </a:spcAft>
            </a:pPr>
            <a:r>
              <a:rPr sz="719" i="0">
                <a:solidFill>
                  <a:srgbClr val="5C6773"/>
                </a:solidFill>
                <a:latin typeface="Inconsolata"/>
              </a:rPr>
              <a:t>27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db.execute(sql).fetchall()</a:t>
            </a:r>
          </a:p>
          <a:p>
            <a:pPr>
              <a:lnSpc>
                <a:spcPct val="104277"/>
              </a:lnSpc>
              <a:spcAft>
                <a:spcPts val="0"/>
              </a:spcAft>
            </a:pPr>
            <a:r>
              <a:rPr sz="719" i="0">
                <a:solidFill>
                  <a:srgbClr val="5C6773"/>
                </a:solidFill>
                <a:latin typeface="Inconsolata"/>
              </a:rPr>
              <a:t>28  </a:t>
            </a:r>
            <a:r>
              <a:rPr sz="719" i="0">
                <a:solidFill>
                  <a:srgbClr val="E6EDF3"/>
                </a:solidFill>
                <a:latin typeface="Inconsolata"/>
              </a:rPr>
              <a:t> </a:t>
            </a:r>
          </a:p>
          <a:p>
            <a:pPr>
              <a:lnSpc>
                <a:spcPct val="104277"/>
              </a:lnSpc>
              <a:spcAft>
                <a:spcPts val="0"/>
              </a:spcAft>
            </a:pPr>
            <a:r>
              <a:rPr sz="719" i="0">
                <a:solidFill>
                  <a:srgbClr val="5C6773"/>
                </a:solidFill>
                <a:latin typeface="Inconsolata"/>
              </a:rPr>
              <a:t>29  </a:t>
            </a:r>
            <a:r>
              <a:rPr sz="719" i="0">
                <a:solidFill>
                  <a:srgbClr val="E6EDF3"/>
                </a:solidFill>
                <a:latin typeface="Inconsolata"/>
              </a:rPr>
              <a:t> </a:t>
            </a:r>
          </a:p>
          <a:p>
            <a:pPr>
              <a:lnSpc>
                <a:spcPct val="104277"/>
              </a:lnSpc>
              <a:spcAft>
                <a:spcPts val="0"/>
              </a:spcAft>
            </a:pPr>
            <a:r>
              <a:rPr sz="719" i="0">
                <a:solidFill>
                  <a:srgbClr val="5C6773"/>
                </a:solidFill>
                <a:latin typeface="Inconsolata"/>
              </a:rPr>
              <a:t>30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31  </a:t>
            </a:r>
            <a:r>
              <a:rPr sz="719" i="0">
                <a:solidFill>
                  <a:srgbClr val="E6EDF3"/>
                </a:solidFill>
                <a:latin typeface="Inconsolata"/>
              </a:rPr>
              <a:t>    client = </a:t>
            </a:r>
            <a:r>
              <a:rPr sz="719" i="0">
                <a:solidFill>
                  <a:srgbClr val="7FDBCA"/>
                </a:solidFill>
                <a:latin typeface="Inconsolata"/>
              </a:rPr>
              <a:t>TestClient</a:t>
            </a:r>
            <a:r>
              <a:rPr sz="719" i="0">
                <a:solidFill>
                  <a:srgbClr val="E6EDF3"/>
                </a:solidFill>
                <a:latin typeface="Inconsolata"/>
              </a:rPr>
              <a:t>(app)</a:t>
            </a:r>
          </a:p>
          <a:p>
            <a:pPr>
              <a:lnSpc>
                <a:spcPct val="104277"/>
              </a:lnSpc>
              <a:spcAft>
                <a:spcPts val="0"/>
              </a:spcAft>
            </a:pPr>
            <a:r>
              <a:rPr sz="719" i="0">
                <a:solidFill>
                  <a:srgbClr val="5C6773"/>
                </a:solidFill>
                <a:latin typeface="Inconsolata"/>
              </a:rPr>
              <a:t>32  </a:t>
            </a:r>
            <a:r>
              <a:rPr sz="719" i="0">
                <a:solidFill>
                  <a:srgbClr val="E6EDF3"/>
                </a:solidFill>
                <a:latin typeface="Inconsolata"/>
              </a:rPr>
              <a:t>    attack = </a:t>
            </a:r>
            <a:r>
              <a:rPr sz="719" i="0">
                <a:solidFill>
                  <a:srgbClr val="A5D6A7"/>
                </a:solidFill>
                <a:latin typeface="Inconsolata"/>
              </a:rPr>
              <a:t>"x' UNION SELECT email, password_hash FROM users --"</a:t>
            </a:r>
          </a:p>
          <a:p>
            <a:pPr>
              <a:lnSpc>
                <a:spcPct val="104277"/>
              </a:lnSpc>
              <a:spcAft>
                <a:spcPts val="0"/>
              </a:spcAft>
            </a:pPr>
            <a:r>
              <a:rPr sz="719" i="0">
                <a:solidFill>
                  <a:srgbClr val="5C6773"/>
                </a:solidFill>
                <a:latin typeface="Inconsolata"/>
              </a:rPr>
              <a:t>33  </a:t>
            </a:r>
            <a:r>
              <a:rPr sz="719" i="0">
                <a:solidFill>
                  <a:srgbClr val="E6EDF3"/>
                </a:solidFill>
                <a:latin typeface="Inconsolata"/>
              </a:rPr>
              <a:t>    </a:t>
            </a:r>
            <a:r>
              <a:rPr sz="719" i="0">
                <a:solidFill>
                  <a:srgbClr val="FF8E6E"/>
                </a:solidFill>
                <a:latin typeface="Inconsolata"/>
              </a:rPr>
              <a:t>for</a:t>
            </a:r>
            <a:r>
              <a:rPr sz="719" i="0">
                <a:solidFill>
                  <a:srgbClr val="E6EDF3"/>
                </a:solidFill>
                <a:latin typeface="Inconsolata"/>
              </a:rPr>
              <a:t> q </a:t>
            </a:r>
            <a:r>
              <a:rPr sz="719" i="0">
                <a:solidFill>
                  <a:srgbClr val="FF8E6E"/>
                </a:solidFill>
                <a:latin typeface="Inconsolata"/>
              </a:rPr>
              <a:t>in</a:t>
            </a:r>
            <a:r>
              <a:rPr sz="719" i="0">
                <a:solidFill>
                  <a:srgbClr val="E6EDF3"/>
                </a:solidFill>
                <a:latin typeface="Inconsolata"/>
              </a:rPr>
              <a:t> [</a:t>
            </a:r>
            <a:r>
              <a:rPr sz="719" i="0">
                <a:solidFill>
                  <a:srgbClr val="A5D6A7"/>
                </a:solidFill>
                <a:latin typeface="Inconsolata"/>
              </a:rPr>
              <a:t>"key"</a:t>
            </a:r>
            <a:r>
              <a:rPr sz="719" i="0">
                <a:solidFill>
                  <a:srgbClr val="E6EDF3"/>
                </a:solidFill>
                <a:latin typeface="Inconsolata"/>
              </a:rPr>
              <a:t>, attack]:</a:t>
            </a:r>
          </a:p>
          <a:p>
            <a:pPr>
              <a:lnSpc>
                <a:spcPct val="104277"/>
              </a:lnSpc>
              <a:spcAft>
                <a:spcPts val="0"/>
              </a:spcAft>
            </a:pPr>
            <a:r>
              <a:rPr sz="719" i="0">
                <a:solidFill>
                  <a:srgbClr val="5C6773"/>
                </a:solidFill>
                <a:latin typeface="Inconsolata"/>
              </a:rPr>
              <a:t>34  </a:t>
            </a:r>
            <a:r>
              <a:rPr sz="719" i="0">
                <a:solidFill>
                  <a:srgbClr val="E6EDF3"/>
                </a:solidFill>
                <a:latin typeface="Inconsolata"/>
              </a:rPr>
              <a:t>        response = client.get(</a:t>
            </a:r>
            <a:r>
              <a:rPr sz="719" i="0">
                <a:solidFill>
                  <a:srgbClr val="A5D6A7"/>
                </a:solidFill>
                <a:latin typeface="Inconsolata"/>
              </a:rPr>
              <a:t>"/products/search"</a:t>
            </a:r>
            <a:r>
              <a:rPr sz="719" i="0">
                <a:solidFill>
                  <a:srgbClr val="E6EDF3"/>
                </a:solidFill>
                <a:latin typeface="Inconsolata"/>
              </a:rPr>
              <a:t>, params={</a:t>
            </a:r>
            <a:r>
              <a:rPr sz="719" i="0">
                <a:solidFill>
                  <a:srgbClr val="A5D6A7"/>
                </a:solidFill>
                <a:latin typeface="Inconsolata"/>
              </a:rPr>
              <a:t>"q"</a:t>
            </a:r>
            <a:r>
              <a:rPr sz="719" i="0">
                <a:solidFill>
                  <a:srgbClr val="E6EDF3"/>
                </a:solidFill>
                <a:latin typeface="Inconsolata"/>
              </a:rPr>
              <a:t>: q})</a:t>
            </a:r>
          </a:p>
          <a:p>
            <a:pPr>
              <a:lnSpc>
                <a:spcPct val="104277"/>
              </a:lnSpc>
              <a:spcAft>
                <a:spcPts val="0"/>
              </a:spcAft>
            </a:pPr>
            <a:r>
              <a:rPr sz="719" i="0">
                <a:solidFill>
                  <a:srgbClr val="5C6773"/>
                </a:solidFill>
                <a:latin typeface="Inconsolata"/>
              </a:rPr>
              <a:t>35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f"q = {q!r}\n  -&gt; {response.json()}"</a:t>
            </a:r>
            <a:r>
              <a:rPr sz="719" i="0">
                <a:solidFill>
                  <a:srgbClr val="E6EDF3"/>
                </a:solidFill>
                <a:latin typeface="Inconsolata"/>
              </a:rPr>
              <a:t>)</a:t>
            </a:r>
          </a:p>
        </p:txBody>
      </p:sp>
      <p:sp>
        <p:nvSpPr>
          <p:cNvPr id="36" name="Box 21"/>
          <p:cNvSpPr/>
          <p:nvPr/>
        </p:nvSpPr>
        <p:spPr>
          <a:xfrm>
            <a:off x="704088" y="2854071"/>
            <a:ext cx="3694176" cy="221742"/>
          </a:xfrm>
          <a:prstGeom prst="roundRect">
            <a:avLst>
              <a:gd name="adj" fmla="val 20618"/>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8460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20539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19888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27397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26746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Injection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02-injection/before.py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sesi-10-api-security/02-injection</a:t>
            </a:r>
          </a:p>
          <a:p>
            <a:pPr>
              <a:lnSpc>
                <a:spcPct val="111111"/>
              </a:lnSpc>
              <a:spcAft>
                <a:spcPts val="0"/>
              </a:spcAft>
            </a:pPr>
            <a:r>
              <a:rPr sz="900" i="0">
                <a:solidFill>
                  <a:srgbClr val="82B1FF"/>
                </a:solidFill>
                <a:latin typeface="Inconsolata"/>
              </a:rPr>
              <a:t>$ python before.py</a:t>
            </a:r>
          </a:p>
        </p:txBody>
      </p:sp>
      <p:pic>
        <p:nvPicPr>
          <p:cNvPr id="29" name="Image 12" descr="s10-02-injection-before.png"/>
          <p:cNvPicPr>
            <a:picLocks noChangeAspect="1"/>
          </p:cNvPicPr>
          <p:nvPr/>
        </p:nvPicPr>
        <p:blipFill>
          <a:blip r:embed="rId2"/>
          <a:stretch>
            <a:fillRect/>
          </a:stretch>
        </p:blipFill>
        <p:spPr>
          <a:xfrm>
            <a:off x="621792" y="2322576"/>
            <a:ext cx="4297680" cy="904775"/>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Ada tabel users berisi hash password (baris 18-19)</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Input </a:t>
            </a:r>
            <a:r>
              <a:rPr sz="950" b="0" i="0">
                <a:solidFill>
                  <a:srgbClr val="B5482A"/>
                </a:solidFill>
                <a:latin typeface="Inconsolata"/>
              </a:rPr>
              <a:t>q</a:t>
            </a:r>
            <a:r>
              <a:rPr sz="950" b="0" i="0">
                <a:solidFill>
                  <a:srgbClr val="434343"/>
                </a:solidFill>
                <a:latin typeface="Inter"/>
              </a:rPr>
              <a:t> digabung langsung ke SQL (baris 26)</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Input penyerang memakai UNION (baris 32)</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Hasil pencarian berisi email dan hash password admin.</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19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Injection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parameter query</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02-injection/after.py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10  </a:t>
            </a:r>
            <a:r>
              <a:rPr sz="719" i="0">
                <a:solidFill>
                  <a:srgbClr val="FF8E6E"/>
                </a:solidFill>
                <a:latin typeface="Inconsolata"/>
              </a:rPr>
              <a:t>import</a:t>
            </a:r>
            <a:r>
              <a:rPr sz="719" i="0">
                <a:solidFill>
                  <a:srgbClr val="E6EDF3"/>
                </a:solidFill>
                <a:latin typeface="Inconsolata"/>
              </a:rPr>
              <a:t> sqlite3</a:t>
            </a:r>
          </a:p>
          <a:p>
            <a:pPr>
              <a:lnSpc>
                <a:spcPct val="104277"/>
              </a:lnSpc>
              <a:spcAft>
                <a:spcPts val="0"/>
              </a:spcAft>
            </a:pPr>
            <a:r>
              <a:rPr sz="719" i="0">
                <a:solidFill>
                  <a:srgbClr val="5C6773"/>
                </a:solidFill>
                <a:latin typeface="Inconsolata"/>
              </a:rPr>
              <a:t>11  </a:t>
            </a:r>
            <a:r>
              <a:rPr sz="719" i="0">
                <a:solidFill>
                  <a:srgbClr val="E6EDF3"/>
                </a:solidFill>
                <a:latin typeface="Inconsolata"/>
              </a:rPr>
              <a:t> </a:t>
            </a:r>
          </a:p>
          <a:p>
            <a:pPr>
              <a:lnSpc>
                <a:spcPct val="104277"/>
              </a:lnSpc>
              <a:spcAft>
                <a:spcPts val="0"/>
              </a:spcAft>
            </a:pPr>
            <a:r>
              <a:rPr sz="719" i="0">
                <a:solidFill>
                  <a:srgbClr val="5C6773"/>
                </a:solidFill>
                <a:latin typeface="Inconsolata"/>
              </a:rPr>
              <a:t>12  </a:t>
            </a:r>
            <a:r>
              <a:rPr sz="719" i="0">
                <a:solidFill>
                  <a:srgbClr val="FF8E6E"/>
                </a:solidFill>
                <a:latin typeface="Inconsolata"/>
              </a:rPr>
              <a:t>from</a:t>
            </a:r>
            <a:r>
              <a:rPr sz="719" i="0">
                <a:solidFill>
                  <a:srgbClr val="E6EDF3"/>
                </a:solidFill>
                <a:latin typeface="Inconsolata"/>
              </a:rPr>
              <a:t> fastapi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FastAPI</a:t>
            </a:r>
          </a:p>
          <a:p>
            <a:pPr>
              <a:lnSpc>
                <a:spcPct val="104277"/>
              </a:lnSpc>
              <a:spcAft>
                <a:spcPts val="0"/>
              </a:spcAft>
            </a:pPr>
            <a:r>
              <a:rPr sz="719" i="0">
                <a:solidFill>
                  <a:srgbClr val="5C6773"/>
                </a:solidFill>
                <a:latin typeface="Inconsolata"/>
              </a:rPr>
              <a:t>13  </a:t>
            </a:r>
            <a:r>
              <a:rPr sz="719" i="0">
                <a:solidFill>
                  <a:srgbClr val="FF8E6E"/>
                </a:solidFill>
                <a:latin typeface="Inconsolata"/>
              </a:rPr>
              <a:t>from</a:t>
            </a:r>
            <a:r>
              <a:rPr sz="719" i="0">
                <a:solidFill>
                  <a:srgbClr val="E6EDF3"/>
                </a:solidFill>
                <a:latin typeface="Inconsolata"/>
              </a:rPr>
              <a:t> fastapi.testclient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TestClient</a:t>
            </a:r>
          </a:p>
          <a:p>
            <a:pPr>
              <a:lnSpc>
                <a:spcPct val="104277"/>
              </a:lnSpc>
              <a:spcAft>
                <a:spcPts val="0"/>
              </a:spcAft>
            </a:pPr>
            <a:r>
              <a:rPr sz="719" i="0">
                <a:solidFill>
                  <a:srgbClr val="5C6773"/>
                </a:solidFill>
                <a:latin typeface="Inconsolata"/>
              </a:rPr>
              <a:t>14  </a:t>
            </a:r>
            <a:r>
              <a:rPr sz="719" i="0">
                <a:solidFill>
                  <a:srgbClr val="E6EDF3"/>
                </a:solidFill>
                <a:latin typeface="Inconsolata"/>
              </a:rPr>
              <a:t> </a:t>
            </a:r>
          </a:p>
          <a:p>
            <a:pPr>
              <a:lnSpc>
                <a:spcPct val="104277"/>
              </a:lnSpc>
              <a:spcAft>
                <a:spcPts val="0"/>
              </a:spcAft>
            </a:pPr>
            <a:r>
              <a:rPr sz="719" i="0">
                <a:solidFill>
                  <a:srgbClr val="5C6773"/>
                </a:solidFill>
                <a:latin typeface="Inconsolata"/>
              </a:rPr>
              <a:t>15  </a:t>
            </a:r>
            <a:r>
              <a:rPr sz="719" i="0">
                <a:solidFill>
                  <a:srgbClr val="E6EDF3"/>
                </a:solidFill>
                <a:latin typeface="Inconsolata"/>
              </a:rPr>
              <a:t>db = sqlite3.connect(</a:t>
            </a:r>
            <a:r>
              <a:rPr sz="719" i="0">
                <a:solidFill>
                  <a:srgbClr val="A5D6A7"/>
                </a:solidFill>
                <a:latin typeface="Inconsolata"/>
              </a:rPr>
              <a:t>":memory:"</a:t>
            </a:r>
            <a:r>
              <a:rPr sz="719" i="0">
                <a:solidFill>
                  <a:srgbClr val="E6EDF3"/>
                </a:solidFill>
                <a:latin typeface="Inconsolata"/>
              </a:rPr>
              <a:t>, check_same_thread=</a:t>
            </a:r>
            <a:r>
              <a:rPr sz="719" i="0">
                <a:solidFill>
                  <a:srgbClr val="FF8E6E"/>
                </a:solidFill>
                <a:latin typeface="Inconsolata"/>
              </a:rPr>
              <a:t>False</a:t>
            </a:r>
            <a:r>
              <a:rPr sz="719" i="0">
                <a:solidFill>
                  <a:srgbClr val="E6EDF3"/>
                </a:solidFill>
                <a:latin typeface="Inconsolata"/>
              </a:rPr>
              <a:t>)</a:t>
            </a:r>
          </a:p>
          <a:p>
            <a:pPr>
              <a:lnSpc>
                <a:spcPct val="104277"/>
              </a:lnSpc>
              <a:spcAft>
                <a:spcPts val="0"/>
              </a:spcAft>
            </a:pPr>
            <a:r>
              <a:rPr sz="719" i="0">
                <a:solidFill>
                  <a:srgbClr val="5C6773"/>
                </a:solidFill>
                <a:latin typeface="Inconsolata"/>
              </a:rPr>
              <a:t>16  </a:t>
            </a:r>
            <a:r>
              <a:rPr sz="719" i="0">
                <a:solidFill>
                  <a:srgbClr val="E6EDF3"/>
                </a:solidFill>
                <a:latin typeface="Inconsolata"/>
              </a:rPr>
              <a:t>db.executescript(</a:t>
            </a:r>
            <a:r>
              <a:rPr sz="719" i="0">
                <a:solidFill>
                  <a:srgbClr val="A5D6A7"/>
                </a:solidFill>
                <a:latin typeface="Inconsolata"/>
              </a:rPr>
              <a:t>"""</a:t>
            </a:r>
          </a:p>
          <a:p>
            <a:pPr>
              <a:lnSpc>
                <a:spcPct val="104277"/>
              </a:lnSpc>
              <a:spcAft>
                <a:spcPts val="0"/>
              </a:spcAft>
            </a:pPr>
            <a:r>
              <a:rPr sz="719" i="0">
                <a:solidFill>
                  <a:srgbClr val="5C6773"/>
                </a:solidFill>
                <a:latin typeface="Inconsolata"/>
              </a:rPr>
              <a:t>17  </a:t>
            </a:r>
            <a:r>
              <a:rPr sz="719" i="0">
                <a:solidFill>
                  <a:srgbClr val="A5D6A7"/>
                </a:solidFill>
                <a:latin typeface="Inconsolata"/>
              </a:rPr>
              <a:t>CREATE TABLE products (name TEXT, price INT);</a:t>
            </a:r>
          </a:p>
          <a:p>
            <a:pPr>
              <a:lnSpc>
                <a:spcPct val="104277"/>
              </a:lnSpc>
              <a:spcAft>
                <a:spcPts val="0"/>
              </a:spcAft>
            </a:pPr>
            <a:r>
              <a:rPr sz="719" i="0">
                <a:solidFill>
                  <a:srgbClr val="5C6773"/>
                </a:solidFill>
                <a:latin typeface="Inconsolata"/>
              </a:rPr>
              <a:t>18  </a:t>
            </a:r>
            <a:r>
              <a:rPr sz="719" i="0">
                <a:solidFill>
                  <a:srgbClr val="A5D6A7"/>
                </a:solidFill>
                <a:latin typeface="Inconsolata"/>
              </a:rPr>
              <a:t>INSERT INTO products VALUES ('Keyboard', 500000), ('Mouse', 100000);</a:t>
            </a:r>
          </a:p>
          <a:p>
            <a:pPr>
              <a:lnSpc>
                <a:spcPct val="104277"/>
              </a:lnSpc>
              <a:spcAft>
                <a:spcPts val="0"/>
              </a:spcAft>
            </a:pPr>
            <a:r>
              <a:rPr sz="719" i="0">
                <a:solidFill>
                  <a:srgbClr val="5C6773"/>
                </a:solidFill>
                <a:latin typeface="Inconsolata"/>
              </a:rPr>
              <a:t>19  </a:t>
            </a:r>
            <a:r>
              <a:rPr sz="719" i="0">
                <a:solidFill>
                  <a:srgbClr val="A5D6A7"/>
                </a:solidFill>
                <a:latin typeface="Inconsolata"/>
              </a:rPr>
              <a:t>CREATE TABLE users (email TEXT, password_hash TEXT);</a:t>
            </a:r>
          </a:p>
          <a:p>
            <a:pPr>
              <a:lnSpc>
                <a:spcPct val="104277"/>
              </a:lnSpc>
              <a:spcAft>
                <a:spcPts val="0"/>
              </a:spcAft>
            </a:pPr>
            <a:r>
              <a:rPr sz="719" i="0">
                <a:solidFill>
                  <a:srgbClr val="5C6773"/>
                </a:solidFill>
                <a:latin typeface="Inconsolata"/>
              </a:rPr>
              <a:t>20  </a:t>
            </a:r>
            <a:r>
              <a:rPr sz="719" i="0">
                <a:solidFill>
                  <a:srgbClr val="A5D6A7"/>
                </a:solidFill>
                <a:latin typeface="Inconsolata"/>
              </a:rPr>
              <a:t>INSERT INTO users VALUES ('admin@toko.com', '$argon2id$v=19$m=65536');</a:t>
            </a:r>
          </a:p>
          <a:p>
            <a:pPr>
              <a:lnSpc>
                <a:spcPct val="104277"/>
              </a:lnSpc>
              <a:spcAft>
                <a:spcPts val="0"/>
              </a:spcAft>
            </a:pPr>
            <a:r>
              <a:rPr sz="719" i="0">
                <a:solidFill>
                  <a:srgbClr val="5C6773"/>
                </a:solidFill>
                <a:latin typeface="Inconsolata"/>
              </a:rPr>
              <a:t>21  </a:t>
            </a:r>
            <a:r>
              <a:rPr sz="719" i="0">
                <a:solidFill>
                  <a:srgbClr val="A5D6A7"/>
                </a:solidFill>
                <a:latin typeface="Inconsolata"/>
              </a:rPr>
              <a:t>"""</a:t>
            </a:r>
            <a:r>
              <a:rPr sz="719" i="0">
                <a:solidFill>
                  <a:srgbClr val="E6EDF3"/>
                </a:solidFill>
                <a:latin typeface="Inconsolata"/>
              </a:rPr>
              <a:t>)</a:t>
            </a:r>
          </a:p>
          <a:p>
            <a:pPr>
              <a:lnSpc>
                <a:spcPct val="104277"/>
              </a:lnSpc>
              <a:spcAft>
                <a:spcPts val="0"/>
              </a:spcAft>
            </a:pPr>
            <a:r>
              <a:rPr sz="719" i="0">
                <a:solidFill>
                  <a:srgbClr val="5C6773"/>
                </a:solidFill>
                <a:latin typeface="Inconsolata"/>
              </a:rPr>
              <a:t>22  </a:t>
            </a:r>
            <a:r>
              <a:rPr sz="719" i="0">
                <a:solidFill>
                  <a:srgbClr val="E6EDF3"/>
                </a:solidFill>
                <a:latin typeface="Inconsolata"/>
              </a:rPr>
              <a:t>app = </a:t>
            </a:r>
            <a:r>
              <a:rPr sz="719" i="0">
                <a:solidFill>
                  <a:srgbClr val="7FDBCA"/>
                </a:solidFill>
                <a:latin typeface="Inconsolata"/>
              </a:rPr>
              <a:t>FastAPI</a:t>
            </a:r>
            <a:r>
              <a:rPr sz="719"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02-injection/after.py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25  </a:t>
            </a:r>
            <a:r>
              <a:rPr sz="719" i="0">
                <a:solidFill>
                  <a:srgbClr val="F9C97A"/>
                </a:solidFill>
                <a:latin typeface="Inconsolata"/>
              </a:rPr>
              <a:t>@app.get</a:t>
            </a:r>
            <a:r>
              <a:rPr sz="719" i="0">
                <a:solidFill>
                  <a:srgbClr val="E6EDF3"/>
                </a:solidFill>
                <a:latin typeface="Inconsolata"/>
              </a:rPr>
              <a:t>(</a:t>
            </a:r>
            <a:r>
              <a:rPr sz="719" i="0">
                <a:solidFill>
                  <a:srgbClr val="A5D6A7"/>
                </a:solidFill>
                <a:latin typeface="Inconsolata"/>
              </a:rPr>
              <a:t>"/products/search"</a:t>
            </a:r>
            <a:r>
              <a:rPr sz="719" i="0">
                <a:solidFill>
                  <a:srgbClr val="E6EDF3"/>
                </a:solidFill>
                <a:latin typeface="Inconsolata"/>
              </a:rPr>
              <a:t>)</a:t>
            </a:r>
          </a:p>
          <a:p>
            <a:pPr>
              <a:lnSpc>
                <a:spcPct val="104277"/>
              </a:lnSpc>
              <a:spcAft>
                <a:spcPts val="0"/>
              </a:spcAft>
            </a:pPr>
            <a:r>
              <a:rPr sz="719" i="0">
                <a:solidFill>
                  <a:srgbClr val="5C6773"/>
                </a:solidFill>
                <a:latin typeface="Inconsolata"/>
              </a:rPr>
              <a:t>26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search</a:t>
            </a:r>
            <a:r>
              <a:rPr sz="719" i="0">
                <a:solidFill>
                  <a:srgbClr val="E6EDF3"/>
                </a:solidFill>
                <a:latin typeface="Inconsolata"/>
              </a:rPr>
              <a:t>(q: </a:t>
            </a:r>
            <a:r>
              <a:rPr sz="719" i="0">
                <a:solidFill>
                  <a:srgbClr val="C3A6FF"/>
                </a:solidFill>
                <a:latin typeface="Inconsolata"/>
              </a:rPr>
              <a:t>str</a:t>
            </a:r>
            <a:r>
              <a:rPr sz="719" i="0">
                <a:solidFill>
                  <a:srgbClr val="E6EDF3"/>
                </a:solidFill>
                <a:latin typeface="Inconsolata"/>
              </a:rPr>
              <a:t>):</a:t>
            </a:r>
          </a:p>
          <a:p>
            <a:pPr>
              <a:lnSpc>
                <a:spcPct val="104277"/>
              </a:lnSpc>
              <a:spcAft>
                <a:spcPts val="0"/>
              </a:spcAft>
            </a:pPr>
            <a:r>
              <a:rPr sz="719" i="0">
                <a:solidFill>
                  <a:srgbClr val="5C6773"/>
                </a:solidFill>
                <a:latin typeface="Inconsolata"/>
              </a:rPr>
              <a:t>27  </a:t>
            </a:r>
            <a:r>
              <a:rPr sz="719" i="0">
                <a:solidFill>
                  <a:srgbClr val="E6EDF3"/>
                </a:solidFill>
                <a:latin typeface="Inconsolata"/>
              </a:rPr>
              <a:t>    sql = </a:t>
            </a:r>
            <a:r>
              <a:rPr sz="719" i="0">
                <a:solidFill>
                  <a:srgbClr val="A5D6A7"/>
                </a:solidFill>
                <a:latin typeface="Inconsolata"/>
              </a:rPr>
              <a:t>"SELECT name, price FROM products WHERE name LIKE ?"</a:t>
            </a:r>
          </a:p>
          <a:p>
            <a:pPr>
              <a:lnSpc>
                <a:spcPct val="104277"/>
              </a:lnSpc>
              <a:spcAft>
                <a:spcPts val="0"/>
              </a:spcAft>
            </a:pPr>
            <a:r>
              <a:rPr sz="719" i="0">
                <a:solidFill>
                  <a:srgbClr val="5C6773"/>
                </a:solidFill>
                <a:latin typeface="Inconsolata"/>
              </a:rPr>
              <a:t>28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db.execute(sql, (</a:t>
            </a:r>
            <a:r>
              <a:rPr sz="719" i="0">
                <a:solidFill>
                  <a:srgbClr val="A5D6A7"/>
                </a:solidFill>
                <a:latin typeface="Inconsolata"/>
              </a:rPr>
              <a:t>f"%{q}%"</a:t>
            </a:r>
            <a:r>
              <a:rPr sz="719" i="0">
                <a:solidFill>
                  <a:srgbClr val="E6EDF3"/>
                </a:solidFill>
                <a:latin typeface="Inconsolata"/>
              </a:rPr>
              <a:t>,)).fetchall()</a:t>
            </a:r>
          </a:p>
          <a:p>
            <a:pPr>
              <a:lnSpc>
                <a:spcPct val="104277"/>
              </a:lnSpc>
              <a:spcAft>
                <a:spcPts val="0"/>
              </a:spcAft>
            </a:pPr>
            <a:r>
              <a:rPr sz="719" i="0">
                <a:solidFill>
                  <a:srgbClr val="5C6773"/>
                </a:solidFill>
                <a:latin typeface="Inconsolata"/>
              </a:rPr>
              <a:t>29  </a:t>
            </a:r>
            <a:r>
              <a:rPr sz="719" i="0">
                <a:solidFill>
                  <a:srgbClr val="E6EDF3"/>
                </a:solidFill>
                <a:latin typeface="Inconsolata"/>
              </a:rPr>
              <a:t> </a:t>
            </a:r>
          </a:p>
          <a:p>
            <a:pPr>
              <a:lnSpc>
                <a:spcPct val="104277"/>
              </a:lnSpc>
              <a:spcAft>
                <a:spcPts val="0"/>
              </a:spcAft>
            </a:pPr>
            <a:r>
              <a:rPr sz="719" i="0">
                <a:solidFill>
                  <a:srgbClr val="5C6773"/>
                </a:solidFill>
                <a:latin typeface="Inconsolata"/>
              </a:rPr>
              <a:t>30  </a:t>
            </a:r>
            <a:r>
              <a:rPr sz="719" i="0">
                <a:solidFill>
                  <a:srgbClr val="E6EDF3"/>
                </a:solidFill>
                <a:latin typeface="Inconsolata"/>
              </a:rPr>
              <a:t> </a:t>
            </a:r>
          </a:p>
          <a:p>
            <a:pPr>
              <a:lnSpc>
                <a:spcPct val="104277"/>
              </a:lnSpc>
              <a:spcAft>
                <a:spcPts val="0"/>
              </a:spcAft>
            </a:pPr>
            <a:r>
              <a:rPr sz="719" i="0">
                <a:solidFill>
                  <a:srgbClr val="5C6773"/>
                </a:solidFill>
                <a:latin typeface="Inconsolata"/>
              </a:rPr>
              <a:t>31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32  </a:t>
            </a:r>
            <a:r>
              <a:rPr sz="719" i="0">
                <a:solidFill>
                  <a:srgbClr val="E6EDF3"/>
                </a:solidFill>
                <a:latin typeface="Inconsolata"/>
              </a:rPr>
              <a:t>    client = </a:t>
            </a:r>
            <a:r>
              <a:rPr sz="719" i="0">
                <a:solidFill>
                  <a:srgbClr val="7FDBCA"/>
                </a:solidFill>
                <a:latin typeface="Inconsolata"/>
              </a:rPr>
              <a:t>TestClient</a:t>
            </a:r>
            <a:r>
              <a:rPr sz="719" i="0">
                <a:solidFill>
                  <a:srgbClr val="E6EDF3"/>
                </a:solidFill>
                <a:latin typeface="Inconsolata"/>
              </a:rPr>
              <a:t>(app)</a:t>
            </a:r>
          </a:p>
          <a:p>
            <a:pPr>
              <a:lnSpc>
                <a:spcPct val="104277"/>
              </a:lnSpc>
              <a:spcAft>
                <a:spcPts val="0"/>
              </a:spcAft>
            </a:pPr>
            <a:r>
              <a:rPr sz="719" i="0">
                <a:solidFill>
                  <a:srgbClr val="5C6773"/>
                </a:solidFill>
                <a:latin typeface="Inconsolata"/>
              </a:rPr>
              <a:t>33  </a:t>
            </a:r>
            <a:r>
              <a:rPr sz="719" i="0">
                <a:solidFill>
                  <a:srgbClr val="E6EDF3"/>
                </a:solidFill>
                <a:latin typeface="Inconsolata"/>
              </a:rPr>
              <a:t>    attack = </a:t>
            </a:r>
            <a:r>
              <a:rPr sz="719" i="0">
                <a:solidFill>
                  <a:srgbClr val="A5D6A7"/>
                </a:solidFill>
                <a:latin typeface="Inconsolata"/>
              </a:rPr>
              <a:t>"x' UNION SELECT email, password_hash FROM users --"</a:t>
            </a:r>
          </a:p>
          <a:p>
            <a:pPr>
              <a:lnSpc>
                <a:spcPct val="104277"/>
              </a:lnSpc>
              <a:spcAft>
                <a:spcPts val="0"/>
              </a:spcAft>
            </a:pPr>
            <a:r>
              <a:rPr sz="719" i="0">
                <a:solidFill>
                  <a:srgbClr val="5C6773"/>
                </a:solidFill>
                <a:latin typeface="Inconsolata"/>
              </a:rPr>
              <a:t>34  </a:t>
            </a:r>
            <a:r>
              <a:rPr sz="719" i="0">
                <a:solidFill>
                  <a:srgbClr val="E6EDF3"/>
                </a:solidFill>
                <a:latin typeface="Inconsolata"/>
              </a:rPr>
              <a:t>    </a:t>
            </a:r>
            <a:r>
              <a:rPr sz="719" i="0">
                <a:solidFill>
                  <a:srgbClr val="FF8E6E"/>
                </a:solidFill>
                <a:latin typeface="Inconsolata"/>
              </a:rPr>
              <a:t>for</a:t>
            </a:r>
            <a:r>
              <a:rPr sz="719" i="0">
                <a:solidFill>
                  <a:srgbClr val="E6EDF3"/>
                </a:solidFill>
                <a:latin typeface="Inconsolata"/>
              </a:rPr>
              <a:t> q </a:t>
            </a:r>
            <a:r>
              <a:rPr sz="719" i="0">
                <a:solidFill>
                  <a:srgbClr val="FF8E6E"/>
                </a:solidFill>
                <a:latin typeface="Inconsolata"/>
              </a:rPr>
              <a:t>in</a:t>
            </a:r>
            <a:r>
              <a:rPr sz="719" i="0">
                <a:solidFill>
                  <a:srgbClr val="E6EDF3"/>
                </a:solidFill>
                <a:latin typeface="Inconsolata"/>
              </a:rPr>
              <a:t> [</a:t>
            </a:r>
            <a:r>
              <a:rPr sz="719" i="0">
                <a:solidFill>
                  <a:srgbClr val="A5D6A7"/>
                </a:solidFill>
                <a:latin typeface="Inconsolata"/>
              </a:rPr>
              <a:t>"key"</a:t>
            </a:r>
            <a:r>
              <a:rPr sz="719" i="0">
                <a:solidFill>
                  <a:srgbClr val="E6EDF3"/>
                </a:solidFill>
                <a:latin typeface="Inconsolata"/>
              </a:rPr>
              <a:t>, attack]:</a:t>
            </a:r>
          </a:p>
          <a:p>
            <a:pPr>
              <a:lnSpc>
                <a:spcPct val="104277"/>
              </a:lnSpc>
              <a:spcAft>
                <a:spcPts val="0"/>
              </a:spcAft>
            </a:pPr>
            <a:r>
              <a:rPr sz="719" i="0">
                <a:solidFill>
                  <a:srgbClr val="5C6773"/>
                </a:solidFill>
                <a:latin typeface="Inconsolata"/>
              </a:rPr>
              <a:t>35  </a:t>
            </a:r>
            <a:r>
              <a:rPr sz="719" i="0">
                <a:solidFill>
                  <a:srgbClr val="E6EDF3"/>
                </a:solidFill>
                <a:latin typeface="Inconsolata"/>
              </a:rPr>
              <a:t>        response = client.get(</a:t>
            </a:r>
            <a:r>
              <a:rPr sz="719" i="0">
                <a:solidFill>
                  <a:srgbClr val="A5D6A7"/>
                </a:solidFill>
                <a:latin typeface="Inconsolata"/>
              </a:rPr>
              <a:t>"/products/search"</a:t>
            </a:r>
            <a:r>
              <a:rPr sz="719" i="0">
                <a:solidFill>
                  <a:srgbClr val="E6EDF3"/>
                </a:solidFill>
                <a:latin typeface="Inconsolata"/>
              </a:rPr>
              <a:t>, params={</a:t>
            </a:r>
            <a:r>
              <a:rPr sz="719" i="0">
                <a:solidFill>
                  <a:srgbClr val="A5D6A7"/>
                </a:solidFill>
                <a:latin typeface="Inconsolata"/>
              </a:rPr>
              <a:t>"q"</a:t>
            </a:r>
            <a:r>
              <a:rPr sz="719" i="0">
                <a:solidFill>
                  <a:srgbClr val="E6EDF3"/>
                </a:solidFill>
                <a:latin typeface="Inconsolata"/>
              </a:rPr>
              <a:t>: q})</a:t>
            </a:r>
          </a:p>
          <a:p>
            <a:pPr>
              <a:lnSpc>
                <a:spcPct val="104277"/>
              </a:lnSpc>
              <a:spcAft>
                <a:spcPts val="0"/>
              </a:spcAft>
            </a:pPr>
            <a:r>
              <a:rPr sz="719" i="0">
                <a:solidFill>
                  <a:srgbClr val="5C6773"/>
                </a:solidFill>
                <a:latin typeface="Inconsolata"/>
              </a:rPr>
              <a:t>36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f"q = {q!r}\n  -&gt; {response.json()}"</a:t>
            </a:r>
            <a:r>
              <a:rPr sz="719" i="0">
                <a:solidFill>
                  <a:srgbClr val="E6EDF3"/>
                </a:solidFill>
                <a:latin typeface="Inconsolata"/>
              </a:rPr>
              <a:t>)</a:t>
            </a:r>
          </a:p>
        </p:txBody>
      </p:sp>
      <p:sp>
        <p:nvSpPr>
          <p:cNvPr id="36" name="Box 21"/>
          <p:cNvSpPr/>
          <p:nvPr/>
        </p:nvSpPr>
        <p:spPr>
          <a:xfrm>
            <a:off x="4709159" y="2053971"/>
            <a:ext cx="3694176" cy="221742"/>
          </a:xfrm>
          <a:prstGeom prst="roundRect">
            <a:avLst>
              <a:gd name="adj" fmla="val 20618"/>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8284463" y="20459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Injection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02-injection/after.py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sesi-10-api-security/02-injection</a:t>
            </a:r>
          </a:p>
          <a:p>
            <a:pPr>
              <a:lnSpc>
                <a:spcPct val="111111"/>
              </a:lnSpc>
              <a:spcAft>
                <a:spcPts val="0"/>
              </a:spcAft>
            </a:pPr>
            <a:r>
              <a:rPr sz="900" i="0">
                <a:solidFill>
                  <a:srgbClr val="82B1FF"/>
                </a:solidFill>
                <a:latin typeface="Inconsolata"/>
              </a:rPr>
              <a:t>$ python after.py</a:t>
            </a:r>
          </a:p>
        </p:txBody>
      </p:sp>
      <p:pic>
        <p:nvPicPr>
          <p:cNvPr id="29" name="Image 12" descr="s10-02-injection-after.png"/>
          <p:cNvPicPr>
            <a:picLocks noChangeAspect="1"/>
          </p:cNvPicPr>
          <p:nvPr/>
        </p:nvPicPr>
        <p:blipFill>
          <a:blip r:embed="rId2"/>
          <a:stretch>
            <a:fillRect/>
          </a:stretch>
        </p:blipFill>
        <p:spPr>
          <a:xfrm>
            <a:off x="621792" y="2322576"/>
            <a:ext cx="4297680" cy="904775"/>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SQL memakai placeholder </a:t>
            </a:r>
            <a:r>
              <a:rPr sz="950" b="0" i="0">
                <a:solidFill>
                  <a:srgbClr val="B5482A"/>
                </a:solidFill>
                <a:latin typeface="Inconsolata"/>
              </a:rPr>
              <a:t>?</a:t>
            </a:r>
            <a:r>
              <a:rPr sz="950" b="0" i="0">
                <a:solidFill>
                  <a:srgbClr val="434343"/>
                </a:solidFill>
                <a:latin typeface="Inter"/>
              </a:rPr>
              <a:t>, nilai dari user dikirim terpisah sebagai data (baris 27-28)</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Input yang sama hanya dicari sebagai teks biasa, hasilnya kosong.</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Misconfiguration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Security Misconfiguration?</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Security misconfiguration adalah</a:t>
            </a:r>
          </a:p>
          <a:p>
            <a:pPr algn="l">
              <a:lnSpc>
                <a:spcPct val="115000"/>
              </a:lnSpc>
              <a:spcAft>
                <a:spcPts val="400"/>
              </a:spcAft>
            </a:pPr>
            <a:r>
              <a:rPr sz="900" b="0" i="0">
                <a:solidFill>
                  <a:srgbClr val="434343"/>
                </a:solidFill>
                <a:latin typeface="Inter"/>
              </a:rPr>
              <a:t>Celah keamanan yang muncul dari setting, bukan dari kode fitur. Contohnya mode debug yang terbawa ke production, dokumentasi API yang terbuka untuk umum, atau CORS yang mengizinkan semua website.</a:t>
            </a:r>
          </a:p>
          <a:p>
            <a:pPr algn="l">
              <a:lnSpc>
                <a:spcPct val="115000"/>
              </a:lnSpc>
              <a:spcAft>
                <a:spcPts val="400"/>
              </a:spcAft>
            </a:pPr>
            <a:r>
              <a:rPr sz="1000" b="1" i="0">
                <a:solidFill>
                  <a:srgbClr val="1C4587"/>
                </a:solidFill>
                <a:latin typeface="Inter"/>
              </a:rPr>
              <a:t>Untuk apa dicegah</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Mencegah detail internal (traceback, password, struktur) terlihat penyerang</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Membatasi siapa yang boleh memanggil API dari browser</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setting development: 03-security-misconfiguration/before.py</a:t>
            </a:r>
          </a:p>
        </p:txBody>
      </p:sp>
      <p:sp>
        <p:nvSpPr>
          <p:cNvPr id="28" name="CodeBg 11"/>
          <p:cNvSpPr/>
          <p:nvPr/>
        </p:nvSpPr>
        <p:spPr>
          <a:xfrm>
            <a:off x="4297680" y="1719072"/>
            <a:ext cx="4187951" cy="1133856"/>
          </a:xfrm>
          <a:prstGeom prst="roundRect">
            <a:avLst>
              <a:gd name="adj" fmla="val 1612"/>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1133856"/>
          </a:xfrm>
          <a:prstGeom prst="rect">
            <a:avLst/>
          </a:prstGeom>
          <a:noFill/>
        </p:spPr>
        <p:txBody>
          <a:bodyPr wrap="none" lIns="146304" tIns="91440" rIns="146304" bIns="54864">
            <a:spAutoFit/>
          </a:bodyPr>
          <a:lstStyle/>
          <a:p>
            <a:pPr>
              <a:lnSpc>
                <a:spcPct val="111111"/>
              </a:lnSpc>
              <a:spcAft>
                <a:spcPts val="0"/>
              </a:spcAft>
            </a:pPr>
            <a:r>
              <a:rPr sz="750" i="0">
                <a:solidFill>
                  <a:srgbClr val="E6EDF3"/>
                </a:solidFill>
                <a:latin typeface="Inconsolata"/>
              </a:rPr>
              <a:t>app = </a:t>
            </a:r>
            <a:r>
              <a:rPr sz="750" i="0">
                <a:solidFill>
                  <a:srgbClr val="7FDBCA"/>
                </a:solidFill>
                <a:latin typeface="Inconsolata"/>
              </a:rPr>
              <a:t>FastAPI</a:t>
            </a:r>
            <a:r>
              <a:rPr sz="750" i="0">
                <a:solidFill>
                  <a:srgbClr val="E6EDF3"/>
                </a:solidFill>
                <a:latin typeface="Inconsolata"/>
              </a:rPr>
              <a:t>(debug=</a:t>
            </a:r>
            <a:r>
              <a:rPr sz="750" i="0">
                <a:solidFill>
                  <a:srgbClr val="FF8E6E"/>
                </a:solidFill>
                <a:latin typeface="Inconsolata"/>
              </a:rPr>
              <a:t>True</a:t>
            </a:r>
            <a:r>
              <a:rPr sz="750" i="0">
                <a:solidFill>
                  <a:srgbClr val="E6EDF3"/>
                </a:solidFill>
                <a:latin typeface="Inconsolata"/>
              </a:rPr>
              <a:t>)</a:t>
            </a:r>
          </a:p>
          <a:p>
            <a:pPr>
              <a:lnSpc>
                <a:spcPct val="111111"/>
              </a:lnSpc>
              <a:spcAft>
                <a:spcPts val="0"/>
              </a:spcAft>
            </a:pPr>
            <a:r>
              <a:rPr sz="750" i="0">
                <a:solidFill>
                  <a:srgbClr val="E6EDF3"/>
                </a:solidFill>
                <a:latin typeface="Inconsolata"/>
              </a:rPr>
              <a:t>app.add_middleware(</a:t>
            </a:r>
            <a:r>
              <a:rPr sz="750" i="0">
                <a:solidFill>
                  <a:srgbClr val="7FDBCA"/>
                </a:solidFill>
                <a:latin typeface="Inconsolata"/>
              </a:rPr>
              <a:t>CORSMiddleware</a:t>
            </a:r>
            <a:r>
              <a:rPr sz="750" i="0">
                <a:solidFill>
                  <a:srgbClr val="E6EDF3"/>
                </a:solidFill>
                <a:latin typeface="Inconsolata"/>
              </a:rPr>
              <a:t>, allow_origins=[</a:t>
            </a:r>
            <a:r>
              <a:rPr sz="750" i="0">
                <a:solidFill>
                  <a:srgbClr val="A5D6A7"/>
                </a:solidFill>
                <a:latin typeface="Inconsolata"/>
              </a:rPr>
              <a:t>"*"</a:t>
            </a:r>
            <a:r>
              <a:rPr sz="750" i="0">
                <a:solidFill>
                  <a:srgbClr val="E6EDF3"/>
                </a:solidFill>
                <a:latin typeface="Inconsolata"/>
              </a:rPr>
              <a:t>],</a:t>
            </a:r>
          </a:p>
          <a:p>
            <a:pPr>
              <a:lnSpc>
                <a:spcPct val="111111"/>
              </a:lnSpc>
              <a:spcAft>
                <a:spcPts val="0"/>
              </a:spcAft>
            </a:pPr>
            <a:r>
              <a:rPr sz="750" i="0">
                <a:solidFill>
                  <a:srgbClr val="E6EDF3"/>
                </a:solidFill>
                <a:latin typeface="Inconsolata"/>
              </a:rPr>
              <a:t>                   allow_methods=[</a:t>
            </a:r>
            <a:r>
              <a:rPr sz="750" i="0">
                <a:solidFill>
                  <a:srgbClr val="A5D6A7"/>
                </a:solidFill>
                <a:latin typeface="Inconsolata"/>
              </a:rPr>
              <a:t>"*"</a:t>
            </a:r>
            <a:r>
              <a:rPr sz="750" i="0">
                <a:solidFill>
                  <a:srgbClr val="E6EDF3"/>
                </a:solidFill>
                <a:latin typeface="Inconsolata"/>
              </a:rPr>
              <a:t>], allow_headers=[</a:t>
            </a:r>
            <a:r>
              <a:rPr sz="750" i="0">
                <a:solidFill>
                  <a:srgbClr val="A5D6A7"/>
                </a:solidFill>
                <a:latin typeface="Inconsolata"/>
              </a:rPr>
              <a:t>"*"</a:t>
            </a:r>
            <a:r>
              <a:rPr sz="750" i="0">
                <a:solidFill>
                  <a:srgbClr val="E6EDF3"/>
                </a:solidFill>
                <a:latin typeface="Inconsolata"/>
              </a:rPr>
              <a:t>])</a:t>
            </a:r>
          </a:p>
        </p:txBody>
      </p:sp>
      <p:sp>
        <p:nvSpPr>
          <p:cNvPr id="30" name="Box 13"/>
          <p:cNvSpPr/>
          <p:nvPr/>
        </p:nvSpPr>
        <p:spPr>
          <a:xfrm>
            <a:off x="4379976" y="1827022"/>
            <a:ext cx="4023359"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Box 14"/>
          <p:cNvSpPr/>
          <p:nvPr/>
        </p:nvSpPr>
        <p:spPr>
          <a:xfrm>
            <a:off x="4379976" y="1954022"/>
            <a:ext cx="4023359"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CodeTab 16"/>
          <p:cNvSpPr/>
          <p:nvPr/>
        </p:nvSpPr>
        <p:spPr>
          <a:xfrm>
            <a:off x="4297680" y="294436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3" name="Dot 17"/>
          <p:cNvSpPr/>
          <p:nvPr/>
        </p:nvSpPr>
        <p:spPr>
          <a:xfrm>
            <a:off x="4407408" y="302209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544568" y="302209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Dot 19"/>
          <p:cNvSpPr/>
          <p:nvPr/>
        </p:nvSpPr>
        <p:spPr>
          <a:xfrm>
            <a:off x="4681728" y="302209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 20"/>
          <p:cNvSpPr txBox="1"/>
          <p:nvPr/>
        </p:nvSpPr>
        <p:spPr>
          <a:xfrm>
            <a:off x="4846320" y="295351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setting production: 03-security-misconfiguration/after.py</a:t>
            </a:r>
          </a:p>
        </p:txBody>
      </p:sp>
      <p:sp>
        <p:nvSpPr>
          <p:cNvPr id="37" name="CodeBg 22"/>
          <p:cNvSpPr/>
          <p:nvPr/>
        </p:nvSpPr>
        <p:spPr>
          <a:xfrm>
            <a:off x="4297680" y="3182112"/>
            <a:ext cx="4187951" cy="1517903"/>
          </a:xfrm>
          <a:prstGeom prst="roundRect">
            <a:avLst>
              <a:gd name="adj" fmla="val 1204"/>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Code 23"/>
          <p:cNvSpPr txBox="1"/>
          <p:nvPr/>
        </p:nvSpPr>
        <p:spPr>
          <a:xfrm>
            <a:off x="4297680" y="3182112"/>
            <a:ext cx="4187951" cy="1517903"/>
          </a:xfrm>
          <a:prstGeom prst="rect">
            <a:avLst/>
          </a:prstGeom>
          <a:noFill/>
        </p:spPr>
        <p:txBody>
          <a:bodyPr wrap="none" lIns="146304" tIns="91440" rIns="146304" bIns="54864">
            <a:spAutoFit/>
          </a:bodyPr>
          <a:lstStyle/>
          <a:p>
            <a:pPr>
              <a:lnSpc>
                <a:spcPct val="111111"/>
              </a:lnSpc>
              <a:spcAft>
                <a:spcPts val="0"/>
              </a:spcAft>
            </a:pPr>
            <a:r>
              <a:rPr sz="750" i="0">
                <a:solidFill>
                  <a:srgbClr val="E6EDF3"/>
                </a:solidFill>
                <a:latin typeface="Inconsolata"/>
              </a:rPr>
              <a:t>docs = </a:t>
            </a:r>
            <a:r>
              <a:rPr sz="750" i="0">
                <a:solidFill>
                  <a:srgbClr val="A5D6A7"/>
                </a:solidFill>
                <a:latin typeface="Inconsolata"/>
              </a:rPr>
              <a:t>"/docs"</a:t>
            </a:r>
            <a:r>
              <a:rPr sz="750" i="0">
                <a:solidFill>
                  <a:srgbClr val="E6EDF3"/>
                </a:solidFill>
                <a:latin typeface="Inconsolata"/>
              </a:rPr>
              <a:t> </a:t>
            </a:r>
            <a:r>
              <a:rPr sz="750" i="0">
                <a:solidFill>
                  <a:srgbClr val="FF8E6E"/>
                </a:solidFill>
                <a:latin typeface="Inconsolata"/>
              </a:rPr>
              <a:t>if</a:t>
            </a:r>
            <a:r>
              <a:rPr sz="750" i="0">
                <a:solidFill>
                  <a:srgbClr val="E6EDF3"/>
                </a:solidFill>
                <a:latin typeface="Inconsolata"/>
              </a:rPr>
              <a:t> </a:t>
            </a:r>
            <a:r>
              <a:rPr sz="750" i="0">
                <a:solidFill>
                  <a:srgbClr val="7FDBCA"/>
                </a:solidFill>
                <a:latin typeface="Inconsolata"/>
              </a:rPr>
              <a:t>ENV</a:t>
            </a:r>
            <a:r>
              <a:rPr sz="750" i="0">
                <a:solidFill>
                  <a:srgbClr val="E6EDF3"/>
                </a:solidFill>
                <a:latin typeface="Inconsolata"/>
              </a:rPr>
              <a:t> == </a:t>
            </a:r>
            <a:r>
              <a:rPr sz="750" i="0">
                <a:solidFill>
                  <a:srgbClr val="A5D6A7"/>
                </a:solidFill>
                <a:latin typeface="Inconsolata"/>
              </a:rPr>
              <a:t>"development"</a:t>
            </a:r>
            <a:r>
              <a:rPr sz="750" i="0">
                <a:solidFill>
                  <a:srgbClr val="E6EDF3"/>
                </a:solidFill>
                <a:latin typeface="Inconsolata"/>
              </a:rPr>
              <a:t> </a:t>
            </a:r>
            <a:r>
              <a:rPr sz="750" i="0">
                <a:solidFill>
                  <a:srgbClr val="FF8E6E"/>
                </a:solidFill>
                <a:latin typeface="Inconsolata"/>
              </a:rPr>
              <a:t>else</a:t>
            </a:r>
            <a:r>
              <a:rPr sz="750" i="0">
                <a:solidFill>
                  <a:srgbClr val="E6EDF3"/>
                </a:solidFill>
                <a:latin typeface="Inconsolata"/>
              </a:rPr>
              <a:t> </a:t>
            </a:r>
            <a:r>
              <a:rPr sz="750" i="0">
                <a:solidFill>
                  <a:srgbClr val="FF8E6E"/>
                </a:solidFill>
                <a:latin typeface="Inconsolata"/>
              </a:rPr>
              <a:t>None</a:t>
            </a:r>
          </a:p>
          <a:p>
            <a:pPr>
              <a:lnSpc>
                <a:spcPct val="111111"/>
              </a:lnSpc>
              <a:spcAft>
                <a:spcPts val="0"/>
              </a:spcAft>
            </a:pPr>
            <a:r>
              <a:rPr sz="750" i="0">
                <a:solidFill>
                  <a:srgbClr val="E6EDF3"/>
                </a:solidFill>
                <a:latin typeface="Inconsolata"/>
              </a:rPr>
              <a:t>openapi = </a:t>
            </a:r>
            <a:r>
              <a:rPr sz="750" i="0">
                <a:solidFill>
                  <a:srgbClr val="A5D6A7"/>
                </a:solidFill>
                <a:latin typeface="Inconsolata"/>
              </a:rPr>
              <a:t>"/openapi.json"</a:t>
            </a:r>
            <a:r>
              <a:rPr sz="750" i="0">
                <a:solidFill>
                  <a:srgbClr val="E6EDF3"/>
                </a:solidFill>
                <a:latin typeface="Inconsolata"/>
              </a:rPr>
              <a:t> </a:t>
            </a:r>
            <a:r>
              <a:rPr sz="750" i="0">
                <a:solidFill>
                  <a:srgbClr val="FF8E6E"/>
                </a:solidFill>
                <a:latin typeface="Inconsolata"/>
              </a:rPr>
              <a:t>if</a:t>
            </a:r>
            <a:r>
              <a:rPr sz="750" i="0">
                <a:solidFill>
                  <a:srgbClr val="E6EDF3"/>
                </a:solidFill>
                <a:latin typeface="Inconsolata"/>
              </a:rPr>
              <a:t> </a:t>
            </a:r>
            <a:r>
              <a:rPr sz="750" i="0">
                <a:solidFill>
                  <a:srgbClr val="7FDBCA"/>
                </a:solidFill>
                <a:latin typeface="Inconsolata"/>
              </a:rPr>
              <a:t>ENV</a:t>
            </a:r>
            <a:r>
              <a:rPr sz="750" i="0">
                <a:solidFill>
                  <a:srgbClr val="E6EDF3"/>
                </a:solidFill>
                <a:latin typeface="Inconsolata"/>
              </a:rPr>
              <a:t> == </a:t>
            </a:r>
            <a:r>
              <a:rPr sz="750" i="0">
                <a:solidFill>
                  <a:srgbClr val="A5D6A7"/>
                </a:solidFill>
                <a:latin typeface="Inconsolata"/>
              </a:rPr>
              <a:t>"development"</a:t>
            </a:r>
            <a:r>
              <a:rPr sz="750" i="0">
                <a:solidFill>
                  <a:srgbClr val="E6EDF3"/>
                </a:solidFill>
                <a:latin typeface="Inconsolata"/>
              </a:rPr>
              <a:t> </a:t>
            </a:r>
            <a:r>
              <a:rPr sz="750" i="0">
                <a:solidFill>
                  <a:srgbClr val="FF8E6E"/>
                </a:solidFill>
                <a:latin typeface="Inconsolata"/>
              </a:rPr>
              <a:t>else</a:t>
            </a:r>
            <a:r>
              <a:rPr sz="750" i="0">
                <a:solidFill>
                  <a:srgbClr val="E6EDF3"/>
                </a:solidFill>
                <a:latin typeface="Inconsolata"/>
              </a:rPr>
              <a:t> </a:t>
            </a:r>
            <a:r>
              <a:rPr sz="750" i="0">
                <a:solidFill>
                  <a:srgbClr val="FF8E6E"/>
                </a:solidFill>
                <a:latin typeface="Inconsolata"/>
              </a:rPr>
              <a:t>None</a:t>
            </a:r>
          </a:p>
          <a:p>
            <a:pPr>
              <a:lnSpc>
                <a:spcPct val="111111"/>
              </a:lnSpc>
              <a:spcAft>
                <a:spcPts val="0"/>
              </a:spcAft>
            </a:pPr>
            <a:r>
              <a:rPr sz="750" i="0">
                <a:solidFill>
                  <a:srgbClr val="E6EDF3"/>
                </a:solidFill>
                <a:latin typeface="Inconsolata"/>
              </a:rPr>
              <a:t>app = </a:t>
            </a:r>
            <a:r>
              <a:rPr sz="750" i="0">
                <a:solidFill>
                  <a:srgbClr val="7FDBCA"/>
                </a:solidFill>
                <a:latin typeface="Inconsolata"/>
              </a:rPr>
              <a:t>FastAPI</a:t>
            </a:r>
            <a:r>
              <a:rPr sz="750" i="0">
                <a:solidFill>
                  <a:srgbClr val="E6EDF3"/>
                </a:solidFill>
                <a:latin typeface="Inconsolata"/>
              </a:rPr>
              <a:t>(docs_url=docs, redoc_url=</a:t>
            </a:r>
            <a:r>
              <a:rPr sz="750" i="0">
                <a:solidFill>
                  <a:srgbClr val="FF8E6E"/>
                </a:solidFill>
                <a:latin typeface="Inconsolata"/>
              </a:rPr>
              <a:t>None</a:t>
            </a:r>
            <a:r>
              <a:rPr sz="750" i="0">
                <a:solidFill>
                  <a:srgbClr val="E6EDF3"/>
                </a:solidFill>
                <a:latin typeface="Inconsolata"/>
              </a:rPr>
              <a:t>, openapi_url=openapi)</a:t>
            </a:r>
          </a:p>
          <a:p>
            <a:pPr>
              <a:lnSpc>
                <a:spcPct val="111111"/>
              </a:lnSpc>
              <a:spcAft>
                <a:spcPts val="0"/>
              </a:spcAft>
            </a:pPr>
            <a:r>
              <a:rPr sz="750" i="0">
                <a:solidFill>
                  <a:srgbClr val="E6EDF3"/>
                </a:solidFill>
                <a:latin typeface="Inconsolata"/>
              </a:rPr>
              <a:t>app.add_middleware(</a:t>
            </a:r>
            <a:r>
              <a:rPr sz="750" i="0">
                <a:solidFill>
                  <a:srgbClr val="7FDBCA"/>
                </a:solidFill>
                <a:latin typeface="Inconsolata"/>
              </a:rPr>
              <a:t>CORSMiddleware</a:t>
            </a:r>
            <a:r>
              <a:rPr sz="750" i="0">
                <a:solidFill>
                  <a:srgbClr val="E6EDF3"/>
                </a:solidFill>
                <a:latin typeface="Inconsolata"/>
              </a:rPr>
              <a:t>, allow_origins=</a:t>
            </a:r>
            <a:r>
              <a:rPr sz="750" i="0">
                <a:solidFill>
                  <a:srgbClr val="7FDBCA"/>
                </a:solidFill>
                <a:latin typeface="Inconsolata"/>
              </a:rPr>
              <a:t>FRONTEND</a:t>
            </a:r>
            <a:r>
              <a:rPr sz="750" i="0">
                <a:solidFill>
                  <a:srgbClr val="E6EDF3"/>
                </a:solidFill>
                <a:latin typeface="Inconsolata"/>
              </a:rPr>
              <a:t>,</a:t>
            </a:r>
          </a:p>
        </p:txBody>
      </p:sp>
      <p:sp>
        <p:nvSpPr>
          <p:cNvPr id="39" name="Box 24"/>
          <p:cNvSpPr/>
          <p:nvPr/>
        </p:nvSpPr>
        <p:spPr>
          <a:xfrm>
            <a:off x="4379976" y="3290062"/>
            <a:ext cx="4023359" cy="373380"/>
          </a:xfrm>
          <a:prstGeom prst="roundRect">
            <a:avLst>
              <a:gd name="adj" fmla="val 1224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0" name="Box 25"/>
          <p:cNvSpPr/>
          <p:nvPr/>
        </p:nvSpPr>
        <p:spPr>
          <a:xfrm>
            <a:off x="4379976" y="3671062"/>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Misconfiguration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memisahkan Setting Production?</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Dengan setting development</a:t>
            </a:r>
          </a:p>
          <a:p>
            <a:pPr algn="l">
              <a:lnSpc>
                <a:spcPct val="115000"/>
              </a:lnSpc>
              <a:spcAft>
                <a:spcPts val="400"/>
              </a:spcAft>
            </a:pPr>
            <a:r>
              <a:rPr sz="950" b="0" i="0">
                <a:solidFill>
                  <a:srgbClr val="434343"/>
                </a:solidFill>
                <a:latin typeface="Inter"/>
              </a:rPr>
              <a:t>Error 500 mengirim traceback lengkap, termasuk </a:t>
            </a:r>
            <a:r>
              <a:rPr sz="950" b="0" i="0">
                <a:solidFill>
                  <a:srgbClr val="B5482A"/>
                </a:solidFill>
                <a:latin typeface="Inconsolata"/>
              </a:rPr>
              <a:t>postgresql://app:rahasia123@...</a:t>
            </a:r>
            <a:r>
              <a:rPr sz="950" b="0" i="0">
                <a:solidFill>
                  <a:srgbClr val="434343"/>
                </a:solidFill>
                <a:latin typeface="Inter"/>
              </a:rPr>
              <a:t>. </a:t>
            </a:r>
            <a:r>
              <a:rPr sz="950" b="0" i="0">
                <a:solidFill>
                  <a:srgbClr val="B5482A"/>
                </a:solidFill>
                <a:latin typeface="Inconsolata"/>
              </a:rPr>
              <a:t>/docs</a:t>
            </a:r>
            <a:r>
              <a:rPr sz="950" b="0" i="0">
                <a:solidFill>
                  <a:srgbClr val="434343"/>
                </a:solidFill>
                <a:latin typeface="Inter"/>
              </a:rPr>
              <a:t> menampilkan semua endpoint.</a:t>
            </a:r>
          </a:p>
          <a:p>
            <a:pPr algn="l">
              <a:lnSpc>
                <a:spcPct val="115000"/>
              </a:lnSpc>
              <a:spcAft>
                <a:spcPts val="400"/>
              </a:spcAft>
            </a:pPr>
            <a:r>
              <a:rPr sz="1050" b="1" i="0">
                <a:solidFill>
                  <a:srgbClr val="1C4587"/>
                </a:solidFill>
                <a:latin typeface="Inter"/>
              </a:rPr>
              <a:t>Jika aplikasi makin besar</a:t>
            </a:r>
          </a:p>
          <a:p>
            <a:pPr algn="l">
              <a:lnSpc>
                <a:spcPct val="115000"/>
              </a:lnSpc>
              <a:spcAft>
                <a:spcPts val="400"/>
              </a:spcAft>
            </a:pPr>
            <a:r>
              <a:rPr sz="950" b="0" i="0">
                <a:solidFill>
                  <a:srgbClr val="434343"/>
                </a:solidFill>
                <a:latin typeface="Inter"/>
              </a:rPr>
              <a:t>Endpoint admin dan struktur data makin banyak yang bisa dipelajari penyerang dari </a:t>
            </a:r>
            <a:r>
              <a:rPr sz="950" b="0" i="0">
                <a:solidFill>
                  <a:srgbClr val="B5482A"/>
                </a:solidFill>
                <a:latin typeface="Inconsolata"/>
              </a:rPr>
              <a:t>/docs</a:t>
            </a:r>
            <a:r>
              <a:rPr sz="950" b="0" i="0">
                <a:solidFill>
                  <a:srgbClr val="434343"/>
                </a:solidFill>
                <a:latin typeface="Inter"/>
              </a:rPr>
              <a:t> dan pesan error.</a:t>
            </a:r>
          </a:p>
          <a:p>
            <a:pPr algn="l">
              <a:lnSpc>
                <a:spcPct val="115000"/>
              </a:lnSpc>
              <a:spcAft>
                <a:spcPts val="400"/>
              </a:spcAft>
            </a:pPr>
            <a:r>
              <a:rPr sz="950" b="0" i="0">
                <a:solidFill>
                  <a:srgbClr val="434343"/>
                </a:solidFill>
                <a:latin typeface="Inter"/>
              </a:rPr>
              <a:t>Hal ini membuat penyerang tidak perlu menebak, cukup membaca.</a:t>
            </a:r>
          </a:p>
          <a:p>
            <a:pPr algn="l">
              <a:lnSpc>
                <a:spcPct val="115000"/>
              </a:lnSpc>
              <a:spcAft>
                <a:spcPts val="400"/>
              </a:spcAft>
            </a:pPr>
            <a:r>
              <a:rPr sz="1050" b="1" i="0">
                <a:solidFill>
                  <a:srgbClr val="1C4587"/>
                </a:solidFill>
                <a:latin typeface="Inter"/>
              </a:rPr>
              <a:t>Yang dipakai dari FastAPI dan Starlette</a:t>
            </a:r>
          </a:p>
          <a:p>
            <a:pPr algn="l">
              <a:lnSpc>
                <a:spcPct val="115000"/>
              </a:lnSpc>
              <a:spcAft>
                <a:spcPts val="400"/>
              </a:spcAft>
            </a:pPr>
            <a:r>
              <a:rPr sz="950" b="0" i="0">
                <a:solidFill>
                  <a:srgbClr val="434343"/>
                </a:solidFill>
                <a:latin typeface="Inter"/>
              </a:rPr>
              <a:t>Setting dibaca dari environment, jadi kode sama, perilaku development dan production berbeda.</a:t>
            </a:r>
          </a:p>
        </p:txBody>
      </p:sp>
      <p:graphicFrame>
        <p:nvGraphicFramePr>
          <p:cNvPr id="23" name="Table 4"/>
          <p:cNvGraphicFramePr>
            <a:graphicFrameLocks noGrp="1"/>
          </p:cNvGraphicFramePr>
          <p:nvPr/>
        </p:nvGraphicFramePr>
        <p:xfrm>
          <a:off x="4800600" y="1481328"/>
          <a:ext cx="3685032" cy="2057400"/>
        </p:xfrm>
        <a:graphic>
          <a:graphicData uri="http://schemas.openxmlformats.org/drawingml/2006/table">
            <a:tbl>
              <a:tblPr firstRow="1" bandRow="1"/>
              <a:tblGrid>
                <a:gridCol w="1764792">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Setting</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Production</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debug</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False (default)</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docs_url, openapi_url</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None</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CORS allow_origins</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Domain frontend sendiri</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Error tak terduga</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Pesan umum, detail di log</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Misconfiguration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debug, /docs, dan CORS terbuka</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03-security-misconfiguration/before.py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 9  </a:t>
            </a:r>
            <a:r>
              <a:rPr sz="719" i="0">
                <a:solidFill>
                  <a:srgbClr val="FF8E6E"/>
                </a:solidFill>
                <a:latin typeface="Inconsolata"/>
              </a:rPr>
              <a:t>from</a:t>
            </a:r>
            <a:r>
              <a:rPr sz="719" i="0">
                <a:solidFill>
                  <a:srgbClr val="E6EDF3"/>
                </a:solidFill>
                <a:latin typeface="Inconsolata"/>
              </a:rPr>
              <a:t> fastapi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FastAPI</a:t>
            </a:r>
          </a:p>
          <a:p>
            <a:pPr>
              <a:lnSpc>
                <a:spcPct val="104277"/>
              </a:lnSpc>
              <a:spcAft>
                <a:spcPts val="0"/>
              </a:spcAft>
            </a:pPr>
            <a:r>
              <a:rPr sz="719" i="0">
                <a:solidFill>
                  <a:srgbClr val="5C6773"/>
                </a:solidFill>
                <a:latin typeface="Inconsolata"/>
              </a:rPr>
              <a:t>10  </a:t>
            </a:r>
            <a:r>
              <a:rPr sz="719" i="0">
                <a:solidFill>
                  <a:srgbClr val="FF8E6E"/>
                </a:solidFill>
                <a:latin typeface="Inconsolata"/>
              </a:rPr>
              <a:t>from</a:t>
            </a:r>
            <a:r>
              <a:rPr sz="719" i="0">
                <a:solidFill>
                  <a:srgbClr val="E6EDF3"/>
                </a:solidFill>
                <a:latin typeface="Inconsolata"/>
              </a:rPr>
              <a:t> fastapi.middleware.cors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CORSMiddleware</a:t>
            </a:r>
          </a:p>
          <a:p>
            <a:pPr>
              <a:lnSpc>
                <a:spcPct val="104277"/>
              </a:lnSpc>
              <a:spcAft>
                <a:spcPts val="0"/>
              </a:spcAft>
            </a:pPr>
            <a:r>
              <a:rPr sz="719" i="0">
                <a:solidFill>
                  <a:srgbClr val="5C6773"/>
                </a:solidFill>
                <a:latin typeface="Inconsolata"/>
              </a:rPr>
              <a:t>11  </a:t>
            </a:r>
            <a:r>
              <a:rPr sz="719" i="0">
                <a:solidFill>
                  <a:srgbClr val="FF8E6E"/>
                </a:solidFill>
                <a:latin typeface="Inconsolata"/>
              </a:rPr>
              <a:t>from</a:t>
            </a:r>
            <a:r>
              <a:rPr sz="719" i="0">
                <a:solidFill>
                  <a:srgbClr val="E6EDF3"/>
                </a:solidFill>
                <a:latin typeface="Inconsolata"/>
              </a:rPr>
              <a:t> fastapi.testclient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TestClient</a:t>
            </a:r>
          </a:p>
          <a:p>
            <a:pPr>
              <a:lnSpc>
                <a:spcPct val="104277"/>
              </a:lnSpc>
              <a:spcAft>
                <a:spcPts val="0"/>
              </a:spcAft>
            </a:pPr>
            <a:r>
              <a:rPr sz="719" i="0">
                <a:solidFill>
                  <a:srgbClr val="5C6773"/>
                </a:solidFill>
                <a:latin typeface="Inconsolata"/>
              </a:rPr>
              <a:t>12  </a:t>
            </a:r>
            <a:r>
              <a:rPr sz="719" i="0">
                <a:solidFill>
                  <a:srgbClr val="E6EDF3"/>
                </a:solidFill>
                <a:latin typeface="Inconsolata"/>
              </a:rPr>
              <a:t> </a:t>
            </a:r>
          </a:p>
          <a:p>
            <a:pPr>
              <a:lnSpc>
                <a:spcPct val="104277"/>
              </a:lnSpc>
              <a:spcAft>
                <a:spcPts val="0"/>
              </a:spcAft>
            </a:pPr>
            <a:r>
              <a:rPr sz="719" i="0">
                <a:solidFill>
                  <a:srgbClr val="5C6773"/>
                </a:solidFill>
                <a:latin typeface="Inconsolata"/>
              </a:rPr>
              <a:t>13  </a:t>
            </a:r>
            <a:r>
              <a:rPr sz="719" i="0">
                <a:solidFill>
                  <a:srgbClr val="7FDBCA"/>
                </a:solidFill>
                <a:latin typeface="Inconsolata"/>
              </a:rPr>
              <a:t>DATABASE_URL</a:t>
            </a:r>
            <a:r>
              <a:rPr sz="719" i="0">
                <a:solidFill>
                  <a:srgbClr val="E6EDF3"/>
                </a:solidFill>
                <a:latin typeface="Inconsolata"/>
              </a:rPr>
              <a:t> = </a:t>
            </a:r>
            <a:r>
              <a:rPr sz="719" i="0">
                <a:solidFill>
                  <a:srgbClr val="A5D6A7"/>
                </a:solidFill>
                <a:latin typeface="Inconsolata"/>
              </a:rPr>
              <a:t>"postgresql://app:rahasia123@db.internal/orders"</a:t>
            </a:r>
          </a:p>
          <a:p>
            <a:pPr>
              <a:lnSpc>
                <a:spcPct val="104277"/>
              </a:lnSpc>
              <a:spcAft>
                <a:spcPts val="0"/>
              </a:spcAft>
            </a:pPr>
            <a:r>
              <a:rPr sz="719" i="0">
                <a:solidFill>
                  <a:srgbClr val="5C6773"/>
                </a:solidFill>
                <a:latin typeface="Inconsolata"/>
              </a:rPr>
              <a:t>14  </a:t>
            </a:r>
            <a:r>
              <a:rPr sz="719" i="0">
                <a:solidFill>
                  <a:srgbClr val="E6EDF3"/>
                </a:solidFill>
                <a:latin typeface="Inconsolata"/>
              </a:rPr>
              <a:t> </a:t>
            </a:r>
          </a:p>
          <a:p>
            <a:pPr>
              <a:lnSpc>
                <a:spcPct val="104277"/>
              </a:lnSpc>
              <a:spcAft>
                <a:spcPts val="0"/>
              </a:spcAft>
            </a:pPr>
            <a:r>
              <a:rPr sz="719" i="0">
                <a:solidFill>
                  <a:srgbClr val="5C6773"/>
                </a:solidFill>
                <a:latin typeface="Inconsolata"/>
              </a:rPr>
              <a:t>15  </a:t>
            </a:r>
            <a:r>
              <a:rPr sz="719" i="0">
                <a:solidFill>
                  <a:srgbClr val="E6EDF3"/>
                </a:solidFill>
                <a:latin typeface="Inconsolata"/>
              </a:rPr>
              <a:t>app = </a:t>
            </a:r>
            <a:r>
              <a:rPr sz="719" i="0">
                <a:solidFill>
                  <a:srgbClr val="7FDBCA"/>
                </a:solidFill>
                <a:latin typeface="Inconsolata"/>
              </a:rPr>
              <a:t>FastAPI</a:t>
            </a:r>
            <a:r>
              <a:rPr sz="719" i="0">
                <a:solidFill>
                  <a:srgbClr val="E6EDF3"/>
                </a:solidFill>
                <a:latin typeface="Inconsolata"/>
              </a:rPr>
              <a:t>(debug=</a:t>
            </a:r>
            <a:r>
              <a:rPr sz="719" i="0">
                <a:solidFill>
                  <a:srgbClr val="FF8E6E"/>
                </a:solidFill>
                <a:latin typeface="Inconsolata"/>
              </a:rPr>
              <a:t>True</a:t>
            </a:r>
            <a:r>
              <a:rPr sz="719" i="0">
                <a:solidFill>
                  <a:srgbClr val="E6EDF3"/>
                </a:solidFill>
                <a:latin typeface="Inconsolata"/>
              </a:rPr>
              <a:t>)</a:t>
            </a:r>
          </a:p>
          <a:p>
            <a:pPr>
              <a:lnSpc>
                <a:spcPct val="104277"/>
              </a:lnSpc>
              <a:spcAft>
                <a:spcPts val="0"/>
              </a:spcAft>
            </a:pPr>
            <a:r>
              <a:rPr sz="719" i="0">
                <a:solidFill>
                  <a:srgbClr val="5C6773"/>
                </a:solidFill>
                <a:latin typeface="Inconsolata"/>
              </a:rPr>
              <a:t>16  </a:t>
            </a:r>
            <a:r>
              <a:rPr sz="719" i="0">
                <a:solidFill>
                  <a:srgbClr val="E6EDF3"/>
                </a:solidFill>
                <a:latin typeface="Inconsolata"/>
              </a:rPr>
              <a:t>app.add_middleware(</a:t>
            </a:r>
            <a:r>
              <a:rPr sz="719" i="0">
                <a:solidFill>
                  <a:srgbClr val="7FDBCA"/>
                </a:solidFill>
                <a:latin typeface="Inconsolata"/>
              </a:rPr>
              <a:t>CORSMiddleware</a:t>
            </a:r>
            <a:r>
              <a:rPr sz="719" i="0">
                <a:solidFill>
                  <a:srgbClr val="E6EDF3"/>
                </a:solidFill>
                <a:latin typeface="Inconsolata"/>
              </a:rPr>
              <a:t>, allow_origins=[</a:t>
            </a:r>
            <a:r>
              <a:rPr sz="719" i="0">
                <a:solidFill>
                  <a:srgbClr val="A5D6A7"/>
                </a:solidFill>
                <a:latin typeface="Inconsolata"/>
              </a:rPr>
              <a:t>"*"</a:t>
            </a:r>
            <a:r>
              <a:rPr sz="719" i="0">
                <a:solidFill>
                  <a:srgbClr val="E6EDF3"/>
                </a:solidFill>
                <a:latin typeface="Inconsolata"/>
              </a:rPr>
              <a:t>],</a:t>
            </a:r>
          </a:p>
          <a:p>
            <a:pPr>
              <a:lnSpc>
                <a:spcPct val="104277"/>
              </a:lnSpc>
              <a:spcAft>
                <a:spcPts val="0"/>
              </a:spcAft>
            </a:pPr>
            <a:r>
              <a:rPr sz="719" i="0">
                <a:solidFill>
                  <a:srgbClr val="5C6773"/>
                </a:solidFill>
                <a:latin typeface="Inconsolata"/>
              </a:rPr>
              <a:t>17  </a:t>
            </a:r>
            <a:r>
              <a:rPr sz="719" i="0">
                <a:solidFill>
                  <a:srgbClr val="E6EDF3"/>
                </a:solidFill>
                <a:latin typeface="Inconsolata"/>
              </a:rPr>
              <a:t>                   allow_methods=[</a:t>
            </a:r>
            <a:r>
              <a:rPr sz="719" i="0">
                <a:solidFill>
                  <a:srgbClr val="A5D6A7"/>
                </a:solidFill>
                <a:latin typeface="Inconsolata"/>
              </a:rPr>
              <a:t>"*"</a:t>
            </a:r>
            <a:r>
              <a:rPr sz="719" i="0">
                <a:solidFill>
                  <a:srgbClr val="E6EDF3"/>
                </a:solidFill>
                <a:latin typeface="Inconsolata"/>
              </a:rPr>
              <a:t>], allow_headers=[</a:t>
            </a:r>
            <a:r>
              <a:rPr sz="719" i="0">
                <a:solidFill>
                  <a:srgbClr val="A5D6A7"/>
                </a:solidFill>
                <a:latin typeface="Inconsolata"/>
              </a:rPr>
              <a:t>"*"</a:t>
            </a:r>
            <a:r>
              <a:rPr sz="719" i="0">
                <a:solidFill>
                  <a:srgbClr val="E6EDF3"/>
                </a:solidFill>
                <a:latin typeface="Inconsolata"/>
              </a:rPr>
              <a:t>])</a:t>
            </a:r>
          </a:p>
          <a:p>
            <a:pPr>
              <a:lnSpc>
                <a:spcPct val="104277"/>
              </a:lnSpc>
              <a:spcAft>
                <a:spcPts val="0"/>
              </a:spcAft>
            </a:pPr>
            <a:r>
              <a:rPr sz="719" i="0">
                <a:solidFill>
                  <a:srgbClr val="5C6773"/>
                </a:solidFill>
                <a:latin typeface="Inconsolata"/>
              </a:rPr>
              <a:t>18  </a:t>
            </a:r>
            <a:r>
              <a:rPr sz="719" i="0">
                <a:solidFill>
                  <a:srgbClr val="E6EDF3"/>
                </a:solidFill>
                <a:latin typeface="Inconsolata"/>
              </a:rPr>
              <a:t> </a:t>
            </a:r>
          </a:p>
          <a:p>
            <a:pPr>
              <a:lnSpc>
                <a:spcPct val="104277"/>
              </a:lnSpc>
              <a:spcAft>
                <a:spcPts val="0"/>
              </a:spcAft>
            </a:pPr>
            <a:r>
              <a:rPr sz="719" i="0">
                <a:solidFill>
                  <a:srgbClr val="5C6773"/>
                </a:solidFill>
                <a:latin typeface="Inconsolata"/>
              </a:rPr>
              <a:t>19  </a:t>
            </a:r>
            <a:r>
              <a:rPr sz="719" i="0">
                <a:solidFill>
                  <a:srgbClr val="E6EDF3"/>
                </a:solidFill>
                <a:latin typeface="Inconsolata"/>
              </a:rPr>
              <a:t> </a:t>
            </a:r>
          </a:p>
          <a:p>
            <a:pPr>
              <a:lnSpc>
                <a:spcPct val="104277"/>
              </a:lnSpc>
              <a:spcAft>
                <a:spcPts val="0"/>
              </a:spcAft>
            </a:pPr>
            <a:r>
              <a:rPr sz="719" i="0">
                <a:solidFill>
                  <a:srgbClr val="5C6773"/>
                </a:solidFill>
                <a:latin typeface="Inconsolata"/>
              </a:rPr>
              <a:t>20  </a:t>
            </a:r>
            <a:r>
              <a:rPr sz="719" i="0">
                <a:solidFill>
                  <a:srgbClr val="F9C97A"/>
                </a:solidFill>
                <a:latin typeface="Inconsolata"/>
              </a:rPr>
              <a:t>@app.get</a:t>
            </a:r>
            <a:r>
              <a:rPr sz="719" i="0">
                <a:solidFill>
                  <a:srgbClr val="E6EDF3"/>
                </a:solidFill>
                <a:latin typeface="Inconsolata"/>
              </a:rPr>
              <a:t>(</a:t>
            </a:r>
            <a:r>
              <a:rPr sz="719" i="0">
                <a:solidFill>
                  <a:srgbClr val="A5D6A7"/>
                </a:solidFill>
                <a:latin typeface="Inconsolata"/>
              </a:rPr>
              <a:t>"/products"</a:t>
            </a:r>
            <a:r>
              <a:rPr sz="719" i="0">
                <a:solidFill>
                  <a:srgbClr val="E6EDF3"/>
                </a:solidFill>
                <a:latin typeface="Inconsolata"/>
              </a:rPr>
              <a:t>)</a:t>
            </a:r>
          </a:p>
          <a:p>
            <a:pPr>
              <a:lnSpc>
                <a:spcPct val="104277"/>
              </a:lnSpc>
              <a:spcAft>
                <a:spcPts val="0"/>
              </a:spcAft>
            </a:pPr>
            <a:r>
              <a:rPr sz="719" i="0">
                <a:solidFill>
                  <a:srgbClr val="5C6773"/>
                </a:solidFill>
                <a:latin typeface="Inconsolata"/>
              </a:rPr>
              <a:t>21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list_products</a:t>
            </a:r>
            <a:r>
              <a:rPr sz="719" i="0">
                <a:solidFill>
                  <a:srgbClr val="E6EDF3"/>
                </a:solidFill>
                <a:latin typeface="Inconsolata"/>
              </a:rPr>
              <a:t>():</a:t>
            </a:r>
          </a:p>
          <a:p>
            <a:pPr>
              <a:lnSpc>
                <a:spcPct val="104277"/>
              </a:lnSpc>
              <a:spcAft>
                <a:spcPts val="0"/>
              </a:spcAft>
            </a:pPr>
            <a:r>
              <a:rPr sz="719" i="0">
                <a:solidFill>
                  <a:srgbClr val="5C6773"/>
                </a:solidFill>
                <a:latin typeface="Inconsolata"/>
              </a:rPr>
              <a:t>22  </a:t>
            </a:r>
            <a:r>
              <a:rPr sz="719" i="0">
                <a:solidFill>
                  <a:srgbClr val="E6EDF3"/>
                </a:solidFill>
                <a:latin typeface="Inconsolata"/>
              </a:rPr>
              <a:t>    </a:t>
            </a:r>
            <a:r>
              <a:rPr sz="719" i="1">
                <a:solidFill>
                  <a:srgbClr val="8B98A8"/>
                </a:solidFill>
                <a:latin typeface="Inconsolata"/>
              </a:rPr>
              <a:t># anggap: database sedang mati</a:t>
            </a:r>
          </a:p>
          <a:p>
            <a:pPr>
              <a:lnSpc>
                <a:spcPct val="104277"/>
              </a:lnSpc>
              <a:spcAft>
                <a:spcPts val="0"/>
              </a:spcAft>
            </a:pPr>
            <a:r>
              <a:rPr sz="719" i="0">
                <a:solidFill>
                  <a:srgbClr val="5C6773"/>
                </a:solidFill>
                <a:latin typeface="Inconsolata"/>
              </a:rPr>
              <a:t>23  </a:t>
            </a:r>
            <a:r>
              <a:rPr sz="719" i="0">
                <a:solidFill>
                  <a:srgbClr val="E6EDF3"/>
                </a:solidFill>
                <a:latin typeface="Inconsolata"/>
              </a:rPr>
              <a:t>    </a:t>
            </a:r>
            <a:r>
              <a:rPr sz="719" i="0">
                <a:solidFill>
                  <a:srgbClr val="FF8E6E"/>
                </a:solidFill>
                <a:latin typeface="Inconsolata"/>
              </a:rPr>
              <a:t>raise</a:t>
            </a:r>
            <a:r>
              <a:rPr sz="719" i="0">
                <a:solidFill>
                  <a:srgbClr val="E6EDF3"/>
                </a:solidFill>
                <a:latin typeface="Inconsolata"/>
              </a:rPr>
              <a:t> </a:t>
            </a:r>
            <a:r>
              <a:rPr sz="719" i="0">
                <a:solidFill>
                  <a:srgbClr val="7FDBCA"/>
                </a:solidFill>
                <a:latin typeface="Inconsolata"/>
              </a:rPr>
              <a:t>ConnectionError</a:t>
            </a:r>
            <a:r>
              <a:rPr sz="719" i="0">
                <a:solidFill>
                  <a:srgbClr val="E6EDF3"/>
                </a:solidFill>
                <a:latin typeface="Inconsolata"/>
              </a:rPr>
              <a:t>(</a:t>
            </a:r>
            <a:r>
              <a:rPr sz="719" i="0">
                <a:solidFill>
                  <a:srgbClr val="A5D6A7"/>
                </a:solidFill>
                <a:latin typeface="Inconsolata"/>
              </a:rPr>
              <a:t>f"gagal konek ke {DATABASE_URL}"</a:t>
            </a:r>
            <a:r>
              <a:rPr sz="719"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03-security-misconfiguration/before.py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26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27  </a:t>
            </a:r>
            <a:r>
              <a:rPr sz="719" i="0">
                <a:solidFill>
                  <a:srgbClr val="E6EDF3"/>
                </a:solidFill>
                <a:latin typeface="Inconsolata"/>
              </a:rPr>
              <a:t>    client = </a:t>
            </a:r>
            <a:r>
              <a:rPr sz="719" i="0">
                <a:solidFill>
                  <a:srgbClr val="7FDBCA"/>
                </a:solidFill>
                <a:latin typeface="Inconsolata"/>
              </a:rPr>
              <a:t>TestClient</a:t>
            </a:r>
            <a:r>
              <a:rPr sz="719" i="0">
                <a:solidFill>
                  <a:srgbClr val="E6EDF3"/>
                </a:solidFill>
                <a:latin typeface="Inconsolata"/>
              </a:rPr>
              <a:t>(app, raise_server_exceptions=</a:t>
            </a:r>
            <a:r>
              <a:rPr sz="719" i="0">
                <a:solidFill>
                  <a:srgbClr val="FF8E6E"/>
                </a:solidFill>
                <a:latin typeface="Inconsolata"/>
              </a:rPr>
              <a:t>False</a:t>
            </a:r>
            <a:r>
              <a:rPr sz="719" i="0">
                <a:solidFill>
                  <a:srgbClr val="E6EDF3"/>
                </a:solidFill>
                <a:latin typeface="Inconsolata"/>
              </a:rPr>
              <a:t>)</a:t>
            </a:r>
          </a:p>
          <a:p>
            <a:pPr>
              <a:lnSpc>
                <a:spcPct val="104277"/>
              </a:lnSpc>
              <a:spcAft>
                <a:spcPts val="0"/>
              </a:spcAft>
            </a:pPr>
            <a:r>
              <a:rPr sz="719" i="0">
                <a:solidFill>
                  <a:srgbClr val="5C6773"/>
                </a:solidFill>
                <a:latin typeface="Inconsolata"/>
              </a:rPr>
              <a:t>28  </a:t>
            </a:r>
            <a:r>
              <a:rPr sz="719" i="0">
                <a:solidFill>
                  <a:srgbClr val="E6EDF3"/>
                </a:solidFill>
                <a:latin typeface="Inconsolata"/>
              </a:rPr>
              <a:t>    response = client.get(</a:t>
            </a:r>
            <a:r>
              <a:rPr sz="719" i="0">
                <a:solidFill>
                  <a:srgbClr val="A5D6A7"/>
                </a:solidFill>
                <a:latin typeface="Inconsolata"/>
              </a:rPr>
              <a:t>"/products"</a:t>
            </a:r>
            <a:r>
              <a:rPr sz="719" i="0">
                <a:solidFill>
                  <a:srgbClr val="E6EDF3"/>
                </a:solidFill>
                <a:latin typeface="Inconsolata"/>
              </a:rPr>
              <a:t>,</a:t>
            </a:r>
          </a:p>
          <a:p>
            <a:pPr>
              <a:lnSpc>
                <a:spcPct val="104277"/>
              </a:lnSpc>
              <a:spcAft>
                <a:spcPts val="0"/>
              </a:spcAft>
            </a:pPr>
            <a:r>
              <a:rPr sz="719" i="0">
                <a:solidFill>
                  <a:srgbClr val="5C6773"/>
                </a:solidFill>
                <a:latin typeface="Inconsolata"/>
              </a:rPr>
              <a:t>29  </a:t>
            </a:r>
            <a:r>
              <a:rPr sz="719" i="0">
                <a:solidFill>
                  <a:srgbClr val="E6EDF3"/>
                </a:solidFill>
                <a:latin typeface="Inconsolata"/>
              </a:rPr>
              <a:t>                          headers={</a:t>
            </a:r>
            <a:r>
              <a:rPr sz="719" i="0">
                <a:solidFill>
                  <a:srgbClr val="A5D6A7"/>
                </a:solidFill>
                <a:latin typeface="Inconsolata"/>
              </a:rPr>
              <a:t>"Origin"</a:t>
            </a:r>
            <a:r>
              <a:rPr sz="719" i="0">
                <a:solidFill>
                  <a:srgbClr val="E6EDF3"/>
                </a:solidFill>
                <a:latin typeface="Inconsolata"/>
              </a:rPr>
              <a:t>: </a:t>
            </a:r>
            <a:r>
              <a:rPr sz="719" i="0">
                <a:solidFill>
                  <a:srgbClr val="A5D6A7"/>
                </a:solidFill>
                <a:latin typeface="Inconsolata"/>
              </a:rPr>
              <a:t>"https://evil.com"</a:t>
            </a:r>
            <a:r>
              <a:rPr sz="719" i="0">
                <a:solidFill>
                  <a:srgbClr val="E6EDF3"/>
                </a:solidFill>
                <a:latin typeface="Inconsolata"/>
              </a:rPr>
              <a:t>})</a:t>
            </a:r>
          </a:p>
          <a:p>
            <a:pPr>
              <a:lnSpc>
                <a:spcPct val="104277"/>
              </a:lnSpc>
              <a:spcAft>
                <a:spcPts val="0"/>
              </a:spcAft>
            </a:pPr>
            <a:r>
              <a:rPr sz="719" i="0">
                <a:solidFill>
                  <a:srgbClr val="5C6773"/>
                </a:solidFill>
                <a:latin typeface="Inconsolata"/>
              </a:rPr>
              <a:t>30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"GET /products -&gt;"</a:t>
            </a:r>
            <a:r>
              <a:rPr sz="719" i="0">
                <a:solidFill>
                  <a:srgbClr val="E6EDF3"/>
                </a:solidFill>
                <a:latin typeface="Inconsolata"/>
              </a:rPr>
              <a:t>, response.status_code)</a:t>
            </a:r>
          </a:p>
          <a:p>
            <a:pPr>
              <a:lnSpc>
                <a:spcPct val="104277"/>
              </a:lnSpc>
              <a:spcAft>
                <a:spcPts val="0"/>
              </a:spcAft>
            </a:pPr>
            <a:r>
              <a:rPr sz="719" i="0">
                <a:solidFill>
                  <a:srgbClr val="5C6773"/>
                </a:solidFill>
                <a:latin typeface="Inconsolata"/>
              </a:rPr>
              <a:t>31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  ..."</a:t>
            </a:r>
            <a:r>
              <a:rPr sz="719" i="0">
                <a:solidFill>
                  <a:srgbClr val="E6EDF3"/>
                </a:solidFill>
                <a:latin typeface="Inconsolata"/>
              </a:rPr>
              <a:t>, </a:t>
            </a:r>
            <a:r>
              <a:rPr sz="719" i="0">
                <a:solidFill>
                  <a:srgbClr val="A5D6A7"/>
                </a:solidFill>
                <a:latin typeface="Inconsolata"/>
              </a:rPr>
              <a:t>"\n  "</a:t>
            </a:r>
            <a:r>
              <a:rPr sz="719" i="0">
                <a:solidFill>
                  <a:srgbClr val="E6EDF3"/>
                </a:solidFill>
                <a:latin typeface="Inconsolata"/>
              </a:rPr>
              <a:t>.join(response.text.splitlines()[-</a:t>
            </a:r>
            <a:r>
              <a:rPr sz="719" i="0">
                <a:solidFill>
                  <a:srgbClr val="F9C97A"/>
                </a:solidFill>
                <a:latin typeface="Inconsolata"/>
              </a:rPr>
              <a:t>2</a:t>
            </a:r>
            <a:r>
              <a:rPr sz="719" i="0">
                <a:solidFill>
                  <a:srgbClr val="E6EDF3"/>
                </a:solidFill>
                <a:latin typeface="Inconsolata"/>
              </a:rPr>
              <a:t>:]))</a:t>
            </a:r>
          </a:p>
          <a:p>
            <a:pPr>
              <a:lnSpc>
                <a:spcPct val="104277"/>
              </a:lnSpc>
              <a:spcAft>
                <a:spcPts val="0"/>
              </a:spcAft>
            </a:pPr>
            <a:r>
              <a:rPr sz="719" i="0">
                <a:solidFill>
                  <a:srgbClr val="5C6773"/>
                </a:solidFill>
                <a:latin typeface="Inconsolata"/>
              </a:rPr>
              <a:t>32  </a:t>
            </a:r>
            <a:r>
              <a:rPr sz="719" i="0">
                <a:solidFill>
                  <a:srgbClr val="E6EDF3"/>
                </a:solidFill>
                <a:latin typeface="Inconsolata"/>
              </a:rPr>
              <a:t>    docs = client.get(</a:t>
            </a:r>
            <a:r>
              <a:rPr sz="719" i="0">
                <a:solidFill>
                  <a:srgbClr val="A5D6A7"/>
                </a:solidFill>
                <a:latin typeface="Inconsolata"/>
              </a:rPr>
              <a:t>"/docs"</a:t>
            </a:r>
            <a:r>
              <a:rPr sz="719" i="0">
                <a:solidFill>
                  <a:srgbClr val="E6EDF3"/>
                </a:solidFill>
                <a:latin typeface="Inconsolata"/>
              </a:rPr>
              <a:t>, headers={</a:t>
            </a:r>
            <a:r>
              <a:rPr sz="719" i="0">
                <a:solidFill>
                  <a:srgbClr val="A5D6A7"/>
                </a:solidFill>
                <a:latin typeface="Inconsolata"/>
              </a:rPr>
              <a:t>"Origin"</a:t>
            </a:r>
            <a:r>
              <a:rPr sz="719" i="0">
                <a:solidFill>
                  <a:srgbClr val="E6EDF3"/>
                </a:solidFill>
                <a:latin typeface="Inconsolata"/>
              </a:rPr>
              <a:t>: </a:t>
            </a:r>
            <a:r>
              <a:rPr sz="719" i="0">
                <a:solidFill>
                  <a:srgbClr val="A5D6A7"/>
                </a:solidFill>
                <a:latin typeface="Inconsolata"/>
              </a:rPr>
              <a:t>"https://evil.com"</a:t>
            </a:r>
            <a:r>
              <a:rPr sz="719" i="0">
                <a:solidFill>
                  <a:srgbClr val="E6EDF3"/>
                </a:solidFill>
                <a:latin typeface="Inconsolata"/>
              </a:rPr>
              <a:t>})</a:t>
            </a:r>
          </a:p>
          <a:p>
            <a:pPr>
              <a:lnSpc>
                <a:spcPct val="104277"/>
              </a:lnSpc>
              <a:spcAft>
                <a:spcPts val="0"/>
              </a:spcAft>
            </a:pPr>
            <a:r>
              <a:rPr sz="719" i="0">
                <a:solidFill>
                  <a:srgbClr val="5C6773"/>
                </a:solidFill>
                <a:latin typeface="Inconsolata"/>
              </a:rPr>
              <a:t>33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"GET /docs -&gt;"</a:t>
            </a:r>
            <a:r>
              <a:rPr sz="719" i="0">
                <a:solidFill>
                  <a:srgbClr val="E6EDF3"/>
                </a:solidFill>
                <a:latin typeface="Inconsolata"/>
              </a:rPr>
              <a:t>, docs.status_code)</a:t>
            </a:r>
          </a:p>
          <a:p>
            <a:pPr>
              <a:lnSpc>
                <a:spcPct val="104277"/>
              </a:lnSpc>
              <a:spcAft>
                <a:spcPts val="0"/>
              </a:spcAft>
            </a:pPr>
            <a:r>
              <a:rPr sz="719" i="0">
                <a:solidFill>
                  <a:srgbClr val="5C6773"/>
                </a:solidFill>
                <a:latin typeface="Inconsolata"/>
              </a:rPr>
              <a:t>34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"CORS untuk https://evil.com -&gt;"</a:t>
            </a:r>
            <a:r>
              <a:rPr sz="719" i="0">
                <a:solidFill>
                  <a:srgbClr val="E6EDF3"/>
                </a:solidFill>
                <a:latin typeface="Inconsolata"/>
              </a:rPr>
              <a:t>,</a:t>
            </a:r>
          </a:p>
          <a:p>
            <a:pPr>
              <a:lnSpc>
                <a:spcPct val="104277"/>
              </a:lnSpc>
              <a:spcAft>
                <a:spcPts val="0"/>
              </a:spcAft>
            </a:pPr>
            <a:r>
              <a:rPr sz="719" i="0">
                <a:solidFill>
                  <a:srgbClr val="5C6773"/>
                </a:solidFill>
                <a:latin typeface="Inconsolata"/>
              </a:rPr>
              <a:t>35  </a:t>
            </a:r>
            <a:r>
              <a:rPr sz="719" i="0">
                <a:solidFill>
                  <a:srgbClr val="E6EDF3"/>
                </a:solidFill>
                <a:latin typeface="Inconsolata"/>
              </a:rPr>
              <a:t>          docs.headers.get(</a:t>
            </a:r>
            <a:r>
              <a:rPr sz="719" i="0">
                <a:solidFill>
                  <a:srgbClr val="A5D6A7"/>
                </a:solidFill>
                <a:latin typeface="Inconsolata"/>
              </a:rPr>
              <a:t>"access-control-allow-origin"</a:t>
            </a:r>
            <a:r>
              <a:rPr sz="719" i="0">
                <a:solidFill>
                  <a:srgbClr val="E6EDF3"/>
                </a:solidFill>
                <a:latin typeface="Inconsolata"/>
              </a:rPr>
              <a:t>))</a:t>
            </a:r>
          </a:p>
        </p:txBody>
      </p:sp>
      <p:sp>
        <p:nvSpPr>
          <p:cNvPr id="36" name="Box 21"/>
          <p:cNvSpPr/>
          <p:nvPr/>
        </p:nvSpPr>
        <p:spPr>
          <a:xfrm>
            <a:off x="704088" y="22825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2174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704088" y="2511171"/>
            <a:ext cx="3694176" cy="336042"/>
          </a:xfrm>
          <a:prstGeom prst="roundRect">
            <a:avLst>
              <a:gd name="adj" fmla="val 13605"/>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25603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704088" y="34255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4279392" y="33604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Misconfiguration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03-security-misconfiguration/before.py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sesi-10-api-security/03-security-misconfiguration</a:t>
            </a:r>
          </a:p>
          <a:p>
            <a:pPr>
              <a:lnSpc>
                <a:spcPct val="111111"/>
              </a:lnSpc>
              <a:spcAft>
                <a:spcPts val="0"/>
              </a:spcAft>
            </a:pPr>
            <a:r>
              <a:rPr sz="900" i="0">
                <a:solidFill>
                  <a:srgbClr val="82B1FF"/>
                </a:solidFill>
                <a:latin typeface="Inconsolata"/>
              </a:rPr>
              <a:t>$ python before.py</a:t>
            </a:r>
          </a:p>
        </p:txBody>
      </p:sp>
      <p:pic>
        <p:nvPicPr>
          <p:cNvPr id="29" name="Image 12" descr="s10-03-security-misconfiguration-before.png"/>
          <p:cNvPicPr>
            <a:picLocks noChangeAspect="1"/>
          </p:cNvPicPr>
          <p:nvPr/>
        </p:nvPicPr>
        <p:blipFill>
          <a:blip r:embed="rId2"/>
          <a:stretch>
            <a:fillRect/>
          </a:stretch>
        </p:blipFill>
        <p:spPr>
          <a:xfrm>
            <a:off x="621792" y="2322576"/>
            <a:ext cx="4297680" cy="1017872"/>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Password database ada di connection string (baris 13)</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Mode debug dan CORS untuk semua website (baris 15-17)</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Pesan error berisi connection string (baris 23)</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Response 500 menampilkan password database, </a:t>
            </a:r>
            <a:r>
              <a:rPr sz="950" b="0" i="0">
                <a:solidFill>
                  <a:srgbClr val="B5482A"/>
                </a:solidFill>
                <a:latin typeface="Inconsolata"/>
              </a:rPr>
              <a:t>/docs</a:t>
            </a:r>
            <a:r>
              <a:rPr sz="950" b="0" i="0">
                <a:solidFill>
                  <a:srgbClr val="434343"/>
                </a:solidFill>
                <a:latin typeface="Inter"/>
              </a:rPr>
              <a:t> terbuka, CORS </a:t>
            </a:r>
            <a:r>
              <a:rPr sz="950" b="0" i="0">
                <a:solidFill>
                  <a:srgbClr val="B5482A"/>
                </a:solidFill>
                <a:latin typeface="Inconsolata"/>
              </a:rPr>
              <a:t>*</a:t>
            </a:r>
            <a:r>
              <a:rPr sz="950" b="0" i="0">
                <a:solidFill>
                  <a:srgbClr val="434343"/>
                </a:solidFill>
                <a:latin typeface="Inter"/>
              </a:rPr>
              <a:t>.</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Misconfiguration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setting production yang aman</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03-security-misconfiguration/after.py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10  </a:t>
            </a:r>
            <a:r>
              <a:rPr sz="719" i="0">
                <a:solidFill>
                  <a:srgbClr val="FF8E6E"/>
                </a:solidFill>
                <a:latin typeface="Inconsolata"/>
              </a:rPr>
              <a:t>import</a:t>
            </a:r>
            <a:r>
              <a:rPr sz="719" i="0">
                <a:solidFill>
                  <a:srgbClr val="E6EDF3"/>
                </a:solidFill>
                <a:latin typeface="Inconsolata"/>
              </a:rPr>
              <a:t> logging</a:t>
            </a:r>
          </a:p>
          <a:p>
            <a:pPr>
              <a:lnSpc>
                <a:spcPct val="104277"/>
              </a:lnSpc>
              <a:spcAft>
                <a:spcPts val="0"/>
              </a:spcAft>
            </a:pPr>
            <a:r>
              <a:rPr sz="719" i="0">
                <a:solidFill>
                  <a:srgbClr val="5C6773"/>
                </a:solidFill>
                <a:latin typeface="Inconsolata"/>
              </a:rPr>
              <a:t>11  </a:t>
            </a:r>
            <a:r>
              <a:rPr sz="719" i="0">
                <a:solidFill>
                  <a:srgbClr val="FF8E6E"/>
                </a:solidFill>
                <a:latin typeface="Inconsolata"/>
              </a:rPr>
              <a:t>import</a:t>
            </a:r>
            <a:r>
              <a:rPr sz="719" i="0">
                <a:solidFill>
                  <a:srgbClr val="E6EDF3"/>
                </a:solidFill>
                <a:latin typeface="Inconsolata"/>
              </a:rPr>
              <a:t> os</a:t>
            </a:r>
          </a:p>
          <a:p>
            <a:pPr>
              <a:lnSpc>
                <a:spcPct val="104277"/>
              </a:lnSpc>
              <a:spcAft>
                <a:spcPts val="0"/>
              </a:spcAft>
            </a:pPr>
            <a:r>
              <a:rPr sz="719" i="0">
                <a:solidFill>
                  <a:srgbClr val="5C6773"/>
                </a:solidFill>
                <a:latin typeface="Inconsolata"/>
              </a:rPr>
              <a:t>12  </a:t>
            </a:r>
            <a:r>
              <a:rPr sz="719" i="0">
                <a:solidFill>
                  <a:srgbClr val="E6EDF3"/>
                </a:solidFill>
                <a:latin typeface="Inconsolata"/>
              </a:rPr>
              <a:t> </a:t>
            </a:r>
          </a:p>
          <a:p>
            <a:pPr>
              <a:lnSpc>
                <a:spcPct val="104277"/>
              </a:lnSpc>
              <a:spcAft>
                <a:spcPts val="0"/>
              </a:spcAft>
            </a:pPr>
            <a:r>
              <a:rPr sz="719" i="0">
                <a:solidFill>
                  <a:srgbClr val="5C6773"/>
                </a:solidFill>
                <a:latin typeface="Inconsolata"/>
              </a:rPr>
              <a:t>13  </a:t>
            </a:r>
            <a:r>
              <a:rPr sz="719" i="0">
                <a:solidFill>
                  <a:srgbClr val="FF8E6E"/>
                </a:solidFill>
                <a:latin typeface="Inconsolata"/>
              </a:rPr>
              <a:t>from</a:t>
            </a:r>
            <a:r>
              <a:rPr sz="719" i="0">
                <a:solidFill>
                  <a:srgbClr val="E6EDF3"/>
                </a:solidFill>
                <a:latin typeface="Inconsolata"/>
              </a:rPr>
              <a:t> fastapi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FastAPI</a:t>
            </a:r>
            <a:r>
              <a:rPr sz="719" i="0">
                <a:solidFill>
                  <a:srgbClr val="E6EDF3"/>
                </a:solidFill>
                <a:latin typeface="Inconsolata"/>
              </a:rPr>
              <a:t>, </a:t>
            </a:r>
            <a:r>
              <a:rPr sz="719" i="0">
                <a:solidFill>
                  <a:srgbClr val="7FDBCA"/>
                </a:solidFill>
                <a:latin typeface="Inconsolata"/>
              </a:rPr>
              <a:t>Request</a:t>
            </a:r>
          </a:p>
          <a:p>
            <a:pPr>
              <a:lnSpc>
                <a:spcPct val="104277"/>
              </a:lnSpc>
              <a:spcAft>
                <a:spcPts val="0"/>
              </a:spcAft>
            </a:pPr>
            <a:r>
              <a:rPr sz="719" i="0">
                <a:solidFill>
                  <a:srgbClr val="5C6773"/>
                </a:solidFill>
                <a:latin typeface="Inconsolata"/>
              </a:rPr>
              <a:t>14  </a:t>
            </a:r>
            <a:r>
              <a:rPr sz="719" i="0">
                <a:solidFill>
                  <a:srgbClr val="FF8E6E"/>
                </a:solidFill>
                <a:latin typeface="Inconsolata"/>
              </a:rPr>
              <a:t>from</a:t>
            </a:r>
            <a:r>
              <a:rPr sz="719" i="0">
                <a:solidFill>
                  <a:srgbClr val="E6EDF3"/>
                </a:solidFill>
                <a:latin typeface="Inconsolata"/>
              </a:rPr>
              <a:t> fastapi.middleware.cors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CORSMiddleware</a:t>
            </a:r>
          </a:p>
          <a:p>
            <a:pPr>
              <a:lnSpc>
                <a:spcPct val="104277"/>
              </a:lnSpc>
              <a:spcAft>
                <a:spcPts val="0"/>
              </a:spcAft>
            </a:pPr>
            <a:r>
              <a:rPr sz="719" i="0">
                <a:solidFill>
                  <a:srgbClr val="5C6773"/>
                </a:solidFill>
                <a:latin typeface="Inconsolata"/>
              </a:rPr>
              <a:t>15  </a:t>
            </a:r>
            <a:r>
              <a:rPr sz="719" i="0">
                <a:solidFill>
                  <a:srgbClr val="FF8E6E"/>
                </a:solidFill>
                <a:latin typeface="Inconsolata"/>
              </a:rPr>
              <a:t>from</a:t>
            </a:r>
            <a:r>
              <a:rPr sz="719" i="0">
                <a:solidFill>
                  <a:srgbClr val="E6EDF3"/>
                </a:solidFill>
                <a:latin typeface="Inconsolata"/>
              </a:rPr>
              <a:t> fastapi.responses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JSONResponse</a:t>
            </a:r>
          </a:p>
          <a:p>
            <a:pPr>
              <a:lnSpc>
                <a:spcPct val="104277"/>
              </a:lnSpc>
              <a:spcAft>
                <a:spcPts val="0"/>
              </a:spcAft>
            </a:pPr>
            <a:r>
              <a:rPr sz="719" i="0">
                <a:solidFill>
                  <a:srgbClr val="5C6773"/>
                </a:solidFill>
                <a:latin typeface="Inconsolata"/>
              </a:rPr>
              <a:t>16  </a:t>
            </a:r>
            <a:r>
              <a:rPr sz="719" i="0">
                <a:solidFill>
                  <a:srgbClr val="FF8E6E"/>
                </a:solidFill>
                <a:latin typeface="Inconsolata"/>
              </a:rPr>
              <a:t>from</a:t>
            </a:r>
            <a:r>
              <a:rPr sz="719" i="0">
                <a:solidFill>
                  <a:srgbClr val="E6EDF3"/>
                </a:solidFill>
                <a:latin typeface="Inconsolata"/>
              </a:rPr>
              <a:t> fastapi.testclient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TestClient</a:t>
            </a:r>
          </a:p>
          <a:p>
            <a:pPr>
              <a:lnSpc>
                <a:spcPct val="104277"/>
              </a:lnSpc>
              <a:spcAft>
                <a:spcPts val="0"/>
              </a:spcAft>
            </a:pPr>
            <a:r>
              <a:rPr sz="719" i="0">
                <a:solidFill>
                  <a:srgbClr val="5C6773"/>
                </a:solidFill>
                <a:latin typeface="Inconsolata"/>
              </a:rPr>
              <a:t>17  </a:t>
            </a:r>
            <a:r>
              <a:rPr sz="719" i="0">
                <a:solidFill>
                  <a:srgbClr val="E6EDF3"/>
                </a:solidFill>
                <a:latin typeface="Inconsolata"/>
              </a:rPr>
              <a:t> </a:t>
            </a:r>
          </a:p>
          <a:p>
            <a:pPr>
              <a:lnSpc>
                <a:spcPct val="104277"/>
              </a:lnSpc>
              <a:spcAft>
                <a:spcPts val="0"/>
              </a:spcAft>
            </a:pPr>
            <a:r>
              <a:rPr sz="719" i="0">
                <a:solidFill>
                  <a:srgbClr val="5C6773"/>
                </a:solidFill>
                <a:latin typeface="Inconsolata"/>
              </a:rPr>
              <a:t>18  </a:t>
            </a:r>
            <a:r>
              <a:rPr sz="719" i="0">
                <a:solidFill>
                  <a:srgbClr val="7FDBCA"/>
                </a:solidFill>
                <a:latin typeface="Inconsolata"/>
              </a:rPr>
              <a:t>DATABASE_URL</a:t>
            </a:r>
            <a:r>
              <a:rPr sz="719" i="0">
                <a:solidFill>
                  <a:srgbClr val="E6EDF3"/>
                </a:solidFill>
                <a:latin typeface="Inconsolata"/>
              </a:rPr>
              <a:t> = </a:t>
            </a:r>
            <a:r>
              <a:rPr sz="719" i="0">
                <a:solidFill>
                  <a:srgbClr val="A5D6A7"/>
                </a:solidFill>
                <a:latin typeface="Inconsolata"/>
              </a:rPr>
              <a:t>"postgresql://app:rahasia123@db.internal/orders"</a:t>
            </a:r>
          </a:p>
          <a:p>
            <a:pPr>
              <a:lnSpc>
                <a:spcPct val="104277"/>
              </a:lnSpc>
              <a:spcAft>
                <a:spcPts val="0"/>
              </a:spcAft>
            </a:pPr>
            <a:r>
              <a:rPr sz="719" i="0">
                <a:solidFill>
                  <a:srgbClr val="5C6773"/>
                </a:solidFill>
                <a:latin typeface="Inconsolata"/>
              </a:rPr>
              <a:t>19  </a:t>
            </a:r>
            <a:r>
              <a:rPr sz="719" i="0">
                <a:solidFill>
                  <a:srgbClr val="7FDBCA"/>
                </a:solidFill>
                <a:latin typeface="Inconsolata"/>
              </a:rPr>
              <a:t>ENV</a:t>
            </a:r>
            <a:r>
              <a:rPr sz="719" i="0">
                <a:solidFill>
                  <a:srgbClr val="E6EDF3"/>
                </a:solidFill>
                <a:latin typeface="Inconsolata"/>
              </a:rPr>
              <a:t> = os.getenv(</a:t>
            </a:r>
            <a:r>
              <a:rPr sz="719" i="0">
                <a:solidFill>
                  <a:srgbClr val="A5D6A7"/>
                </a:solidFill>
                <a:latin typeface="Inconsolata"/>
              </a:rPr>
              <a:t>"ENV"</a:t>
            </a:r>
            <a:r>
              <a:rPr sz="719" i="0">
                <a:solidFill>
                  <a:srgbClr val="E6EDF3"/>
                </a:solidFill>
                <a:latin typeface="Inconsolata"/>
              </a:rPr>
              <a:t>, </a:t>
            </a:r>
            <a:r>
              <a:rPr sz="719" i="0">
                <a:solidFill>
                  <a:srgbClr val="A5D6A7"/>
                </a:solidFill>
                <a:latin typeface="Inconsolata"/>
              </a:rPr>
              <a:t>"production"</a:t>
            </a:r>
            <a:r>
              <a:rPr sz="719" i="0">
                <a:solidFill>
                  <a:srgbClr val="E6EDF3"/>
                </a:solidFill>
                <a:latin typeface="Inconsolata"/>
              </a:rPr>
              <a:t>)</a:t>
            </a:r>
          </a:p>
          <a:p>
            <a:pPr>
              <a:lnSpc>
                <a:spcPct val="104277"/>
              </a:lnSpc>
              <a:spcAft>
                <a:spcPts val="0"/>
              </a:spcAft>
            </a:pPr>
            <a:r>
              <a:rPr sz="719" i="0">
                <a:solidFill>
                  <a:srgbClr val="5C6773"/>
                </a:solidFill>
                <a:latin typeface="Inconsolata"/>
              </a:rPr>
              <a:t>20  </a:t>
            </a:r>
            <a:r>
              <a:rPr sz="719" i="0">
                <a:solidFill>
                  <a:srgbClr val="7FDBCA"/>
                </a:solidFill>
                <a:latin typeface="Inconsolata"/>
              </a:rPr>
              <a:t>FRONTEND</a:t>
            </a:r>
            <a:r>
              <a:rPr sz="719" i="0">
                <a:solidFill>
                  <a:srgbClr val="E6EDF3"/>
                </a:solidFill>
                <a:latin typeface="Inconsolata"/>
              </a:rPr>
              <a:t> = [</a:t>
            </a:r>
            <a:r>
              <a:rPr sz="719" i="0">
                <a:solidFill>
                  <a:srgbClr val="A5D6A7"/>
                </a:solidFill>
                <a:latin typeface="Inconsolata"/>
              </a:rPr>
              <a:t>"https://toko.com"</a:t>
            </a:r>
            <a:r>
              <a:rPr sz="719" i="0">
                <a:solidFill>
                  <a:srgbClr val="E6EDF3"/>
                </a:solidFill>
                <a:latin typeface="Inconsolata"/>
              </a:rPr>
              <a:t>]</a:t>
            </a:r>
          </a:p>
          <a:p>
            <a:pPr>
              <a:lnSpc>
                <a:spcPct val="104277"/>
              </a:lnSpc>
              <a:spcAft>
                <a:spcPts val="0"/>
              </a:spcAft>
            </a:pPr>
            <a:r>
              <a:rPr sz="719" i="0">
                <a:solidFill>
                  <a:srgbClr val="5C6773"/>
                </a:solidFill>
                <a:latin typeface="Inconsolata"/>
              </a:rPr>
              <a:t>21  </a:t>
            </a:r>
            <a:r>
              <a:rPr sz="719" i="0">
                <a:solidFill>
                  <a:srgbClr val="E6EDF3"/>
                </a:solidFill>
                <a:latin typeface="Inconsolata"/>
              </a:rPr>
              <a:t> </a:t>
            </a:r>
          </a:p>
          <a:p>
            <a:pPr>
              <a:lnSpc>
                <a:spcPct val="104277"/>
              </a:lnSpc>
              <a:spcAft>
                <a:spcPts val="0"/>
              </a:spcAft>
            </a:pPr>
            <a:r>
              <a:rPr sz="719" i="0">
                <a:solidFill>
                  <a:srgbClr val="5C6773"/>
                </a:solidFill>
                <a:latin typeface="Inconsolata"/>
              </a:rPr>
              <a:t>22  </a:t>
            </a:r>
            <a:r>
              <a:rPr sz="719" i="0">
                <a:solidFill>
                  <a:srgbClr val="E6EDF3"/>
                </a:solidFill>
                <a:latin typeface="Inconsolata"/>
              </a:rPr>
              <a:t>docs = </a:t>
            </a:r>
            <a:r>
              <a:rPr sz="719" i="0">
                <a:solidFill>
                  <a:srgbClr val="A5D6A7"/>
                </a:solidFill>
                <a:latin typeface="Inconsolata"/>
              </a:rPr>
              <a:t>"/docs"</a:t>
            </a:r>
            <a:r>
              <a:rPr sz="719" i="0">
                <a:solidFill>
                  <a:srgbClr val="E6EDF3"/>
                </a:solidFill>
                <a:latin typeface="Inconsolata"/>
              </a:rPr>
              <a:t> </a:t>
            </a:r>
            <a:r>
              <a:rPr sz="719" i="0">
                <a:solidFill>
                  <a:srgbClr val="FF8E6E"/>
                </a:solidFill>
                <a:latin typeface="Inconsolata"/>
              </a:rPr>
              <a:t>if</a:t>
            </a:r>
            <a:r>
              <a:rPr sz="719" i="0">
                <a:solidFill>
                  <a:srgbClr val="E6EDF3"/>
                </a:solidFill>
                <a:latin typeface="Inconsolata"/>
              </a:rPr>
              <a:t> </a:t>
            </a:r>
            <a:r>
              <a:rPr sz="719" i="0">
                <a:solidFill>
                  <a:srgbClr val="7FDBCA"/>
                </a:solidFill>
                <a:latin typeface="Inconsolata"/>
              </a:rPr>
              <a:t>ENV</a:t>
            </a:r>
            <a:r>
              <a:rPr sz="719" i="0">
                <a:solidFill>
                  <a:srgbClr val="E6EDF3"/>
                </a:solidFill>
                <a:latin typeface="Inconsolata"/>
              </a:rPr>
              <a:t> == </a:t>
            </a:r>
            <a:r>
              <a:rPr sz="719" i="0">
                <a:solidFill>
                  <a:srgbClr val="A5D6A7"/>
                </a:solidFill>
                <a:latin typeface="Inconsolata"/>
              </a:rPr>
              <a:t>"development"</a:t>
            </a:r>
            <a:r>
              <a:rPr sz="719" i="0">
                <a:solidFill>
                  <a:srgbClr val="E6EDF3"/>
                </a:solidFill>
                <a:latin typeface="Inconsolata"/>
              </a:rPr>
              <a:t> </a:t>
            </a:r>
            <a:r>
              <a:rPr sz="719" i="0">
                <a:solidFill>
                  <a:srgbClr val="FF8E6E"/>
                </a:solidFill>
                <a:latin typeface="Inconsolata"/>
              </a:rPr>
              <a:t>else</a:t>
            </a:r>
            <a:r>
              <a:rPr sz="719" i="0">
                <a:solidFill>
                  <a:srgbClr val="E6EDF3"/>
                </a:solidFill>
                <a:latin typeface="Inconsolata"/>
              </a:rPr>
              <a:t> </a:t>
            </a:r>
            <a:r>
              <a:rPr sz="719" i="0">
                <a:solidFill>
                  <a:srgbClr val="FF8E6E"/>
                </a:solidFill>
                <a:latin typeface="Inconsolata"/>
              </a:rPr>
              <a:t>None</a:t>
            </a:r>
          </a:p>
          <a:p>
            <a:pPr>
              <a:lnSpc>
                <a:spcPct val="104277"/>
              </a:lnSpc>
              <a:spcAft>
                <a:spcPts val="0"/>
              </a:spcAft>
            </a:pPr>
            <a:r>
              <a:rPr sz="719" i="0">
                <a:solidFill>
                  <a:srgbClr val="5C6773"/>
                </a:solidFill>
                <a:latin typeface="Inconsolata"/>
              </a:rPr>
              <a:t>23  </a:t>
            </a:r>
            <a:r>
              <a:rPr sz="719" i="0">
                <a:solidFill>
                  <a:srgbClr val="E6EDF3"/>
                </a:solidFill>
                <a:latin typeface="Inconsolata"/>
              </a:rPr>
              <a:t>openapi = </a:t>
            </a:r>
            <a:r>
              <a:rPr sz="719" i="0">
                <a:solidFill>
                  <a:srgbClr val="A5D6A7"/>
                </a:solidFill>
                <a:latin typeface="Inconsolata"/>
              </a:rPr>
              <a:t>"/openapi.json"</a:t>
            </a:r>
            <a:r>
              <a:rPr sz="719" i="0">
                <a:solidFill>
                  <a:srgbClr val="E6EDF3"/>
                </a:solidFill>
                <a:latin typeface="Inconsolata"/>
              </a:rPr>
              <a:t> </a:t>
            </a:r>
            <a:r>
              <a:rPr sz="719" i="0">
                <a:solidFill>
                  <a:srgbClr val="FF8E6E"/>
                </a:solidFill>
                <a:latin typeface="Inconsolata"/>
              </a:rPr>
              <a:t>if</a:t>
            </a:r>
            <a:r>
              <a:rPr sz="719" i="0">
                <a:solidFill>
                  <a:srgbClr val="E6EDF3"/>
                </a:solidFill>
                <a:latin typeface="Inconsolata"/>
              </a:rPr>
              <a:t> </a:t>
            </a:r>
            <a:r>
              <a:rPr sz="719" i="0">
                <a:solidFill>
                  <a:srgbClr val="7FDBCA"/>
                </a:solidFill>
                <a:latin typeface="Inconsolata"/>
              </a:rPr>
              <a:t>ENV</a:t>
            </a:r>
            <a:r>
              <a:rPr sz="719" i="0">
                <a:solidFill>
                  <a:srgbClr val="E6EDF3"/>
                </a:solidFill>
                <a:latin typeface="Inconsolata"/>
              </a:rPr>
              <a:t> == </a:t>
            </a:r>
            <a:r>
              <a:rPr sz="719" i="0">
                <a:solidFill>
                  <a:srgbClr val="A5D6A7"/>
                </a:solidFill>
                <a:latin typeface="Inconsolata"/>
              </a:rPr>
              <a:t>"development"</a:t>
            </a:r>
            <a:r>
              <a:rPr sz="719" i="0">
                <a:solidFill>
                  <a:srgbClr val="E6EDF3"/>
                </a:solidFill>
                <a:latin typeface="Inconsolata"/>
              </a:rPr>
              <a:t> </a:t>
            </a:r>
            <a:r>
              <a:rPr sz="719" i="0">
                <a:solidFill>
                  <a:srgbClr val="FF8E6E"/>
                </a:solidFill>
                <a:latin typeface="Inconsolata"/>
              </a:rPr>
              <a:t>else</a:t>
            </a:r>
            <a:r>
              <a:rPr sz="719" i="0">
                <a:solidFill>
                  <a:srgbClr val="E6EDF3"/>
                </a:solidFill>
                <a:latin typeface="Inconsolata"/>
              </a:rPr>
              <a:t> </a:t>
            </a:r>
            <a:r>
              <a:rPr sz="719" i="0">
                <a:solidFill>
                  <a:srgbClr val="FF8E6E"/>
                </a:solidFill>
                <a:latin typeface="Inconsolata"/>
              </a:rPr>
              <a:t>None</a:t>
            </a:r>
          </a:p>
          <a:p>
            <a:pPr>
              <a:lnSpc>
                <a:spcPct val="104277"/>
              </a:lnSpc>
              <a:spcAft>
                <a:spcPts val="0"/>
              </a:spcAft>
            </a:pPr>
            <a:r>
              <a:rPr sz="719" i="0">
                <a:solidFill>
                  <a:srgbClr val="5C6773"/>
                </a:solidFill>
                <a:latin typeface="Inconsolata"/>
              </a:rPr>
              <a:t>24  </a:t>
            </a:r>
            <a:r>
              <a:rPr sz="719" i="0">
                <a:solidFill>
                  <a:srgbClr val="E6EDF3"/>
                </a:solidFill>
                <a:latin typeface="Inconsolata"/>
              </a:rPr>
              <a:t>app = </a:t>
            </a:r>
            <a:r>
              <a:rPr sz="719" i="0">
                <a:solidFill>
                  <a:srgbClr val="7FDBCA"/>
                </a:solidFill>
                <a:latin typeface="Inconsolata"/>
              </a:rPr>
              <a:t>FastAPI</a:t>
            </a:r>
            <a:r>
              <a:rPr sz="719" i="0">
                <a:solidFill>
                  <a:srgbClr val="E6EDF3"/>
                </a:solidFill>
                <a:latin typeface="Inconsolata"/>
              </a:rPr>
              <a:t>(docs_url=docs, redoc_url=</a:t>
            </a:r>
            <a:r>
              <a:rPr sz="719" i="0">
                <a:solidFill>
                  <a:srgbClr val="FF8E6E"/>
                </a:solidFill>
                <a:latin typeface="Inconsolata"/>
              </a:rPr>
              <a:t>None</a:t>
            </a:r>
            <a:r>
              <a:rPr sz="719" i="0">
                <a:solidFill>
                  <a:srgbClr val="E6EDF3"/>
                </a:solidFill>
                <a:latin typeface="Inconsolata"/>
              </a:rPr>
              <a:t>, openapi_url=openapi)</a:t>
            </a:r>
          </a:p>
          <a:p>
            <a:pPr>
              <a:lnSpc>
                <a:spcPct val="104277"/>
              </a:lnSpc>
              <a:spcAft>
                <a:spcPts val="0"/>
              </a:spcAft>
            </a:pPr>
            <a:r>
              <a:rPr sz="719" i="0">
                <a:solidFill>
                  <a:srgbClr val="5C6773"/>
                </a:solidFill>
                <a:latin typeface="Inconsolata"/>
              </a:rPr>
              <a:t>25  </a:t>
            </a:r>
            <a:r>
              <a:rPr sz="719" i="0">
                <a:solidFill>
                  <a:srgbClr val="E6EDF3"/>
                </a:solidFill>
                <a:latin typeface="Inconsolata"/>
              </a:rPr>
              <a:t>app.add_middleware(</a:t>
            </a:r>
            <a:r>
              <a:rPr sz="719" i="0">
                <a:solidFill>
                  <a:srgbClr val="7FDBCA"/>
                </a:solidFill>
                <a:latin typeface="Inconsolata"/>
              </a:rPr>
              <a:t>CORSMiddleware</a:t>
            </a:r>
            <a:r>
              <a:rPr sz="719" i="0">
                <a:solidFill>
                  <a:srgbClr val="E6EDF3"/>
                </a:solidFill>
                <a:latin typeface="Inconsolata"/>
              </a:rPr>
              <a:t>, allow_origins=</a:t>
            </a:r>
            <a:r>
              <a:rPr sz="719" i="0">
                <a:solidFill>
                  <a:srgbClr val="7FDBCA"/>
                </a:solidFill>
                <a:latin typeface="Inconsolata"/>
              </a:rPr>
              <a:t>FRONTEND</a:t>
            </a:r>
            <a:r>
              <a:rPr sz="719" i="0">
                <a:solidFill>
                  <a:srgbClr val="E6EDF3"/>
                </a:solidFill>
                <a:latin typeface="Inconsolata"/>
              </a:rPr>
              <a:t>,</a:t>
            </a:r>
          </a:p>
          <a:p>
            <a:pPr>
              <a:lnSpc>
                <a:spcPct val="104277"/>
              </a:lnSpc>
              <a:spcAft>
                <a:spcPts val="0"/>
              </a:spcAft>
            </a:pPr>
            <a:r>
              <a:rPr sz="719" i="0">
                <a:solidFill>
                  <a:srgbClr val="5C6773"/>
                </a:solidFill>
                <a:latin typeface="Inconsolata"/>
              </a:rPr>
              <a:t>26  </a:t>
            </a:r>
            <a:r>
              <a:rPr sz="719" i="0">
                <a:solidFill>
                  <a:srgbClr val="E6EDF3"/>
                </a:solidFill>
                <a:latin typeface="Inconsolata"/>
              </a:rPr>
              <a:t>                   allow_methods=[</a:t>
            </a:r>
            <a:r>
              <a:rPr sz="719" i="0">
                <a:solidFill>
                  <a:srgbClr val="A5D6A7"/>
                </a:solidFill>
                <a:latin typeface="Inconsolata"/>
              </a:rPr>
              <a:t>"GET"</a:t>
            </a:r>
            <a:r>
              <a:rPr sz="719" i="0">
                <a:solidFill>
                  <a:srgbClr val="E6EDF3"/>
                </a:solidFill>
                <a:latin typeface="Inconsolata"/>
              </a:rPr>
              <a:t>, </a:t>
            </a:r>
            <a:r>
              <a:rPr sz="719" i="0">
                <a:solidFill>
                  <a:srgbClr val="A5D6A7"/>
                </a:solidFill>
                <a:latin typeface="Inconsolata"/>
              </a:rPr>
              <a:t>"POST"</a:t>
            </a:r>
            <a:r>
              <a:rPr sz="719" i="0">
                <a:solidFill>
                  <a:srgbClr val="E6EDF3"/>
                </a:solidFill>
                <a:latin typeface="Inconsolata"/>
              </a:rPr>
              <a:t>],</a:t>
            </a:r>
          </a:p>
          <a:p>
            <a:pPr>
              <a:lnSpc>
                <a:spcPct val="104277"/>
              </a:lnSpc>
              <a:spcAft>
                <a:spcPts val="0"/>
              </a:spcAft>
            </a:pPr>
            <a:r>
              <a:rPr sz="719" i="0">
                <a:solidFill>
                  <a:srgbClr val="5C6773"/>
                </a:solidFill>
                <a:latin typeface="Inconsolata"/>
              </a:rPr>
              <a:t>27  </a:t>
            </a:r>
            <a:r>
              <a:rPr sz="719" i="0">
                <a:solidFill>
                  <a:srgbClr val="E6EDF3"/>
                </a:solidFill>
                <a:latin typeface="Inconsolata"/>
              </a:rPr>
              <a:t>                   allow_headers=[</a:t>
            </a:r>
            <a:r>
              <a:rPr sz="719" i="0">
                <a:solidFill>
                  <a:srgbClr val="A5D6A7"/>
                </a:solidFill>
                <a:latin typeface="Inconsolata"/>
              </a:rPr>
              <a:t>"Authorization"</a:t>
            </a:r>
            <a:r>
              <a:rPr sz="719" i="0">
                <a:solidFill>
                  <a:srgbClr val="E6EDF3"/>
                </a:solidFill>
                <a:latin typeface="Inconsolata"/>
              </a:rPr>
              <a:t>, </a:t>
            </a:r>
            <a:r>
              <a:rPr sz="719" i="0">
                <a:solidFill>
                  <a:srgbClr val="A5D6A7"/>
                </a:solidFill>
                <a:latin typeface="Inconsolata"/>
              </a:rPr>
              <a:t>"Content-Type"</a:t>
            </a:r>
            <a:r>
              <a:rPr sz="719" i="0">
                <a:solidFill>
                  <a:srgbClr val="E6EDF3"/>
                </a:solidFill>
                <a:latin typeface="Inconsolata"/>
              </a:rPr>
              <a:t>])</a:t>
            </a:r>
          </a:p>
          <a:p>
            <a:pPr>
              <a:lnSpc>
                <a:spcPct val="104277"/>
              </a:lnSpc>
              <a:spcAft>
                <a:spcPts val="0"/>
              </a:spcAft>
            </a:pPr>
            <a:r>
              <a:rPr sz="719" i="0">
                <a:solidFill>
                  <a:srgbClr val="5C6773"/>
                </a:solidFill>
                <a:latin typeface="Inconsolata"/>
              </a:rPr>
              <a:t>28  </a:t>
            </a:r>
            <a:r>
              <a:rPr sz="719" i="0">
                <a:solidFill>
                  <a:srgbClr val="E6EDF3"/>
                </a:solidFill>
                <a:latin typeface="Inconsolata"/>
              </a:rPr>
              <a:t>logger = logging.getLogger(</a:t>
            </a:r>
            <a:r>
              <a:rPr sz="719" i="0">
                <a:solidFill>
                  <a:srgbClr val="A5D6A7"/>
                </a:solidFill>
                <a:latin typeface="Inconsolata"/>
              </a:rPr>
              <a:t>"app"</a:t>
            </a:r>
            <a:r>
              <a:rPr sz="719"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03-security-misconfiguration/after.py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31  </a:t>
            </a:r>
            <a:r>
              <a:rPr sz="719" i="0">
                <a:solidFill>
                  <a:srgbClr val="F9C97A"/>
                </a:solidFill>
                <a:latin typeface="Inconsolata"/>
              </a:rPr>
              <a:t>@app.exception_handler</a:t>
            </a:r>
            <a:r>
              <a:rPr sz="719" i="0">
                <a:solidFill>
                  <a:srgbClr val="E6EDF3"/>
                </a:solidFill>
                <a:latin typeface="Inconsolata"/>
              </a:rPr>
              <a:t>(</a:t>
            </a:r>
            <a:r>
              <a:rPr sz="719" i="0">
                <a:solidFill>
                  <a:srgbClr val="7FDBCA"/>
                </a:solidFill>
                <a:latin typeface="Inconsolata"/>
              </a:rPr>
              <a:t>Exception</a:t>
            </a:r>
            <a:r>
              <a:rPr sz="719" i="0">
                <a:solidFill>
                  <a:srgbClr val="E6EDF3"/>
                </a:solidFill>
                <a:latin typeface="Inconsolata"/>
              </a:rPr>
              <a:t>)</a:t>
            </a:r>
          </a:p>
          <a:p>
            <a:pPr>
              <a:lnSpc>
                <a:spcPct val="104277"/>
              </a:lnSpc>
              <a:spcAft>
                <a:spcPts val="0"/>
              </a:spcAft>
            </a:pPr>
            <a:r>
              <a:rPr sz="719" i="0">
                <a:solidFill>
                  <a:srgbClr val="5C6773"/>
                </a:solidFill>
                <a:latin typeface="Inconsolata"/>
              </a:rPr>
              <a:t>32  </a:t>
            </a:r>
            <a:r>
              <a:rPr sz="719" i="0">
                <a:solidFill>
                  <a:srgbClr val="FF8E6E"/>
                </a:solidFill>
                <a:latin typeface="Inconsolata"/>
              </a:rPr>
              <a:t>async</a:t>
            </a:r>
            <a:r>
              <a:rPr sz="719" i="0">
                <a:solidFill>
                  <a:srgbClr val="E6EDF3"/>
                </a:solidFill>
                <a:latin typeface="Inconsolata"/>
              </a:rPr>
              <a:t>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handle_bug</a:t>
            </a:r>
            <a:r>
              <a:rPr sz="719" i="0">
                <a:solidFill>
                  <a:srgbClr val="E6EDF3"/>
                </a:solidFill>
                <a:latin typeface="Inconsolata"/>
              </a:rPr>
              <a:t>(request: </a:t>
            </a:r>
            <a:r>
              <a:rPr sz="719" i="0">
                <a:solidFill>
                  <a:srgbClr val="7FDBCA"/>
                </a:solidFill>
                <a:latin typeface="Inconsolata"/>
              </a:rPr>
              <a:t>Request</a:t>
            </a:r>
            <a:r>
              <a:rPr sz="719" i="0">
                <a:solidFill>
                  <a:srgbClr val="E6EDF3"/>
                </a:solidFill>
                <a:latin typeface="Inconsolata"/>
              </a:rPr>
              <a:t>, exc: </a:t>
            </a:r>
            <a:r>
              <a:rPr sz="719" i="0">
                <a:solidFill>
                  <a:srgbClr val="7FDBCA"/>
                </a:solidFill>
                <a:latin typeface="Inconsolata"/>
              </a:rPr>
              <a:t>Exception</a:t>
            </a:r>
            <a:r>
              <a:rPr sz="719" i="0">
                <a:solidFill>
                  <a:srgbClr val="E6EDF3"/>
                </a:solidFill>
                <a:latin typeface="Inconsolata"/>
              </a:rPr>
              <a:t>):</a:t>
            </a:r>
          </a:p>
          <a:p>
            <a:pPr>
              <a:lnSpc>
                <a:spcPct val="104277"/>
              </a:lnSpc>
              <a:spcAft>
                <a:spcPts val="0"/>
              </a:spcAft>
            </a:pPr>
            <a:r>
              <a:rPr sz="719" i="0">
                <a:solidFill>
                  <a:srgbClr val="5C6773"/>
                </a:solidFill>
                <a:latin typeface="Inconsolata"/>
              </a:rPr>
              <a:t>33  </a:t>
            </a:r>
            <a:r>
              <a:rPr sz="719" i="0">
                <a:solidFill>
                  <a:srgbClr val="E6EDF3"/>
                </a:solidFill>
                <a:latin typeface="Inconsolata"/>
              </a:rPr>
              <a:t>    logger.error(</a:t>
            </a:r>
            <a:r>
              <a:rPr sz="719" i="0">
                <a:solidFill>
                  <a:srgbClr val="A5D6A7"/>
                </a:solidFill>
                <a:latin typeface="Inconsolata"/>
              </a:rPr>
              <a:t>"error tidak terduga"</a:t>
            </a:r>
            <a:r>
              <a:rPr sz="719" i="0">
                <a:solidFill>
                  <a:srgbClr val="E6EDF3"/>
                </a:solidFill>
                <a:latin typeface="Inconsolata"/>
              </a:rPr>
              <a:t>, exc_info=exc)  </a:t>
            </a:r>
            <a:r>
              <a:rPr sz="719" i="1">
                <a:solidFill>
                  <a:srgbClr val="8B98A8"/>
                </a:solidFill>
                <a:latin typeface="Inconsolata"/>
              </a:rPr>
              <a:t># detail di log</a:t>
            </a:r>
          </a:p>
          <a:p>
            <a:pPr>
              <a:lnSpc>
                <a:spcPct val="104277"/>
              </a:lnSpc>
              <a:spcAft>
                <a:spcPts val="0"/>
              </a:spcAft>
            </a:pPr>
            <a:r>
              <a:rPr sz="719" i="0">
                <a:solidFill>
                  <a:srgbClr val="5C6773"/>
                </a:solidFill>
                <a:latin typeface="Inconsolata"/>
              </a:rPr>
              <a:t>34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a:t>
            </a:r>
            <a:r>
              <a:rPr sz="719" i="0">
                <a:solidFill>
                  <a:srgbClr val="7FDBCA"/>
                </a:solidFill>
                <a:latin typeface="Inconsolata"/>
              </a:rPr>
              <a:t>JSONResponse</a:t>
            </a:r>
            <a:r>
              <a:rPr sz="719" i="0">
                <a:solidFill>
                  <a:srgbClr val="E6EDF3"/>
                </a:solidFill>
                <a:latin typeface="Inconsolata"/>
              </a:rPr>
              <a:t>(status_code=</a:t>
            </a:r>
            <a:r>
              <a:rPr sz="719" i="0">
                <a:solidFill>
                  <a:srgbClr val="F9C97A"/>
                </a:solidFill>
                <a:latin typeface="Inconsolata"/>
              </a:rPr>
              <a:t>500</a:t>
            </a:r>
            <a:r>
              <a:rPr sz="719" i="0">
                <a:solidFill>
                  <a:srgbClr val="E6EDF3"/>
                </a:solidFill>
                <a:latin typeface="Inconsolata"/>
              </a:rPr>
              <a:t>,</a:t>
            </a:r>
          </a:p>
          <a:p>
            <a:pPr>
              <a:lnSpc>
                <a:spcPct val="104277"/>
              </a:lnSpc>
              <a:spcAft>
                <a:spcPts val="0"/>
              </a:spcAft>
            </a:pPr>
            <a:r>
              <a:rPr sz="719" i="0">
                <a:solidFill>
                  <a:srgbClr val="5C6773"/>
                </a:solidFill>
                <a:latin typeface="Inconsolata"/>
              </a:rPr>
              <a:t>35  </a:t>
            </a:r>
            <a:r>
              <a:rPr sz="719" i="0">
                <a:solidFill>
                  <a:srgbClr val="E6EDF3"/>
                </a:solidFill>
                <a:latin typeface="Inconsolata"/>
              </a:rPr>
              <a:t>                        content={</a:t>
            </a:r>
            <a:r>
              <a:rPr sz="719" i="0">
                <a:solidFill>
                  <a:srgbClr val="A5D6A7"/>
                </a:solidFill>
                <a:latin typeface="Inconsolata"/>
              </a:rPr>
              <a:t>"error"</a:t>
            </a:r>
            <a:r>
              <a:rPr sz="719" i="0">
                <a:solidFill>
                  <a:srgbClr val="E6EDF3"/>
                </a:solidFill>
                <a:latin typeface="Inconsolata"/>
              </a:rPr>
              <a:t>: </a:t>
            </a:r>
            <a:r>
              <a:rPr sz="719" i="0">
                <a:solidFill>
                  <a:srgbClr val="A5D6A7"/>
                </a:solidFill>
                <a:latin typeface="Inconsolata"/>
              </a:rPr>
              <a:t>"internal_error"</a:t>
            </a:r>
            <a:r>
              <a:rPr sz="719" i="0">
                <a:solidFill>
                  <a:srgbClr val="E6EDF3"/>
                </a:solidFill>
                <a:latin typeface="Inconsolata"/>
              </a:rPr>
              <a:t>})</a:t>
            </a:r>
          </a:p>
          <a:p>
            <a:pPr>
              <a:lnSpc>
                <a:spcPct val="104277"/>
              </a:lnSpc>
              <a:spcAft>
                <a:spcPts val="0"/>
              </a:spcAft>
            </a:pPr>
            <a:r>
              <a:rPr sz="719" i="0">
                <a:solidFill>
                  <a:srgbClr val="5C6773"/>
                </a:solidFill>
                <a:latin typeface="Inconsolata"/>
              </a:rPr>
              <a:t>36  </a:t>
            </a:r>
            <a:r>
              <a:rPr sz="719" i="0">
                <a:solidFill>
                  <a:srgbClr val="E6EDF3"/>
                </a:solidFill>
                <a:latin typeface="Inconsolata"/>
              </a:rPr>
              <a:t> </a:t>
            </a:r>
          </a:p>
          <a:p>
            <a:pPr>
              <a:lnSpc>
                <a:spcPct val="104277"/>
              </a:lnSpc>
              <a:spcAft>
                <a:spcPts val="0"/>
              </a:spcAft>
            </a:pPr>
            <a:r>
              <a:rPr sz="719" i="0">
                <a:solidFill>
                  <a:srgbClr val="5C6773"/>
                </a:solidFill>
                <a:latin typeface="Inconsolata"/>
              </a:rPr>
              <a:t>37  </a:t>
            </a:r>
            <a:r>
              <a:rPr sz="719" i="0">
                <a:solidFill>
                  <a:srgbClr val="E6EDF3"/>
                </a:solidFill>
                <a:latin typeface="Inconsolata"/>
              </a:rPr>
              <a:t> </a:t>
            </a:r>
          </a:p>
          <a:p>
            <a:pPr>
              <a:lnSpc>
                <a:spcPct val="104277"/>
              </a:lnSpc>
              <a:spcAft>
                <a:spcPts val="0"/>
              </a:spcAft>
            </a:pPr>
            <a:r>
              <a:rPr sz="719" i="0">
                <a:solidFill>
                  <a:srgbClr val="5C6773"/>
                </a:solidFill>
                <a:latin typeface="Inconsolata"/>
              </a:rPr>
              <a:t>38  </a:t>
            </a:r>
            <a:r>
              <a:rPr sz="719" i="0">
                <a:solidFill>
                  <a:srgbClr val="F9C97A"/>
                </a:solidFill>
                <a:latin typeface="Inconsolata"/>
              </a:rPr>
              <a:t>@app.get</a:t>
            </a:r>
            <a:r>
              <a:rPr sz="719" i="0">
                <a:solidFill>
                  <a:srgbClr val="E6EDF3"/>
                </a:solidFill>
                <a:latin typeface="Inconsolata"/>
              </a:rPr>
              <a:t>(</a:t>
            </a:r>
            <a:r>
              <a:rPr sz="719" i="0">
                <a:solidFill>
                  <a:srgbClr val="A5D6A7"/>
                </a:solidFill>
                <a:latin typeface="Inconsolata"/>
              </a:rPr>
              <a:t>"/products"</a:t>
            </a:r>
            <a:r>
              <a:rPr sz="719" i="0">
                <a:solidFill>
                  <a:srgbClr val="E6EDF3"/>
                </a:solidFill>
                <a:latin typeface="Inconsolata"/>
              </a:rPr>
              <a:t>)</a:t>
            </a:r>
          </a:p>
          <a:p>
            <a:pPr>
              <a:lnSpc>
                <a:spcPct val="104277"/>
              </a:lnSpc>
              <a:spcAft>
                <a:spcPts val="0"/>
              </a:spcAft>
            </a:pPr>
            <a:r>
              <a:rPr sz="719" i="0">
                <a:solidFill>
                  <a:srgbClr val="5C6773"/>
                </a:solidFill>
                <a:latin typeface="Inconsolata"/>
              </a:rPr>
              <a:t>39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list_products</a:t>
            </a:r>
            <a:r>
              <a:rPr sz="719" i="0">
                <a:solidFill>
                  <a:srgbClr val="E6EDF3"/>
                </a:solidFill>
                <a:latin typeface="Inconsolata"/>
              </a:rPr>
              <a:t>():</a:t>
            </a:r>
          </a:p>
          <a:p>
            <a:pPr>
              <a:lnSpc>
                <a:spcPct val="104277"/>
              </a:lnSpc>
              <a:spcAft>
                <a:spcPts val="0"/>
              </a:spcAft>
            </a:pPr>
            <a:r>
              <a:rPr sz="719" i="0">
                <a:solidFill>
                  <a:srgbClr val="5C6773"/>
                </a:solidFill>
                <a:latin typeface="Inconsolata"/>
              </a:rPr>
              <a:t>40  </a:t>
            </a:r>
            <a:r>
              <a:rPr sz="719" i="0">
                <a:solidFill>
                  <a:srgbClr val="E6EDF3"/>
                </a:solidFill>
                <a:latin typeface="Inconsolata"/>
              </a:rPr>
              <a:t>    </a:t>
            </a:r>
            <a:r>
              <a:rPr sz="719" i="1">
                <a:solidFill>
                  <a:srgbClr val="8B98A8"/>
                </a:solidFill>
                <a:latin typeface="Inconsolata"/>
              </a:rPr>
              <a:t># anggap: database sedang mati</a:t>
            </a:r>
          </a:p>
          <a:p>
            <a:pPr>
              <a:lnSpc>
                <a:spcPct val="104277"/>
              </a:lnSpc>
              <a:spcAft>
                <a:spcPts val="0"/>
              </a:spcAft>
            </a:pPr>
            <a:r>
              <a:rPr sz="719" i="0">
                <a:solidFill>
                  <a:srgbClr val="5C6773"/>
                </a:solidFill>
                <a:latin typeface="Inconsolata"/>
              </a:rPr>
              <a:t>41  </a:t>
            </a:r>
            <a:r>
              <a:rPr sz="719" i="0">
                <a:solidFill>
                  <a:srgbClr val="E6EDF3"/>
                </a:solidFill>
                <a:latin typeface="Inconsolata"/>
              </a:rPr>
              <a:t>    </a:t>
            </a:r>
            <a:r>
              <a:rPr sz="719" i="0">
                <a:solidFill>
                  <a:srgbClr val="FF8E6E"/>
                </a:solidFill>
                <a:latin typeface="Inconsolata"/>
              </a:rPr>
              <a:t>raise</a:t>
            </a:r>
            <a:r>
              <a:rPr sz="719" i="0">
                <a:solidFill>
                  <a:srgbClr val="E6EDF3"/>
                </a:solidFill>
                <a:latin typeface="Inconsolata"/>
              </a:rPr>
              <a:t> </a:t>
            </a:r>
            <a:r>
              <a:rPr sz="719" i="0">
                <a:solidFill>
                  <a:srgbClr val="7FDBCA"/>
                </a:solidFill>
                <a:latin typeface="Inconsolata"/>
              </a:rPr>
              <a:t>ConnectionError</a:t>
            </a:r>
            <a:r>
              <a:rPr sz="719" i="0">
                <a:solidFill>
                  <a:srgbClr val="E6EDF3"/>
                </a:solidFill>
                <a:latin typeface="Inconsolata"/>
              </a:rPr>
              <a:t>(</a:t>
            </a:r>
            <a:r>
              <a:rPr sz="719" i="0">
                <a:solidFill>
                  <a:srgbClr val="A5D6A7"/>
                </a:solidFill>
                <a:latin typeface="Inconsolata"/>
              </a:rPr>
              <a:t>f"gagal konek ke {DATABASE_URL}"</a:t>
            </a:r>
            <a:r>
              <a:rPr sz="719" i="0">
                <a:solidFill>
                  <a:srgbClr val="E6EDF3"/>
                </a:solidFill>
                <a:latin typeface="Inconsolata"/>
              </a:rPr>
              <a:t>)</a:t>
            </a:r>
          </a:p>
          <a:p>
            <a:pPr>
              <a:lnSpc>
                <a:spcPct val="104277"/>
              </a:lnSpc>
              <a:spcAft>
                <a:spcPts val="0"/>
              </a:spcAft>
            </a:pPr>
            <a:r>
              <a:rPr sz="719" i="0">
                <a:solidFill>
                  <a:srgbClr val="5C6773"/>
                </a:solidFill>
                <a:latin typeface="Inconsolata"/>
              </a:rPr>
              <a:t>42  </a:t>
            </a:r>
            <a:r>
              <a:rPr sz="719" i="0">
                <a:solidFill>
                  <a:srgbClr val="E6EDF3"/>
                </a:solidFill>
                <a:latin typeface="Inconsolata"/>
              </a:rPr>
              <a:t> </a:t>
            </a:r>
          </a:p>
          <a:p>
            <a:pPr>
              <a:lnSpc>
                <a:spcPct val="104277"/>
              </a:lnSpc>
              <a:spcAft>
                <a:spcPts val="0"/>
              </a:spcAft>
            </a:pPr>
            <a:r>
              <a:rPr sz="719" i="0">
                <a:solidFill>
                  <a:srgbClr val="5C6773"/>
                </a:solidFill>
                <a:latin typeface="Inconsolata"/>
              </a:rPr>
              <a:t>43  </a:t>
            </a:r>
            <a:r>
              <a:rPr sz="719" i="0">
                <a:solidFill>
                  <a:srgbClr val="E6EDF3"/>
                </a:solidFill>
                <a:latin typeface="Inconsolata"/>
              </a:rPr>
              <a:t> </a:t>
            </a:r>
          </a:p>
          <a:p>
            <a:pPr>
              <a:lnSpc>
                <a:spcPct val="104277"/>
              </a:lnSpc>
              <a:spcAft>
                <a:spcPts val="0"/>
              </a:spcAft>
            </a:pPr>
            <a:r>
              <a:rPr sz="719" i="0">
                <a:solidFill>
                  <a:srgbClr val="5C6773"/>
                </a:solidFill>
                <a:latin typeface="Inconsolata"/>
              </a:rPr>
              <a:t>44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45  </a:t>
            </a:r>
            <a:r>
              <a:rPr sz="719" i="0">
                <a:solidFill>
                  <a:srgbClr val="E6EDF3"/>
                </a:solidFill>
                <a:latin typeface="Inconsolata"/>
              </a:rPr>
              <a:t>    logging.disable()                </a:t>
            </a:r>
            <a:r>
              <a:rPr sz="719" i="1">
                <a:solidFill>
                  <a:srgbClr val="8B98A8"/>
                </a:solidFill>
                <a:latin typeface="Inconsolata"/>
              </a:rPr>
              <a:t># demo: sembunyikan log server</a:t>
            </a:r>
          </a:p>
          <a:p>
            <a:pPr>
              <a:lnSpc>
                <a:spcPct val="104277"/>
              </a:lnSpc>
              <a:spcAft>
                <a:spcPts val="0"/>
              </a:spcAft>
            </a:pPr>
            <a:r>
              <a:rPr sz="719" i="0">
                <a:solidFill>
                  <a:srgbClr val="5C6773"/>
                </a:solidFill>
                <a:latin typeface="Inconsolata"/>
              </a:rPr>
              <a:t>46  </a:t>
            </a:r>
            <a:r>
              <a:rPr sz="719" i="0">
                <a:solidFill>
                  <a:srgbClr val="E6EDF3"/>
                </a:solidFill>
                <a:latin typeface="Inconsolata"/>
              </a:rPr>
              <a:t>    client = </a:t>
            </a:r>
            <a:r>
              <a:rPr sz="719" i="0">
                <a:solidFill>
                  <a:srgbClr val="7FDBCA"/>
                </a:solidFill>
                <a:latin typeface="Inconsolata"/>
              </a:rPr>
              <a:t>TestClient</a:t>
            </a:r>
            <a:r>
              <a:rPr sz="719" i="0">
                <a:solidFill>
                  <a:srgbClr val="E6EDF3"/>
                </a:solidFill>
                <a:latin typeface="Inconsolata"/>
              </a:rPr>
              <a:t>(app, raise_server_exceptions=</a:t>
            </a:r>
            <a:r>
              <a:rPr sz="719" i="0">
                <a:solidFill>
                  <a:srgbClr val="FF8E6E"/>
                </a:solidFill>
                <a:latin typeface="Inconsolata"/>
              </a:rPr>
              <a:t>False</a:t>
            </a:r>
            <a:r>
              <a:rPr sz="719" i="0">
                <a:solidFill>
                  <a:srgbClr val="E6EDF3"/>
                </a:solidFill>
                <a:latin typeface="Inconsolata"/>
              </a:rPr>
              <a:t>)</a:t>
            </a:r>
          </a:p>
          <a:p>
            <a:pPr>
              <a:lnSpc>
                <a:spcPct val="104277"/>
              </a:lnSpc>
              <a:spcAft>
                <a:spcPts val="0"/>
              </a:spcAft>
            </a:pPr>
            <a:r>
              <a:rPr sz="719" i="0">
                <a:solidFill>
                  <a:srgbClr val="5C6773"/>
                </a:solidFill>
                <a:latin typeface="Inconsolata"/>
              </a:rPr>
              <a:t>47  </a:t>
            </a:r>
            <a:r>
              <a:rPr sz="719" i="0">
                <a:solidFill>
                  <a:srgbClr val="E6EDF3"/>
                </a:solidFill>
                <a:latin typeface="Inconsolata"/>
              </a:rPr>
              <a:t>    response = client.get(</a:t>
            </a:r>
            <a:r>
              <a:rPr sz="719" i="0">
                <a:solidFill>
                  <a:srgbClr val="A5D6A7"/>
                </a:solidFill>
                <a:latin typeface="Inconsolata"/>
              </a:rPr>
              <a:t>"/products"</a:t>
            </a:r>
            <a:r>
              <a:rPr sz="719" i="0">
                <a:solidFill>
                  <a:srgbClr val="E6EDF3"/>
                </a:solidFill>
                <a:latin typeface="Inconsolata"/>
              </a:rPr>
              <a:t>,</a:t>
            </a:r>
          </a:p>
          <a:p>
            <a:pPr>
              <a:lnSpc>
                <a:spcPct val="104277"/>
              </a:lnSpc>
              <a:spcAft>
                <a:spcPts val="0"/>
              </a:spcAft>
            </a:pPr>
            <a:r>
              <a:rPr sz="719" i="0">
                <a:solidFill>
                  <a:srgbClr val="5C6773"/>
                </a:solidFill>
                <a:latin typeface="Inconsolata"/>
              </a:rPr>
              <a:t>48  </a:t>
            </a:r>
            <a:r>
              <a:rPr sz="719" i="0">
                <a:solidFill>
                  <a:srgbClr val="E6EDF3"/>
                </a:solidFill>
                <a:latin typeface="Inconsolata"/>
              </a:rPr>
              <a:t>                          headers={</a:t>
            </a:r>
            <a:r>
              <a:rPr sz="719" i="0">
                <a:solidFill>
                  <a:srgbClr val="A5D6A7"/>
                </a:solidFill>
                <a:latin typeface="Inconsolata"/>
              </a:rPr>
              <a:t>"Origin"</a:t>
            </a:r>
            <a:r>
              <a:rPr sz="719" i="0">
                <a:solidFill>
                  <a:srgbClr val="E6EDF3"/>
                </a:solidFill>
                <a:latin typeface="Inconsolata"/>
              </a:rPr>
              <a:t>: </a:t>
            </a:r>
            <a:r>
              <a:rPr sz="719" i="0">
                <a:solidFill>
                  <a:srgbClr val="A5D6A7"/>
                </a:solidFill>
                <a:latin typeface="Inconsolata"/>
              </a:rPr>
              <a:t>"https://evil.com"</a:t>
            </a:r>
            <a:r>
              <a:rPr sz="719" i="0">
                <a:solidFill>
                  <a:srgbClr val="E6EDF3"/>
                </a:solidFill>
                <a:latin typeface="Inconsolata"/>
              </a:rPr>
              <a:t>})</a:t>
            </a:r>
          </a:p>
          <a:p>
            <a:pPr>
              <a:lnSpc>
                <a:spcPct val="104277"/>
              </a:lnSpc>
              <a:spcAft>
                <a:spcPts val="0"/>
              </a:spcAft>
            </a:pPr>
            <a:r>
              <a:rPr sz="719" i="0">
                <a:solidFill>
                  <a:srgbClr val="5C6773"/>
                </a:solidFill>
                <a:latin typeface="Inconsolata"/>
              </a:rPr>
              <a:t>49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"GET /products -&gt;"</a:t>
            </a:r>
            <a:r>
              <a:rPr sz="719" i="0">
                <a:solidFill>
                  <a:srgbClr val="E6EDF3"/>
                </a:solidFill>
                <a:latin typeface="Inconsolata"/>
              </a:rPr>
              <a:t>, response.status_code)</a:t>
            </a:r>
          </a:p>
          <a:p>
            <a:pPr>
              <a:lnSpc>
                <a:spcPct val="104277"/>
              </a:lnSpc>
              <a:spcAft>
                <a:spcPts val="0"/>
              </a:spcAft>
            </a:pPr>
            <a:r>
              <a:rPr sz="719" i="0">
                <a:solidFill>
                  <a:srgbClr val="5C6773"/>
                </a:solidFill>
                <a:latin typeface="Inconsolata"/>
              </a:rPr>
              <a:t>50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  "</a:t>
            </a:r>
            <a:r>
              <a:rPr sz="719" i="0">
                <a:solidFill>
                  <a:srgbClr val="E6EDF3"/>
                </a:solidFill>
                <a:latin typeface="Inconsolata"/>
              </a:rPr>
              <a:t>, response.text)</a:t>
            </a:r>
          </a:p>
          <a:p>
            <a:pPr>
              <a:lnSpc>
                <a:spcPct val="104277"/>
              </a:lnSpc>
              <a:spcAft>
                <a:spcPts val="0"/>
              </a:spcAft>
            </a:pPr>
            <a:r>
              <a:rPr sz="719" i="0">
                <a:solidFill>
                  <a:srgbClr val="5C6773"/>
                </a:solidFill>
                <a:latin typeface="Inconsolata"/>
              </a:rPr>
              <a:t>51  </a:t>
            </a:r>
            <a:r>
              <a:rPr sz="719" i="0">
                <a:solidFill>
                  <a:srgbClr val="E6EDF3"/>
                </a:solidFill>
                <a:latin typeface="Inconsolata"/>
              </a:rPr>
              <a:t>    docs = client.get(</a:t>
            </a:r>
            <a:r>
              <a:rPr sz="719" i="0">
                <a:solidFill>
                  <a:srgbClr val="A5D6A7"/>
                </a:solidFill>
                <a:latin typeface="Inconsolata"/>
              </a:rPr>
              <a:t>"/docs"</a:t>
            </a:r>
            <a:r>
              <a:rPr sz="719" i="0">
                <a:solidFill>
                  <a:srgbClr val="E6EDF3"/>
                </a:solidFill>
                <a:latin typeface="Inconsolata"/>
              </a:rPr>
              <a:t>, headers={</a:t>
            </a:r>
            <a:r>
              <a:rPr sz="719" i="0">
                <a:solidFill>
                  <a:srgbClr val="A5D6A7"/>
                </a:solidFill>
                <a:latin typeface="Inconsolata"/>
              </a:rPr>
              <a:t>"Origin"</a:t>
            </a:r>
            <a:r>
              <a:rPr sz="719" i="0">
                <a:solidFill>
                  <a:srgbClr val="E6EDF3"/>
                </a:solidFill>
                <a:latin typeface="Inconsolata"/>
              </a:rPr>
              <a:t>: </a:t>
            </a:r>
            <a:r>
              <a:rPr sz="719" i="0">
                <a:solidFill>
                  <a:srgbClr val="A5D6A7"/>
                </a:solidFill>
                <a:latin typeface="Inconsolata"/>
              </a:rPr>
              <a:t>"https://evil.com"</a:t>
            </a:r>
            <a:r>
              <a:rPr sz="719" i="0">
                <a:solidFill>
                  <a:srgbClr val="E6EDF3"/>
                </a:solidFill>
                <a:latin typeface="Inconsolata"/>
              </a:rPr>
              <a:t>})</a:t>
            </a:r>
          </a:p>
          <a:p>
            <a:pPr>
              <a:lnSpc>
                <a:spcPct val="104277"/>
              </a:lnSpc>
              <a:spcAft>
                <a:spcPts val="0"/>
              </a:spcAft>
            </a:pPr>
            <a:r>
              <a:rPr sz="719" i="0">
                <a:solidFill>
                  <a:srgbClr val="5C6773"/>
                </a:solidFill>
                <a:latin typeface="Inconsolata"/>
              </a:rPr>
              <a:t>52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"GET /docs -&gt;"</a:t>
            </a:r>
            <a:r>
              <a:rPr sz="719" i="0">
                <a:solidFill>
                  <a:srgbClr val="E6EDF3"/>
                </a:solidFill>
                <a:latin typeface="Inconsolata"/>
              </a:rPr>
              <a:t>, docs.status_code)</a:t>
            </a:r>
          </a:p>
          <a:p>
            <a:pPr>
              <a:lnSpc>
                <a:spcPct val="104277"/>
              </a:lnSpc>
              <a:spcAft>
                <a:spcPts val="0"/>
              </a:spcAft>
            </a:pPr>
            <a:r>
              <a:rPr sz="719" i="0">
                <a:solidFill>
                  <a:srgbClr val="5C6773"/>
                </a:solidFill>
                <a:latin typeface="Inconsolata"/>
              </a:rPr>
              <a:t>53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"CORS untuk https://evil.com -&gt;"</a:t>
            </a:r>
            <a:r>
              <a:rPr sz="719" i="0">
                <a:solidFill>
                  <a:srgbClr val="E6EDF3"/>
                </a:solidFill>
                <a:latin typeface="Inconsolata"/>
              </a:rPr>
              <a:t>,</a:t>
            </a:r>
          </a:p>
          <a:p>
            <a:pPr>
              <a:lnSpc>
                <a:spcPct val="104277"/>
              </a:lnSpc>
              <a:spcAft>
                <a:spcPts val="0"/>
              </a:spcAft>
            </a:pPr>
            <a:r>
              <a:rPr sz="719" i="0">
                <a:solidFill>
                  <a:srgbClr val="5C6773"/>
                </a:solidFill>
                <a:latin typeface="Inconsolata"/>
              </a:rPr>
              <a:t>54  </a:t>
            </a:r>
            <a:r>
              <a:rPr sz="719" i="0">
                <a:solidFill>
                  <a:srgbClr val="E6EDF3"/>
                </a:solidFill>
                <a:latin typeface="Inconsolata"/>
              </a:rPr>
              <a:t>          docs.headers.get(</a:t>
            </a:r>
            <a:r>
              <a:rPr sz="719" i="0">
                <a:solidFill>
                  <a:srgbClr val="A5D6A7"/>
                </a:solidFill>
                <a:latin typeface="Inconsolata"/>
              </a:rPr>
              <a:t>"access-control-allow-origin"</a:t>
            </a:r>
            <a:r>
              <a:rPr sz="719" i="0">
                <a:solidFill>
                  <a:srgbClr val="E6EDF3"/>
                </a:solidFill>
                <a:latin typeface="Inconsolata"/>
              </a:rPr>
              <a:t>))</a:t>
            </a:r>
          </a:p>
        </p:txBody>
      </p:sp>
      <p:sp>
        <p:nvSpPr>
          <p:cNvPr id="36" name="Box 21"/>
          <p:cNvSpPr/>
          <p:nvPr/>
        </p:nvSpPr>
        <p:spPr>
          <a:xfrm>
            <a:off x="704088" y="3196971"/>
            <a:ext cx="3694176" cy="678942"/>
          </a:xfrm>
          <a:prstGeom prst="roundRect">
            <a:avLst>
              <a:gd name="adj" fmla="val 673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4175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1825371"/>
            <a:ext cx="3694176" cy="564642"/>
          </a:xfrm>
          <a:prstGeom prst="roundRect">
            <a:avLst>
              <a:gd name="adj" fmla="val 80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19888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Misconfiguration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03-security-misconfiguration/after.py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sesi-10-api-security/03-security-misconfiguration</a:t>
            </a:r>
          </a:p>
          <a:p>
            <a:pPr>
              <a:lnSpc>
                <a:spcPct val="111111"/>
              </a:lnSpc>
              <a:spcAft>
                <a:spcPts val="0"/>
              </a:spcAft>
            </a:pPr>
            <a:r>
              <a:rPr sz="900" i="0">
                <a:solidFill>
                  <a:srgbClr val="82B1FF"/>
                </a:solidFill>
                <a:latin typeface="Inconsolata"/>
              </a:rPr>
              <a:t>$ python after.py</a:t>
            </a:r>
          </a:p>
        </p:txBody>
      </p:sp>
      <p:pic>
        <p:nvPicPr>
          <p:cNvPr id="29" name="Image 12" descr="s10-03-security-misconfiguration-after.png"/>
          <p:cNvPicPr>
            <a:picLocks noChangeAspect="1"/>
          </p:cNvPicPr>
          <p:nvPr/>
        </p:nvPicPr>
        <p:blipFill>
          <a:blip r:embed="rId2"/>
          <a:stretch>
            <a:fillRect/>
          </a:stretch>
        </p:blipFill>
        <p:spPr>
          <a:xfrm>
            <a:off x="621792" y="2322576"/>
            <a:ext cx="4297680" cy="904775"/>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/docs</a:t>
            </a:r>
            <a:r>
              <a:rPr sz="950" b="0" i="0">
                <a:solidFill>
                  <a:srgbClr val="434343"/>
                </a:solidFill>
                <a:latin typeface="Inter"/>
              </a:rPr>
              <a:t> dan OpenAPI hanya di development, CORS hanya domain frontend (baris 22-27)</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Error tak terduga dijawab pesan umum, detail ke log (baris 31-35)</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Response 500 tanpa detail, </a:t>
            </a:r>
            <a:r>
              <a:rPr sz="950" b="0" i="0">
                <a:solidFill>
                  <a:srgbClr val="B5482A"/>
                </a:solidFill>
                <a:latin typeface="Inconsolata"/>
              </a:rPr>
              <a:t>/docs</a:t>
            </a:r>
            <a:r>
              <a:rPr sz="950" b="0" i="0">
                <a:solidFill>
                  <a:srgbClr val="434343"/>
                </a:solidFill>
                <a:latin typeface="Inter"/>
              </a:rPr>
              <a:t> 404, CORS untuk </a:t>
            </a:r>
            <a:r>
              <a:rPr sz="950" b="0" i="0">
                <a:solidFill>
                  <a:srgbClr val="B5482A"/>
                </a:solidFill>
                <a:latin typeface="Inconsolata"/>
              </a:rPr>
              <a:t>evil.com</a:t>
            </a:r>
            <a:r>
              <a:rPr sz="950" b="0" i="0">
                <a:solidFill>
                  <a:srgbClr val="434343"/>
                </a:solidFill>
                <a:latin typeface="Inter"/>
              </a:rPr>
              <a:t> ditolak.</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27</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02</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Authentication &amp; Authorization</a:t>
            </a:r>
          </a:p>
        </p:txBody>
      </p:sp>
      <p:sp>
        <p:nvSpPr>
          <p:cNvPr id="33" name="Text 3"/>
          <p:cNvSpPr txBox="1"/>
          <p:nvPr/>
        </p:nvSpPr>
        <p:spPr>
          <a:xfrm>
            <a:off x="822960" y="274320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JWT, OAuth2 Bearer, password hash, RBAC, dan scope.</a:t>
            </a: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JWT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JWT?</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JWT adalah</a:t>
            </a:r>
          </a:p>
          <a:p>
            <a:pPr algn="l">
              <a:lnSpc>
                <a:spcPct val="115000"/>
              </a:lnSpc>
              <a:spcAft>
                <a:spcPts val="400"/>
              </a:spcAft>
            </a:pPr>
            <a:r>
              <a:rPr sz="900" b="1" i="0">
                <a:solidFill>
                  <a:srgbClr val="434343"/>
                </a:solidFill>
                <a:latin typeface="Inter"/>
              </a:rPr>
              <a:t>JSON Web Token</a:t>
            </a:r>
            <a:r>
              <a:rPr sz="900" b="0" i="0">
                <a:solidFill>
                  <a:srgbClr val="434343"/>
                </a:solidFill>
                <a:latin typeface="Inter"/>
              </a:rPr>
              <a:t>, standar token berisi data (claims) yang </a:t>
            </a:r>
            <a:r>
              <a:rPr sz="900" b="1" i="0">
                <a:solidFill>
                  <a:srgbClr val="434343"/>
                </a:solidFill>
                <a:latin typeface="Inter"/>
              </a:rPr>
              <a:t>ditandatangani</a:t>
            </a:r>
            <a:r>
              <a:rPr sz="900" b="0" i="0">
                <a:solidFill>
                  <a:srgbClr val="434343"/>
                </a:solidFill>
                <a:latin typeface="Inter"/>
              </a:rPr>
              <a:t> server. Bentuknya tiga bagian </a:t>
            </a:r>
            <a:r>
              <a:rPr sz="900" b="0" i="0">
                <a:solidFill>
                  <a:srgbClr val="B5482A"/>
                </a:solidFill>
                <a:latin typeface="Inconsolata"/>
              </a:rPr>
              <a:t>header.payload.signature</a:t>
            </a:r>
            <a:r>
              <a:rPr sz="900" b="0" i="0">
                <a:solidFill>
                  <a:srgbClr val="434343"/>
                </a:solidFill>
                <a:latin typeface="Inter"/>
              </a:rPr>
              <a:t>. Sehingga server bisa memastikan isi token tidak diubah, tanpa menyimpan token di database.</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Membawa identitas user (sub), role, dan scope di setiap request</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Menolak token yang isinya diubah atau sudah kedaluwarsa (exp)</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base64 saja: 04-jwt/before.py</a:t>
            </a:r>
          </a:p>
        </p:txBody>
      </p:sp>
      <p:sp>
        <p:nvSpPr>
          <p:cNvPr id="28" name="CodeBg 11"/>
          <p:cNvSpPr/>
          <p:nvPr/>
        </p:nvSpPr>
        <p:spPr>
          <a:xfrm>
            <a:off x="4297680" y="1719072"/>
            <a:ext cx="4187951" cy="868680"/>
          </a:xfrm>
          <a:prstGeom prst="roundRect">
            <a:avLst>
              <a:gd name="adj" fmla="val 210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868680"/>
          </a:xfrm>
          <a:prstGeom prst="rect">
            <a:avLst/>
          </a:prstGeom>
          <a:noFill/>
        </p:spPr>
        <p:txBody>
          <a:bodyPr wrap="none" lIns="146304" tIns="91440" rIns="146304" bIns="54864">
            <a:spAutoFit/>
          </a:bodyPr>
          <a:lstStyle/>
          <a:p>
            <a:pPr>
              <a:lnSpc>
                <a:spcPct val="111111"/>
              </a:lnSpc>
              <a:spcAft>
                <a:spcPts val="0"/>
              </a:spcAft>
            </a:pPr>
            <a:r>
              <a:rPr sz="750" i="0">
                <a:solidFill>
                  <a:srgbClr val="FF8E6E"/>
                </a:solidFill>
                <a:latin typeface="Inconsolata"/>
              </a:rPr>
              <a:t>def</a:t>
            </a:r>
            <a:r>
              <a:rPr sz="750" i="0">
                <a:solidFill>
                  <a:srgbClr val="E6EDF3"/>
                </a:solidFill>
                <a:latin typeface="Inconsolata"/>
              </a:rPr>
              <a:t> </a:t>
            </a:r>
            <a:r>
              <a:rPr sz="750" i="0">
                <a:solidFill>
                  <a:srgbClr val="82B1FF"/>
                </a:solidFill>
                <a:latin typeface="Inconsolata"/>
              </a:rPr>
              <a:t>create_token</a:t>
            </a:r>
            <a:r>
              <a:rPr sz="750" i="0">
                <a:solidFill>
                  <a:srgbClr val="E6EDF3"/>
                </a:solidFill>
                <a:latin typeface="Inconsolata"/>
              </a:rPr>
              <a:t>(user: </a:t>
            </a:r>
            <a:r>
              <a:rPr sz="750" i="0">
                <a:solidFill>
                  <a:srgbClr val="C3A6FF"/>
                </a:solidFill>
                <a:latin typeface="Inconsolata"/>
              </a:rPr>
              <a:t>dict</a:t>
            </a:r>
            <a:r>
              <a:rPr sz="750" i="0">
                <a:solidFill>
                  <a:srgbClr val="E6EDF3"/>
                </a:solidFill>
                <a:latin typeface="Inconsolata"/>
              </a:rPr>
              <a:t>) -&gt; </a:t>
            </a:r>
            <a:r>
              <a:rPr sz="750" i="0">
                <a:solidFill>
                  <a:srgbClr val="C3A6FF"/>
                </a:solidFill>
                <a:latin typeface="Inconsolata"/>
              </a:rPr>
              <a:t>str</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FF8E6E"/>
                </a:solidFill>
                <a:latin typeface="Inconsolata"/>
              </a:rPr>
              <a:t>return</a:t>
            </a:r>
            <a:r>
              <a:rPr sz="750" i="0">
                <a:solidFill>
                  <a:srgbClr val="E6EDF3"/>
                </a:solidFill>
                <a:latin typeface="Inconsolata"/>
              </a:rPr>
              <a:t> base64.urlsafe_b64encode(json.dumps(user).encode()).decode()</a:t>
            </a:r>
          </a:p>
        </p:txBody>
      </p:sp>
      <p:sp>
        <p:nvSpPr>
          <p:cNvPr id="30" name="Box 13"/>
          <p:cNvSpPr/>
          <p:nvPr/>
        </p:nvSpPr>
        <p:spPr>
          <a:xfrm>
            <a:off x="4379976" y="1954022"/>
            <a:ext cx="4023359"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67919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75691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75691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75691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68833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JWT bertanda tangan: 04-jwt/after.py</a:t>
            </a:r>
          </a:p>
        </p:txBody>
      </p:sp>
      <p:sp>
        <p:nvSpPr>
          <p:cNvPr id="36" name="CodeBg 21"/>
          <p:cNvSpPr/>
          <p:nvPr/>
        </p:nvSpPr>
        <p:spPr>
          <a:xfrm>
            <a:off x="4297680" y="2916936"/>
            <a:ext cx="4187951" cy="1783079"/>
          </a:xfrm>
          <a:prstGeom prst="roundRect">
            <a:avLst>
              <a:gd name="adj" fmla="val 1025"/>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916936"/>
            <a:ext cx="4187951" cy="1783079"/>
          </a:xfrm>
          <a:prstGeom prst="rect">
            <a:avLst/>
          </a:prstGeom>
          <a:noFill/>
        </p:spPr>
        <p:txBody>
          <a:bodyPr wrap="none" lIns="146304" tIns="91440" rIns="146304" bIns="54864">
            <a:spAutoFit/>
          </a:bodyPr>
          <a:lstStyle/>
          <a:p>
            <a:pPr>
              <a:lnSpc>
                <a:spcPct val="111111"/>
              </a:lnSpc>
              <a:spcAft>
                <a:spcPts val="0"/>
              </a:spcAft>
            </a:pPr>
            <a:r>
              <a:rPr sz="750" i="0">
                <a:solidFill>
                  <a:srgbClr val="FF8E6E"/>
                </a:solidFill>
                <a:latin typeface="Inconsolata"/>
              </a:rPr>
              <a:t>def</a:t>
            </a:r>
            <a:r>
              <a:rPr sz="750" i="0">
                <a:solidFill>
                  <a:srgbClr val="E6EDF3"/>
                </a:solidFill>
                <a:latin typeface="Inconsolata"/>
              </a:rPr>
              <a:t> </a:t>
            </a:r>
            <a:r>
              <a:rPr sz="750" i="0">
                <a:solidFill>
                  <a:srgbClr val="82B1FF"/>
                </a:solidFill>
                <a:latin typeface="Inconsolata"/>
              </a:rPr>
              <a:t>create_token</a:t>
            </a:r>
            <a:r>
              <a:rPr sz="750" i="0">
                <a:solidFill>
                  <a:srgbClr val="E6EDF3"/>
                </a:solidFill>
                <a:latin typeface="Inconsolata"/>
              </a:rPr>
              <a:t>(sub: </a:t>
            </a:r>
            <a:r>
              <a:rPr sz="750" i="0">
                <a:solidFill>
                  <a:srgbClr val="C3A6FF"/>
                </a:solidFill>
                <a:latin typeface="Inconsolata"/>
              </a:rPr>
              <a:t>str</a:t>
            </a:r>
            <a:r>
              <a:rPr sz="750" i="0">
                <a:solidFill>
                  <a:srgbClr val="E6EDF3"/>
                </a:solidFill>
                <a:latin typeface="Inconsolata"/>
              </a:rPr>
              <a:t>, role: </a:t>
            </a:r>
            <a:r>
              <a:rPr sz="750" i="0">
                <a:solidFill>
                  <a:srgbClr val="C3A6FF"/>
                </a:solidFill>
                <a:latin typeface="Inconsolata"/>
              </a:rPr>
              <a:t>str</a:t>
            </a:r>
            <a:r>
              <a:rPr sz="750" i="0">
                <a:solidFill>
                  <a:srgbClr val="E6EDF3"/>
                </a:solidFill>
                <a:latin typeface="Inconsolata"/>
              </a:rPr>
              <a:t>, minutes: </a:t>
            </a:r>
            <a:r>
              <a:rPr sz="750" i="0">
                <a:solidFill>
                  <a:srgbClr val="C3A6FF"/>
                </a:solidFill>
                <a:latin typeface="Inconsolata"/>
              </a:rPr>
              <a:t>int</a:t>
            </a:r>
            <a:r>
              <a:rPr sz="750" i="0">
                <a:solidFill>
                  <a:srgbClr val="E6EDF3"/>
                </a:solidFill>
                <a:latin typeface="Inconsolata"/>
              </a:rPr>
              <a:t> = </a:t>
            </a:r>
            <a:r>
              <a:rPr sz="750" i="0">
                <a:solidFill>
                  <a:srgbClr val="F9C97A"/>
                </a:solidFill>
                <a:latin typeface="Inconsolata"/>
              </a:rPr>
              <a:t>30</a:t>
            </a:r>
            <a:r>
              <a:rPr sz="750" i="0">
                <a:solidFill>
                  <a:srgbClr val="E6EDF3"/>
                </a:solidFill>
                <a:latin typeface="Inconsolata"/>
              </a:rPr>
              <a:t>) -&gt; </a:t>
            </a:r>
            <a:r>
              <a:rPr sz="750" i="0">
                <a:solidFill>
                  <a:srgbClr val="C3A6FF"/>
                </a:solidFill>
                <a:latin typeface="Inconsolata"/>
              </a:rPr>
              <a:t>str</a:t>
            </a:r>
            <a:r>
              <a:rPr sz="750" i="0">
                <a:solidFill>
                  <a:srgbClr val="E6EDF3"/>
                </a:solidFill>
                <a:latin typeface="Inconsolata"/>
              </a:rPr>
              <a:t>:</a:t>
            </a:r>
          </a:p>
          <a:p>
            <a:pPr>
              <a:lnSpc>
                <a:spcPct val="111111"/>
              </a:lnSpc>
              <a:spcAft>
                <a:spcPts val="0"/>
              </a:spcAft>
            </a:pPr>
            <a:r>
              <a:rPr sz="750" i="0">
                <a:solidFill>
                  <a:srgbClr val="E6EDF3"/>
                </a:solidFill>
                <a:latin typeface="Inconsolata"/>
              </a:rPr>
              <a:t>    exp = datetime.now(timezone.utc) + timedelta(minutes=minutes)</a:t>
            </a:r>
          </a:p>
          <a:p>
            <a:pPr>
              <a:lnSpc>
                <a:spcPct val="111111"/>
              </a:lnSpc>
              <a:spcAft>
                <a:spcPts val="0"/>
              </a:spcAft>
            </a:pPr>
            <a:r>
              <a:rPr sz="750" i="0">
                <a:solidFill>
                  <a:srgbClr val="E6EDF3"/>
                </a:solidFill>
                <a:latin typeface="Inconsolata"/>
              </a:rPr>
              <a:t>    claims = {</a:t>
            </a:r>
            <a:r>
              <a:rPr sz="750" i="0">
                <a:solidFill>
                  <a:srgbClr val="A5D6A7"/>
                </a:solidFill>
                <a:latin typeface="Inconsolata"/>
              </a:rPr>
              <a:t>"sub"</a:t>
            </a:r>
            <a:r>
              <a:rPr sz="750" i="0">
                <a:solidFill>
                  <a:srgbClr val="E6EDF3"/>
                </a:solidFill>
                <a:latin typeface="Inconsolata"/>
              </a:rPr>
              <a:t>: sub, </a:t>
            </a:r>
            <a:r>
              <a:rPr sz="750" i="0">
                <a:solidFill>
                  <a:srgbClr val="A5D6A7"/>
                </a:solidFill>
                <a:latin typeface="Inconsolata"/>
              </a:rPr>
              <a:t>"role"</a:t>
            </a:r>
            <a:r>
              <a:rPr sz="750" i="0">
                <a:solidFill>
                  <a:srgbClr val="E6EDF3"/>
                </a:solidFill>
                <a:latin typeface="Inconsolata"/>
              </a:rPr>
              <a:t>: role, </a:t>
            </a:r>
            <a:r>
              <a:rPr sz="750" i="0">
                <a:solidFill>
                  <a:srgbClr val="A5D6A7"/>
                </a:solidFill>
                <a:latin typeface="Inconsolata"/>
              </a:rPr>
              <a:t>"exp"</a:t>
            </a:r>
            <a:r>
              <a:rPr sz="750" i="0">
                <a:solidFill>
                  <a:srgbClr val="E6EDF3"/>
                </a:solidFill>
                <a:latin typeface="Inconsolata"/>
              </a:rPr>
              <a:t>: exp}</a:t>
            </a:r>
          </a:p>
          <a:p>
            <a:pPr>
              <a:lnSpc>
                <a:spcPct val="111111"/>
              </a:lnSpc>
              <a:spcAft>
                <a:spcPts val="0"/>
              </a:spcAft>
            </a:pPr>
            <a:r>
              <a:rPr sz="750" i="0">
                <a:solidFill>
                  <a:srgbClr val="E6EDF3"/>
                </a:solidFill>
                <a:latin typeface="Inconsolata"/>
              </a:rPr>
              <a:t>    </a:t>
            </a:r>
            <a:r>
              <a:rPr sz="750" i="0">
                <a:solidFill>
                  <a:srgbClr val="FF8E6E"/>
                </a:solidFill>
                <a:latin typeface="Inconsolata"/>
              </a:rPr>
              <a:t>return</a:t>
            </a:r>
            <a:r>
              <a:rPr sz="750" i="0">
                <a:solidFill>
                  <a:srgbClr val="E6EDF3"/>
                </a:solidFill>
                <a:latin typeface="Inconsolata"/>
              </a:rPr>
              <a:t> jwt.encode(claims, </a:t>
            </a:r>
            <a:r>
              <a:rPr sz="750" i="0">
                <a:solidFill>
                  <a:srgbClr val="7FDBCA"/>
                </a:solidFill>
                <a:latin typeface="Inconsolata"/>
              </a:rPr>
              <a:t>SECRET</a:t>
            </a:r>
            <a:r>
              <a:rPr sz="750" i="0">
                <a:solidFill>
                  <a:srgbClr val="E6EDF3"/>
                </a:solidFill>
                <a:latin typeface="Inconsolata"/>
              </a:rPr>
              <a:t>, algorithm=</a:t>
            </a:r>
            <a:r>
              <a:rPr sz="750" i="0">
                <a:solidFill>
                  <a:srgbClr val="A5D6A7"/>
                </a:solidFill>
                <a:latin typeface="Inconsolata"/>
              </a:rPr>
              <a:t>"HS256"</a:t>
            </a:r>
            <a:r>
              <a:rPr sz="750" i="0">
                <a:solidFill>
                  <a:srgbClr val="E6EDF3"/>
                </a:solidFill>
                <a:latin typeface="Inconsolata"/>
              </a:rPr>
              <a:t>)</a:t>
            </a:r>
          </a:p>
        </p:txBody>
      </p:sp>
      <p:sp>
        <p:nvSpPr>
          <p:cNvPr id="38" name="Box 23"/>
          <p:cNvSpPr/>
          <p:nvPr/>
        </p:nvSpPr>
        <p:spPr>
          <a:xfrm>
            <a:off x="4379976" y="3278886"/>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405886"/>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29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JWT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JWT?</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tanda tangan</a:t>
            </a:r>
          </a:p>
          <a:p>
            <a:pPr algn="l">
              <a:lnSpc>
                <a:spcPct val="115000"/>
              </a:lnSpc>
              <a:spcAft>
                <a:spcPts val="400"/>
              </a:spcAft>
            </a:pPr>
            <a:r>
              <a:rPr sz="950" b="0" i="0">
                <a:solidFill>
                  <a:srgbClr val="434343"/>
                </a:solidFill>
                <a:latin typeface="Inter"/>
              </a:rPr>
              <a:t>Token hanya base64. Budi decode tokennya, mengganti role jadi admin, lalu encode lagi, dan server menerimanya.</a:t>
            </a:r>
          </a:p>
          <a:p>
            <a:pPr algn="l">
              <a:lnSpc>
                <a:spcPct val="115000"/>
              </a:lnSpc>
              <a:spcAft>
                <a:spcPts val="400"/>
              </a:spcAft>
            </a:pPr>
            <a:r>
              <a:rPr sz="1050" b="1" i="0">
                <a:solidFill>
                  <a:srgbClr val="1C4587"/>
                </a:solidFill>
                <a:latin typeface="Inter"/>
              </a:rPr>
              <a:t>Jika user makin banyak</a:t>
            </a:r>
          </a:p>
          <a:p>
            <a:pPr algn="l">
              <a:lnSpc>
                <a:spcPct val="115000"/>
              </a:lnSpc>
              <a:spcAft>
                <a:spcPts val="400"/>
              </a:spcAft>
            </a:pPr>
            <a:r>
              <a:rPr sz="950" b="0" i="0">
                <a:solidFill>
                  <a:srgbClr val="434343"/>
                </a:solidFill>
                <a:latin typeface="Inter"/>
              </a:rPr>
              <a:t>Menyimpan session setiap user di database membuat setiap request perlu query tambahan.</a:t>
            </a:r>
          </a:p>
          <a:p>
            <a:pPr algn="l">
              <a:lnSpc>
                <a:spcPct val="115000"/>
              </a:lnSpc>
              <a:spcAft>
                <a:spcPts val="400"/>
              </a:spcAft>
            </a:pPr>
            <a:r>
              <a:rPr sz="950" b="0" i="0">
                <a:solidFill>
                  <a:srgbClr val="434343"/>
                </a:solidFill>
                <a:latin typeface="Inter"/>
              </a:rPr>
              <a:t>Hal ini membuat pengecekan login jadi lambat dan sulit dibagi ke banyak server.</a:t>
            </a:r>
          </a:p>
          <a:p>
            <a:pPr algn="l">
              <a:lnSpc>
                <a:spcPct val="115000"/>
              </a:lnSpc>
              <a:spcAft>
                <a:spcPts val="400"/>
              </a:spcAft>
            </a:pPr>
            <a:r>
              <a:rPr sz="1050" b="1" i="0">
                <a:solidFill>
                  <a:srgbClr val="1C4587"/>
                </a:solidFill>
                <a:latin typeface="Inter"/>
              </a:rPr>
              <a:t>Yang perlu diperhatikan</a:t>
            </a:r>
          </a:p>
          <a:p>
            <a:pPr algn="l">
              <a:lnSpc>
                <a:spcPct val="115000"/>
              </a:lnSpc>
              <a:spcAft>
                <a:spcPts val="400"/>
              </a:spcAft>
            </a:pPr>
            <a:r>
              <a:rPr sz="950" b="0" i="0">
                <a:solidFill>
                  <a:srgbClr val="434343"/>
                </a:solidFill>
                <a:latin typeface="Inter"/>
              </a:rPr>
              <a:t>Payload JWT bisa dibaca siapa pun. Jangan menyimpan password atau data rahasia di dalamnya.</a:t>
            </a:r>
          </a:p>
        </p:txBody>
      </p:sp>
      <p:graphicFrame>
        <p:nvGraphicFramePr>
          <p:cNvPr id="23" name="Table 4"/>
          <p:cNvGraphicFramePr>
            <a:graphicFrameLocks noGrp="1"/>
          </p:cNvGraphicFramePr>
          <p:nvPr/>
        </p:nvGraphicFramePr>
        <p:xfrm>
          <a:off x="4800600" y="1481328"/>
          <a:ext cx="3685032" cy="2057400"/>
        </p:xfrm>
        <a:graphic>
          <a:graphicData uri="http://schemas.openxmlformats.org/drawingml/2006/table">
            <a:tbl>
              <a:tblPr firstRow="1" bandRow="1"/>
              <a:tblGrid>
                <a:gridCol w="1216152">
                  <a:extLst>
                    <a:ext uri="{9D8B030D-6E8A-4147-A177-3AD203B41FA5}">
                      <a16:colId xmlns:a16="http://schemas.microsoft.com/office/drawing/2014/main" val="20000"/>
                    </a:ext>
                  </a:extLst>
                </a:gridCol>
                <a:gridCol w="246888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Claim</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sub</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Siapa pemilik token (email)</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role, scope</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Hak akses</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exp</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Waktu kedaluwarsa</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signature</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HMAC dari header + payload dengan SECRET</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JWT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token base64 tanpa tanda tangan</a:t>
            </a:r>
          </a:p>
        </p:txBody>
      </p:sp>
      <p:sp>
        <p:nvSpPr>
          <p:cNvPr id="22" name="CodeTab 4"/>
          <p:cNvSpPr/>
          <p:nvPr/>
        </p:nvSpPr>
        <p:spPr>
          <a:xfrm>
            <a:off x="621792" y="1481328"/>
            <a:ext cx="450799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86791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04-jwt/before.py</a:t>
            </a:r>
          </a:p>
        </p:txBody>
      </p:sp>
      <p:sp>
        <p:nvSpPr>
          <p:cNvPr id="27" name="CodeBg 10"/>
          <p:cNvSpPr/>
          <p:nvPr/>
        </p:nvSpPr>
        <p:spPr>
          <a:xfrm>
            <a:off x="621792" y="1719072"/>
            <a:ext cx="450799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507992" cy="2980944"/>
          </a:xfrm>
          <a:prstGeom prst="rect">
            <a:avLst/>
          </a:prstGeom>
          <a:noFill/>
        </p:spPr>
        <p:txBody>
          <a:bodyPr wrap="none" lIns="146304" tIns="91440" rIns="146304" bIns="54864">
            <a:spAutoFit/>
          </a:bodyPr>
          <a:lstStyle/>
          <a:p>
            <a:pPr>
              <a:lnSpc>
                <a:spcPct val="103448"/>
              </a:lnSpc>
              <a:spcAft>
                <a:spcPts val="0"/>
              </a:spcAft>
            </a:pPr>
            <a:r>
              <a:rPr sz="725" i="0">
                <a:solidFill>
                  <a:srgbClr val="5C6773"/>
                </a:solidFill>
                <a:latin typeface="Inconsolata"/>
              </a:rPr>
              <a:t> 9  </a:t>
            </a:r>
            <a:r>
              <a:rPr sz="725" i="0">
                <a:solidFill>
                  <a:srgbClr val="FF8E6E"/>
                </a:solidFill>
                <a:latin typeface="Inconsolata"/>
              </a:rPr>
              <a:t>import</a:t>
            </a:r>
            <a:r>
              <a:rPr sz="725" i="0">
                <a:solidFill>
                  <a:srgbClr val="E6EDF3"/>
                </a:solidFill>
                <a:latin typeface="Inconsolata"/>
              </a:rPr>
              <a:t> base64</a:t>
            </a:r>
          </a:p>
          <a:p>
            <a:pPr>
              <a:lnSpc>
                <a:spcPct val="103448"/>
              </a:lnSpc>
              <a:spcAft>
                <a:spcPts val="0"/>
              </a:spcAft>
            </a:pPr>
            <a:r>
              <a:rPr sz="725" i="0">
                <a:solidFill>
                  <a:srgbClr val="5C6773"/>
                </a:solidFill>
                <a:latin typeface="Inconsolata"/>
              </a:rPr>
              <a:t>10  </a:t>
            </a:r>
            <a:r>
              <a:rPr sz="725" i="0">
                <a:solidFill>
                  <a:srgbClr val="FF8E6E"/>
                </a:solidFill>
                <a:latin typeface="Inconsolata"/>
              </a:rPr>
              <a:t>import</a:t>
            </a:r>
            <a:r>
              <a:rPr sz="725" i="0">
                <a:solidFill>
                  <a:srgbClr val="E6EDF3"/>
                </a:solidFill>
                <a:latin typeface="Inconsolata"/>
              </a:rPr>
              <a:t> json</a:t>
            </a:r>
          </a:p>
          <a:p>
            <a:pPr>
              <a:lnSpc>
                <a:spcPct val="103448"/>
              </a:lnSpc>
              <a:spcAft>
                <a:spcPts val="0"/>
              </a:spcAft>
            </a:pPr>
            <a:r>
              <a:rPr sz="725" i="0">
                <a:solidFill>
                  <a:srgbClr val="5C6773"/>
                </a:solidFill>
                <a:latin typeface="Inconsolata"/>
              </a:rPr>
              <a:t>11  </a:t>
            </a:r>
            <a:r>
              <a:rPr sz="725" i="0">
                <a:solidFill>
                  <a:srgbClr val="E6EDF3"/>
                </a:solidFill>
                <a:latin typeface="Inconsolata"/>
              </a:rPr>
              <a:t> </a:t>
            </a:r>
          </a:p>
          <a:p>
            <a:pPr>
              <a:lnSpc>
                <a:spcPct val="103448"/>
              </a:lnSpc>
              <a:spcAft>
                <a:spcPts val="0"/>
              </a:spcAft>
            </a:pPr>
            <a:r>
              <a:rPr sz="725" i="0">
                <a:solidFill>
                  <a:srgbClr val="5C6773"/>
                </a:solidFill>
                <a:latin typeface="Inconsolata"/>
              </a:rPr>
              <a:t>12  </a:t>
            </a:r>
            <a:r>
              <a:rPr sz="725" i="0">
                <a:solidFill>
                  <a:srgbClr val="E6EDF3"/>
                </a:solidFill>
                <a:latin typeface="Inconsolata"/>
              </a:rPr>
              <a:t> </a:t>
            </a:r>
          </a:p>
          <a:p>
            <a:pPr>
              <a:lnSpc>
                <a:spcPct val="103448"/>
              </a:lnSpc>
              <a:spcAft>
                <a:spcPts val="0"/>
              </a:spcAft>
            </a:pPr>
            <a:r>
              <a:rPr sz="725" i="0">
                <a:solidFill>
                  <a:srgbClr val="5C6773"/>
                </a:solidFill>
                <a:latin typeface="Inconsolata"/>
              </a:rPr>
              <a:t>13  </a:t>
            </a:r>
            <a:r>
              <a:rPr sz="725" i="0">
                <a:solidFill>
                  <a:srgbClr val="FF8E6E"/>
                </a:solidFill>
                <a:latin typeface="Inconsolata"/>
              </a:rPr>
              <a:t>def</a:t>
            </a:r>
            <a:r>
              <a:rPr sz="725" i="0">
                <a:solidFill>
                  <a:srgbClr val="E6EDF3"/>
                </a:solidFill>
                <a:latin typeface="Inconsolata"/>
              </a:rPr>
              <a:t> </a:t>
            </a:r>
            <a:r>
              <a:rPr sz="725" i="0">
                <a:solidFill>
                  <a:srgbClr val="82B1FF"/>
                </a:solidFill>
                <a:latin typeface="Inconsolata"/>
              </a:rPr>
              <a:t>create_token</a:t>
            </a:r>
            <a:r>
              <a:rPr sz="725" i="0">
                <a:solidFill>
                  <a:srgbClr val="E6EDF3"/>
                </a:solidFill>
                <a:latin typeface="Inconsolata"/>
              </a:rPr>
              <a:t>(user: </a:t>
            </a:r>
            <a:r>
              <a:rPr sz="725" i="0">
                <a:solidFill>
                  <a:srgbClr val="C3A6FF"/>
                </a:solidFill>
                <a:latin typeface="Inconsolata"/>
              </a:rPr>
              <a:t>dict</a:t>
            </a:r>
            <a:r>
              <a:rPr sz="725" i="0">
                <a:solidFill>
                  <a:srgbClr val="E6EDF3"/>
                </a:solidFill>
                <a:latin typeface="Inconsolata"/>
              </a:rPr>
              <a:t>) -&gt; </a:t>
            </a:r>
            <a:r>
              <a:rPr sz="725" i="0">
                <a:solidFill>
                  <a:srgbClr val="C3A6FF"/>
                </a:solidFill>
                <a:latin typeface="Inconsolata"/>
              </a:rPr>
              <a:t>str</a:t>
            </a:r>
            <a:r>
              <a:rPr sz="725" i="0">
                <a:solidFill>
                  <a:srgbClr val="E6EDF3"/>
                </a:solidFill>
                <a:latin typeface="Inconsolata"/>
              </a:rPr>
              <a:t>:</a:t>
            </a:r>
          </a:p>
          <a:p>
            <a:pPr>
              <a:lnSpc>
                <a:spcPct val="103448"/>
              </a:lnSpc>
              <a:spcAft>
                <a:spcPts val="0"/>
              </a:spcAft>
            </a:pPr>
            <a:r>
              <a:rPr sz="725" i="0">
                <a:solidFill>
                  <a:srgbClr val="5C6773"/>
                </a:solidFill>
                <a:latin typeface="Inconsolata"/>
              </a:rPr>
              <a:t>14  </a:t>
            </a:r>
            <a:r>
              <a:rPr sz="725" i="0">
                <a:solidFill>
                  <a:srgbClr val="E6EDF3"/>
                </a:solidFill>
                <a:latin typeface="Inconsolata"/>
              </a:rPr>
              <a:t>    </a:t>
            </a:r>
            <a:r>
              <a:rPr sz="725" i="0">
                <a:solidFill>
                  <a:srgbClr val="FF8E6E"/>
                </a:solidFill>
                <a:latin typeface="Inconsolata"/>
              </a:rPr>
              <a:t>return</a:t>
            </a:r>
            <a:r>
              <a:rPr sz="725" i="0">
                <a:solidFill>
                  <a:srgbClr val="E6EDF3"/>
                </a:solidFill>
                <a:latin typeface="Inconsolata"/>
              </a:rPr>
              <a:t> base64.urlsafe_b64encode(json.dumps(user).encode()).decode()</a:t>
            </a:r>
          </a:p>
          <a:p>
            <a:pPr>
              <a:lnSpc>
                <a:spcPct val="103448"/>
              </a:lnSpc>
              <a:spcAft>
                <a:spcPts val="0"/>
              </a:spcAft>
            </a:pPr>
            <a:r>
              <a:rPr sz="725" i="0">
                <a:solidFill>
                  <a:srgbClr val="5C6773"/>
                </a:solidFill>
                <a:latin typeface="Inconsolata"/>
              </a:rPr>
              <a:t>15  </a:t>
            </a:r>
            <a:r>
              <a:rPr sz="725" i="0">
                <a:solidFill>
                  <a:srgbClr val="E6EDF3"/>
                </a:solidFill>
                <a:latin typeface="Inconsolata"/>
              </a:rPr>
              <a:t> </a:t>
            </a:r>
          </a:p>
          <a:p>
            <a:pPr>
              <a:lnSpc>
                <a:spcPct val="103448"/>
              </a:lnSpc>
              <a:spcAft>
                <a:spcPts val="0"/>
              </a:spcAft>
            </a:pPr>
            <a:r>
              <a:rPr sz="725" i="0">
                <a:solidFill>
                  <a:srgbClr val="5C6773"/>
                </a:solidFill>
                <a:latin typeface="Inconsolata"/>
              </a:rPr>
              <a:t>16  </a:t>
            </a:r>
            <a:r>
              <a:rPr sz="725" i="0">
                <a:solidFill>
                  <a:srgbClr val="E6EDF3"/>
                </a:solidFill>
                <a:latin typeface="Inconsolata"/>
              </a:rPr>
              <a:t> </a:t>
            </a:r>
          </a:p>
          <a:p>
            <a:pPr>
              <a:lnSpc>
                <a:spcPct val="103448"/>
              </a:lnSpc>
              <a:spcAft>
                <a:spcPts val="0"/>
              </a:spcAft>
            </a:pPr>
            <a:r>
              <a:rPr sz="725" i="0">
                <a:solidFill>
                  <a:srgbClr val="5C6773"/>
                </a:solidFill>
                <a:latin typeface="Inconsolata"/>
              </a:rPr>
              <a:t>17  </a:t>
            </a:r>
            <a:r>
              <a:rPr sz="725" i="0">
                <a:solidFill>
                  <a:srgbClr val="FF8E6E"/>
                </a:solidFill>
                <a:latin typeface="Inconsolata"/>
              </a:rPr>
              <a:t>def</a:t>
            </a:r>
            <a:r>
              <a:rPr sz="725" i="0">
                <a:solidFill>
                  <a:srgbClr val="E6EDF3"/>
                </a:solidFill>
                <a:latin typeface="Inconsolata"/>
              </a:rPr>
              <a:t> </a:t>
            </a:r>
            <a:r>
              <a:rPr sz="725" i="0">
                <a:solidFill>
                  <a:srgbClr val="82B1FF"/>
                </a:solidFill>
                <a:latin typeface="Inconsolata"/>
              </a:rPr>
              <a:t>read_token</a:t>
            </a:r>
            <a:r>
              <a:rPr sz="725" i="0">
                <a:solidFill>
                  <a:srgbClr val="E6EDF3"/>
                </a:solidFill>
                <a:latin typeface="Inconsolata"/>
              </a:rPr>
              <a:t>(token: </a:t>
            </a:r>
            <a:r>
              <a:rPr sz="725" i="0">
                <a:solidFill>
                  <a:srgbClr val="C3A6FF"/>
                </a:solidFill>
                <a:latin typeface="Inconsolata"/>
              </a:rPr>
              <a:t>str</a:t>
            </a:r>
            <a:r>
              <a:rPr sz="725" i="0">
                <a:solidFill>
                  <a:srgbClr val="E6EDF3"/>
                </a:solidFill>
                <a:latin typeface="Inconsolata"/>
              </a:rPr>
              <a:t>) -&gt; </a:t>
            </a:r>
            <a:r>
              <a:rPr sz="725" i="0">
                <a:solidFill>
                  <a:srgbClr val="C3A6FF"/>
                </a:solidFill>
                <a:latin typeface="Inconsolata"/>
              </a:rPr>
              <a:t>dict</a:t>
            </a:r>
            <a:r>
              <a:rPr sz="725" i="0">
                <a:solidFill>
                  <a:srgbClr val="E6EDF3"/>
                </a:solidFill>
                <a:latin typeface="Inconsolata"/>
              </a:rPr>
              <a:t>:</a:t>
            </a:r>
          </a:p>
          <a:p>
            <a:pPr>
              <a:lnSpc>
                <a:spcPct val="103448"/>
              </a:lnSpc>
              <a:spcAft>
                <a:spcPts val="0"/>
              </a:spcAft>
            </a:pPr>
            <a:r>
              <a:rPr sz="725" i="0">
                <a:solidFill>
                  <a:srgbClr val="5C6773"/>
                </a:solidFill>
                <a:latin typeface="Inconsolata"/>
              </a:rPr>
              <a:t>18  </a:t>
            </a:r>
            <a:r>
              <a:rPr sz="725" i="0">
                <a:solidFill>
                  <a:srgbClr val="E6EDF3"/>
                </a:solidFill>
                <a:latin typeface="Inconsolata"/>
              </a:rPr>
              <a:t>    </a:t>
            </a:r>
            <a:r>
              <a:rPr sz="725" i="0">
                <a:solidFill>
                  <a:srgbClr val="FF8E6E"/>
                </a:solidFill>
                <a:latin typeface="Inconsolata"/>
              </a:rPr>
              <a:t>return</a:t>
            </a:r>
            <a:r>
              <a:rPr sz="725" i="0">
                <a:solidFill>
                  <a:srgbClr val="E6EDF3"/>
                </a:solidFill>
                <a:latin typeface="Inconsolata"/>
              </a:rPr>
              <a:t> json.loads(base64.urlsafe_b64decode(token))</a:t>
            </a:r>
          </a:p>
          <a:p>
            <a:pPr>
              <a:lnSpc>
                <a:spcPct val="103448"/>
              </a:lnSpc>
              <a:spcAft>
                <a:spcPts val="0"/>
              </a:spcAft>
            </a:pPr>
            <a:r>
              <a:rPr sz="725" i="0">
                <a:solidFill>
                  <a:srgbClr val="5C6773"/>
                </a:solidFill>
                <a:latin typeface="Inconsolata"/>
              </a:rPr>
              <a:t>19  </a:t>
            </a:r>
            <a:r>
              <a:rPr sz="725" i="0">
                <a:solidFill>
                  <a:srgbClr val="E6EDF3"/>
                </a:solidFill>
                <a:latin typeface="Inconsolata"/>
              </a:rPr>
              <a:t> </a:t>
            </a:r>
          </a:p>
          <a:p>
            <a:pPr>
              <a:lnSpc>
                <a:spcPct val="103448"/>
              </a:lnSpc>
              <a:spcAft>
                <a:spcPts val="0"/>
              </a:spcAft>
            </a:pPr>
            <a:r>
              <a:rPr sz="725" i="0">
                <a:solidFill>
                  <a:srgbClr val="5C6773"/>
                </a:solidFill>
                <a:latin typeface="Inconsolata"/>
              </a:rPr>
              <a:t>20  </a:t>
            </a:r>
            <a:r>
              <a:rPr sz="725" i="0">
                <a:solidFill>
                  <a:srgbClr val="E6EDF3"/>
                </a:solidFill>
                <a:latin typeface="Inconsolata"/>
              </a:rPr>
              <a:t> </a:t>
            </a:r>
          </a:p>
          <a:p>
            <a:pPr>
              <a:lnSpc>
                <a:spcPct val="103448"/>
              </a:lnSpc>
              <a:spcAft>
                <a:spcPts val="0"/>
              </a:spcAft>
            </a:pPr>
            <a:r>
              <a:rPr sz="725" i="0">
                <a:solidFill>
                  <a:srgbClr val="5C6773"/>
                </a:solidFill>
                <a:latin typeface="Inconsolata"/>
              </a:rPr>
              <a:t>21  </a:t>
            </a:r>
            <a:r>
              <a:rPr sz="725" i="0">
                <a:solidFill>
                  <a:srgbClr val="FF8E6E"/>
                </a:solidFill>
                <a:latin typeface="Inconsolata"/>
              </a:rPr>
              <a:t>if</a:t>
            </a:r>
            <a:r>
              <a:rPr sz="725" i="0">
                <a:solidFill>
                  <a:srgbClr val="E6EDF3"/>
                </a:solidFill>
                <a:latin typeface="Inconsolata"/>
              </a:rPr>
              <a:t> __name__ == </a:t>
            </a:r>
            <a:r>
              <a:rPr sz="725" i="0">
                <a:solidFill>
                  <a:srgbClr val="A5D6A7"/>
                </a:solidFill>
                <a:latin typeface="Inconsolata"/>
              </a:rPr>
              <a:t>"__main__"</a:t>
            </a:r>
            <a:r>
              <a:rPr sz="725" i="0">
                <a:solidFill>
                  <a:srgbClr val="E6EDF3"/>
                </a:solidFill>
                <a:latin typeface="Inconsolata"/>
              </a:rPr>
              <a:t>:</a:t>
            </a:r>
          </a:p>
          <a:p>
            <a:pPr>
              <a:lnSpc>
                <a:spcPct val="103448"/>
              </a:lnSpc>
              <a:spcAft>
                <a:spcPts val="0"/>
              </a:spcAft>
            </a:pPr>
            <a:r>
              <a:rPr sz="725" i="0">
                <a:solidFill>
                  <a:srgbClr val="5C6773"/>
                </a:solidFill>
                <a:latin typeface="Inconsolata"/>
              </a:rPr>
              <a:t>22  </a:t>
            </a:r>
            <a:r>
              <a:rPr sz="725" i="0">
                <a:solidFill>
                  <a:srgbClr val="E6EDF3"/>
                </a:solidFill>
                <a:latin typeface="Inconsolata"/>
              </a:rPr>
              <a:t>    token = create_token({</a:t>
            </a:r>
            <a:r>
              <a:rPr sz="725" i="0">
                <a:solidFill>
                  <a:srgbClr val="A5D6A7"/>
                </a:solidFill>
                <a:latin typeface="Inconsolata"/>
              </a:rPr>
              <a:t>"sub"</a:t>
            </a:r>
            <a:r>
              <a:rPr sz="725" i="0">
                <a:solidFill>
                  <a:srgbClr val="E6EDF3"/>
                </a:solidFill>
                <a:latin typeface="Inconsolata"/>
              </a:rPr>
              <a:t>: </a:t>
            </a:r>
            <a:r>
              <a:rPr sz="725" i="0">
                <a:solidFill>
                  <a:srgbClr val="A5D6A7"/>
                </a:solidFill>
                <a:latin typeface="Inconsolata"/>
              </a:rPr>
              <a:t>"budi@mail.com"</a:t>
            </a:r>
            <a:r>
              <a:rPr sz="725" i="0">
                <a:solidFill>
                  <a:srgbClr val="E6EDF3"/>
                </a:solidFill>
                <a:latin typeface="Inconsolata"/>
              </a:rPr>
              <a:t>, </a:t>
            </a:r>
            <a:r>
              <a:rPr sz="725" i="0">
                <a:solidFill>
                  <a:srgbClr val="A5D6A7"/>
                </a:solidFill>
                <a:latin typeface="Inconsolata"/>
              </a:rPr>
              <a:t>"role"</a:t>
            </a:r>
            <a:r>
              <a:rPr sz="725" i="0">
                <a:solidFill>
                  <a:srgbClr val="E6EDF3"/>
                </a:solidFill>
                <a:latin typeface="Inconsolata"/>
              </a:rPr>
              <a:t>: </a:t>
            </a:r>
            <a:r>
              <a:rPr sz="725" i="0">
                <a:solidFill>
                  <a:srgbClr val="A5D6A7"/>
                </a:solidFill>
                <a:latin typeface="Inconsolata"/>
              </a:rPr>
              <a:t>"customer"</a:t>
            </a:r>
            <a:r>
              <a:rPr sz="725" i="0">
                <a:solidFill>
                  <a:srgbClr val="E6EDF3"/>
                </a:solidFill>
                <a:latin typeface="Inconsolata"/>
              </a:rPr>
              <a:t>})</a:t>
            </a:r>
          </a:p>
          <a:p>
            <a:pPr>
              <a:lnSpc>
                <a:spcPct val="103448"/>
              </a:lnSpc>
              <a:spcAft>
                <a:spcPts val="0"/>
              </a:spcAft>
            </a:pPr>
            <a:r>
              <a:rPr sz="725" i="0">
                <a:solidFill>
                  <a:srgbClr val="5C6773"/>
                </a:solidFill>
                <a:latin typeface="Inconsolata"/>
              </a:rPr>
              <a:t>23  </a:t>
            </a:r>
            <a:r>
              <a:rPr sz="725" i="0">
                <a:solidFill>
                  <a:srgbClr val="E6EDF3"/>
                </a:solidFill>
                <a:latin typeface="Inconsolata"/>
              </a:rPr>
              <a:t>    </a:t>
            </a:r>
            <a:r>
              <a:rPr sz="725" i="0">
                <a:solidFill>
                  <a:srgbClr val="C3A6FF"/>
                </a:solidFill>
                <a:latin typeface="Inconsolata"/>
              </a:rPr>
              <a:t>print</a:t>
            </a:r>
            <a:r>
              <a:rPr sz="725" i="0">
                <a:solidFill>
                  <a:srgbClr val="E6EDF3"/>
                </a:solidFill>
                <a:latin typeface="Inconsolata"/>
              </a:rPr>
              <a:t>(</a:t>
            </a:r>
            <a:r>
              <a:rPr sz="725" i="0">
                <a:solidFill>
                  <a:srgbClr val="A5D6A7"/>
                </a:solidFill>
                <a:latin typeface="Inconsolata"/>
              </a:rPr>
              <a:t>"Token dari server :"</a:t>
            </a:r>
            <a:r>
              <a:rPr sz="725" i="0">
                <a:solidFill>
                  <a:srgbClr val="E6EDF3"/>
                </a:solidFill>
                <a:latin typeface="Inconsolata"/>
              </a:rPr>
              <a:t>, token)</a:t>
            </a:r>
          </a:p>
          <a:p>
            <a:pPr>
              <a:lnSpc>
                <a:spcPct val="103448"/>
              </a:lnSpc>
              <a:spcAft>
                <a:spcPts val="0"/>
              </a:spcAft>
            </a:pPr>
            <a:r>
              <a:rPr sz="725" i="0">
                <a:solidFill>
                  <a:srgbClr val="5C6773"/>
                </a:solidFill>
                <a:latin typeface="Inconsolata"/>
              </a:rPr>
              <a:t>24  </a:t>
            </a:r>
            <a:r>
              <a:rPr sz="725" i="0">
                <a:solidFill>
                  <a:srgbClr val="E6EDF3"/>
                </a:solidFill>
                <a:latin typeface="Inconsolata"/>
              </a:rPr>
              <a:t>    </a:t>
            </a:r>
            <a:r>
              <a:rPr sz="725" i="0">
                <a:solidFill>
                  <a:srgbClr val="C3A6FF"/>
                </a:solidFill>
                <a:latin typeface="Inconsolata"/>
              </a:rPr>
              <a:t>print</a:t>
            </a:r>
            <a:r>
              <a:rPr sz="725" i="0">
                <a:solidFill>
                  <a:srgbClr val="E6EDF3"/>
                </a:solidFill>
                <a:latin typeface="Inconsolata"/>
              </a:rPr>
              <a:t>(</a:t>
            </a:r>
            <a:r>
              <a:rPr sz="725" i="0">
                <a:solidFill>
                  <a:srgbClr val="A5D6A7"/>
                </a:solidFill>
                <a:latin typeface="Inconsolata"/>
              </a:rPr>
              <a:t>"Isi token         :"</a:t>
            </a:r>
            <a:r>
              <a:rPr sz="725" i="0">
                <a:solidFill>
                  <a:srgbClr val="E6EDF3"/>
                </a:solidFill>
                <a:latin typeface="Inconsolata"/>
              </a:rPr>
              <a:t>, read_token(token))</a:t>
            </a:r>
          </a:p>
          <a:p>
            <a:pPr>
              <a:lnSpc>
                <a:spcPct val="103448"/>
              </a:lnSpc>
              <a:spcAft>
                <a:spcPts val="0"/>
              </a:spcAft>
            </a:pPr>
            <a:r>
              <a:rPr sz="725" i="0">
                <a:solidFill>
                  <a:srgbClr val="5C6773"/>
                </a:solidFill>
                <a:latin typeface="Inconsolata"/>
              </a:rPr>
              <a:t>25  </a:t>
            </a:r>
            <a:r>
              <a:rPr sz="725" i="0">
                <a:solidFill>
                  <a:srgbClr val="E6EDF3"/>
                </a:solidFill>
                <a:latin typeface="Inconsolata"/>
              </a:rPr>
              <a:t> </a:t>
            </a:r>
          </a:p>
          <a:p>
            <a:pPr>
              <a:lnSpc>
                <a:spcPct val="103448"/>
              </a:lnSpc>
              <a:spcAft>
                <a:spcPts val="0"/>
              </a:spcAft>
            </a:pPr>
            <a:r>
              <a:rPr sz="725" i="0">
                <a:solidFill>
                  <a:srgbClr val="5C6773"/>
                </a:solidFill>
                <a:latin typeface="Inconsolata"/>
              </a:rPr>
              <a:t>26  </a:t>
            </a:r>
            <a:r>
              <a:rPr sz="725" i="0">
                <a:solidFill>
                  <a:srgbClr val="E6EDF3"/>
                </a:solidFill>
                <a:latin typeface="Inconsolata"/>
              </a:rPr>
              <a:t>    </a:t>
            </a:r>
            <a:r>
              <a:rPr sz="725" i="1">
                <a:solidFill>
                  <a:srgbClr val="8B98A8"/>
                </a:solidFill>
                <a:latin typeface="Inconsolata"/>
              </a:rPr>
              <a:t># penyerang: decode, ganti role, encode lagi</a:t>
            </a:r>
          </a:p>
          <a:p>
            <a:pPr>
              <a:lnSpc>
                <a:spcPct val="103448"/>
              </a:lnSpc>
              <a:spcAft>
                <a:spcPts val="0"/>
              </a:spcAft>
            </a:pPr>
            <a:r>
              <a:rPr sz="725" i="0">
                <a:solidFill>
                  <a:srgbClr val="5C6773"/>
                </a:solidFill>
                <a:latin typeface="Inconsolata"/>
              </a:rPr>
              <a:t>27  </a:t>
            </a:r>
            <a:r>
              <a:rPr sz="725" i="0">
                <a:solidFill>
                  <a:srgbClr val="E6EDF3"/>
                </a:solidFill>
                <a:latin typeface="Inconsolata"/>
              </a:rPr>
              <a:t>    claims = read_token(token)</a:t>
            </a:r>
          </a:p>
          <a:p>
            <a:pPr>
              <a:lnSpc>
                <a:spcPct val="103448"/>
              </a:lnSpc>
              <a:spcAft>
                <a:spcPts val="0"/>
              </a:spcAft>
            </a:pPr>
            <a:r>
              <a:rPr sz="725" i="0">
                <a:solidFill>
                  <a:srgbClr val="5C6773"/>
                </a:solidFill>
                <a:latin typeface="Inconsolata"/>
              </a:rPr>
              <a:t>28  </a:t>
            </a:r>
            <a:r>
              <a:rPr sz="725" i="0">
                <a:solidFill>
                  <a:srgbClr val="E6EDF3"/>
                </a:solidFill>
                <a:latin typeface="Inconsolata"/>
              </a:rPr>
              <a:t>    claims[</a:t>
            </a:r>
            <a:r>
              <a:rPr sz="725" i="0">
                <a:solidFill>
                  <a:srgbClr val="A5D6A7"/>
                </a:solidFill>
                <a:latin typeface="Inconsolata"/>
              </a:rPr>
              <a:t>"role"</a:t>
            </a:r>
            <a:r>
              <a:rPr sz="725" i="0">
                <a:solidFill>
                  <a:srgbClr val="E6EDF3"/>
                </a:solidFill>
                <a:latin typeface="Inconsolata"/>
              </a:rPr>
              <a:t>] = </a:t>
            </a:r>
            <a:r>
              <a:rPr sz="725" i="0">
                <a:solidFill>
                  <a:srgbClr val="A5D6A7"/>
                </a:solidFill>
                <a:latin typeface="Inconsolata"/>
              </a:rPr>
              <a:t>"admin"</a:t>
            </a:r>
          </a:p>
          <a:p>
            <a:pPr>
              <a:lnSpc>
                <a:spcPct val="103448"/>
              </a:lnSpc>
              <a:spcAft>
                <a:spcPts val="0"/>
              </a:spcAft>
            </a:pPr>
            <a:r>
              <a:rPr sz="725" i="0">
                <a:solidFill>
                  <a:srgbClr val="5C6773"/>
                </a:solidFill>
                <a:latin typeface="Inconsolata"/>
              </a:rPr>
              <a:t>29  </a:t>
            </a:r>
            <a:r>
              <a:rPr sz="725" i="0">
                <a:solidFill>
                  <a:srgbClr val="E6EDF3"/>
                </a:solidFill>
                <a:latin typeface="Inconsolata"/>
              </a:rPr>
              <a:t>    forged = create_token(claims)</a:t>
            </a:r>
          </a:p>
          <a:p>
            <a:pPr>
              <a:lnSpc>
                <a:spcPct val="103448"/>
              </a:lnSpc>
              <a:spcAft>
                <a:spcPts val="0"/>
              </a:spcAft>
            </a:pPr>
            <a:r>
              <a:rPr sz="725" i="0">
                <a:solidFill>
                  <a:srgbClr val="5C6773"/>
                </a:solidFill>
                <a:latin typeface="Inconsolata"/>
              </a:rPr>
              <a:t>30  </a:t>
            </a:r>
            <a:r>
              <a:rPr sz="725" i="0">
                <a:solidFill>
                  <a:srgbClr val="E6EDF3"/>
                </a:solidFill>
                <a:latin typeface="Inconsolata"/>
              </a:rPr>
              <a:t>    </a:t>
            </a:r>
            <a:r>
              <a:rPr sz="725" i="0">
                <a:solidFill>
                  <a:srgbClr val="C3A6FF"/>
                </a:solidFill>
                <a:latin typeface="Inconsolata"/>
              </a:rPr>
              <a:t>print</a:t>
            </a:r>
            <a:r>
              <a:rPr sz="725" i="0">
                <a:solidFill>
                  <a:srgbClr val="E6EDF3"/>
                </a:solidFill>
                <a:latin typeface="Inconsolata"/>
              </a:rPr>
              <a:t>(</a:t>
            </a:r>
            <a:r>
              <a:rPr sz="725" i="0">
                <a:solidFill>
                  <a:srgbClr val="A5D6A7"/>
                </a:solidFill>
                <a:latin typeface="Inconsolata"/>
              </a:rPr>
              <a:t>"Token diubah      :"</a:t>
            </a:r>
            <a:r>
              <a:rPr sz="725" i="0">
                <a:solidFill>
                  <a:srgbClr val="E6EDF3"/>
                </a:solidFill>
                <a:latin typeface="Inconsolata"/>
              </a:rPr>
              <a:t>, forged)</a:t>
            </a:r>
          </a:p>
          <a:p>
            <a:pPr>
              <a:lnSpc>
                <a:spcPct val="103448"/>
              </a:lnSpc>
              <a:spcAft>
                <a:spcPts val="0"/>
              </a:spcAft>
            </a:pPr>
            <a:r>
              <a:rPr sz="725" i="0">
                <a:solidFill>
                  <a:srgbClr val="5C6773"/>
                </a:solidFill>
                <a:latin typeface="Inconsolata"/>
              </a:rPr>
              <a:t>31  </a:t>
            </a:r>
            <a:r>
              <a:rPr sz="725" i="0">
                <a:solidFill>
                  <a:srgbClr val="E6EDF3"/>
                </a:solidFill>
                <a:latin typeface="Inconsolata"/>
              </a:rPr>
              <a:t>    </a:t>
            </a:r>
            <a:r>
              <a:rPr sz="725" i="0">
                <a:solidFill>
                  <a:srgbClr val="C3A6FF"/>
                </a:solidFill>
                <a:latin typeface="Inconsolata"/>
              </a:rPr>
              <a:t>print</a:t>
            </a:r>
            <a:r>
              <a:rPr sz="725" i="0">
                <a:solidFill>
                  <a:srgbClr val="E6EDF3"/>
                </a:solidFill>
                <a:latin typeface="Inconsolata"/>
              </a:rPr>
              <a:t>(</a:t>
            </a:r>
            <a:r>
              <a:rPr sz="725" i="0">
                <a:solidFill>
                  <a:srgbClr val="A5D6A7"/>
                </a:solidFill>
                <a:latin typeface="Inconsolata"/>
              </a:rPr>
              <a:t>"Diterima server   :"</a:t>
            </a:r>
            <a:r>
              <a:rPr sz="725" i="0">
                <a:solidFill>
                  <a:srgbClr val="E6EDF3"/>
                </a:solidFill>
                <a:latin typeface="Inconsolata"/>
              </a:rPr>
              <a:t>, read_token(forged))</a:t>
            </a:r>
          </a:p>
        </p:txBody>
      </p:sp>
      <p:sp>
        <p:nvSpPr>
          <p:cNvPr id="29" name="Box 12"/>
          <p:cNvSpPr/>
          <p:nvPr/>
        </p:nvSpPr>
        <p:spPr>
          <a:xfrm>
            <a:off x="704088" y="2282571"/>
            <a:ext cx="4343400" cy="221742"/>
          </a:xfrm>
          <a:prstGeom prst="roundRect">
            <a:avLst>
              <a:gd name="adj" fmla="val 20618"/>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4928616" y="22745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739771"/>
            <a:ext cx="4343400" cy="221742"/>
          </a:xfrm>
          <a:prstGeom prst="roundRect">
            <a:avLst>
              <a:gd name="adj" fmla="val 20618"/>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4928616" y="27317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882771"/>
            <a:ext cx="4343400" cy="336042"/>
          </a:xfrm>
          <a:prstGeom prst="roundRect">
            <a:avLst>
              <a:gd name="adj" fmla="val 13605"/>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4928616" y="39319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CodeTab 19"/>
          <p:cNvSpPr/>
          <p:nvPr/>
        </p:nvSpPr>
        <p:spPr>
          <a:xfrm>
            <a:off x="5285231" y="1481328"/>
            <a:ext cx="32004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Dot 20"/>
          <p:cNvSpPr/>
          <p:nvPr/>
        </p:nvSpPr>
        <p:spPr>
          <a:xfrm>
            <a:off x="5394959"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Dot 21"/>
          <p:cNvSpPr/>
          <p:nvPr/>
        </p:nvSpPr>
        <p:spPr>
          <a:xfrm>
            <a:off x="553212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Dot 22"/>
          <p:cNvSpPr/>
          <p:nvPr/>
        </p:nvSpPr>
        <p:spPr>
          <a:xfrm>
            <a:off x="5669279"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 23"/>
          <p:cNvSpPr txBox="1"/>
          <p:nvPr/>
        </p:nvSpPr>
        <p:spPr>
          <a:xfrm>
            <a:off x="5833871" y="1490472"/>
            <a:ext cx="25603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40" name="CodeBg 25"/>
          <p:cNvSpPr/>
          <p:nvPr/>
        </p:nvSpPr>
        <p:spPr>
          <a:xfrm>
            <a:off x="5285231" y="1719072"/>
            <a:ext cx="3200400" cy="457200"/>
          </a:xfrm>
          <a:prstGeom prst="roundRect">
            <a:avLst>
              <a:gd name="adj" fmla="val 4000"/>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Code 26"/>
          <p:cNvSpPr txBox="1"/>
          <p:nvPr/>
        </p:nvSpPr>
        <p:spPr>
          <a:xfrm>
            <a:off x="5285231" y="1719072"/>
            <a:ext cx="3200400" cy="457200"/>
          </a:xfrm>
          <a:prstGeom prst="rect">
            <a:avLst/>
          </a:prstGeom>
          <a:noFill/>
        </p:spPr>
        <p:txBody>
          <a:bodyPr wrap="none" lIns="146304" tIns="91440" rIns="146304" bIns="54864">
            <a:spAutoFit/>
          </a:bodyPr>
          <a:lstStyle/>
          <a:p>
            <a:pPr>
              <a:lnSpc>
                <a:spcPct val="104167"/>
              </a:lnSpc>
              <a:spcAft>
                <a:spcPts val="0"/>
              </a:spcAft>
            </a:pPr>
            <a:r>
              <a:rPr sz="800" i="0">
                <a:solidFill>
                  <a:srgbClr val="82B1FF"/>
                </a:solidFill>
                <a:latin typeface="Inconsolata"/>
              </a:rPr>
              <a:t>$ cd sesi-10-api-security/04-jwt</a:t>
            </a:r>
          </a:p>
          <a:p>
            <a:pPr>
              <a:lnSpc>
                <a:spcPct val="104167"/>
              </a:lnSpc>
              <a:spcAft>
                <a:spcPts val="0"/>
              </a:spcAft>
            </a:pPr>
            <a:r>
              <a:rPr sz="800" i="0">
                <a:solidFill>
                  <a:srgbClr val="82B1FF"/>
                </a:solidFill>
                <a:latin typeface="Inconsolata"/>
              </a:rPr>
              <a:t>$ python before.py</a:t>
            </a:r>
          </a:p>
        </p:txBody>
      </p:sp>
      <p:pic>
        <p:nvPicPr>
          <p:cNvPr id="42" name="Image 27" descr="s10-04-jwt-before.png"/>
          <p:cNvPicPr>
            <a:picLocks noChangeAspect="1"/>
          </p:cNvPicPr>
          <p:nvPr/>
        </p:nvPicPr>
        <p:blipFill>
          <a:blip r:embed="rId2"/>
          <a:stretch>
            <a:fillRect/>
          </a:stretch>
        </p:blipFill>
        <p:spPr>
          <a:xfrm>
            <a:off x="5285231" y="2249424"/>
            <a:ext cx="3200400" cy="673768"/>
          </a:xfrm>
          <a:prstGeom prst="rect">
            <a:avLst/>
          </a:prstGeom>
        </p:spPr>
      </p:pic>
      <p:sp>
        <p:nvSpPr>
          <p:cNvPr id="43" name="Box 28"/>
          <p:cNvSpPr/>
          <p:nvPr/>
        </p:nvSpPr>
        <p:spPr>
          <a:xfrm>
            <a:off x="5285231" y="3014632"/>
            <a:ext cx="3200400" cy="1685383"/>
          </a:xfrm>
          <a:prstGeom prst="roundRect">
            <a:avLst>
              <a:gd name="adj" fmla="val 651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4" name="Text 29"/>
          <p:cNvSpPr txBox="1"/>
          <p:nvPr/>
        </p:nvSpPr>
        <p:spPr>
          <a:xfrm>
            <a:off x="5422392" y="3106072"/>
            <a:ext cx="2926080" cy="310896"/>
          </a:xfrm>
          <a:prstGeom prst="rect">
            <a:avLst/>
          </a:prstGeom>
          <a:noFill/>
        </p:spPr>
        <p:txBody>
          <a:bodyPr wrap="square" lIns="45720" rIns="45720" anchor="t">
            <a:spAutoFit/>
          </a:bodyPr>
          <a:lstStyle/>
          <a:p>
            <a:pPr algn="l">
              <a:lnSpc>
                <a:spcPct val="115000"/>
              </a:lnSpc>
              <a:spcAft>
                <a:spcPts val="400"/>
              </a:spcAft>
            </a:pPr>
            <a:r>
              <a:rPr sz="1000" b="1" i="0">
                <a:solidFill>
                  <a:srgbClr val="C0392B"/>
                </a:solidFill>
                <a:latin typeface="Inter"/>
              </a:rPr>
              <a:t>Masalahnya</a:t>
            </a:r>
          </a:p>
        </p:txBody>
      </p:sp>
      <p:sp>
        <p:nvSpPr>
          <p:cNvPr id="45" name="Text 30"/>
          <p:cNvSpPr txBox="1"/>
          <p:nvPr/>
        </p:nvSpPr>
        <p:spPr>
          <a:xfrm>
            <a:off x="5422392" y="3426112"/>
            <a:ext cx="2926080" cy="1182463"/>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Token hanya base64 dari JSON (baris 13-14)</a:t>
            </a:r>
          </a:p>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Server percaya isi token apa adanya (baris 17-18)</a:t>
            </a:r>
          </a:p>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Penyerang mengganti role (baris 27-29)</a:t>
            </a:r>
          </a:p>
          <a:p>
            <a:pPr algn="l">
              <a:lnSpc>
                <a:spcPct val="115000"/>
              </a:lnSpc>
              <a:spcAft>
                <a:spcPts val="0"/>
              </a:spcAft>
            </a:pPr>
            <a:endParaRPr sz="850" b="0" i="0">
              <a:solidFill>
                <a:srgbClr val="434343"/>
              </a:solidFill>
              <a:latin typeface="Inter"/>
            </a:endParaRPr>
          </a:p>
          <a:p>
            <a:pPr algn="l">
              <a:lnSpc>
                <a:spcPct val="115000"/>
              </a:lnSpc>
              <a:spcAft>
                <a:spcPts val="400"/>
              </a:spcAft>
            </a:pPr>
            <a:r>
              <a:rPr sz="850" b="0" i="0">
                <a:solidFill>
                  <a:srgbClr val="434343"/>
                </a:solidFill>
                <a:latin typeface="Inter"/>
              </a:rPr>
              <a:t>Token yang diubah jadi admin diterima server.</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JWT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JWT dengan signature dan exp</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04-jwt/after.py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2868"/>
              </a:lnSpc>
              <a:spcAft>
                <a:spcPts val="0"/>
              </a:spcAft>
            </a:pPr>
            <a:r>
              <a:rPr sz="729" i="0">
                <a:solidFill>
                  <a:srgbClr val="5C6773"/>
                </a:solidFill>
                <a:latin typeface="Inconsolata"/>
              </a:rPr>
              <a:t>11  </a:t>
            </a:r>
            <a:r>
              <a:rPr sz="729" i="0">
                <a:solidFill>
                  <a:srgbClr val="FF8E6E"/>
                </a:solidFill>
                <a:latin typeface="Inconsolata"/>
              </a:rPr>
              <a:t>import</a:t>
            </a:r>
            <a:r>
              <a:rPr sz="729" i="0">
                <a:solidFill>
                  <a:srgbClr val="E6EDF3"/>
                </a:solidFill>
                <a:latin typeface="Inconsolata"/>
              </a:rPr>
              <a:t> base64</a:t>
            </a:r>
          </a:p>
          <a:p>
            <a:pPr>
              <a:lnSpc>
                <a:spcPct val="102868"/>
              </a:lnSpc>
              <a:spcAft>
                <a:spcPts val="0"/>
              </a:spcAft>
            </a:pPr>
            <a:r>
              <a:rPr sz="729" i="0">
                <a:solidFill>
                  <a:srgbClr val="5C6773"/>
                </a:solidFill>
                <a:latin typeface="Inconsolata"/>
              </a:rPr>
              <a:t>12  </a:t>
            </a:r>
            <a:r>
              <a:rPr sz="729" i="0">
                <a:solidFill>
                  <a:srgbClr val="FF8E6E"/>
                </a:solidFill>
                <a:latin typeface="Inconsolata"/>
              </a:rPr>
              <a:t>import</a:t>
            </a:r>
            <a:r>
              <a:rPr sz="729" i="0">
                <a:solidFill>
                  <a:srgbClr val="E6EDF3"/>
                </a:solidFill>
                <a:latin typeface="Inconsolata"/>
              </a:rPr>
              <a:t> json</a:t>
            </a:r>
          </a:p>
          <a:p>
            <a:pPr>
              <a:lnSpc>
                <a:spcPct val="102868"/>
              </a:lnSpc>
              <a:spcAft>
                <a:spcPts val="0"/>
              </a:spcAft>
            </a:pPr>
            <a:r>
              <a:rPr sz="729" i="0">
                <a:solidFill>
                  <a:srgbClr val="5C6773"/>
                </a:solidFill>
                <a:latin typeface="Inconsolata"/>
              </a:rPr>
              <a:t>13  </a:t>
            </a:r>
            <a:r>
              <a:rPr sz="729" i="0">
                <a:solidFill>
                  <a:srgbClr val="FF8E6E"/>
                </a:solidFill>
                <a:latin typeface="Inconsolata"/>
              </a:rPr>
              <a:t>from</a:t>
            </a:r>
            <a:r>
              <a:rPr sz="729" i="0">
                <a:solidFill>
                  <a:srgbClr val="E6EDF3"/>
                </a:solidFill>
                <a:latin typeface="Inconsolata"/>
              </a:rPr>
              <a:t> datetime </a:t>
            </a:r>
            <a:r>
              <a:rPr sz="729" i="0">
                <a:solidFill>
                  <a:srgbClr val="FF8E6E"/>
                </a:solidFill>
                <a:latin typeface="Inconsolata"/>
              </a:rPr>
              <a:t>import</a:t>
            </a:r>
            <a:r>
              <a:rPr sz="729" i="0">
                <a:solidFill>
                  <a:srgbClr val="E6EDF3"/>
                </a:solidFill>
                <a:latin typeface="Inconsolata"/>
              </a:rPr>
              <a:t> datetime, timedelta, timezone</a:t>
            </a:r>
          </a:p>
          <a:p>
            <a:pPr>
              <a:lnSpc>
                <a:spcPct val="102868"/>
              </a:lnSpc>
              <a:spcAft>
                <a:spcPts val="0"/>
              </a:spcAft>
            </a:pPr>
            <a:r>
              <a:rPr sz="729" i="0">
                <a:solidFill>
                  <a:srgbClr val="5C6773"/>
                </a:solidFill>
                <a:latin typeface="Inconsolata"/>
              </a:rPr>
              <a:t>14  </a:t>
            </a:r>
            <a:r>
              <a:rPr sz="729" i="0">
                <a:solidFill>
                  <a:srgbClr val="E6EDF3"/>
                </a:solidFill>
                <a:latin typeface="Inconsolata"/>
              </a:rPr>
              <a:t> </a:t>
            </a:r>
          </a:p>
          <a:p>
            <a:pPr>
              <a:lnSpc>
                <a:spcPct val="102868"/>
              </a:lnSpc>
              <a:spcAft>
                <a:spcPts val="0"/>
              </a:spcAft>
            </a:pPr>
            <a:r>
              <a:rPr sz="729" i="0">
                <a:solidFill>
                  <a:srgbClr val="5C6773"/>
                </a:solidFill>
                <a:latin typeface="Inconsolata"/>
              </a:rPr>
              <a:t>15  </a:t>
            </a:r>
            <a:r>
              <a:rPr sz="729" i="0">
                <a:solidFill>
                  <a:srgbClr val="FF8E6E"/>
                </a:solidFill>
                <a:latin typeface="Inconsolata"/>
              </a:rPr>
              <a:t>import</a:t>
            </a:r>
            <a:r>
              <a:rPr sz="729" i="0">
                <a:solidFill>
                  <a:srgbClr val="E6EDF3"/>
                </a:solidFill>
                <a:latin typeface="Inconsolata"/>
              </a:rPr>
              <a:t> jwt</a:t>
            </a:r>
          </a:p>
          <a:p>
            <a:pPr>
              <a:lnSpc>
                <a:spcPct val="102868"/>
              </a:lnSpc>
              <a:spcAft>
                <a:spcPts val="0"/>
              </a:spcAft>
            </a:pPr>
            <a:r>
              <a:rPr sz="729" i="0">
                <a:solidFill>
                  <a:srgbClr val="5C6773"/>
                </a:solidFill>
                <a:latin typeface="Inconsolata"/>
              </a:rPr>
              <a:t>16  </a:t>
            </a:r>
            <a:r>
              <a:rPr sz="729" i="0">
                <a:solidFill>
                  <a:srgbClr val="E6EDF3"/>
                </a:solidFill>
                <a:latin typeface="Inconsolata"/>
              </a:rPr>
              <a:t> </a:t>
            </a:r>
          </a:p>
          <a:p>
            <a:pPr>
              <a:lnSpc>
                <a:spcPct val="102868"/>
              </a:lnSpc>
              <a:spcAft>
                <a:spcPts val="0"/>
              </a:spcAft>
            </a:pPr>
            <a:r>
              <a:rPr sz="729" i="0">
                <a:solidFill>
                  <a:srgbClr val="5C6773"/>
                </a:solidFill>
                <a:latin typeface="Inconsolata"/>
              </a:rPr>
              <a:t>17  </a:t>
            </a:r>
            <a:r>
              <a:rPr sz="729" i="0">
                <a:solidFill>
                  <a:srgbClr val="7FDBCA"/>
                </a:solidFill>
                <a:latin typeface="Inconsolata"/>
              </a:rPr>
              <a:t>SECRET</a:t>
            </a:r>
            <a:r>
              <a:rPr sz="729" i="0">
                <a:solidFill>
                  <a:srgbClr val="E6EDF3"/>
                </a:solidFill>
                <a:latin typeface="Inconsolata"/>
              </a:rPr>
              <a:t> = </a:t>
            </a:r>
            <a:r>
              <a:rPr sz="729" i="0">
                <a:solidFill>
                  <a:srgbClr val="A5D6A7"/>
                </a:solidFill>
                <a:latin typeface="Inconsolata"/>
              </a:rPr>
              <a:t>"ganti-dengan-secret-panjang-dari-env"</a:t>
            </a:r>
            <a:r>
              <a:rPr sz="729" i="0">
                <a:solidFill>
                  <a:srgbClr val="E6EDF3"/>
                </a:solidFill>
                <a:latin typeface="Inconsolata"/>
              </a:rPr>
              <a:t>   </a:t>
            </a:r>
            <a:r>
              <a:rPr sz="729" i="1">
                <a:solidFill>
                  <a:srgbClr val="8B98A8"/>
                </a:solidFill>
                <a:latin typeface="Inconsolata"/>
              </a:rPr>
              <a:t># contoh 07</a:t>
            </a:r>
          </a:p>
          <a:p>
            <a:pPr>
              <a:lnSpc>
                <a:spcPct val="102868"/>
              </a:lnSpc>
              <a:spcAft>
                <a:spcPts val="0"/>
              </a:spcAft>
            </a:pPr>
            <a:r>
              <a:rPr sz="729" i="0">
                <a:solidFill>
                  <a:srgbClr val="5C6773"/>
                </a:solidFill>
                <a:latin typeface="Inconsolata"/>
              </a:rPr>
              <a:t>18  </a:t>
            </a:r>
            <a:r>
              <a:rPr sz="729" i="0">
                <a:solidFill>
                  <a:srgbClr val="E6EDF3"/>
                </a:solidFill>
                <a:latin typeface="Inconsolata"/>
              </a:rPr>
              <a:t> </a:t>
            </a:r>
          </a:p>
          <a:p>
            <a:pPr>
              <a:lnSpc>
                <a:spcPct val="102868"/>
              </a:lnSpc>
              <a:spcAft>
                <a:spcPts val="0"/>
              </a:spcAft>
            </a:pPr>
            <a:r>
              <a:rPr sz="729" i="0">
                <a:solidFill>
                  <a:srgbClr val="5C6773"/>
                </a:solidFill>
                <a:latin typeface="Inconsolata"/>
              </a:rPr>
              <a:t>19  </a:t>
            </a:r>
            <a:r>
              <a:rPr sz="729" i="0">
                <a:solidFill>
                  <a:srgbClr val="E6EDF3"/>
                </a:solidFill>
                <a:latin typeface="Inconsolata"/>
              </a:rPr>
              <a:t> </a:t>
            </a:r>
          </a:p>
          <a:p>
            <a:pPr>
              <a:lnSpc>
                <a:spcPct val="102868"/>
              </a:lnSpc>
              <a:spcAft>
                <a:spcPts val="0"/>
              </a:spcAft>
            </a:pPr>
            <a:r>
              <a:rPr sz="729" i="0">
                <a:solidFill>
                  <a:srgbClr val="5C6773"/>
                </a:solidFill>
                <a:latin typeface="Inconsolata"/>
              </a:rPr>
              <a:t>20  </a:t>
            </a:r>
            <a:r>
              <a:rPr sz="729" i="0">
                <a:solidFill>
                  <a:srgbClr val="FF8E6E"/>
                </a:solidFill>
                <a:latin typeface="Inconsolata"/>
              </a:rPr>
              <a:t>def</a:t>
            </a:r>
            <a:r>
              <a:rPr sz="729" i="0">
                <a:solidFill>
                  <a:srgbClr val="E6EDF3"/>
                </a:solidFill>
                <a:latin typeface="Inconsolata"/>
              </a:rPr>
              <a:t> </a:t>
            </a:r>
            <a:r>
              <a:rPr sz="729" i="0">
                <a:solidFill>
                  <a:srgbClr val="82B1FF"/>
                </a:solidFill>
                <a:latin typeface="Inconsolata"/>
              </a:rPr>
              <a:t>create_token</a:t>
            </a:r>
            <a:r>
              <a:rPr sz="729" i="0">
                <a:solidFill>
                  <a:srgbClr val="E6EDF3"/>
                </a:solidFill>
                <a:latin typeface="Inconsolata"/>
              </a:rPr>
              <a:t>(sub: </a:t>
            </a:r>
            <a:r>
              <a:rPr sz="729" i="0">
                <a:solidFill>
                  <a:srgbClr val="C3A6FF"/>
                </a:solidFill>
                <a:latin typeface="Inconsolata"/>
              </a:rPr>
              <a:t>str</a:t>
            </a:r>
            <a:r>
              <a:rPr sz="729" i="0">
                <a:solidFill>
                  <a:srgbClr val="E6EDF3"/>
                </a:solidFill>
                <a:latin typeface="Inconsolata"/>
              </a:rPr>
              <a:t>, role: </a:t>
            </a:r>
            <a:r>
              <a:rPr sz="729" i="0">
                <a:solidFill>
                  <a:srgbClr val="C3A6FF"/>
                </a:solidFill>
                <a:latin typeface="Inconsolata"/>
              </a:rPr>
              <a:t>str</a:t>
            </a:r>
            <a:r>
              <a:rPr sz="729" i="0">
                <a:solidFill>
                  <a:srgbClr val="E6EDF3"/>
                </a:solidFill>
                <a:latin typeface="Inconsolata"/>
              </a:rPr>
              <a:t>, minutes: </a:t>
            </a:r>
            <a:r>
              <a:rPr sz="729" i="0">
                <a:solidFill>
                  <a:srgbClr val="C3A6FF"/>
                </a:solidFill>
                <a:latin typeface="Inconsolata"/>
              </a:rPr>
              <a:t>int</a:t>
            </a:r>
            <a:r>
              <a:rPr sz="729" i="0">
                <a:solidFill>
                  <a:srgbClr val="E6EDF3"/>
                </a:solidFill>
                <a:latin typeface="Inconsolata"/>
              </a:rPr>
              <a:t> = </a:t>
            </a:r>
            <a:r>
              <a:rPr sz="729" i="0">
                <a:solidFill>
                  <a:srgbClr val="F9C97A"/>
                </a:solidFill>
                <a:latin typeface="Inconsolata"/>
              </a:rPr>
              <a:t>30</a:t>
            </a:r>
            <a:r>
              <a:rPr sz="729" i="0">
                <a:solidFill>
                  <a:srgbClr val="E6EDF3"/>
                </a:solidFill>
                <a:latin typeface="Inconsolata"/>
              </a:rPr>
              <a:t>) -&gt; </a:t>
            </a:r>
            <a:r>
              <a:rPr sz="729" i="0">
                <a:solidFill>
                  <a:srgbClr val="C3A6FF"/>
                </a:solidFill>
                <a:latin typeface="Inconsolata"/>
              </a:rPr>
              <a:t>str</a:t>
            </a:r>
            <a:r>
              <a:rPr sz="729" i="0">
                <a:solidFill>
                  <a:srgbClr val="E6EDF3"/>
                </a:solidFill>
                <a:latin typeface="Inconsolata"/>
              </a:rPr>
              <a:t>:</a:t>
            </a:r>
          </a:p>
          <a:p>
            <a:pPr>
              <a:lnSpc>
                <a:spcPct val="102868"/>
              </a:lnSpc>
              <a:spcAft>
                <a:spcPts val="0"/>
              </a:spcAft>
            </a:pPr>
            <a:r>
              <a:rPr sz="729" i="0">
                <a:solidFill>
                  <a:srgbClr val="5C6773"/>
                </a:solidFill>
                <a:latin typeface="Inconsolata"/>
              </a:rPr>
              <a:t>21  </a:t>
            </a:r>
            <a:r>
              <a:rPr sz="729" i="0">
                <a:solidFill>
                  <a:srgbClr val="E6EDF3"/>
                </a:solidFill>
                <a:latin typeface="Inconsolata"/>
              </a:rPr>
              <a:t>    exp = datetime.now(timezone.utc) + timedelta(minutes=minutes)</a:t>
            </a:r>
          </a:p>
          <a:p>
            <a:pPr>
              <a:lnSpc>
                <a:spcPct val="102868"/>
              </a:lnSpc>
              <a:spcAft>
                <a:spcPts val="0"/>
              </a:spcAft>
            </a:pPr>
            <a:r>
              <a:rPr sz="729" i="0">
                <a:solidFill>
                  <a:srgbClr val="5C6773"/>
                </a:solidFill>
                <a:latin typeface="Inconsolata"/>
              </a:rPr>
              <a:t>22  </a:t>
            </a:r>
            <a:r>
              <a:rPr sz="729" i="0">
                <a:solidFill>
                  <a:srgbClr val="E6EDF3"/>
                </a:solidFill>
                <a:latin typeface="Inconsolata"/>
              </a:rPr>
              <a:t>    claims = {</a:t>
            </a:r>
            <a:r>
              <a:rPr sz="729" i="0">
                <a:solidFill>
                  <a:srgbClr val="A5D6A7"/>
                </a:solidFill>
                <a:latin typeface="Inconsolata"/>
              </a:rPr>
              <a:t>"sub"</a:t>
            </a:r>
            <a:r>
              <a:rPr sz="729" i="0">
                <a:solidFill>
                  <a:srgbClr val="E6EDF3"/>
                </a:solidFill>
                <a:latin typeface="Inconsolata"/>
              </a:rPr>
              <a:t>: sub, </a:t>
            </a:r>
            <a:r>
              <a:rPr sz="729" i="0">
                <a:solidFill>
                  <a:srgbClr val="A5D6A7"/>
                </a:solidFill>
                <a:latin typeface="Inconsolata"/>
              </a:rPr>
              <a:t>"role"</a:t>
            </a:r>
            <a:r>
              <a:rPr sz="729" i="0">
                <a:solidFill>
                  <a:srgbClr val="E6EDF3"/>
                </a:solidFill>
                <a:latin typeface="Inconsolata"/>
              </a:rPr>
              <a:t>: role, </a:t>
            </a:r>
            <a:r>
              <a:rPr sz="729" i="0">
                <a:solidFill>
                  <a:srgbClr val="A5D6A7"/>
                </a:solidFill>
                <a:latin typeface="Inconsolata"/>
              </a:rPr>
              <a:t>"exp"</a:t>
            </a:r>
            <a:r>
              <a:rPr sz="729" i="0">
                <a:solidFill>
                  <a:srgbClr val="E6EDF3"/>
                </a:solidFill>
                <a:latin typeface="Inconsolata"/>
              </a:rPr>
              <a:t>: exp}</a:t>
            </a:r>
          </a:p>
          <a:p>
            <a:pPr>
              <a:lnSpc>
                <a:spcPct val="102868"/>
              </a:lnSpc>
              <a:spcAft>
                <a:spcPts val="0"/>
              </a:spcAft>
            </a:pPr>
            <a:r>
              <a:rPr sz="729" i="0">
                <a:solidFill>
                  <a:srgbClr val="5C6773"/>
                </a:solidFill>
                <a:latin typeface="Inconsolata"/>
              </a:rPr>
              <a:t>23  </a:t>
            </a:r>
            <a:r>
              <a:rPr sz="729" i="0">
                <a:solidFill>
                  <a:srgbClr val="E6EDF3"/>
                </a:solidFill>
                <a:latin typeface="Inconsolata"/>
              </a:rPr>
              <a:t>    </a:t>
            </a:r>
            <a:r>
              <a:rPr sz="729" i="0">
                <a:solidFill>
                  <a:srgbClr val="FF8E6E"/>
                </a:solidFill>
                <a:latin typeface="Inconsolata"/>
              </a:rPr>
              <a:t>return</a:t>
            </a:r>
            <a:r>
              <a:rPr sz="729" i="0">
                <a:solidFill>
                  <a:srgbClr val="E6EDF3"/>
                </a:solidFill>
                <a:latin typeface="Inconsolata"/>
              </a:rPr>
              <a:t> jwt.encode(claims, </a:t>
            </a:r>
            <a:r>
              <a:rPr sz="729" i="0">
                <a:solidFill>
                  <a:srgbClr val="7FDBCA"/>
                </a:solidFill>
                <a:latin typeface="Inconsolata"/>
              </a:rPr>
              <a:t>SECRET</a:t>
            </a:r>
            <a:r>
              <a:rPr sz="729" i="0">
                <a:solidFill>
                  <a:srgbClr val="E6EDF3"/>
                </a:solidFill>
                <a:latin typeface="Inconsolata"/>
              </a:rPr>
              <a:t>, algorithm=</a:t>
            </a:r>
            <a:r>
              <a:rPr sz="729" i="0">
                <a:solidFill>
                  <a:srgbClr val="A5D6A7"/>
                </a:solidFill>
                <a:latin typeface="Inconsolata"/>
              </a:rPr>
              <a:t>"HS256"</a:t>
            </a:r>
            <a:r>
              <a:rPr sz="729" i="0">
                <a:solidFill>
                  <a:srgbClr val="E6EDF3"/>
                </a:solidFill>
                <a:latin typeface="Inconsolata"/>
              </a:rPr>
              <a:t>)</a:t>
            </a:r>
          </a:p>
          <a:p>
            <a:pPr>
              <a:lnSpc>
                <a:spcPct val="102868"/>
              </a:lnSpc>
              <a:spcAft>
                <a:spcPts val="0"/>
              </a:spcAft>
            </a:pPr>
            <a:r>
              <a:rPr sz="729" i="0">
                <a:solidFill>
                  <a:srgbClr val="5C6773"/>
                </a:solidFill>
                <a:latin typeface="Inconsolata"/>
              </a:rPr>
              <a:t>24  </a:t>
            </a:r>
            <a:r>
              <a:rPr sz="729" i="0">
                <a:solidFill>
                  <a:srgbClr val="E6EDF3"/>
                </a:solidFill>
                <a:latin typeface="Inconsolata"/>
              </a:rPr>
              <a:t> </a:t>
            </a:r>
          </a:p>
          <a:p>
            <a:pPr>
              <a:lnSpc>
                <a:spcPct val="102868"/>
              </a:lnSpc>
              <a:spcAft>
                <a:spcPts val="0"/>
              </a:spcAft>
            </a:pPr>
            <a:r>
              <a:rPr sz="729" i="0">
                <a:solidFill>
                  <a:srgbClr val="5C6773"/>
                </a:solidFill>
                <a:latin typeface="Inconsolata"/>
              </a:rPr>
              <a:t>25  </a:t>
            </a:r>
            <a:r>
              <a:rPr sz="729" i="0">
                <a:solidFill>
                  <a:srgbClr val="E6EDF3"/>
                </a:solidFill>
                <a:latin typeface="Inconsolata"/>
              </a:rPr>
              <a:t> </a:t>
            </a:r>
          </a:p>
          <a:p>
            <a:pPr>
              <a:lnSpc>
                <a:spcPct val="102868"/>
              </a:lnSpc>
              <a:spcAft>
                <a:spcPts val="0"/>
              </a:spcAft>
            </a:pPr>
            <a:r>
              <a:rPr sz="729" i="0">
                <a:solidFill>
                  <a:srgbClr val="5C6773"/>
                </a:solidFill>
                <a:latin typeface="Inconsolata"/>
              </a:rPr>
              <a:t>26  </a:t>
            </a:r>
            <a:r>
              <a:rPr sz="729" i="0">
                <a:solidFill>
                  <a:srgbClr val="FF8E6E"/>
                </a:solidFill>
                <a:latin typeface="Inconsolata"/>
              </a:rPr>
              <a:t>def</a:t>
            </a:r>
            <a:r>
              <a:rPr sz="729" i="0">
                <a:solidFill>
                  <a:srgbClr val="E6EDF3"/>
                </a:solidFill>
                <a:latin typeface="Inconsolata"/>
              </a:rPr>
              <a:t> </a:t>
            </a:r>
            <a:r>
              <a:rPr sz="729" i="0">
                <a:solidFill>
                  <a:srgbClr val="82B1FF"/>
                </a:solidFill>
                <a:latin typeface="Inconsolata"/>
              </a:rPr>
              <a:t>read_token</a:t>
            </a:r>
            <a:r>
              <a:rPr sz="729" i="0">
                <a:solidFill>
                  <a:srgbClr val="E6EDF3"/>
                </a:solidFill>
                <a:latin typeface="Inconsolata"/>
              </a:rPr>
              <a:t>(token: </a:t>
            </a:r>
            <a:r>
              <a:rPr sz="729" i="0">
                <a:solidFill>
                  <a:srgbClr val="C3A6FF"/>
                </a:solidFill>
                <a:latin typeface="Inconsolata"/>
              </a:rPr>
              <a:t>str</a:t>
            </a:r>
            <a:r>
              <a:rPr sz="729" i="0">
                <a:solidFill>
                  <a:srgbClr val="E6EDF3"/>
                </a:solidFill>
                <a:latin typeface="Inconsolata"/>
              </a:rPr>
              <a:t>) -&gt; </a:t>
            </a:r>
            <a:r>
              <a:rPr sz="729" i="0">
                <a:solidFill>
                  <a:srgbClr val="C3A6FF"/>
                </a:solidFill>
                <a:latin typeface="Inconsolata"/>
              </a:rPr>
              <a:t>dict</a:t>
            </a:r>
            <a:r>
              <a:rPr sz="729" i="0">
                <a:solidFill>
                  <a:srgbClr val="E6EDF3"/>
                </a:solidFill>
                <a:latin typeface="Inconsolata"/>
              </a:rPr>
              <a:t>:</a:t>
            </a:r>
          </a:p>
          <a:p>
            <a:pPr>
              <a:lnSpc>
                <a:spcPct val="102868"/>
              </a:lnSpc>
              <a:spcAft>
                <a:spcPts val="0"/>
              </a:spcAft>
            </a:pPr>
            <a:r>
              <a:rPr sz="729" i="0">
                <a:solidFill>
                  <a:srgbClr val="5C6773"/>
                </a:solidFill>
                <a:latin typeface="Inconsolata"/>
              </a:rPr>
              <a:t>27  </a:t>
            </a:r>
            <a:r>
              <a:rPr sz="729" i="0">
                <a:solidFill>
                  <a:srgbClr val="E6EDF3"/>
                </a:solidFill>
                <a:latin typeface="Inconsolata"/>
              </a:rPr>
              <a:t>    </a:t>
            </a:r>
            <a:r>
              <a:rPr sz="729" i="0">
                <a:solidFill>
                  <a:srgbClr val="FF8E6E"/>
                </a:solidFill>
                <a:latin typeface="Inconsolata"/>
              </a:rPr>
              <a:t>return</a:t>
            </a:r>
            <a:r>
              <a:rPr sz="729" i="0">
                <a:solidFill>
                  <a:srgbClr val="E6EDF3"/>
                </a:solidFill>
                <a:latin typeface="Inconsolata"/>
              </a:rPr>
              <a:t> jwt.decode(token, </a:t>
            </a:r>
            <a:r>
              <a:rPr sz="729" i="0">
                <a:solidFill>
                  <a:srgbClr val="7FDBCA"/>
                </a:solidFill>
                <a:latin typeface="Inconsolata"/>
              </a:rPr>
              <a:t>SECRET</a:t>
            </a:r>
            <a:r>
              <a:rPr sz="729" i="0">
                <a:solidFill>
                  <a:srgbClr val="E6EDF3"/>
                </a:solidFill>
                <a:latin typeface="Inconsolata"/>
              </a:rPr>
              <a:t>, algorithms=[</a:t>
            </a:r>
            <a:r>
              <a:rPr sz="729" i="0">
                <a:solidFill>
                  <a:srgbClr val="A5D6A7"/>
                </a:solidFill>
                <a:latin typeface="Inconsolata"/>
              </a:rPr>
              <a:t>"HS256"</a:t>
            </a:r>
            <a:r>
              <a:rPr sz="729"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04-jwt/after.py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2868"/>
              </a:lnSpc>
              <a:spcAft>
                <a:spcPts val="0"/>
              </a:spcAft>
            </a:pPr>
            <a:r>
              <a:rPr sz="729" i="0">
                <a:solidFill>
                  <a:srgbClr val="5C6773"/>
                </a:solidFill>
                <a:latin typeface="Inconsolata"/>
              </a:rPr>
              <a:t>30  </a:t>
            </a:r>
            <a:r>
              <a:rPr sz="729" i="0">
                <a:solidFill>
                  <a:srgbClr val="FF8E6E"/>
                </a:solidFill>
                <a:latin typeface="Inconsolata"/>
              </a:rPr>
              <a:t>def</a:t>
            </a:r>
            <a:r>
              <a:rPr sz="729" i="0">
                <a:solidFill>
                  <a:srgbClr val="E6EDF3"/>
                </a:solidFill>
                <a:latin typeface="Inconsolata"/>
              </a:rPr>
              <a:t> </a:t>
            </a:r>
            <a:r>
              <a:rPr sz="729" i="0">
                <a:solidFill>
                  <a:srgbClr val="82B1FF"/>
                </a:solidFill>
                <a:latin typeface="Inconsolata"/>
              </a:rPr>
              <a:t>forge</a:t>
            </a:r>
            <a:r>
              <a:rPr sz="729" i="0">
                <a:solidFill>
                  <a:srgbClr val="E6EDF3"/>
                </a:solidFill>
                <a:latin typeface="Inconsolata"/>
              </a:rPr>
              <a:t>(token: </a:t>
            </a:r>
            <a:r>
              <a:rPr sz="729" i="0">
                <a:solidFill>
                  <a:srgbClr val="C3A6FF"/>
                </a:solidFill>
                <a:latin typeface="Inconsolata"/>
              </a:rPr>
              <a:t>str</a:t>
            </a:r>
            <a:r>
              <a:rPr sz="729" i="0">
                <a:solidFill>
                  <a:srgbClr val="E6EDF3"/>
                </a:solidFill>
                <a:latin typeface="Inconsolata"/>
              </a:rPr>
              <a:t>) -&gt; </a:t>
            </a:r>
            <a:r>
              <a:rPr sz="729" i="0">
                <a:solidFill>
                  <a:srgbClr val="C3A6FF"/>
                </a:solidFill>
                <a:latin typeface="Inconsolata"/>
              </a:rPr>
              <a:t>str</a:t>
            </a:r>
            <a:r>
              <a:rPr sz="729" i="0">
                <a:solidFill>
                  <a:srgbClr val="E6EDF3"/>
                </a:solidFill>
                <a:latin typeface="Inconsolata"/>
              </a:rPr>
              <a:t>:</a:t>
            </a:r>
          </a:p>
          <a:p>
            <a:pPr>
              <a:lnSpc>
                <a:spcPct val="102868"/>
              </a:lnSpc>
              <a:spcAft>
                <a:spcPts val="0"/>
              </a:spcAft>
            </a:pPr>
            <a:r>
              <a:rPr sz="729" i="0">
                <a:solidFill>
                  <a:srgbClr val="5C6773"/>
                </a:solidFill>
                <a:latin typeface="Inconsolata"/>
              </a:rPr>
              <a:t>31  </a:t>
            </a:r>
            <a:r>
              <a:rPr sz="729" i="0">
                <a:solidFill>
                  <a:srgbClr val="E6EDF3"/>
                </a:solidFill>
                <a:latin typeface="Inconsolata"/>
              </a:rPr>
              <a:t>    </a:t>
            </a:r>
            <a:r>
              <a:rPr sz="729" i="0">
                <a:solidFill>
                  <a:srgbClr val="A5D6A7"/>
                </a:solidFill>
                <a:latin typeface="Inconsolata"/>
              </a:rPr>
              <a:t>"""Penyerang: ubah role di payload, signature tetap yang lama."""</a:t>
            </a:r>
          </a:p>
          <a:p>
            <a:pPr>
              <a:lnSpc>
                <a:spcPct val="102868"/>
              </a:lnSpc>
              <a:spcAft>
                <a:spcPts val="0"/>
              </a:spcAft>
            </a:pPr>
            <a:r>
              <a:rPr sz="729" i="0">
                <a:solidFill>
                  <a:srgbClr val="5C6773"/>
                </a:solidFill>
                <a:latin typeface="Inconsolata"/>
              </a:rPr>
              <a:t>32  </a:t>
            </a:r>
            <a:r>
              <a:rPr sz="729" i="0">
                <a:solidFill>
                  <a:srgbClr val="E6EDF3"/>
                </a:solidFill>
                <a:latin typeface="Inconsolata"/>
              </a:rPr>
              <a:t>    header, payload, signature = token.split(</a:t>
            </a:r>
            <a:r>
              <a:rPr sz="729" i="0">
                <a:solidFill>
                  <a:srgbClr val="A5D6A7"/>
                </a:solidFill>
                <a:latin typeface="Inconsolata"/>
              </a:rPr>
              <a:t>"."</a:t>
            </a:r>
            <a:r>
              <a:rPr sz="729" i="0">
                <a:solidFill>
                  <a:srgbClr val="E6EDF3"/>
                </a:solidFill>
                <a:latin typeface="Inconsolata"/>
              </a:rPr>
              <a:t>)</a:t>
            </a:r>
          </a:p>
          <a:p>
            <a:pPr>
              <a:lnSpc>
                <a:spcPct val="102868"/>
              </a:lnSpc>
              <a:spcAft>
                <a:spcPts val="0"/>
              </a:spcAft>
            </a:pPr>
            <a:r>
              <a:rPr sz="729" i="0">
                <a:solidFill>
                  <a:srgbClr val="5C6773"/>
                </a:solidFill>
                <a:latin typeface="Inconsolata"/>
              </a:rPr>
              <a:t>33  </a:t>
            </a:r>
            <a:r>
              <a:rPr sz="729" i="0">
                <a:solidFill>
                  <a:srgbClr val="E6EDF3"/>
                </a:solidFill>
                <a:latin typeface="Inconsolata"/>
              </a:rPr>
              <a:t>    claims = json.loads(base64.urlsafe_b64decode(payload + </a:t>
            </a:r>
            <a:r>
              <a:rPr sz="729" i="0">
                <a:solidFill>
                  <a:srgbClr val="A5D6A7"/>
                </a:solidFill>
                <a:latin typeface="Inconsolata"/>
              </a:rPr>
              <a:t>"=="</a:t>
            </a:r>
            <a:r>
              <a:rPr sz="729" i="0">
                <a:solidFill>
                  <a:srgbClr val="E6EDF3"/>
                </a:solidFill>
                <a:latin typeface="Inconsolata"/>
              </a:rPr>
              <a:t>))</a:t>
            </a:r>
          </a:p>
          <a:p>
            <a:pPr>
              <a:lnSpc>
                <a:spcPct val="102868"/>
              </a:lnSpc>
              <a:spcAft>
                <a:spcPts val="0"/>
              </a:spcAft>
            </a:pPr>
            <a:r>
              <a:rPr sz="729" i="0">
                <a:solidFill>
                  <a:srgbClr val="5C6773"/>
                </a:solidFill>
                <a:latin typeface="Inconsolata"/>
              </a:rPr>
              <a:t>34  </a:t>
            </a:r>
            <a:r>
              <a:rPr sz="729" i="0">
                <a:solidFill>
                  <a:srgbClr val="E6EDF3"/>
                </a:solidFill>
                <a:latin typeface="Inconsolata"/>
              </a:rPr>
              <a:t>    claims[</a:t>
            </a:r>
            <a:r>
              <a:rPr sz="729" i="0">
                <a:solidFill>
                  <a:srgbClr val="A5D6A7"/>
                </a:solidFill>
                <a:latin typeface="Inconsolata"/>
              </a:rPr>
              <a:t>"role"</a:t>
            </a:r>
            <a:r>
              <a:rPr sz="729" i="0">
                <a:solidFill>
                  <a:srgbClr val="E6EDF3"/>
                </a:solidFill>
                <a:latin typeface="Inconsolata"/>
              </a:rPr>
              <a:t>] = </a:t>
            </a:r>
            <a:r>
              <a:rPr sz="729" i="0">
                <a:solidFill>
                  <a:srgbClr val="A5D6A7"/>
                </a:solidFill>
                <a:latin typeface="Inconsolata"/>
              </a:rPr>
              <a:t>"admin"</a:t>
            </a:r>
          </a:p>
          <a:p>
            <a:pPr>
              <a:lnSpc>
                <a:spcPct val="102868"/>
              </a:lnSpc>
              <a:spcAft>
                <a:spcPts val="0"/>
              </a:spcAft>
            </a:pPr>
            <a:r>
              <a:rPr sz="729" i="0">
                <a:solidFill>
                  <a:srgbClr val="5C6773"/>
                </a:solidFill>
                <a:latin typeface="Inconsolata"/>
              </a:rPr>
              <a:t>35  </a:t>
            </a:r>
            <a:r>
              <a:rPr sz="729" i="0">
                <a:solidFill>
                  <a:srgbClr val="E6EDF3"/>
                </a:solidFill>
                <a:latin typeface="Inconsolata"/>
              </a:rPr>
              <a:t>    payload = base64.urlsafe_b64encode(</a:t>
            </a:r>
          </a:p>
          <a:p>
            <a:pPr>
              <a:lnSpc>
                <a:spcPct val="102868"/>
              </a:lnSpc>
              <a:spcAft>
                <a:spcPts val="0"/>
              </a:spcAft>
            </a:pPr>
            <a:r>
              <a:rPr sz="729" i="0">
                <a:solidFill>
                  <a:srgbClr val="5C6773"/>
                </a:solidFill>
                <a:latin typeface="Inconsolata"/>
              </a:rPr>
              <a:t>36  </a:t>
            </a:r>
            <a:r>
              <a:rPr sz="729" i="0">
                <a:solidFill>
                  <a:srgbClr val="E6EDF3"/>
                </a:solidFill>
                <a:latin typeface="Inconsolata"/>
              </a:rPr>
              <a:t>        json.dumps(claims).encode()).decode().rstrip(</a:t>
            </a:r>
            <a:r>
              <a:rPr sz="729" i="0">
                <a:solidFill>
                  <a:srgbClr val="A5D6A7"/>
                </a:solidFill>
                <a:latin typeface="Inconsolata"/>
              </a:rPr>
              <a:t>"="</a:t>
            </a:r>
            <a:r>
              <a:rPr sz="729" i="0">
                <a:solidFill>
                  <a:srgbClr val="E6EDF3"/>
                </a:solidFill>
                <a:latin typeface="Inconsolata"/>
              </a:rPr>
              <a:t>)</a:t>
            </a:r>
          </a:p>
          <a:p>
            <a:pPr>
              <a:lnSpc>
                <a:spcPct val="102868"/>
              </a:lnSpc>
              <a:spcAft>
                <a:spcPts val="0"/>
              </a:spcAft>
            </a:pPr>
            <a:r>
              <a:rPr sz="729" i="0">
                <a:solidFill>
                  <a:srgbClr val="5C6773"/>
                </a:solidFill>
                <a:latin typeface="Inconsolata"/>
              </a:rPr>
              <a:t>37  </a:t>
            </a:r>
            <a:r>
              <a:rPr sz="729" i="0">
                <a:solidFill>
                  <a:srgbClr val="E6EDF3"/>
                </a:solidFill>
                <a:latin typeface="Inconsolata"/>
              </a:rPr>
              <a:t>    </a:t>
            </a:r>
            <a:r>
              <a:rPr sz="729" i="0">
                <a:solidFill>
                  <a:srgbClr val="FF8E6E"/>
                </a:solidFill>
                <a:latin typeface="Inconsolata"/>
              </a:rPr>
              <a:t>return</a:t>
            </a:r>
            <a:r>
              <a:rPr sz="729" i="0">
                <a:solidFill>
                  <a:srgbClr val="E6EDF3"/>
                </a:solidFill>
                <a:latin typeface="Inconsolata"/>
              </a:rPr>
              <a:t> </a:t>
            </a:r>
            <a:r>
              <a:rPr sz="729" i="0">
                <a:solidFill>
                  <a:srgbClr val="A5D6A7"/>
                </a:solidFill>
                <a:latin typeface="Inconsolata"/>
              </a:rPr>
              <a:t>f"{header}.{payload}.{signature}"</a:t>
            </a:r>
          </a:p>
          <a:p>
            <a:pPr>
              <a:lnSpc>
                <a:spcPct val="102868"/>
              </a:lnSpc>
              <a:spcAft>
                <a:spcPts val="0"/>
              </a:spcAft>
            </a:pPr>
            <a:r>
              <a:rPr sz="729" i="0">
                <a:solidFill>
                  <a:srgbClr val="5C6773"/>
                </a:solidFill>
                <a:latin typeface="Inconsolata"/>
              </a:rPr>
              <a:t>38  </a:t>
            </a:r>
            <a:r>
              <a:rPr sz="729" i="0">
                <a:solidFill>
                  <a:srgbClr val="E6EDF3"/>
                </a:solidFill>
                <a:latin typeface="Inconsolata"/>
              </a:rPr>
              <a:t> </a:t>
            </a:r>
          </a:p>
          <a:p>
            <a:pPr>
              <a:lnSpc>
                <a:spcPct val="102868"/>
              </a:lnSpc>
              <a:spcAft>
                <a:spcPts val="0"/>
              </a:spcAft>
            </a:pPr>
            <a:r>
              <a:rPr sz="729" i="0">
                <a:solidFill>
                  <a:srgbClr val="5C6773"/>
                </a:solidFill>
                <a:latin typeface="Inconsolata"/>
              </a:rPr>
              <a:t>39  </a:t>
            </a:r>
            <a:r>
              <a:rPr sz="729" i="0">
                <a:solidFill>
                  <a:srgbClr val="E6EDF3"/>
                </a:solidFill>
                <a:latin typeface="Inconsolata"/>
              </a:rPr>
              <a:t> </a:t>
            </a:r>
          </a:p>
          <a:p>
            <a:pPr>
              <a:lnSpc>
                <a:spcPct val="102868"/>
              </a:lnSpc>
              <a:spcAft>
                <a:spcPts val="0"/>
              </a:spcAft>
            </a:pPr>
            <a:r>
              <a:rPr sz="729" i="0">
                <a:solidFill>
                  <a:srgbClr val="5C6773"/>
                </a:solidFill>
                <a:latin typeface="Inconsolata"/>
              </a:rPr>
              <a:t>40  </a:t>
            </a:r>
            <a:r>
              <a:rPr sz="729" i="0">
                <a:solidFill>
                  <a:srgbClr val="FF8E6E"/>
                </a:solidFill>
                <a:latin typeface="Inconsolata"/>
              </a:rPr>
              <a:t>if</a:t>
            </a:r>
            <a:r>
              <a:rPr sz="729" i="0">
                <a:solidFill>
                  <a:srgbClr val="E6EDF3"/>
                </a:solidFill>
                <a:latin typeface="Inconsolata"/>
              </a:rPr>
              <a:t> __name__ == </a:t>
            </a:r>
            <a:r>
              <a:rPr sz="729" i="0">
                <a:solidFill>
                  <a:srgbClr val="A5D6A7"/>
                </a:solidFill>
                <a:latin typeface="Inconsolata"/>
              </a:rPr>
              <a:t>"__main__"</a:t>
            </a:r>
            <a:r>
              <a:rPr sz="729" i="0">
                <a:solidFill>
                  <a:srgbClr val="E6EDF3"/>
                </a:solidFill>
                <a:latin typeface="Inconsolata"/>
              </a:rPr>
              <a:t>:</a:t>
            </a:r>
          </a:p>
          <a:p>
            <a:pPr>
              <a:lnSpc>
                <a:spcPct val="102868"/>
              </a:lnSpc>
              <a:spcAft>
                <a:spcPts val="0"/>
              </a:spcAft>
            </a:pPr>
            <a:r>
              <a:rPr sz="729" i="0">
                <a:solidFill>
                  <a:srgbClr val="5C6773"/>
                </a:solidFill>
                <a:latin typeface="Inconsolata"/>
              </a:rPr>
              <a:t>41  </a:t>
            </a:r>
            <a:r>
              <a:rPr sz="729" i="0">
                <a:solidFill>
                  <a:srgbClr val="E6EDF3"/>
                </a:solidFill>
                <a:latin typeface="Inconsolata"/>
              </a:rPr>
              <a:t>    token = create_token(</a:t>
            </a:r>
            <a:r>
              <a:rPr sz="729" i="0">
                <a:solidFill>
                  <a:srgbClr val="A5D6A7"/>
                </a:solidFill>
                <a:latin typeface="Inconsolata"/>
              </a:rPr>
              <a:t>"budi@mail.com"</a:t>
            </a:r>
            <a:r>
              <a:rPr sz="729" i="0">
                <a:solidFill>
                  <a:srgbClr val="E6EDF3"/>
                </a:solidFill>
                <a:latin typeface="Inconsolata"/>
              </a:rPr>
              <a:t>, </a:t>
            </a:r>
            <a:r>
              <a:rPr sz="729" i="0">
                <a:solidFill>
                  <a:srgbClr val="A5D6A7"/>
                </a:solidFill>
                <a:latin typeface="Inconsolata"/>
              </a:rPr>
              <a:t>"customer"</a:t>
            </a:r>
            <a:r>
              <a:rPr sz="729" i="0">
                <a:solidFill>
                  <a:srgbClr val="E6EDF3"/>
                </a:solidFill>
                <a:latin typeface="Inconsolata"/>
              </a:rPr>
              <a:t>)</a:t>
            </a:r>
          </a:p>
          <a:p>
            <a:pPr>
              <a:lnSpc>
                <a:spcPct val="102868"/>
              </a:lnSpc>
              <a:spcAft>
                <a:spcPts val="0"/>
              </a:spcAft>
            </a:pPr>
            <a:r>
              <a:rPr sz="729" i="0">
                <a:solidFill>
                  <a:srgbClr val="5C6773"/>
                </a:solidFill>
                <a:latin typeface="Inconsolata"/>
              </a:rPr>
              <a:t>42  </a:t>
            </a:r>
            <a:r>
              <a:rPr sz="729" i="0">
                <a:solidFill>
                  <a:srgbClr val="E6EDF3"/>
                </a:solidFill>
                <a:latin typeface="Inconsolata"/>
              </a:rPr>
              <a:t>    </a:t>
            </a:r>
            <a:r>
              <a:rPr sz="729" i="0">
                <a:solidFill>
                  <a:srgbClr val="C3A6FF"/>
                </a:solidFill>
                <a:latin typeface="Inconsolata"/>
              </a:rPr>
              <a:t>print</a:t>
            </a:r>
            <a:r>
              <a:rPr sz="729" i="0">
                <a:solidFill>
                  <a:srgbClr val="E6EDF3"/>
                </a:solidFill>
                <a:latin typeface="Inconsolata"/>
              </a:rPr>
              <a:t>(</a:t>
            </a:r>
            <a:r>
              <a:rPr sz="729" i="0">
                <a:solidFill>
                  <a:srgbClr val="A5D6A7"/>
                </a:solidFill>
                <a:latin typeface="Inconsolata"/>
              </a:rPr>
              <a:t>"Token dari server :"</a:t>
            </a:r>
            <a:r>
              <a:rPr sz="729" i="0">
                <a:solidFill>
                  <a:srgbClr val="E6EDF3"/>
                </a:solidFill>
                <a:latin typeface="Inconsolata"/>
              </a:rPr>
              <a:t>, token[:</a:t>
            </a:r>
            <a:r>
              <a:rPr sz="729" i="0">
                <a:solidFill>
                  <a:srgbClr val="F9C97A"/>
                </a:solidFill>
                <a:latin typeface="Inconsolata"/>
              </a:rPr>
              <a:t>60</a:t>
            </a:r>
            <a:r>
              <a:rPr sz="729" i="0">
                <a:solidFill>
                  <a:srgbClr val="E6EDF3"/>
                </a:solidFill>
                <a:latin typeface="Inconsolata"/>
              </a:rPr>
              <a:t>] + </a:t>
            </a:r>
            <a:r>
              <a:rPr sz="729" i="0">
                <a:solidFill>
                  <a:srgbClr val="A5D6A7"/>
                </a:solidFill>
                <a:latin typeface="Inconsolata"/>
              </a:rPr>
              <a:t>"..."</a:t>
            </a:r>
            <a:r>
              <a:rPr sz="729" i="0">
                <a:solidFill>
                  <a:srgbClr val="E6EDF3"/>
                </a:solidFill>
                <a:latin typeface="Inconsolata"/>
              </a:rPr>
              <a:t>)</a:t>
            </a:r>
          </a:p>
          <a:p>
            <a:pPr>
              <a:lnSpc>
                <a:spcPct val="102868"/>
              </a:lnSpc>
              <a:spcAft>
                <a:spcPts val="0"/>
              </a:spcAft>
            </a:pPr>
            <a:r>
              <a:rPr sz="729" i="0">
                <a:solidFill>
                  <a:srgbClr val="5C6773"/>
                </a:solidFill>
                <a:latin typeface="Inconsolata"/>
              </a:rPr>
              <a:t>43  </a:t>
            </a:r>
            <a:r>
              <a:rPr sz="729" i="0">
                <a:solidFill>
                  <a:srgbClr val="E6EDF3"/>
                </a:solidFill>
                <a:latin typeface="Inconsolata"/>
              </a:rPr>
              <a:t>    </a:t>
            </a:r>
            <a:r>
              <a:rPr sz="729" i="0">
                <a:solidFill>
                  <a:srgbClr val="C3A6FF"/>
                </a:solidFill>
                <a:latin typeface="Inconsolata"/>
              </a:rPr>
              <a:t>print</a:t>
            </a:r>
            <a:r>
              <a:rPr sz="729" i="0">
                <a:solidFill>
                  <a:srgbClr val="E6EDF3"/>
                </a:solidFill>
                <a:latin typeface="Inconsolata"/>
              </a:rPr>
              <a:t>(</a:t>
            </a:r>
            <a:r>
              <a:rPr sz="729" i="0">
                <a:solidFill>
                  <a:srgbClr val="A5D6A7"/>
                </a:solidFill>
                <a:latin typeface="Inconsolata"/>
              </a:rPr>
              <a:t>"Isi token         :"</a:t>
            </a:r>
            <a:r>
              <a:rPr sz="729" i="0">
                <a:solidFill>
                  <a:srgbClr val="E6EDF3"/>
                </a:solidFill>
                <a:latin typeface="Inconsolata"/>
              </a:rPr>
              <a:t>, read_token(token))</a:t>
            </a:r>
          </a:p>
          <a:p>
            <a:pPr>
              <a:lnSpc>
                <a:spcPct val="102868"/>
              </a:lnSpc>
              <a:spcAft>
                <a:spcPts val="0"/>
              </a:spcAft>
            </a:pPr>
            <a:r>
              <a:rPr sz="729" i="0">
                <a:solidFill>
                  <a:srgbClr val="5C6773"/>
                </a:solidFill>
                <a:latin typeface="Inconsolata"/>
              </a:rPr>
              <a:t>44  </a:t>
            </a:r>
            <a:r>
              <a:rPr sz="729" i="0">
                <a:solidFill>
                  <a:srgbClr val="E6EDF3"/>
                </a:solidFill>
                <a:latin typeface="Inconsolata"/>
              </a:rPr>
              <a:t>    expired = create_token(</a:t>
            </a:r>
            <a:r>
              <a:rPr sz="729" i="0">
                <a:solidFill>
                  <a:srgbClr val="A5D6A7"/>
                </a:solidFill>
                <a:latin typeface="Inconsolata"/>
              </a:rPr>
              <a:t>"budi@mail.com"</a:t>
            </a:r>
            <a:r>
              <a:rPr sz="729" i="0">
                <a:solidFill>
                  <a:srgbClr val="E6EDF3"/>
                </a:solidFill>
                <a:latin typeface="Inconsolata"/>
              </a:rPr>
              <a:t>, </a:t>
            </a:r>
            <a:r>
              <a:rPr sz="729" i="0">
                <a:solidFill>
                  <a:srgbClr val="A5D6A7"/>
                </a:solidFill>
                <a:latin typeface="Inconsolata"/>
              </a:rPr>
              <a:t>"customer"</a:t>
            </a:r>
            <a:r>
              <a:rPr sz="729" i="0">
                <a:solidFill>
                  <a:srgbClr val="E6EDF3"/>
                </a:solidFill>
                <a:latin typeface="Inconsolata"/>
              </a:rPr>
              <a:t>, minutes=-</a:t>
            </a:r>
            <a:r>
              <a:rPr sz="729" i="0">
                <a:solidFill>
                  <a:srgbClr val="F9C97A"/>
                </a:solidFill>
                <a:latin typeface="Inconsolata"/>
              </a:rPr>
              <a:t>1</a:t>
            </a:r>
            <a:r>
              <a:rPr sz="729" i="0">
                <a:solidFill>
                  <a:srgbClr val="E6EDF3"/>
                </a:solidFill>
                <a:latin typeface="Inconsolata"/>
              </a:rPr>
              <a:t>)</a:t>
            </a:r>
          </a:p>
          <a:p>
            <a:pPr>
              <a:lnSpc>
                <a:spcPct val="102868"/>
              </a:lnSpc>
              <a:spcAft>
                <a:spcPts val="0"/>
              </a:spcAft>
            </a:pPr>
            <a:r>
              <a:rPr sz="729" i="0">
                <a:solidFill>
                  <a:srgbClr val="5C6773"/>
                </a:solidFill>
                <a:latin typeface="Inconsolata"/>
              </a:rPr>
              <a:t>45  </a:t>
            </a:r>
            <a:r>
              <a:rPr sz="729" i="0">
                <a:solidFill>
                  <a:srgbClr val="E6EDF3"/>
                </a:solidFill>
                <a:latin typeface="Inconsolata"/>
              </a:rPr>
              <a:t>    </a:t>
            </a:r>
            <a:r>
              <a:rPr sz="729" i="0">
                <a:solidFill>
                  <a:srgbClr val="FF8E6E"/>
                </a:solidFill>
                <a:latin typeface="Inconsolata"/>
              </a:rPr>
              <a:t>for</a:t>
            </a:r>
            <a:r>
              <a:rPr sz="729" i="0">
                <a:solidFill>
                  <a:srgbClr val="E6EDF3"/>
                </a:solidFill>
                <a:latin typeface="Inconsolata"/>
              </a:rPr>
              <a:t> name, attempt </a:t>
            </a:r>
            <a:r>
              <a:rPr sz="729" i="0">
                <a:solidFill>
                  <a:srgbClr val="FF8E6E"/>
                </a:solidFill>
                <a:latin typeface="Inconsolata"/>
              </a:rPr>
              <a:t>in</a:t>
            </a:r>
            <a:r>
              <a:rPr sz="729" i="0">
                <a:solidFill>
                  <a:srgbClr val="E6EDF3"/>
                </a:solidFill>
                <a:latin typeface="Inconsolata"/>
              </a:rPr>
              <a:t> [(</a:t>
            </a:r>
            <a:r>
              <a:rPr sz="729" i="0">
                <a:solidFill>
                  <a:srgbClr val="A5D6A7"/>
                </a:solidFill>
                <a:latin typeface="Inconsolata"/>
              </a:rPr>
              <a:t>"Token diubah"</a:t>
            </a:r>
            <a:r>
              <a:rPr sz="729" i="0">
                <a:solidFill>
                  <a:srgbClr val="E6EDF3"/>
                </a:solidFill>
                <a:latin typeface="Inconsolata"/>
              </a:rPr>
              <a:t>, forge(token)),</a:t>
            </a:r>
          </a:p>
          <a:p>
            <a:pPr>
              <a:lnSpc>
                <a:spcPct val="102868"/>
              </a:lnSpc>
              <a:spcAft>
                <a:spcPts val="0"/>
              </a:spcAft>
            </a:pPr>
            <a:r>
              <a:rPr sz="729" i="0">
                <a:solidFill>
                  <a:srgbClr val="5C6773"/>
                </a:solidFill>
                <a:latin typeface="Inconsolata"/>
              </a:rPr>
              <a:t>46  </a:t>
            </a:r>
            <a:r>
              <a:rPr sz="729" i="0">
                <a:solidFill>
                  <a:srgbClr val="E6EDF3"/>
                </a:solidFill>
                <a:latin typeface="Inconsolata"/>
              </a:rPr>
              <a:t>                          (</a:t>
            </a:r>
            <a:r>
              <a:rPr sz="729" i="0">
                <a:solidFill>
                  <a:srgbClr val="A5D6A7"/>
                </a:solidFill>
                <a:latin typeface="Inconsolata"/>
              </a:rPr>
              <a:t>"Token kedaluwarsa"</a:t>
            </a:r>
            <a:r>
              <a:rPr sz="729" i="0">
                <a:solidFill>
                  <a:srgbClr val="E6EDF3"/>
                </a:solidFill>
                <a:latin typeface="Inconsolata"/>
              </a:rPr>
              <a:t>, expired)]:</a:t>
            </a:r>
          </a:p>
          <a:p>
            <a:pPr>
              <a:lnSpc>
                <a:spcPct val="102868"/>
              </a:lnSpc>
              <a:spcAft>
                <a:spcPts val="0"/>
              </a:spcAft>
            </a:pPr>
            <a:r>
              <a:rPr sz="729" i="0">
                <a:solidFill>
                  <a:srgbClr val="5C6773"/>
                </a:solidFill>
                <a:latin typeface="Inconsolata"/>
              </a:rPr>
              <a:t>47  </a:t>
            </a:r>
            <a:r>
              <a:rPr sz="729" i="0">
                <a:solidFill>
                  <a:srgbClr val="E6EDF3"/>
                </a:solidFill>
                <a:latin typeface="Inconsolata"/>
              </a:rPr>
              <a:t>        </a:t>
            </a:r>
            <a:r>
              <a:rPr sz="729" i="0">
                <a:solidFill>
                  <a:srgbClr val="FF8E6E"/>
                </a:solidFill>
                <a:latin typeface="Inconsolata"/>
              </a:rPr>
              <a:t>try</a:t>
            </a:r>
            <a:r>
              <a:rPr sz="729" i="0">
                <a:solidFill>
                  <a:srgbClr val="E6EDF3"/>
                </a:solidFill>
                <a:latin typeface="Inconsolata"/>
              </a:rPr>
              <a:t>:</a:t>
            </a:r>
          </a:p>
          <a:p>
            <a:pPr>
              <a:lnSpc>
                <a:spcPct val="102868"/>
              </a:lnSpc>
              <a:spcAft>
                <a:spcPts val="0"/>
              </a:spcAft>
            </a:pPr>
            <a:r>
              <a:rPr sz="729" i="0">
                <a:solidFill>
                  <a:srgbClr val="5C6773"/>
                </a:solidFill>
                <a:latin typeface="Inconsolata"/>
              </a:rPr>
              <a:t>48  </a:t>
            </a:r>
            <a:r>
              <a:rPr sz="729" i="0">
                <a:solidFill>
                  <a:srgbClr val="E6EDF3"/>
                </a:solidFill>
                <a:latin typeface="Inconsolata"/>
              </a:rPr>
              <a:t>            read_token(attempt)</a:t>
            </a:r>
          </a:p>
          <a:p>
            <a:pPr>
              <a:lnSpc>
                <a:spcPct val="102868"/>
              </a:lnSpc>
              <a:spcAft>
                <a:spcPts val="0"/>
              </a:spcAft>
            </a:pPr>
            <a:r>
              <a:rPr sz="729" i="0">
                <a:solidFill>
                  <a:srgbClr val="5C6773"/>
                </a:solidFill>
                <a:latin typeface="Inconsolata"/>
              </a:rPr>
              <a:t>49  </a:t>
            </a:r>
            <a:r>
              <a:rPr sz="729" i="0">
                <a:solidFill>
                  <a:srgbClr val="E6EDF3"/>
                </a:solidFill>
                <a:latin typeface="Inconsolata"/>
              </a:rPr>
              <a:t>        </a:t>
            </a:r>
            <a:r>
              <a:rPr sz="729" i="0">
                <a:solidFill>
                  <a:srgbClr val="FF8E6E"/>
                </a:solidFill>
                <a:latin typeface="Inconsolata"/>
              </a:rPr>
              <a:t>except</a:t>
            </a:r>
            <a:r>
              <a:rPr sz="729" i="0">
                <a:solidFill>
                  <a:srgbClr val="E6EDF3"/>
                </a:solidFill>
                <a:latin typeface="Inconsolata"/>
              </a:rPr>
              <a:t> jwt.</a:t>
            </a:r>
            <a:r>
              <a:rPr sz="729" i="0">
                <a:solidFill>
                  <a:srgbClr val="7FDBCA"/>
                </a:solidFill>
                <a:latin typeface="Inconsolata"/>
              </a:rPr>
              <a:t>InvalidTokenError</a:t>
            </a:r>
            <a:r>
              <a:rPr sz="729" i="0">
                <a:solidFill>
                  <a:srgbClr val="E6EDF3"/>
                </a:solidFill>
                <a:latin typeface="Inconsolata"/>
              </a:rPr>
              <a:t> </a:t>
            </a:r>
            <a:r>
              <a:rPr sz="729" i="0">
                <a:solidFill>
                  <a:srgbClr val="FF8E6E"/>
                </a:solidFill>
                <a:latin typeface="Inconsolata"/>
              </a:rPr>
              <a:t>as</a:t>
            </a:r>
            <a:r>
              <a:rPr sz="729" i="0">
                <a:solidFill>
                  <a:srgbClr val="E6EDF3"/>
                </a:solidFill>
                <a:latin typeface="Inconsolata"/>
              </a:rPr>
              <a:t> exc:</a:t>
            </a:r>
          </a:p>
          <a:p>
            <a:pPr>
              <a:lnSpc>
                <a:spcPct val="102868"/>
              </a:lnSpc>
              <a:spcAft>
                <a:spcPts val="0"/>
              </a:spcAft>
            </a:pPr>
            <a:r>
              <a:rPr sz="729" i="0">
                <a:solidFill>
                  <a:srgbClr val="5C6773"/>
                </a:solidFill>
                <a:latin typeface="Inconsolata"/>
              </a:rPr>
              <a:t>50  </a:t>
            </a:r>
            <a:r>
              <a:rPr sz="729" i="0">
                <a:solidFill>
                  <a:srgbClr val="E6EDF3"/>
                </a:solidFill>
                <a:latin typeface="Inconsolata"/>
              </a:rPr>
              <a:t>            </a:t>
            </a:r>
            <a:r>
              <a:rPr sz="729" i="0">
                <a:solidFill>
                  <a:srgbClr val="C3A6FF"/>
                </a:solidFill>
                <a:latin typeface="Inconsolata"/>
              </a:rPr>
              <a:t>print</a:t>
            </a:r>
            <a:r>
              <a:rPr sz="729" i="0">
                <a:solidFill>
                  <a:srgbClr val="E6EDF3"/>
                </a:solidFill>
                <a:latin typeface="Inconsolata"/>
              </a:rPr>
              <a:t>(</a:t>
            </a:r>
            <a:r>
              <a:rPr sz="729" i="0">
                <a:solidFill>
                  <a:srgbClr val="A5D6A7"/>
                </a:solidFill>
                <a:latin typeface="Inconsolata"/>
              </a:rPr>
              <a:t>f"{name:&lt;18}: ditolak, {type(exc).__name__}"</a:t>
            </a:r>
            <a:r>
              <a:rPr sz="729" i="0">
                <a:solidFill>
                  <a:srgbClr val="E6EDF3"/>
                </a:solidFill>
                <a:latin typeface="Inconsolata"/>
              </a:rPr>
              <a:t>)</a:t>
            </a:r>
          </a:p>
        </p:txBody>
      </p:sp>
      <p:sp>
        <p:nvSpPr>
          <p:cNvPr id="36" name="Box 21"/>
          <p:cNvSpPr/>
          <p:nvPr/>
        </p:nvSpPr>
        <p:spPr>
          <a:xfrm>
            <a:off x="704088" y="2854071"/>
            <a:ext cx="3694176" cy="450342"/>
          </a:xfrm>
          <a:prstGeom prst="roundRect">
            <a:avLst>
              <a:gd name="adj" fmla="val 10152"/>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9603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704088" y="3539871"/>
            <a:ext cx="3694176" cy="221742"/>
          </a:xfrm>
          <a:prstGeom prst="roundRect">
            <a:avLst>
              <a:gd name="adj" fmla="val 20618"/>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35318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3425571"/>
            <a:ext cx="3694176" cy="793242"/>
          </a:xfrm>
          <a:prstGeom prst="roundRect">
            <a:avLst>
              <a:gd name="adj" fmla="val 576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37033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JWT</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04-jwt/after.py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sesi-10-api-security/04-jwt</a:t>
            </a:r>
          </a:p>
          <a:p>
            <a:pPr>
              <a:lnSpc>
                <a:spcPct val="111111"/>
              </a:lnSpc>
              <a:spcAft>
                <a:spcPts val="0"/>
              </a:spcAft>
            </a:pPr>
            <a:r>
              <a:rPr sz="900" i="0">
                <a:solidFill>
                  <a:srgbClr val="82B1FF"/>
                </a:solidFill>
                <a:latin typeface="Inconsolata"/>
              </a:rPr>
              <a:t>$ python after.py</a:t>
            </a:r>
          </a:p>
        </p:txBody>
      </p:sp>
      <p:pic>
        <p:nvPicPr>
          <p:cNvPr id="29" name="Image 12" descr="s10-04-jwt-after.png"/>
          <p:cNvPicPr>
            <a:picLocks noChangeAspect="1"/>
          </p:cNvPicPr>
          <p:nvPr/>
        </p:nvPicPr>
        <p:blipFill>
          <a:blip r:embed="rId2"/>
          <a:stretch>
            <a:fillRect/>
          </a:stretch>
        </p:blipFill>
        <p:spPr>
          <a:xfrm>
            <a:off x="621792" y="2322576"/>
            <a:ext cx="4297680" cy="904775"/>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Token berisi </a:t>
            </a:r>
            <a:r>
              <a:rPr sz="950" b="0" i="0">
                <a:solidFill>
                  <a:srgbClr val="B5482A"/>
                </a:solidFill>
                <a:latin typeface="Inconsolata"/>
              </a:rPr>
              <a:t>exp</a:t>
            </a:r>
            <a:r>
              <a:rPr sz="950" b="0" i="0">
                <a:solidFill>
                  <a:srgbClr val="434343"/>
                </a:solidFill>
                <a:latin typeface="Inter"/>
              </a:rPr>
              <a:t> dan ditandatangani dengan SECRET (baris 20-23)</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jwt.decode</a:t>
            </a:r>
            <a:r>
              <a:rPr sz="950" b="0" i="0">
                <a:solidFill>
                  <a:srgbClr val="434343"/>
                </a:solidFill>
                <a:latin typeface="Inter"/>
              </a:rPr>
              <a:t> mengecek signature dan exp, algoritma dikunci (baris 26-27)</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Token diubah dan token kedaluwarsa dicoba (baris 44-50)</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Keduanya ditolak: </a:t>
            </a:r>
            <a:r>
              <a:rPr sz="950" b="0" i="0">
                <a:solidFill>
                  <a:srgbClr val="B5482A"/>
                </a:solidFill>
                <a:latin typeface="Inconsolata"/>
              </a:rPr>
              <a:t>InvalidSignatureError</a:t>
            </a:r>
            <a:r>
              <a:rPr sz="950" b="0" i="0">
                <a:solidFill>
                  <a:srgbClr val="434343"/>
                </a:solidFill>
                <a:latin typeface="Inter"/>
              </a:rPr>
              <a:t> dan </a:t>
            </a:r>
            <a:r>
              <a:rPr sz="950" b="0" i="0">
                <a:solidFill>
                  <a:srgbClr val="B5482A"/>
                </a:solidFill>
                <a:latin typeface="Inconsolata"/>
              </a:rPr>
              <a:t>ExpiredSignatureError</a:t>
            </a:r>
            <a:r>
              <a:rPr sz="950" b="0" i="0">
                <a:solidFill>
                  <a:srgbClr val="434343"/>
                </a:solidFill>
                <a:latin typeface="Inter"/>
              </a:rPr>
              <a:t>.</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OAuth2 Bearer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OAuth2 Password Flow dan Bearer Token?</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OAuth2 password flow adalah</a:t>
            </a:r>
          </a:p>
          <a:p>
            <a:pPr algn="l">
              <a:lnSpc>
                <a:spcPct val="115000"/>
              </a:lnSpc>
              <a:spcAft>
                <a:spcPts val="400"/>
              </a:spcAft>
            </a:pPr>
            <a:r>
              <a:rPr sz="900" b="0" i="0">
                <a:solidFill>
                  <a:srgbClr val="434343"/>
                </a:solidFill>
                <a:latin typeface="Inter"/>
              </a:rPr>
              <a:t>Cara login standar OAuth2: client mengirim </a:t>
            </a:r>
            <a:r>
              <a:rPr sz="900" b="1" i="0">
                <a:solidFill>
                  <a:srgbClr val="434343"/>
                </a:solidFill>
                <a:latin typeface="Inter"/>
              </a:rPr>
              <a:t>username dan password</a:t>
            </a:r>
            <a:r>
              <a:rPr sz="900" b="0" i="0">
                <a:solidFill>
                  <a:srgbClr val="434343"/>
                </a:solidFill>
                <a:latin typeface="Inter"/>
              </a:rPr>
              <a:t> ke endpoint token, lalu mendapat </a:t>
            </a:r>
            <a:r>
              <a:rPr sz="900" b="1" i="0">
                <a:solidFill>
                  <a:srgbClr val="434343"/>
                </a:solidFill>
                <a:latin typeface="Inter"/>
              </a:rPr>
              <a:t>access token</a:t>
            </a:r>
            <a:r>
              <a:rPr sz="900" b="0" i="0">
                <a:solidFill>
                  <a:srgbClr val="434343"/>
                </a:solidFill>
                <a:latin typeface="Inter"/>
              </a:rPr>
              <a:t>. Setelah itu, setiap request membawa header </a:t>
            </a:r>
            <a:r>
              <a:rPr sz="900" b="0" i="0">
                <a:solidFill>
                  <a:srgbClr val="B5482A"/>
                </a:solidFill>
                <a:latin typeface="Inconsolata"/>
              </a:rPr>
              <a:t>Authorization: Bearer &lt;token&gt;</a:t>
            </a:r>
            <a:r>
              <a:rPr sz="900" b="0" i="0">
                <a:solidFill>
                  <a:srgbClr val="434343"/>
                </a:solidFill>
                <a:latin typeface="Inter"/>
              </a:rPr>
              <a:t>.</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Memakai format login yang dikenal tool lain, termasuk Swagger UI</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Menjaga token tetap di header, bukan di URL yang tercatat di log</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Menyimpan password hanya sebagai hash</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user dari URL: 05-oauth2-bearer/before.py</a:t>
            </a:r>
          </a:p>
        </p:txBody>
      </p:sp>
      <p:sp>
        <p:nvSpPr>
          <p:cNvPr id="28" name="CodeBg 11"/>
          <p:cNvSpPr/>
          <p:nvPr/>
        </p:nvSpPr>
        <p:spPr>
          <a:xfrm>
            <a:off x="4297680" y="1719072"/>
            <a:ext cx="4187951" cy="978408"/>
          </a:xfrm>
          <a:prstGeom prst="roundRect">
            <a:avLst>
              <a:gd name="adj" fmla="val 186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978408"/>
          </a:xfrm>
          <a:prstGeom prst="rect">
            <a:avLst/>
          </a:prstGeom>
          <a:noFill/>
        </p:spPr>
        <p:txBody>
          <a:bodyPr wrap="none" lIns="146304" tIns="91440" rIns="146304" bIns="54864">
            <a:spAutoFit/>
          </a:bodyPr>
          <a:lstStyle/>
          <a:p>
            <a:pPr>
              <a:lnSpc>
                <a:spcPct val="111111"/>
              </a:lnSpc>
              <a:spcAft>
                <a:spcPts val="0"/>
              </a:spcAft>
            </a:pPr>
            <a:r>
              <a:rPr sz="750" i="0">
                <a:solidFill>
                  <a:srgbClr val="F9C97A"/>
                </a:solidFill>
                <a:latin typeface="Inconsolata"/>
              </a:rPr>
              <a:t>@app.get</a:t>
            </a:r>
            <a:r>
              <a:rPr sz="750" i="0">
                <a:solidFill>
                  <a:srgbClr val="E6EDF3"/>
                </a:solidFill>
                <a:latin typeface="Inconsolata"/>
              </a:rPr>
              <a:t>(</a:t>
            </a:r>
            <a:r>
              <a:rPr sz="750" i="0">
                <a:solidFill>
                  <a:srgbClr val="A5D6A7"/>
                </a:solidFill>
                <a:latin typeface="Inconsolata"/>
              </a:rPr>
              <a:t>"/me"</a:t>
            </a:r>
            <a:r>
              <a:rPr sz="750" i="0">
                <a:solidFill>
                  <a:srgbClr val="E6EDF3"/>
                </a:solidFill>
                <a:latin typeface="Inconsolata"/>
              </a:rPr>
              <a:t>)</a:t>
            </a:r>
          </a:p>
          <a:p>
            <a:pPr>
              <a:lnSpc>
                <a:spcPct val="111111"/>
              </a:lnSpc>
              <a:spcAft>
                <a:spcPts val="0"/>
              </a:spcAft>
            </a:pPr>
            <a:r>
              <a:rPr sz="750" i="0">
                <a:solidFill>
                  <a:srgbClr val="FF8E6E"/>
                </a:solidFill>
                <a:latin typeface="Inconsolata"/>
              </a:rPr>
              <a:t>def</a:t>
            </a:r>
            <a:r>
              <a:rPr sz="750" i="0">
                <a:solidFill>
                  <a:srgbClr val="E6EDF3"/>
                </a:solidFill>
                <a:latin typeface="Inconsolata"/>
              </a:rPr>
              <a:t> </a:t>
            </a:r>
            <a:r>
              <a:rPr sz="750" i="0">
                <a:solidFill>
                  <a:srgbClr val="82B1FF"/>
                </a:solidFill>
                <a:latin typeface="Inconsolata"/>
              </a:rPr>
              <a:t>me</a:t>
            </a:r>
            <a:r>
              <a:rPr sz="750" i="0">
                <a:solidFill>
                  <a:srgbClr val="E6EDF3"/>
                </a:solidFill>
                <a:latin typeface="Inconsolata"/>
              </a:rPr>
              <a:t>(user: </a:t>
            </a:r>
            <a:r>
              <a:rPr sz="750" i="0">
                <a:solidFill>
                  <a:srgbClr val="C3A6FF"/>
                </a:solidFill>
                <a:latin typeface="Inconsolata"/>
              </a:rPr>
              <a:t>str</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FF8E6E"/>
                </a:solidFill>
                <a:latin typeface="Inconsolata"/>
              </a:rPr>
              <a:t>return</a:t>
            </a:r>
            <a:r>
              <a:rPr sz="750" i="0">
                <a:solidFill>
                  <a:srgbClr val="E6EDF3"/>
                </a:solidFill>
                <a:latin typeface="Inconsolata"/>
              </a:rPr>
              <a:t> {</a:t>
            </a:r>
            <a:r>
              <a:rPr sz="750" i="0">
                <a:solidFill>
                  <a:srgbClr val="A5D6A7"/>
                </a:solidFill>
                <a:latin typeface="Inconsolata"/>
              </a:rPr>
              <a:t>"email"</a:t>
            </a:r>
            <a:r>
              <a:rPr sz="750" i="0">
                <a:solidFill>
                  <a:srgbClr val="E6EDF3"/>
                </a:solidFill>
                <a:latin typeface="Inconsolata"/>
              </a:rPr>
              <a:t>: user, **</a:t>
            </a:r>
            <a:r>
              <a:rPr sz="750" i="0">
                <a:solidFill>
                  <a:srgbClr val="7FDBCA"/>
                </a:solidFill>
                <a:latin typeface="Inconsolata"/>
              </a:rPr>
              <a:t>USERS</a:t>
            </a:r>
            <a:r>
              <a:rPr sz="750" i="0">
                <a:solidFill>
                  <a:srgbClr val="E6EDF3"/>
                </a:solidFill>
                <a:latin typeface="Inconsolata"/>
              </a:rPr>
              <a:t>[user]}</a:t>
            </a:r>
          </a:p>
        </p:txBody>
      </p:sp>
      <p:sp>
        <p:nvSpPr>
          <p:cNvPr id="30" name="Box 13"/>
          <p:cNvSpPr/>
          <p:nvPr/>
        </p:nvSpPr>
        <p:spPr>
          <a:xfrm>
            <a:off x="4379976" y="1954022"/>
            <a:ext cx="4023359"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788920"/>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866644"/>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866644"/>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866644"/>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798064"/>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Bearer token: 05-oauth2-bearer/after.py</a:t>
            </a:r>
          </a:p>
        </p:txBody>
      </p:sp>
      <p:sp>
        <p:nvSpPr>
          <p:cNvPr id="36" name="CodeBg 21"/>
          <p:cNvSpPr/>
          <p:nvPr/>
        </p:nvSpPr>
        <p:spPr>
          <a:xfrm>
            <a:off x="4297680" y="3026664"/>
            <a:ext cx="4187951" cy="1673351"/>
          </a:xfrm>
          <a:prstGeom prst="roundRect">
            <a:avLst>
              <a:gd name="adj" fmla="val 1092"/>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3026664"/>
            <a:ext cx="4187951" cy="1673351"/>
          </a:xfrm>
          <a:prstGeom prst="rect">
            <a:avLst/>
          </a:prstGeom>
          <a:noFill/>
        </p:spPr>
        <p:txBody>
          <a:bodyPr wrap="none" lIns="146304" tIns="91440" rIns="146304" bIns="54864">
            <a:spAutoFit/>
          </a:bodyPr>
          <a:lstStyle/>
          <a:p>
            <a:pPr>
              <a:lnSpc>
                <a:spcPct val="111111"/>
              </a:lnSpc>
              <a:spcAft>
                <a:spcPts val="0"/>
              </a:spcAft>
            </a:pPr>
            <a:r>
              <a:rPr sz="750" i="0">
                <a:solidFill>
                  <a:srgbClr val="E6EDF3"/>
                </a:solidFill>
                <a:latin typeface="Inconsolata"/>
              </a:rPr>
              <a:t>oauth2_scheme = </a:t>
            </a:r>
            <a:r>
              <a:rPr sz="750" i="0">
                <a:solidFill>
                  <a:srgbClr val="7FDBCA"/>
                </a:solidFill>
                <a:latin typeface="Inconsolata"/>
              </a:rPr>
              <a:t>OAuth2PasswordBearer</a:t>
            </a:r>
            <a:r>
              <a:rPr sz="750" i="0">
                <a:solidFill>
                  <a:srgbClr val="E6EDF3"/>
                </a:solidFill>
                <a:latin typeface="Inconsolata"/>
              </a:rPr>
              <a:t>(tokenUrl=</a:t>
            </a:r>
            <a:r>
              <a:rPr sz="750" i="0">
                <a:solidFill>
                  <a:srgbClr val="A5D6A7"/>
                </a:solidFill>
                <a:latin typeface="Inconsolata"/>
              </a:rPr>
              <a:t>"/token"</a:t>
            </a:r>
            <a:r>
              <a:rPr sz="750" i="0">
                <a:solidFill>
                  <a:srgbClr val="E6EDF3"/>
                </a:solidFill>
                <a:latin typeface="Inconsolata"/>
              </a:rPr>
              <a:t>)</a:t>
            </a:r>
          </a:p>
          <a:p>
            <a:pPr>
              <a:lnSpc>
                <a:spcPct val="111111"/>
              </a:lnSpc>
              <a:spcAft>
                <a:spcPts val="0"/>
              </a:spcAft>
            </a:pPr>
            <a:r>
              <a:rPr sz="750" i="0">
                <a:solidFill>
                  <a:srgbClr val="E6EDF3"/>
                </a:solidFill>
                <a:latin typeface="Inconsolata"/>
              </a:rPr>
              <a:t>...</a:t>
            </a:r>
          </a:p>
          <a:p>
            <a:pPr>
              <a:lnSpc>
                <a:spcPct val="111111"/>
              </a:lnSpc>
              <a:spcAft>
                <a:spcPts val="0"/>
              </a:spcAft>
            </a:pPr>
            <a:r>
              <a:rPr sz="750" i="0">
                <a:solidFill>
                  <a:srgbClr val="FF8E6E"/>
                </a:solidFill>
                <a:latin typeface="Inconsolata"/>
              </a:rPr>
              <a:t>def</a:t>
            </a:r>
            <a:r>
              <a:rPr sz="750" i="0">
                <a:solidFill>
                  <a:srgbClr val="E6EDF3"/>
                </a:solidFill>
                <a:latin typeface="Inconsolata"/>
              </a:rPr>
              <a:t> </a:t>
            </a:r>
            <a:r>
              <a:rPr sz="750" i="0">
                <a:solidFill>
                  <a:srgbClr val="82B1FF"/>
                </a:solidFill>
                <a:latin typeface="Inconsolata"/>
              </a:rPr>
              <a:t>current_user</a:t>
            </a:r>
            <a:r>
              <a:rPr sz="750" i="0">
                <a:solidFill>
                  <a:srgbClr val="E6EDF3"/>
                </a:solidFill>
                <a:latin typeface="Inconsolata"/>
              </a:rPr>
              <a:t>(token: </a:t>
            </a:r>
            <a:r>
              <a:rPr sz="750" i="0">
                <a:solidFill>
                  <a:srgbClr val="C3A6FF"/>
                </a:solidFill>
                <a:latin typeface="Inconsolata"/>
              </a:rPr>
              <a:t>str</a:t>
            </a:r>
            <a:r>
              <a:rPr sz="750" i="0">
                <a:solidFill>
                  <a:srgbClr val="E6EDF3"/>
                </a:solidFill>
                <a:latin typeface="Inconsolata"/>
              </a:rPr>
              <a:t> = </a:t>
            </a:r>
            <a:r>
              <a:rPr sz="750" i="0">
                <a:solidFill>
                  <a:srgbClr val="7FDBCA"/>
                </a:solidFill>
                <a:latin typeface="Inconsolata"/>
              </a:rPr>
              <a:t>Depends</a:t>
            </a:r>
            <a:r>
              <a:rPr sz="750" i="0">
                <a:solidFill>
                  <a:srgbClr val="E6EDF3"/>
                </a:solidFill>
                <a:latin typeface="Inconsolata"/>
              </a:rPr>
              <a:t>(oauth2_scheme)) -&gt; </a:t>
            </a:r>
            <a:r>
              <a:rPr sz="750" i="0">
                <a:solidFill>
                  <a:srgbClr val="C3A6FF"/>
                </a:solidFill>
                <a:latin typeface="Inconsolata"/>
              </a:rPr>
              <a:t>dict</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FF8E6E"/>
                </a:solidFill>
                <a:latin typeface="Inconsolata"/>
              </a:rPr>
              <a:t>try</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r>
              <a:rPr sz="750" i="0">
                <a:solidFill>
                  <a:srgbClr val="FF8E6E"/>
                </a:solidFill>
                <a:latin typeface="Inconsolata"/>
              </a:rPr>
              <a:t>return</a:t>
            </a:r>
            <a:r>
              <a:rPr sz="750" i="0">
                <a:solidFill>
                  <a:srgbClr val="E6EDF3"/>
                </a:solidFill>
                <a:latin typeface="Inconsolata"/>
              </a:rPr>
              <a:t> jwt.decode(token, </a:t>
            </a:r>
            <a:r>
              <a:rPr sz="750" i="0">
                <a:solidFill>
                  <a:srgbClr val="7FDBCA"/>
                </a:solidFill>
                <a:latin typeface="Inconsolata"/>
              </a:rPr>
              <a:t>SECRET</a:t>
            </a:r>
            <a:r>
              <a:rPr sz="750" i="0">
                <a:solidFill>
                  <a:srgbClr val="E6EDF3"/>
                </a:solidFill>
                <a:latin typeface="Inconsolata"/>
              </a:rPr>
              <a:t>, algorithms=[</a:t>
            </a:r>
            <a:r>
              <a:rPr sz="750" i="0">
                <a:solidFill>
                  <a:srgbClr val="A5D6A7"/>
                </a:solidFill>
                <a:latin typeface="Inconsolata"/>
              </a:rPr>
              <a:t>"HS256"</a:t>
            </a:r>
            <a:r>
              <a:rPr sz="750" i="0">
                <a:solidFill>
                  <a:srgbClr val="E6EDF3"/>
                </a:solidFill>
                <a:latin typeface="Inconsolata"/>
              </a:rPr>
              <a:t>])</a:t>
            </a:r>
          </a:p>
        </p:txBody>
      </p:sp>
      <p:sp>
        <p:nvSpPr>
          <p:cNvPr id="38" name="Box 23"/>
          <p:cNvSpPr/>
          <p:nvPr/>
        </p:nvSpPr>
        <p:spPr>
          <a:xfrm>
            <a:off x="4379976" y="3134614"/>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388614"/>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OAuth2 Bearer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OAuth2 Bearer?</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token dan tanpa hash</a:t>
            </a:r>
          </a:p>
          <a:p>
            <a:pPr algn="l">
              <a:lnSpc>
                <a:spcPct val="115000"/>
              </a:lnSpc>
              <a:spcAft>
                <a:spcPts val="400"/>
              </a:spcAft>
            </a:pPr>
            <a:r>
              <a:rPr sz="950" b="0" i="0">
                <a:solidFill>
                  <a:srgbClr val="434343"/>
                </a:solidFill>
                <a:latin typeface="Inter"/>
              </a:rPr>
              <a:t>Password disimpan apa adanya, dan endpoint menerima </a:t>
            </a:r>
            <a:r>
              <a:rPr sz="950" b="0" i="0">
                <a:solidFill>
                  <a:srgbClr val="B5482A"/>
                </a:solidFill>
                <a:latin typeface="Inconsolata"/>
              </a:rPr>
              <a:t>?user=email</a:t>
            </a:r>
            <a:r>
              <a:rPr sz="950" b="0" i="0">
                <a:solidFill>
                  <a:srgbClr val="434343"/>
                </a:solidFill>
                <a:latin typeface="Inter"/>
              </a:rPr>
              <a:t>. Siapa pun bisa mengaku sebagai user lain.</a:t>
            </a:r>
          </a:p>
          <a:p>
            <a:pPr algn="l">
              <a:lnSpc>
                <a:spcPct val="115000"/>
              </a:lnSpc>
              <a:spcAft>
                <a:spcPts val="400"/>
              </a:spcAft>
            </a:pPr>
            <a:r>
              <a:rPr sz="1050" b="1" i="0">
                <a:solidFill>
                  <a:srgbClr val="1C4587"/>
                </a:solidFill>
                <a:latin typeface="Inter"/>
              </a:rPr>
              <a:t>Jika user makin banyak</a:t>
            </a:r>
          </a:p>
          <a:p>
            <a:pPr algn="l">
              <a:lnSpc>
                <a:spcPct val="115000"/>
              </a:lnSpc>
              <a:spcAft>
                <a:spcPts val="400"/>
              </a:spcAft>
            </a:pPr>
            <a:r>
              <a:rPr sz="950" b="0" i="0">
                <a:solidFill>
                  <a:srgbClr val="434343"/>
                </a:solidFill>
                <a:latin typeface="Inter"/>
              </a:rPr>
              <a:t>Satu kebocoran database membuka password semua user, yang sering dipakai juga di aplikasi lain.</a:t>
            </a:r>
          </a:p>
          <a:p>
            <a:pPr algn="l">
              <a:lnSpc>
                <a:spcPct val="115000"/>
              </a:lnSpc>
              <a:spcAft>
                <a:spcPts val="400"/>
              </a:spcAft>
            </a:pPr>
            <a:r>
              <a:rPr sz="950" b="0" i="0">
                <a:solidFill>
                  <a:srgbClr val="434343"/>
                </a:solidFill>
                <a:latin typeface="Inter"/>
              </a:rPr>
              <a:t>Hal ini menimbulkan potensi akun customer diambil alih di banyak tempat sekaligus.</a:t>
            </a:r>
          </a:p>
          <a:p>
            <a:pPr algn="l">
              <a:lnSpc>
                <a:spcPct val="115000"/>
              </a:lnSpc>
              <a:spcAft>
                <a:spcPts val="400"/>
              </a:spcAft>
            </a:pPr>
            <a:r>
              <a:rPr sz="1050" b="1" i="0">
                <a:solidFill>
                  <a:srgbClr val="1C4587"/>
                </a:solidFill>
                <a:latin typeface="Inter"/>
              </a:rPr>
              <a:t>Yang dipakai dari FastAPI dan pwdlib</a:t>
            </a:r>
          </a:p>
          <a:p>
            <a:pPr algn="l">
              <a:lnSpc>
                <a:spcPct val="115000"/>
              </a:lnSpc>
              <a:spcAft>
                <a:spcPts val="400"/>
              </a:spcAft>
            </a:pPr>
            <a:r>
              <a:rPr sz="950" b="0" i="0">
                <a:solidFill>
                  <a:srgbClr val="434343"/>
                </a:solidFill>
                <a:latin typeface="Inter"/>
              </a:rPr>
              <a:t>FastAPI menyediakan class untuk membaca form login dan header Bearer. pwdlib menghitung hash Argon2.</a:t>
            </a:r>
          </a:p>
        </p:txBody>
      </p:sp>
      <p:graphicFrame>
        <p:nvGraphicFramePr>
          <p:cNvPr id="23" name="Table 4"/>
          <p:cNvGraphicFramePr>
            <a:graphicFrameLocks noGrp="1"/>
          </p:cNvGraphicFramePr>
          <p:nvPr/>
        </p:nvGraphicFramePr>
        <p:xfrm>
          <a:off x="4800600" y="1481328"/>
          <a:ext cx="3685032" cy="2057400"/>
        </p:xfrm>
        <a:graphic>
          <a:graphicData uri="http://schemas.openxmlformats.org/drawingml/2006/table">
            <a:tbl>
              <a:tblPr firstRow="1" bandRow="1"/>
              <a:tblGrid>
                <a:gridCol w="2039112">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OAuth2PasswordRequestForm</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Form username + password</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OAuth2PasswordBearer</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Baca header Bearer, 401 jika tidak ada</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PasswordHash.recommended()</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Hash Argon2</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hasher.verify(pw, hash)</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Cek password saat login</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OAuth2 Bearer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password apa adanya, user dari URL</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05-oauth2-bearer/before.py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7095"/>
              </a:lnSpc>
              <a:spcAft>
                <a:spcPts val="0"/>
              </a:spcAft>
            </a:pPr>
            <a:r>
              <a:rPr sz="700" i="0">
                <a:solidFill>
                  <a:srgbClr val="5C6773"/>
                </a:solidFill>
                <a:latin typeface="Inconsolata"/>
              </a:rPr>
              <a:t> 9  </a:t>
            </a:r>
            <a:r>
              <a:rPr sz="700" i="0">
                <a:solidFill>
                  <a:srgbClr val="FF8E6E"/>
                </a:solidFill>
                <a:latin typeface="Inconsolata"/>
              </a:rPr>
              <a:t>from</a:t>
            </a:r>
            <a:r>
              <a:rPr sz="700" i="0">
                <a:solidFill>
                  <a:srgbClr val="E6EDF3"/>
                </a:solidFill>
                <a:latin typeface="Inconsolata"/>
              </a:rPr>
              <a:t> fastapi </a:t>
            </a:r>
            <a:r>
              <a:rPr sz="700" i="0">
                <a:solidFill>
                  <a:srgbClr val="FF8E6E"/>
                </a:solidFill>
                <a:latin typeface="Inconsolata"/>
              </a:rPr>
              <a:t>import</a:t>
            </a:r>
            <a:r>
              <a:rPr sz="700" i="0">
                <a:solidFill>
                  <a:srgbClr val="E6EDF3"/>
                </a:solidFill>
                <a:latin typeface="Inconsolata"/>
              </a:rPr>
              <a:t> </a:t>
            </a:r>
            <a:r>
              <a:rPr sz="700" i="0">
                <a:solidFill>
                  <a:srgbClr val="7FDBCA"/>
                </a:solidFill>
                <a:latin typeface="Inconsolata"/>
              </a:rPr>
              <a:t>FastAPI</a:t>
            </a:r>
            <a:r>
              <a:rPr sz="700" i="0">
                <a:solidFill>
                  <a:srgbClr val="E6EDF3"/>
                </a:solidFill>
                <a:latin typeface="Inconsolata"/>
              </a:rPr>
              <a:t>, </a:t>
            </a:r>
            <a:r>
              <a:rPr sz="700" i="0">
                <a:solidFill>
                  <a:srgbClr val="7FDBCA"/>
                </a:solidFill>
                <a:latin typeface="Inconsolata"/>
              </a:rPr>
              <a:t>HTTPException</a:t>
            </a:r>
          </a:p>
          <a:p>
            <a:pPr>
              <a:lnSpc>
                <a:spcPct val="107095"/>
              </a:lnSpc>
              <a:spcAft>
                <a:spcPts val="0"/>
              </a:spcAft>
            </a:pPr>
            <a:r>
              <a:rPr sz="700" i="0">
                <a:solidFill>
                  <a:srgbClr val="5C6773"/>
                </a:solidFill>
                <a:latin typeface="Inconsolata"/>
              </a:rPr>
              <a:t>10  </a:t>
            </a:r>
            <a:r>
              <a:rPr sz="700" i="0">
                <a:solidFill>
                  <a:srgbClr val="FF8E6E"/>
                </a:solidFill>
                <a:latin typeface="Inconsolata"/>
              </a:rPr>
              <a:t>from</a:t>
            </a:r>
            <a:r>
              <a:rPr sz="700" i="0">
                <a:solidFill>
                  <a:srgbClr val="E6EDF3"/>
                </a:solidFill>
                <a:latin typeface="Inconsolata"/>
              </a:rPr>
              <a:t> fastapi.testclient </a:t>
            </a:r>
            <a:r>
              <a:rPr sz="700" i="0">
                <a:solidFill>
                  <a:srgbClr val="FF8E6E"/>
                </a:solidFill>
                <a:latin typeface="Inconsolata"/>
              </a:rPr>
              <a:t>import</a:t>
            </a:r>
            <a:r>
              <a:rPr sz="700" i="0">
                <a:solidFill>
                  <a:srgbClr val="E6EDF3"/>
                </a:solidFill>
                <a:latin typeface="Inconsolata"/>
              </a:rPr>
              <a:t> </a:t>
            </a:r>
            <a:r>
              <a:rPr sz="700" i="0">
                <a:solidFill>
                  <a:srgbClr val="7FDBCA"/>
                </a:solidFill>
                <a:latin typeface="Inconsolata"/>
              </a:rPr>
              <a:t>TestClient</a:t>
            </a:r>
          </a:p>
          <a:p>
            <a:pPr>
              <a:lnSpc>
                <a:spcPct val="107095"/>
              </a:lnSpc>
              <a:spcAft>
                <a:spcPts val="0"/>
              </a:spcAft>
            </a:pPr>
            <a:r>
              <a:rPr sz="700" i="0">
                <a:solidFill>
                  <a:srgbClr val="5C6773"/>
                </a:solidFill>
                <a:latin typeface="Inconsolata"/>
              </a:rPr>
              <a:t>11  </a:t>
            </a:r>
            <a:r>
              <a:rPr sz="700" i="0">
                <a:solidFill>
                  <a:srgbClr val="E6EDF3"/>
                </a:solidFill>
                <a:latin typeface="Inconsolata"/>
              </a:rPr>
              <a:t> </a:t>
            </a:r>
          </a:p>
          <a:p>
            <a:pPr>
              <a:lnSpc>
                <a:spcPct val="107095"/>
              </a:lnSpc>
              <a:spcAft>
                <a:spcPts val="0"/>
              </a:spcAft>
            </a:pPr>
            <a:r>
              <a:rPr sz="700" i="0">
                <a:solidFill>
                  <a:srgbClr val="5C6773"/>
                </a:solidFill>
                <a:latin typeface="Inconsolata"/>
              </a:rPr>
              <a:t>12  </a:t>
            </a:r>
            <a:r>
              <a:rPr sz="700" i="0">
                <a:solidFill>
                  <a:srgbClr val="7FDBCA"/>
                </a:solidFill>
                <a:latin typeface="Inconsolata"/>
              </a:rPr>
              <a:t>USERS</a:t>
            </a:r>
            <a:r>
              <a:rPr sz="700" i="0">
                <a:solidFill>
                  <a:srgbClr val="E6EDF3"/>
                </a:solidFill>
                <a:latin typeface="Inconsolata"/>
              </a:rPr>
              <a:t> = {</a:t>
            </a:r>
            <a:r>
              <a:rPr sz="700" i="0">
                <a:solidFill>
                  <a:srgbClr val="A5D6A7"/>
                </a:solidFill>
                <a:latin typeface="Inconsolata"/>
              </a:rPr>
              <a:t>"budi@mail.com"</a:t>
            </a:r>
            <a:r>
              <a:rPr sz="700" i="0">
                <a:solidFill>
                  <a:srgbClr val="E6EDF3"/>
                </a:solidFill>
                <a:latin typeface="Inconsolata"/>
              </a:rPr>
              <a:t>: {</a:t>
            </a:r>
            <a:r>
              <a:rPr sz="700" i="0">
                <a:solidFill>
                  <a:srgbClr val="A5D6A7"/>
                </a:solidFill>
                <a:latin typeface="Inconsolata"/>
              </a:rPr>
              <a:t>"password"</a:t>
            </a:r>
            <a:r>
              <a:rPr sz="700" i="0">
                <a:solidFill>
                  <a:srgbClr val="E6EDF3"/>
                </a:solidFill>
                <a:latin typeface="Inconsolata"/>
              </a:rPr>
              <a:t>: </a:t>
            </a:r>
            <a:r>
              <a:rPr sz="700" i="0">
                <a:solidFill>
                  <a:srgbClr val="A5D6A7"/>
                </a:solidFill>
                <a:latin typeface="Inconsolata"/>
              </a:rPr>
              <a:t>"budi12345"</a:t>
            </a:r>
            <a:r>
              <a:rPr sz="700" i="0">
                <a:solidFill>
                  <a:srgbClr val="E6EDF3"/>
                </a:solidFill>
                <a:latin typeface="Inconsolata"/>
              </a:rPr>
              <a:t>, </a:t>
            </a:r>
            <a:r>
              <a:rPr sz="700" i="0">
                <a:solidFill>
                  <a:srgbClr val="A5D6A7"/>
                </a:solidFill>
                <a:latin typeface="Inconsolata"/>
              </a:rPr>
              <a:t>"role"</a:t>
            </a:r>
            <a:r>
              <a:rPr sz="700" i="0">
                <a:solidFill>
                  <a:srgbClr val="E6EDF3"/>
                </a:solidFill>
                <a:latin typeface="Inconsolata"/>
              </a:rPr>
              <a:t>: </a:t>
            </a:r>
            <a:r>
              <a:rPr sz="700" i="0">
                <a:solidFill>
                  <a:srgbClr val="A5D6A7"/>
                </a:solidFill>
                <a:latin typeface="Inconsolata"/>
              </a:rPr>
              <a:t>"customer"</a:t>
            </a:r>
            <a:r>
              <a:rPr sz="700" i="0">
                <a:solidFill>
                  <a:srgbClr val="E6EDF3"/>
                </a:solidFill>
                <a:latin typeface="Inconsolata"/>
              </a:rPr>
              <a:t>},</a:t>
            </a:r>
          </a:p>
          <a:p>
            <a:pPr>
              <a:lnSpc>
                <a:spcPct val="107095"/>
              </a:lnSpc>
              <a:spcAft>
                <a:spcPts val="0"/>
              </a:spcAft>
            </a:pPr>
            <a:r>
              <a:rPr sz="700" i="0">
                <a:solidFill>
                  <a:srgbClr val="5C6773"/>
                </a:solidFill>
                <a:latin typeface="Inconsolata"/>
              </a:rPr>
              <a:t>13  </a:t>
            </a:r>
            <a:r>
              <a:rPr sz="700" i="0">
                <a:solidFill>
                  <a:srgbClr val="E6EDF3"/>
                </a:solidFill>
                <a:latin typeface="Inconsolata"/>
              </a:rPr>
              <a:t>         </a:t>
            </a:r>
            <a:r>
              <a:rPr sz="700" i="0">
                <a:solidFill>
                  <a:srgbClr val="A5D6A7"/>
                </a:solidFill>
                <a:latin typeface="Inconsolata"/>
              </a:rPr>
              <a:t>"ani@mail.com"</a:t>
            </a:r>
            <a:r>
              <a:rPr sz="700" i="0">
                <a:solidFill>
                  <a:srgbClr val="E6EDF3"/>
                </a:solidFill>
                <a:latin typeface="Inconsolata"/>
              </a:rPr>
              <a:t>: {</a:t>
            </a:r>
            <a:r>
              <a:rPr sz="700" i="0">
                <a:solidFill>
                  <a:srgbClr val="A5D6A7"/>
                </a:solidFill>
                <a:latin typeface="Inconsolata"/>
              </a:rPr>
              <a:t>"password"</a:t>
            </a:r>
            <a:r>
              <a:rPr sz="700" i="0">
                <a:solidFill>
                  <a:srgbClr val="E6EDF3"/>
                </a:solidFill>
                <a:latin typeface="Inconsolata"/>
              </a:rPr>
              <a:t>: </a:t>
            </a:r>
            <a:r>
              <a:rPr sz="700" i="0">
                <a:solidFill>
                  <a:srgbClr val="A5D6A7"/>
                </a:solidFill>
                <a:latin typeface="Inconsolata"/>
              </a:rPr>
              <a:t>"ani12345"</a:t>
            </a:r>
            <a:r>
              <a:rPr sz="700" i="0">
                <a:solidFill>
                  <a:srgbClr val="E6EDF3"/>
                </a:solidFill>
                <a:latin typeface="Inconsolata"/>
              </a:rPr>
              <a:t>, </a:t>
            </a:r>
            <a:r>
              <a:rPr sz="700" i="0">
                <a:solidFill>
                  <a:srgbClr val="A5D6A7"/>
                </a:solidFill>
                <a:latin typeface="Inconsolata"/>
              </a:rPr>
              <a:t>"role"</a:t>
            </a:r>
            <a:r>
              <a:rPr sz="700" i="0">
                <a:solidFill>
                  <a:srgbClr val="E6EDF3"/>
                </a:solidFill>
                <a:latin typeface="Inconsolata"/>
              </a:rPr>
              <a:t>: </a:t>
            </a:r>
            <a:r>
              <a:rPr sz="700" i="0">
                <a:solidFill>
                  <a:srgbClr val="A5D6A7"/>
                </a:solidFill>
                <a:latin typeface="Inconsolata"/>
              </a:rPr>
              <a:t>"customer"</a:t>
            </a:r>
            <a:r>
              <a:rPr sz="700" i="0">
                <a:solidFill>
                  <a:srgbClr val="E6EDF3"/>
                </a:solidFill>
                <a:latin typeface="Inconsolata"/>
              </a:rPr>
              <a:t>}}</a:t>
            </a:r>
          </a:p>
          <a:p>
            <a:pPr>
              <a:lnSpc>
                <a:spcPct val="107095"/>
              </a:lnSpc>
              <a:spcAft>
                <a:spcPts val="0"/>
              </a:spcAft>
            </a:pPr>
            <a:r>
              <a:rPr sz="700" i="0">
                <a:solidFill>
                  <a:srgbClr val="5C6773"/>
                </a:solidFill>
                <a:latin typeface="Inconsolata"/>
              </a:rPr>
              <a:t>14  </a:t>
            </a:r>
            <a:r>
              <a:rPr sz="700" i="0">
                <a:solidFill>
                  <a:srgbClr val="E6EDF3"/>
                </a:solidFill>
                <a:latin typeface="Inconsolata"/>
              </a:rPr>
              <a:t>app = </a:t>
            </a:r>
            <a:r>
              <a:rPr sz="700" i="0">
                <a:solidFill>
                  <a:srgbClr val="7FDBCA"/>
                </a:solidFill>
                <a:latin typeface="Inconsolata"/>
              </a:rPr>
              <a:t>FastAPI</a:t>
            </a:r>
            <a:r>
              <a:rPr sz="700" i="0">
                <a:solidFill>
                  <a:srgbClr val="E6EDF3"/>
                </a:solidFill>
                <a:latin typeface="Inconsolata"/>
              </a:rPr>
              <a:t>()</a:t>
            </a:r>
          </a:p>
          <a:p>
            <a:pPr>
              <a:lnSpc>
                <a:spcPct val="107095"/>
              </a:lnSpc>
              <a:spcAft>
                <a:spcPts val="0"/>
              </a:spcAft>
            </a:pPr>
            <a:r>
              <a:rPr sz="700" i="0">
                <a:solidFill>
                  <a:srgbClr val="5C6773"/>
                </a:solidFill>
                <a:latin typeface="Inconsolata"/>
              </a:rPr>
              <a:t>15  </a:t>
            </a:r>
            <a:r>
              <a:rPr sz="700" i="0">
                <a:solidFill>
                  <a:srgbClr val="E6EDF3"/>
                </a:solidFill>
                <a:latin typeface="Inconsolata"/>
              </a:rPr>
              <a:t> </a:t>
            </a:r>
          </a:p>
          <a:p>
            <a:pPr>
              <a:lnSpc>
                <a:spcPct val="107095"/>
              </a:lnSpc>
              <a:spcAft>
                <a:spcPts val="0"/>
              </a:spcAft>
            </a:pPr>
            <a:r>
              <a:rPr sz="700" i="0">
                <a:solidFill>
                  <a:srgbClr val="5C6773"/>
                </a:solidFill>
                <a:latin typeface="Inconsolata"/>
              </a:rPr>
              <a:t>16  </a:t>
            </a:r>
            <a:r>
              <a:rPr sz="700" i="0">
                <a:solidFill>
                  <a:srgbClr val="E6EDF3"/>
                </a:solidFill>
                <a:latin typeface="Inconsolata"/>
              </a:rPr>
              <a:t> </a:t>
            </a:r>
          </a:p>
          <a:p>
            <a:pPr>
              <a:lnSpc>
                <a:spcPct val="107095"/>
              </a:lnSpc>
              <a:spcAft>
                <a:spcPts val="0"/>
              </a:spcAft>
            </a:pPr>
            <a:r>
              <a:rPr sz="700" i="0">
                <a:solidFill>
                  <a:srgbClr val="5C6773"/>
                </a:solidFill>
                <a:latin typeface="Inconsolata"/>
              </a:rPr>
              <a:t>17  </a:t>
            </a:r>
            <a:r>
              <a:rPr sz="700" i="0">
                <a:solidFill>
                  <a:srgbClr val="F9C97A"/>
                </a:solidFill>
                <a:latin typeface="Inconsolata"/>
              </a:rPr>
              <a:t>@app.post</a:t>
            </a:r>
            <a:r>
              <a:rPr sz="700" i="0">
                <a:solidFill>
                  <a:srgbClr val="E6EDF3"/>
                </a:solidFill>
                <a:latin typeface="Inconsolata"/>
              </a:rPr>
              <a:t>(</a:t>
            </a:r>
            <a:r>
              <a:rPr sz="700" i="0">
                <a:solidFill>
                  <a:srgbClr val="A5D6A7"/>
                </a:solidFill>
                <a:latin typeface="Inconsolata"/>
              </a:rPr>
              <a:t>"/login"</a:t>
            </a:r>
            <a:r>
              <a:rPr sz="700" i="0">
                <a:solidFill>
                  <a:srgbClr val="E6EDF3"/>
                </a:solidFill>
                <a:latin typeface="Inconsolata"/>
              </a:rPr>
              <a:t>)</a:t>
            </a:r>
          </a:p>
          <a:p>
            <a:pPr>
              <a:lnSpc>
                <a:spcPct val="107095"/>
              </a:lnSpc>
              <a:spcAft>
                <a:spcPts val="0"/>
              </a:spcAft>
            </a:pPr>
            <a:r>
              <a:rPr sz="700" i="0">
                <a:solidFill>
                  <a:srgbClr val="5C6773"/>
                </a:solidFill>
                <a:latin typeface="Inconsolata"/>
              </a:rPr>
              <a:t>18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login</a:t>
            </a:r>
            <a:r>
              <a:rPr sz="700" i="0">
                <a:solidFill>
                  <a:srgbClr val="E6EDF3"/>
                </a:solidFill>
                <a:latin typeface="Inconsolata"/>
              </a:rPr>
              <a:t>(email: </a:t>
            </a:r>
            <a:r>
              <a:rPr sz="700" i="0">
                <a:solidFill>
                  <a:srgbClr val="C3A6FF"/>
                </a:solidFill>
                <a:latin typeface="Inconsolata"/>
              </a:rPr>
              <a:t>str</a:t>
            </a:r>
            <a:r>
              <a:rPr sz="700" i="0">
                <a:solidFill>
                  <a:srgbClr val="E6EDF3"/>
                </a:solidFill>
                <a:latin typeface="Inconsolata"/>
              </a:rPr>
              <a:t>, password: </a:t>
            </a:r>
            <a:r>
              <a:rPr sz="700" i="0">
                <a:solidFill>
                  <a:srgbClr val="C3A6FF"/>
                </a:solidFill>
                <a:latin typeface="Inconsolata"/>
              </a:rPr>
              <a:t>str</a:t>
            </a:r>
            <a:r>
              <a:rPr sz="700" i="0">
                <a:solidFill>
                  <a:srgbClr val="E6EDF3"/>
                </a:solidFill>
                <a:latin typeface="Inconsolata"/>
              </a:rPr>
              <a:t>):</a:t>
            </a:r>
          </a:p>
          <a:p>
            <a:pPr>
              <a:lnSpc>
                <a:spcPct val="107095"/>
              </a:lnSpc>
              <a:spcAft>
                <a:spcPts val="0"/>
              </a:spcAft>
            </a:pPr>
            <a:r>
              <a:rPr sz="700" i="0">
                <a:solidFill>
                  <a:srgbClr val="5C6773"/>
                </a:solidFill>
                <a:latin typeface="Inconsolata"/>
              </a:rPr>
              <a:t>19  </a:t>
            </a:r>
            <a:r>
              <a:rPr sz="700" i="0">
                <a:solidFill>
                  <a:srgbClr val="E6EDF3"/>
                </a:solidFill>
                <a:latin typeface="Inconsolata"/>
              </a:rPr>
              <a:t>    user = </a:t>
            </a:r>
            <a:r>
              <a:rPr sz="700" i="0">
                <a:solidFill>
                  <a:srgbClr val="7FDBCA"/>
                </a:solidFill>
                <a:latin typeface="Inconsolata"/>
              </a:rPr>
              <a:t>USERS</a:t>
            </a:r>
            <a:r>
              <a:rPr sz="700" i="0">
                <a:solidFill>
                  <a:srgbClr val="E6EDF3"/>
                </a:solidFill>
                <a:latin typeface="Inconsolata"/>
              </a:rPr>
              <a:t>.get(email)</a:t>
            </a:r>
          </a:p>
          <a:p>
            <a:pPr>
              <a:lnSpc>
                <a:spcPct val="107095"/>
              </a:lnSpc>
              <a:spcAft>
                <a:spcPts val="0"/>
              </a:spcAft>
            </a:pPr>
            <a:r>
              <a:rPr sz="700" i="0">
                <a:solidFill>
                  <a:srgbClr val="5C6773"/>
                </a:solidFill>
                <a:latin typeface="Inconsolata"/>
              </a:rPr>
              <a:t>20  </a:t>
            </a:r>
            <a:r>
              <a:rPr sz="700" i="0">
                <a:solidFill>
                  <a:srgbClr val="E6EDF3"/>
                </a:solidFill>
                <a:latin typeface="Inconsolata"/>
              </a:rPr>
              <a:t>    </a:t>
            </a:r>
            <a:r>
              <a:rPr sz="700" i="0">
                <a:solidFill>
                  <a:srgbClr val="FF8E6E"/>
                </a:solidFill>
                <a:latin typeface="Inconsolata"/>
              </a:rPr>
              <a:t>if</a:t>
            </a:r>
            <a:r>
              <a:rPr sz="700" i="0">
                <a:solidFill>
                  <a:srgbClr val="E6EDF3"/>
                </a:solidFill>
                <a:latin typeface="Inconsolata"/>
              </a:rPr>
              <a:t> user </a:t>
            </a:r>
            <a:r>
              <a:rPr sz="700" i="0">
                <a:solidFill>
                  <a:srgbClr val="FF8E6E"/>
                </a:solidFill>
                <a:latin typeface="Inconsolata"/>
              </a:rPr>
              <a:t>is</a:t>
            </a:r>
            <a:r>
              <a:rPr sz="700" i="0">
                <a:solidFill>
                  <a:srgbClr val="E6EDF3"/>
                </a:solidFill>
                <a:latin typeface="Inconsolata"/>
              </a:rPr>
              <a:t> </a:t>
            </a:r>
            <a:r>
              <a:rPr sz="700" i="0">
                <a:solidFill>
                  <a:srgbClr val="FF8E6E"/>
                </a:solidFill>
                <a:latin typeface="Inconsolata"/>
              </a:rPr>
              <a:t>None</a:t>
            </a:r>
            <a:r>
              <a:rPr sz="700" i="0">
                <a:solidFill>
                  <a:srgbClr val="E6EDF3"/>
                </a:solidFill>
                <a:latin typeface="Inconsolata"/>
              </a:rPr>
              <a:t> </a:t>
            </a:r>
            <a:r>
              <a:rPr sz="700" i="0">
                <a:solidFill>
                  <a:srgbClr val="FF8E6E"/>
                </a:solidFill>
                <a:latin typeface="Inconsolata"/>
              </a:rPr>
              <a:t>or</a:t>
            </a:r>
            <a:r>
              <a:rPr sz="700" i="0">
                <a:solidFill>
                  <a:srgbClr val="E6EDF3"/>
                </a:solidFill>
                <a:latin typeface="Inconsolata"/>
              </a:rPr>
              <a:t> user[</a:t>
            </a:r>
            <a:r>
              <a:rPr sz="700" i="0">
                <a:solidFill>
                  <a:srgbClr val="A5D6A7"/>
                </a:solidFill>
                <a:latin typeface="Inconsolata"/>
              </a:rPr>
              <a:t>"password"</a:t>
            </a:r>
            <a:r>
              <a:rPr sz="700" i="0">
                <a:solidFill>
                  <a:srgbClr val="E6EDF3"/>
                </a:solidFill>
                <a:latin typeface="Inconsolata"/>
              </a:rPr>
              <a:t>] != password:</a:t>
            </a:r>
          </a:p>
          <a:p>
            <a:pPr>
              <a:lnSpc>
                <a:spcPct val="107095"/>
              </a:lnSpc>
              <a:spcAft>
                <a:spcPts val="0"/>
              </a:spcAft>
            </a:pPr>
            <a:r>
              <a:rPr sz="700" i="0">
                <a:solidFill>
                  <a:srgbClr val="5C6773"/>
                </a:solidFill>
                <a:latin typeface="Inconsolata"/>
              </a:rPr>
              <a:t>21  </a:t>
            </a:r>
            <a:r>
              <a:rPr sz="700" i="0">
                <a:solidFill>
                  <a:srgbClr val="E6EDF3"/>
                </a:solidFill>
                <a:latin typeface="Inconsolata"/>
              </a:rPr>
              <a:t>        </a:t>
            </a:r>
            <a:r>
              <a:rPr sz="700" i="0">
                <a:solidFill>
                  <a:srgbClr val="FF8E6E"/>
                </a:solidFill>
                <a:latin typeface="Inconsolata"/>
              </a:rPr>
              <a:t>raise</a:t>
            </a:r>
            <a:r>
              <a:rPr sz="700" i="0">
                <a:solidFill>
                  <a:srgbClr val="E6EDF3"/>
                </a:solidFill>
                <a:latin typeface="Inconsolata"/>
              </a:rPr>
              <a:t> </a:t>
            </a:r>
            <a:r>
              <a:rPr sz="700" i="0">
                <a:solidFill>
                  <a:srgbClr val="7FDBCA"/>
                </a:solidFill>
                <a:latin typeface="Inconsolata"/>
              </a:rPr>
              <a:t>HTTPException</a:t>
            </a:r>
            <a:r>
              <a:rPr sz="700" i="0">
                <a:solidFill>
                  <a:srgbClr val="E6EDF3"/>
                </a:solidFill>
                <a:latin typeface="Inconsolata"/>
              </a:rPr>
              <a:t>(</a:t>
            </a:r>
            <a:r>
              <a:rPr sz="700" i="0">
                <a:solidFill>
                  <a:srgbClr val="F9C97A"/>
                </a:solidFill>
                <a:latin typeface="Inconsolata"/>
              </a:rPr>
              <a:t>401</a:t>
            </a:r>
            <a:r>
              <a:rPr sz="700" i="0">
                <a:solidFill>
                  <a:srgbClr val="E6EDF3"/>
                </a:solidFill>
                <a:latin typeface="Inconsolata"/>
              </a:rPr>
              <a:t>, </a:t>
            </a:r>
            <a:r>
              <a:rPr sz="700" i="0">
                <a:solidFill>
                  <a:srgbClr val="A5D6A7"/>
                </a:solidFill>
                <a:latin typeface="Inconsolata"/>
              </a:rPr>
              <a:t>"email atau password salah"</a:t>
            </a:r>
            <a:r>
              <a:rPr sz="700" i="0">
                <a:solidFill>
                  <a:srgbClr val="E6EDF3"/>
                </a:solidFill>
                <a:latin typeface="Inconsolata"/>
              </a:rPr>
              <a:t>)</a:t>
            </a:r>
          </a:p>
          <a:p>
            <a:pPr>
              <a:lnSpc>
                <a:spcPct val="107095"/>
              </a:lnSpc>
              <a:spcAft>
                <a:spcPts val="0"/>
              </a:spcAft>
            </a:pPr>
            <a:r>
              <a:rPr sz="700" i="0">
                <a:solidFill>
                  <a:srgbClr val="5C6773"/>
                </a:solidFill>
                <a:latin typeface="Inconsolata"/>
              </a:rPr>
              <a:t>22  </a:t>
            </a: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a:t>
            </a:r>
            <a:r>
              <a:rPr sz="700" i="0">
                <a:solidFill>
                  <a:srgbClr val="A5D6A7"/>
                </a:solidFill>
                <a:latin typeface="Inconsolata"/>
              </a:rPr>
              <a:t>"user"</a:t>
            </a:r>
            <a:r>
              <a:rPr sz="700" i="0">
                <a:solidFill>
                  <a:srgbClr val="E6EDF3"/>
                </a:solidFill>
                <a:latin typeface="Inconsolata"/>
              </a:rPr>
              <a:t>: email}</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05-oauth2-bearer/before.py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7095"/>
              </a:lnSpc>
              <a:spcAft>
                <a:spcPts val="0"/>
              </a:spcAft>
            </a:pPr>
            <a:r>
              <a:rPr sz="700" i="0">
                <a:solidFill>
                  <a:srgbClr val="5C6773"/>
                </a:solidFill>
                <a:latin typeface="Inconsolata"/>
              </a:rPr>
              <a:t>25  </a:t>
            </a:r>
            <a:r>
              <a:rPr sz="700" i="0">
                <a:solidFill>
                  <a:srgbClr val="F9C97A"/>
                </a:solidFill>
                <a:latin typeface="Inconsolata"/>
              </a:rPr>
              <a:t>@app.get</a:t>
            </a:r>
            <a:r>
              <a:rPr sz="700" i="0">
                <a:solidFill>
                  <a:srgbClr val="E6EDF3"/>
                </a:solidFill>
                <a:latin typeface="Inconsolata"/>
              </a:rPr>
              <a:t>(</a:t>
            </a:r>
            <a:r>
              <a:rPr sz="700" i="0">
                <a:solidFill>
                  <a:srgbClr val="A5D6A7"/>
                </a:solidFill>
                <a:latin typeface="Inconsolata"/>
              </a:rPr>
              <a:t>"/me"</a:t>
            </a:r>
            <a:r>
              <a:rPr sz="700" i="0">
                <a:solidFill>
                  <a:srgbClr val="E6EDF3"/>
                </a:solidFill>
                <a:latin typeface="Inconsolata"/>
              </a:rPr>
              <a:t>)</a:t>
            </a:r>
          </a:p>
          <a:p>
            <a:pPr>
              <a:lnSpc>
                <a:spcPct val="107095"/>
              </a:lnSpc>
              <a:spcAft>
                <a:spcPts val="0"/>
              </a:spcAft>
            </a:pPr>
            <a:r>
              <a:rPr sz="700" i="0">
                <a:solidFill>
                  <a:srgbClr val="5C6773"/>
                </a:solidFill>
                <a:latin typeface="Inconsolata"/>
              </a:rPr>
              <a:t>26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me</a:t>
            </a:r>
            <a:r>
              <a:rPr sz="700" i="0">
                <a:solidFill>
                  <a:srgbClr val="E6EDF3"/>
                </a:solidFill>
                <a:latin typeface="Inconsolata"/>
              </a:rPr>
              <a:t>(user: </a:t>
            </a:r>
            <a:r>
              <a:rPr sz="700" i="0">
                <a:solidFill>
                  <a:srgbClr val="C3A6FF"/>
                </a:solidFill>
                <a:latin typeface="Inconsolata"/>
              </a:rPr>
              <a:t>str</a:t>
            </a:r>
            <a:r>
              <a:rPr sz="700" i="0">
                <a:solidFill>
                  <a:srgbClr val="E6EDF3"/>
                </a:solidFill>
                <a:latin typeface="Inconsolata"/>
              </a:rPr>
              <a:t>):</a:t>
            </a:r>
          </a:p>
          <a:p>
            <a:pPr>
              <a:lnSpc>
                <a:spcPct val="107095"/>
              </a:lnSpc>
              <a:spcAft>
                <a:spcPts val="0"/>
              </a:spcAft>
            </a:pPr>
            <a:r>
              <a:rPr sz="700" i="0">
                <a:solidFill>
                  <a:srgbClr val="5C6773"/>
                </a:solidFill>
                <a:latin typeface="Inconsolata"/>
              </a:rPr>
              <a:t>27  </a:t>
            </a: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a:t>
            </a:r>
            <a:r>
              <a:rPr sz="700" i="0">
                <a:solidFill>
                  <a:srgbClr val="A5D6A7"/>
                </a:solidFill>
                <a:latin typeface="Inconsolata"/>
              </a:rPr>
              <a:t>"email"</a:t>
            </a:r>
            <a:r>
              <a:rPr sz="700" i="0">
                <a:solidFill>
                  <a:srgbClr val="E6EDF3"/>
                </a:solidFill>
                <a:latin typeface="Inconsolata"/>
              </a:rPr>
              <a:t>: user, **</a:t>
            </a:r>
            <a:r>
              <a:rPr sz="700" i="0">
                <a:solidFill>
                  <a:srgbClr val="7FDBCA"/>
                </a:solidFill>
                <a:latin typeface="Inconsolata"/>
              </a:rPr>
              <a:t>USERS</a:t>
            </a:r>
            <a:r>
              <a:rPr sz="700" i="0">
                <a:solidFill>
                  <a:srgbClr val="E6EDF3"/>
                </a:solidFill>
                <a:latin typeface="Inconsolata"/>
              </a:rPr>
              <a:t>[user]}</a:t>
            </a:r>
          </a:p>
          <a:p>
            <a:pPr>
              <a:lnSpc>
                <a:spcPct val="107095"/>
              </a:lnSpc>
              <a:spcAft>
                <a:spcPts val="0"/>
              </a:spcAft>
            </a:pPr>
            <a:r>
              <a:rPr sz="700" i="0">
                <a:solidFill>
                  <a:srgbClr val="5C6773"/>
                </a:solidFill>
                <a:latin typeface="Inconsolata"/>
              </a:rPr>
              <a:t>28  </a:t>
            </a:r>
            <a:r>
              <a:rPr sz="700" i="0">
                <a:solidFill>
                  <a:srgbClr val="E6EDF3"/>
                </a:solidFill>
                <a:latin typeface="Inconsolata"/>
              </a:rPr>
              <a:t> </a:t>
            </a:r>
          </a:p>
          <a:p>
            <a:pPr>
              <a:lnSpc>
                <a:spcPct val="107095"/>
              </a:lnSpc>
              <a:spcAft>
                <a:spcPts val="0"/>
              </a:spcAft>
            </a:pPr>
            <a:r>
              <a:rPr sz="700" i="0">
                <a:solidFill>
                  <a:srgbClr val="5C6773"/>
                </a:solidFill>
                <a:latin typeface="Inconsolata"/>
              </a:rPr>
              <a:t>29  </a:t>
            </a:r>
            <a:r>
              <a:rPr sz="700" i="0">
                <a:solidFill>
                  <a:srgbClr val="E6EDF3"/>
                </a:solidFill>
                <a:latin typeface="Inconsolata"/>
              </a:rPr>
              <a:t> </a:t>
            </a:r>
          </a:p>
          <a:p>
            <a:pPr>
              <a:lnSpc>
                <a:spcPct val="107095"/>
              </a:lnSpc>
              <a:spcAft>
                <a:spcPts val="0"/>
              </a:spcAft>
            </a:pPr>
            <a:r>
              <a:rPr sz="700" i="0">
                <a:solidFill>
                  <a:srgbClr val="5C6773"/>
                </a:solidFill>
                <a:latin typeface="Inconsolata"/>
              </a:rPr>
              <a:t>30  </a:t>
            </a:r>
            <a:r>
              <a:rPr sz="700" i="0">
                <a:solidFill>
                  <a:srgbClr val="FF8E6E"/>
                </a:solidFill>
                <a:latin typeface="Inconsolata"/>
              </a:rPr>
              <a:t>if</a:t>
            </a:r>
            <a:r>
              <a:rPr sz="700" i="0">
                <a:solidFill>
                  <a:srgbClr val="E6EDF3"/>
                </a:solidFill>
                <a:latin typeface="Inconsolata"/>
              </a:rPr>
              <a:t> __name__ == </a:t>
            </a:r>
            <a:r>
              <a:rPr sz="700" i="0">
                <a:solidFill>
                  <a:srgbClr val="A5D6A7"/>
                </a:solidFill>
                <a:latin typeface="Inconsolata"/>
              </a:rPr>
              <a:t>"__main__"</a:t>
            </a:r>
            <a:r>
              <a:rPr sz="700" i="0">
                <a:solidFill>
                  <a:srgbClr val="E6EDF3"/>
                </a:solidFill>
                <a:latin typeface="Inconsolata"/>
              </a:rPr>
              <a:t>:</a:t>
            </a:r>
          </a:p>
          <a:p>
            <a:pPr>
              <a:lnSpc>
                <a:spcPct val="107095"/>
              </a:lnSpc>
              <a:spcAft>
                <a:spcPts val="0"/>
              </a:spcAft>
            </a:pPr>
            <a:r>
              <a:rPr sz="700" i="0">
                <a:solidFill>
                  <a:srgbClr val="5C6773"/>
                </a:solidFill>
                <a:latin typeface="Inconsolata"/>
              </a:rPr>
              <a:t>31  </a:t>
            </a:r>
            <a:r>
              <a:rPr sz="700" i="0">
                <a:solidFill>
                  <a:srgbClr val="E6EDF3"/>
                </a:solidFill>
                <a:latin typeface="Inconsolata"/>
              </a:rPr>
              <a:t>    client = </a:t>
            </a:r>
            <a:r>
              <a:rPr sz="700" i="0">
                <a:solidFill>
                  <a:srgbClr val="7FDBCA"/>
                </a:solidFill>
                <a:latin typeface="Inconsolata"/>
              </a:rPr>
              <a:t>TestClient</a:t>
            </a:r>
            <a:r>
              <a:rPr sz="700" i="0">
                <a:solidFill>
                  <a:srgbClr val="E6EDF3"/>
                </a:solidFill>
                <a:latin typeface="Inconsolata"/>
              </a:rPr>
              <a:t>(app)</a:t>
            </a:r>
          </a:p>
          <a:p>
            <a:pPr>
              <a:lnSpc>
                <a:spcPct val="107095"/>
              </a:lnSpc>
              <a:spcAft>
                <a:spcPts val="0"/>
              </a:spcAft>
            </a:pPr>
            <a:r>
              <a:rPr sz="700" i="0">
                <a:solidFill>
                  <a:srgbClr val="5C6773"/>
                </a:solidFill>
                <a:latin typeface="Inconsolata"/>
              </a:rPr>
              <a:t>32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"Isi tabel users:"</a:t>
            </a:r>
            <a:r>
              <a:rPr sz="700" i="0">
                <a:solidFill>
                  <a:srgbClr val="E6EDF3"/>
                </a:solidFill>
                <a:latin typeface="Inconsolata"/>
              </a:rPr>
              <a:t>, </a:t>
            </a:r>
            <a:r>
              <a:rPr sz="700" i="0">
                <a:solidFill>
                  <a:srgbClr val="7FDBCA"/>
                </a:solidFill>
                <a:latin typeface="Inconsolata"/>
              </a:rPr>
              <a:t>USERS</a:t>
            </a:r>
            <a:r>
              <a:rPr sz="700" i="0">
                <a:solidFill>
                  <a:srgbClr val="E6EDF3"/>
                </a:solidFill>
                <a:latin typeface="Inconsolata"/>
              </a:rPr>
              <a:t>)</a:t>
            </a:r>
          </a:p>
          <a:p>
            <a:pPr>
              <a:lnSpc>
                <a:spcPct val="107095"/>
              </a:lnSpc>
              <a:spcAft>
                <a:spcPts val="0"/>
              </a:spcAft>
            </a:pPr>
            <a:r>
              <a:rPr sz="700" i="0">
                <a:solidFill>
                  <a:srgbClr val="5C6773"/>
                </a:solidFill>
                <a:latin typeface="Inconsolata"/>
              </a:rPr>
              <a:t>33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"budi login -&gt;"</a:t>
            </a:r>
            <a:r>
              <a:rPr sz="700" i="0">
                <a:solidFill>
                  <a:srgbClr val="E6EDF3"/>
                </a:solidFill>
                <a:latin typeface="Inconsolata"/>
              </a:rPr>
              <a:t>, client.post(</a:t>
            </a:r>
          </a:p>
          <a:p>
            <a:pPr>
              <a:lnSpc>
                <a:spcPct val="107095"/>
              </a:lnSpc>
              <a:spcAft>
                <a:spcPts val="0"/>
              </a:spcAft>
            </a:pPr>
            <a:r>
              <a:rPr sz="700" i="0">
                <a:solidFill>
                  <a:srgbClr val="5C6773"/>
                </a:solidFill>
                <a:latin typeface="Inconsolata"/>
              </a:rPr>
              <a:t>34  </a:t>
            </a:r>
            <a:r>
              <a:rPr sz="700" i="0">
                <a:solidFill>
                  <a:srgbClr val="E6EDF3"/>
                </a:solidFill>
                <a:latin typeface="Inconsolata"/>
              </a:rPr>
              <a:t>        </a:t>
            </a:r>
            <a:r>
              <a:rPr sz="700" i="0">
                <a:solidFill>
                  <a:srgbClr val="A5D6A7"/>
                </a:solidFill>
                <a:latin typeface="Inconsolata"/>
              </a:rPr>
              <a:t>"/login"</a:t>
            </a:r>
            <a:r>
              <a:rPr sz="700" i="0">
                <a:solidFill>
                  <a:srgbClr val="E6EDF3"/>
                </a:solidFill>
                <a:latin typeface="Inconsolata"/>
              </a:rPr>
              <a:t>, params={</a:t>
            </a:r>
            <a:r>
              <a:rPr sz="700" i="0">
                <a:solidFill>
                  <a:srgbClr val="A5D6A7"/>
                </a:solidFill>
                <a:latin typeface="Inconsolata"/>
              </a:rPr>
              <a:t>"email"</a:t>
            </a:r>
            <a:r>
              <a:rPr sz="700" i="0">
                <a:solidFill>
                  <a:srgbClr val="E6EDF3"/>
                </a:solidFill>
                <a:latin typeface="Inconsolata"/>
              </a:rPr>
              <a:t>: </a:t>
            </a:r>
            <a:r>
              <a:rPr sz="700" i="0">
                <a:solidFill>
                  <a:srgbClr val="A5D6A7"/>
                </a:solidFill>
                <a:latin typeface="Inconsolata"/>
              </a:rPr>
              <a:t>"budi@mail.com"</a:t>
            </a:r>
            <a:r>
              <a:rPr sz="700" i="0">
                <a:solidFill>
                  <a:srgbClr val="E6EDF3"/>
                </a:solidFill>
                <a:latin typeface="Inconsolata"/>
              </a:rPr>
              <a:t>,</a:t>
            </a:r>
          </a:p>
          <a:p>
            <a:pPr>
              <a:lnSpc>
                <a:spcPct val="107095"/>
              </a:lnSpc>
              <a:spcAft>
                <a:spcPts val="0"/>
              </a:spcAft>
            </a:pPr>
            <a:r>
              <a:rPr sz="700" i="0">
                <a:solidFill>
                  <a:srgbClr val="5C6773"/>
                </a:solidFill>
                <a:latin typeface="Inconsolata"/>
              </a:rPr>
              <a:t>35  </a:t>
            </a:r>
            <a:r>
              <a:rPr sz="700" i="0">
                <a:solidFill>
                  <a:srgbClr val="E6EDF3"/>
                </a:solidFill>
                <a:latin typeface="Inconsolata"/>
              </a:rPr>
              <a:t>                          </a:t>
            </a:r>
            <a:r>
              <a:rPr sz="700" i="0">
                <a:solidFill>
                  <a:srgbClr val="A5D6A7"/>
                </a:solidFill>
                <a:latin typeface="Inconsolata"/>
              </a:rPr>
              <a:t>"password"</a:t>
            </a:r>
            <a:r>
              <a:rPr sz="700" i="0">
                <a:solidFill>
                  <a:srgbClr val="E6EDF3"/>
                </a:solidFill>
                <a:latin typeface="Inconsolata"/>
              </a:rPr>
              <a:t>: </a:t>
            </a:r>
            <a:r>
              <a:rPr sz="700" i="0">
                <a:solidFill>
                  <a:srgbClr val="A5D6A7"/>
                </a:solidFill>
                <a:latin typeface="Inconsolata"/>
              </a:rPr>
              <a:t>"budi12345"</a:t>
            </a:r>
            <a:r>
              <a:rPr sz="700" i="0">
                <a:solidFill>
                  <a:srgbClr val="E6EDF3"/>
                </a:solidFill>
                <a:latin typeface="Inconsolata"/>
              </a:rPr>
              <a:t>}).json())</a:t>
            </a:r>
          </a:p>
          <a:p>
            <a:pPr>
              <a:lnSpc>
                <a:spcPct val="107095"/>
              </a:lnSpc>
              <a:spcAft>
                <a:spcPts val="0"/>
              </a:spcAft>
            </a:pPr>
            <a:r>
              <a:rPr sz="700" i="0">
                <a:solidFill>
                  <a:srgbClr val="5C6773"/>
                </a:solidFill>
                <a:latin typeface="Inconsolata"/>
              </a:rPr>
              <a:t>36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"GET /me?user=ani@mail.com -&gt;"</a:t>
            </a:r>
            <a:r>
              <a:rPr sz="700" i="0">
                <a:solidFill>
                  <a:srgbClr val="E6EDF3"/>
                </a:solidFill>
                <a:latin typeface="Inconsolata"/>
              </a:rPr>
              <a:t>,</a:t>
            </a:r>
          </a:p>
          <a:p>
            <a:pPr>
              <a:lnSpc>
                <a:spcPct val="107095"/>
              </a:lnSpc>
              <a:spcAft>
                <a:spcPts val="0"/>
              </a:spcAft>
            </a:pPr>
            <a:r>
              <a:rPr sz="700" i="0">
                <a:solidFill>
                  <a:srgbClr val="5C6773"/>
                </a:solidFill>
                <a:latin typeface="Inconsolata"/>
              </a:rPr>
              <a:t>37  </a:t>
            </a:r>
            <a:r>
              <a:rPr sz="700" i="0">
                <a:solidFill>
                  <a:srgbClr val="E6EDF3"/>
                </a:solidFill>
                <a:latin typeface="Inconsolata"/>
              </a:rPr>
              <a:t>          client.get(</a:t>
            </a:r>
            <a:r>
              <a:rPr sz="700" i="0">
                <a:solidFill>
                  <a:srgbClr val="A5D6A7"/>
                </a:solidFill>
                <a:latin typeface="Inconsolata"/>
              </a:rPr>
              <a:t>"/me"</a:t>
            </a:r>
            <a:r>
              <a:rPr sz="700" i="0">
                <a:solidFill>
                  <a:srgbClr val="E6EDF3"/>
                </a:solidFill>
                <a:latin typeface="Inconsolata"/>
              </a:rPr>
              <a:t>, params={</a:t>
            </a:r>
            <a:r>
              <a:rPr sz="700" i="0">
                <a:solidFill>
                  <a:srgbClr val="A5D6A7"/>
                </a:solidFill>
                <a:latin typeface="Inconsolata"/>
              </a:rPr>
              <a:t>"user"</a:t>
            </a:r>
            <a:r>
              <a:rPr sz="700" i="0">
                <a:solidFill>
                  <a:srgbClr val="E6EDF3"/>
                </a:solidFill>
                <a:latin typeface="Inconsolata"/>
              </a:rPr>
              <a:t>: </a:t>
            </a:r>
            <a:r>
              <a:rPr sz="700" i="0">
                <a:solidFill>
                  <a:srgbClr val="A5D6A7"/>
                </a:solidFill>
                <a:latin typeface="Inconsolata"/>
              </a:rPr>
              <a:t>"ani@mail.com"</a:t>
            </a:r>
            <a:r>
              <a:rPr sz="700" i="0">
                <a:solidFill>
                  <a:srgbClr val="E6EDF3"/>
                </a:solidFill>
                <a:latin typeface="Inconsolata"/>
              </a:rPr>
              <a:t>}).json())</a:t>
            </a:r>
          </a:p>
        </p:txBody>
      </p:sp>
      <p:sp>
        <p:nvSpPr>
          <p:cNvPr id="36" name="Box 21"/>
          <p:cNvSpPr/>
          <p:nvPr/>
        </p:nvSpPr>
        <p:spPr>
          <a:xfrm>
            <a:off x="704088" y="2168271"/>
            <a:ext cx="3694176" cy="221742"/>
          </a:xfrm>
          <a:prstGeom prst="roundRect">
            <a:avLst>
              <a:gd name="adj" fmla="val 20618"/>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1602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704088" y="3082671"/>
            <a:ext cx="3694176"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30175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1939671"/>
            <a:ext cx="3694176" cy="221742"/>
          </a:xfrm>
          <a:prstGeom prst="roundRect">
            <a:avLst>
              <a:gd name="adj" fmla="val 20618"/>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19316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OAuth2 Bearer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05-oauth2-bearer/before.py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sesi-10-api-security/05-oauth2-bearer</a:t>
            </a:r>
          </a:p>
          <a:p>
            <a:pPr>
              <a:lnSpc>
                <a:spcPct val="111111"/>
              </a:lnSpc>
              <a:spcAft>
                <a:spcPts val="0"/>
              </a:spcAft>
            </a:pPr>
            <a:r>
              <a:rPr sz="900" i="0">
                <a:solidFill>
                  <a:srgbClr val="82B1FF"/>
                </a:solidFill>
                <a:latin typeface="Inconsolata"/>
              </a:rPr>
              <a:t>$ python before.py</a:t>
            </a:r>
          </a:p>
        </p:txBody>
      </p:sp>
      <p:pic>
        <p:nvPicPr>
          <p:cNvPr id="29" name="Image 12" descr="s10-05-oauth2-bearer-before.png"/>
          <p:cNvPicPr>
            <a:picLocks noChangeAspect="1"/>
          </p:cNvPicPr>
          <p:nvPr/>
        </p:nvPicPr>
        <p:blipFill>
          <a:blip r:embed="rId2"/>
          <a:stretch>
            <a:fillRect/>
          </a:stretch>
        </p:blipFill>
        <p:spPr>
          <a:xfrm>
            <a:off x="621792" y="2322576"/>
            <a:ext cx="4297680" cy="1017872"/>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Password disimpan tanpa hash (baris 12-13)</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Login membandingkan teks password langsung (baris 20)</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Endpoint percaya </a:t>
            </a:r>
            <a:r>
              <a:rPr sz="950" b="0" i="0">
                <a:solidFill>
                  <a:srgbClr val="B5482A"/>
                </a:solidFill>
                <a:latin typeface="Inconsolata"/>
              </a:rPr>
              <a:t>user</a:t>
            </a:r>
            <a:r>
              <a:rPr sz="950" b="0" i="0">
                <a:solidFill>
                  <a:srgbClr val="434343"/>
                </a:solidFill>
                <a:latin typeface="Inter"/>
              </a:rPr>
              <a:t> dari query string (baris 26-27)</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Data Ani, termasuk password, terbaca hanya dengan </a:t>
            </a:r>
            <a:r>
              <a:rPr sz="950" b="0" i="0">
                <a:solidFill>
                  <a:srgbClr val="B5482A"/>
                </a:solidFill>
                <a:latin typeface="Inconsolata"/>
              </a:rPr>
              <a:t>?user=ani@mail.com</a:t>
            </a:r>
            <a:r>
              <a:rPr sz="950" b="0" i="0">
                <a:solidFill>
                  <a:srgbClr val="434343"/>
                </a:solidFill>
                <a:latin typeface="Inter"/>
              </a:rPr>
              <a:t>.</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OAuth2 Bearer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Argon2, POST /token, dan header Bearer (1/2)</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05-oauth2-bearer/after.py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2868"/>
              </a:lnSpc>
              <a:spcAft>
                <a:spcPts val="0"/>
              </a:spcAft>
            </a:pPr>
            <a:r>
              <a:rPr sz="729" i="0">
                <a:solidFill>
                  <a:srgbClr val="5C6773"/>
                </a:solidFill>
                <a:latin typeface="Inconsolata"/>
              </a:rPr>
              <a:t>11  </a:t>
            </a:r>
            <a:r>
              <a:rPr sz="729" i="0">
                <a:solidFill>
                  <a:srgbClr val="FF8E6E"/>
                </a:solidFill>
                <a:latin typeface="Inconsolata"/>
              </a:rPr>
              <a:t>from</a:t>
            </a:r>
            <a:r>
              <a:rPr sz="729" i="0">
                <a:solidFill>
                  <a:srgbClr val="E6EDF3"/>
                </a:solidFill>
                <a:latin typeface="Inconsolata"/>
              </a:rPr>
              <a:t> datetime </a:t>
            </a:r>
            <a:r>
              <a:rPr sz="729" i="0">
                <a:solidFill>
                  <a:srgbClr val="FF8E6E"/>
                </a:solidFill>
                <a:latin typeface="Inconsolata"/>
              </a:rPr>
              <a:t>import</a:t>
            </a:r>
            <a:r>
              <a:rPr sz="729" i="0">
                <a:solidFill>
                  <a:srgbClr val="E6EDF3"/>
                </a:solidFill>
                <a:latin typeface="Inconsolata"/>
              </a:rPr>
              <a:t> datetime, timedelta, timezone</a:t>
            </a:r>
          </a:p>
          <a:p>
            <a:pPr>
              <a:lnSpc>
                <a:spcPct val="102868"/>
              </a:lnSpc>
              <a:spcAft>
                <a:spcPts val="0"/>
              </a:spcAft>
            </a:pPr>
            <a:r>
              <a:rPr sz="729" i="0">
                <a:solidFill>
                  <a:srgbClr val="5C6773"/>
                </a:solidFill>
                <a:latin typeface="Inconsolata"/>
              </a:rPr>
              <a:t>12  </a:t>
            </a:r>
            <a:r>
              <a:rPr sz="729" i="0">
                <a:solidFill>
                  <a:srgbClr val="E6EDF3"/>
                </a:solidFill>
                <a:latin typeface="Inconsolata"/>
              </a:rPr>
              <a:t> </a:t>
            </a:r>
          </a:p>
          <a:p>
            <a:pPr>
              <a:lnSpc>
                <a:spcPct val="102868"/>
              </a:lnSpc>
              <a:spcAft>
                <a:spcPts val="0"/>
              </a:spcAft>
            </a:pPr>
            <a:r>
              <a:rPr sz="729" i="0">
                <a:solidFill>
                  <a:srgbClr val="5C6773"/>
                </a:solidFill>
                <a:latin typeface="Inconsolata"/>
              </a:rPr>
              <a:t>13  </a:t>
            </a:r>
            <a:r>
              <a:rPr sz="729" i="0">
                <a:solidFill>
                  <a:srgbClr val="FF8E6E"/>
                </a:solidFill>
                <a:latin typeface="Inconsolata"/>
              </a:rPr>
              <a:t>import</a:t>
            </a:r>
            <a:r>
              <a:rPr sz="729" i="0">
                <a:solidFill>
                  <a:srgbClr val="E6EDF3"/>
                </a:solidFill>
                <a:latin typeface="Inconsolata"/>
              </a:rPr>
              <a:t> jwt</a:t>
            </a:r>
          </a:p>
          <a:p>
            <a:pPr>
              <a:lnSpc>
                <a:spcPct val="102868"/>
              </a:lnSpc>
              <a:spcAft>
                <a:spcPts val="0"/>
              </a:spcAft>
            </a:pPr>
            <a:r>
              <a:rPr sz="729" i="0">
                <a:solidFill>
                  <a:srgbClr val="5C6773"/>
                </a:solidFill>
                <a:latin typeface="Inconsolata"/>
              </a:rPr>
              <a:t>14  </a:t>
            </a:r>
            <a:r>
              <a:rPr sz="729" i="0">
                <a:solidFill>
                  <a:srgbClr val="FF8E6E"/>
                </a:solidFill>
                <a:latin typeface="Inconsolata"/>
              </a:rPr>
              <a:t>from</a:t>
            </a:r>
            <a:r>
              <a:rPr sz="729" i="0">
                <a:solidFill>
                  <a:srgbClr val="E6EDF3"/>
                </a:solidFill>
                <a:latin typeface="Inconsolata"/>
              </a:rPr>
              <a:t> fastapi </a:t>
            </a:r>
            <a:r>
              <a:rPr sz="729" i="0">
                <a:solidFill>
                  <a:srgbClr val="FF8E6E"/>
                </a:solidFill>
                <a:latin typeface="Inconsolata"/>
              </a:rPr>
              <a:t>import</a:t>
            </a:r>
            <a:r>
              <a:rPr sz="729" i="0">
                <a:solidFill>
                  <a:srgbClr val="E6EDF3"/>
                </a:solidFill>
                <a:latin typeface="Inconsolata"/>
              </a:rPr>
              <a:t> </a:t>
            </a:r>
            <a:r>
              <a:rPr sz="729" i="0">
                <a:solidFill>
                  <a:srgbClr val="7FDBCA"/>
                </a:solidFill>
                <a:latin typeface="Inconsolata"/>
              </a:rPr>
              <a:t>Depends</a:t>
            </a:r>
            <a:r>
              <a:rPr sz="729" i="0">
                <a:solidFill>
                  <a:srgbClr val="E6EDF3"/>
                </a:solidFill>
                <a:latin typeface="Inconsolata"/>
              </a:rPr>
              <a:t>, </a:t>
            </a:r>
            <a:r>
              <a:rPr sz="729" i="0">
                <a:solidFill>
                  <a:srgbClr val="7FDBCA"/>
                </a:solidFill>
                <a:latin typeface="Inconsolata"/>
              </a:rPr>
              <a:t>FastAPI</a:t>
            </a:r>
            <a:r>
              <a:rPr sz="729" i="0">
                <a:solidFill>
                  <a:srgbClr val="E6EDF3"/>
                </a:solidFill>
                <a:latin typeface="Inconsolata"/>
              </a:rPr>
              <a:t>, </a:t>
            </a:r>
            <a:r>
              <a:rPr sz="729" i="0">
                <a:solidFill>
                  <a:srgbClr val="7FDBCA"/>
                </a:solidFill>
                <a:latin typeface="Inconsolata"/>
              </a:rPr>
              <a:t>HTTPException</a:t>
            </a:r>
          </a:p>
          <a:p>
            <a:pPr>
              <a:lnSpc>
                <a:spcPct val="102868"/>
              </a:lnSpc>
              <a:spcAft>
                <a:spcPts val="0"/>
              </a:spcAft>
            </a:pPr>
            <a:r>
              <a:rPr sz="729" i="0">
                <a:solidFill>
                  <a:srgbClr val="5C6773"/>
                </a:solidFill>
                <a:latin typeface="Inconsolata"/>
              </a:rPr>
              <a:t>15  </a:t>
            </a:r>
            <a:r>
              <a:rPr sz="729" i="0">
                <a:solidFill>
                  <a:srgbClr val="FF8E6E"/>
                </a:solidFill>
                <a:latin typeface="Inconsolata"/>
              </a:rPr>
              <a:t>from</a:t>
            </a:r>
            <a:r>
              <a:rPr sz="729" i="0">
                <a:solidFill>
                  <a:srgbClr val="E6EDF3"/>
                </a:solidFill>
                <a:latin typeface="Inconsolata"/>
              </a:rPr>
              <a:t> fastapi.security </a:t>
            </a:r>
            <a:r>
              <a:rPr sz="729" i="0">
                <a:solidFill>
                  <a:srgbClr val="FF8E6E"/>
                </a:solidFill>
                <a:latin typeface="Inconsolata"/>
              </a:rPr>
              <a:t>import</a:t>
            </a:r>
            <a:r>
              <a:rPr sz="729" i="0">
                <a:solidFill>
                  <a:srgbClr val="E6EDF3"/>
                </a:solidFill>
                <a:latin typeface="Inconsolata"/>
              </a:rPr>
              <a:t> (</a:t>
            </a:r>
            <a:r>
              <a:rPr sz="729" i="0">
                <a:solidFill>
                  <a:srgbClr val="7FDBCA"/>
                </a:solidFill>
                <a:latin typeface="Inconsolata"/>
              </a:rPr>
              <a:t>OAuth2PasswordBearer</a:t>
            </a:r>
            <a:r>
              <a:rPr sz="729" i="0">
                <a:solidFill>
                  <a:srgbClr val="E6EDF3"/>
                </a:solidFill>
                <a:latin typeface="Inconsolata"/>
              </a:rPr>
              <a:t>,</a:t>
            </a:r>
          </a:p>
          <a:p>
            <a:pPr>
              <a:lnSpc>
                <a:spcPct val="102868"/>
              </a:lnSpc>
              <a:spcAft>
                <a:spcPts val="0"/>
              </a:spcAft>
            </a:pPr>
            <a:r>
              <a:rPr sz="729" i="0">
                <a:solidFill>
                  <a:srgbClr val="5C6773"/>
                </a:solidFill>
                <a:latin typeface="Inconsolata"/>
              </a:rPr>
              <a:t>16  </a:t>
            </a:r>
            <a:r>
              <a:rPr sz="729" i="0">
                <a:solidFill>
                  <a:srgbClr val="E6EDF3"/>
                </a:solidFill>
                <a:latin typeface="Inconsolata"/>
              </a:rPr>
              <a:t>                              </a:t>
            </a:r>
            <a:r>
              <a:rPr sz="729" i="0">
                <a:solidFill>
                  <a:srgbClr val="7FDBCA"/>
                </a:solidFill>
                <a:latin typeface="Inconsolata"/>
              </a:rPr>
              <a:t>OAuth2PasswordRequestForm</a:t>
            </a:r>
            <a:r>
              <a:rPr sz="729" i="0">
                <a:solidFill>
                  <a:srgbClr val="E6EDF3"/>
                </a:solidFill>
                <a:latin typeface="Inconsolata"/>
              </a:rPr>
              <a:t>)</a:t>
            </a:r>
          </a:p>
          <a:p>
            <a:pPr>
              <a:lnSpc>
                <a:spcPct val="102868"/>
              </a:lnSpc>
              <a:spcAft>
                <a:spcPts val="0"/>
              </a:spcAft>
            </a:pPr>
            <a:r>
              <a:rPr sz="729" i="0">
                <a:solidFill>
                  <a:srgbClr val="5C6773"/>
                </a:solidFill>
                <a:latin typeface="Inconsolata"/>
              </a:rPr>
              <a:t>17  </a:t>
            </a:r>
            <a:r>
              <a:rPr sz="729" i="0">
                <a:solidFill>
                  <a:srgbClr val="FF8E6E"/>
                </a:solidFill>
                <a:latin typeface="Inconsolata"/>
              </a:rPr>
              <a:t>from</a:t>
            </a:r>
            <a:r>
              <a:rPr sz="729" i="0">
                <a:solidFill>
                  <a:srgbClr val="E6EDF3"/>
                </a:solidFill>
                <a:latin typeface="Inconsolata"/>
              </a:rPr>
              <a:t> fastapi.testclient </a:t>
            </a:r>
            <a:r>
              <a:rPr sz="729" i="0">
                <a:solidFill>
                  <a:srgbClr val="FF8E6E"/>
                </a:solidFill>
                <a:latin typeface="Inconsolata"/>
              </a:rPr>
              <a:t>import</a:t>
            </a:r>
            <a:r>
              <a:rPr sz="729" i="0">
                <a:solidFill>
                  <a:srgbClr val="E6EDF3"/>
                </a:solidFill>
                <a:latin typeface="Inconsolata"/>
              </a:rPr>
              <a:t> </a:t>
            </a:r>
            <a:r>
              <a:rPr sz="729" i="0">
                <a:solidFill>
                  <a:srgbClr val="7FDBCA"/>
                </a:solidFill>
                <a:latin typeface="Inconsolata"/>
              </a:rPr>
              <a:t>TestClient</a:t>
            </a:r>
          </a:p>
          <a:p>
            <a:pPr>
              <a:lnSpc>
                <a:spcPct val="102868"/>
              </a:lnSpc>
              <a:spcAft>
                <a:spcPts val="0"/>
              </a:spcAft>
            </a:pPr>
            <a:r>
              <a:rPr sz="729" i="0">
                <a:solidFill>
                  <a:srgbClr val="5C6773"/>
                </a:solidFill>
                <a:latin typeface="Inconsolata"/>
              </a:rPr>
              <a:t>18  </a:t>
            </a:r>
            <a:r>
              <a:rPr sz="729" i="0">
                <a:solidFill>
                  <a:srgbClr val="FF8E6E"/>
                </a:solidFill>
                <a:latin typeface="Inconsolata"/>
              </a:rPr>
              <a:t>from</a:t>
            </a:r>
            <a:r>
              <a:rPr sz="729" i="0">
                <a:solidFill>
                  <a:srgbClr val="E6EDF3"/>
                </a:solidFill>
                <a:latin typeface="Inconsolata"/>
              </a:rPr>
              <a:t> pwdlib </a:t>
            </a:r>
            <a:r>
              <a:rPr sz="729" i="0">
                <a:solidFill>
                  <a:srgbClr val="FF8E6E"/>
                </a:solidFill>
                <a:latin typeface="Inconsolata"/>
              </a:rPr>
              <a:t>import</a:t>
            </a:r>
            <a:r>
              <a:rPr sz="729" i="0">
                <a:solidFill>
                  <a:srgbClr val="E6EDF3"/>
                </a:solidFill>
                <a:latin typeface="Inconsolata"/>
              </a:rPr>
              <a:t> </a:t>
            </a:r>
            <a:r>
              <a:rPr sz="729" i="0">
                <a:solidFill>
                  <a:srgbClr val="7FDBCA"/>
                </a:solidFill>
                <a:latin typeface="Inconsolata"/>
              </a:rPr>
              <a:t>PasswordHash</a:t>
            </a:r>
          </a:p>
          <a:p>
            <a:pPr>
              <a:lnSpc>
                <a:spcPct val="102868"/>
              </a:lnSpc>
              <a:spcAft>
                <a:spcPts val="0"/>
              </a:spcAft>
            </a:pPr>
            <a:r>
              <a:rPr sz="729" i="0">
                <a:solidFill>
                  <a:srgbClr val="5C6773"/>
                </a:solidFill>
                <a:latin typeface="Inconsolata"/>
              </a:rPr>
              <a:t>19  </a:t>
            </a:r>
            <a:r>
              <a:rPr sz="729" i="0">
                <a:solidFill>
                  <a:srgbClr val="E6EDF3"/>
                </a:solidFill>
                <a:latin typeface="Inconsolata"/>
              </a:rPr>
              <a:t> </a:t>
            </a:r>
          </a:p>
          <a:p>
            <a:pPr>
              <a:lnSpc>
                <a:spcPct val="102868"/>
              </a:lnSpc>
              <a:spcAft>
                <a:spcPts val="0"/>
              </a:spcAft>
            </a:pPr>
            <a:r>
              <a:rPr sz="729" i="0">
                <a:solidFill>
                  <a:srgbClr val="5C6773"/>
                </a:solidFill>
                <a:latin typeface="Inconsolata"/>
              </a:rPr>
              <a:t>20  </a:t>
            </a:r>
            <a:r>
              <a:rPr sz="729" i="0">
                <a:solidFill>
                  <a:srgbClr val="7FDBCA"/>
                </a:solidFill>
                <a:latin typeface="Inconsolata"/>
              </a:rPr>
              <a:t>SECRET</a:t>
            </a:r>
            <a:r>
              <a:rPr sz="729" i="0">
                <a:solidFill>
                  <a:srgbClr val="E6EDF3"/>
                </a:solidFill>
                <a:latin typeface="Inconsolata"/>
              </a:rPr>
              <a:t> = </a:t>
            </a:r>
            <a:r>
              <a:rPr sz="729" i="0">
                <a:solidFill>
                  <a:srgbClr val="A5D6A7"/>
                </a:solidFill>
                <a:latin typeface="Inconsolata"/>
              </a:rPr>
              <a:t>"ganti-dengan-secret-panjang-dari-env"</a:t>
            </a:r>
            <a:r>
              <a:rPr sz="729" i="0">
                <a:solidFill>
                  <a:srgbClr val="E6EDF3"/>
                </a:solidFill>
                <a:latin typeface="Inconsolata"/>
              </a:rPr>
              <a:t>   </a:t>
            </a:r>
            <a:r>
              <a:rPr sz="729" i="1">
                <a:solidFill>
                  <a:srgbClr val="8B98A8"/>
                </a:solidFill>
                <a:latin typeface="Inconsolata"/>
              </a:rPr>
              <a:t># contoh 07</a:t>
            </a:r>
          </a:p>
          <a:p>
            <a:pPr>
              <a:lnSpc>
                <a:spcPct val="102868"/>
              </a:lnSpc>
              <a:spcAft>
                <a:spcPts val="0"/>
              </a:spcAft>
            </a:pPr>
            <a:r>
              <a:rPr sz="729" i="0">
                <a:solidFill>
                  <a:srgbClr val="5C6773"/>
                </a:solidFill>
                <a:latin typeface="Inconsolata"/>
              </a:rPr>
              <a:t>21  </a:t>
            </a:r>
            <a:r>
              <a:rPr sz="729" i="0">
                <a:solidFill>
                  <a:srgbClr val="E6EDF3"/>
                </a:solidFill>
                <a:latin typeface="Inconsolata"/>
              </a:rPr>
              <a:t>hasher = </a:t>
            </a:r>
            <a:r>
              <a:rPr sz="729" i="0">
                <a:solidFill>
                  <a:srgbClr val="7FDBCA"/>
                </a:solidFill>
                <a:latin typeface="Inconsolata"/>
              </a:rPr>
              <a:t>PasswordHash</a:t>
            </a:r>
            <a:r>
              <a:rPr sz="729" i="0">
                <a:solidFill>
                  <a:srgbClr val="E6EDF3"/>
                </a:solidFill>
                <a:latin typeface="Inconsolata"/>
              </a:rPr>
              <a:t>.recommended()               </a:t>
            </a:r>
            <a:r>
              <a:rPr sz="729" i="1">
                <a:solidFill>
                  <a:srgbClr val="8B98A8"/>
                </a:solidFill>
                <a:latin typeface="Inconsolata"/>
              </a:rPr>
              <a:t># Argon2</a:t>
            </a:r>
          </a:p>
          <a:p>
            <a:pPr>
              <a:lnSpc>
                <a:spcPct val="102868"/>
              </a:lnSpc>
              <a:spcAft>
                <a:spcPts val="0"/>
              </a:spcAft>
            </a:pPr>
            <a:r>
              <a:rPr sz="729" i="0">
                <a:solidFill>
                  <a:srgbClr val="5C6773"/>
                </a:solidFill>
                <a:latin typeface="Inconsolata"/>
              </a:rPr>
              <a:t>22  </a:t>
            </a:r>
            <a:r>
              <a:rPr sz="729" i="0">
                <a:solidFill>
                  <a:srgbClr val="7FDBCA"/>
                </a:solidFill>
                <a:latin typeface="Inconsolata"/>
              </a:rPr>
              <a:t>USERS</a:t>
            </a:r>
            <a:r>
              <a:rPr sz="729" i="0">
                <a:solidFill>
                  <a:srgbClr val="E6EDF3"/>
                </a:solidFill>
                <a:latin typeface="Inconsolata"/>
              </a:rPr>
              <a:t> = {</a:t>
            </a:r>
            <a:r>
              <a:rPr sz="729" i="0">
                <a:solidFill>
                  <a:srgbClr val="A5D6A7"/>
                </a:solidFill>
                <a:latin typeface="Inconsolata"/>
              </a:rPr>
              <a:t>"budi@mail.com"</a:t>
            </a:r>
            <a:r>
              <a:rPr sz="729" i="0">
                <a:solidFill>
                  <a:srgbClr val="E6EDF3"/>
                </a:solidFill>
                <a:latin typeface="Inconsolata"/>
              </a:rPr>
              <a:t>: {</a:t>
            </a:r>
            <a:r>
              <a:rPr sz="729" i="0">
                <a:solidFill>
                  <a:srgbClr val="A5D6A7"/>
                </a:solidFill>
                <a:latin typeface="Inconsolata"/>
              </a:rPr>
              <a:t>"password_hash"</a:t>
            </a:r>
            <a:r>
              <a:rPr sz="729" i="0">
                <a:solidFill>
                  <a:srgbClr val="E6EDF3"/>
                </a:solidFill>
                <a:latin typeface="Inconsolata"/>
              </a:rPr>
              <a:t>: hasher.hash(</a:t>
            </a:r>
            <a:r>
              <a:rPr sz="729" i="0">
                <a:solidFill>
                  <a:srgbClr val="A5D6A7"/>
                </a:solidFill>
                <a:latin typeface="Inconsolata"/>
              </a:rPr>
              <a:t>"budi12345"</a:t>
            </a:r>
            <a:r>
              <a:rPr sz="729" i="0">
                <a:solidFill>
                  <a:srgbClr val="E6EDF3"/>
                </a:solidFill>
                <a:latin typeface="Inconsolata"/>
              </a:rPr>
              <a:t>),</a:t>
            </a:r>
          </a:p>
          <a:p>
            <a:pPr>
              <a:lnSpc>
                <a:spcPct val="102868"/>
              </a:lnSpc>
              <a:spcAft>
                <a:spcPts val="0"/>
              </a:spcAft>
            </a:pPr>
            <a:r>
              <a:rPr sz="729" i="0">
                <a:solidFill>
                  <a:srgbClr val="5C6773"/>
                </a:solidFill>
                <a:latin typeface="Inconsolata"/>
              </a:rPr>
              <a:t>23  </a:t>
            </a:r>
            <a:r>
              <a:rPr sz="729" i="0">
                <a:solidFill>
                  <a:srgbClr val="E6EDF3"/>
                </a:solidFill>
                <a:latin typeface="Inconsolata"/>
              </a:rPr>
              <a:t>                           </a:t>
            </a:r>
            <a:r>
              <a:rPr sz="729" i="0">
                <a:solidFill>
                  <a:srgbClr val="A5D6A7"/>
                </a:solidFill>
                <a:latin typeface="Inconsolata"/>
              </a:rPr>
              <a:t>"role"</a:t>
            </a:r>
            <a:r>
              <a:rPr sz="729" i="0">
                <a:solidFill>
                  <a:srgbClr val="E6EDF3"/>
                </a:solidFill>
                <a:latin typeface="Inconsolata"/>
              </a:rPr>
              <a:t>: </a:t>
            </a:r>
            <a:r>
              <a:rPr sz="729" i="0">
                <a:solidFill>
                  <a:srgbClr val="A5D6A7"/>
                </a:solidFill>
                <a:latin typeface="Inconsolata"/>
              </a:rPr>
              <a:t>"customer"</a:t>
            </a:r>
            <a:r>
              <a:rPr sz="729" i="0">
                <a:solidFill>
                  <a:srgbClr val="E6EDF3"/>
                </a:solidFill>
                <a:latin typeface="Inconsolata"/>
              </a:rPr>
              <a:t>},</a:t>
            </a:r>
          </a:p>
          <a:p>
            <a:pPr>
              <a:lnSpc>
                <a:spcPct val="102868"/>
              </a:lnSpc>
              <a:spcAft>
                <a:spcPts val="0"/>
              </a:spcAft>
            </a:pPr>
            <a:r>
              <a:rPr sz="729" i="0">
                <a:solidFill>
                  <a:srgbClr val="5C6773"/>
                </a:solidFill>
                <a:latin typeface="Inconsolata"/>
              </a:rPr>
              <a:t>24  </a:t>
            </a:r>
            <a:r>
              <a:rPr sz="729" i="0">
                <a:solidFill>
                  <a:srgbClr val="E6EDF3"/>
                </a:solidFill>
                <a:latin typeface="Inconsolata"/>
              </a:rPr>
              <a:t>         </a:t>
            </a:r>
            <a:r>
              <a:rPr sz="729" i="0">
                <a:solidFill>
                  <a:srgbClr val="A5D6A7"/>
                </a:solidFill>
                <a:latin typeface="Inconsolata"/>
              </a:rPr>
              <a:t>"ani@mail.com"</a:t>
            </a:r>
            <a:r>
              <a:rPr sz="729" i="0">
                <a:solidFill>
                  <a:srgbClr val="E6EDF3"/>
                </a:solidFill>
                <a:latin typeface="Inconsolata"/>
              </a:rPr>
              <a:t>: {</a:t>
            </a:r>
            <a:r>
              <a:rPr sz="729" i="0">
                <a:solidFill>
                  <a:srgbClr val="A5D6A7"/>
                </a:solidFill>
                <a:latin typeface="Inconsolata"/>
              </a:rPr>
              <a:t>"password_hash"</a:t>
            </a:r>
            <a:r>
              <a:rPr sz="729" i="0">
                <a:solidFill>
                  <a:srgbClr val="E6EDF3"/>
                </a:solidFill>
                <a:latin typeface="Inconsolata"/>
              </a:rPr>
              <a:t>: hasher.hash(</a:t>
            </a:r>
            <a:r>
              <a:rPr sz="729" i="0">
                <a:solidFill>
                  <a:srgbClr val="A5D6A7"/>
                </a:solidFill>
                <a:latin typeface="Inconsolata"/>
              </a:rPr>
              <a:t>"ani12345"</a:t>
            </a:r>
            <a:r>
              <a:rPr sz="729" i="0">
                <a:solidFill>
                  <a:srgbClr val="E6EDF3"/>
                </a:solidFill>
                <a:latin typeface="Inconsolata"/>
              </a:rPr>
              <a:t>),</a:t>
            </a:r>
          </a:p>
          <a:p>
            <a:pPr>
              <a:lnSpc>
                <a:spcPct val="102868"/>
              </a:lnSpc>
              <a:spcAft>
                <a:spcPts val="0"/>
              </a:spcAft>
            </a:pPr>
            <a:r>
              <a:rPr sz="729" i="0">
                <a:solidFill>
                  <a:srgbClr val="5C6773"/>
                </a:solidFill>
                <a:latin typeface="Inconsolata"/>
              </a:rPr>
              <a:t>25  </a:t>
            </a:r>
            <a:r>
              <a:rPr sz="729" i="0">
                <a:solidFill>
                  <a:srgbClr val="E6EDF3"/>
                </a:solidFill>
                <a:latin typeface="Inconsolata"/>
              </a:rPr>
              <a:t>                          </a:t>
            </a:r>
            <a:r>
              <a:rPr sz="729" i="0">
                <a:solidFill>
                  <a:srgbClr val="A5D6A7"/>
                </a:solidFill>
                <a:latin typeface="Inconsolata"/>
              </a:rPr>
              <a:t>"role"</a:t>
            </a:r>
            <a:r>
              <a:rPr sz="729" i="0">
                <a:solidFill>
                  <a:srgbClr val="E6EDF3"/>
                </a:solidFill>
                <a:latin typeface="Inconsolata"/>
              </a:rPr>
              <a:t>: </a:t>
            </a:r>
            <a:r>
              <a:rPr sz="729" i="0">
                <a:solidFill>
                  <a:srgbClr val="A5D6A7"/>
                </a:solidFill>
                <a:latin typeface="Inconsolata"/>
              </a:rPr>
              <a:t>"customer"</a:t>
            </a:r>
            <a:r>
              <a:rPr sz="729" i="0">
                <a:solidFill>
                  <a:srgbClr val="E6EDF3"/>
                </a:solidFill>
                <a:latin typeface="Inconsolata"/>
              </a:rPr>
              <a:t>}}</a:t>
            </a:r>
          </a:p>
          <a:p>
            <a:pPr>
              <a:lnSpc>
                <a:spcPct val="102868"/>
              </a:lnSpc>
              <a:spcAft>
                <a:spcPts val="0"/>
              </a:spcAft>
            </a:pPr>
            <a:r>
              <a:rPr sz="729" i="0">
                <a:solidFill>
                  <a:srgbClr val="5C6773"/>
                </a:solidFill>
                <a:latin typeface="Inconsolata"/>
              </a:rPr>
              <a:t>26  </a:t>
            </a:r>
            <a:r>
              <a:rPr sz="729" i="0">
                <a:solidFill>
                  <a:srgbClr val="E6EDF3"/>
                </a:solidFill>
                <a:latin typeface="Inconsolata"/>
              </a:rPr>
              <a:t>oauth2_scheme = </a:t>
            </a:r>
            <a:r>
              <a:rPr sz="729" i="0">
                <a:solidFill>
                  <a:srgbClr val="7FDBCA"/>
                </a:solidFill>
                <a:latin typeface="Inconsolata"/>
              </a:rPr>
              <a:t>OAuth2PasswordBearer</a:t>
            </a:r>
            <a:r>
              <a:rPr sz="729" i="0">
                <a:solidFill>
                  <a:srgbClr val="E6EDF3"/>
                </a:solidFill>
                <a:latin typeface="Inconsolata"/>
              </a:rPr>
              <a:t>(tokenUrl=</a:t>
            </a:r>
            <a:r>
              <a:rPr sz="729" i="0">
                <a:solidFill>
                  <a:srgbClr val="A5D6A7"/>
                </a:solidFill>
                <a:latin typeface="Inconsolata"/>
              </a:rPr>
              <a:t>"/token"</a:t>
            </a:r>
            <a:r>
              <a:rPr sz="729" i="0">
                <a:solidFill>
                  <a:srgbClr val="E6EDF3"/>
                </a:solidFill>
                <a:latin typeface="Inconsolata"/>
              </a:rPr>
              <a:t>)</a:t>
            </a:r>
          </a:p>
          <a:p>
            <a:pPr>
              <a:lnSpc>
                <a:spcPct val="102868"/>
              </a:lnSpc>
              <a:spcAft>
                <a:spcPts val="0"/>
              </a:spcAft>
            </a:pPr>
            <a:r>
              <a:rPr sz="729" i="0">
                <a:solidFill>
                  <a:srgbClr val="5C6773"/>
                </a:solidFill>
                <a:latin typeface="Inconsolata"/>
              </a:rPr>
              <a:t>27  </a:t>
            </a:r>
            <a:r>
              <a:rPr sz="729" i="0">
                <a:solidFill>
                  <a:srgbClr val="E6EDF3"/>
                </a:solidFill>
                <a:latin typeface="Inconsolata"/>
              </a:rPr>
              <a:t>app = </a:t>
            </a:r>
            <a:r>
              <a:rPr sz="729" i="0">
                <a:solidFill>
                  <a:srgbClr val="7FDBCA"/>
                </a:solidFill>
                <a:latin typeface="Inconsolata"/>
              </a:rPr>
              <a:t>FastAPI</a:t>
            </a:r>
            <a:r>
              <a:rPr sz="729" i="0">
                <a:solidFill>
                  <a:srgbClr val="E6EDF3"/>
                </a:solidFill>
                <a:latin typeface="Inconsolata"/>
              </a:rPr>
              <a:t>()</a:t>
            </a:r>
          </a:p>
          <a:p>
            <a:pPr>
              <a:lnSpc>
                <a:spcPct val="102868"/>
              </a:lnSpc>
              <a:spcAft>
                <a:spcPts val="0"/>
              </a:spcAft>
            </a:pPr>
            <a:r>
              <a:rPr sz="729" i="0">
                <a:solidFill>
                  <a:srgbClr val="5C6773"/>
                </a:solidFill>
                <a:latin typeface="Inconsolata"/>
              </a:rPr>
              <a:t>28  </a:t>
            </a:r>
            <a:r>
              <a:rPr sz="729" i="0">
                <a:solidFill>
                  <a:srgbClr val="7FDBCA"/>
                </a:solidFill>
                <a:latin typeface="Inconsolata"/>
              </a:rPr>
              <a:t>UNAUTHORIZED</a:t>
            </a:r>
            <a:r>
              <a:rPr sz="729" i="0">
                <a:solidFill>
                  <a:srgbClr val="E6EDF3"/>
                </a:solidFill>
                <a:latin typeface="Inconsolata"/>
              </a:rPr>
              <a:t> = </a:t>
            </a:r>
            <a:r>
              <a:rPr sz="729" i="0">
                <a:solidFill>
                  <a:srgbClr val="7FDBCA"/>
                </a:solidFill>
                <a:latin typeface="Inconsolata"/>
              </a:rPr>
              <a:t>HTTPException</a:t>
            </a:r>
            <a:r>
              <a:rPr sz="729" i="0">
                <a:solidFill>
                  <a:srgbClr val="E6EDF3"/>
                </a:solidFill>
                <a:latin typeface="Inconsolata"/>
              </a:rPr>
              <a:t>(</a:t>
            </a:r>
            <a:r>
              <a:rPr sz="729" i="0">
                <a:solidFill>
                  <a:srgbClr val="F9C97A"/>
                </a:solidFill>
                <a:latin typeface="Inconsolata"/>
              </a:rPr>
              <a:t>401</a:t>
            </a:r>
            <a:r>
              <a:rPr sz="729" i="0">
                <a:solidFill>
                  <a:srgbClr val="E6EDF3"/>
                </a:solidFill>
                <a:latin typeface="Inconsolata"/>
              </a:rPr>
              <a:t>, </a:t>
            </a:r>
            <a:r>
              <a:rPr sz="729" i="0">
                <a:solidFill>
                  <a:srgbClr val="A5D6A7"/>
                </a:solidFill>
                <a:latin typeface="Inconsolata"/>
              </a:rPr>
              <a:t>"token tidak valid"</a:t>
            </a:r>
            <a:r>
              <a:rPr sz="729" i="0">
                <a:solidFill>
                  <a:srgbClr val="E6EDF3"/>
                </a:solidFill>
                <a:latin typeface="Inconsolata"/>
              </a:rPr>
              <a:t>,</a:t>
            </a:r>
          </a:p>
          <a:p>
            <a:pPr>
              <a:lnSpc>
                <a:spcPct val="102868"/>
              </a:lnSpc>
              <a:spcAft>
                <a:spcPts val="0"/>
              </a:spcAft>
            </a:pPr>
            <a:r>
              <a:rPr sz="729" i="0">
                <a:solidFill>
                  <a:srgbClr val="5C6773"/>
                </a:solidFill>
                <a:latin typeface="Inconsolata"/>
              </a:rPr>
              <a:t>29  </a:t>
            </a:r>
            <a:r>
              <a:rPr sz="729" i="0">
                <a:solidFill>
                  <a:srgbClr val="E6EDF3"/>
                </a:solidFill>
                <a:latin typeface="Inconsolata"/>
              </a:rPr>
              <a:t>                             headers={</a:t>
            </a:r>
            <a:r>
              <a:rPr sz="729" i="0">
                <a:solidFill>
                  <a:srgbClr val="A5D6A7"/>
                </a:solidFill>
                <a:latin typeface="Inconsolata"/>
              </a:rPr>
              <a:t>"WWW-Authenticate"</a:t>
            </a:r>
            <a:r>
              <a:rPr sz="729" i="0">
                <a:solidFill>
                  <a:srgbClr val="E6EDF3"/>
                </a:solidFill>
                <a:latin typeface="Inconsolata"/>
              </a:rPr>
              <a:t>: </a:t>
            </a:r>
            <a:r>
              <a:rPr sz="729" i="0">
                <a:solidFill>
                  <a:srgbClr val="A5D6A7"/>
                </a:solidFill>
                <a:latin typeface="Inconsolata"/>
              </a:rPr>
              <a:t>"Bearer"</a:t>
            </a:r>
            <a:r>
              <a:rPr sz="729"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05-oauth2-bearer/after.py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2868"/>
              </a:lnSpc>
              <a:spcAft>
                <a:spcPts val="0"/>
              </a:spcAft>
            </a:pPr>
            <a:r>
              <a:rPr sz="729" i="0">
                <a:solidFill>
                  <a:srgbClr val="5C6773"/>
                </a:solidFill>
                <a:latin typeface="Inconsolata"/>
              </a:rPr>
              <a:t>32  </a:t>
            </a:r>
            <a:r>
              <a:rPr sz="729" i="0">
                <a:solidFill>
                  <a:srgbClr val="F9C97A"/>
                </a:solidFill>
                <a:latin typeface="Inconsolata"/>
              </a:rPr>
              <a:t>@app.post</a:t>
            </a:r>
            <a:r>
              <a:rPr sz="729" i="0">
                <a:solidFill>
                  <a:srgbClr val="E6EDF3"/>
                </a:solidFill>
                <a:latin typeface="Inconsolata"/>
              </a:rPr>
              <a:t>(</a:t>
            </a:r>
            <a:r>
              <a:rPr sz="729" i="0">
                <a:solidFill>
                  <a:srgbClr val="A5D6A7"/>
                </a:solidFill>
                <a:latin typeface="Inconsolata"/>
              </a:rPr>
              <a:t>"/token"</a:t>
            </a:r>
            <a:r>
              <a:rPr sz="729" i="0">
                <a:solidFill>
                  <a:srgbClr val="E6EDF3"/>
                </a:solidFill>
                <a:latin typeface="Inconsolata"/>
              </a:rPr>
              <a:t>)</a:t>
            </a:r>
          </a:p>
          <a:p>
            <a:pPr>
              <a:lnSpc>
                <a:spcPct val="102868"/>
              </a:lnSpc>
              <a:spcAft>
                <a:spcPts val="0"/>
              </a:spcAft>
            </a:pPr>
            <a:r>
              <a:rPr sz="729" i="0">
                <a:solidFill>
                  <a:srgbClr val="5C6773"/>
                </a:solidFill>
                <a:latin typeface="Inconsolata"/>
              </a:rPr>
              <a:t>33  </a:t>
            </a:r>
            <a:r>
              <a:rPr sz="729" i="0">
                <a:solidFill>
                  <a:srgbClr val="FF8E6E"/>
                </a:solidFill>
                <a:latin typeface="Inconsolata"/>
              </a:rPr>
              <a:t>def</a:t>
            </a:r>
            <a:r>
              <a:rPr sz="729" i="0">
                <a:solidFill>
                  <a:srgbClr val="E6EDF3"/>
                </a:solidFill>
                <a:latin typeface="Inconsolata"/>
              </a:rPr>
              <a:t> </a:t>
            </a:r>
            <a:r>
              <a:rPr sz="729" i="0">
                <a:solidFill>
                  <a:srgbClr val="82B1FF"/>
                </a:solidFill>
                <a:latin typeface="Inconsolata"/>
              </a:rPr>
              <a:t>login</a:t>
            </a:r>
            <a:r>
              <a:rPr sz="729" i="0">
                <a:solidFill>
                  <a:srgbClr val="E6EDF3"/>
                </a:solidFill>
                <a:latin typeface="Inconsolata"/>
              </a:rPr>
              <a:t>(form: </a:t>
            </a:r>
            <a:r>
              <a:rPr sz="729" i="0">
                <a:solidFill>
                  <a:srgbClr val="7FDBCA"/>
                </a:solidFill>
                <a:latin typeface="Inconsolata"/>
              </a:rPr>
              <a:t>OAuth2PasswordRequestForm</a:t>
            </a:r>
            <a:r>
              <a:rPr sz="729" i="0">
                <a:solidFill>
                  <a:srgbClr val="E6EDF3"/>
                </a:solidFill>
                <a:latin typeface="Inconsolata"/>
              </a:rPr>
              <a:t> = </a:t>
            </a:r>
            <a:r>
              <a:rPr sz="729" i="0">
                <a:solidFill>
                  <a:srgbClr val="7FDBCA"/>
                </a:solidFill>
                <a:latin typeface="Inconsolata"/>
              </a:rPr>
              <a:t>Depends</a:t>
            </a:r>
            <a:r>
              <a:rPr sz="729" i="0">
                <a:solidFill>
                  <a:srgbClr val="E6EDF3"/>
                </a:solidFill>
                <a:latin typeface="Inconsolata"/>
              </a:rPr>
              <a:t>()):</a:t>
            </a:r>
          </a:p>
          <a:p>
            <a:pPr>
              <a:lnSpc>
                <a:spcPct val="102868"/>
              </a:lnSpc>
              <a:spcAft>
                <a:spcPts val="0"/>
              </a:spcAft>
            </a:pPr>
            <a:r>
              <a:rPr sz="729" i="0">
                <a:solidFill>
                  <a:srgbClr val="5C6773"/>
                </a:solidFill>
                <a:latin typeface="Inconsolata"/>
              </a:rPr>
              <a:t>34  </a:t>
            </a:r>
            <a:r>
              <a:rPr sz="729" i="0">
                <a:solidFill>
                  <a:srgbClr val="E6EDF3"/>
                </a:solidFill>
                <a:latin typeface="Inconsolata"/>
              </a:rPr>
              <a:t>    user = </a:t>
            </a:r>
            <a:r>
              <a:rPr sz="729" i="0">
                <a:solidFill>
                  <a:srgbClr val="7FDBCA"/>
                </a:solidFill>
                <a:latin typeface="Inconsolata"/>
              </a:rPr>
              <a:t>USERS</a:t>
            </a:r>
            <a:r>
              <a:rPr sz="729" i="0">
                <a:solidFill>
                  <a:srgbClr val="E6EDF3"/>
                </a:solidFill>
                <a:latin typeface="Inconsolata"/>
              </a:rPr>
              <a:t>.get(form.username)</a:t>
            </a:r>
          </a:p>
          <a:p>
            <a:pPr>
              <a:lnSpc>
                <a:spcPct val="102868"/>
              </a:lnSpc>
              <a:spcAft>
                <a:spcPts val="0"/>
              </a:spcAft>
            </a:pPr>
            <a:r>
              <a:rPr sz="729" i="0">
                <a:solidFill>
                  <a:srgbClr val="5C6773"/>
                </a:solidFill>
                <a:latin typeface="Inconsolata"/>
              </a:rPr>
              <a:t>35  </a:t>
            </a:r>
            <a:r>
              <a:rPr sz="729" i="0">
                <a:solidFill>
                  <a:srgbClr val="E6EDF3"/>
                </a:solidFill>
                <a:latin typeface="Inconsolata"/>
              </a:rPr>
              <a:t>    </a:t>
            </a:r>
            <a:r>
              <a:rPr sz="729" i="0">
                <a:solidFill>
                  <a:srgbClr val="FF8E6E"/>
                </a:solidFill>
                <a:latin typeface="Inconsolata"/>
              </a:rPr>
              <a:t>if</a:t>
            </a:r>
            <a:r>
              <a:rPr sz="729" i="0">
                <a:solidFill>
                  <a:srgbClr val="E6EDF3"/>
                </a:solidFill>
                <a:latin typeface="Inconsolata"/>
              </a:rPr>
              <a:t> user </a:t>
            </a:r>
            <a:r>
              <a:rPr sz="729" i="0">
                <a:solidFill>
                  <a:srgbClr val="FF8E6E"/>
                </a:solidFill>
                <a:latin typeface="Inconsolata"/>
              </a:rPr>
              <a:t>is</a:t>
            </a:r>
            <a:r>
              <a:rPr sz="729" i="0">
                <a:solidFill>
                  <a:srgbClr val="E6EDF3"/>
                </a:solidFill>
                <a:latin typeface="Inconsolata"/>
              </a:rPr>
              <a:t> </a:t>
            </a:r>
            <a:r>
              <a:rPr sz="729" i="0">
                <a:solidFill>
                  <a:srgbClr val="FF8E6E"/>
                </a:solidFill>
                <a:latin typeface="Inconsolata"/>
              </a:rPr>
              <a:t>None</a:t>
            </a:r>
            <a:r>
              <a:rPr sz="729" i="0">
                <a:solidFill>
                  <a:srgbClr val="E6EDF3"/>
                </a:solidFill>
                <a:latin typeface="Inconsolata"/>
              </a:rPr>
              <a:t> </a:t>
            </a:r>
            <a:r>
              <a:rPr sz="729" i="0">
                <a:solidFill>
                  <a:srgbClr val="FF8E6E"/>
                </a:solidFill>
                <a:latin typeface="Inconsolata"/>
              </a:rPr>
              <a:t>or</a:t>
            </a:r>
            <a:r>
              <a:rPr sz="729" i="0">
                <a:solidFill>
                  <a:srgbClr val="E6EDF3"/>
                </a:solidFill>
                <a:latin typeface="Inconsolata"/>
              </a:rPr>
              <a:t> </a:t>
            </a:r>
            <a:r>
              <a:rPr sz="729" i="0">
                <a:solidFill>
                  <a:srgbClr val="FF8E6E"/>
                </a:solidFill>
                <a:latin typeface="Inconsolata"/>
              </a:rPr>
              <a:t>not</a:t>
            </a:r>
            <a:r>
              <a:rPr sz="729" i="0">
                <a:solidFill>
                  <a:srgbClr val="E6EDF3"/>
                </a:solidFill>
                <a:latin typeface="Inconsolata"/>
              </a:rPr>
              <a:t> hasher.verify(form.password,</a:t>
            </a:r>
          </a:p>
          <a:p>
            <a:pPr>
              <a:lnSpc>
                <a:spcPct val="102868"/>
              </a:lnSpc>
              <a:spcAft>
                <a:spcPts val="0"/>
              </a:spcAft>
            </a:pPr>
            <a:r>
              <a:rPr sz="729" i="0">
                <a:solidFill>
                  <a:srgbClr val="5C6773"/>
                </a:solidFill>
                <a:latin typeface="Inconsolata"/>
              </a:rPr>
              <a:t>36  </a:t>
            </a:r>
            <a:r>
              <a:rPr sz="729" i="0">
                <a:solidFill>
                  <a:srgbClr val="E6EDF3"/>
                </a:solidFill>
                <a:latin typeface="Inconsolata"/>
              </a:rPr>
              <a:t>                                         user[</a:t>
            </a:r>
            <a:r>
              <a:rPr sz="729" i="0">
                <a:solidFill>
                  <a:srgbClr val="A5D6A7"/>
                </a:solidFill>
                <a:latin typeface="Inconsolata"/>
              </a:rPr>
              <a:t>"password_hash"</a:t>
            </a:r>
            <a:r>
              <a:rPr sz="729" i="0">
                <a:solidFill>
                  <a:srgbClr val="E6EDF3"/>
                </a:solidFill>
                <a:latin typeface="Inconsolata"/>
              </a:rPr>
              <a:t>]):</a:t>
            </a:r>
          </a:p>
          <a:p>
            <a:pPr>
              <a:lnSpc>
                <a:spcPct val="102868"/>
              </a:lnSpc>
              <a:spcAft>
                <a:spcPts val="0"/>
              </a:spcAft>
            </a:pPr>
            <a:r>
              <a:rPr sz="729" i="0">
                <a:solidFill>
                  <a:srgbClr val="5C6773"/>
                </a:solidFill>
                <a:latin typeface="Inconsolata"/>
              </a:rPr>
              <a:t>37  </a:t>
            </a:r>
            <a:r>
              <a:rPr sz="729" i="0">
                <a:solidFill>
                  <a:srgbClr val="E6EDF3"/>
                </a:solidFill>
                <a:latin typeface="Inconsolata"/>
              </a:rPr>
              <a:t>        </a:t>
            </a:r>
            <a:r>
              <a:rPr sz="729" i="0">
                <a:solidFill>
                  <a:srgbClr val="FF8E6E"/>
                </a:solidFill>
                <a:latin typeface="Inconsolata"/>
              </a:rPr>
              <a:t>raise</a:t>
            </a:r>
            <a:r>
              <a:rPr sz="729" i="0">
                <a:solidFill>
                  <a:srgbClr val="E6EDF3"/>
                </a:solidFill>
                <a:latin typeface="Inconsolata"/>
              </a:rPr>
              <a:t> </a:t>
            </a:r>
            <a:r>
              <a:rPr sz="729" i="0">
                <a:solidFill>
                  <a:srgbClr val="7FDBCA"/>
                </a:solidFill>
                <a:latin typeface="Inconsolata"/>
              </a:rPr>
              <a:t>HTTPException</a:t>
            </a:r>
            <a:r>
              <a:rPr sz="729" i="0">
                <a:solidFill>
                  <a:srgbClr val="E6EDF3"/>
                </a:solidFill>
                <a:latin typeface="Inconsolata"/>
              </a:rPr>
              <a:t>(</a:t>
            </a:r>
            <a:r>
              <a:rPr sz="729" i="0">
                <a:solidFill>
                  <a:srgbClr val="F9C97A"/>
                </a:solidFill>
                <a:latin typeface="Inconsolata"/>
              </a:rPr>
              <a:t>401</a:t>
            </a:r>
            <a:r>
              <a:rPr sz="729" i="0">
                <a:solidFill>
                  <a:srgbClr val="E6EDF3"/>
                </a:solidFill>
                <a:latin typeface="Inconsolata"/>
              </a:rPr>
              <a:t>, </a:t>
            </a:r>
            <a:r>
              <a:rPr sz="729" i="0">
                <a:solidFill>
                  <a:srgbClr val="A5D6A7"/>
                </a:solidFill>
                <a:latin typeface="Inconsolata"/>
              </a:rPr>
              <a:t>"email atau password salah"</a:t>
            </a:r>
            <a:r>
              <a:rPr sz="729" i="0">
                <a:solidFill>
                  <a:srgbClr val="E6EDF3"/>
                </a:solidFill>
                <a:latin typeface="Inconsolata"/>
              </a:rPr>
              <a:t>)</a:t>
            </a:r>
          </a:p>
          <a:p>
            <a:pPr>
              <a:lnSpc>
                <a:spcPct val="102868"/>
              </a:lnSpc>
              <a:spcAft>
                <a:spcPts val="0"/>
              </a:spcAft>
            </a:pPr>
            <a:r>
              <a:rPr sz="729" i="0">
                <a:solidFill>
                  <a:srgbClr val="5C6773"/>
                </a:solidFill>
                <a:latin typeface="Inconsolata"/>
              </a:rPr>
              <a:t>38  </a:t>
            </a:r>
            <a:r>
              <a:rPr sz="729" i="0">
                <a:solidFill>
                  <a:srgbClr val="E6EDF3"/>
                </a:solidFill>
                <a:latin typeface="Inconsolata"/>
              </a:rPr>
              <a:t>    exp = datetime.now(timezone.utc) + timedelta(minutes=</a:t>
            </a:r>
            <a:r>
              <a:rPr sz="729" i="0">
                <a:solidFill>
                  <a:srgbClr val="F9C97A"/>
                </a:solidFill>
                <a:latin typeface="Inconsolata"/>
              </a:rPr>
              <a:t>30</a:t>
            </a:r>
            <a:r>
              <a:rPr sz="729" i="0">
                <a:solidFill>
                  <a:srgbClr val="E6EDF3"/>
                </a:solidFill>
                <a:latin typeface="Inconsolata"/>
              </a:rPr>
              <a:t>)</a:t>
            </a:r>
          </a:p>
          <a:p>
            <a:pPr>
              <a:lnSpc>
                <a:spcPct val="102868"/>
              </a:lnSpc>
              <a:spcAft>
                <a:spcPts val="0"/>
              </a:spcAft>
            </a:pPr>
            <a:r>
              <a:rPr sz="729" i="0">
                <a:solidFill>
                  <a:srgbClr val="5C6773"/>
                </a:solidFill>
                <a:latin typeface="Inconsolata"/>
              </a:rPr>
              <a:t>39  </a:t>
            </a:r>
            <a:r>
              <a:rPr sz="729" i="0">
                <a:solidFill>
                  <a:srgbClr val="E6EDF3"/>
                </a:solidFill>
                <a:latin typeface="Inconsolata"/>
              </a:rPr>
              <a:t>    token = jwt.encode({</a:t>
            </a:r>
            <a:r>
              <a:rPr sz="729" i="0">
                <a:solidFill>
                  <a:srgbClr val="A5D6A7"/>
                </a:solidFill>
                <a:latin typeface="Inconsolata"/>
              </a:rPr>
              <a:t>"sub"</a:t>
            </a:r>
            <a:r>
              <a:rPr sz="729" i="0">
                <a:solidFill>
                  <a:srgbClr val="E6EDF3"/>
                </a:solidFill>
                <a:latin typeface="Inconsolata"/>
              </a:rPr>
              <a:t>: form.username, </a:t>
            </a:r>
            <a:r>
              <a:rPr sz="729" i="0">
                <a:solidFill>
                  <a:srgbClr val="A5D6A7"/>
                </a:solidFill>
                <a:latin typeface="Inconsolata"/>
              </a:rPr>
              <a:t>"role"</a:t>
            </a:r>
            <a:r>
              <a:rPr sz="729" i="0">
                <a:solidFill>
                  <a:srgbClr val="E6EDF3"/>
                </a:solidFill>
                <a:latin typeface="Inconsolata"/>
              </a:rPr>
              <a:t>: user[</a:t>
            </a:r>
            <a:r>
              <a:rPr sz="729" i="0">
                <a:solidFill>
                  <a:srgbClr val="A5D6A7"/>
                </a:solidFill>
                <a:latin typeface="Inconsolata"/>
              </a:rPr>
              <a:t>"role"</a:t>
            </a:r>
            <a:r>
              <a:rPr sz="729" i="0">
                <a:solidFill>
                  <a:srgbClr val="E6EDF3"/>
                </a:solidFill>
                <a:latin typeface="Inconsolata"/>
              </a:rPr>
              <a:t>],</a:t>
            </a:r>
          </a:p>
          <a:p>
            <a:pPr>
              <a:lnSpc>
                <a:spcPct val="102868"/>
              </a:lnSpc>
              <a:spcAft>
                <a:spcPts val="0"/>
              </a:spcAft>
            </a:pPr>
            <a:r>
              <a:rPr sz="729" i="0">
                <a:solidFill>
                  <a:srgbClr val="5C6773"/>
                </a:solidFill>
                <a:latin typeface="Inconsolata"/>
              </a:rPr>
              <a:t>40  </a:t>
            </a:r>
            <a:r>
              <a:rPr sz="729" i="0">
                <a:solidFill>
                  <a:srgbClr val="E6EDF3"/>
                </a:solidFill>
                <a:latin typeface="Inconsolata"/>
              </a:rPr>
              <a:t>                        </a:t>
            </a:r>
            <a:r>
              <a:rPr sz="729" i="0">
                <a:solidFill>
                  <a:srgbClr val="A5D6A7"/>
                </a:solidFill>
                <a:latin typeface="Inconsolata"/>
              </a:rPr>
              <a:t>"exp"</a:t>
            </a:r>
            <a:r>
              <a:rPr sz="729" i="0">
                <a:solidFill>
                  <a:srgbClr val="E6EDF3"/>
                </a:solidFill>
                <a:latin typeface="Inconsolata"/>
              </a:rPr>
              <a:t>: exp}, </a:t>
            </a:r>
            <a:r>
              <a:rPr sz="729" i="0">
                <a:solidFill>
                  <a:srgbClr val="7FDBCA"/>
                </a:solidFill>
                <a:latin typeface="Inconsolata"/>
              </a:rPr>
              <a:t>SECRET</a:t>
            </a:r>
            <a:r>
              <a:rPr sz="729" i="0">
                <a:solidFill>
                  <a:srgbClr val="E6EDF3"/>
                </a:solidFill>
                <a:latin typeface="Inconsolata"/>
              </a:rPr>
              <a:t>, algorithm=</a:t>
            </a:r>
            <a:r>
              <a:rPr sz="729" i="0">
                <a:solidFill>
                  <a:srgbClr val="A5D6A7"/>
                </a:solidFill>
                <a:latin typeface="Inconsolata"/>
              </a:rPr>
              <a:t>"HS256"</a:t>
            </a:r>
            <a:r>
              <a:rPr sz="729" i="0">
                <a:solidFill>
                  <a:srgbClr val="E6EDF3"/>
                </a:solidFill>
                <a:latin typeface="Inconsolata"/>
              </a:rPr>
              <a:t>)</a:t>
            </a:r>
          </a:p>
          <a:p>
            <a:pPr>
              <a:lnSpc>
                <a:spcPct val="102868"/>
              </a:lnSpc>
              <a:spcAft>
                <a:spcPts val="0"/>
              </a:spcAft>
            </a:pPr>
            <a:r>
              <a:rPr sz="729" i="0">
                <a:solidFill>
                  <a:srgbClr val="5C6773"/>
                </a:solidFill>
                <a:latin typeface="Inconsolata"/>
              </a:rPr>
              <a:t>41  </a:t>
            </a:r>
            <a:r>
              <a:rPr sz="729" i="0">
                <a:solidFill>
                  <a:srgbClr val="E6EDF3"/>
                </a:solidFill>
                <a:latin typeface="Inconsolata"/>
              </a:rPr>
              <a:t>    </a:t>
            </a:r>
            <a:r>
              <a:rPr sz="729" i="0">
                <a:solidFill>
                  <a:srgbClr val="FF8E6E"/>
                </a:solidFill>
                <a:latin typeface="Inconsolata"/>
              </a:rPr>
              <a:t>return</a:t>
            </a:r>
            <a:r>
              <a:rPr sz="729" i="0">
                <a:solidFill>
                  <a:srgbClr val="E6EDF3"/>
                </a:solidFill>
                <a:latin typeface="Inconsolata"/>
              </a:rPr>
              <a:t> {</a:t>
            </a:r>
            <a:r>
              <a:rPr sz="729" i="0">
                <a:solidFill>
                  <a:srgbClr val="A5D6A7"/>
                </a:solidFill>
                <a:latin typeface="Inconsolata"/>
              </a:rPr>
              <a:t>"access_token"</a:t>
            </a:r>
            <a:r>
              <a:rPr sz="729" i="0">
                <a:solidFill>
                  <a:srgbClr val="E6EDF3"/>
                </a:solidFill>
                <a:latin typeface="Inconsolata"/>
              </a:rPr>
              <a:t>: token, </a:t>
            </a:r>
            <a:r>
              <a:rPr sz="729" i="0">
                <a:solidFill>
                  <a:srgbClr val="A5D6A7"/>
                </a:solidFill>
                <a:latin typeface="Inconsolata"/>
              </a:rPr>
              <a:t>"token_type"</a:t>
            </a:r>
            <a:r>
              <a:rPr sz="729" i="0">
                <a:solidFill>
                  <a:srgbClr val="E6EDF3"/>
                </a:solidFill>
                <a:latin typeface="Inconsolata"/>
              </a:rPr>
              <a:t>: </a:t>
            </a:r>
            <a:r>
              <a:rPr sz="729" i="0">
                <a:solidFill>
                  <a:srgbClr val="A5D6A7"/>
                </a:solidFill>
                <a:latin typeface="Inconsolata"/>
              </a:rPr>
              <a:t>"bearer"</a:t>
            </a:r>
            <a:r>
              <a:rPr sz="729" i="0">
                <a:solidFill>
                  <a:srgbClr val="E6EDF3"/>
                </a:solidFill>
                <a:latin typeface="Inconsolata"/>
              </a:rPr>
              <a:t>}</a:t>
            </a:r>
          </a:p>
        </p:txBody>
      </p:sp>
      <p:sp>
        <p:nvSpPr>
          <p:cNvPr id="36" name="Box 21"/>
          <p:cNvSpPr/>
          <p:nvPr/>
        </p:nvSpPr>
        <p:spPr>
          <a:xfrm>
            <a:off x="704088" y="2968371"/>
            <a:ext cx="3694176" cy="450342"/>
          </a:xfrm>
          <a:prstGeom prst="roundRect">
            <a:avLst>
              <a:gd name="adj" fmla="val 10152"/>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0746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1825371"/>
            <a:ext cx="3694176" cy="1136142"/>
          </a:xfrm>
          <a:prstGeom prst="roundRect">
            <a:avLst>
              <a:gd name="adj" fmla="val 402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2745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OAuth2 Bearer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Argon2, POST /token, dan header Bearer (2/2)</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05-oauth2-bearer/after.py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7095"/>
              </a:lnSpc>
              <a:spcAft>
                <a:spcPts val="0"/>
              </a:spcAft>
            </a:pPr>
            <a:r>
              <a:rPr sz="700" i="0">
                <a:solidFill>
                  <a:srgbClr val="5C6773"/>
                </a:solidFill>
                <a:latin typeface="Inconsolata"/>
              </a:rPr>
              <a:t>44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current_user</a:t>
            </a:r>
            <a:r>
              <a:rPr sz="700" i="0">
                <a:solidFill>
                  <a:srgbClr val="E6EDF3"/>
                </a:solidFill>
                <a:latin typeface="Inconsolata"/>
              </a:rPr>
              <a:t>(token: </a:t>
            </a:r>
            <a:r>
              <a:rPr sz="700" i="0">
                <a:solidFill>
                  <a:srgbClr val="C3A6FF"/>
                </a:solidFill>
                <a:latin typeface="Inconsolata"/>
              </a:rPr>
              <a:t>str</a:t>
            </a:r>
            <a:r>
              <a:rPr sz="700" i="0">
                <a:solidFill>
                  <a:srgbClr val="E6EDF3"/>
                </a:solidFill>
                <a:latin typeface="Inconsolata"/>
              </a:rPr>
              <a:t> = </a:t>
            </a:r>
            <a:r>
              <a:rPr sz="700" i="0">
                <a:solidFill>
                  <a:srgbClr val="7FDBCA"/>
                </a:solidFill>
                <a:latin typeface="Inconsolata"/>
              </a:rPr>
              <a:t>Depends</a:t>
            </a:r>
            <a:r>
              <a:rPr sz="700" i="0">
                <a:solidFill>
                  <a:srgbClr val="E6EDF3"/>
                </a:solidFill>
                <a:latin typeface="Inconsolata"/>
              </a:rPr>
              <a:t>(oauth2_scheme)) -&gt; </a:t>
            </a:r>
            <a:r>
              <a:rPr sz="700" i="0">
                <a:solidFill>
                  <a:srgbClr val="C3A6FF"/>
                </a:solidFill>
                <a:latin typeface="Inconsolata"/>
              </a:rPr>
              <a:t>dict</a:t>
            </a:r>
            <a:r>
              <a:rPr sz="700" i="0">
                <a:solidFill>
                  <a:srgbClr val="E6EDF3"/>
                </a:solidFill>
                <a:latin typeface="Inconsolata"/>
              </a:rPr>
              <a:t>:</a:t>
            </a:r>
          </a:p>
          <a:p>
            <a:pPr>
              <a:lnSpc>
                <a:spcPct val="107095"/>
              </a:lnSpc>
              <a:spcAft>
                <a:spcPts val="0"/>
              </a:spcAft>
            </a:pPr>
            <a:r>
              <a:rPr sz="700" i="0">
                <a:solidFill>
                  <a:srgbClr val="5C6773"/>
                </a:solidFill>
                <a:latin typeface="Inconsolata"/>
              </a:rPr>
              <a:t>45  </a:t>
            </a:r>
            <a:r>
              <a:rPr sz="700" i="0">
                <a:solidFill>
                  <a:srgbClr val="E6EDF3"/>
                </a:solidFill>
                <a:latin typeface="Inconsolata"/>
              </a:rPr>
              <a:t>    </a:t>
            </a:r>
            <a:r>
              <a:rPr sz="700" i="0">
                <a:solidFill>
                  <a:srgbClr val="FF8E6E"/>
                </a:solidFill>
                <a:latin typeface="Inconsolata"/>
              </a:rPr>
              <a:t>try</a:t>
            </a:r>
            <a:r>
              <a:rPr sz="700" i="0">
                <a:solidFill>
                  <a:srgbClr val="E6EDF3"/>
                </a:solidFill>
                <a:latin typeface="Inconsolata"/>
              </a:rPr>
              <a:t>:</a:t>
            </a:r>
          </a:p>
          <a:p>
            <a:pPr>
              <a:lnSpc>
                <a:spcPct val="107095"/>
              </a:lnSpc>
              <a:spcAft>
                <a:spcPts val="0"/>
              </a:spcAft>
            </a:pPr>
            <a:r>
              <a:rPr sz="700" i="0">
                <a:solidFill>
                  <a:srgbClr val="5C6773"/>
                </a:solidFill>
                <a:latin typeface="Inconsolata"/>
              </a:rPr>
              <a:t>46  </a:t>
            </a: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jwt.decode(token, </a:t>
            </a:r>
            <a:r>
              <a:rPr sz="700" i="0">
                <a:solidFill>
                  <a:srgbClr val="7FDBCA"/>
                </a:solidFill>
                <a:latin typeface="Inconsolata"/>
              </a:rPr>
              <a:t>SECRET</a:t>
            </a:r>
            <a:r>
              <a:rPr sz="700" i="0">
                <a:solidFill>
                  <a:srgbClr val="E6EDF3"/>
                </a:solidFill>
                <a:latin typeface="Inconsolata"/>
              </a:rPr>
              <a:t>, algorithms=[</a:t>
            </a:r>
            <a:r>
              <a:rPr sz="700" i="0">
                <a:solidFill>
                  <a:srgbClr val="A5D6A7"/>
                </a:solidFill>
                <a:latin typeface="Inconsolata"/>
              </a:rPr>
              <a:t>"HS256"</a:t>
            </a:r>
            <a:r>
              <a:rPr sz="700" i="0">
                <a:solidFill>
                  <a:srgbClr val="E6EDF3"/>
                </a:solidFill>
                <a:latin typeface="Inconsolata"/>
              </a:rPr>
              <a:t>])</a:t>
            </a:r>
          </a:p>
          <a:p>
            <a:pPr>
              <a:lnSpc>
                <a:spcPct val="107095"/>
              </a:lnSpc>
              <a:spcAft>
                <a:spcPts val="0"/>
              </a:spcAft>
            </a:pPr>
            <a:r>
              <a:rPr sz="700" i="0">
                <a:solidFill>
                  <a:srgbClr val="5C6773"/>
                </a:solidFill>
                <a:latin typeface="Inconsolata"/>
              </a:rPr>
              <a:t>47  </a:t>
            </a:r>
            <a:r>
              <a:rPr sz="700" i="0">
                <a:solidFill>
                  <a:srgbClr val="E6EDF3"/>
                </a:solidFill>
                <a:latin typeface="Inconsolata"/>
              </a:rPr>
              <a:t>    </a:t>
            </a:r>
            <a:r>
              <a:rPr sz="700" i="0">
                <a:solidFill>
                  <a:srgbClr val="FF8E6E"/>
                </a:solidFill>
                <a:latin typeface="Inconsolata"/>
              </a:rPr>
              <a:t>except</a:t>
            </a:r>
            <a:r>
              <a:rPr sz="700" i="0">
                <a:solidFill>
                  <a:srgbClr val="E6EDF3"/>
                </a:solidFill>
                <a:latin typeface="Inconsolata"/>
              </a:rPr>
              <a:t> jwt.</a:t>
            </a:r>
            <a:r>
              <a:rPr sz="700" i="0">
                <a:solidFill>
                  <a:srgbClr val="7FDBCA"/>
                </a:solidFill>
                <a:latin typeface="Inconsolata"/>
              </a:rPr>
              <a:t>InvalidTokenError</a:t>
            </a:r>
            <a:r>
              <a:rPr sz="700" i="0">
                <a:solidFill>
                  <a:srgbClr val="E6EDF3"/>
                </a:solidFill>
                <a:latin typeface="Inconsolata"/>
              </a:rPr>
              <a:t>:</a:t>
            </a:r>
          </a:p>
          <a:p>
            <a:pPr>
              <a:lnSpc>
                <a:spcPct val="107095"/>
              </a:lnSpc>
              <a:spcAft>
                <a:spcPts val="0"/>
              </a:spcAft>
            </a:pPr>
            <a:r>
              <a:rPr sz="700" i="0">
                <a:solidFill>
                  <a:srgbClr val="5C6773"/>
                </a:solidFill>
                <a:latin typeface="Inconsolata"/>
              </a:rPr>
              <a:t>48  </a:t>
            </a:r>
            <a:r>
              <a:rPr sz="700" i="0">
                <a:solidFill>
                  <a:srgbClr val="E6EDF3"/>
                </a:solidFill>
                <a:latin typeface="Inconsolata"/>
              </a:rPr>
              <a:t>        </a:t>
            </a:r>
            <a:r>
              <a:rPr sz="700" i="0">
                <a:solidFill>
                  <a:srgbClr val="FF8E6E"/>
                </a:solidFill>
                <a:latin typeface="Inconsolata"/>
              </a:rPr>
              <a:t>raise</a:t>
            </a:r>
            <a:r>
              <a:rPr sz="700" i="0">
                <a:solidFill>
                  <a:srgbClr val="E6EDF3"/>
                </a:solidFill>
                <a:latin typeface="Inconsolata"/>
              </a:rPr>
              <a:t> </a:t>
            </a:r>
            <a:r>
              <a:rPr sz="700" i="0">
                <a:solidFill>
                  <a:srgbClr val="7FDBCA"/>
                </a:solidFill>
                <a:latin typeface="Inconsolata"/>
              </a:rPr>
              <a:t>UNAUTHORIZED</a:t>
            </a:r>
          </a:p>
          <a:p>
            <a:pPr>
              <a:lnSpc>
                <a:spcPct val="107095"/>
              </a:lnSpc>
              <a:spcAft>
                <a:spcPts val="0"/>
              </a:spcAft>
            </a:pPr>
            <a:r>
              <a:rPr sz="700" i="0">
                <a:solidFill>
                  <a:srgbClr val="5C6773"/>
                </a:solidFill>
                <a:latin typeface="Inconsolata"/>
              </a:rPr>
              <a:t>49  </a:t>
            </a:r>
            <a:r>
              <a:rPr sz="700" i="0">
                <a:solidFill>
                  <a:srgbClr val="E6EDF3"/>
                </a:solidFill>
                <a:latin typeface="Inconsolata"/>
              </a:rPr>
              <a:t> </a:t>
            </a:r>
          </a:p>
          <a:p>
            <a:pPr>
              <a:lnSpc>
                <a:spcPct val="107095"/>
              </a:lnSpc>
              <a:spcAft>
                <a:spcPts val="0"/>
              </a:spcAft>
            </a:pPr>
            <a:r>
              <a:rPr sz="700" i="0">
                <a:solidFill>
                  <a:srgbClr val="5C6773"/>
                </a:solidFill>
                <a:latin typeface="Inconsolata"/>
              </a:rPr>
              <a:t>50  </a:t>
            </a:r>
            <a:r>
              <a:rPr sz="700" i="0">
                <a:solidFill>
                  <a:srgbClr val="E6EDF3"/>
                </a:solidFill>
                <a:latin typeface="Inconsolata"/>
              </a:rPr>
              <a:t> </a:t>
            </a:r>
          </a:p>
          <a:p>
            <a:pPr>
              <a:lnSpc>
                <a:spcPct val="107095"/>
              </a:lnSpc>
              <a:spcAft>
                <a:spcPts val="0"/>
              </a:spcAft>
            </a:pPr>
            <a:r>
              <a:rPr sz="700" i="0">
                <a:solidFill>
                  <a:srgbClr val="5C6773"/>
                </a:solidFill>
                <a:latin typeface="Inconsolata"/>
              </a:rPr>
              <a:t>51  </a:t>
            </a:r>
            <a:r>
              <a:rPr sz="700" i="0">
                <a:solidFill>
                  <a:srgbClr val="F9C97A"/>
                </a:solidFill>
                <a:latin typeface="Inconsolata"/>
              </a:rPr>
              <a:t>@app.get</a:t>
            </a:r>
            <a:r>
              <a:rPr sz="700" i="0">
                <a:solidFill>
                  <a:srgbClr val="E6EDF3"/>
                </a:solidFill>
                <a:latin typeface="Inconsolata"/>
              </a:rPr>
              <a:t>(</a:t>
            </a:r>
            <a:r>
              <a:rPr sz="700" i="0">
                <a:solidFill>
                  <a:srgbClr val="A5D6A7"/>
                </a:solidFill>
                <a:latin typeface="Inconsolata"/>
              </a:rPr>
              <a:t>"/me"</a:t>
            </a:r>
            <a:r>
              <a:rPr sz="700" i="0">
                <a:solidFill>
                  <a:srgbClr val="E6EDF3"/>
                </a:solidFill>
                <a:latin typeface="Inconsolata"/>
              </a:rPr>
              <a:t>)</a:t>
            </a:r>
          </a:p>
          <a:p>
            <a:pPr>
              <a:lnSpc>
                <a:spcPct val="107095"/>
              </a:lnSpc>
              <a:spcAft>
                <a:spcPts val="0"/>
              </a:spcAft>
            </a:pPr>
            <a:r>
              <a:rPr sz="700" i="0">
                <a:solidFill>
                  <a:srgbClr val="5C6773"/>
                </a:solidFill>
                <a:latin typeface="Inconsolata"/>
              </a:rPr>
              <a:t>52  </a:t>
            </a: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me</a:t>
            </a:r>
            <a:r>
              <a:rPr sz="700" i="0">
                <a:solidFill>
                  <a:srgbClr val="E6EDF3"/>
                </a:solidFill>
                <a:latin typeface="Inconsolata"/>
              </a:rPr>
              <a:t>(user: </a:t>
            </a:r>
            <a:r>
              <a:rPr sz="700" i="0">
                <a:solidFill>
                  <a:srgbClr val="C3A6FF"/>
                </a:solidFill>
                <a:latin typeface="Inconsolata"/>
              </a:rPr>
              <a:t>dict</a:t>
            </a:r>
            <a:r>
              <a:rPr sz="700" i="0">
                <a:solidFill>
                  <a:srgbClr val="E6EDF3"/>
                </a:solidFill>
                <a:latin typeface="Inconsolata"/>
              </a:rPr>
              <a:t> = </a:t>
            </a:r>
            <a:r>
              <a:rPr sz="700" i="0">
                <a:solidFill>
                  <a:srgbClr val="7FDBCA"/>
                </a:solidFill>
                <a:latin typeface="Inconsolata"/>
              </a:rPr>
              <a:t>Depends</a:t>
            </a:r>
            <a:r>
              <a:rPr sz="700" i="0">
                <a:solidFill>
                  <a:srgbClr val="E6EDF3"/>
                </a:solidFill>
                <a:latin typeface="Inconsolata"/>
              </a:rPr>
              <a:t>(current_user)):</a:t>
            </a:r>
          </a:p>
          <a:p>
            <a:pPr>
              <a:lnSpc>
                <a:spcPct val="107095"/>
              </a:lnSpc>
              <a:spcAft>
                <a:spcPts val="0"/>
              </a:spcAft>
            </a:pPr>
            <a:r>
              <a:rPr sz="700" i="0">
                <a:solidFill>
                  <a:srgbClr val="5C6773"/>
                </a:solidFill>
                <a:latin typeface="Inconsolata"/>
              </a:rPr>
              <a:t>53  </a:t>
            </a: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a:t>
            </a:r>
            <a:r>
              <a:rPr sz="700" i="0">
                <a:solidFill>
                  <a:srgbClr val="A5D6A7"/>
                </a:solidFill>
                <a:latin typeface="Inconsolata"/>
              </a:rPr>
              <a:t>"email"</a:t>
            </a:r>
            <a:r>
              <a:rPr sz="700" i="0">
                <a:solidFill>
                  <a:srgbClr val="E6EDF3"/>
                </a:solidFill>
                <a:latin typeface="Inconsolata"/>
              </a:rPr>
              <a:t>: user[</a:t>
            </a:r>
            <a:r>
              <a:rPr sz="700" i="0">
                <a:solidFill>
                  <a:srgbClr val="A5D6A7"/>
                </a:solidFill>
                <a:latin typeface="Inconsolata"/>
              </a:rPr>
              <a:t>"sub"</a:t>
            </a:r>
            <a:r>
              <a:rPr sz="700" i="0">
                <a:solidFill>
                  <a:srgbClr val="E6EDF3"/>
                </a:solidFill>
                <a:latin typeface="Inconsolata"/>
              </a:rPr>
              <a:t>], </a:t>
            </a:r>
            <a:r>
              <a:rPr sz="700" i="0">
                <a:solidFill>
                  <a:srgbClr val="A5D6A7"/>
                </a:solidFill>
                <a:latin typeface="Inconsolata"/>
              </a:rPr>
              <a:t>"role"</a:t>
            </a:r>
            <a:r>
              <a:rPr sz="700" i="0">
                <a:solidFill>
                  <a:srgbClr val="E6EDF3"/>
                </a:solidFill>
                <a:latin typeface="Inconsolata"/>
              </a:rPr>
              <a:t>: user[</a:t>
            </a:r>
            <a:r>
              <a:rPr sz="700" i="0">
                <a:solidFill>
                  <a:srgbClr val="A5D6A7"/>
                </a:solidFill>
                <a:latin typeface="Inconsolata"/>
              </a:rPr>
              <a:t>"role"</a:t>
            </a:r>
            <a:r>
              <a:rPr sz="700"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05-oauth2-bearer/after.py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7095"/>
              </a:lnSpc>
              <a:spcAft>
                <a:spcPts val="0"/>
              </a:spcAft>
            </a:pPr>
            <a:r>
              <a:rPr sz="700" i="0">
                <a:solidFill>
                  <a:srgbClr val="5C6773"/>
                </a:solidFill>
                <a:latin typeface="Inconsolata"/>
              </a:rPr>
              <a:t>56  </a:t>
            </a:r>
            <a:r>
              <a:rPr sz="700" i="0">
                <a:solidFill>
                  <a:srgbClr val="FF8E6E"/>
                </a:solidFill>
                <a:latin typeface="Inconsolata"/>
              </a:rPr>
              <a:t>if</a:t>
            </a:r>
            <a:r>
              <a:rPr sz="700" i="0">
                <a:solidFill>
                  <a:srgbClr val="E6EDF3"/>
                </a:solidFill>
                <a:latin typeface="Inconsolata"/>
              </a:rPr>
              <a:t> __name__ == </a:t>
            </a:r>
            <a:r>
              <a:rPr sz="700" i="0">
                <a:solidFill>
                  <a:srgbClr val="A5D6A7"/>
                </a:solidFill>
                <a:latin typeface="Inconsolata"/>
              </a:rPr>
              <a:t>"__main__"</a:t>
            </a:r>
            <a:r>
              <a:rPr sz="700" i="0">
                <a:solidFill>
                  <a:srgbClr val="E6EDF3"/>
                </a:solidFill>
                <a:latin typeface="Inconsolata"/>
              </a:rPr>
              <a:t>:</a:t>
            </a:r>
          </a:p>
          <a:p>
            <a:pPr>
              <a:lnSpc>
                <a:spcPct val="107095"/>
              </a:lnSpc>
              <a:spcAft>
                <a:spcPts val="0"/>
              </a:spcAft>
            </a:pPr>
            <a:r>
              <a:rPr sz="700" i="0">
                <a:solidFill>
                  <a:srgbClr val="5C6773"/>
                </a:solidFill>
                <a:latin typeface="Inconsolata"/>
              </a:rPr>
              <a:t>57  </a:t>
            </a:r>
            <a:r>
              <a:rPr sz="700" i="0">
                <a:solidFill>
                  <a:srgbClr val="E6EDF3"/>
                </a:solidFill>
                <a:latin typeface="Inconsolata"/>
              </a:rPr>
              <a:t>    client = </a:t>
            </a:r>
            <a:r>
              <a:rPr sz="700" i="0">
                <a:solidFill>
                  <a:srgbClr val="7FDBCA"/>
                </a:solidFill>
                <a:latin typeface="Inconsolata"/>
              </a:rPr>
              <a:t>TestClient</a:t>
            </a:r>
            <a:r>
              <a:rPr sz="700" i="0">
                <a:solidFill>
                  <a:srgbClr val="E6EDF3"/>
                </a:solidFill>
                <a:latin typeface="Inconsolata"/>
              </a:rPr>
              <a:t>(app)</a:t>
            </a:r>
          </a:p>
          <a:p>
            <a:pPr>
              <a:lnSpc>
                <a:spcPct val="107095"/>
              </a:lnSpc>
              <a:spcAft>
                <a:spcPts val="0"/>
              </a:spcAft>
            </a:pPr>
            <a:r>
              <a:rPr sz="700" i="0">
                <a:solidFill>
                  <a:srgbClr val="5C6773"/>
                </a:solidFill>
                <a:latin typeface="Inconsolata"/>
              </a:rPr>
              <a:t>58  </a:t>
            </a:r>
            <a:r>
              <a:rPr sz="700" i="0">
                <a:solidFill>
                  <a:srgbClr val="E6EDF3"/>
                </a:solidFill>
                <a:latin typeface="Inconsolata"/>
              </a:rPr>
              <a:t>    stored = </a:t>
            </a:r>
            <a:r>
              <a:rPr sz="700" i="0">
                <a:solidFill>
                  <a:srgbClr val="7FDBCA"/>
                </a:solidFill>
                <a:latin typeface="Inconsolata"/>
              </a:rPr>
              <a:t>USERS</a:t>
            </a:r>
            <a:r>
              <a:rPr sz="700" i="0">
                <a:solidFill>
                  <a:srgbClr val="E6EDF3"/>
                </a:solidFill>
                <a:latin typeface="Inconsolata"/>
              </a:rPr>
              <a:t>[</a:t>
            </a:r>
            <a:r>
              <a:rPr sz="700" i="0">
                <a:solidFill>
                  <a:srgbClr val="A5D6A7"/>
                </a:solidFill>
                <a:latin typeface="Inconsolata"/>
              </a:rPr>
              <a:t>"budi@mail.com"</a:t>
            </a:r>
            <a:r>
              <a:rPr sz="700" i="0">
                <a:solidFill>
                  <a:srgbClr val="E6EDF3"/>
                </a:solidFill>
                <a:latin typeface="Inconsolata"/>
              </a:rPr>
              <a:t>][</a:t>
            </a:r>
            <a:r>
              <a:rPr sz="700" i="0">
                <a:solidFill>
                  <a:srgbClr val="A5D6A7"/>
                </a:solidFill>
                <a:latin typeface="Inconsolata"/>
              </a:rPr>
              <a:t>"password_hash"</a:t>
            </a:r>
            <a:r>
              <a:rPr sz="700" i="0">
                <a:solidFill>
                  <a:srgbClr val="E6EDF3"/>
                </a:solidFill>
                <a:latin typeface="Inconsolata"/>
              </a:rPr>
              <a:t>]</a:t>
            </a:r>
          </a:p>
          <a:p>
            <a:pPr>
              <a:lnSpc>
                <a:spcPct val="107095"/>
              </a:lnSpc>
              <a:spcAft>
                <a:spcPts val="0"/>
              </a:spcAft>
            </a:pPr>
            <a:r>
              <a:rPr sz="700" i="0">
                <a:solidFill>
                  <a:srgbClr val="5C6773"/>
                </a:solidFill>
                <a:latin typeface="Inconsolata"/>
              </a:rPr>
              <a:t>59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"Isi tabel users (budi):"</a:t>
            </a:r>
            <a:r>
              <a:rPr sz="700" i="0">
                <a:solidFill>
                  <a:srgbClr val="E6EDF3"/>
                </a:solidFill>
                <a:latin typeface="Inconsolata"/>
              </a:rPr>
              <a:t>, stored[:</a:t>
            </a:r>
            <a:r>
              <a:rPr sz="700" i="0">
                <a:solidFill>
                  <a:srgbClr val="F9C97A"/>
                </a:solidFill>
                <a:latin typeface="Inconsolata"/>
              </a:rPr>
              <a:t>45</a:t>
            </a:r>
            <a:r>
              <a:rPr sz="700" i="0">
                <a:solidFill>
                  <a:srgbClr val="E6EDF3"/>
                </a:solidFill>
                <a:latin typeface="Inconsolata"/>
              </a:rPr>
              <a:t>] + </a:t>
            </a:r>
            <a:r>
              <a:rPr sz="700" i="0">
                <a:solidFill>
                  <a:srgbClr val="A5D6A7"/>
                </a:solidFill>
                <a:latin typeface="Inconsolata"/>
              </a:rPr>
              <a:t>"..."</a:t>
            </a:r>
            <a:r>
              <a:rPr sz="700" i="0">
                <a:solidFill>
                  <a:srgbClr val="E6EDF3"/>
                </a:solidFill>
                <a:latin typeface="Inconsolata"/>
              </a:rPr>
              <a:t>)</a:t>
            </a:r>
          </a:p>
          <a:p>
            <a:pPr>
              <a:lnSpc>
                <a:spcPct val="107095"/>
              </a:lnSpc>
              <a:spcAft>
                <a:spcPts val="0"/>
              </a:spcAft>
            </a:pPr>
            <a:r>
              <a:rPr sz="700" i="0">
                <a:solidFill>
                  <a:srgbClr val="5C6773"/>
                </a:solidFill>
                <a:latin typeface="Inconsolata"/>
              </a:rPr>
              <a:t>60  </a:t>
            </a:r>
            <a:r>
              <a:rPr sz="700" i="0">
                <a:solidFill>
                  <a:srgbClr val="E6EDF3"/>
                </a:solidFill>
                <a:latin typeface="Inconsolata"/>
              </a:rPr>
              <a:t>    wrong = client.post(</a:t>
            </a:r>
            <a:r>
              <a:rPr sz="700" i="0">
                <a:solidFill>
                  <a:srgbClr val="A5D6A7"/>
                </a:solidFill>
                <a:latin typeface="Inconsolata"/>
              </a:rPr>
              <a:t>"/token"</a:t>
            </a:r>
            <a:r>
              <a:rPr sz="700" i="0">
                <a:solidFill>
                  <a:srgbClr val="E6EDF3"/>
                </a:solidFill>
                <a:latin typeface="Inconsolata"/>
              </a:rPr>
              <a:t>, data={</a:t>
            </a:r>
            <a:r>
              <a:rPr sz="700" i="0">
                <a:solidFill>
                  <a:srgbClr val="A5D6A7"/>
                </a:solidFill>
                <a:latin typeface="Inconsolata"/>
              </a:rPr>
              <a:t>"username"</a:t>
            </a:r>
            <a:r>
              <a:rPr sz="700" i="0">
                <a:solidFill>
                  <a:srgbClr val="E6EDF3"/>
                </a:solidFill>
                <a:latin typeface="Inconsolata"/>
              </a:rPr>
              <a:t>: </a:t>
            </a:r>
            <a:r>
              <a:rPr sz="700" i="0">
                <a:solidFill>
                  <a:srgbClr val="A5D6A7"/>
                </a:solidFill>
                <a:latin typeface="Inconsolata"/>
              </a:rPr>
              <a:t>"budi@mail.com"</a:t>
            </a:r>
            <a:r>
              <a:rPr sz="700" i="0">
                <a:solidFill>
                  <a:srgbClr val="E6EDF3"/>
                </a:solidFill>
                <a:latin typeface="Inconsolata"/>
              </a:rPr>
              <a:t>,</a:t>
            </a:r>
          </a:p>
          <a:p>
            <a:pPr>
              <a:lnSpc>
                <a:spcPct val="107095"/>
              </a:lnSpc>
              <a:spcAft>
                <a:spcPts val="0"/>
              </a:spcAft>
            </a:pPr>
            <a:r>
              <a:rPr sz="700" i="0">
                <a:solidFill>
                  <a:srgbClr val="5C6773"/>
                </a:solidFill>
                <a:latin typeface="Inconsolata"/>
              </a:rPr>
              <a:t>61  </a:t>
            </a:r>
            <a:r>
              <a:rPr sz="700" i="0">
                <a:solidFill>
                  <a:srgbClr val="E6EDF3"/>
                </a:solidFill>
                <a:latin typeface="Inconsolata"/>
              </a:rPr>
              <a:t>                                        </a:t>
            </a:r>
            <a:r>
              <a:rPr sz="700" i="0">
                <a:solidFill>
                  <a:srgbClr val="A5D6A7"/>
                </a:solidFill>
                <a:latin typeface="Inconsolata"/>
              </a:rPr>
              <a:t>"password"</a:t>
            </a:r>
            <a:r>
              <a:rPr sz="700" i="0">
                <a:solidFill>
                  <a:srgbClr val="E6EDF3"/>
                </a:solidFill>
                <a:latin typeface="Inconsolata"/>
              </a:rPr>
              <a:t>: </a:t>
            </a:r>
            <a:r>
              <a:rPr sz="700" i="0">
                <a:solidFill>
                  <a:srgbClr val="A5D6A7"/>
                </a:solidFill>
                <a:latin typeface="Inconsolata"/>
              </a:rPr>
              <a:t>"salah"</a:t>
            </a:r>
            <a:r>
              <a:rPr sz="700" i="0">
                <a:solidFill>
                  <a:srgbClr val="E6EDF3"/>
                </a:solidFill>
                <a:latin typeface="Inconsolata"/>
              </a:rPr>
              <a:t>})</a:t>
            </a:r>
          </a:p>
          <a:p>
            <a:pPr>
              <a:lnSpc>
                <a:spcPct val="107095"/>
              </a:lnSpc>
              <a:spcAft>
                <a:spcPts val="0"/>
              </a:spcAft>
            </a:pPr>
            <a:r>
              <a:rPr sz="700" i="0">
                <a:solidFill>
                  <a:srgbClr val="5C6773"/>
                </a:solidFill>
                <a:latin typeface="Inconsolata"/>
              </a:rPr>
              <a:t>62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"Login password salah -&gt;"</a:t>
            </a:r>
            <a:r>
              <a:rPr sz="700" i="0">
                <a:solidFill>
                  <a:srgbClr val="E6EDF3"/>
                </a:solidFill>
                <a:latin typeface="Inconsolata"/>
              </a:rPr>
              <a:t>, wrong.status_code)</a:t>
            </a:r>
          </a:p>
          <a:p>
            <a:pPr>
              <a:lnSpc>
                <a:spcPct val="107095"/>
              </a:lnSpc>
              <a:spcAft>
                <a:spcPts val="0"/>
              </a:spcAft>
            </a:pPr>
            <a:r>
              <a:rPr sz="700" i="0">
                <a:solidFill>
                  <a:srgbClr val="5C6773"/>
                </a:solidFill>
                <a:latin typeface="Inconsolata"/>
              </a:rPr>
              <a:t>63  </a:t>
            </a:r>
            <a:r>
              <a:rPr sz="700" i="0">
                <a:solidFill>
                  <a:srgbClr val="E6EDF3"/>
                </a:solidFill>
                <a:latin typeface="Inconsolata"/>
              </a:rPr>
              <a:t>    login = client.post(</a:t>
            </a:r>
            <a:r>
              <a:rPr sz="700" i="0">
                <a:solidFill>
                  <a:srgbClr val="A5D6A7"/>
                </a:solidFill>
                <a:latin typeface="Inconsolata"/>
              </a:rPr>
              <a:t>"/token"</a:t>
            </a:r>
            <a:r>
              <a:rPr sz="700" i="0">
                <a:solidFill>
                  <a:srgbClr val="E6EDF3"/>
                </a:solidFill>
                <a:latin typeface="Inconsolata"/>
              </a:rPr>
              <a:t>, data={</a:t>
            </a:r>
            <a:r>
              <a:rPr sz="700" i="0">
                <a:solidFill>
                  <a:srgbClr val="A5D6A7"/>
                </a:solidFill>
                <a:latin typeface="Inconsolata"/>
              </a:rPr>
              <a:t>"username"</a:t>
            </a:r>
            <a:r>
              <a:rPr sz="700" i="0">
                <a:solidFill>
                  <a:srgbClr val="E6EDF3"/>
                </a:solidFill>
                <a:latin typeface="Inconsolata"/>
              </a:rPr>
              <a:t>: </a:t>
            </a:r>
            <a:r>
              <a:rPr sz="700" i="0">
                <a:solidFill>
                  <a:srgbClr val="A5D6A7"/>
                </a:solidFill>
                <a:latin typeface="Inconsolata"/>
              </a:rPr>
              <a:t>"budi@mail.com"</a:t>
            </a:r>
            <a:r>
              <a:rPr sz="700" i="0">
                <a:solidFill>
                  <a:srgbClr val="E6EDF3"/>
                </a:solidFill>
                <a:latin typeface="Inconsolata"/>
              </a:rPr>
              <a:t>,</a:t>
            </a:r>
          </a:p>
          <a:p>
            <a:pPr>
              <a:lnSpc>
                <a:spcPct val="107095"/>
              </a:lnSpc>
              <a:spcAft>
                <a:spcPts val="0"/>
              </a:spcAft>
            </a:pPr>
            <a:r>
              <a:rPr sz="700" i="0">
                <a:solidFill>
                  <a:srgbClr val="5C6773"/>
                </a:solidFill>
                <a:latin typeface="Inconsolata"/>
              </a:rPr>
              <a:t>64  </a:t>
            </a:r>
            <a:r>
              <a:rPr sz="700" i="0">
                <a:solidFill>
                  <a:srgbClr val="E6EDF3"/>
                </a:solidFill>
                <a:latin typeface="Inconsolata"/>
              </a:rPr>
              <a:t>                                        </a:t>
            </a:r>
            <a:r>
              <a:rPr sz="700" i="0">
                <a:solidFill>
                  <a:srgbClr val="A5D6A7"/>
                </a:solidFill>
                <a:latin typeface="Inconsolata"/>
              </a:rPr>
              <a:t>"password"</a:t>
            </a:r>
            <a:r>
              <a:rPr sz="700" i="0">
                <a:solidFill>
                  <a:srgbClr val="E6EDF3"/>
                </a:solidFill>
                <a:latin typeface="Inconsolata"/>
              </a:rPr>
              <a:t>: </a:t>
            </a:r>
            <a:r>
              <a:rPr sz="700" i="0">
                <a:solidFill>
                  <a:srgbClr val="A5D6A7"/>
                </a:solidFill>
                <a:latin typeface="Inconsolata"/>
              </a:rPr>
              <a:t>"budi12345"</a:t>
            </a:r>
            <a:r>
              <a:rPr sz="700" i="0">
                <a:solidFill>
                  <a:srgbClr val="E6EDF3"/>
                </a:solidFill>
                <a:latin typeface="Inconsolata"/>
              </a:rPr>
              <a:t>})</a:t>
            </a:r>
          </a:p>
          <a:p>
            <a:pPr>
              <a:lnSpc>
                <a:spcPct val="107095"/>
              </a:lnSpc>
              <a:spcAft>
                <a:spcPts val="0"/>
              </a:spcAft>
            </a:pPr>
            <a:r>
              <a:rPr sz="700" i="0">
                <a:solidFill>
                  <a:srgbClr val="5C6773"/>
                </a:solidFill>
                <a:latin typeface="Inconsolata"/>
              </a:rPr>
              <a:t>65  </a:t>
            </a:r>
            <a:r>
              <a:rPr sz="700" i="0">
                <a:solidFill>
                  <a:srgbClr val="E6EDF3"/>
                </a:solidFill>
                <a:latin typeface="Inconsolata"/>
              </a:rPr>
              <a:t>    token = login.json()[</a:t>
            </a:r>
            <a:r>
              <a:rPr sz="700" i="0">
                <a:solidFill>
                  <a:srgbClr val="A5D6A7"/>
                </a:solidFill>
                <a:latin typeface="Inconsolata"/>
              </a:rPr>
              <a:t>"access_token"</a:t>
            </a:r>
            <a:r>
              <a:rPr sz="700" i="0">
                <a:solidFill>
                  <a:srgbClr val="E6EDF3"/>
                </a:solidFill>
                <a:latin typeface="Inconsolata"/>
              </a:rPr>
              <a:t>]</a:t>
            </a:r>
          </a:p>
          <a:p>
            <a:pPr>
              <a:lnSpc>
                <a:spcPct val="107095"/>
              </a:lnSpc>
              <a:spcAft>
                <a:spcPts val="0"/>
              </a:spcAft>
            </a:pPr>
            <a:r>
              <a:rPr sz="700" i="0">
                <a:solidFill>
                  <a:srgbClr val="5C6773"/>
                </a:solidFill>
                <a:latin typeface="Inconsolata"/>
              </a:rPr>
              <a:t>66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"Login benar -&gt;"</a:t>
            </a:r>
            <a:r>
              <a:rPr sz="700" i="0">
                <a:solidFill>
                  <a:srgbClr val="E6EDF3"/>
                </a:solidFill>
                <a:latin typeface="Inconsolata"/>
              </a:rPr>
              <a:t>, login.status_code, token[:</a:t>
            </a:r>
            <a:r>
              <a:rPr sz="700" i="0">
                <a:solidFill>
                  <a:srgbClr val="F9C97A"/>
                </a:solidFill>
                <a:latin typeface="Inconsolata"/>
              </a:rPr>
              <a:t>30</a:t>
            </a:r>
            <a:r>
              <a:rPr sz="700" i="0">
                <a:solidFill>
                  <a:srgbClr val="E6EDF3"/>
                </a:solidFill>
                <a:latin typeface="Inconsolata"/>
              </a:rPr>
              <a:t>] + </a:t>
            </a:r>
            <a:r>
              <a:rPr sz="700" i="0">
                <a:solidFill>
                  <a:srgbClr val="A5D6A7"/>
                </a:solidFill>
                <a:latin typeface="Inconsolata"/>
              </a:rPr>
              <a:t>"..."</a:t>
            </a:r>
            <a:r>
              <a:rPr sz="700" i="0">
                <a:solidFill>
                  <a:srgbClr val="E6EDF3"/>
                </a:solidFill>
                <a:latin typeface="Inconsolata"/>
              </a:rPr>
              <a:t>)</a:t>
            </a:r>
          </a:p>
          <a:p>
            <a:pPr>
              <a:lnSpc>
                <a:spcPct val="107095"/>
              </a:lnSpc>
              <a:spcAft>
                <a:spcPts val="0"/>
              </a:spcAft>
            </a:pPr>
            <a:r>
              <a:rPr sz="700" i="0">
                <a:solidFill>
                  <a:srgbClr val="5C6773"/>
                </a:solidFill>
                <a:latin typeface="Inconsolata"/>
              </a:rPr>
              <a:t>67  </a:t>
            </a:r>
            <a:r>
              <a:rPr sz="700" i="0">
                <a:solidFill>
                  <a:srgbClr val="E6EDF3"/>
                </a:solidFill>
                <a:latin typeface="Inconsolata"/>
              </a:rPr>
              <a:t>    auth = {</a:t>
            </a:r>
            <a:r>
              <a:rPr sz="700" i="0">
                <a:solidFill>
                  <a:srgbClr val="A5D6A7"/>
                </a:solidFill>
                <a:latin typeface="Inconsolata"/>
              </a:rPr>
              <a:t>"Authorization"</a:t>
            </a:r>
            <a:r>
              <a:rPr sz="700" i="0">
                <a:solidFill>
                  <a:srgbClr val="E6EDF3"/>
                </a:solidFill>
                <a:latin typeface="Inconsolata"/>
              </a:rPr>
              <a:t>: </a:t>
            </a:r>
            <a:r>
              <a:rPr sz="700" i="0">
                <a:solidFill>
                  <a:srgbClr val="A5D6A7"/>
                </a:solidFill>
                <a:latin typeface="Inconsolata"/>
              </a:rPr>
              <a:t>f"Bearer {token}"</a:t>
            </a:r>
            <a:r>
              <a:rPr sz="700" i="0">
                <a:solidFill>
                  <a:srgbClr val="E6EDF3"/>
                </a:solidFill>
                <a:latin typeface="Inconsolata"/>
              </a:rPr>
              <a:t>}</a:t>
            </a:r>
          </a:p>
          <a:p>
            <a:pPr>
              <a:lnSpc>
                <a:spcPct val="107095"/>
              </a:lnSpc>
              <a:spcAft>
                <a:spcPts val="0"/>
              </a:spcAft>
            </a:pPr>
            <a:r>
              <a:rPr sz="700" i="0">
                <a:solidFill>
                  <a:srgbClr val="5C6773"/>
                </a:solidFill>
                <a:latin typeface="Inconsolata"/>
              </a:rPr>
              <a:t>68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"GET /me + Bearer -&gt;"</a:t>
            </a:r>
            <a:r>
              <a:rPr sz="700" i="0">
                <a:solidFill>
                  <a:srgbClr val="E6EDF3"/>
                </a:solidFill>
                <a:latin typeface="Inconsolata"/>
              </a:rPr>
              <a:t>, client.get(</a:t>
            </a:r>
            <a:r>
              <a:rPr sz="700" i="0">
                <a:solidFill>
                  <a:srgbClr val="A5D6A7"/>
                </a:solidFill>
                <a:latin typeface="Inconsolata"/>
              </a:rPr>
              <a:t>"/me"</a:t>
            </a:r>
            <a:r>
              <a:rPr sz="700" i="0">
                <a:solidFill>
                  <a:srgbClr val="E6EDF3"/>
                </a:solidFill>
                <a:latin typeface="Inconsolata"/>
              </a:rPr>
              <a:t>, headers=auth).json())</a:t>
            </a:r>
          </a:p>
          <a:p>
            <a:pPr>
              <a:lnSpc>
                <a:spcPct val="107095"/>
              </a:lnSpc>
              <a:spcAft>
                <a:spcPts val="0"/>
              </a:spcAft>
            </a:pPr>
            <a:r>
              <a:rPr sz="700" i="0">
                <a:solidFill>
                  <a:srgbClr val="5C6773"/>
                </a:solidFill>
                <a:latin typeface="Inconsolata"/>
              </a:rPr>
              <a:t>69  </a:t>
            </a:r>
            <a:r>
              <a:rPr sz="700" i="0">
                <a:solidFill>
                  <a:srgbClr val="E6EDF3"/>
                </a:solidFill>
                <a:latin typeface="Inconsolata"/>
              </a:rPr>
              <a:t>    no_token = client.get(</a:t>
            </a:r>
            <a:r>
              <a:rPr sz="700" i="0">
                <a:solidFill>
                  <a:srgbClr val="A5D6A7"/>
                </a:solidFill>
                <a:latin typeface="Inconsolata"/>
              </a:rPr>
              <a:t>"/me"</a:t>
            </a:r>
            <a:r>
              <a:rPr sz="700" i="0">
                <a:solidFill>
                  <a:srgbClr val="E6EDF3"/>
                </a:solidFill>
                <a:latin typeface="Inconsolata"/>
              </a:rPr>
              <a:t>)</a:t>
            </a:r>
          </a:p>
          <a:p>
            <a:pPr>
              <a:lnSpc>
                <a:spcPct val="107095"/>
              </a:lnSpc>
              <a:spcAft>
                <a:spcPts val="0"/>
              </a:spcAft>
            </a:pPr>
            <a:r>
              <a:rPr sz="700" i="0">
                <a:solidFill>
                  <a:srgbClr val="5C6773"/>
                </a:solidFill>
                <a:latin typeface="Inconsolata"/>
              </a:rPr>
              <a:t>70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"GET /me tanpa token -&gt;"</a:t>
            </a:r>
            <a:r>
              <a:rPr sz="700" i="0">
                <a:solidFill>
                  <a:srgbClr val="E6EDF3"/>
                </a:solidFill>
                <a:latin typeface="Inconsolata"/>
              </a:rPr>
              <a:t>, no_token.status_code,</a:t>
            </a:r>
          </a:p>
          <a:p>
            <a:pPr>
              <a:lnSpc>
                <a:spcPct val="107095"/>
              </a:lnSpc>
              <a:spcAft>
                <a:spcPts val="0"/>
              </a:spcAft>
            </a:pPr>
            <a:r>
              <a:rPr sz="700" i="0">
                <a:solidFill>
                  <a:srgbClr val="5C6773"/>
                </a:solidFill>
                <a:latin typeface="Inconsolata"/>
              </a:rPr>
              <a:t>71  </a:t>
            </a:r>
            <a:r>
              <a:rPr sz="700" i="0">
                <a:solidFill>
                  <a:srgbClr val="E6EDF3"/>
                </a:solidFill>
                <a:latin typeface="Inconsolata"/>
              </a:rPr>
              <a:t>          no_token.headers[</a:t>
            </a:r>
            <a:r>
              <a:rPr sz="700" i="0">
                <a:solidFill>
                  <a:srgbClr val="A5D6A7"/>
                </a:solidFill>
                <a:latin typeface="Inconsolata"/>
              </a:rPr>
              <a:t>"www-authenticate"</a:t>
            </a:r>
            <a:r>
              <a:rPr sz="700" i="0">
                <a:solidFill>
                  <a:srgbClr val="E6EDF3"/>
                </a:solidFill>
                <a:latin typeface="Inconsolata"/>
              </a:rPr>
              <a:t>])</a:t>
            </a:r>
          </a:p>
        </p:txBody>
      </p:sp>
      <p:sp>
        <p:nvSpPr>
          <p:cNvPr id="36" name="Box 21"/>
          <p:cNvSpPr/>
          <p:nvPr/>
        </p:nvSpPr>
        <p:spPr>
          <a:xfrm>
            <a:off x="704088" y="1825371"/>
            <a:ext cx="3694176" cy="564642"/>
          </a:xfrm>
          <a:prstGeom prst="roundRect">
            <a:avLst>
              <a:gd name="adj" fmla="val 80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19888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39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OAuth2 Bearer</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05-oauth2-bearer/after.py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sesi-10-api-security/05-oauth2-bearer</a:t>
            </a:r>
          </a:p>
          <a:p>
            <a:pPr>
              <a:lnSpc>
                <a:spcPct val="111111"/>
              </a:lnSpc>
              <a:spcAft>
                <a:spcPts val="0"/>
              </a:spcAft>
            </a:pPr>
            <a:r>
              <a:rPr sz="900" i="0">
                <a:solidFill>
                  <a:srgbClr val="82B1FF"/>
                </a:solidFill>
                <a:latin typeface="Inconsolata"/>
              </a:rPr>
              <a:t>$ python after.py</a:t>
            </a:r>
          </a:p>
        </p:txBody>
      </p:sp>
      <p:pic>
        <p:nvPicPr>
          <p:cNvPr id="29" name="Image 12" descr="s10-05-oauth2-bearer-after.png"/>
          <p:cNvPicPr>
            <a:picLocks noChangeAspect="1"/>
          </p:cNvPicPr>
          <p:nvPr/>
        </p:nvPicPr>
        <p:blipFill>
          <a:blip r:embed="rId2"/>
          <a:stretch>
            <a:fillRect/>
          </a:stretch>
        </p:blipFill>
        <p:spPr>
          <a:xfrm>
            <a:off x="621792" y="2322576"/>
            <a:ext cx="4297680" cy="1017872"/>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Password disimpan sebagai hash Argon2 (baris 21-24)</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POST /token</a:t>
            </a:r>
            <a:r>
              <a:rPr sz="950" b="0" i="0">
                <a:solidFill>
                  <a:srgbClr val="434343"/>
                </a:solidFill>
                <a:latin typeface="Inter"/>
              </a:rPr>
              <a:t>: cek hash, lalu buat JWT (baris 32-41)</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Token dibaca dari header Bearer, salah = 401 (baris 44-48)</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Password salah 401, login benar mendapat JWT, </a:t>
            </a:r>
            <a:r>
              <a:rPr sz="950" b="0" i="0">
                <a:solidFill>
                  <a:srgbClr val="B5482A"/>
                </a:solidFill>
                <a:latin typeface="Inconsolata"/>
              </a:rPr>
              <a:t>/me</a:t>
            </a:r>
            <a:r>
              <a:rPr sz="950" b="0" i="0">
                <a:solidFill>
                  <a:srgbClr val="434343"/>
                </a:solidFill>
                <a:latin typeface="Inter"/>
              </a:rPr>
              <a:t> tanpa token 401.</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RBAC &amp; Scopes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RBAC dan Scope?</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RBAC adalah</a:t>
            </a:r>
          </a:p>
          <a:p>
            <a:pPr algn="l">
              <a:lnSpc>
                <a:spcPct val="115000"/>
              </a:lnSpc>
              <a:spcAft>
                <a:spcPts val="400"/>
              </a:spcAft>
            </a:pPr>
            <a:r>
              <a:rPr sz="900" b="1" i="0">
                <a:solidFill>
                  <a:srgbClr val="434343"/>
                </a:solidFill>
                <a:latin typeface="Inter"/>
              </a:rPr>
              <a:t>Role-Based Access Control</a:t>
            </a:r>
            <a:r>
              <a:rPr sz="900" b="0" i="0">
                <a:solidFill>
                  <a:srgbClr val="434343"/>
                </a:solidFill>
                <a:latin typeface="Inter"/>
              </a:rPr>
              <a:t>, cara mengatur hak akses berdasarkan role user (customer, admin). Setiap role punya daftar </a:t>
            </a:r>
            <a:r>
              <a:rPr sz="900" b="1" i="0">
                <a:solidFill>
                  <a:srgbClr val="434343"/>
                </a:solidFill>
                <a:latin typeface="Inter"/>
              </a:rPr>
              <a:t>scope</a:t>
            </a:r>
            <a:r>
              <a:rPr sz="900" b="0" i="0">
                <a:solidFill>
                  <a:srgbClr val="434343"/>
                </a:solidFill>
                <a:latin typeface="Inter"/>
              </a:rPr>
              <a:t>, yaitu izin untuk satu jenis aksi, misalnya </a:t>
            </a:r>
            <a:r>
              <a:rPr sz="900" b="0" i="0">
                <a:solidFill>
                  <a:srgbClr val="B5482A"/>
                </a:solidFill>
                <a:latin typeface="Inconsolata"/>
              </a:rPr>
              <a:t>products:write</a:t>
            </a:r>
            <a:r>
              <a:rPr sz="900" b="0" i="0">
                <a:solidFill>
                  <a:srgbClr val="434343"/>
                </a:solidFill>
                <a:latin typeface="Inter"/>
              </a:rPr>
              <a:t>. Sehingga endpoint cukup menyebut scope yang dibutuhkan.</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Mencegah customer memanggil endpoint admin</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Mengumpulkan semua pengecekan hak akses di satu tempat</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cek manual: 06-rbac-scopes/before.py</a:t>
            </a:r>
          </a:p>
        </p:txBody>
      </p:sp>
      <p:sp>
        <p:nvSpPr>
          <p:cNvPr id="28" name="CodeBg 11"/>
          <p:cNvSpPr/>
          <p:nvPr/>
        </p:nvSpPr>
        <p:spPr>
          <a:xfrm>
            <a:off x="4297680" y="1719072"/>
            <a:ext cx="4187951" cy="1325880"/>
          </a:xfrm>
          <a:prstGeom prst="roundRect">
            <a:avLst>
              <a:gd name="adj" fmla="val 137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1325880"/>
          </a:xfrm>
          <a:prstGeom prst="rect">
            <a:avLst/>
          </a:prstGeom>
          <a:noFill/>
        </p:spPr>
        <p:txBody>
          <a:bodyPr wrap="none" lIns="146304" tIns="91440" rIns="146304" bIns="54864">
            <a:spAutoFit/>
          </a:bodyPr>
          <a:lstStyle/>
          <a:p>
            <a:pPr>
              <a:lnSpc>
                <a:spcPct val="111111"/>
              </a:lnSpc>
              <a:spcAft>
                <a:spcPts val="0"/>
              </a:spcAft>
            </a:pPr>
            <a:r>
              <a:rPr sz="750" i="0">
                <a:solidFill>
                  <a:srgbClr val="F9C97A"/>
                </a:solidFill>
                <a:latin typeface="Inconsolata"/>
              </a:rPr>
              <a:t>@app.delete</a:t>
            </a:r>
            <a:r>
              <a:rPr sz="750" i="0">
                <a:solidFill>
                  <a:srgbClr val="E6EDF3"/>
                </a:solidFill>
                <a:latin typeface="Inconsolata"/>
              </a:rPr>
              <a:t>(</a:t>
            </a:r>
            <a:r>
              <a:rPr sz="750" i="0">
                <a:solidFill>
                  <a:srgbClr val="A5D6A7"/>
                </a:solidFill>
                <a:latin typeface="Inconsolata"/>
              </a:rPr>
              <a:t>"/products/{product_id}"</a:t>
            </a:r>
            <a:r>
              <a:rPr sz="750" i="0">
                <a:solidFill>
                  <a:srgbClr val="E6EDF3"/>
                </a:solidFill>
                <a:latin typeface="Inconsolata"/>
              </a:rPr>
              <a:t>)</a:t>
            </a:r>
          </a:p>
          <a:p>
            <a:pPr>
              <a:lnSpc>
                <a:spcPct val="111111"/>
              </a:lnSpc>
              <a:spcAft>
                <a:spcPts val="0"/>
              </a:spcAft>
            </a:pPr>
            <a:r>
              <a:rPr sz="750" i="0">
                <a:solidFill>
                  <a:srgbClr val="FF8E6E"/>
                </a:solidFill>
                <a:latin typeface="Inconsolata"/>
              </a:rPr>
              <a:t>def</a:t>
            </a:r>
            <a:r>
              <a:rPr sz="750" i="0">
                <a:solidFill>
                  <a:srgbClr val="E6EDF3"/>
                </a:solidFill>
                <a:latin typeface="Inconsolata"/>
              </a:rPr>
              <a:t> </a:t>
            </a:r>
            <a:r>
              <a:rPr sz="750" i="0">
                <a:solidFill>
                  <a:srgbClr val="82B1FF"/>
                </a:solidFill>
                <a:latin typeface="Inconsolata"/>
              </a:rPr>
              <a:t>delete_product</a:t>
            </a:r>
            <a:r>
              <a:rPr sz="750" i="0">
                <a:solidFill>
                  <a:srgbClr val="E6EDF3"/>
                </a:solidFill>
                <a:latin typeface="Inconsolata"/>
              </a:rPr>
              <a:t>(product_id: </a:t>
            </a:r>
            <a:r>
              <a:rPr sz="750" i="0">
                <a:solidFill>
                  <a:srgbClr val="C3A6FF"/>
                </a:solidFill>
                <a:latin typeface="Inconsolata"/>
              </a:rPr>
              <a:t>int</a:t>
            </a:r>
            <a:r>
              <a:rPr sz="750" i="0">
                <a:solidFill>
                  <a:srgbClr val="E6EDF3"/>
                </a:solidFill>
                <a:latin typeface="Inconsolata"/>
              </a:rPr>
              <a:t>,</a:t>
            </a:r>
          </a:p>
          <a:p>
            <a:pPr>
              <a:lnSpc>
                <a:spcPct val="111111"/>
              </a:lnSpc>
              <a:spcAft>
                <a:spcPts val="0"/>
              </a:spcAft>
            </a:pPr>
            <a:r>
              <a:rPr sz="750" i="0">
                <a:solidFill>
                  <a:srgbClr val="E6EDF3"/>
                </a:solidFill>
                <a:latin typeface="Inconsolata"/>
              </a:rPr>
              <a:t>                   user: </a:t>
            </a:r>
            <a:r>
              <a:rPr sz="750" i="0">
                <a:solidFill>
                  <a:srgbClr val="C3A6FF"/>
                </a:solidFill>
                <a:latin typeface="Inconsolata"/>
              </a:rPr>
              <a:t>dict</a:t>
            </a:r>
            <a:r>
              <a:rPr sz="750" i="0">
                <a:solidFill>
                  <a:srgbClr val="E6EDF3"/>
                </a:solidFill>
                <a:latin typeface="Inconsolata"/>
              </a:rPr>
              <a:t> = </a:t>
            </a:r>
            <a:r>
              <a:rPr sz="750" i="0">
                <a:solidFill>
                  <a:srgbClr val="7FDBCA"/>
                </a:solidFill>
                <a:latin typeface="Inconsolata"/>
              </a:rPr>
              <a:t>Depends</a:t>
            </a:r>
            <a:r>
              <a:rPr sz="750" i="0">
                <a:solidFill>
                  <a:srgbClr val="E6EDF3"/>
                </a:solidFill>
                <a:latin typeface="Inconsolata"/>
              </a:rPr>
              <a:t>(current_user)):</a:t>
            </a:r>
          </a:p>
          <a:p>
            <a:pPr>
              <a:lnSpc>
                <a:spcPct val="111111"/>
              </a:lnSpc>
              <a:spcAft>
                <a:spcPts val="0"/>
              </a:spcAft>
            </a:pPr>
            <a:r>
              <a:rPr sz="750" i="0">
                <a:solidFill>
                  <a:srgbClr val="E6EDF3"/>
                </a:solidFill>
                <a:latin typeface="Inconsolata"/>
              </a:rPr>
              <a:t>    </a:t>
            </a:r>
            <a:r>
              <a:rPr sz="750" i="0">
                <a:solidFill>
                  <a:srgbClr val="FF8E6E"/>
                </a:solidFill>
                <a:latin typeface="Inconsolata"/>
              </a:rPr>
              <a:t>return</a:t>
            </a:r>
            <a:r>
              <a:rPr sz="750" i="0">
                <a:solidFill>
                  <a:srgbClr val="E6EDF3"/>
                </a:solidFill>
                <a:latin typeface="Inconsolata"/>
              </a:rPr>
              <a:t> {</a:t>
            </a:r>
            <a:r>
              <a:rPr sz="750" i="0">
                <a:solidFill>
                  <a:srgbClr val="A5D6A7"/>
                </a:solidFill>
                <a:latin typeface="Inconsolata"/>
              </a:rPr>
              <a:t>"status"</a:t>
            </a:r>
            <a:r>
              <a:rPr sz="750" i="0">
                <a:solidFill>
                  <a:srgbClr val="E6EDF3"/>
                </a:solidFill>
                <a:latin typeface="Inconsolata"/>
              </a:rPr>
              <a:t>: </a:t>
            </a:r>
            <a:r>
              <a:rPr sz="750" i="0">
                <a:solidFill>
                  <a:srgbClr val="A5D6A7"/>
                </a:solidFill>
                <a:latin typeface="Inconsolata"/>
              </a:rPr>
              <a:t>"deleted"</a:t>
            </a:r>
            <a:r>
              <a:rPr sz="750" i="0">
                <a:solidFill>
                  <a:srgbClr val="E6EDF3"/>
                </a:solidFill>
                <a:latin typeface="Inconsolata"/>
              </a:rPr>
              <a:t>}             </a:t>
            </a:r>
            <a:r>
              <a:rPr sz="750" i="1">
                <a:solidFill>
                  <a:srgbClr val="8B98A8"/>
                </a:solidFill>
                <a:latin typeface="Inconsolata"/>
              </a:rPr>
              <a:t># lupa cek role</a:t>
            </a:r>
          </a:p>
        </p:txBody>
      </p:sp>
      <p:sp>
        <p:nvSpPr>
          <p:cNvPr id="30" name="Box 13"/>
          <p:cNvSpPr/>
          <p:nvPr/>
        </p:nvSpPr>
        <p:spPr>
          <a:xfrm>
            <a:off x="4379976" y="2208022"/>
            <a:ext cx="4023359"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313639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321411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321411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321411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314553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Security + scope: 06-rbac-scopes/after.py</a:t>
            </a:r>
          </a:p>
        </p:txBody>
      </p:sp>
      <p:sp>
        <p:nvSpPr>
          <p:cNvPr id="36" name="CodeBg 21"/>
          <p:cNvSpPr/>
          <p:nvPr/>
        </p:nvSpPr>
        <p:spPr>
          <a:xfrm>
            <a:off x="4297680" y="3374136"/>
            <a:ext cx="4187951" cy="1325879"/>
          </a:xfrm>
          <a:prstGeom prst="roundRect">
            <a:avLst>
              <a:gd name="adj" fmla="val 137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3374136"/>
            <a:ext cx="4187951" cy="1325879"/>
          </a:xfrm>
          <a:prstGeom prst="rect">
            <a:avLst/>
          </a:prstGeom>
          <a:noFill/>
        </p:spPr>
        <p:txBody>
          <a:bodyPr wrap="none" lIns="146304" tIns="91440" rIns="146304" bIns="54864">
            <a:spAutoFit/>
          </a:bodyPr>
          <a:lstStyle/>
          <a:p>
            <a:pPr>
              <a:lnSpc>
                <a:spcPct val="111111"/>
              </a:lnSpc>
              <a:spcAft>
                <a:spcPts val="0"/>
              </a:spcAft>
            </a:pPr>
            <a:r>
              <a:rPr sz="750" i="0">
                <a:solidFill>
                  <a:srgbClr val="F9C97A"/>
                </a:solidFill>
                <a:latin typeface="Inconsolata"/>
              </a:rPr>
              <a:t>@app.delete</a:t>
            </a:r>
            <a:r>
              <a:rPr sz="750" i="0">
                <a:solidFill>
                  <a:srgbClr val="E6EDF3"/>
                </a:solidFill>
                <a:latin typeface="Inconsolata"/>
              </a:rPr>
              <a:t>(</a:t>
            </a:r>
            <a:r>
              <a:rPr sz="750" i="0">
                <a:solidFill>
                  <a:srgbClr val="A5D6A7"/>
                </a:solidFill>
                <a:latin typeface="Inconsolata"/>
              </a:rPr>
              <a:t>"/products/{product_id}"</a:t>
            </a:r>
            <a:r>
              <a:rPr sz="750" i="0">
                <a:solidFill>
                  <a:srgbClr val="E6EDF3"/>
                </a:solidFill>
                <a:latin typeface="Inconsolata"/>
              </a:rPr>
              <a:t>)</a:t>
            </a:r>
          </a:p>
          <a:p>
            <a:pPr>
              <a:lnSpc>
                <a:spcPct val="111111"/>
              </a:lnSpc>
              <a:spcAft>
                <a:spcPts val="0"/>
              </a:spcAft>
            </a:pPr>
            <a:r>
              <a:rPr sz="750" i="0">
                <a:solidFill>
                  <a:srgbClr val="FF8E6E"/>
                </a:solidFill>
                <a:latin typeface="Inconsolata"/>
              </a:rPr>
              <a:t>def</a:t>
            </a:r>
            <a:r>
              <a:rPr sz="750" i="0">
                <a:solidFill>
                  <a:srgbClr val="E6EDF3"/>
                </a:solidFill>
                <a:latin typeface="Inconsolata"/>
              </a:rPr>
              <a:t> </a:t>
            </a:r>
            <a:r>
              <a:rPr sz="750" i="0">
                <a:solidFill>
                  <a:srgbClr val="82B1FF"/>
                </a:solidFill>
                <a:latin typeface="Inconsolata"/>
              </a:rPr>
              <a:t>delete_product</a:t>
            </a:r>
            <a:r>
              <a:rPr sz="750" i="0">
                <a:solidFill>
                  <a:srgbClr val="E6EDF3"/>
                </a:solidFill>
                <a:latin typeface="Inconsolata"/>
              </a:rPr>
              <a:t>(</a:t>
            </a:r>
          </a:p>
          <a:p>
            <a:pPr>
              <a:lnSpc>
                <a:spcPct val="111111"/>
              </a:lnSpc>
              <a:spcAft>
                <a:spcPts val="0"/>
              </a:spcAft>
            </a:pPr>
            <a:r>
              <a:rPr sz="750" i="0">
                <a:solidFill>
                  <a:srgbClr val="E6EDF3"/>
                </a:solidFill>
                <a:latin typeface="Inconsolata"/>
              </a:rPr>
              <a:t>        product_id: </a:t>
            </a:r>
            <a:r>
              <a:rPr sz="750" i="0">
                <a:solidFill>
                  <a:srgbClr val="C3A6FF"/>
                </a:solidFill>
                <a:latin typeface="Inconsolata"/>
              </a:rPr>
              <a:t>int</a:t>
            </a:r>
            <a:r>
              <a:rPr sz="750" i="0">
                <a:solidFill>
                  <a:srgbClr val="E6EDF3"/>
                </a:solidFill>
                <a:latin typeface="Inconsolata"/>
              </a:rPr>
              <a:t>,</a:t>
            </a:r>
          </a:p>
          <a:p>
            <a:pPr>
              <a:lnSpc>
                <a:spcPct val="111111"/>
              </a:lnSpc>
              <a:spcAft>
                <a:spcPts val="0"/>
              </a:spcAft>
            </a:pPr>
            <a:r>
              <a:rPr sz="750" i="0">
                <a:solidFill>
                  <a:srgbClr val="E6EDF3"/>
                </a:solidFill>
                <a:latin typeface="Inconsolata"/>
              </a:rPr>
              <a:t>        user: </a:t>
            </a:r>
            <a:r>
              <a:rPr sz="750" i="0">
                <a:solidFill>
                  <a:srgbClr val="C3A6FF"/>
                </a:solidFill>
                <a:latin typeface="Inconsolata"/>
              </a:rPr>
              <a:t>dict</a:t>
            </a:r>
            <a:r>
              <a:rPr sz="750" i="0">
                <a:solidFill>
                  <a:srgbClr val="E6EDF3"/>
                </a:solidFill>
                <a:latin typeface="Inconsolata"/>
              </a:rPr>
              <a:t> = </a:t>
            </a:r>
            <a:r>
              <a:rPr sz="750" i="0">
                <a:solidFill>
                  <a:srgbClr val="7FDBCA"/>
                </a:solidFill>
                <a:latin typeface="Inconsolata"/>
              </a:rPr>
              <a:t>Security</a:t>
            </a:r>
            <a:r>
              <a:rPr sz="750" i="0">
                <a:solidFill>
                  <a:srgbClr val="E6EDF3"/>
                </a:solidFill>
                <a:latin typeface="Inconsolata"/>
              </a:rPr>
              <a:t>(current_user, scopes=[</a:t>
            </a:r>
            <a:r>
              <a:rPr sz="750" i="0">
                <a:solidFill>
                  <a:srgbClr val="A5D6A7"/>
                </a:solidFill>
                <a:latin typeface="Inconsolata"/>
              </a:rPr>
              <a:t>"products:write"</a:t>
            </a:r>
            <a:r>
              <a:rPr sz="750" i="0">
                <a:solidFill>
                  <a:srgbClr val="E6EDF3"/>
                </a:solidFill>
                <a:latin typeface="Inconsolata"/>
              </a:rPr>
              <a:t>])):</a:t>
            </a:r>
          </a:p>
        </p:txBody>
      </p:sp>
      <p:sp>
        <p:nvSpPr>
          <p:cNvPr id="38" name="Box 23"/>
          <p:cNvSpPr/>
          <p:nvPr/>
        </p:nvSpPr>
        <p:spPr>
          <a:xfrm>
            <a:off x="4379976" y="3863086"/>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RBAC &amp; Scopes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menggunakan Scope?</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Tanpa scope</a:t>
            </a:r>
          </a:p>
          <a:p>
            <a:pPr algn="l">
              <a:lnSpc>
                <a:spcPct val="115000"/>
              </a:lnSpc>
              <a:spcAft>
                <a:spcPts val="400"/>
              </a:spcAft>
            </a:pPr>
            <a:r>
              <a:rPr sz="950" b="0" i="0">
                <a:solidFill>
                  <a:srgbClr val="434343"/>
                </a:solidFill>
                <a:latin typeface="Inter"/>
              </a:rPr>
              <a:t>Setiap endpoint admin menulis </a:t>
            </a:r>
            <a:r>
              <a:rPr sz="950" b="0" i="0">
                <a:solidFill>
                  <a:srgbClr val="B5482A"/>
                </a:solidFill>
                <a:latin typeface="Inconsolata"/>
              </a:rPr>
              <a:t>if user["role"] != "admin"</a:t>
            </a:r>
            <a:r>
              <a:rPr sz="950" b="0" i="0">
                <a:solidFill>
                  <a:srgbClr val="434343"/>
                </a:solidFill>
                <a:latin typeface="Inter"/>
              </a:rPr>
              <a:t> sendiri. Satu endpoint terlupa, dan customer bisa menghapus produk.</a:t>
            </a:r>
          </a:p>
          <a:p>
            <a:pPr algn="l">
              <a:lnSpc>
                <a:spcPct val="115000"/>
              </a:lnSpc>
              <a:spcAft>
                <a:spcPts val="400"/>
              </a:spcAft>
            </a:pPr>
            <a:r>
              <a:rPr sz="1050" b="1" i="0">
                <a:solidFill>
                  <a:srgbClr val="1C4587"/>
                </a:solidFill>
                <a:latin typeface="Inter"/>
              </a:rPr>
              <a:t>Jika endpoint admin makin banyak</a:t>
            </a:r>
          </a:p>
          <a:p>
            <a:pPr algn="l">
              <a:lnSpc>
                <a:spcPct val="115000"/>
              </a:lnSpc>
              <a:spcAft>
                <a:spcPts val="400"/>
              </a:spcAft>
            </a:pPr>
            <a:r>
              <a:rPr sz="950" b="0" i="0">
                <a:solidFill>
                  <a:srgbClr val="434343"/>
                </a:solidFill>
                <a:latin typeface="Inter"/>
              </a:rPr>
              <a:t>Pengecekan tersebar di puluhan endpoint, dan yang terlupa sulit ditemukan saat review.</a:t>
            </a:r>
          </a:p>
          <a:p>
            <a:pPr algn="l">
              <a:lnSpc>
                <a:spcPct val="115000"/>
              </a:lnSpc>
              <a:spcAft>
                <a:spcPts val="400"/>
              </a:spcAft>
            </a:pPr>
            <a:r>
              <a:rPr sz="950" b="0" i="0">
                <a:solidFill>
                  <a:srgbClr val="434343"/>
                </a:solidFill>
                <a:latin typeface="Inter"/>
              </a:rPr>
              <a:t>Hal ini menimbulkan potensi customer menjalankan aksi admin.</a:t>
            </a:r>
          </a:p>
          <a:p>
            <a:pPr algn="l">
              <a:lnSpc>
                <a:spcPct val="115000"/>
              </a:lnSpc>
              <a:spcAft>
                <a:spcPts val="400"/>
              </a:spcAft>
            </a:pPr>
            <a:r>
              <a:rPr sz="1050" b="1" i="0">
                <a:solidFill>
                  <a:srgbClr val="1C4587"/>
                </a:solidFill>
                <a:latin typeface="Inter"/>
              </a:rPr>
              <a:t>Yang dipakai dari FastAPI: Security dan SecurityScopes</a:t>
            </a:r>
          </a:p>
          <a:p>
            <a:pPr algn="l">
              <a:lnSpc>
                <a:spcPct val="115000"/>
              </a:lnSpc>
              <a:spcAft>
                <a:spcPts val="400"/>
              </a:spcAft>
            </a:pPr>
            <a:r>
              <a:rPr sz="950" b="0" i="0">
                <a:solidFill>
                  <a:srgbClr val="B5482A"/>
                </a:solidFill>
                <a:latin typeface="Inconsolata"/>
              </a:rPr>
              <a:t>Security</a:t>
            </a:r>
            <a:r>
              <a:rPr sz="950" b="0" i="0">
                <a:solidFill>
                  <a:srgbClr val="434343"/>
                </a:solidFill>
                <a:latin typeface="Inter"/>
              </a:rPr>
              <a:t> seperti </a:t>
            </a:r>
            <a:r>
              <a:rPr sz="950" b="0" i="0">
                <a:solidFill>
                  <a:srgbClr val="B5482A"/>
                </a:solidFill>
                <a:latin typeface="Inconsolata"/>
              </a:rPr>
              <a:t>Depends</a:t>
            </a:r>
            <a:r>
              <a:rPr sz="950" b="0" i="0">
                <a:solidFill>
                  <a:srgbClr val="434343"/>
                </a:solidFill>
                <a:latin typeface="Inter"/>
              </a:rPr>
              <a:t>, ditambah daftar scope. Dependency menerima semua scope itu lewat </a:t>
            </a:r>
            <a:r>
              <a:rPr sz="950" b="0" i="0">
                <a:solidFill>
                  <a:srgbClr val="B5482A"/>
                </a:solidFill>
                <a:latin typeface="Inconsolata"/>
              </a:rPr>
              <a:t>SecurityScopes</a:t>
            </a:r>
            <a:r>
              <a:rPr sz="950" b="0" i="0">
                <a:solidFill>
                  <a:srgbClr val="434343"/>
                </a:solidFill>
                <a:latin typeface="Inter"/>
              </a:rPr>
              <a:t>.</a:t>
            </a:r>
          </a:p>
        </p:txBody>
      </p:sp>
      <p:graphicFrame>
        <p:nvGraphicFramePr>
          <p:cNvPr id="23" name="Table 4"/>
          <p:cNvGraphicFramePr>
            <a:graphicFrameLocks noGrp="1"/>
          </p:cNvGraphicFramePr>
          <p:nvPr/>
        </p:nvGraphicFramePr>
        <p:xfrm>
          <a:off x="4800600" y="1481328"/>
          <a:ext cx="3685032" cy="1508760"/>
        </p:xfrm>
        <a:graphic>
          <a:graphicData uri="http://schemas.openxmlformats.org/drawingml/2006/table">
            <a:tbl>
              <a:tblPr firstRow="1" bandRow="1"/>
              <a:tblGrid>
                <a:gridCol w="941832">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tblGrid>
              <a:tr h="502920">
                <a:tc>
                  <a:txBody>
                    <a:bodyPr/>
                    <a:lstStyle/>
                    <a:p>
                      <a:pPr algn="l">
                        <a:lnSpc>
                          <a:spcPct val="100000"/>
                        </a:lnSpc>
                        <a:spcAft>
                          <a:spcPts val="0"/>
                        </a:spcAft>
                      </a:pPr>
                      <a:r>
                        <a:rPr sz="850" b="1" i="0">
                          <a:solidFill>
                            <a:srgbClr val="FFFFFF"/>
                          </a:solidFill>
                          <a:latin typeface="Inter"/>
                        </a:rPr>
                        <a:t>Role</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Scope</a:t>
                      </a:r>
                    </a:p>
                  </a:txBody>
                  <a:tcPr marL="73152" marR="73152" marT="36576" marB="36576" anchor="ctr">
                    <a:solidFill>
                      <a:srgbClr val="1C4587"/>
                    </a:solidFill>
                  </a:tcPr>
                </a:tc>
                <a:extLst>
                  <a:ext uri="{0D108BD9-81ED-4DB2-BD59-A6C34878D82A}">
                    <a16:rowId xmlns:a16="http://schemas.microsoft.com/office/drawing/2014/main" val="10000"/>
                  </a:ext>
                </a:extLst>
              </a:tr>
              <a:tr h="502920">
                <a:tc>
                  <a:txBody>
                    <a:bodyPr/>
                    <a:lstStyle/>
                    <a:p>
                      <a:pPr algn="l">
                        <a:lnSpc>
                          <a:spcPct val="100000"/>
                        </a:lnSpc>
                        <a:spcAft>
                          <a:spcPts val="0"/>
                        </a:spcAft>
                      </a:pPr>
                      <a:r>
                        <a:rPr sz="850" b="1" i="0">
                          <a:solidFill>
                            <a:srgbClr val="1C4587"/>
                          </a:solidFill>
                          <a:latin typeface="Inter"/>
                        </a:rPr>
                        <a:t>customer</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orders:write</a:t>
                      </a:r>
                    </a:p>
                  </a:txBody>
                  <a:tcPr marL="73152" marR="73152" marT="36576" marB="36576" anchor="ctr">
                    <a:solidFill>
                      <a:srgbClr val="FFFFFF"/>
                    </a:solidFill>
                  </a:tcPr>
                </a:tc>
                <a:extLst>
                  <a:ext uri="{0D108BD9-81ED-4DB2-BD59-A6C34878D82A}">
                    <a16:rowId xmlns:a16="http://schemas.microsoft.com/office/drawing/2014/main" val="10001"/>
                  </a:ext>
                </a:extLst>
              </a:tr>
              <a:tr h="502920">
                <a:tc>
                  <a:txBody>
                    <a:bodyPr/>
                    <a:lstStyle/>
                    <a:p>
                      <a:pPr algn="l">
                        <a:lnSpc>
                          <a:spcPct val="100000"/>
                        </a:lnSpc>
                        <a:spcAft>
                          <a:spcPts val="0"/>
                        </a:spcAft>
                      </a:pPr>
                      <a:r>
                        <a:rPr sz="850" b="1" i="0">
                          <a:solidFill>
                            <a:srgbClr val="1C4587"/>
                          </a:solidFill>
                          <a:latin typeface="Inter"/>
                        </a:rPr>
                        <a:t>admin</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orders:write, orders:all, products:write, reports:read</a:t>
                      </a:r>
                    </a:p>
                  </a:txBody>
                  <a:tcPr marL="73152" marR="73152" marT="36576" marB="36576" anchor="ctr">
                    <a:solidFill>
                      <a:srgbClr val="F3F4F6"/>
                    </a:solidFill>
                  </a:tcPr>
                </a:tc>
                <a:extLst>
                  <a:ext uri="{0D108BD9-81ED-4DB2-BD59-A6C34878D82A}">
                    <a16:rowId xmlns:a16="http://schemas.microsoft.com/office/drawing/2014/main" val="10002"/>
                  </a:ext>
                </a:extLst>
              </a:tr>
            </a:tbl>
          </a:graphicData>
        </a:graphic>
      </p:graphicFrame>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RBAC &amp; Scopes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cek role manual di setiap endpoint</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06-rbac-scopes/before.py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9914"/>
              </a:lnSpc>
              <a:spcAft>
                <a:spcPts val="0"/>
              </a:spcAft>
            </a:pPr>
            <a:r>
              <a:rPr sz="682" i="0">
                <a:solidFill>
                  <a:srgbClr val="5C6773"/>
                </a:solidFill>
                <a:latin typeface="Inconsolata"/>
              </a:rPr>
              <a:t> 9  </a:t>
            </a:r>
            <a:r>
              <a:rPr sz="682" i="0">
                <a:solidFill>
                  <a:srgbClr val="FF8E6E"/>
                </a:solidFill>
                <a:latin typeface="Inconsolata"/>
              </a:rPr>
              <a:t>from</a:t>
            </a:r>
            <a:r>
              <a:rPr sz="682" i="0">
                <a:solidFill>
                  <a:srgbClr val="E6EDF3"/>
                </a:solidFill>
                <a:latin typeface="Inconsolata"/>
              </a:rPr>
              <a:t> fastapi </a:t>
            </a:r>
            <a:r>
              <a:rPr sz="682" i="0">
                <a:solidFill>
                  <a:srgbClr val="FF8E6E"/>
                </a:solidFill>
                <a:latin typeface="Inconsolata"/>
              </a:rPr>
              <a:t>import</a:t>
            </a:r>
            <a:r>
              <a:rPr sz="682" i="0">
                <a:solidFill>
                  <a:srgbClr val="E6EDF3"/>
                </a:solidFill>
                <a:latin typeface="Inconsolata"/>
              </a:rPr>
              <a:t> </a:t>
            </a:r>
            <a:r>
              <a:rPr sz="682" i="0">
                <a:solidFill>
                  <a:srgbClr val="7FDBCA"/>
                </a:solidFill>
                <a:latin typeface="Inconsolata"/>
              </a:rPr>
              <a:t>Depends</a:t>
            </a:r>
            <a:r>
              <a:rPr sz="682" i="0">
                <a:solidFill>
                  <a:srgbClr val="E6EDF3"/>
                </a:solidFill>
                <a:latin typeface="Inconsolata"/>
              </a:rPr>
              <a:t>, </a:t>
            </a:r>
            <a:r>
              <a:rPr sz="682" i="0">
                <a:solidFill>
                  <a:srgbClr val="7FDBCA"/>
                </a:solidFill>
                <a:latin typeface="Inconsolata"/>
              </a:rPr>
              <a:t>FastAPI</a:t>
            </a:r>
            <a:r>
              <a:rPr sz="682" i="0">
                <a:solidFill>
                  <a:srgbClr val="E6EDF3"/>
                </a:solidFill>
                <a:latin typeface="Inconsolata"/>
              </a:rPr>
              <a:t>, </a:t>
            </a:r>
            <a:r>
              <a:rPr sz="682" i="0">
                <a:solidFill>
                  <a:srgbClr val="7FDBCA"/>
                </a:solidFill>
                <a:latin typeface="Inconsolata"/>
              </a:rPr>
              <a:t>Header</a:t>
            </a:r>
            <a:r>
              <a:rPr sz="682" i="0">
                <a:solidFill>
                  <a:srgbClr val="E6EDF3"/>
                </a:solidFill>
                <a:latin typeface="Inconsolata"/>
              </a:rPr>
              <a:t>, </a:t>
            </a:r>
            <a:r>
              <a:rPr sz="682" i="0">
                <a:solidFill>
                  <a:srgbClr val="7FDBCA"/>
                </a:solidFill>
                <a:latin typeface="Inconsolata"/>
              </a:rPr>
              <a:t>HTTPException</a:t>
            </a:r>
          </a:p>
          <a:p>
            <a:pPr>
              <a:lnSpc>
                <a:spcPct val="109914"/>
              </a:lnSpc>
              <a:spcAft>
                <a:spcPts val="0"/>
              </a:spcAft>
            </a:pPr>
            <a:r>
              <a:rPr sz="682" i="0">
                <a:solidFill>
                  <a:srgbClr val="5C6773"/>
                </a:solidFill>
                <a:latin typeface="Inconsolata"/>
              </a:rPr>
              <a:t>10  </a:t>
            </a:r>
            <a:r>
              <a:rPr sz="682" i="0">
                <a:solidFill>
                  <a:srgbClr val="FF8E6E"/>
                </a:solidFill>
                <a:latin typeface="Inconsolata"/>
              </a:rPr>
              <a:t>from</a:t>
            </a:r>
            <a:r>
              <a:rPr sz="682" i="0">
                <a:solidFill>
                  <a:srgbClr val="E6EDF3"/>
                </a:solidFill>
                <a:latin typeface="Inconsolata"/>
              </a:rPr>
              <a:t> fastapi.testclient </a:t>
            </a:r>
            <a:r>
              <a:rPr sz="682" i="0">
                <a:solidFill>
                  <a:srgbClr val="FF8E6E"/>
                </a:solidFill>
                <a:latin typeface="Inconsolata"/>
              </a:rPr>
              <a:t>import</a:t>
            </a:r>
            <a:r>
              <a:rPr sz="682" i="0">
                <a:solidFill>
                  <a:srgbClr val="E6EDF3"/>
                </a:solidFill>
                <a:latin typeface="Inconsolata"/>
              </a:rPr>
              <a:t> </a:t>
            </a:r>
            <a:r>
              <a:rPr sz="682" i="0">
                <a:solidFill>
                  <a:srgbClr val="7FDBCA"/>
                </a:solidFill>
                <a:latin typeface="Inconsolata"/>
              </a:rPr>
              <a:t>TestClient</a:t>
            </a:r>
          </a:p>
          <a:p>
            <a:pPr>
              <a:lnSpc>
                <a:spcPct val="109914"/>
              </a:lnSpc>
              <a:spcAft>
                <a:spcPts val="0"/>
              </a:spcAft>
            </a:pPr>
            <a:r>
              <a:rPr sz="682" i="0">
                <a:solidFill>
                  <a:srgbClr val="5C6773"/>
                </a:solidFill>
                <a:latin typeface="Inconsolata"/>
              </a:rPr>
              <a:t>11  </a:t>
            </a:r>
            <a:r>
              <a:rPr sz="682" i="0">
                <a:solidFill>
                  <a:srgbClr val="E6EDF3"/>
                </a:solidFill>
                <a:latin typeface="Inconsolata"/>
              </a:rPr>
              <a:t> </a:t>
            </a:r>
          </a:p>
          <a:p>
            <a:pPr>
              <a:lnSpc>
                <a:spcPct val="109914"/>
              </a:lnSpc>
              <a:spcAft>
                <a:spcPts val="0"/>
              </a:spcAft>
            </a:pPr>
            <a:r>
              <a:rPr sz="682" i="0">
                <a:solidFill>
                  <a:srgbClr val="5C6773"/>
                </a:solidFill>
                <a:latin typeface="Inconsolata"/>
              </a:rPr>
              <a:t>12  </a:t>
            </a:r>
            <a:r>
              <a:rPr sz="682" i="0">
                <a:solidFill>
                  <a:srgbClr val="7FDBCA"/>
                </a:solidFill>
                <a:latin typeface="Inconsolata"/>
              </a:rPr>
              <a:t>USERS</a:t>
            </a:r>
            <a:r>
              <a:rPr sz="682" i="0">
                <a:solidFill>
                  <a:srgbClr val="E6EDF3"/>
                </a:solidFill>
                <a:latin typeface="Inconsolata"/>
              </a:rPr>
              <a:t> = {</a:t>
            </a:r>
            <a:r>
              <a:rPr sz="682" i="0">
                <a:solidFill>
                  <a:srgbClr val="A5D6A7"/>
                </a:solidFill>
                <a:latin typeface="Inconsolata"/>
              </a:rPr>
              <a:t>"budi@mail.com"</a:t>
            </a:r>
            <a:r>
              <a:rPr sz="682" i="0">
                <a:solidFill>
                  <a:srgbClr val="E6EDF3"/>
                </a:solidFill>
                <a:latin typeface="Inconsolata"/>
              </a:rPr>
              <a:t>: </a:t>
            </a:r>
            <a:r>
              <a:rPr sz="682" i="0">
                <a:solidFill>
                  <a:srgbClr val="A5D6A7"/>
                </a:solidFill>
                <a:latin typeface="Inconsolata"/>
              </a:rPr>
              <a:t>"customer"</a:t>
            </a:r>
            <a:r>
              <a:rPr sz="682" i="0">
                <a:solidFill>
                  <a:srgbClr val="E6EDF3"/>
                </a:solidFill>
                <a:latin typeface="Inconsolata"/>
              </a:rPr>
              <a:t>, </a:t>
            </a:r>
            <a:r>
              <a:rPr sz="682" i="0">
                <a:solidFill>
                  <a:srgbClr val="A5D6A7"/>
                </a:solidFill>
                <a:latin typeface="Inconsolata"/>
              </a:rPr>
              <a:t>"admin@toko.com"</a:t>
            </a:r>
            <a:r>
              <a:rPr sz="682" i="0">
                <a:solidFill>
                  <a:srgbClr val="E6EDF3"/>
                </a:solidFill>
                <a:latin typeface="Inconsolata"/>
              </a:rPr>
              <a:t>: </a:t>
            </a:r>
            <a:r>
              <a:rPr sz="682" i="0">
                <a:solidFill>
                  <a:srgbClr val="A5D6A7"/>
                </a:solidFill>
                <a:latin typeface="Inconsolata"/>
              </a:rPr>
              <a:t>"admin"</a:t>
            </a:r>
            <a:r>
              <a:rPr sz="682" i="0">
                <a:solidFill>
                  <a:srgbClr val="E6EDF3"/>
                </a:solidFill>
                <a:latin typeface="Inconsolata"/>
              </a:rPr>
              <a:t>}</a:t>
            </a:r>
          </a:p>
          <a:p>
            <a:pPr>
              <a:lnSpc>
                <a:spcPct val="109914"/>
              </a:lnSpc>
              <a:spcAft>
                <a:spcPts val="0"/>
              </a:spcAft>
            </a:pPr>
            <a:r>
              <a:rPr sz="682" i="0">
                <a:solidFill>
                  <a:srgbClr val="5C6773"/>
                </a:solidFill>
                <a:latin typeface="Inconsolata"/>
              </a:rPr>
              <a:t>13  </a:t>
            </a:r>
            <a:r>
              <a:rPr sz="682" i="0">
                <a:solidFill>
                  <a:srgbClr val="E6EDF3"/>
                </a:solidFill>
                <a:latin typeface="Inconsolata"/>
              </a:rPr>
              <a:t>app = </a:t>
            </a:r>
            <a:r>
              <a:rPr sz="682" i="0">
                <a:solidFill>
                  <a:srgbClr val="7FDBCA"/>
                </a:solidFill>
                <a:latin typeface="Inconsolata"/>
              </a:rPr>
              <a:t>FastAPI</a:t>
            </a:r>
            <a:r>
              <a:rPr sz="682" i="0">
                <a:solidFill>
                  <a:srgbClr val="E6EDF3"/>
                </a:solidFill>
                <a:latin typeface="Inconsolata"/>
              </a:rPr>
              <a:t>()</a:t>
            </a:r>
          </a:p>
          <a:p>
            <a:pPr>
              <a:lnSpc>
                <a:spcPct val="109914"/>
              </a:lnSpc>
              <a:spcAft>
                <a:spcPts val="0"/>
              </a:spcAft>
            </a:pPr>
            <a:r>
              <a:rPr sz="682" i="0">
                <a:solidFill>
                  <a:srgbClr val="5C6773"/>
                </a:solidFill>
                <a:latin typeface="Inconsolata"/>
              </a:rPr>
              <a:t>14  </a:t>
            </a:r>
            <a:r>
              <a:rPr sz="682" i="0">
                <a:solidFill>
                  <a:srgbClr val="E6EDF3"/>
                </a:solidFill>
                <a:latin typeface="Inconsolata"/>
              </a:rPr>
              <a:t> </a:t>
            </a:r>
          </a:p>
          <a:p>
            <a:pPr>
              <a:lnSpc>
                <a:spcPct val="109914"/>
              </a:lnSpc>
              <a:spcAft>
                <a:spcPts val="0"/>
              </a:spcAft>
            </a:pPr>
            <a:r>
              <a:rPr sz="682" i="0">
                <a:solidFill>
                  <a:srgbClr val="5C6773"/>
                </a:solidFill>
                <a:latin typeface="Inconsolata"/>
              </a:rPr>
              <a:t>15  </a:t>
            </a:r>
            <a:r>
              <a:rPr sz="682" i="0">
                <a:solidFill>
                  <a:srgbClr val="E6EDF3"/>
                </a:solidFill>
                <a:latin typeface="Inconsolata"/>
              </a:rPr>
              <a:t> </a:t>
            </a:r>
          </a:p>
          <a:p>
            <a:pPr>
              <a:lnSpc>
                <a:spcPct val="109914"/>
              </a:lnSpc>
              <a:spcAft>
                <a:spcPts val="0"/>
              </a:spcAft>
            </a:pPr>
            <a:r>
              <a:rPr sz="682" i="0">
                <a:solidFill>
                  <a:srgbClr val="5C6773"/>
                </a:solidFill>
                <a:latin typeface="Inconsolata"/>
              </a:rPr>
              <a:t>16  </a:t>
            </a:r>
            <a:r>
              <a:rPr sz="682" i="0">
                <a:solidFill>
                  <a:srgbClr val="FF8E6E"/>
                </a:solidFill>
                <a:latin typeface="Inconsolata"/>
              </a:rPr>
              <a:t>def</a:t>
            </a:r>
            <a:r>
              <a:rPr sz="682" i="0">
                <a:solidFill>
                  <a:srgbClr val="E6EDF3"/>
                </a:solidFill>
                <a:latin typeface="Inconsolata"/>
              </a:rPr>
              <a:t> </a:t>
            </a:r>
            <a:r>
              <a:rPr sz="682" i="0">
                <a:solidFill>
                  <a:srgbClr val="82B1FF"/>
                </a:solidFill>
                <a:latin typeface="Inconsolata"/>
              </a:rPr>
              <a:t>current_user</a:t>
            </a:r>
            <a:r>
              <a:rPr sz="682" i="0">
                <a:solidFill>
                  <a:srgbClr val="E6EDF3"/>
                </a:solidFill>
                <a:latin typeface="Inconsolata"/>
              </a:rPr>
              <a:t>(x_user: </a:t>
            </a:r>
            <a:r>
              <a:rPr sz="682" i="0">
                <a:solidFill>
                  <a:srgbClr val="C3A6FF"/>
                </a:solidFill>
                <a:latin typeface="Inconsolata"/>
              </a:rPr>
              <a:t>str</a:t>
            </a:r>
            <a:r>
              <a:rPr sz="682" i="0">
                <a:solidFill>
                  <a:srgbClr val="E6EDF3"/>
                </a:solidFill>
                <a:latin typeface="Inconsolata"/>
              </a:rPr>
              <a:t> = </a:t>
            </a:r>
            <a:r>
              <a:rPr sz="682" i="0">
                <a:solidFill>
                  <a:srgbClr val="7FDBCA"/>
                </a:solidFill>
                <a:latin typeface="Inconsolata"/>
              </a:rPr>
              <a:t>Header</a:t>
            </a:r>
            <a:r>
              <a:rPr sz="682" i="0">
                <a:solidFill>
                  <a:srgbClr val="E6EDF3"/>
                </a:solidFill>
                <a:latin typeface="Inconsolata"/>
              </a:rPr>
              <a:t>()) -&gt; </a:t>
            </a:r>
            <a:r>
              <a:rPr sz="682" i="0">
                <a:solidFill>
                  <a:srgbClr val="C3A6FF"/>
                </a:solidFill>
                <a:latin typeface="Inconsolata"/>
              </a:rPr>
              <a:t>dict</a:t>
            </a:r>
            <a:r>
              <a:rPr sz="682" i="0">
                <a:solidFill>
                  <a:srgbClr val="E6EDF3"/>
                </a:solidFill>
                <a:latin typeface="Inconsolata"/>
              </a:rPr>
              <a:t>:</a:t>
            </a:r>
          </a:p>
          <a:p>
            <a:pPr>
              <a:lnSpc>
                <a:spcPct val="109914"/>
              </a:lnSpc>
              <a:spcAft>
                <a:spcPts val="0"/>
              </a:spcAft>
            </a:pPr>
            <a:r>
              <a:rPr sz="682" i="0">
                <a:solidFill>
                  <a:srgbClr val="5C6773"/>
                </a:solidFill>
                <a:latin typeface="Inconsolata"/>
              </a:rPr>
              <a:t>17  </a:t>
            </a:r>
            <a:r>
              <a:rPr sz="682" i="0">
                <a:solidFill>
                  <a:srgbClr val="E6EDF3"/>
                </a:solidFill>
                <a:latin typeface="Inconsolata"/>
              </a:rPr>
              <a:t>    </a:t>
            </a:r>
            <a:r>
              <a:rPr sz="682" i="0">
                <a:solidFill>
                  <a:srgbClr val="FF8E6E"/>
                </a:solidFill>
                <a:latin typeface="Inconsolata"/>
              </a:rPr>
              <a:t>return</a:t>
            </a:r>
            <a:r>
              <a:rPr sz="682" i="0">
                <a:solidFill>
                  <a:srgbClr val="E6EDF3"/>
                </a:solidFill>
                <a:latin typeface="Inconsolata"/>
              </a:rPr>
              <a:t> {</a:t>
            </a:r>
            <a:r>
              <a:rPr sz="682" i="0">
                <a:solidFill>
                  <a:srgbClr val="A5D6A7"/>
                </a:solidFill>
                <a:latin typeface="Inconsolata"/>
              </a:rPr>
              <a:t>"sub"</a:t>
            </a:r>
            <a:r>
              <a:rPr sz="682" i="0">
                <a:solidFill>
                  <a:srgbClr val="E6EDF3"/>
                </a:solidFill>
                <a:latin typeface="Inconsolata"/>
              </a:rPr>
              <a:t>: x_user, </a:t>
            </a:r>
            <a:r>
              <a:rPr sz="682" i="0">
                <a:solidFill>
                  <a:srgbClr val="A5D6A7"/>
                </a:solidFill>
                <a:latin typeface="Inconsolata"/>
              </a:rPr>
              <a:t>"role"</a:t>
            </a:r>
            <a:r>
              <a:rPr sz="682" i="0">
                <a:solidFill>
                  <a:srgbClr val="E6EDF3"/>
                </a:solidFill>
                <a:latin typeface="Inconsolata"/>
              </a:rPr>
              <a:t>: </a:t>
            </a:r>
            <a:r>
              <a:rPr sz="682" i="0">
                <a:solidFill>
                  <a:srgbClr val="7FDBCA"/>
                </a:solidFill>
                <a:latin typeface="Inconsolata"/>
              </a:rPr>
              <a:t>USERS</a:t>
            </a:r>
            <a:r>
              <a:rPr sz="682" i="0">
                <a:solidFill>
                  <a:srgbClr val="E6EDF3"/>
                </a:solidFill>
                <a:latin typeface="Inconsolata"/>
              </a:rPr>
              <a:t>[x_user]}   </a:t>
            </a:r>
            <a:r>
              <a:rPr sz="682" i="1">
                <a:solidFill>
                  <a:srgbClr val="8B98A8"/>
                </a:solidFill>
                <a:latin typeface="Inconsolata"/>
              </a:rPr>
              <a:t># anggap: dari JWT</a:t>
            </a:r>
          </a:p>
          <a:p>
            <a:pPr>
              <a:lnSpc>
                <a:spcPct val="109914"/>
              </a:lnSpc>
              <a:spcAft>
                <a:spcPts val="0"/>
              </a:spcAft>
            </a:pPr>
            <a:r>
              <a:rPr sz="682" i="0">
                <a:solidFill>
                  <a:srgbClr val="5C6773"/>
                </a:solidFill>
                <a:latin typeface="Inconsolata"/>
              </a:rPr>
              <a:t>18  </a:t>
            </a:r>
            <a:r>
              <a:rPr sz="682" i="0">
                <a:solidFill>
                  <a:srgbClr val="E6EDF3"/>
                </a:solidFill>
                <a:latin typeface="Inconsolata"/>
              </a:rPr>
              <a:t> </a:t>
            </a:r>
          </a:p>
          <a:p>
            <a:pPr>
              <a:lnSpc>
                <a:spcPct val="109914"/>
              </a:lnSpc>
              <a:spcAft>
                <a:spcPts val="0"/>
              </a:spcAft>
            </a:pPr>
            <a:r>
              <a:rPr sz="682" i="0">
                <a:solidFill>
                  <a:srgbClr val="5C6773"/>
                </a:solidFill>
                <a:latin typeface="Inconsolata"/>
              </a:rPr>
              <a:t>19  </a:t>
            </a:r>
            <a:r>
              <a:rPr sz="682" i="0">
                <a:solidFill>
                  <a:srgbClr val="E6EDF3"/>
                </a:solidFill>
                <a:latin typeface="Inconsolata"/>
              </a:rPr>
              <a:t> </a:t>
            </a:r>
          </a:p>
          <a:p>
            <a:pPr>
              <a:lnSpc>
                <a:spcPct val="109914"/>
              </a:lnSpc>
              <a:spcAft>
                <a:spcPts val="0"/>
              </a:spcAft>
            </a:pPr>
            <a:r>
              <a:rPr sz="682" i="0">
                <a:solidFill>
                  <a:srgbClr val="5C6773"/>
                </a:solidFill>
                <a:latin typeface="Inconsolata"/>
              </a:rPr>
              <a:t>20  </a:t>
            </a:r>
            <a:r>
              <a:rPr sz="682" i="0">
                <a:solidFill>
                  <a:srgbClr val="F9C97A"/>
                </a:solidFill>
                <a:latin typeface="Inconsolata"/>
              </a:rPr>
              <a:t>@app.post</a:t>
            </a:r>
            <a:r>
              <a:rPr sz="682" i="0">
                <a:solidFill>
                  <a:srgbClr val="E6EDF3"/>
                </a:solidFill>
                <a:latin typeface="Inconsolata"/>
              </a:rPr>
              <a:t>(</a:t>
            </a:r>
            <a:r>
              <a:rPr sz="682" i="0">
                <a:solidFill>
                  <a:srgbClr val="A5D6A7"/>
                </a:solidFill>
                <a:latin typeface="Inconsolata"/>
              </a:rPr>
              <a:t>"/products"</a:t>
            </a:r>
            <a:r>
              <a:rPr sz="682" i="0">
                <a:solidFill>
                  <a:srgbClr val="E6EDF3"/>
                </a:solidFill>
                <a:latin typeface="Inconsolata"/>
              </a:rPr>
              <a:t>)</a:t>
            </a:r>
          </a:p>
          <a:p>
            <a:pPr>
              <a:lnSpc>
                <a:spcPct val="109914"/>
              </a:lnSpc>
              <a:spcAft>
                <a:spcPts val="0"/>
              </a:spcAft>
            </a:pPr>
            <a:r>
              <a:rPr sz="682" i="0">
                <a:solidFill>
                  <a:srgbClr val="5C6773"/>
                </a:solidFill>
                <a:latin typeface="Inconsolata"/>
              </a:rPr>
              <a:t>21  </a:t>
            </a:r>
            <a:r>
              <a:rPr sz="682" i="0">
                <a:solidFill>
                  <a:srgbClr val="FF8E6E"/>
                </a:solidFill>
                <a:latin typeface="Inconsolata"/>
              </a:rPr>
              <a:t>def</a:t>
            </a:r>
            <a:r>
              <a:rPr sz="682" i="0">
                <a:solidFill>
                  <a:srgbClr val="E6EDF3"/>
                </a:solidFill>
                <a:latin typeface="Inconsolata"/>
              </a:rPr>
              <a:t> </a:t>
            </a:r>
            <a:r>
              <a:rPr sz="682" i="0">
                <a:solidFill>
                  <a:srgbClr val="82B1FF"/>
                </a:solidFill>
                <a:latin typeface="Inconsolata"/>
              </a:rPr>
              <a:t>create_product</a:t>
            </a:r>
            <a:r>
              <a:rPr sz="682" i="0">
                <a:solidFill>
                  <a:srgbClr val="E6EDF3"/>
                </a:solidFill>
                <a:latin typeface="Inconsolata"/>
              </a:rPr>
              <a:t>(user: </a:t>
            </a:r>
            <a:r>
              <a:rPr sz="682" i="0">
                <a:solidFill>
                  <a:srgbClr val="C3A6FF"/>
                </a:solidFill>
                <a:latin typeface="Inconsolata"/>
              </a:rPr>
              <a:t>dict</a:t>
            </a:r>
            <a:r>
              <a:rPr sz="682" i="0">
                <a:solidFill>
                  <a:srgbClr val="E6EDF3"/>
                </a:solidFill>
                <a:latin typeface="Inconsolata"/>
              </a:rPr>
              <a:t> = </a:t>
            </a:r>
            <a:r>
              <a:rPr sz="682" i="0">
                <a:solidFill>
                  <a:srgbClr val="7FDBCA"/>
                </a:solidFill>
                <a:latin typeface="Inconsolata"/>
              </a:rPr>
              <a:t>Depends</a:t>
            </a:r>
            <a:r>
              <a:rPr sz="682" i="0">
                <a:solidFill>
                  <a:srgbClr val="E6EDF3"/>
                </a:solidFill>
                <a:latin typeface="Inconsolata"/>
              </a:rPr>
              <a:t>(current_user)):</a:t>
            </a:r>
          </a:p>
          <a:p>
            <a:pPr>
              <a:lnSpc>
                <a:spcPct val="109914"/>
              </a:lnSpc>
              <a:spcAft>
                <a:spcPts val="0"/>
              </a:spcAft>
            </a:pPr>
            <a:r>
              <a:rPr sz="682" i="0">
                <a:solidFill>
                  <a:srgbClr val="5C6773"/>
                </a:solidFill>
                <a:latin typeface="Inconsolata"/>
              </a:rPr>
              <a:t>22  </a:t>
            </a:r>
            <a:r>
              <a:rPr sz="682" i="0">
                <a:solidFill>
                  <a:srgbClr val="E6EDF3"/>
                </a:solidFill>
                <a:latin typeface="Inconsolata"/>
              </a:rPr>
              <a:t>    </a:t>
            </a:r>
            <a:r>
              <a:rPr sz="682" i="0">
                <a:solidFill>
                  <a:srgbClr val="FF8E6E"/>
                </a:solidFill>
                <a:latin typeface="Inconsolata"/>
              </a:rPr>
              <a:t>if</a:t>
            </a:r>
            <a:r>
              <a:rPr sz="682" i="0">
                <a:solidFill>
                  <a:srgbClr val="E6EDF3"/>
                </a:solidFill>
                <a:latin typeface="Inconsolata"/>
              </a:rPr>
              <a:t> user[</a:t>
            </a:r>
            <a:r>
              <a:rPr sz="682" i="0">
                <a:solidFill>
                  <a:srgbClr val="A5D6A7"/>
                </a:solidFill>
                <a:latin typeface="Inconsolata"/>
              </a:rPr>
              <a:t>"role"</a:t>
            </a:r>
            <a:r>
              <a:rPr sz="682" i="0">
                <a:solidFill>
                  <a:srgbClr val="E6EDF3"/>
                </a:solidFill>
                <a:latin typeface="Inconsolata"/>
              </a:rPr>
              <a:t>] != </a:t>
            </a:r>
            <a:r>
              <a:rPr sz="682" i="0">
                <a:solidFill>
                  <a:srgbClr val="A5D6A7"/>
                </a:solidFill>
                <a:latin typeface="Inconsolata"/>
              </a:rPr>
              <a:t>"admin"</a:t>
            </a:r>
            <a:r>
              <a:rPr sz="682" i="0">
                <a:solidFill>
                  <a:srgbClr val="E6EDF3"/>
                </a:solidFill>
                <a:latin typeface="Inconsolata"/>
              </a:rPr>
              <a:t>:</a:t>
            </a:r>
          </a:p>
          <a:p>
            <a:pPr>
              <a:lnSpc>
                <a:spcPct val="109914"/>
              </a:lnSpc>
              <a:spcAft>
                <a:spcPts val="0"/>
              </a:spcAft>
            </a:pPr>
            <a:r>
              <a:rPr sz="682" i="0">
                <a:solidFill>
                  <a:srgbClr val="5C6773"/>
                </a:solidFill>
                <a:latin typeface="Inconsolata"/>
              </a:rPr>
              <a:t>23  </a:t>
            </a:r>
            <a:r>
              <a:rPr sz="682" i="0">
                <a:solidFill>
                  <a:srgbClr val="E6EDF3"/>
                </a:solidFill>
                <a:latin typeface="Inconsolata"/>
              </a:rPr>
              <a:t>        </a:t>
            </a:r>
            <a:r>
              <a:rPr sz="682" i="0">
                <a:solidFill>
                  <a:srgbClr val="FF8E6E"/>
                </a:solidFill>
                <a:latin typeface="Inconsolata"/>
              </a:rPr>
              <a:t>raise</a:t>
            </a:r>
            <a:r>
              <a:rPr sz="682" i="0">
                <a:solidFill>
                  <a:srgbClr val="E6EDF3"/>
                </a:solidFill>
                <a:latin typeface="Inconsolata"/>
              </a:rPr>
              <a:t> </a:t>
            </a:r>
            <a:r>
              <a:rPr sz="682" i="0">
                <a:solidFill>
                  <a:srgbClr val="7FDBCA"/>
                </a:solidFill>
                <a:latin typeface="Inconsolata"/>
              </a:rPr>
              <a:t>HTTPException</a:t>
            </a:r>
            <a:r>
              <a:rPr sz="682" i="0">
                <a:solidFill>
                  <a:srgbClr val="E6EDF3"/>
                </a:solidFill>
                <a:latin typeface="Inconsolata"/>
              </a:rPr>
              <a:t>(</a:t>
            </a:r>
            <a:r>
              <a:rPr sz="682" i="0">
                <a:solidFill>
                  <a:srgbClr val="F9C97A"/>
                </a:solidFill>
                <a:latin typeface="Inconsolata"/>
              </a:rPr>
              <a:t>403</a:t>
            </a:r>
            <a:r>
              <a:rPr sz="682" i="0">
                <a:solidFill>
                  <a:srgbClr val="E6EDF3"/>
                </a:solidFill>
                <a:latin typeface="Inconsolata"/>
              </a:rPr>
              <a:t>, </a:t>
            </a:r>
            <a:r>
              <a:rPr sz="682" i="0">
                <a:solidFill>
                  <a:srgbClr val="A5D6A7"/>
                </a:solidFill>
                <a:latin typeface="Inconsolata"/>
              </a:rPr>
              <a:t>"khusus admin"</a:t>
            </a:r>
            <a:r>
              <a:rPr sz="682" i="0">
                <a:solidFill>
                  <a:srgbClr val="E6EDF3"/>
                </a:solidFill>
                <a:latin typeface="Inconsolata"/>
              </a:rPr>
              <a:t>)</a:t>
            </a:r>
          </a:p>
          <a:p>
            <a:pPr>
              <a:lnSpc>
                <a:spcPct val="109914"/>
              </a:lnSpc>
              <a:spcAft>
                <a:spcPts val="0"/>
              </a:spcAft>
            </a:pPr>
            <a:r>
              <a:rPr sz="682" i="0">
                <a:solidFill>
                  <a:srgbClr val="5C6773"/>
                </a:solidFill>
                <a:latin typeface="Inconsolata"/>
              </a:rPr>
              <a:t>24  </a:t>
            </a:r>
            <a:r>
              <a:rPr sz="682" i="0">
                <a:solidFill>
                  <a:srgbClr val="E6EDF3"/>
                </a:solidFill>
                <a:latin typeface="Inconsolata"/>
              </a:rPr>
              <a:t>    </a:t>
            </a:r>
            <a:r>
              <a:rPr sz="682" i="0">
                <a:solidFill>
                  <a:srgbClr val="FF8E6E"/>
                </a:solidFill>
                <a:latin typeface="Inconsolata"/>
              </a:rPr>
              <a:t>return</a:t>
            </a:r>
            <a:r>
              <a:rPr sz="682" i="0">
                <a:solidFill>
                  <a:srgbClr val="E6EDF3"/>
                </a:solidFill>
                <a:latin typeface="Inconsolata"/>
              </a:rPr>
              <a:t> {</a:t>
            </a:r>
            <a:r>
              <a:rPr sz="682" i="0">
                <a:solidFill>
                  <a:srgbClr val="A5D6A7"/>
                </a:solidFill>
                <a:latin typeface="Inconsolata"/>
              </a:rPr>
              <a:t>"status"</a:t>
            </a:r>
            <a:r>
              <a:rPr sz="682" i="0">
                <a:solidFill>
                  <a:srgbClr val="E6EDF3"/>
                </a:solidFill>
                <a:latin typeface="Inconsolata"/>
              </a:rPr>
              <a:t>: </a:t>
            </a:r>
            <a:r>
              <a:rPr sz="682" i="0">
                <a:solidFill>
                  <a:srgbClr val="A5D6A7"/>
                </a:solidFill>
                <a:latin typeface="Inconsolata"/>
              </a:rPr>
              <a:t>"created"</a:t>
            </a:r>
            <a:r>
              <a:rPr sz="682"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06-rbac-scopes/before.py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9914"/>
              </a:lnSpc>
              <a:spcAft>
                <a:spcPts val="0"/>
              </a:spcAft>
            </a:pPr>
            <a:r>
              <a:rPr sz="682" i="0">
                <a:solidFill>
                  <a:srgbClr val="5C6773"/>
                </a:solidFill>
                <a:latin typeface="Inconsolata"/>
              </a:rPr>
              <a:t>27  </a:t>
            </a:r>
            <a:r>
              <a:rPr sz="682" i="0">
                <a:solidFill>
                  <a:srgbClr val="F9C97A"/>
                </a:solidFill>
                <a:latin typeface="Inconsolata"/>
              </a:rPr>
              <a:t>@app.delete</a:t>
            </a:r>
            <a:r>
              <a:rPr sz="682" i="0">
                <a:solidFill>
                  <a:srgbClr val="E6EDF3"/>
                </a:solidFill>
                <a:latin typeface="Inconsolata"/>
              </a:rPr>
              <a:t>(</a:t>
            </a:r>
            <a:r>
              <a:rPr sz="682" i="0">
                <a:solidFill>
                  <a:srgbClr val="A5D6A7"/>
                </a:solidFill>
                <a:latin typeface="Inconsolata"/>
              </a:rPr>
              <a:t>"/products/{product_id}"</a:t>
            </a:r>
            <a:r>
              <a:rPr sz="682" i="0">
                <a:solidFill>
                  <a:srgbClr val="E6EDF3"/>
                </a:solidFill>
                <a:latin typeface="Inconsolata"/>
              </a:rPr>
              <a:t>)</a:t>
            </a:r>
          </a:p>
          <a:p>
            <a:pPr>
              <a:lnSpc>
                <a:spcPct val="109914"/>
              </a:lnSpc>
              <a:spcAft>
                <a:spcPts val="0"/>
              </a:spcAft>
            </a:pPr>
            <a:r>
              <a:rPr sz="682" i="0">
                <a:solidFill>
                  <a:srgbClr val="5C6773"/>
                </a:solidFill>
                <a:latin typeface="Inconsolata"/>
              </a:rPr>
              <a:t>28  </a:t>
            </a:r>
            <a:r>
              <a:rPr sz="682" i="0">
                <a:solidFill>
                  <a:srgbClr val="FF8E6E"/>
                </a:solidFill>
                <a:latin typeface="Inconsolata"/>
              </a:rPr>
              <a:t>def</a:t>
            </a:r>
            <a:r>
              <a:rPr sz="682" i="0">
                <a:solidFill>
                  <a:srgbClr val="E6EDF3"/>
                </a:solidFill>
                <a:latin typeface="Inconsolata"/>
              </a:rPr>
              <a:t> </a:t>
            </a:r>
            <a:r>
              <a:rPr sz="682" i="0">
                <a:solidFill>
                  <a:srgbClr val="82B1FF"/>
                </a:solidFill>
                <a:latin typeface="Inconsolata"/>
              </a:rPr>
              <a:t>delete_product</a:t>
            </a:r>
            <a:r>
              <a:rPr sz="682" i="0">
                <a:solidFill>
                  <a:srgbClr val="E6EDF3"/>
                </a:solidFill>
                <a:latin typeface="Inconsolata"/>
              </a:rPr>
              <a:t>(product_id: </a:t>
            </a:r>
            <a:r>
              <a:rPr sz="682" i="0">
                <a:solidFill>
                  <a:srgbClr val="C3A6FF"/>
                </a:solidFill>
                <a:latin typeface="Inconsolata"/>
              </a:rPr>
              <a:t>int</a:t>
            </a:r>
            <a:r>
              <a:rPr sz="682" i="0">
                <a:solidFill>
                  <a:srgbClr val="E6EDF3"/>
                </a:solidFill>
                <a:latin typeface="Inconsolata"/>
              </a:rPr>
              <a:t>,</a:t>
            </a:r>
          </a:p>
          <a:p>
            <a:pPr>
              <a:lnSpc>
                <a:spcPct val="109914"/>
              </a:lnSpc>
              <a:spcAft>
                <a:spcPts val="0"/>
              </a:spcAft>
            </a:pPr>
            <a:r>
              <a:rPr sz="682" i="0">
                <a:solidFill>
                  <a:srgbClr val="5C6773"/>
                </a:solidFill>
                <a:latin typeface="Inconsolata"/>
              </a:rPr>
              <a:t>29  </a:t>
            </a:r>
            <a:r>
              <a:rPr sz="682" i="0">
                <a:solidFill>
                  <a:srgbClr val="E6EDF3"/>
                </a:solidFill>
                <a:latin typeface="Inconsolata"/>
              </a:rPr>
              <a:t>                   user: </a:t>
            </a:r>
            <a:r>
              <a:rPr sz="682" i="0">
                <a:solidFill>
                  <a:srgbClr val="C3A6FF"/>
                </a:solidFill>
                <a:latin typeface="Inconsolata"/>
              </a:rPr>
              <a:t>dict</a:t>
            </a:r>
            <a:r>
              <a:rPr sz="682" i="0">
                <a:solidFill>
                  <a:srgbClr val="E6EDF3"/>
                </a:solidFill>
                <a:latin typeface="Inconsolata"/>
              </a:rPr>
              <a:t> = </a:t>
            </a:r>
            <a:r>
              <a:rPr sz="682" i="0">
                <a:solidFill>
                  <a:srgbClr val="7FDBCA"/>
                </a:solidFill>
                <a:latin typeface="Inconsolata"/>
              </a:rPr>
              <a:t>Depends</a:t>
            </a:r>
            <a:r>
              <a:rPr sz="682" i="0">
                <a:solidFill>
                  <a:srgbClr val="E6EDF3"/>
                </a:solidFill>
                <a:latin typeface="Inconsolata"/>
              </a:rPr>
              <a:t>(current_user)):</a:t>
            </a:r>
          </a:p>
          <a:p>
            <a:pPr>
              <a:lnSpc>
                <a:spcPct val="109914"/>
              </a:lnSpc>
              <a:spcAft>
                <a:spcPts val="0"/>
              </a:spcAft>
            </a:pPr>
            <a:r>
              <a:rPr sz="682" i="0">
                <a:solidFill>
                  <a:srgbClr val="5C6773"/>
                </a:solidFill>
                <a:latin typeface="Inconsolata"/>
              </a:rPr>
              <a:t>30  </a:t>
            </a:r>
            <a:r>
              <a:rPr sz="682" i="0">
                <a:solidFill>
                  <a:srgbClr val="E6EDF3"/>
                </a:solidFill>
                <a:latin typeface="Inconsolata"/>
              </a:rPr>
              <a:t>    </a:t>
            </a:r>
            <a:r>
              <a:rPr sz="682" i="0">
                <a:solidFill>
                  <a:srgbClr val="FF8E6E"/>
                </a:solidFill>
                <a:latin typeface="Inconsolata"/>
              </a:rPr>
              <a:t>return</a:t>
            </a:r>
            <a:r>
              <a:rPr sz="682" i="0">
                <a:solidFill>
                  <a:srgbClr val="E6EDF3"/>
                </a:solidFill>
                <a:latin typeface="Inconsolata"/>
              </a:rPr>
              <a:t> {</a:t>
            </a:r>
            <a:r>
              <a:rPr sz="682" i="0">
                <a:solidFill>
                  <a:srgbClr val="A5D6A7"/>
                </a:solidFill>
                <a:latin typeface="Inconsolata"/>
              </a:rPr>
              <a:t>"status"</a:t>
            </a:r>
            <a:r>
              <a:rPr sz="682" i="0">
                <a:solidFill>
                  <a:srgbClr val="E6EDF3"/>
                </a:solidFill>
                <a:latin typeface="Inconsolata"/>
              </a:rPr>
              <a:t>: </a:t>
            </a:r>
            <a:r>
              <a:rPr sz="682" i="0">
                <a:solidFill>
                  <a:srgbClr val="A5D6A7"/>
                </a:solidFill>
                <a:latin typeface="Inconsolata"/>
              </a:rPr>
              <a:t>"deleted"</a:t>
            </a:r>
            <a:r>
              <a:rPr sz="682" i="0">
                <a:solidFill>
                  <a:srgbClr val="E6EDF3"/>
                </a:solidFill>
                <a:latin typeface="Inconsolata"/>
              </a:rPr>
              <a:t>}             </a:t>
            </a:r>
            <a:r>
              <a:rPr sz="682" i="1">
                <a:solidFill>
                  <a:srgbClr val="8B98A8"/>
                </a:solidFill>
                <a:latin typeface="Inconsolata"/>
              </a:rPr>
              <a:t># lupa cek role</a:t>
            </a:r>
          </a:p>
          <a:p>
            <a:pPr>
              <a:lnSpc>
                <a:spcPct val="109914"/>
              </a:lnSpc>
              <a:spcAft>
                <a:spcPts val="0"/>
              </a:spcAft>
            </a:pPr>
            <a:r>
              <a:rPr sz="682" i="0">
                <a:solidFill>
                  <a:srgbClr val="5C6773"/>
                </a:solidFill>
                <a:latin typeface="Inconsolata"/>
              </a:rPr>
              <a:t>31  </a:t>
            </a:r>
            <a:r>
              <a:rPr sz="682" i="0">
                <a:solidFill>
                  <a:srgbClr val="E6EDF3"/>
                </a:solidFill>
                <a:latin typeface="Inconsolata"/>
              </a:rPr>
              <a:t> </a:t>
            </a:r>
          </a:p>
          <a:p>
            <a:pPr>
              <a:lnSpc>
                <a:spcPct val="109914"/>
              </a:lnSpc>
              <a:spcAft>
                <a:spcPts val="0"/>
              </a:spcAft>
            </a:pPr>
            <a:r>
              <a:rPr sz="682" i="0">
                <a:solidFill>
                  <a:srgbClr val="5C6773"/>
                </a:solidFill>
                <a:latin typeface="Inconsolata"/>
              </a:rPr>
              <a:t>32  </a:t>
            </a:r>
            <a:r>
              <a:rPr sz="682" i="0">
                <a:solidFill>
                  <a:srgbClr val="E6EDF3"/>
                </a:solidFill>
                <a:latin typeface="Inconsolata"/>
              </a:rPr>
              <a:t> </a:t>
            </a:r>
          </a:p>
          <a:p>
            <a:pPr>
              <a:lnSpc>
                <a:spcPct val="109914"/>
              </a:lnSpc>
              <a:spcAft>
                <a:spcPts val="0"/>
              </a:spcAft>
            </a:pPr>
            <a:r>
              <a:rPr sz="682" i="0">
                <a:solidFill>
                  <a:srgbClr val="5C6773"/>
                </a:solidFill>
                <a:latin typeface="Inconsolata"/>
              </a:rPr>
              <a:t>33  </a:t>
            </a:r>
            <a:r>
              <a:rPr sz="682" i="0">
                <a:solidFill>
                  <a:srgbClr val="F9C97A"/>
                </a:solidFill>
                <a:latin typeface="Inconsolata"/>
              </a:rPr>
              <a:t>@app.get</a:t>
            </a:r>
            <a:r>
              <a:rPr sz="682" i="0">
                <a:solidFill>
                  <a:srgbClr val="E6EDF3"/>
                </a:solidFill>
                <a:latin typeface="Inconsolata"/>
              </a:rPr>
              <a:t>(</a:t>
            </a:r>
            <a:r>
              <a:rPr sz="682" i="0">
                <a:solidFill>
                  <a:srgbClr val="A5D6A7"/>
                </a:solidFill>
                <a:latin typeface="Inconsolata"/>
              </a:rPr>
              <a:t>"/reports/sales"</a:t>
            </a:r>
            <a:r>
              <a:rPr sz="682" i="0">
                <a:solidFill>
                  <a:srgbClr val="E6EDF3"/>
                </a:solidFill>
                <a:latin typeface="Inconsolata"/>
              </a:rPr>
              <a:t>)</a:t>
            </a:r>
          </a:p>
          <a:p>
            <a:pPr>
              <a:lnSpc>
                <a:spcPct val="109914"/>
              </a:lnSpc>
              <a:spcAft>
                <a:spcPts val="0"/>
              </a:spcAft>
            </a:pPr>
            <a:r>
              <a:rPr sz="682" i="0">
                <a:solidFill>
                  <a:srgbClr val="5C6773"/>
                </a:solidFill>
                <a:latin typeface="Inconsolata"/>
              </a:rPr>
              <a:t>34  </a:t>
            </a:r>
            <a:r>
              <a:rPr sz="682" i="0">
                <a:solidFill>
                  <a:srgbClr val="FF8E6E"/>
                </a:solidFill>
                <a:latin typeface="Inconsolata"/>
              </a:rPr>
              <a:t>def</a:t>
            </a:r>
            <a:r>
              <a:rPr sz="682" i="0">
                <a:solidFill>
                  <a:srgbClr val="E6EDF3"/>
                </a:solidFill>
                <a:latin typeface="Inconsolata"/>
              </a:rPr>
              <a:t> </a:t>
            </a:r>
            <a:r>
              <a:rPr sz="682" i="0">
                <a:solidFill>
                  <a:srgbClr val="82B1FF"/>
                </a:solidFill>
                <a:latin typeface="Inconsolata"/>
              </a:rPr>
              <a:t>sales_report</a:t>
            </a:r>
            <a:r>
              <a:rPr sz="682" i="0">
                <a:solidFill>
                  <a:srgbClr val="E6EDF3"/>
                </a:solidFill>
                <a:latin typeface="Inconsolata"/>
              </a:rPr>
              <a:t>(user: </a:t>
            </a:r>
            <a:r>
              <a:rPr sz="682" i="0">
                <a:solidFill>
                  <a:srgbClr val="C3A6FF"/>
                </a:solidFill>
                <a:latin typeface="Inconsolata"/>
              </a:rPr>
              <a:t>dict</a:t>
            </a:r>
            <a:r>
              <a:rPr sz="682" i="0">
                <a:solidFill>
                  <a:srgbClr val="E6EDF3"/>
                </a:solidFill>
                <a:latin typeface="Inconsolata"/>
              </a:rPr>
              <a:t> = </a:t>
            </a:r>
            <a:r>
              <a:rPr sz="682" i="0">
                <a:solidFill>
                  <a:srgbClr val="7FDBCA"/>
                </a:solidFill>
                <a:latin typeface="Inconsolata"/>
              </a:rPr>
              <a:t>Depends</a:t>
            </a:r>
            <a:r>
              <a:rPr sz="682" i="0">
                <a:solidFill>
                  <a:srgbClr val="E6EDF3"/>
                </a:solidFill>
                <a:latin typeface="Inconsolata"/>
              </a:rPr>
              <a:t>(current_user)):</a:t>
            </a:r>
          </a:p>
          <a:p>
            <a:pPr>
              <a:lnSpc>
                <a:spcPct val="109914"/>
              </a:lnSpc>
              <a:spcAft>
                <a:spcPts val="0"/>
              </a:spcAft>
            </a:pPr>
            <a:r>
              <a:rPr sz="682" i="0">
                <a:solidFill>
                  <a:srgbClr val="5C6773"/>
                </a:solidFill>
                <a:latin typeface="Inconsolata"/>
              </a:rPr>
              <a:t>35  </a:t>
            </a:r>
            <a:r>
              <a:rPr sz="682" i="0">
                <a:solidFill>
                  <a:srgbClr val="E6EDF3"/>
                </a:solidFill>
                <a:latin typeface="Inconsolata"/>
              </a:rPr>
              <a:t>    </a:t>
            </a:r>
            <a:r>
              <a:rPr sz="682" i="0">
                <a:solidFill>
                  <a:srgbClr val="FF8E6E"/>
                </a:solidFill>
                <a:latin typeface="Inconsolata"/>
              </a:rPr>
              <a:t>if</a:t>
            </a:r>
            <a:r>
              <a:rPr sz="682" i="0">
                <a:solidFill>
                  <a:srgbClr val="E6EDF3"/>
                </a:solidFill>
                <a:latin typeface="Inconsolata"/>
              </a:rPr>
              <a:t> user[</a:t>
            </a:r>
            <a:r>
              <a:rPr sz="682" i="0">
                <a:solidFill>
                  <a:srgbClr val="A5D6A7"/>
                </a:solidFill>
                <a:latin typeface="Inconsolata"/>
              </a:rPr>
              <a:t>"role"</a:t>
            </a:r>
            <a:r>
              <a:rPr sz="682" i="0">
                <a:solidFill>
                  <a:srgbClr val="E6EDF3"/>
                </a:solidFill>
                <a:latin typeface="Inconsolata"/>
              </a:rPr>
              <a:t>] != </a:t>
            </a:r>
            <a:r>
              <a:rPr sz="682" i="0">
                <a:solidFill>
                  <a:srgbClr val="A5D6A7"/>
                </a:solidFill>
                <a:latin typeface="Inconsolata"/>
              </a:rPr>
              <a:t>"admin"</a:t>
            </a:r>
            <a:r>
              <a:rPr sz="682" i="0">
                <a:solidFill>
                  <a:srgbClr val="E6EDF3"/>
                </a:solidFill>
                <a:latin typeface="Inconsolata"/>
              </a:rPr>
              <a:t>:</a:t>
            </a:r>
          </a:p>
          <a:p>
            <a:pPr>
              <a:lnSpc>
                <a:spcPct val="109914"/>
              </a:lnSpc>
              <a:spcAft>
                <a:spcPts val="0"/>
              </a:spcAft>
            </a:pPr>
            <a:r>
              <a:rPr sz="682" i="0">
                <a:solidFill>
                  <a:srgbClr val="5C6773"/>
                </a:solidFill>
                <a:latin typeface="Inconsolata"/>
              </a:rPr>
              <a:t>36  </a:t>
            </a:r>
            <a:r>
              <a:rPr sz="682" i="0">
                <a:solidFill>
                  <a:srgbClr val="E6EDF3"/>
                </a:solidFill>
                <a:latin typeface="Inconsolata"/>
              </a:rPr>
              <a:t>        </a:t>
            </a:r>
            <a:r>
              <a:rPr sz="682" i="0">
                <a:solidFill>
                  <a:srgbClr val="FF8E6E"/>
                </a:solidFill>
                <a:latin typeface="Inconsolata"/>
              </a:rPr>
              <a:t>raise</a:t>
            </a:r>
            <a:r>
              <a:rPr sz="682" i="0">
                <a:solidFill>
                  <a:srgbClr val="E6EDF3"/>
                </a:solidFill>
                <a:latin typeface="Inconsolata"/>
              </a:rPr>
              <a:t> </a:t>
            </a:r>
            <a:r>
              <a:rPr sz="682" i="0">
                <a:solidFill>
                  <a:srgbClr val="7FDBCA"/>
                </a:solidFill>
                <a:latin typeface="Inconsolata"/>
              </a:rPr>
              <a:t>HTTPException</a:t>
            </a:r>
            <a:r>
              <a:rPr sz="682" i="0">
                <a:solidFill>
                  <a:srgbClr val="E6EDF3"/>
                </a:solidFill>
                <a:latin typeface="Inconsolata"/>
              </a:rPr>
              <a:t>(</a:t>
            </a:r>
            <a:r>
              <a:rPr sz="682" i="0">
                <a:solidFill>
                  <a:srgbClr val="F9C97A"/>
                </a:solidFill>
                <a:latin typeface="Inconsolata"/>
              </a:rPr>
              <a:t>403</a:t>
            </a:r>
            <a:r>
              <a:rPr sz="682" i="0">
                <a:solidFill>
                  <a:srgbClr val="E6EDF3"/>
                </a:solidFill>
                <a:latin typeface="Inconsolata"/>
              </a:rPr>
              <a:t>, </a:t>
            </a:r>
            <a:r>
              <a:rPr sz="682" i="0">
                <a:solidFill>
                  <a:srgbClr val="A5D6A7"/>
                </a:solidFill>
                <a:latin typeface="Inconsolata"/>
              </a:rPr>
              <a:t>"khusus admin"</a:t>
            </a:r>
            <a:r>
              <a:rPr sz="682" i="0">
                <a:solidFill>
                  <a:srgbClr val="E6EDF3"/>
                </a:solidFill>
                <a:latin typeface="Inconsolata"/>
              </a:rPr>
              <a:t>)</a:t>
            </a:r>
          </a:p>
          <a:p>
            <a:pPr>
              <a:lnSpc>
                <a:spcPct val="109914"/>
              </a:lnSpc>
              <a:spcAft>
                <a:spcPts val="0"/>
              </a:spcAft>
            </a:pPr>
            <a:r>
              <a:rPr sz="682" i="0">
                <a:solidFill>
                  <a:srgbClr val="5C6773"/>
                </a:solidFill>
                <a:latin typeface="Inconsolata"/>
              </a:rPr>
              <a:t>37  </a:t>
            </a:r>
            <a:r>
              <a:rPr sz="682" i="0">
                <a:solidFill>
                  <a:srgbClr val="E6EDF3"/>
                </a:solidFill>
                <a:latin typeface="Inconsolata"/>
              </a:rPr>
              <a:t>    </a:t>
            </a:r>
            <a:r>
              <a:rPr sz="682" i="0">
                <a:solidFill>
                  <a:srgbClr val="FF8E6E"/>
                </a:solidFill>
                <a:latin typeface="Inconsolata"/>
              </a:rPr>
              <a:t>return</a:t>
            </a:r>
            <a:r>
              <a:rPr sz="682" i="0">
                <a:solidFill>
                  <a:srgbClr val="E6EDF3"/>
                </a:solidFill>
                <a:latin typeface="Inconsolata"/>
              </a:rPr>
              <a:t> {</a:t>
            </a:r>
            <a:r>
              <a:rPr sz="682" i="0">
                <a:solidFill>
                  <a:srgbClr val="A5D6A7"/>
                </a:solidFill>
                <a:latin typeface="Inconsolata"/>
              </a:rPr>
              <a:t>"revenue"</a:t>
            </a:r>
            <a:r>
              <a:rPr sz="682" i="0">
                <a:solidFill>
                  <a:srgbClr val="E6EDF3"/>
                </a:solidFill>
                <a:latin typeface="Inconsolata"/>
              </a:rPr>
              <a:t>: </a:t>
            </a:r>
            <a:r>
              <a:rPr sz="682" i="0">
                <a:solidFill>
                  <a:srgbClr val="F9C97A"/>
                </a:solidFill>
                <a:latin typeface="Inconsolata"/>
              </a:rPr>
              <a:t>12_500_000</a:t>
            </a:r>
            <a:r>
              <a:rPr sz="682" i="0">
                <a:solidFill>
                  <a:srgbClr val="E6EDF3"/>
                </a:solidFill>
                <a:latin typeface="Inconsolata"/>
              </a:rPr>
              <a:t>}</a:t>
            </a:r>
          </a:p>
          <a:p>
            <a:pPr>
              <a:lnSpc>
                <a:spcPct val="109914"/>
              </a:lnSpc>
              <a:spcAft>
                <a:spcPts val="0"/>
              </a:spcAft>
            </a:pPr>
            <a:r>
              <a:rPr sz="682" i="0">
                <a:solidFill>
                  <a:srgbClr val="5C6773"/>
                </a:solidFill>
                <a:latin typeface="Inconsolata"/>
              </a:rPr>
              <a:t>38  </a:t>
            </a:r>
            <a:r>
              <a:rPr sz="682" i="0">
                <a:solidFill>
                  <a:srgbClr val="E6EDF3"/>
                </a:solidFill>
                <a:latin typeface="Inconsolata"/>
              </a:rPr>
              <a:t> </a:t>
            </a:r>
          </a:p>
          <a:p>
            <a:pPr>
              <a:lnSpc>
                <a:spcPct val="109914"/>
              </a:lnSpc>
              <a:spcAft>
                <a:spcPts val="0"/>
              </a:spcAft>
            </a:pPr>
            <a:r>
              <a:rPr sz="682" i="0">
                <a:solidFill>
                  <a:srgbClr val="5C6773"/>
                </a:solidFill>
                <a:latin typeface="Inconsolata"/>
              </a:rPr>
              <a:t>39  </a:t>
            </a:r>
            <a:r>
              <a:rPr sz="682" i="0">
                <a:solidFill>
                  <a:srgbClr val="E6EDF3"/>
                </a:solidFill>
                <a:latin typeface="Inconsolata"/>
              </a:rPr>
              <a:t> </a:t>
            </a:r>
          </a:p>
          <a:p>
            <a:pPr>
              <a:lnSpc>
                <a:spcPct val="109914"/>
              </a:lnSpc>
              <a:spcAft>
                <a:spcPts val="0"/>
              </a:spcAft>
            </a:pPr>
            <a:r>
              <a:rPr sz="682" i="0">
                <a:solidFill>
                  <a:srgbClr val="5C6773"/>
                </a:solidFill>
                <a:latin typeface="Inconsolata"/>
              </a:rPr>
              <a:t>40  </a:t>
            </a:r>
            <a:r>
              <a:rPr sz="682" i="0">
                <a:solidFill>
                  <a:srgbClr val="FF8E6E"/>
                </a:solidFill>
                <a:latin typeface="Inconsolata"/>
              </a:rPr>
              <a:t>if</a:t>
            </a:r>
            <a:r>
              <a:rPr sz="682" i="0">
                <a:solidFill>
                  <a:srgbClr val="E6EDF3"/>
                </a:solidFill>
                <a:latin typeface="Inconsolata"/>
              </a:rPr>
              <a:t> __name__ == </a:t>
            </a:r>
            <a:r>
              <a:rPr sz="682" i="0">
                <a:solidFill>
                  <a:srgbClr val="A5D6A7"/>
                </a:solidFill>
                <a:latin typeface="Inconsolata"/>
              </a:rPr>
              <a:t>"__main__"</a:t>
            </a:r>
            <a:r>
              <a:rPr sz="682" i="0">
                <a:solidFill>
                  <a:srgbClr val="E6EDF3"/>
                </a:solidFill>
                <a:latin typeface="Inconsolata"/>
              </a:rPr>
              <a:t>:</a:t>
            </a:r>
          </a:p>
          <a:p>
            <a:pPr>
              <a:lnSpc>
                <a:spcPct val="109914"/>
              </a:lnSpc>
              <a:spcAft>
                <a:spcPts val="0"/>
              </a:spcAft>
            </a:pPr>
            <a:r>
              <a:rPr sz="682" i="0">
                <a:solidFill>
                  <a:srgbClr val="5C6773"/>
                </a:solidFill>
                <a:latin typeface="Inconsolata"/>
              </a:rPr>
              <a:t>41  </a:t>
            </a:r>
            <a:r>
              <a:rPr sz="682" i="0">
                <a:solidFill>
                  <a:srgbClr val="E6EDF3"/>
                </a:solidFill>
                <a:latin typeface="Inconsolata"/>
              </a:rPr>
              <a:t>    client = </a:t>
            </a:r>
            <a:r>
              <a:rPr sz="682" i="0">
                <a:solidFill>
                  <a:srgbClr val="7FDBCA"/>
                </a:solidFill>
                <a:latin typeface="Inconsolata"/>
              </a:rPr>
              <a:t>TestClient</a:t>
            </a:r>
            <a:r>
              <a:rPr sz="682" i="0">
                <a:solidFill>
                  <a:srgbClr val="E6EDF3"/>
                </a:solidFill>
                <a:latin typeface="Inconsolata"/>
              </a:rPr>
              <a:t>(app)</a:t>
            </a:r>
          </a:p>
          <a:p>
            <a:pPr>
              <a:lnSpc>
                <a:spcPct val="109914"/>
              </a:lnSpc>
              <a:spcAft>
                <a:spcPts val="0"/>
              </a:spcAft>
            </a:pPr>
            <a:r>
              <a:rPr sz="682" i="0">
                <a:solidFill>
                  <a:srgbClr val="5C6773"/>
                </a:solidFill>
                <a:latin typeface="Inconsolata"/>
              </a:rPr>
              <a:t>42  </a:t>
            </a:r>
            <a:r>
              <a:rPr sz="682" i="0">
                <a:solidFill>
                  <a:srgbClr val="E6EDF3"/>
                </a:solidFill>
                <a:latin typeface="Inconsolata"/>
              </a:rPr>
              <a:t>    budi = {</a:t>
            </a:r>
            <a:r>
              <a:rPr sz="682" i="0">
                <a:solidFill>
                  <a:srgbClr val="A5D6A7"/>
                </a:solidFill>
                <a:latin typeface="Inconsolata"/>
              </a:rPr>
              <a:t>"X-User"</a:t>
            </a:r>
            <a:r>
              <a:rPr sz="682" i="0">
                <a:solidFill>
                  <a:srgbClr val="E6EDF3"/>
                </a:solidFill>
                <a:latin typeface="Inconsolata"/>
              </a:rPr>
              <a:t>: </a:t>
            </a:r>
            <a:r>
              <a:rPr sz="682" i="0">
                <a:solidFill>
                  <a:srgbClr val="A5D6A7"/>
                </a:solidFill>
                <a:latin typeface="Inconsolata"/>
              </a:rPr>
              <a:t>"budi@mail.com"</a:t>
            </a:r>
            <a:r>
              <a:rPr sz="682" i="0">
                <a:solidFill>
                  <a:srgbClr val="E6EDF3"/>
                </a:solidFill>
                <a:latin typeface="Inconsolata"/>
              </a:rPr>
              <a:t>}</a:t>
            </a:r>
          </a:p>
          <a:p>
            <a:pPr>
              <a:lnSpc>
                <a:spcPct val="109914"/>
              </a:lnSpc>
              <a:spcAft>
                <a:spcPts val="0"/>
              </a:spcAft>
            </a:pPr>
            <a:r>
              <a:rPr sz="682" i="0">
                <a:solidFill>
                  <a:srgbClr val="5C6773"/>
                </a:solidFill>
                <a:latin typeface="Inconsolata"/>
              </a:rPr>
              <a:t>43  </a:t>
            </a:r>
            <a:r>
              <a:rPr sz="682" i="0">
                <a:solidFill>
                  <a:srgbClr val="E6EDF3"/>
                </a:solidFill>
                <a:latin typeface="Inconsolata"/>
              </a:rPr>
              <a:t>    </a:t>
            </a:r>
            <a:r>
              <a:rPr sz="682" i="0">
                <a:solidFill>
                  <a:srgbClr val="FF8E6E"/>
                </a:solidFill>
                <a:latin typeface="Inconsolata"/>
              </a:rPr>
              <a:t>for</a:t>
            </a:r>
            <a:r>
              <a:rPr sz="682" i="0">
                <a:solidFill>
                  <a:srgbClr val="E6EDF3"/>
                </a:solidFill>
                <a:latin typeface="Inconsolata"/>
              </a:rPr>
              <a:t> method, path </a:t>
            </a:r>
            <a:r>
              <a:rPr sz="682" i="0">
                <a:solidFill>
                  <a:srgbClr val="FF8E6E"/>
                </a:solidFill>
                <a:latin typeface="Inconsolata"/>
              </a:rPr>
              <a:t>in</a:t>
            </a:r>
            <a:r>
              <a:rPr sz="682" i="0">
                <a:solidFill>
                  <a:srgbClr val="E6EDF3"/>
                </a:solidFill>
                <a:latin typeface="Inconsolata"/>
              </a:rPr>
              <a:t> [(</a:t>
            </a:r>
            <a:r>
              <a:rPr sz="682" i="0">
                <a:solidFill>
                  <a:srgbClr val="A5D6A7"/>
                </a:solidFill>
                <a:latin typeface="Inconsolata"/>
              </a:rPr>
              <a:t>"POST"</a:t>
            </a:r>
            <a:r>
              <a:rPr sz="682" i="0">
                <a:solidFill>
                  <a:srgbClr val="E6EDF3"/>
                </a:solidFill>
                <a:latin typeface="Inconsolata"/>
              </a:rPr>
              <a:t>, </a:t>
            </a:r>
            <a:r>
              <a:rPr sz="682" i="0">
                <a:solidFill>
                  <a:srgbClr val="A5D6A7"/>
                </a:solidFill>
                <a:latin typeface="Inconsolata"/>
              </a:rPr>
              <a:t>"/products"</a:t>
            </a:r>
            <a:r>
              <a:rPr sz="682" i="0">
                <a:solidFill>
                  <a:srgbClr val="E6EDF3"/>
                </a:solidFill>
                <a:latin typeface="Inconsolata"/>
              </a:rPr>
              <a:t>), (</a:t>
            </a:r>
            <a:r>
              <a:rPr sz="682" i="0">
                <a:solidFill>
                  <a:srgbClr val="A5D6A7"/>
                </a:solidFill>
                <a:latin typeface="Inconsolata"/>
              </a:rPr>
              <a:t>"DELETE"</a:t>
            </a:r>
            <a:r>
              <a:rPr sz="682" i="0">
                <a:solidFill>
                  <a:srgbClr val="E6EDF3"/>
                </a:solidFill>
                <a:latin typeface="Inconsolata"/>
              </a:rPr>
              <a:t>, </a:t>
            </a:r>
            <a:r>
              <a:rPr sz="682" i="0">
                <a:solidFill>
                  <a:srgbClr val="A5D6A7"/>
                </a:solidFill>
                <a:latin typeface="Inconsolata"/>
              </a:rPr>
              <a:t>"/products/1"</a:t>
            </a:r>
            <a:r>
              <a:rPr sz="682" i="0">
                <a:solidFill>
                  <a:srgbClr val="E6EDF3"/>
                </a:solidFill>
                <a:latin typeface="Inconsolata"/>
              </a:rPr>
              <a:t>),</a:t>
            </a:r>
          </a:p>
          <a:p>
            <a:pPr>
              <a:lnSpc>
                <a:spcPct val="109914"/>
              </a:lnSpc>
              <a:spcAft>
                <a:spcPts val="0"/>
              </a:spcAft>
            </a:pPr>
            <a:r>
              <a:rPr sz="682" i="0">
                <a:solidFill>
                  <a:srgbClr val="5C6773"/>
                </a:solidFill>
                <a:latin typeface="Inconsolata"/>
              </a:rPr>
              <a:t>44  </a:t>
            </a:r>
            <a:r>
              <a:rPr sz="682" i="0">
                <a:solidFill>
                  <a:srgbClr val="E6EDF3"/>
                </a:solidFill>
                <a:latin typeface="Inconsolata"/>
              </a:rPr>
              <a:t>                         (</a:t>
            </a:r>
            <a:r>
              <a:rPr sz="682" i="0">
                <a:solidFill>
                  <a:srgbClr val="A5D6A7"/>
                </a:solidFill>
                <a:latin typeface="Inconsolata"/>
              </a:rPr>
              <a:t>"GET"</a:t>
            </a:r>
            <a:r>
              <a:rPr sz="682" i="0">
                <a:solidFill>
                  <a:srgbClr val="E6EDF3"/>
                </a:solidFill>
                <a:latin typeface="Inconsolata"/>
              </a:rPr>
              <a:t>, </a:t>
            </a:r>
            <a:r>
              <a:rPr sz="682" i="0">
                <a:solidFill>
                  <a:srgbClr val="A5D6A7"/>
                </a:solidFill>
                <a:latin typeface="Inconsolata"/>
              </a:rPr>
              <a:t>"/reports/sales"</a:t>
            </a:r>
            <a:r>
              <a:rPr sz="682" i="0">
                <a:solidFill>
                  <a:srgbClr val="E6EDF3"/>
                </a:solidFill>
                <a:latin typeface="Inconsolata"/>
              </a:rPr>
              <a:t>)]:</a:t>
            </a:r>
          </a:p>
          <a:p>
            <a:pPr>
              <a:lnSpc>
                <a:spcPct val="109914"/>
              </a:lnSpc>
              <a:spcAft>
                <a:spcPts val="0"/>
              </a:spcAft>
            </a:pPr>
            <a:r>
              <a:rPr sz="682" i="0">
                <a:solidFill>
                  <a:srgbClr val="5C6773"/>
                </a:solidFill>
                <a:latin typeface="Inconsolata"/>
              </a:rPr>
              <a:t>45  </a:t>
            </a:r>
            <a:r>
              <a:rPr sz="682" i="0">
                <a:solidFill>
                  <a:srgbClr val="E6EDF3"/>
                </a:solidFill>
                <a:latin typeface="Inconsolata"/>
              </a:rPr>
              <a:t>        response = client.request(method, path, headers=budi)</a:t>
            </a:r>
          </a:p>
          <a:p>
            <a:pPr>
              <a:lnSpc>
                <a:spcPct val="109914"/>
              </a:lnSpc>
              <a:spcAft>
                <a:spcPts val="0"/>
              </a:spcAft>
            </a:pPr>
            <a:r>
              <a:rPr sz="682" i="0">
                <a:solidFill>
                  <a:srgbClr val="5C6773"/>
                </a:solidFill>
                <a:latin typeface="Inconsolata"/>
              </a:rPr>
              <a:t>46  </a:t>
            </a:r>
            <a:r>
              <a:rPr sz="682" i="0">
                <a:solidFill>
                  <a:srgbClr val="E6EDF3"/>
                </a:solidFill>
                <a:latin typeface="Inconsolata"/>
              </a:rPr>
              <a:t>        </a:t>
            </a:r>
            <a:r>
              <a:rPr sz="682" i="0">
                <a:solidFill>
                  <a:srgbClr val="C3A6FF"/>
                </a:solidFill>
                <a:latin typeface="Inconsolata"/>
              </a:rPr>
              <a:t>print</a:t>
            </a:r>
            <a:r>
              <a:rPr sz="682" i="0">
                <a:solidFill>
                  <a:srgbClr val="E6EDF3"/>
                </a:solidFill>
                <a:latin typeface="Inconsolata"/>
              </a:rPr>
              <a:t>(</a:t>
            </a:r>
            <a:r>
              <a:rPr sz="682" i="0">
                <a:solidFill>
                  <a:srgbClr val="A5D6A7"/>
                </a:solidFill>
                <a:latin typeface="Inconsolata"/>
              </a:rPr>
              <a:t>f"budi (customer) {method:6} {path:15} -&gt; "</a:t>
            </a:r>
          </a:p>
          <a:p>
            <a:pPr>
              <a:lnSpc>
                <a:spcPct val="109914"/>
              </a:lnSpc>
              <a:spcAft>
                <a:spcPts val="0"/>
              </a:spcAft>
            </a:pPr>
            <a:r>
              <a:rPr sz="682" i="0">
                <a:solidFill>
                  <a:srgbClr val="5C6773"/>
                </a:solidFill>
                <a:latin typeface="Inconsolata"/>
              </a:rPr>
              <a:t>47  </a:t>
            </a:r>
            <a:r>
              <a:rPr sz="682" i="0">
                <a:solidFill>
                  <a:srgbClr val="E6EDF3"/>
                </a:solidFill>
                <a:latin typeface="Inconsolata"/>
              </a:rPr>
              <a:t>              </a:t>
            </a:r>
            <a:r>
              <a:rPr sz="682" i="0">
                <a:solidFill>
                  <a:srgbClr val="A5D6A7"/>
                </a:solidFill>
                <a:latin typeface="Inconsolata"/>
              </a:rPr>
              <a:t>f"{response.status_code}"</a:t>
            </a:r>
            <a:r>
              <a:rPr sz="682" i="0">
                <a:solidFill>
                  <a:srgbClr val="E6EDF3"/>
                </a:solidFill>
                <a:latin typeface="Inconsolata"/>
              </a:rPr>
              <a:t>)</a:t>
            </a:r>
          </a:p>
        </p:txBody>
      </p:sp>
      <p:sp>
        <p:nvSpPr>
          <p:cNvPr id="36" name="Box 21"/>
          <p:cNvSpPr/>
          <p:nvPr/>
        </p:nvSpPr>
        <p:spPr>
          <a:xfrm>
            <a:off x="704088" y="3196971"/>
            <a:ext cx="3694176" cy="336042"/>
          </a:xfrm>
          <a:prstGeom prst="roundRect">
            <a:avLst>
              <a:gd name="adj" fmla="val 13605"/>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2461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1939671"/>
            <a:ext cx="3694176" cy="336042"/>
          </a:xfrm>
          <a:prstGeom prst="roundRect">
            <a:avLst>
              <a:gd name="adj" fmla="val 13605"/>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19888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RBAC &amp; Scopes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06-rbac-scopes/before.py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sesi-10-api-security/06-rbac-scopes</a:t>
            </a:r>
          </a:p>
          <a:p>
            <a:pPr>
              <a:lnSpc>
                <a:spcPct val="111111"/>
              </a:lnSpc>
              <a:spcAft>
                <a:spcPts val="0"/>
              </a:spcAft>
            </a:pPr>
            <a:r>
              <a:rPr sz="900" i="0">
                <a:solidFill>
                  <a:srgbClr val="82B1FF"/>
                </a:solidFill>
                <a:latin typeface="Inconsolata"/>
              </a:rPr>
              <a:t>$ python before.py</a:t>
            </a:r>
          </a:p>
        </p:txBody>
      </p:sp>
      <p:pic>
        <p:nvPicPr>
          <p:cNvPr id="29" name="Image 12" descr="s10-06-rbac-scopes-before.png"/>
          <p:cNvPicPr>
            <a:picLocks noChangeAspect="1"/>
          </p:cNvPicPr>
          <p:nvPr/>
        </p:nvPicPr>
        <p:blipFill>
          <a:blip r:embed="rId2"/>
          <a:stretch>
            <a:fillRect/>
          </a:stretch>
        </p:blipFill>
        <p:spPr>
          <a:xfrm>
            <a:off x="621792" y="2322576"/>
            <a:ext cx="4297680" cy="791678"/>
          </a:xfrm>
          <a:prstGeom prst="rect">
            <a:avLst/>
          </a:prstGeom>
        </p:spPr>
      </p:pic>
      <p:sp>
        <p:nvSpPr>
          <p:cNvPr id="30" name="Box 13"/>
          <p:cNvSpPr/>
          <p:nvPr/>
        </p:nvSpPr>
        <p:spPr>
          <a:xfrm>
            <a:off x="5074920" y="1481328"/>
            <a:ext cx="3410712" cy="3218688"/>
          </a:xfrm>
          <a:prstGeom prst="roundRect">
            <a:avLst>
              <a:gd name="adj" fmla="val 3409"/>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Cek role ditulis ulang di endpoint (baris 21-23)</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Satu endpoint lupa dicek (baris 28-30)</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Customer mendapat 200 saat menghapus produk.</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RBAC &amp; Scopes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scope dicek di satu tempat</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06-rbac-scopes/after.py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8505"/>
              </a:lnSpc>
              <a:spcAft>
                <a:spcPts val="0"/>
              </a:spcAft>
            </a:pPr>
            <a:r>
              <a:rPr sz="691" i="0">
                <a:solidFill>
                  <a:srgbClr val="5C6773"/>
                </a:solidFill>
                <a:latin typeface="Inconsolata"/>
              </a:rPr>
              <a:t>12  </a:t>
            </a:r>
            <a:r>
              <a:rPr sz="691" i="0">
                <a:solidFill>
                  <a:srgbClr val="FF8E6E"/>
                </a:solidFill>
                <a:latin typeface="Inconsolata"/>
              </a:rPr>
              <a:t>from</a:t>
            </a:r>
            <a:r>
              <a:rPr sz="691" i="0">
                <a:solidFill>
                  <a:srgbClr val="E6EDF3"/>
                </a:solidFill>
                <a:latin typeface="Inconsolata"/>
              </a:rPr>
              <a:t> fastapi </a:t>
            </a:r>
            <a:r>
              <a:rPr sz="691" i="0">
                <a:solidFill>
                  <a:srgbClr val="FF8E6E"/>
                </a:solidFill>
                <a:latin typeface="Inconsolata"/>
              </a:rPr>
              <a:t>import</a:t>
            </a:r>
            <a:r>
              <a:rPr sz="691" i="0">
                <a:solidFill>
                  <a:srgbClr val="E6EDF3"/>
                </a:solidFill>
                <a:latin typeface="Inconsolata"/>
              </a:rPr>
              <a:t> </a:t>
            </a:r>
            <a:r>
              <a:rPr sz="691" i="0">
                <a:solidFill>
                  <a:srgbClr val="7FDBCA"/>
                </a:solidFill>
                <a:latin typeface="Inconsolata"/>
              </a:rPr>
              <a:t>FastAPI</a:t>
            </a:r>
            <a:r>
              <a:rPr sz="691" i="0">
                <a:solidFill>
                  <a:srgbClr val="E6EDF3"/>
                </a:solidFill>
                <a:latin typeface="Inconsolata"/>
              </a:rPr>
              <a:t>, </a:t>
            </a:r>
            <a:r>
              <a:rPr sz="691" i="0">
                <a:solidFill>
                  <a:srgbClr val="7FDBCA"/>
                </a:solidFill>
                <a:latin typeface="Inconsolata"/>
              </a:rPr>
              <a:t>Header</a:t>
            </a:r>
            <a:r>
              <a:rPr sz="691" i="0">
                <a:solidFill>
                  <a:srgbClr val="E6EDF3"/>
                </a:solidFill>
                <a:latin typeface="Inconsolata"/>
              </a:rPr>
              <a:t>, </a:t>
            </a:r>
            <a:r>
              <a:rPr sz="691" i="0">
                <a:solidFill>
                  <a:srgbClr val="7FDBCA"/>
                </a:solidFill>
                <a:latin typeface="Inconsolata"/>
              </a:rPr>
              <a:t>HTTPException</a:t>
            </a:r>
            <a:r>
              <a:rPr sz="691" i="0">
                <a:solidFill>
                  <a:srgbClr val="E6EDF3"/>
                </a:solidFill>
                <a:latin typeface="Inconsolata"/>
              </a:rPr>
              <a:t>, </a:t>
            </a:r>
            <a:r>
              <a:rPr sz="691" i="0">
                <a:solidFill>
                  <a:srgbClr val="7FDBCA"/>
                </a:solidFill>
                <a:latin typeface="Inconsolata"/>
              </a:rPr>
              <a:t>Security</a:t>
            </a:r>
          </a:p>
          <a:p>
            <a:pPr>
              <a:lnSpc>
                <a:spcPct val="108505"/>
              </a:lnSpc>
              <a:spcAft>
                <a:spcPts val="0"/>
              </a:spcAft>
            </a:pPr>
            <a:r>
              <a:rPr sz="691" i="0">
                <a:solidFill>
                  <a:srgbClr val="5C6773"/>
                </a:solidFill>
                <a:latin typeface="Inconsolata"/>
              </a:rPr>
              <a:t>13  </a:t>
            </a:r>
            <a:r>
              <a:rPr sz="691" i="0">
                <a:solidFill>
                  <a:srgbClr val="FF8E6E"/>
                </a:solidFill>
                <a:latin typeface="Inconsolata"/>
              </a:rPr>
              <a:t>from</a:t>
            </a:r>
            <a:r>
              <a:rPr sz="691" i="0">
                <a:solidFill>
                  <a:srgbClr val="E6EDF3"/>
                </a:solidFill>
                <a:latin typeface="Inconsolata"/>
              </a:rPr>
              <a:t> fastapi.security </a:t>
            </a:r>
            <a:r>
              <a:rPr sz="691" i="0">
                <a:solidFill>
                  <a:srgbClr val="FF8E6E"/>
                </a:solidFill>
                <a:latin typeface="Inconsolata"/>
              </a:rPr>
              <a:t>import</a:t>
            </a:r>
            <a:r>
              <a:rPr sz="691" i="0">
                <a:solidFill>
                  <a:srgbClr val="E6EDF3"/>
                </a:solidFill>
                <a:latin typeface="Inconsolata"/>
              </a:rPr>
              <a:t> </a:t>
            </a:r>
            <a:r>
              <a:rPr sz="691" i="0">
                <a:solidFill>
                  <a:srgbClr val="7FDBCA"/>
                </a:solidFill>
                <a:latin typeface="Inconsolata"/>
              </a:rPr>
              <a:t>SecurityScopes</a:t>
            </a:r>
          </a:p>
          <a:p>
            <a:pPr>
              <a:lnSpc>
                <a:spcPct val="108505"/>
              </a:lnSpc>
              <a:spcAft>
                <a:spcPts val="0"/>
              </a:spcAft>
            </a:pPr>
            <a:r>
              <a:rPr sz="691" i="0">
                <a:solidFill>
                  <a:srgbClr val="5C6773"/>
                </a:solidFill>
                <a:latin typeface="Inconsolata"/>
              </a:rPr>
              <a:t>14  </a:t>
            </a:r>
            <a:r>
              <a:rPr sz="691" i="0">
                <a:solidFill>
                  <a:srgbClr val="FF8E6E"/>
                </a:solidFill>
                <a:latin typeface="Inconsolata"/>
              </a:rPr>
              <a:t>from</a:t>
            </a:r>
            <a:r>
              <a:rPr sz="691" i="0">
                <a:solidFill>
                  <a:srgbClr val="E6EDF3"/>
                </a:solidFill>
                <a:latin typeface="Inconsolata"/>
              </a:rPr>
              <a:t> fastapi.testclient </a:t>
            </a:r>
            <a:r>
              <a:rPr sz="691" i="0">
                <a:solidFill>
                  <a:srgbClr val="FF8E6E"/>
                </a:solidFill>
                <a:latin typeface="Inconsolata"/>
              </a:rPr>
              <a:t>import</a:t>
            </a:r>
            <a:r>
              <a:rPr sz="691" i="0">
                <a:solidFill>
                  <a:srgbClr val="E6EDF3"/>
                </a:solidFill>
                <a:latin typeface="Inconsolata"/>
              </a:rPr>
              <a:t> </a:t>
            </a:r>
            <a:r>
              <a:rPr sz="691" i="0">
                <a:solidFill>
                  <a:srgbClr val="7FDBCA"/>
                </a:solidFill>
                <a:latin typeface="Inconsolata"/>
              </a:rPr>
              <a:t>TestClient</a:t>
            </a:r>
          </a:p>
          <a:p>
            <a:pPr>
              <a:lnSpc>
                <a:spcPct val="108505"/>
              </a:lnSpc>
              <a:spcAft>
                <a:spcPts val="0"/>
              </a:spcAft>
            </a:pPr>
            <a:r>
              <a:rPr sz="691" i="0">
                <a:solidFill>
                  <a:srgbClr val="5C6773"/>
                </a:solidFill>
                <a:latin typeface="Inconsolata"/>
              </a:rPr>
              <a:t>15  </a:t>
            </a:r>
            <a:r>
              <a:rPr sz="691" i="0">
                <a:solidFill>
                  <a:srgbClr val="E6EDF3"/>
                </a:solidFill>
                <a:latin typeface="Inconsolata"/>
              </a:rPr>
              <a:t> </a:t>
            </a:r>
          </a:p>
          <a:p>
            <a:pPr>
              <a:lnSpc>
                <a:spcPct val="108505"/>
              </a:lnSpc>
              <a:spcAft>
                <a:spcPts val="0"/>
              </a:spcAft>
            </a:pPr>
            <a:r>
              <a:rPr sz="691" i="0">
                <a:solidFill>
                  <a:srgbClr val="5C6773"/>
                </a:solidFill>
                <a:latin typeface="Inconsolata"/>
              </a:rPr>
              <a:t>16  </a:t>
            </a:r>
            <a:r>
              <a:rPr sz="691" i="0">
                <a:solidFill>
                  <a:srgbClr val="7FDBCA"/>
                </a:solidFill>
                <a:latin typeface="Inconsolata"/>
              </a:rPr>
              <a:t>USERS</a:t>
            </a:r>
            <a:r>
              <a:rPr sz="691" i="0">
                <a:solidFill>
                  <a:srgbClr val="E6EDF3"/>
                </a:solidFill>
                <a:latin typeface="Inconsolata"/>
              </a:rPr>
              <a:t> = {</a:t>
            </a:r>
            <a:r>
              <a:rPr sz="691" i="0">
                <a:solidFill>
                  <a:srgbClr val="A5D6A7"/>
                </a:solidFill>
                <a:latin typeface="Inconsolata"/>
              </a:rPr>
              <a:t>"budi@mail.com"</a:t>
            </a:r>
            <a:r>
              <a:rPr sz="691" i="0">
                <a:solidFill>
                  <a:srgbClr val="E6EDF3"/>
                </a:solidFill>
                <a:latin typeface="Inconsolata"/>
              </a:rPr>
              <a:t>: </a:t>
            </a:r>
            <a:r>
              <a:rPr sz="691" i="0">
                <a:solidFill>
                  <a:srgbClr val="A5D6A7"/>
                </a:solidFill>
                <a:latin typeface="Inconsolata"/>
              </a:rPr>
              <a:t>"customer"</a:t>
            </a:r>
            <a:r>
              <a:rPr sz="691" i="0">
                <a:solidFill>
                  <a:srgbClr val="E6EDF3"/>
                </a:solidFill>
                <a:latin typeface="Inconsolata"/>
              </a:rPr>
              <a:t>, </a:t>
            </a:r>
            <a:r>
              <a:rPr sz="691" i="0">
                <a:solidFill>
                  <a:srgbClr val="A5D6A7"/>
                </a:solidFill>
                <a:latin typeface="Inconsolata"/>
              </a:rPr>
              <a:t>"admin@toko.com"</a:t>
            </a:r>
            <a:r>
              <a:rPr sz="691" i="0">
                <a:solidFill>
                  <a:srgbClr val="E6EDF3"/>
                </a:solidFill>
                <a:latin typeface="Inconsolata"/>
              </a:rPr>
              <a:t>: </a:t>
            </a:r>
            <a:r>
              <a:rPr sz="691" i="0">
                <a:solidFill>
                  <a:srgbClr val="A5D6A7"/>
                </a:solidFill>
                <a:latin typeface="Inconsolata"/>
              </a:rPr>
              <a:t>"admin"</a:t>
            </a:r>
            <a:r>
              <a:rPr sz="691" i="0">
                <a:solidFill>
                  <a:srgbClr val="E6EDF3"/>
                </a:solidFill>
                <a:latin typeface="Inconsolata"/>
              </a:rPr>
              <a:t>}</a:t>
            </a:r>
          </a:p>
          <a:p>
            <a:pPr>
              <a:lnSpc>
                <a:spcPct val="108505"/>
              </a:lnSpc>
              <a:spcAft>
                <a:spcPts val="0"/>
              </a:spcAft>
            </a:pPr>
            <a:r>
              <a:rPr sz="691" i="0">
                <a:solidFill>
                  <a:srgbClr val="5C6773"/>
                </a:solidFill>
                <a:latin typeface="Inconsolata"/>
              </a:rPr>
              <a:t>17  </a:t>
            </a:r>
            <a:r>
              <a:rPr sz="691" i="0">
                <a:solidFill>
                  <a:srgbClr val="7FDBCA"/>
                </a:solidFill>
                <a:latin typeface="Inconsolata"/>
              </a:rPr>
              <a:t>ROLE_SCOPES</a:t>
            </a:r>
            <a:r>
              <a:rPr sz="691" i="0">
                <a:solidFill>
                  <a:srgbClr val="E6EDF3"/>
                </a:solidFill>
                <a:latin typeface="Inconsolata"/>
              </a:rPr>
              <a:t> = {</a:t>
            </a:r>
            <a:r>
              <a:rPr sz="691" i="0">
                <a:solidFill>
                  <a:srgbClr val="A5D6A7"/>
                </a:solidFill>
                <a:latin typeface="Inconsolata"/>
              </a:rPr>
              <a:t>"customer"</a:t>
            </a:r>
            <a:r>
              <a:rPr sz="691" i="0">
                <a:solidFill>
                  <a:srgbClr val="E6EDF3"/>
                </a:solidFill>
                <a:latin typeface="Inconsolata"/>
              </a:rPr>
              <a:t>: {</a:t>
            </a:r>
            <a:r>
              <a:rPr sz="691" i="0">
                <a:solidFill>
                  <a:srgbClr val="A5D6A7"/>
                </a:solidFill>
                <a:latin typeface="Inconsolata"/>
              </a:rPr>
              <a:t>"orders:write"</a:t>
            </a:r>
            <a:r>
              <a:rPr sz="691" i="0">
                <a:solidFill>
                  <a:srgbClr val="E6EDF3"/>
                </a:solidFill>
                <a:latin typeface="Inconsolata"/>
              </a:rPr>
              <a:t>},</a:t>
            </a:r>
          </a:p>
          <a:p>
            <a:pPr>
              <a:lnSpc>
                <a:spcPct val="108505"/>
              </a:lnSpc>
              <a:spcAft>
                <a:spcPts val="0"/>
              </a:spcAft>
            </a:pPr>
            <a:r>
              <a:rPr sz="691" i="0">
                <a:solidFill>
                  <a:srgbClr val="5C6773"/>
                </a:solidFill>
                <a:latin typeface="Inconsolata"/>
              </a:rPr>
              <a:t>18  </a:t>
            </a:r>
            <a:r>
              <a:rPr sz="691" i="0">
                <a:solidFill>
                  <a:srgbClr val="E6EDF3"/>
                </a:solidFill>
                <a:latin typeface="Inconsolata"/>
              </a:rPr>
              <a:t>               </a:t>
            </a:r>
            <a:r>
              <a:rPr sz="691" i="0">
                <a:solidFill>
                  <a:srgbClr val="A5D6A7"/>
                </a:solidFill>
                <a:latin typeface="Inconsolata"/>
              </a:rPr>
              <a:t>"admin"</a:t>
            </a:r>
            <a:r>
              <a:rPr sz="691" i="0">
                <a:solidFill>
                  <a:srgbClr val="E6EDF3"/>
                </a:solidFill>
                <a:latin typeface="Inconsolata"/>
              </a:rPr>
              <a:t>: {</a:t>
            </a:r>
            <a:r>
              <a:rPr sz="691" i="0">
                <a:solidFill>
                  <a:srgbClr val="A5D6A7"/>
                </a:solidFill>
                <a:latin typeface="Inconsolata"/>
              </a:rPr>
              <a:t>"orders:write"</a:t>
            </a:r>
            <a:r>
              <a:rPr sz="691" i="0">
                <a:solidFill>
                  <a:srgbClr val="E6EDF3"/>
                </a:solidFill>
                <a:latin typeface="Inconsolata"/>
              </a:rPr>
              <a:t>, </a:t>
            </a:r>
            <a:r>
              <a:rPr sz="691" i="0">
                <a:solidFill>
                  <a:srgbClr val="A5D6A7"/>
                </a:solidFill>
                <a:latin typeface="Inconsolata"/>
              </a:rPr>
              <a:t>"products:write"</a:t>
            </a:r>
            <a:r>
              <a:rPr sz="691" i="0">
                <a:solidFill>
                  <a:srgbClr val="E6EDF3"/>
                </a:solidFill>
                <a:latin typeface="Inconsolata"/>
              </a:rPr>
              <a:t>,</a:t>
            </a:r>
          </a:p>
          <a:p>
            <a:pPr>
              <a:lnSpc>
                <a:spcPct val="108505"/>
              </a:lnSpc>
              <a:spcAft>
                <a:spcPts val="0"/>
              </a:spcAft>
            </a:pPr>
            <a:r>
              <a:rPr sz="691" i="0">
                <a:solidFill>
                  <a:srgbClr val="5C6773"/>
                </a:solidFill>
                <a:latin typeface="Inconsolata"/>
              </a:rPr>
              <a:t>19  </a:t>
            </a:r>
            <a:r>
              <a:rPr sz="691" i="0">
                <a:solidFill>
                  <a:srgbClr val="E6EDF3"/>
                </a:solidFill>
                <a:latin typeface="Inconsolata"/>
              </a:rPr>
              <a:t>                         </a:t>
            </a:r>
            <a:r>
              <a:rPr sz="691" i="0">
                <a:solidFill>
                  <a:srgbClr val="A5D6A7"/>
                </a:solidFill>
                <a:latin typeface="Inconsolata"/>
              </a:rPr>
              <a:t>"reports:read"</a:t>
            </a:r>
            <a:r>
              <a:rPr sz="691" i="0">
                <a:solidFill>
                  <a:srgbClr val="E6EDF3"/>
                </a:solidFill>
                <a:latin typeface="Inconsolata"/>
              </a:rPr>
              <a:t>}}</a:t>
            </a:r>
          </a:p>
          <a:p>
            <a:pPr>
              <a:lnSpc>
                <a:spcPct val="108505"/>
              </a:lnSpc>
              <a:spcAft>
                <a:spcPts val="0"/>
              </a:spcAft>
            </a:pPr>
            <a:r>
              <a:rPr sz="691" i="0">
                <a:solidFill>
                  <a:srgbClr val="5C6773"/>
                </a:solidFill>
                <a:latin typeface="Inconsolata"/>
              </a:rPr>
              <a:t>20  </a:t>
            </a:r>
            <a:r>
              <a:rPr sz="691" i="0">
                <a:solidFill>
                  <a:srgbClr val="E6EDF3"/>
                </a:solidFill>
                <a:latin typeface="Inconsolata"/>
              </a:rPr>
              <a:t>app = </a:t>
            </a:r>
            <a:r>
              <a:rPr sz="691" i="0">
                <a:solidFill>
                  <a:srgbClr val="7FDBCA"/>
                </a:solidFill>
                <a:latin typeface="Inconsolata"/>
              </a:rPr>
              <a:t>FastAPI</a:t>
            </a:r>
            <a:r>
              <a:rPr sz="691" i="0">
                <a:solidFill>
                  <a:srgbClr val="E6EDF3"/>
                </a:solidFill>
                <a:latin typeface="Inconsolata"/>
              </a:rPr>
              <a:t>()</a:t>
            </a:r>
          </a:p>
          <a:p>
            <a:pPr>
              <a:lnSpc>
                <a:spcPct val="108505"/>
              </a:lnSpc>
              <a:spcAft>
                <a:spcPts val="0"/>
              </a:spcAft>
            </a:pPr>
            <a:r>
              <a:rPr sz="691" i="0">
                <a:solidFill>
                  <a:srgbClr val="5C6773"/>
                </a:solidFill>
                <a:latin typeface="Inconsolata"/>
              </a:rPr>
              <a:t>21  </a:t>
            </a:r>
            <a:r>
              <a:rPr sz="691" i="0">
                <a:solidFill>
                  <a:srgbClr val="E6EDF3"/>
                </a:solidFill>
                <a:latin typeface="Inconsolata"/>
              </a:rPr>
              <a:t> </a:t>
            </a:r>
          </a:p>
          <a:p>
            <a:pPr>
              <a:lnSpc>
                <a:spcPct val="108505"/>
              </a:lnSpc>
              <a:spcAft>
                <a:spcPts val="0"/>
              </a:spcAft>
            </a:pPr>
            <a:r>
              <a:rPr sz="691" i="0">
                <a:solidFill>
                  <a:srgbClr val="5C6773"/>
                </a:solidFill>
                <a:latin typeface="Inconsolata"/>
              </a:rPr>
              <a:t>22  </a:t>
            </a:r>
            <a:r>
              <a:rPr sz="691" i="0">
                <a:solidFill>
                  <a:srgbClr val="E6EDF3"/>
                </a:solidFill>
                <a:latin typeface="Inconsolata"/>
              </a:rPr>
              <a:t> </a:t>
            </a:r>
          </a:p>
          <a:p>
            <a:pPr>
              <a:lnSpc>
                <a:spcPct val="108505"/>
              </a:lnSpc>
              <a:spcAft>
                <a:spcPts val="0"/>
              </a:spcAft>
            </a:pPr>
            <a:r>
              <a:rPr sz="691" i="0">
                <a:solidFill>
                  <a:srgbClr val="5C6773"/>
                </a:solidFill>
                <a:latin typeface="Inconsolata"/>
              </a:rPr>
              <a:t>23  </a:t>
            </a:r>
            <a:r>
              <a:rPr sz="691" i="0">
                <a:solidFill>
                  <a:srgbClr val="FF8E6E"/>
                </a:solidFill>
                <a:latin typeface="Inconsolata"/>
              </a:rPr>
              <a:t>def</a:t>
            </a:r>
            <a:r>
              <a:rPr sz="691" i="0">
                <a:solidFill>
                  <a:srgbClr val="E6EDF3"/>
                </a:solidFill>
                <a:latin typeface="Inconsolata"/>
              </a:rPr>
              <a:t> </a:t>
            </a:r>
            <a:r>
              <a:rPr sz="691" i="0">
                <a:solidFill>
                  <a:srgbClr val="82B1FF"/>
                </a:solidFill>
                <a:latin typeface="Inconsolata"/>
              </a:rPr>
              <a:t>current_user</a:t>
            </a:r>
            <a:r>
              <a:rPr sz="691" i="0">
                <a:solidFill>
                  <a:srgbClr val="E6EDF3"/>
                </a:solidFill>
                <a:latin typeface="Inconsolata"/>
              </a:rPr>
              <a:t>(security_scopes: </a:t>
            </a:r>
            <a:r>
              <a:rPr sz="691" i="0">
                <a:solidFill>
                  <a:srgbClr val="7FDBCA"/>
                </a:solidFill>
                <a:latin typeface="Inconsolata"/>
              </a:rPr>
              <a:t>SecurityScopes</a:t>
            </a:r>
            <a:r>
              <a:rPr sz="691" i="0">
                <a:solidFill>
                  <a:srgbClr val="E6EDF3"/>
                </a:solidFill>
                <a:latin typeface="Inconsolata"/>
              </a:rPr>
              <a:t>,</a:t>
            </a:r>
          </a:p>
          <a:p>
            <a:pPr>
              <a:lnSpc>
                <a:spcPct val="108505"/>
              </a:lnSpc>
              <a:spcAft>
                <a:spcPts val="0"/>
              </a:spcAft>
            </a:pPr>
            <a:r>
              <a:rPr sz="691" i="0">
                <a:solidFill>
                  <a:srgbClr val="5C6773"/>
                </a:solidFill>
                <a:latin typeface="Inconsolata"/>
              </a:rPr>
              <a:t>24  </a:t>
            </a:r>
            <a:r>
              <a:rPr sz="691" i="0">
                <a:solidFill>
                  <a:srgbClr val="E6EDF3"/>
                </a:solidFill>
                <a:latin typeface="Inconsolata"/>
              </a:rPr>
              <a:t>                 x_user: </a:t>
            </a:r>
            <a:r>
              <a:rPr sz="691" i="0">
                <a:solidFill>
                  <a:srgbClr val="C3A6FF"/>
                </a:solidFill>
                <a:latin typeface="Inconsolata"/>
              </a:rPr>
              <a:t>str</a:t>
            </a:r>
            <a:r>
              <a:rPr sz="691" i="0">
                <a:solidFill>
                  <a:srgbClr val="E6EDF3"/>
                </a:solidFill>
                <a:latin typeface="Inconsolata"/>
              </a:rPr>
              <a:t> = </a:t>
            </a:r>
            <a:r>
              <a:rPr sz="691" i="0">
                <a:solidFill>
                  <a:srgbClr val="7FDBCA"/>
                </a:solidFill>
                <a:latin typeface="Inconsolata"/>
              </a:rPr>
              <a:t>Header</a:t>
            </a:r>
            <a:r>
              <a:rPr sz="691" i="0">
                <a:solidFill>
                  <a:srgbClr val="E6EDF3"/>
                </a:solidFill>
                <a:latin typeface="Inconsolata"/>
              </a:rPr>
              <a:t>()) -&gt; </a:t>
            </a:r>
            <a:r>
              <a:rPr sz="691" i="0">
                <a:solidFill>
                  <a:srgbClr val="C3A6FF"/>
                </a:solidFill>
                <a:latin typeface="Inconsolata"/>
              </a:rPr>
              <a:t>dict</a:t>
            </a:r>
            <a:r>
              <a:rPr sz="691" i="0">
                <a:solidFill>
                  <a:srgbClr val="E6EDF3"/>
                </a:solidFill>
                <a:latin typeface="Inconsolata"/>
              </a:rPr>
              <a:t>:</a:t>
            </a:r>
          </a:p>
          <a:p>
            <a:pPr>
              <a:lnSpc>
                <a:spcPct val="108505"/>
              </a:lnSpc>
              <a:spcAft>
                <a:spcPts val="0"/>
              </a:spcAft>
            </a:pPr>
            <a:r>
              <a:rPr sz="691" i="0">
                <a:solidFill>
                  <a:srgbClr val="5C6773"/>
                </a:solidFill>
                <a:latin typeface="Inconsolata"/>
              </a:rPr>
              <a:t>25  </a:t>
            </a:r>
            <a:r>
              <a:rPr sz="691" i="0">
                <a:solidFill>
                  <a:srgbClr val="E6EDF3"/>
                </a:solidFill>
                <a:latin typeface="Inconsolata"/>
              </a:rPr>
              <a:t>    role = </a:t>
            </a:r>
            <a:r>
              <a:rPr sz="691" i="0">
                <a:solidFill>
                  <a:srgbClr val="7FDBCA"/>
                </a:solidFill>
                <a:latin typeface="Inconsolata"/>
              </a:rPr>
              <a:t>USERS</a:t>
            </a:r>
            <a:r>
              <a:rPr sz="691" i="0">
                <a:solidFill>
                  <a:srgbClr val="E6EDF3"/>
                </a:solidFill>
                <a:latin typeface="Inconsolata"/>
              </a:rPr>
              <a:t>[x_user]                            </a:t>
            </a:r>
            <a:r>
              <a:rPr sz="691" i="1">
                <a:solidFill>
                  <a:srgbClr val="8B98A8"/>
                </a:solidFill>
                <a:latin typeface="Inconsolata"/>
              </a:rPr>
              <a:t># anggap: dari JWT</a:t>
            </a:r>
          </a:p>
          <a:p>
            <a:pPr>
              <a:lnSpc>
                <a:spcPct val="108505"/>
              </a:lnSpc>
              <a:spcAft>
                <a:spcPts val="0"/>
              </a:spcAft>
            </a:pPr>
            <a:r>
              <a:rPr sz="691" i="0">
                <a:solidFill>
                  <a:srgbClr val="5C6773"/>
                </a:solidFill>
                <a:latin typeface="Inconsolata"/>
              </a:rPr>
              <a:t>26  </a:t>
            </a:r>
            <a:r>
              <a:rPr sz="691" i="0">
                <a:solidFill>
                  <a:srgbClr val="E6EDF3"/>
                </a:solidFill>
                <a:latin typeface="Inconsolata"/>
              </a:rPr>
              <a:t>    missing = </a:t>
            </a:r>
            <a:r>
              <a:rPr sz="691" i="0">
                <a:solidFill>
                  <a:srgbClr val="C3A6FF"/>
                </a:solidFill>
                <a:latin typeface="Inconsolata"/>
              </a:rPr>
              <a:t>set</a:t>
            </a:r>
            <a:r>
              <a:rPr sz="691" i="0">
                <a:solidFill>
                  <a:srgbClr val="E6EDF3"/>
                </a:solidFill>
                <a:latin typeface="Inconsolata"/>
              </a:rPr>
              <a:t>(security_scopes.scopes) - </a:t>
            </a:r>
            <a:r>
              <a:rPr sz="691" i="0">
                <a:solidFill>
                  <a:srgbClr val="7FDBCA"/>
                </a:solidFill>
                <a:latin typeface="Inconsolata"/>
              </a:rPr>
              <a:t>ROLE_SCOPES</a:t>
            </a:r>
            <a:r>
              <a:rPr sz="691" i="0">
                <a:solidFill>
                  <a:srgbClr val="E6EDF3"/>
                </a:solidFill>
                <a:latin typeface="Inconsolata"/>
              </a:rPr>
              <a:t>[role]</a:t>
            </a:r>
          </a:p>
          <a:p>
            <a:pPr>
              <a:lnSpc>
                <a:spcPct val="108505"/>
              </a:lnSpc>
              <a:spcAft>
                <a:spcPts val="0"/>
              </a:spcAft>
            </a:pPr>
            <a:r>
              <a:rPr sz="691" i="0">
                <a:solidFill>
                  <a:srgbClr val="5C6773"/>
                </a:solidFill>
                <a:latin typeface="Inconsolata"/>
              </a:rPr>
              <a:t>27  </a:t>
            </a:r>
            <a:r>
              <a:rPr sz="691" i="0">
                <a:solidFill>
                  <a:srgbClr val="E6EDF3"/>
                </a:solidFill>
                <a:latin typeface="Inconsolata"/>
              </a:rPr>
              <a:t>    </a:t>
            </a:r>
            <a:r>
              <a:rPr sz="691" i="0">
                <a:solidFill>
                  <a:srgbClr val="FF8E6E"/>
                </a:solidFill>
                <a:latin typeface="Inconsolata"/>
              </a:rPr>
              <a:t>if</a:t>
            </a:r>
            <a:r>
              <a:rPr sz="691" i="0">
                <a:solidFill>
                  <a:srgbClr val="E6EDF3"/>
                </a:solidFill>
                <a:latin typeface="Inconsolata"/>
              </a:rPr>
              <a:t> missing:</a:t>
            </a:r>
          </a:p>
          <a:p>
            <a:pPr>
              <a:lnSpc>
                <a:spcPct val="108505"/>
              </a:lnSpc>
              <a:spcAft>
                <a:spcPts val="0"/>
              </a:spcAft>
            </a:pPr>
            <a:r>
              <a:rPr sz="691" i="0">
                <a:solidFill>
                  <a:srgbClr val="5C6773"/>
                </a:solidFill>
                <a:latin typeface="Inconsolata"/>
              </a:rPr>
              <a:t>28  </a:t>
            </a:r>
            <a:r>
              <a:rPr sz="691" i="0">
                <a:solidFill>
                  <a:srgbClr val="E6EDF3"/>
                </a:solidFill>
                <a:latin typeface="Inconsolata"/>
              </a:rPr>
              <a:t>        </a:t>
            </a:r>
            <a:r>
              <a:rPr sz="691" i="0">
                <a:solidFill>
                  <a:srgbClr val="FF8E6E"/>
                </a:solidFill>
                <a:latin typeface="Inconsolata"/>
              </a:rPr>
              <a:t>raise</a:t>
            </a:r>
            <a:r>
              <a:rPr sz="691" i="0">
                <a:solidFill>
                  <a:srgbClr val="E6EDF3"/>
                </a:solidFill>
                <a:latin typeface="Inconsolata"/>
              </a:rPr>
              <a:t> </a:t>
            </a:r>
            <a:r>
              <a:rPr sz="691" i="0">
                <a:solidFill>
                  <a:srgbClr val="7FDBCA"/>
                </a:solidFill>
                <a:latin typeface="Inconsolata"/>
              </a:rPr>
              <a:t>HTTPException</a:t>
            </a:r>
            <a:r>
              <a:rPr sz="691" i="0">
                <a:solidFill>
                  <a:srgbClr val="E6EDF3"/>
                </a:solidFill>
                <a:latin typeface="Inconsolata"/>
              </a:rPr>
              <a:t>(</a:t>
            </a:r>
            <a:r>
              <a:rPr sz="691" i="0">
                <a:solidFill>
                  <a:srgbClr val="F9C97A"/>
                </a:solidFill>
                <a:latin typeface="Inconsolata"/>
              </a:rPr>
              <a:t>403</a:t>
            </a:r>
            <a:r>
              <a:rPr sz="691" i="0">
                <a:solidFill>
                  <a:srgbClr val="E6EDF3"/>
                </a:solidFill>
                <a:latin typeface="Inconsolata"/>
              </a:rPr>
              <a:t>, </a:t>
            </a:r>
            <a:r>
              <a:rPr sz="691" i="0">
                <a:solidFill>
                  <a:srgbClr val="A5D6A7"/>
                </a:solidFill>
                <a:latin typeface="Inconsolata"/>
              </a:rPr>
              <a:t>f"butuh scope {sorted(missing)}"</a:t>
            </a:r>
            <a:r>
              <a:rPr sz="691" i="0">
                <a:solidFill>
                  <a:srgbClr val="E6EDF3"/>
                </a:solidFill>
                <a:latin typeface="Inconsolata"/>
              </a:rPr>
              <a:t>)</a:t>
            </a:r>
          </a:p>
          <a:p>
            <a:pPr>
              <a:lnSpc>
                <a:spcPct val="108505"/>
              </a:lnSpc>
              <a:spcAft>
                <a:spcPts val="0"/>
              </a:spcAft>
            </a:pPr>
            <a:r>
              <a:rPr sz="691" i="0">
                <a:solidFill>
                  <a:srgbClr val="5C6773"/>
                </a:solidFill>
                <a:latin typeface="Inconsolata"/>
              </a:rPr>
              <a:t>29  </a:t>
            </a:r>
            <a:r>
              <a:rPr sz="691" i="0">
                <a:solidFill>
                  <a:srgbClr val="E6EDF3"/>
                </a:solidFill>
                <a:latin typeface="Inconsolata"/>
              </a:rPr>
              <a:t>    </a:t>
            </a:r>
            <a:r>
              <a:rPr sz="691" i="0">
                <a:solidFill>
                  <a:srgbClr val="FF8E6E"/>
                </a:solidFill>
                <a:latin typeface="Inconsolata"/>
              </a:rPr>
              <a:t>return</a:t>
            </a:r>
            <a:r>
              <a:rPr sz="691" i="0">
                <a:solidFill>
                  <a:srgbClr val="E6EDF3"/>
                </a:solidFill>
                <a:latin typeface="Inconsolata"/>
              </a:rPr>
              <a:t> {</a:t>
            </a:r>
            <a:r>
              <a:rPr sz="691" i="0">
                <a:solidFill>
                  <a:srgbClr val="A5D6A7"/>
                </a:solidFill>
                <a:latin typeface="Inconsolata"/>
              </a:rPr>
              <a:t>"sub"</a:t>
            </a:r>
            <a:r>
              <a:rPr sz="691" i="0">
                <a:solidFill>
                  <a:srgbClr val="E6EDF3"/>
                </a:solidFill>
                <a:latin typeface="Inconsolata"/>
              </a:rPr>
              <a:t>: x_user, </a:t>
            </a:r>
            <a:r>
              <a:rPr sz="691" i="0">
                <a:solidFill>
                  <a:srgbClr val="A5D6A7"/>
                </a:solidFill>
                <a:latin typeface="Inconsolata"/>
              </a:rPr>
              <a:t>"role"</a:t>
            </a:r>
            <a:r>
              <a:rPr sz="691" i="0">
                <a:solidFill>
                  <a:srgbClr val="E6EDF3"/>
                </a:solidFill>
                <a:latin typeface="Inconsolata"/>
              </a:rPr>
              <a:t>: role}</a:t>
            </a:r>
          </a:p>
          <a:p>
            <a:pPr>
              <a:lnSpc>
                <a:spcPct val="108505"/>
              </a:lnSpc>
              <a:spcAft>
                <a:spcPts val="0"/>
              </a:spcAft>
            </a:pPr>
            <a:r>
              <a:rPr sz="691" i="0">
                <a:solidFill>
                  <a:srgbClr val="5C6773"/>
                </a:solidFill>
                <a:latin typeface="Inconsolata"/>
              </a:rPr>
              <a:t>30  </a:t>
            </a:r>
            <a:r>
              <a:rPr sz="691" i="0">
                <a:solidFill>
                  <a:srgbClr val="E6EDF3"/>
                </a:solidFill>
                <a:latin typeface="Inconsolata"/>
              </a:rPr>
              <a:t> </a:t>
            </a:r>
          </a:p>
          <a:p>
            <a:pPr>
              <a:lnSpc>
                <a:spcPct val="108505"/>
              </a:lnSpc>
              <a:spcAft>
                <a:spcPts val="0"/>
              </a:spcAft>
            </a:pPr>
            <a:r>
              <a:rPr sz="691" i="0">
                <a:solidFill>
                  <a:srgbClr val="5C6773"/>
                </a:solidFill>
                <a:latin typeface="Inconsolata"/>
              </a:rPr>
              <a:t>31  </a:t>
            </a:r>
            <a:r>
              <a:rPr sz="691" i="0">
                <a:solidFill>
                  <a:srgbClr val="E6EDF3"/>
                </a:solidFill>
                <a:latin typeface="Inconsolata"/>
              </a:rPr>
              <a:t> </a:t>
            </a:r>
          </a:p>
          <a:p>
            <a:pPr>
              <a:lnSpc>
                <a:spcPct val="108505"/>
              </a:lnSpc>
              <a:spcAft>
                <a:spcPts val="0"/>
              </a:spcAft>
            </a:pPr>
            <a:r>
              <a:rPr sz="691" i="0">
                <a:solidFill>
                  <a:srgbClr val="5C6773"/>
                </a:solidFill>
                <a:latin typeface="Inconsolata"/>
              </a:rPr>
              <a:t>32  </a:t>
            </a:r>
            <a:r>
              <a:rPr sz="691" i="0">
                <a:solidFill>
                  <a:srgbClr val="F9C97A"/>
                </a:solidFill>
                <a:latin typeface="Inconsolata"/>
              </a:rPr>
              <a:t>@app.post</a:t>
            </a:r>
            <a:r>
              <a:rPr sz="691" i="0">
                <a:solidFill>
                  <a:srgbClr val="E6EDF3"/>
                </a:solidFill>
                <a:latin typeface="Inconsolata"/>
              </a:rPr>
              <a:t>(</a:t>
            </a:r>
            <a:r>
              <a:rPr sz="691" i="0">
                <a:solidFill>
                  <a:srgbClr val="A5D6A7"/>
                </a:solidFill>
                <a:latin typeface="Inconsolata"/>
              </a:rPr>
              <a:t>"/products"</a:t>
            </a:r>
            <a:r>
              <a:rPr sz="691" i="0">
                <a:solidFill>
                  <a:srgbClr val="E6EDF3"/>
                </a:solidFill>
                <a:latin typeface="Inconsolata"/>
              </a:rPr>
              <a:t>)</a:t>
            </a:r>
          </a:p>
          <a:p>
            <a:pPr>
              <a:lnSpc>
                <a:spcPct val="108505"/>
              </a:lnSpc>
              <a:spcAft>
                <a:spcPts val="0"/>
              </a:spcAft>
            </a:pPr>
            <a:r>
              <a:rPr sz="691" i="0">
                <a:solidFill>
                  <a:srgbClr val="5C6773"/>
                </a:solidFill>
                <a:latin typeface="Inconsolata"/>
              </a:rPr>
              <a:t>33  </a:t>
            </a:r>
            <a:r>
              <a:rPr sz="691" i="0">
                <a:solidFill>
                  <a:srgbClr val="FF8E6E"/>
                </a:solidFill>
                <a:latin typeface="Inconsolata"/>
              </a:rPr>
              <a:t>def</a:t>
            </a:r>
            <a:r>
              <a:rPr sz="691" i="0">
                <a:solidFill>
                  <a:srgbClr val="E6EDF3"/>
                </a:solidFill>
                <a:latin typeface="Inconsolata"/>
              </a:rPr>
              <a:t> </a:t>
            </a:r>
            <a:r>
              <a:rPr sz="691" i="0">
                <a:solidFill>
                  <a:srgbClr val="82B1FF"/>
                </a:solidFill>
                <a:latin typeface="Inconsolata"/>
              </a:rPr>
              <a:t>create_product</a:t>
            </a:r>
            <a:r>
              <a:rPr sz="691" i="0">
                <a:solidFill>
                  <a:srgbClr val="E6EDF3"/>
                </a:solidFill>
                <a:latin typeface="Inconsolata"/>
              </a:rPr>
              <a:t>(</a:t>
            </a:r>
          </a:p>
          <a:p>
            <a:pPr>
              <a:lnSpc>
                <a:spcPct val="108505"/>
              </a:lnSpc>
              <a:spcAft>
                <a:spcPts val="0"/>
              </a:spcAft>
            </a:pPr>
            <a:r>
              <a:rPr sz="691" i="0">
                <a:solidFill>
                  <a:srgbClr val="5C6773"/>
                </a:solidFill>
                <a:latin typeface="Inconsolata"/>
              </a:rPr>
              <a:t>34  </a:t>
            </a:r>
            <a:r>
              <a:rPr sz="691" i="0">
                <a:solidFill>
                  <a:srgbClr val="E6EDF3"/>
                </a:solidFill>
                <a:latin typeface="Inconsolata"/>
              </a:rPr>
              <a:t>        user: </a:t>
            </a:r>
            <a:r>
              <a:rPr sz="691" i="0">
                <a:solidFill>
                  <a:srgbClr val="C3A6FF"/>
                </a:solidFill>
                <a:latin typeface="Inconsolata"/>
              </a:rPr>
              <a:t>dict</a:t>
            </a:r>
            <a:r>
              <a:rPr sz="691" i="0">
                <a:solidFill>
                  <a:srgbClr val="E6EDF3"/>
                </a:solidFill>
                <a:latin typeface="Inconsolata"/>
              </a:rPr>
              <a:t> = </a:t>
            </a:r>
            <a:r>
              <a:rPr sz="691" i="0">
                <a:solidFill>
                  <a:srgbClr val="7FDBCA"/>
                </a:solidFill>
                <a:latin typeface="Inconsolata"/>
              </a:rPr>
              <a:t>Security</a:t>
            </a:r>
            <a:r>
              <a:rPr sz="691" i="0">
                <a:solidFill>
                  <a:srgbClr val="E6EDF3"/>
                </a:solidFill>
                <a:latin typeface="Inconsolata"/>
              </a:rPr>
              <a:t>(current_user, scopes=[</a:t>
            </a:r>
            <a:r>
              <a:rPr sz="691" i="0">
                <a:solidFill>
                  <a:srgbClr val="A5D6A7"/>
                </a:solidFill>
                <a:latin typeface="Inconsolata"/>
              </a:rPr>
              <a:t>"products:write"</a:t>
            </a:r>
            <a:r>
              <a:rPr sz="691" i="0">
                <a:solidFill>
                  <a:srgbClr val="E6EDF3"/>
                </a:solidFill>
                <a:latin typeface="Inconsolata"/>
              </a:rPr>
              <a:t>])):</a:t>
            </a:r>
          </a:p>
          <a:p>
            <a:pPr>
              <a:lnSpc>
                <a:spcPct val="108505"/>
              </a:lnSpc>
              <a:spcAft>
                <a:spcPts val="0"/>
              </a:spcAft>
            </a:pPr>
            <a:r>
              <a:rPr sz="691" i="0">
                <a:solidFill>
                  <a:srgbClr val="5C6773"/>
                </a:solidFill>
                <a:latin typeface="Inconsolata"/>
              </a:rPr>
              <a:t>35  </a:t>
            </a:r>
            <a:r>
              <a:rPr sz="691" i="0">
                <a:solidFill>
                  <a:srgbClr val="E6EDF3"/>
                </a:solidFill>
                <a:latin typeface="Inconsolata"/>
              </a:rPr>
              <a:t>    </a:t>
            </a:r>
            <a:r>
              <a:rPr sz="691" i="0">
                <a:solidFill>
                  <a:srgbClr val="FF8E6E"/>
                </a:solidFill>
                <a:latin typeface="Inconsolata"/>
              </a:rPr>
              <a:t>return</a:t>
            </a:r>
            <a:r>
              <a:rPr sz="691" i="0">
                <a:solidFill>
                  <a:srgbClr val="E6EDF3"/>
                </a:solidFill>
                <a:latin typeface="Inconsolata"/>
              </a:rPr>
              <a:t> {</a:t>
            </a:r>
            <a:r>
              <a:rPr sz="691" i="0">
                <a:solidFill>
                  <a:srgbClr val="A5D6A7"/>
                </a:solidFill>
                <a:latin typeface="Inconsolata"/>
              </a:rPr>
              <a:t>"status"</a:t>
            </a:r>
            <a:r>
              <a:rPr sz="691" i="0">
                <a:solidFill>
                  <a:srgbClr val="E6EDF3"/>
                </a:solidFill>
                <a:latin typeface="Inconsolata"/>
              </a:rPr>
              <a:t>: </a:t>
            </a:r>
            <a:r>
              <a:rPr sz="691" i="0">
                <a:solidFill>
                  <a:srgbClr val="A5D6A7"/>
                </a:solidFill>
                <a:latin typeface="Inconsolata"/>
              </a:rPr>
              <a:t>"created"</a:t>
            </a:r>
            <a:r>
              <a:rPr sz="691"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06-rbac-scopes/after.py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8505"/>
              </a:lnSpc>
              <a:spcAft>
                <a:spcPts val="0"/>
              </a:spcAft>
            </a:pPr>
            <a:r>
              <a:rPr sz="691" i="0">
                <a:solidFill>
                  <a:srgbClr val="5C6773"/>
                </a:solidFill>
                <a:latin typeface="Inconsolata"/>
              </a:rPr>
              <a:t>38  </a:t>
            </a:r>
            <a:r>
              <a:rPr sz="691" i="0">
                <a:solidFill>
                  <a:srgbClr val="F9C97A"/>
                </a:solidFill>
                <a:latin typeface="Inconsolata"/>
              </a:rPr>
              <a:t>@app.delete</a:t>
            </a:r>
            <a:r>
              <a:rPr sz="691" i="0">
                <a:solidFill>
                  <a:srgbClr val="E6EDF3"/>
                </a:solidFill>
                <a:latin typeface="Inconsolata"/>
              </a:rPr>
              <a:t>(</a:t>
            </a:r>
            <a:r>
              <a:rPr sz="691" i="0">
                <a:solidFill>
                  <a:srgbClr val="A5D6A7"/>
                </a:solidFill>
                <a:latin typeface="Inconsolata"/>
              </a:rPr>
              <a:t>"/products/{product_id}"</a:t>
            </a:r>
            <a:r>
              <a:rPr sz="691" i="0">
                <a:solidFill>
                  <a:srgbClr val="E6EDF3"/>
                </a:solidFill>
                <a:latin typeface="Inconsolata"/>
              </a:rPr>
              <a:t>)</a:t>
            </a:r>
          </a:p>
          <a:p>
            <a:pPr>
              <a:lnSpc>
                <a:spcPct val="108505"/>
              </a:lnSpc>
              <a:spcAft>
                <a:spcPts val="0"/>
              </a:spcAft>
            </a:pPr>
            <a:r>
              <a:rPr sz="691" i="0">
                <a:solidFill>
                  <a:srgbClr val="5C6773"/>
                </a:solidFill>
                <a:latin typeface="Inconsolata"/>
              </a:rPr>
              <a:t>39  </a:t>
            </a:r>
            <a:r>
              <a:rPr sz="691" i="0">
                <a:solidFill>
                  <a:srgbClr val="FF8E6E"/>
                </a:solidFill>
                <a:latin typeface="Inconsolata"/>
              </a:rPr>
              <a:t>def</a:t>
            </a:r>
            <a:r>
              <a:rPr sz="691" i="0">
                <a:solidFill>
                  <a:srgbClr val="E6EDF3"/>
                </a:solidFill>
                <a:latin typeface="Inconsolata"/>
              </a:rPr>
              <a:t> </a:t>
            </a:r>
            <a:r>
              <a:rPr sz="691" i="0">
                <a:solidFill>
                  <a:srgbClr val="82B1FF"/>
                </a:solidFill>
                <a:latin typeface="Inconsolata"/>
              </a:rPr>
              <a:t>delete_product</a:t>
            </a:r>
            <a:r>
              <a:rPr sz="691" i="0">
                <a:solidFill>
                  <a:srgbClr val="E6EDF3"/>
                </a:solidFill>
                <a:latin typeface="Inconsolata"/>
              </a:rPr>
              <a:t>(</a:t>
            </a:r>
          </a:p>
          <a:p>
            <a:pPr>
              <a:lnSpc>
                <a:spcPct val="108505"/>
              </a:lnSpc>
              <a:spcAft>
                <a:spcPts val="0"/>
              </a:spcAft>
            </a:pPr>
            <a:r>
              <a:rPr sz="691" i="0">
                <a:solidFill>
                  <a:srgbClr val="5C6773"/>
                </a:solidFill>
                <a:latin typeface="Inconsolata"/>
              </a:rPr>
              <a:t>40  </a:t>
            </a:r>
            <a:r>
              <a:rPr sz="691" i="0">
                <a:solidFill>
                  <a:srgbClr val="E6EDF3"/>
                </a:solidFill>
                <a:latin typeface="Inconsolata"/>
              </a:rPr>
              <a:t>        product_id: </a:t>
            </a:r>
            <a:r>
              <a:rPr sz="691" i="0">
                <a:solidFill>
                  <a:srgbClr val="C3A6FF"/>
                </a:solidFill>
                <a:latin typeface="Inconsolata"/>
              </a:rPr>
              <a:t>int</a:t>
            </a:r>
            <a:r>
              <a:rPr sz="691" i="0">
                <a:solidFill>
                  <a:srgbClr val="E6EDF3"/>
                </a:solidFill>
                <a:latin typeface="Inconsolata"/>
              </a:rPr>
              <a:t>,</a:t>
            </a:r>
          </a:p>
          <a:p>
            <a:pPr>
              <a:lnSpc>
                <a:spcPct val="108505"/>
              </a:lnSpc>
              <a:spcAft>
                <a:spcPts val="0"/>
              </a:spcAft>
            </a:pPr>
            <a:r>
              <a:rPr sz="691" i="0">
                <a:solidFill>
                  <a:srgbClr val="5C6773"/>
                </a:solidFill>
                <a:latin typeface="Inconsolata"/>
              </a:rPr>
              <a:t>41  </a:t>
            </a:r>
            <a:r>
              <a:rPr sz="691" i="0">
                <a:solidFill>
                  <a:srgbClr val="E6EDF3"/>
                </a:solidFill>
                <a:latin typeface="Inconsolata"/>
              </a:rPr>
              <a:t>        user: </a:t>
            </a:r>
            <a:r>
              <a:rPr sz="691" i="0">
                <a:solidFill>
                  <a:srgbClr val="C3A6FF"/>
                </a:solidFill>
                <a:latin typeface="Inconsolata"/>
              </a:rPr>
              <a:t>dict</a:t>
            </a:r>
            <a:r>
              <a:rPr sz="691" i="0">
                <a:solidFill>
                  <a:srgbClr val="E6EDF3"/>
                </a:solidFill>
                <a:latin typeface="Inconsolata"/>
              </a:rPr>
              <a:t> = </a:t>
            </a:r>
            <a:r>
              <a:rPr sz="691" i="0">
                <a:solidFill>
                  <a:srgbClr val="7FDBCA"/>
                </a:solidFill>
                <a:latin typeface="Inconsolata"/>
              </a:rPr>
              <a:t>Security</a:t>
            </a:r>
            <a:r>
              <a:rPr sz="691" i="0">
                <a:solidFill>
                  <a:srgbClr val="E6EDF3"/>
                </a:solidFill>
                <a:latin typeface="Inconsolata"/>
              </a:rPr>
              <a:t>(current_user, scopes=[</a:t>
            </a:r>
            <a:r>
              <a:rPr sz="691" i="0">
                <a:solidFill>
                  <a:srgbClr val="A5D6A7"/>
                </a:solidFill>
                <a:latin typeface="Inconsolata"/>
              </a:rPr>
              <a:t>"products:write"</a:t>
            </a:r>
            <a:r>
              <a:rPr sz="691" i="0">
                <a:solidFill>
                  <a:srgbClr val="E6EDF3"/>
                </a:solidFill>
                <a:latin typeface="Inconsolata"/>
              </a:rPr>
              <a:t>])):</a:t>
            </a:r>
          </a:p>
          <a:p>
            <a:pPr>
              <a:lnSpc>
                <a:spcPct val="108505"/>
              </a:lnSpc>
              <a:spcAft>
                <a:spcPts val="0"/>
              </a:spcAft>
            </a:pPr>
            <a:r>
              <a:rPr sz="691" i="0">
                <a:solidFill>
                  <a:srgbClr val="5C6773"/>
                </a:solidFill>
                <a:latin typeface="Inconsolata"/>
              </a:rPr>
              <a:t>42  </a:t>
            </a:r>
            <a:r>
              <a:rPr sz="691" i="0">
                <a:solidFill>
                  <a:srgbClr val="E6EDF3"/>
                </a:solidFill>
                <a:latin typeface="Inconsolata"/>
              </a:rPr>
              <a:t>    </a:t>
            </a:r>
            <a:r>
              <a:rPr sz="691" i="0">
                <a:solidFill>
                  <a:srgbClr val="FF8E6E"/>
                </a:solidFill>
                <a:latin typeface="Inconsolata"/>
              </a:rPr>
              <a:t>return</a:t>
            </a:r>
            <a:r>
              <a:rPr sz="691" i="0">
                <a:solidFill>
                  <a:srgbClr val="E6EDF3"/>
                </a:solidFill>
                <a:latin typeface="Inconsolata"/>
              </a:rPr>
              <a:t> {</a:t>
            </a:r>
            <a:r>
              <a:rPr sz="691" i="0">
                <a:solidFill>
                  <a:srgbClr val="A5D6A7"/>
                </a:solidFill>
                <a:latin typeface="Inconsolata"/>
              </a:rPr>
              <a:t>"status"</a:t>
            </a:r>
            <a:r>
              <a:rPr sz="691" i="0">
                <a:solidFill>
                  <a:srgbClr val="E6EDF3"/>
                </a:solidFill>
                <a:latin typeface="Inconsolata"/>
              </a:rPr>
              <a:t>: </a:t>
            </a:r>
            <a:r>
              <a:rPr sz="691" i="0">
                <a:solidFill>
                  <a:srgbClr val="A5D6A7"/>
                </a:solidFill>
                <a:latin typeface="Inconsolata"/>
              </a:rPr>
              <a:t>"deleted"</a:t>
            </a:r>
            <a:r>
              <a:rPr sz="691" i="0">
                <a:solidFill>
                  <a:srgbClr val="E6EDF3"/>
                </a:solidFill>
                <a:latin typeface="Inconsolata"/>
              </a:rPr>
              <a:t>}</a:t>
            </a:r>
          </a:p>
          <a:p>
            <a:pPr>
              <a:lnSpc>
                <a:spcPct val="108505"/>
              </a:lnSpc>
              <a:spcAft>
                <a:spcPts val="0"/>
              </a:spcAft>
            </a:pPr>
            <a:r>
              <a:rPr sz="691" i="0">
                <a:solidFill>
                  <a:srgbClr val="5C6773"/>
                </a:solidFill>
                <a:latin typeface="Inconsolata"/>
              </a:rPr>
              <a:t>43  </a:t>
            </a:r>
            <a:r>
              <a:rPr sz="691" i="0">
                <a:solidFill>
                  <a:srgbClr val="E6EDF3"/>
                </a:solidFill>
                <a:latin typeface="Inconsolata"/>
              </a:rPr>
              <a:t> </a:t>
            </a:r>
          </a:p>
          <a:p>
            <a:pPr>
              <a:lnSpc>
                <a:spcPct val="108505"/>
              </a:lnSpc>
              <a:spcAft>
                <a:spcPts val="0"/>
              </a:spcAft>
            </a:pPr>
            <a:r>
              <a:rPr sz="691" i="0">
                <a:solidFill>
                  <a:srgbClr val="5C6773"/>
                </a:solidFill>
                <a:latin typeface="Inconsolata"/>
              </a:rPr>
              <a:t>44  </a:t>
            </a:r>
            <a:r>
              <a:rPr sz="691" i="0">
                <a:solidFill>
                  <a:srgbClr val="E6EDF3"/>
                </a:solidFill>
                <a:latin typeface="Inconsolata"/>
              </a:rPr>
              <a:t> </a:t>
            </a:r>
          </a:p>
          <a:p>
            <a:pPr>
              <a:lnSpc>
                <a:spcPct val="108505"/>
              </a:lnSpc>
              <a:spcAft>
                <a:spcPts val="0"/>
              </a:spcAft>
            </a:pPr>
            <a:r>
              <a:rPr sz="691" i="0">
                <a:solidFill>
                  <a:srgbClr val="5C6773"/>
                </a:solidFill>
                <a:latin typeface="Inconsolata"/>
              </a:rPr>
              <a:t>45  </a:t>
            </a:r>
            <a:r>
              <a:rPr sz="691" i="0">
                <a:solidFill>
                  <a:srgbClr val="F9C97A"/>
                </a:solidFill>
                <a:latin typeface="Inconsolata"/>
              </a:rPr>
              <a:t>@app.get</a:t>
            </a:r>
            <a:r>
              <a:rPr sz="691" i="0">
                <a:solidFill>
                  <a:srgbClr val="E6EDF3"/>
                </a:solidFill>
                <a:latin typeface="Inconsolata"/>
              </a:rPr>
              <a:t>(</a:t>
            </a:r>
            <a:r>
              <a:rPr sz="691" i="0">
                <a:solidFill>
                  <a:srgbClr val="A5D6A7"/>
                </a:solidFill>
                <a:latin typeface="Inconsolata"/>
              </a:rPr>
              <a:t>"/reports/sales"</a:t>
            </a:r>
            <a:r>
              <a:rPr sz="691" i="0">
                <a:solidFill>
                  <a:srgbClr val="E6EDF3"/>
                </a:solidFill>
                <a:latin typeface="Inconsolata"/>
              </a:rPr>
              <a:t>)</a:t>
            </a:r>
          </a:p>
          <a:p>
            <a:pPr>
              <a:lnSpc>
                <a:spcPct val="108505"/>
              </a:lnSpc>
              <a:spcAft>
                <a:spcPts val="0"/>
              </a:spcAft>
            </a:pPr>
            <a:r>
              <a:rPr sz="691" i="0">
                <a:solidFill>
                  <a:srgbClr val="5C6773"/>
                </a:solidFill>
                <a:latin typeface="Inconsolata"/>
              </a:rPr>
              <a:t>46  </a:t>
            </a:r>
            <a:r>
              <a:rPr sz="691" i="0">
                <a:solidFill>
                  <a:srgbClr val="FF8E6E"/>
                </a:solidFill>
                <a:latin typeface="Inconsolata"/>
              </a:rPr>
              <a:t>def</a:t>
            </a:r>
            <a:r>
              <a:rPr sz="691" i="0">
                <a:solidFill>
                  <a:srgbClr val="E6EDF3"/>
                </a:solidFill>
                <a:latin typeface="Inconsolata"/>
              </a:rPr>
              <a:t> </a:t>
            </a:r>
            <a:r>
              <a:rPr sz="691" i="0">
                <a:solidFill>
                  <a:srgbClr val="82B1FF"/>
                </a:solidFill>
                <a:latin typeface="Inconsolata"/>
              </a:rPr>
              <a:t>sales_report</a:t>
            </a:r>
            <a:r>
              <a:rPr sz="691" i="0">
                <a:solidFill>
                  <a:srgbClr val="E6EDF3"/>
                </a:solidFill>
                <a:latin typeface="Inconsolata"/>
              </a:rPr>
              <a:t>(</a:t>
            </a:r>
          </a:p>
          <a:p>
            <a:pPr>
              <a:lnSpc>
                <a:spcPct val="108505"/>
              </a:lnSpc>
              <a:spcAft>
                <a:spcPts val="0"/>
              </a:spcAft>
            </a:pPr>
            <a:r>
              <a:rPr sz="691" i="0">
                <a:solidFill>
                  <a:srgbClr val="5C6773"/>
                </a:solidFill>
                <a:latin typeface="Inconsolata"/>
              </a:rPr>
              <a:t>47  </a:t>
            </a:r>
            <a:r>
              <a:rPr sz="691" i="0">
                <a:solidFill>
                  <a:srgbClr val="E6EDF3"/>
                </a:solidFill>
                <a:latin typeface="Inconsolata"/>
              </a:rPr>
              <a:t>        user: </a:t>
            </a:r>
            <a:r>
              <a:rPr sz="691" i="0">
                <a:solidFill>
                  <a:srgbClr val="C3A6FF"/>
                </a:solidFill>
                <a:latin typeface="Inconsolata"/>
              </a:rPr>
              <a:t>dict</a:t>
            </a:r>
            <a:r>
              <a:rPr sz="691" i="0">
                <a:solidFill>
                  <a:srgbClr val="E6EDF3"/>
                </a:solidFill>
                <a:latin typeface="Inconsolata"/>
              </a:rPr>
              <a:t> = </a:t>
            </a:r>
            <a:r>
              <a:rPr sz="691" i="0">
                <a:solidFill>
                  <a:srgbClr val="7FDBCA"/>
                </a:solidFill>
                <a:latin typeface="Inconsolata"/>
              </a:rPr>
              <a:t>Security</a:t>
            </a:r>
            <a:r>
              <a:rPr sz="691" i="0">
                <a:solidFill>
                  <a:srgbClr val="E6EDF3"/>
                </a:solidFill>
                <a:latin typeface="Inconsolata"/>
              </a:rPr>
              <a:t>(current_user, scopes=[</a:t>
            </a:r>
            <a:r>
              <a:rPr sz="691" i="0">
                <a:solidFill>
                  <a:srgbClr val="A5D6A7"/>
                </a:solidFill>
                <a:latin typeface="Inconsolata"/>
              </a:rPr>
              <a:t>"reports:read"</a:t>
            </a:r>
            <a:r>
              <a:rPr sz="691" i="0">
                <a:solidFill>
                  <a:srgbClr val="E6EDF3"/>
                </a:solidFill>
                <a:latin typeface="Inconsolata"/>
              </a:rPr>
              <a:t>])):</a:t>
            </a:r>
          </a:p>
          <a:p>
            <a:pPr>
              <a:lnSpc>
                <a:spcPct val="108505"/>
              </a:lnSpc>
              <a:spcAft>
                <a:spcPts val="0"/>
              </a:spcAft>
            </a:pPr>
            <a:r>
              <a:rPr sz="691" i="0">
                <a:solidFill>
                  <a:srgbClr val="5C6773"/>
                </a:solidFill>
                <a:latin typeface="Inconsolata"/>
              </a:rPr>
              <a:t>48  </a:t>
            </a:r>
            <a:r>
              <a:rPr sz="691" i="0">
                <a:solidFill>
                  <a:srgbClr val="E6EDF3"/>
                </a:solidFill>
                <a:latin typeface="Inconsolata"/>
              </a:rPr>
              <a:t>    </a:t>
            </a:r>
            <a:r>
              <a:rPr sz="691" i="0">
                <a:solidFill>
                  <a:srgbClr val="FF8E6E"/>
                </a:solidFill>
                <a:latin typeface="Inconsolata"/>
              </a:rPr>
              <a:t>return</a:t>
            </a:r>
            <a:r>
              <a:rPr sz="691" i="0">
                <a:solidFill>
                  <a:srgbClr val="E6EDF3"/>
                </a:solidFill>
                <a:latin typeface="Inconsolata"/>
              </a:rPr>
              <a:t> {</a:t>
            </a:r>
            <a:r>
              <a:rPr sz="691" i="0">
                <a:solidFill>
                  <a:srgbClr val="A5D6A7"/>
                </a:solidFill>
                <a:latin typeface="Inconsolata"/>
              </a:rPr>
              <a:t>"revenue"</a:t>
            </a:r>
            <a:r>
              <a:rPr sz="691" i="0">
                <a:solidFill>
                  <a:srgbClr val="E6EDF3"/>
                </a:solidFill>
                <a:latin typeface="Inconsolata"/>
              </a:rPr>
              <a:t>: </a:t>
            </a:r>
            <a:r>
              <a:rPr sz="691" i="0">
                <a:solidFill>
                  <a:srgbClr val="F9C97A"/>
                </a:solidFill>
                <a:latin typeface="Inconsolata"/>
              </a:rPr>
              <a:t>12_500_000</a:t>
            </a:r>
            <a:r>
              <a:rPr sz="691" i="0">
                <a:solidFill>
                  <a:srgbClr val="E6EDF3"/>
                </a:solidFill>
                <a:latin typeface="Inconsolata"/>
              </a:rPr>
              <a:t>}</a:t>
            </a:r>
          </a:p>
          <a:p>
            <a:pPr>
              <a:lnSpc>
                <a:spcPct val="108505"/>
              </a:lnSpc>
              <a:spcAft>
                <a:spcPts val="0"/>
              </a:spcAft>
            </a:pPr>
            <a:r>
              <a:rPr sz="691" i="0">
                <a:solidFill>
                  <a:srgbClr val="5C6773"/>
                </a:solidFill>
                <a:latin typeface="Inconsolata"/>
              </a:rPr>
              <a:t>49  </a:t>
            </a:r>
            <a:r>
              <a:rPr sz="691" i="0">
                <a:solidFill>
                  <a:srgbClr val="E6EDF3"/>
                </a:solidFill>
                <a:latin typeface="Inconsolata"/>
              </a:rPr>
              <a:t> </a:t>
            </a:r>
          </a:p>
          <a:p>
            <a:pPr>
              <a:lnSpc>
                <a:spcPct val="108505"/>
              </a:lnSpc>
              <a:spcAft>
                <a:spcPts val="0"/>
              </a:spcAft>
            </a:pPr>
            <a:r>
              <a:rPr sz="691" i="0">
                <a:solidFill>
                  <a:srgbClr val="5C6773"/>
                </a:solidFill>
                <a:latin typeface="Inconsolata"/>
              </a:rPr>
              <a:t>50  </a:t>
            </a:r>
            <a:r>
              <a:rPr sz="691" i="0">
                <a:solidFill>
                  <a:srgbClr val="E6EDF3"/>
                </a:solidFill>
                <a:latin typeface="Inconsolata"/>
              </a:rPr>
              <a:t> </a:t>
            </a:r>
          </a:p>
          <a:p>
            <a:pPr>
              <a:lnSpc>
                <a:spcPct val="108505"/>
              </a:lnSpc>
              <a:spcAft>
                <a:spcPts val="0"/>
              </a:spcAft>
            </a:pPr>
            <a:r>
              <a:rPr sz="691" i="0">
                <a:solidFill>
                  <a:srgbClr val="5C6773"/>
                </a:solidFill>
                <a:latin typeface="Inconsolata"/>
              </a:rPr>
              <a:t>51  </a:t>
            </a:r>
            <a:r>
              <a:rPr sz="691" i="0">
                <a:solidFill>
                  <a:srgbClr val="FF8E6E"/>
                </a:solidFill>
                <a:latin typeface="Inconsolata"/>
              </a:rPr>
              <a:t>if</a:t>
            </a:r>
            <a:r>
              <a:rPr sz="691" i="0">
                <a:solidFill>
                  <a:srgbClr val="E6EDF3"/>
                </a:solidFill>
                <a:latin typeface="Inconsolata"/>
              </a:rPr>
              <a:t> __name__ == </a:t>
            </a:r>
            <a:r>
              <a:rPr sz="691" i="0">
                <a:solidFill>
                  <a:srgbClr val="A5D6A7"/>
                </a:solidFill>
                <a:latin typeface="Inconsolata"/>
              </a:rPr>
              <a:t>"__main__"</a:t>
            </a:r>
            <a:r>
              <a:rPr sz="691" i="0">
                <a:solidFill>
                  <a:srgbClr val="E6EDF3"/>
                </a:solidFill>
                <a:latin typeface="Inconsolata"/>
              </a:rPr>
              <a:t>:</a:t>
            </a:r>
          </a:p>
          <a:p>
            <a:pPr>
              <a:lnSpc>
                <a:spcPct val="108505"/>
              </a:lnSpc>
              <a:spcAft>
                <a:spcPts val="0"/>
              </a:spcAft>
            </a:pPr>
            <a:r>
              <a:rPr sz="691" i="0">
                <a:solidFill>
                  <a:srgbClr val="5C6773"/>
                </a:solidFill>
                <a:latin typeface="Inconsolata"/>
              </a:rPr>
              <a:t>52  </a:t>
            </a:r>
            <a:r>
              <a:rPr sz="691" i="0">
                <a:solidFill>
                  <a:srgbClr val="E6EDF3"/>
                </a:solidFill>
                <a:latin typeface="Inconsolata"/>
              </a:rPr>
              <a:t>    client = </a:t>
            </a:r>
            <a:r>
              <a:rPr sz="691" i="0">
                <a:solidFill>
                  <a:srgbClr val="7FDBCA"/>
                </a:solidFill>
                <a:latin typeface="Inconsolata"/>
              </a:rPr>
              <a:t>TestClient</a:t>
            </a:r>
            <a:r>
              <a:rPr sz="691" i="0">
                <a:solidFill>
                  <a:srgbClr val="E6EDF3"/>
                </a:solidFill>
                <a:latin typeface="Inconsolata"/>
              </a:rPr>
              <a:t>(app)</a:t>
            </a:r>
          </a:p>
          <a:p>
            <a:pPr>
              <a:lnSpc>
                <a:spcPct val="108505"/>
              </a:lnSpc>
              <a:spcAft>
                <a:spcPts val="0"/>
              </a:spcAft>
            </a:pPr>
            <a:r>
              <a:rPr sz="691" i="0">
                <a:solidFill>
                  <a:srgbClr val="5C6773"/>
                </a:solidFill>
                <a:latin typeface="Inconsolata"/>
              </a:rPr>
              <a:t>53  </a:t>
            </a:r>
            <a:r>
              <a:rPr sz="691" i="0">
                <a:solidFill>
                  <a:srgbClr val="E6EDF3"/>
                </a:solidFill>
                <a:latin typeface="Inconsolata"/>
              </a:rPr>
              <a:t>    </a:t>
            </a:r>
            <a:r>
              <a:rPr sz="691" i="0">
                <a:solidFill>
                  <a:srgbClr val="FF8E6E"/>
                </a:solidFill>
                <a:latin typeface="Inconsolata"/>
              </a:rPr>
              <a:t>for</a:t>
            </a:r>
            <a:r>
              <a:rPr sz="691" i="0">
                <a:solidFill>
                  <a:srgbClr val="E6EDF3"/>
                </a:solidFill>
                <a:latin typeface="Inconsolata"/>
              </a:rPr>
              <a:t> user </a:t>
            </a:r>
            <a:r>
              <a:rPr sz="691" i="0">
                <a:solidFill>
                  <a:srgbClr val="FF8E6E"/>
                </a:solidFill>
                <a:latin typeface="Inconsolata"/>
              </a:rPr>
              <a:t>in</a:t>
            </a:r>
            <a:r>
              <a:rPr sz="691" i="0">
                <a:solidFill>
                  <a:srgbClr val="E6EDF3"/>
                </a:solidFill>
                <a:latin typeface="Inconsolata"/>
              </a:rPr>
              <a:t> (</a:t>
            </a:r>
            <a:r>
              <a:rPr sz="691" i="0">
                <a:solidFill>
                  <a:srgbClr val="A5D6A7"/>
                </a:solidFill>
                <a:latin typeface="Inconsolata"/>
              </a:rPr>
              <a:t>"budi@mail.com"</a:t>
            </a:r>
            <a:r>
              <a:rPr sz="691" i="0">
                <a:solidFill>
                  <a:srgbClr val="E6EDF3"/>
                </a:solidFill>
                <a:latin typeface="Inconsolata"/>
              </a:rPr>
              <a:t>, </a:t>
            </a:r>
            <a:r>
              <a:rPr sz="691" i="0">
                <a:solidFill>
                  <a:srgbClr val="A5D6A7"/>
                </a:solidFill>
                <a:latin typeface="Inconsolata"/>
              </a:rPr>
              <a:t>"admin@toko.com"</a:t>
            </a:r>
            <a:r>
              <a:rPr sz="691" i="0">
                <a:solidFill>
                  <a:srgbClr val="E6EDF3"/>
                </a:solidFill>
                <a:latin typeface="Inconsolata"/>
              </a:rPr>
              <a:t>):</a:t>
            </a:r>
          </a:p>
          <a:p>
            <a:pPr>
              <a:lnSpc>
                <a:spcPct val="108505"/>
              </a:lnSpc>
              <a:spcAft>
                <a:spcPts val="0"/>
              </a:spcAft>
            </a:pPr>
            <a:r>
              <a:rPr sz="691" i="0">
                <a:solidFill>
                  <a:srgbClr val="5C6773"/>
                </a:solidFill>
                <a:latin typeface="Inconsolata"/>
              </a:rPr>
              <a:t>54  </a:t>
            </a:r>
            <a:r>
              <a:rPr sz="691" i="0">
                <a:solidFill>
                  <a:srgbClr val="E6EDF3"/>
                </a:solidFill>
                <a:latin typeface="Inconsolata"/>
              </a:rPr>
              <a:t>        </a:t>
            </a:r>
            <a:r>
              <a:rPr sz="691" i="0">
                <a:solidFill>
                  <a:srgbClr val="FF8E6E"/>
                </a:solidFill>
                <a:latin typeface="Inconsolata"/>
              </a:rPr>
              <a:t>for</a:t>
            </a:r>
            <a:r>
              <a:rPr sz="691" i="0">
                <a:solidFill>
                  <a:srgbClr val="E6EDF3"/>
                </a:solidFill>
                <a:latin typeface="Inconsolata"/>
              </a:rPr>
              <a:t> method, path </a:t>
            </a:r>
            <a:r>
              <a:rPr sz="691" i="0">
                <a:solidFill>
                  <a:srgbClr val="FF8E6E"/>
                </a:solidFill>
                <a:latin typeface="Inconsolata"/>
              </a:rPr>
              <a:t>in</a:t>
            </a:r>
            <a:r>
              <a:rPr sz="691" i="0">
                <a:solidFill>
                  <a:srgbClr val="E6EDF3"/>
                </a:solidFill>
                <a:latin typeface="Inconsolata"/>
              </a:rPr>
              <a:t> [(</a:t>
            </a:r>
            <a:r>
              <a:rPr sz="691" i="0">
                <a:solidFill>
                  <a:srgbClr val="A5D6A7"/>
                </a:solidFill>
                <a:latin typeface="Inconsolata"/>
              </a:rPr>
              <a:t>"POST"</a:t>
            </a:r>
            <a:r>
              <a:rPr sz="691" i="0">
                <a:solidFill>
                  <a:srgbClr val="E6EDF3"/>
                </a:solidFill>
                <a:latin typeface="Inconsolata"/>
              </a:rPr>
              <a:t>, </a:t>
            </a:r>
            <a:r>
              <a:rPr sz="691" i="0">
                <a:solidFill>
                  <a:srgbClr val="A5D6A7"/>
                </a:solidFill>
                <a:latin typeface="Inconsolata"/>
              </a:rPr>
              <a:t>"/products"</a:t>
            </a:r>
            <a:r>
              <a:rPr sz="691" i="0">
                <a:solidFill>
                  <a:srgbClr val="E6EDF3"/>
                </a:solidFill>
                <a:latin typeface="Inconsolata"/>
              </a:rPr>
              <a:t>),</a:t>
            </a:r>
          </a:p>
          <a:p>
            <a:pPr>
              <a:lnSpc>
                <a:spcPct val="108505"/>
              </a:lnSpc>
              <a:spcAft>
                <a:spcPts val="0"/>
              </a:spcAft>
            </a:pPr>
            <a:r>
              <a:rPr sz="691" i="0">
                <a:solidFill>
                  <a:srgbClr val="5C6773"/>
                </a:solidFill>
                <a:latin typeface="Inconsolata"/>
              </a:rPr>
              <a:t>55  </a:t>
            </a:r>
            <a:r>
              <a:rPr sz="691" i="0">
                <a:solidFill>
                  <a:srgbClr val="E6EDF3"/>
                </a:solidFill>
                <a:latin typeface="Inconsolata"/>
              </a:rPr>
              <a:t>                             (</a:t>
            </a:r>
            <a:r>
              <a:rPr sz="691" i="0">
                <a:solidFill>
                  <a:srgbClr val="A5D6A7"/>
                </a:solidFill>
                <a:latin typeface="Inconsolata"/>
              </a:rPr>
              <a:t>"DELETE"</a:t>
            </a:r>
            <a:r>
              <a:rPr sz="691" i="0">
                <a:solidFill>
                  <a:srgbClr val="E6EDF3"/>
                </a:solidFill>
                <a:latin typeface="Inconsolata"/>
              </a:rPr>
              <a:t>, </a:t>
            </a:r>
            <a:r>
              <a:rPr sz="691" i="0">
                <a:solidFill>
                  <a:srgbClr val="A5D6A7"/>
                </a:solidFill>
                <a:latin typeface="Inconsolata"/>
              </a:rPr>
              <a:t>"/products/1"</a:t>
            </a:r>
            <a:r>
              <a:rPr sz="691" i="0">
                <a:solidFill>
                  <a:srgbClr val="E6EDF3"/>
                </a:solidFill>
                <a:latin typeface="Inconsolata"/>
              </a:rPr>
              <a:t>),</a:t>
            </a:r>
          </a:p>
          <a:p>
            <a:pPr>
              <a:lnSpc>
                <a:spcPct val="108505"/>
              </a:lnSpc>
              <a:spcAft>
                <a:spcPts val="0"/>
              </a:spcAft>
            </a:pPr>
            <a:r>
              <a:rPr sz="691" i="0">
                <a:solidFill>
                  <a:srgbClr val="5C6773"/>
                </a:solidFill>
                <a:latin typeface="Inconsolata"/>
              </a:rPr>
              <a:t>56  </a:t>
            </a:r>
            <a:r>
              <a:rPr sz="691" i="0">
                <a:solidFill>
                  <a:srgbClr val="E6EDF3"/>
                </a:solidFill>
                <a:latin typeface="Inconsolata"/>
              </a:rPr>
              <a:t>                             (</a:t>
            </a:r>
            <a:r>
              <a:rPr sz="691" i="0">
                <a:solidFill>
                  <a:srgbClr val="A5D6A7"/>
                </a:solidFill>
                <a:latin typeface="Inconsolata"/>
              </a:rPr>
              <a:t>"GET"</a:t>
            </a:r>
            <a:r>
              <a:rPr sz="691" i="0">
                <a:solidFill>
                  <a:srgbClr val="E6EDF3"/>
                </a:solidFill>
                <a:latin typeface="Inconsolata"/>
              </a:rPr>
              <a:t>, </a:t>
            </a:r>
            <a:r>
              <a:rPr sz="691" i="0">
                <a:solidFill>
                  <a:srgbClr val="A5D6A7"/>
                </a:solidFill>
                <a:latin typeface="Inconsolata"/>
              </a:rPr>
              <a:t>"/reports/sales"</a:t>
            </a:r>
            <a:r>
              <a:rPr sz="691" i="0">
                <a:solidFill>
                  <a:srgbClr val="E6EDF3"/>
                </a:solidFill>
                <a:latin typeface="Inconsolata"/>
              </a:rPr>
              <a:t>)]:</a:t>
            </a:r>
          </a:p>
          <a:p>
            <a:pPr>
              <a:lnSpc>
                <a:spcPct val="108505"/>
              </a:lnSpc>
              <a:spcAft>
                <a:spcPts val="0"/>
              </a:spcAft>
            </a:pPr>
            <a:r>
              <a:rPr sz="691" i="0">
                <a:solidFill>
                  <a:srgbClr val="5C6773"/>
                </a:solidFill>
                <a:latin typeface="Inconsolata"/>
              </a:rPr>
              <a:t>57  </a:t>
            </a:r>
            <a:r>
              <a:rPr sz="691" i="0">
                <a:solidFill>
                  <a:srgbClr val="E6EDF3"/>
                </a:solidFill>
                <a:latin typeface="Inconsolata"/>
              </a:rPr>
              <a:t>            response = client.request(method, path,</a:t>
            </a:r>
          </a:p>
          <a:p>
            <a:pPr>
              <a:lnSpc>
                <a:spcPct val="108505"/>
              </a:lnSpc>
              <a:spcAft>
                <a:spcPts val="0"/>
              </a:spcAft>
            </a:pPr>
            <a:r>
              <a:rPr sz="691" i="0">
                <a:solidFill>
                  <a:srgbClr val="5C6773"/>
                </a:solidFill>
                <a:latin typeface="Inconsolata"/>
              </a:rPr>
              <a:t>58  </a:t>
            </a:r>
            <a:r>
              <a:rPr sz="691" i="0">
                <a:solidFill>
                  <a:srgbClr val="E6EDF3"/>
                </a:solidFill>
                <a:latin typeface="Inconsolata"/>
              </a:rPr>
              <a:t>                                      headers={</a:t>
            </a:r>
            <a:r>
              <a:rPr sz="691" i="0">
                <a:solidFill>
                  <a:srgbClr val="A5D6A7"/>
                </a:solidFill>
                <a:latin typeface="Inconsolata"/>
              </a:rPr>
              <a:t>"X-User"</a:t>
            </a:r>
            <a:r>
              <a:rPr sz="691" i="0">
                <a:solidFill>
                  <a:srgbClr val="E6EDF3"/>
                </a:solidFill>
                <a:latin typeface="Inconsolata"/>
              </a:rPr>
              <a:t>: user})</a:t>
            </a:r>
          </a:p>
          <a:p>
            <a:pPr>
              <a:lnSpc>
                <a:spcPct val="108505"/>
              </a:lnSpc>
              <a:spcAft>
                <a:spcPts val="0"/>
              </a:spcAft>
            </a:pPr>
            <a:r>
              <a:rPr sz="691" i="0">
                <a:solidFill>
                  <a:srgbClr val="5C6773"/>
                </a:solidFill>
                <a:latin typeface="Inconsolata"/>
              </a:rPr>
              <a:t>59  </a:t>
            </a:r>
            <a:r>
              <a:rPr sz="691" i="0">
                <a:solidFill>
                  <a:srgbClr val="E6EDF3"/>
                </a:solidFill>
                <a:latin typeface="Inconsolata"/>
              </a:rPr>
              <a:t>            </a:t>
            </a:r>
            <a:r>
              <a:rPr sz="691" i="0">
                <a:solidFill>
                  <a:srgbClr val="C3A6FF"/>
                </a:solidFill>
                <a:latin typeface="Inconsolata"/>
              </a:rPr>
              <a:t>print</a:t>
            </a:r>
            <a:r>
              <a:rPr sz="691" i="0">
                <a:solidFill>
                  <a:srgbClr val="E6EDF3"/>
                </a:solidFill>
                <a:latin typeface="Inconsolata"/>
              </a:rPr>
              <a:t>(</a:t>
            </a:r>
            <a:r>
              <a:rPr sz="691" i="0">
                <a:solidFill>
                  <a:srgbClr val="A5D6A7"/>
                </a:solidFill>
                <a:latin typeface="Inconsolata"/>
              </a:rPr>
              <a:t>f"{user.split('@')[0]:5} ({USERS[user]:8}) {method:6} "</a:t>
            </a:r>
          </a:p>
          <a:p>
            <a:pPr>
              <a:lnSpc>
                <a:spcPct val="108505"/>
              </a:lnSpc>
              <a:spcAft>
                <a:spcPts val="0"/>
              </a:spcAft>
            </a:pPr>
            <a:r>
              <a:rPr sz="691" i="0">
                <a:solidFill>
                  <a:srgbClr val="5C6773"/>
                </a:solidFill>
                <a:latin typeface="Inconsolata"/>
              </a:rPr>
              <a:t>60  </a:t>
            </a:r>
            <a:r>
              <a:rPr sz="691" i="0">
                <a:solidFill>
                  <a:srgbClr val="E6EDF3"/>
                </a:solidFill>
                <a:latin typeface="Inconsolata"/>
              </a:rPr>
              <a:t>                  </a:t>
            </a:r>
            <a:r>
              <a:rPr sz="691" i="0">
                <a:solidFill>
                  <a:srgbClr val="A5D6A7"/>
                </a:solidFill>
                <a:latin typeface="Inconsolata"/>
              </a:rPr>
              <a:t>f"{path:15} -&gt; {response.status_code}"</a:t>
            </a:r>
            <a:r>
              <a:rPr sz="691" i="0">
                <a:solidFill>
                  <a:srgbClr val="E6EDF3"/>
                </a:solidFill>
                <a:latin typeface="Inconsolata"/>
              </a:rPr>
              <a:t>)</a:t>
            </a:r>
          </a:p>
        </p:txBody>
      </p:sp>
      <p:sp>
        <p:nvSpPr>
          <p:cNvPr id="36" name="Box 21"/>
          <p:cNvSpPr/>
          <p:nvPr/>
        </p:nvSpPr>
        <p:spPr>
          <a:xfrm>
            <a:off x="704088" y="2396871"/>
            <a:ext cx="3694176" cy="336042"/>
          </a:xfrm>
          <a:prstGeom prst="roundRect">
            <a:avLst>
              <a:gd name="adj" fmla="val 13605"/>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4460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704088" y="3082671"/>
            <a:ext cx="3694176" cy="793242"/>
          </a:xfrm>
          <a:prstGeom prst="roundRect">
            <a:avLst>
              <a:gd name="adj" fmla="val 576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279392" y="33604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704088" y="43399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4279392" y="42748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42" name="Box 27"/>
          <p:cNvSpPr/>
          <p:nvPr/>
        </p:nvSpPr>
        <p:spPr>
          <a:xfrm>
            <a:off x="4709159" y="21682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3" name="Box 28"/>
          <p:cNvSpPr/>
          <p:nvPr/>
        </p:nvSpPr>
        <p:spPr>
          <a:xfrm>
            <a:off x="4709159" y="28540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RBAC &amp; Scopes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06-rbac-scopes/after.py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sesi-10-api-security/06-rbac-scopes</a:t>
            </a:r>
          </a:p>
          <a:p>
            <a:pPr>
              <a:lnSpc>
                <a:spcPct val="111111"/>
              </a:lnSpc>
              <a:spcAft>
                <a:spcPts val="0"/>
              </a:spcAft>
            </a:pPr>
            <a:r>
              <a:rPr sz="900" i="0">
                <a:solidFill>
                  <a:srgbClr val="82B1FF"/>
                </a:solidFill>
                <a:latin typeface="Inconsolata"/>
              </a:rPr>
              <a:t>$ python after.py</a:t>
            </a:r>
          </a:p>
        </p:txBody>
      </p:sp>
      <p:pic>
        <p:nvPicPr>
          <p:cNvPr id="29" name="Image 12" descr="s10-06-rbac-scopes-after.png"/>
          <p:cNvPicPr>
            <a:picLocks noChangeAspect="1"/>
          </p:cNvPicPr>
          <p:nvPr/>
        </p:nvPicPr>
        <p:blipFill>
          <a:blip r:embed="rId2"/>
          <a:stretch>
            <a:fillRect/>
          </a:stretch>
        </p:blipFill>
        <p:spPr>
          <a:xfrm>
            <a:off x="621792" y="2322576"/>
            <a:ext cx="4297680" cy="1136623"/>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Setiap role punya daftar scope (baris 17-19)</a:t>
            </a:r>
          </a:p>
          <a:p>
            <a:pPr marL="182880" indent="-182880" algn="l">
              <a:lnSpc>
                <a:spcPct val="115000"/>
              </a:lnSpc>
              <a:spcAft>
                <a:spcPts val="400"/>
              </a:spcAft>
              <a:buClr>
                <a:srgbClr val="E0764F"/>
              </a:buClr>
              <a:buSzPct val="100000"/>
              <a:buFont typeface="+mj-lt"/>
              <a:buAutoNum type="arabicPeriod"/>
            </a:pPr>
            <a:r>
              <a:rPr sz="950" b="0" i="0">
                <a:solidFill>
                  <a:srgbClr val="B5482A"/>
                </a:solidFill>
                <a:latin typeface="Inconsolata"/>
              </a:rPr>
              <a:t>current_user</a:t>
            </a:r>
            <a:r>
              <a:rPr sz="950" b="0" i="0">
                <a:solidFill>
                  <a:srgbClr val="434343"/>
                </a:solidFill>
                <a:latin typeface="Inter"/>
              </a:rPr>
              <a:t> mengecek scope dari </a:t>
            </a:r>
            <a:r>
              <a:rPr sz="950" b="0" i="0">
                <a:solidFill>
                  <a:srgbClr val="B5482A"/>
                </a:solidFill>
                <a:latin typeface="Inconsolata"/>
              </a:rPr>
              <a:t>SecurityScopes</a:t>
            </a:r>
            <a:r>
              <a:rPr sz="950" b="0" i="0">
                <a:solidFill>
                  <a:srgbClr val="434343"/>
                </a:solidFill>
                <a:latin typeface="Inter"/>
              </a:rPr>
              <a:t> (baris 23-29)</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Endpoint hanya menyatakan scope yang dibutuhkan (baris 34)</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Customer 403 di semua endpoint admin, admin 200.</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46</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03</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Secrets &amp; Input Validation</a:t>
            </a:r>
          </a:p>
        </p:txBody>
      </p:sp>
      <p:sp>
        <p:nvSpPr>
          <p:cNvPr id="33" name="Text 3"/>
          <p:cNvSpPr txBox="1"/>
          <p:nvPr/>
        </p:nvSpPr>
        <p:spPr>
          <a:xfrm>
            <a:off x="822960" y="274320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Secret dari environment, schema yang ketat, dan least privilege.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Secrets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Secrets Management?</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Secrets management adalah</a:t>
            </a:r>
          </a:p>
          <a:p>
            <a:pPr algn="l">
              <a:lnSpc>
                <a:spcPct val="115000"/>
              </a:lnSpc>
              <a:spcAft>
                <a:spcPts val="400"/>
              </a:spcAft>
            </a:pPr>
            <a:r>
              <a:rPr sz="900" b="0" i="0">
                <a:solidFill>
                  <a:srgbClr val="434343"/>
                </a:solidFill>
                <a:latin typeface="Inter"/>
              </a:rPr>
              <a:t>Cara mengelola nilai rahasia (password database, secret JWT, API key) supaya </a:t>
            </a:r>
            <a:r>
              <a:rPr sz="900" b="1" i="0">
                <a:solidFill>
                  <a:srgbClr val="434343"/>
                </a:solidFill>
                <a:latin typeface="Inter"/>
              </a:rPr>
              <a:t>tidak ada di source code</a:t>
            </a:r>
            <a:r>
              <a:rPr sz="900" b="0" i="0">
                <a:solidFill>
                  <a:srgbClr val="434343"/>
                </a:solidFill>
                <a:latin typeface="Inter"/>
              </a:rPr>
              <a:t>. Secret dibaca dari environment saat aplikasi berjalan, dan tidak pernah tercetak di log.</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Mencegah secret ikut ter-commit ke Git</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Mengganti secret tanpa mengubah kode</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Membuat aplikasi gagal start jika secret belum di-set</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secret di kode: 07-secrets/before.py</a:t>
            </a:r>
          </a:p>
        </p:txBody>
      </p:sp>
      <p:sp>
        <p:nvSpPr>
          <p:cNvPr id="28" name="CodeBg 11"/>
          <p:cNvSpPr/>
          <p:nvPr/>
        </p:nvSpPr>
        <p:spPr>
          <a:xfrm>
            <a:off x="4297680" y="1719072"/>
            <a:ext cx="4187951" cy="1170432"/>
          </a:xfrm>
          <a:prstGeom prst="roundRect">
            <a:avLst>
              <a:gd name="adj" fmla="val 1562"/>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1170432"/>
          </a:xfrm>
          <a:prstGeom prst="rect">
            <a:avLst/>
          </a:prstGeom>
          <a:noFill/>
        </p:spPr>
        <p:txBody>
          <a:bodyPr wrap="none" lIns="146304" tIns="91440" rIns="146304" bIns="54864">
            <a:spAutoFit/>
          </a:bodyPr>
          <a:lstStyle/>
          <a:p>
            <a:pPr>
              <a:lnSpc>
                <a:spcPct val="111111"/>
              </a:lnSpc>
              <a:spcAft>
                <a:spcPts val="0"/>
              </a:spcAft>
            </a:pPr>
            <a:r>
              <a:rPr sz="750" i="0">
                <a:solidFill>
                  <a:srgbClr val="F9C97A"/>
                </a:solidFill>
                <a:latin typeface="Inconsolata"/>
              </a:rPr>
              <a:t>@dataclass</a:t>
            </a:r>
          </a:p>
          <a:p>
            <a:pPr>
              <a:lnSpc>
                <a:spcPct val="111111"/>
              </a:lnSpc>
              <a:spcAft>
                <a:spcPts val="0"/>
              </a:spcAft>
            </a:pPr>
            <a:r>
              <a:rPr sz="750" i="0">
                <a:solidFill>
                  <a:srgbClr val="FF8E6E"/>
                </a:solidFill>
                <a:latin typeface="Inconsolata"/>
              </a:rPr>
              <a:t>class</a:t>
            </a:r>
            <a:r>
              <a:rPr sz="750" i="0">
                <a:solidFill>
                  <a:srgbClr val="E6EDF3"/>
                </a:solidFill>
                <a:latin typeface="Inconsolata"/>
              </a:rPr>
              <a:t> </a:t>
            </a:r>
            <a:r>
              <a:rPr sz="750" i="0">
                <a:solidFill>
                  <a:srgbClr val="7FDBCA"/>
                </a:solidFill>
                <a:latin typeface="Inconsolata"/>
              </a:rPr>
              <a:t>Settings</a:t>
            </a:r>
            <a:r>
              <a:rPr sz="750" i="0">
                <a:solidFill>
                  <a:srgbClr val="E6EDF3"/>
                </a:solidFill>
                <a:latin typeface="Inconsolata"/>
              </a:rPr>
              <a:t>:</a:t>
            </a:r>
          </a:p>
          <a:p>
            <a:pPr>
              <a:lnSpc>
                <a:spcPct val="111111"/>
              </a:lnSpc>
              <a:spcAft>
                <a:spcPts val="0"/>
              </a:spcAft>
            </a:pPr>
            <a:r>
              <a:rPr sz="750" i="0">
                <a:solidFill>
                  <a:srgbClr val="E6EDF3"/>
                </a:solidFill>
                <a:latin typeface="Inconsolata"/>
              </a:rPr>
              <a:t>    database_url: </a:t>
            </a:r>
            <a:r>
              <a:rPr sz="750" i="0">
                <a:solidFill>
                  <a:srgbClr val="C3A6FF"/>
                </a:solidFill>
                <a:latin typeface="Inconsolata"/>
              </a:rPr>
              <a:t>str</a:t>
            </a:r>
            <a:r>
              <a:rPr sz="750" i="0">
                <a:solidFill>
                  <a:srgbClr val="E6EDF3"/>
                </a:solidFill>
                <a:latin typeface="Inconsolata"/>
              </a:rPr>
              <a:t> = </a:t>
            </a:r>
            <a:r>
              <a:rPr sz="750" i="0">
                <a:solidFill>
                  <a:srgbClr val="A5D6A7"/>
                </a:solidFill>
                <a:latin typeface="Inconsolata"/>
              </a:rPr>
              <a:t>"postgresql://app:rahasia123@db.internal/orders"</a:t>
            </a:r>
          </a:p>
          <a:p>
            <a:pPr>
              <a:lnSpc>
                <a:spcPct val="111111"/>
              </a:lnSpc>
              <a:spcAft>
                <a:spcPts val="0"/>
              </a:spcAft>
            </a:pPr>
            <a:r>
              <a:rPr sz="750" i="0">
                <a:solidFill>
                  <a:srgbClr val="E6EDF3"/>
                </a:solidFill>
                <a:latin typeface="Inconsolata"/>
              </a:rPr>
              <a:t>    jwt_secret: </a:t>
            </a:r>
            <a:r>
              <a:rPr sz="750" i="0">
                <a:solidFill>
                  <a:srgbClr val="C3A6FF"/>
                </a:solidFill>
                <a:latin typeface="Inconsolata"/>
              </a:rPr>
              <a:t>str</a:t>
            </a:r>
            <a:r>
              <a:rPr sz="750" i="0">
                <a:solidFill>
                  <a:srgbClr val="E6EDF3"/>
                </a:solidFill>
                <a:latin typeface="Inconsolata"/>
              </a:rPr>
              <a:t> = </a:t>
            </a:r>
            <a:r>
              <a:rPr sz="750" i="0">
                <a:solidFill>
                  <a:srgbClr val="A5D6A7"/>
                </a:solidFill>
                <a:latin typeface="Inconsolata"/>
              </a:rPr>
              <a:t>"secret"</a:t>
            </a:r>
          </a:p>
        </p:txBody>
      </p:sp>
      <p:sp>
        <p:nvSpPr>
          <p:cNvPr id="30" name="Box 13"/>
          <p:cNvSpPr/>
          <p:nvPr/>
        </p:nvSpPr>
        <p:spPr>
          <a:xfrm>
            <a:off x="4379976" y="2081022"/>
            <a:ext cx="4023359" cy="246380"/>
          </a:xfrm>
          <a:prstGeom prst="roundRect">
            <a:avLst>
              <a:gd name="adj" fmla="val 1855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980944"/>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3058668"/>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3058668"/>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3058668"/>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990088"/>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dari environment: 07-secrets/after.py</a:t>
            </a:r>
          </a:p>
        </p:txBody>
      </p:sp>
      <p:sp>
        <p:nvSpPr>
          <p:cNvPr id="36" name="CodeBg 21"/>
          <p:cNvSpPr/>
          <p:nvPr/>
        </p:nvSpPr>
        <p:spPr>
          <a:xfrm>
            <a:off x="4297680" y="3218688"/>
            <a:ext cx="4187951" cy="1481327"/>
          </a:xfrm>
          <a:prstGeom prst="roundRect">
            <a:avLst>
              <a:gd name="adj" fmla="val 1234"/>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3218688"/>
            <a:ext cx="4187951" cy="1481327"/>
          </a:xfrm>
          <a:prstGeom prst="rect">
            <a:avLst/>
          </a:prstGeom>
          <a:noFill/>
        </p:spPr>
        <p:txBody>
          <a:bodyPr wrap="none" lIns="146304" tIns="91440" rIns="146304" bIns="54864">
            <a:spAutoFit/>
          </a:bodyPr>
          <a:lstStyle/>
          <a:p>
            <a:pPr>
              <a:lnSpc>
                <a:spcPct val="111111"/>
              </a:lnSpc>
              <a:spcAft>
                <a:spcPts val="0"/>
              </a:spcAft>
            </a:pPr>
            <a:r>
              <a:rPr sz="750" i="0">
                <a:solidFill>
                  <a:srgbClr val="FF8E6E"/>
                </a:solidFill>
                <a:latin typeface="Inconsolata"/>
              </a:rPr>
              <a:t>class</a:t>
            </a:r>
            <a:r>
              <a:rPr sz="750" i="0">
                <a:solidFill>
                  <a:srgbClr val="E6EDF3"/>
                </a:solidFill>
                <a:latin typeface="Inconsolata"/>
              </a:rPr>
              <a:t> </a:t>
            </a:r>
            <a:r>
              <a:rPr sz="750" i="0">
                <a:solidFill>
                  <a:srgbClr val="7FDBCA"/>
                </a:solidFill>
                <a:latin typeface="Inconsolata"/>
              </a:rPr>
              <a:t>Settings</a:t>
            </a:r>
            <a:r>
              <a:rPr sz="750" i="0">
                <a:solidFill>
                  <a:srgbClr val="E6EDF3"/>
                </a:solidFill>
                <a:latin typeface="Inconsolata"/>
              </a:rPr>
              <a:t>(</a:t>
            </a:r>
            <a:r>
              <a:rPr sz="750" i="0">
                <a:solidFill>
                  <a:srgbClr val="7FDBCA"/>
                </a:solidFill>
                <a:latin typeface="Inconsolata"/>
              </a:rPr>
              <a:t>BaseSettings</a:t>
            </a:r>
            <a:r>
              <a:rPr sz="750" i="0">
                <a:solidFill>
                  <a:srgbClr val="E6EDF3"/>
                </a:solidFill>
                <a:latin typeface="Inconsolata"/>
              </a:rPr>
              <a:t>):</a:t>
            </a:r>
          </a:p>
          <a:p>
            <a:pPr>
              <a:lnSpc>
                <a:spcPct val="111111"/>
              </a:lnSpc>
              <a:spcAft>
                <a:spcPts val="0"/>
              </a:spcAft>
            </a:pPr>
            <a:r>
              <a:rPr sz="750" i="0">
                <a:solidFill>
                  <a:srgbClr val="E6EDF3"/>
                </a:solidFill>
                <a:latin typeface="Inconsolata"/>
              </a:rPr>
              <a:t>    model_config = </a:t>
            </a:r>
            <a:r>
              <a:rPr sz="750" i="0">
                <a:solidFill>
                  <a:srgbClr val="7FDBCA"/>
                </a:solidFill>
                <a:latin typeface="Inconsolata"/>
              </a:rPr>
              <a:t>SettingsConfigDict</a:t>
            </a:r>
            <a:r>
              <a:rPr sz="750" i="0">
                <a:solidFill>
                  <a:srgbClr val="E6EDF3"/>
                </a:solidFill>
                <a:latin typeface="Inconsolata"/>
              </a:rPr>
              <a:t>(env_file=</a:t>
            </a:r>
            <a:r>
              <a:rPr sz="750" i="0">
                <a:solidFill>
                  <a:srgbClr val="A5D6A7"/>
                </a:solidFill>
                <a:latin typeface="Inconsolata"/>
              </a:rPr>
              <a:t>".env"</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p>
          <a:p>
            <a:pPr>
              <a:lnSpc>
                <a:spcPct val="111111"/>
              </a:lnSpc>
              <a:spcAft>
                <a:spcPts val="0"/>
              </a:spcAft>
            </a:pPr>
            <a:r>
              <a:rPr sz="750" i="0">
                <a:solidFill>
                  <a:srgbClr val="E6EDF3"/>
                </a:solidFill>
                <a:latin typeface="Inconsolata"/>
              </a:rPr>
              <a:t>    database_url: </a:t>
            </a:r>
            <a:r>
              <a:rPr sz="750" i="0">
                <a:solidFill>
                  <a:srgbClr val="7FDBCA"/>
                </a:solidFill>
                <a:latin typeface="Inconsolata"/>
              </a:rPr>
              <a:t>SecretStr</a:t>
            </a:r>
          </a:p>
          <a:p>
            <a:pPr>
              <a:lnSpc>
                <a:spcPct val="111111"/>
              </a:lnSpc>
              <a:spcAft>
                <a:spcPts val="0"/>
              </a:spcAft>
            </a:pPr>
            <a:r>
              <a:rPr sz="750" i="0">
                <a:solidFill>
                  <a:srgbClr val="E6EDF3"/>
                </a:solidFill>
                <a:latin typeface="Inconsolata"/>
              </a:rPr>
              <a:t>    jwt_secret: </a:t>
            </a:r>
            <a:r>
              <a:rPr sz="750" i="0">
                <a:solidFill>
                  <a:srgbClr val="7FDBCA"/>
                </a:solidFill>
                <a:latin typeface="Inconsolata"/>
              </a:rPr>
              <a:t>SecretStr</a:t>
            </a:r>
            <a:r>
              <a:rPr sz="750" i="0">
                <a:solidFill>
                  <a:srgbClr val="E6EDF3"/>
                </a:solidFill>
                <a:latin typeface="Inconsolata"/>
              </a:rPr>
              <a:t> = </a:t>
            </a:r>
            <a:r>
              <a:rPr sz="750" i="0">
                <a:solidFill>
                  <a:srgbClr val="7FDBCA"/>
                </a:solidFill>
                <a:latin typeface="Inconsolata"/>
              </a:rPr>
              <a:t>Field</a:t>
            </a:r>
            <a:r>
              <a:rPr sz="750" i="0">
                <a:solidFill>
                  <a:srgbClr val="E6EDF3"/>
                </a:solidFill>
                <a:latin typeface="Inconsolata"/>
              </a:rPr>
              <a:t>(min_length=</a:t>
            </a:r>
            <a:r>
              <a:rPr sz="750" i="0">
                <a:solidFill>
                  <a:srgbClr val="F9C97A"/>
                </a:solidFill>
                <a:latin typeface="Inconsolata"/>
              </a:rPr>
              <a:t>32</a:t>
            </a:r>
            <a:r>
              <a:rPr sz="750" i="0">
                <a:solidFill>
                  <a:srgbClr val="E6EDF3"/>
                </a:solidFill>
                <a:latin typeface="Inconsolata"/>
              </a:rPr>
              <a:t>)</a:t>
            </a:r>
          </a:p>
        </p:txBody>
      </p:sp>
      <p:sp>
        <p:nvSpPr>
          <p:cNvPr id="38" name="Box 23"/>
          <p:cNvSpPr/>
          <p:nvPr/>
        </p:nvSpPr>
        <p:spPr>
          <a:xfrm>
            <a:off x="4379976" y="3707638"/>
            <a:ext cx="4023359" cy="246380"/>
          </a:xfrm>
          <a:prstGeom prst="roundRect">
            <a:avLst>
              <a:gd name="adj" fmla="val 1855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Secrets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memindahkan Secret ke Environment?</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Dengan secret di kode</a:t>
            </a:r>
          </a:p>
          <a:p>
            <a:pPr algn="l">
              <a:lnSpc>
                <a:spcPct val="115000"/>
              </a:lnSpc>
              <a:spcAft>
                <a:spcPts val="400"/>
              </a:spcAft>
            </a:pPr>
            <a:r>
              <a:rPr sz="950" b="0" i="0">
                <a:solidFill>
                  <a:srgbClr val="434343"/>
                </a:solidFill>
                <a:latin typeface="Inter"/>
              </a:rPr>
              <a:t>Secret JWT </a:t>
            </a:r>
            <a:r>
              <a:rPr sz="950" b="0" i="0">
                <a:solidFill>
                  <a:srgbClr val="B5482A"/>
                </a:solidFill>
                <a:latin typeface="Inconsolata"/>
              </a:rPr>
              <a:t>"secret"</a:t>
            </a:r>
            <a:r>
              <a:rPr sz="950" b="0" i="0">
                <a:solidFill>
                  <a:srgbClr val="434343"/>
                </a:solidFill>
                <a:latin typeface="Inter"/>
              </a:rPr>
              <a:t> dan password database ada di repository. Config yang dicetak ke log ikut menampilkan semuanya.</a:t>
            </a:r>
          </a:p>
          <a:p>
            <a:pPr algn="l">
              <a:lnSpc>
                <a:spcPct val="115000"/>
              </a:lnSpc>
              <a:spcAft>
                <a:spcPts val="400"/>
              </a:spcAft>
            </a:pPr>
            <a:r>
              <a:rPr sz="1050" b="1" i="0">
                <a:solidFill>
                  <a:srgbClr val="1C4587"/>
                </a:solidFill>
                <a:latin typeface="Inter"/>
              </a:rPr>
              <a:t>Jika timnya makin besar</a:t>
            </a:r>
          </a:p>
          <a:p>
            <a:pPr algn="l">
              <a:lnSpc>
                <a:spcPct val="115000"/>
              </a:lnSpc>
              <a:spcAft>
                <a:spcPts val="400"/>
              </a:spcAft>
            </a:pPr>
            <a:r>
              <a:rPr sz="950" b="0" i="0">
                <a:solidFill>
                  <a:srgbClr val="434343"/>
                </a:solidFill>
                <a:latin typeface="Inter"/>
              </a:rPr>
              <a:t>Semua orang yang punya akses repository, termasuk mantan anggota tim, tahu secret production.</a:t>
            </a:r>
          </a:p>
          <a:p>
            <a:pPr algn="l">
              <a:lnSpc>
                <a:spcPct val="115000"/>
              </a:lnSpc>
              <a:spcAft>
                <a:spcPts val="400"/>
              </a:spcAft>
            </a:pPr>
            <a:r>
              <a:rPr sz="950" b="0" i="0">
                <a:solidFill>
                  <a:srgbClr val="434343"/>
                </a:solidFill>
                <a:latin typeface="Inter"/>
              </a:rPr>
              <a:t>Hal ini menimbulkan potensi siapa pun bisa membuat token admin sendiri.</a:t>
            </a:r>
          </a:p>
          <a:p>
            <a:pPr algn="l">
              <a:lnSpc>
                <a:spcPct val="115000"/>
              </a:lnSpc>
              <a:spcAft>
                <a:spcPts val="400"/>
              </a:spcAft>
            </a:pPr>
            <a:r>
              <a:rPr sz="1050" b="1" i="0">
                <a:solidFill>
                  <a:srgbClr val="1C4587"/>
                </a:solidFill>
                <a:latin typeface="Inter"/>
              </a:rPr>
              <a:t>Yang dipakai dari pydantic-settings</a:t>
            </a:r>
          </a:p>
          <a:p>
            <a:pPr algn="l">
              <a:lnSpc>
                <a:spcPct val="115000"/>
              </a:lnSpc>
              <a:spcAft>
                <a:spcPts val="400"/>
              </a:spcAft>
            </a:pPr>
            <a:r>
              <a:rPr sz="950" b="0" i="0">
                <a:solidFill>
                  <a:srgbClr val="434343"/>
                </a:solidFill>
                <a:latin typeface="Inter"/>
              </a:rPr>
              <a:t>Field tanpa default berarti wajib. </a:t>
            </a:r>
            <a:r>
              <a:rPr sz="950" b="0" i="0">
                <a:solidFill>
                  <a:srgbClr val="B5482A"/>
                </a:solidFill>
                <a:latin typeface="Inconsolata"/>
              </a:rPr>
              <a:t>SecretStr</a:t>
            </a:r>
            <a:r>
              <a:rPr sz="950" b="0" i="0">
                <a:solidFill>
                  <a:srgbClr val="434343"/>
                </a:solidFill>
                <a:latin typeface="Inter"/>
              </a:rPr>
              <a:t> menyembunyikan nilainya saat dicetak.</a:t>
            </a:r>
          </a:p>
        </p:txBody>
      </p:sp>
      <p:graphicFrame>
        <p:nvGraphicFramePr>
          <p:cNvPr id="23" name="Table 4"/>
          <p:cNvGraphicFramePr>
            <a:graphicFrameLocks noGrp="1"/>
          </p:cNvGraphicFramePr>
          <p:nvPr/>
        </p:nvGraphicFramePr>
        <p:xfrm>
          <a:off x="4800600" y="1481328"/>
          <a:ext cx="3685032" cy="2057400"/>
        </p:xfrm>
        <a:graphic>
          <a:graphicData uri="http://schemas.openxmlformats.org/drawingml/2006/table">
            <a:tbl>
              <a:tblPr firstRow="1" bandRow="1"/>
              <a:tblGrid>
                <a:gridCol w="1673352">
                  <a:extLst>
                    <a:ext uri="{9D8B030D-6E8A-4147-A177-3AD203B41FA5}">
                      <a16:colId xmlns:a16="http://schemas.microsoft.com/office/drawing/2014/main" val="20000"/>
                    </a:ext>
                  </a:extLst>
                </a:gridCol>
                <a:gridCol w="201168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BaseSettings</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Dibaca dari env dan .env</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SecretStr</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Nilainya disamarkan saat dicetak</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.get_secret_value()</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Ambil nilai asli</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.env di .gitignore</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Yang di-commit hanya .env.example</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49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Secrets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secret ditulis di kode</a:t>
            </a:r>
          </a:p>
        </p:txBody>
      </p:sp>
      <p:sp>
        <p:nvSpPr>
          <p:cNvPr id="22" name="CodeTab 4"/>
          <p:cNvSpPr/>
          <p:nvPr/>
        </p:nvSpPr>
        <p:spPr>
          <a:xfrm>
            <a:off x="621792" y="1481328"/>
            <a:ext cx="450799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86791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07-secrets/before.py</a:t>
            </a:r>
          </a:p>
        </p:txBody>
      </p:sp>
      <p:sp>
        <p:nvSpPr>
          <p:cNvPr id="27" name="CodeBg 10"/>
          <p:cNvSpPr/>
          <p:nvPr/>
        </p:nvSpPr>
        <p:spPr>
          <a:xfrm>
            <a:off x="621792" y="1719072"/>
            <a:ext cx="450799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507992" cy="2980944"/>
          </a:xfrm>
          <a:prstGeom prst="rect">
            <a:avLst/>
          </a:prstGeom>
          <a:noFill/>
        </p:spPr>
        <p:txBody>
          <a:bodyPr wrap="none" lIns="146304" tIns="91440" rIns="146304" bIns="54864">
            <a:spAutoFit/>
          </a:bodyPr>
          <a:lstStyle/>
          <a:p>
            <a:pPr>
              <a:lnSpc>
                <a:spcPct val="111111"/>
              </a:lnSpc>
              <a:spcAft>
                <a:spcPts val="0"/>
              </a:spcAft>
            </a:pPr>
            <a:r>
              <a:rPr sz="825" i="0">
                <a:solidFill>
                  <a:srgbClr val="5C6773"/>
                </a:solidFill>
                <a:latin typeface="Inconsolata"/>
              </a:rPr>
              <a:t>10  </a:t>
            </a:r>
            <a:r>
              <a:rPr sz="825" i="0">
                <a:solidFill>
                  <a:srgbClr val="FF8E6E"/>
                </a:solidFill>
                <a:latin typeface="Inconsolata"/>
              </a:rPr>
              <a:t>from</a:t>
            </a:r>
            <a:r>
              <a:rPr sz="825" i="0">
                <a:solidFill>
                  <a:srgbClr val="E6EDF3"/>
                </a:solidFill>
                <a:latin typeface="Inconsolata"/>
              </a:rPr>
              <a:t> dataclasses </a:t>
            </a:r>
            <a:r>
              <a:rPr sz="825" i="0">
                <a:solidFill>
                  <a:srgbClr val="FF8E6E"/>
                </a:solidFill>
                <a:latin typeface="Inconsolata"/>
              </a:rPr>
              <a:t>import</a:t>
            </a:r>
            <a:r>
              <a:rPr sz="825" i="0">
                <a:solidFill>
                  <a:srgbClr val="E6EDF3"/>
                </a:solidFill>
                <a:latin typeface="Inconsolata"/>
              </a:rPr>
              <a:t> dataclass</a:t>
            </a:r>
          </a:p>
          <a:p>
            <a:pPr>
              <a:lnSpc>
                <a:spcPct val="111111"/>
              </a:lnSpc>
              <a:spcAft>
                <a:spcPts val="0"/>
              </a:spcAft>
            </a:pPr>
            <a:r>
              <a:rPr sz="825" i="0">
                <a:solidFill>
                  <a:srgbClr val="5C6773"/>
                </a:solidFill>
                <a:latin typeface="Inconsolata"/>
              </a:rPr>
              <a:t>11  </a:t>
            </a:r>
            <a:r>
              <a:rPr sz="825" i="0">
                <a:solidFill>
                  <a:srgbClr val="E6EDF3"/>
                </a:solidFill>
                <a:latin typeface="Inconsolata"/>
              </a:rPr>
              <a:t> </a:t>
            </a:r>
          </a:p>
          <a:p>
            <a:pPr>
              <a:lnSpc>
                <a:spcPct val="111111"/>
              </a:lnSpc>
              <a:spcAft>
                <a:spcPts val="0"/>
              </a:spcAft>
            </a:pPr>
            <a:r>
              <a:rPr sz="825" i="0">
                <a:solidFill>
                  <a:srgbClr val="5C6773"/>
                </a:solidFill>
                <a:latin typeface="Inconsolata"/>
              </a:rPr>
              <a:t>12  </a:t>
            </a:r>
            <a:r>
              <a:rPr sz="825" i="0">
                <a:solidFill>
                  <a:srgbClr val="E6EDF3"/>
                </a:solidFill>
                <a:latin typeface="Inconsolata"/>
              </a:rPr>
              <a:t> </a:t>
            </a:r>
          </a:p>
          <a:p>
            <a:pPr>
              <a:lnSpc>
                <a:spcPct val="111111"/>
              </a:lnSpc>
              <a:spcAft>
                <a:spcPts val="0"/>
              </a:spcAft>
            </a:pPr>
            <a:r>
              <a:rPr sz="825" i="0">
                <a:solidFill>
                  <a:srgbClr val="5C6773"/>
                </a:solidFill>
                <a:latin typeface="Inconsolata"/>
              </a:rPr>
              <a:t>13  </a:t>
            </a:r>
            <a:r>
              <a:rPr sz="825" i="0">
                <a:solidFill>
                  <a:srgbClr val="F9C97A"/>
                </a:solidFill>
                <a:latin typeface="Inconsolata"/>
              </a:rPr>
              <a:t>@dataclass</a:t>
            </a:r>
          </a:p>
          <a:p>
            <a:pPr>
              <a:lnSpc>
                <a:spcPct val="111111"/>
              </a:lnSpc>
              <a:spcAft>
                <a:spcPts val="0"/>
              </a:spcAft>
            </a:pPr>
            <a:r>
              <a:rPr sz="825" i="0">
                <a:solidFill>
                  <a:srgbClr val="5C6773"/>
                </a:solidFill>
                <a:latin typeface="Inconsolata"/>
              </a:rPr>
              <a:t>14  </a:t>
            </a:r>
            <a:r>
              <a:rPr sz="825" i="0">
                <a:solidFill>
                  <a:srgbClr val="FF8E6E"/>
                </a:solidFill>
                <a:latin typeface="Inconsolata"/>
              </a:rPr>
              <a:t>class</a:t>
            </a:r>
            <a:r>
              <a:rPr sz="825" i="0">
                <a:solidFill>
                  <a:srgbClr val="E6EDF3"/>
                </a:solidFill>
                <a:latin typeface="Inconsolata"/>
              </a:rPr>
              <a:t> </a:t>
            </a:r>
            <a:r>
              <a:rPr sz="825" i="0">
                <a:solidFill>
                  <a:srgbClr val="7FDBCA"/>
                </a:solidFill>
                <a:latin typeface="Inconsolata"/>
              </a:rPr>
              <a:t>Settings</a:t>
            </a:r>
            <a:r>
              <a:rPr sz="825" i="0">
                <a:solidFill>
                  <a:srgbClr val="E6EDF3"/>
                </a:solidFill>
                <a:latin typeface="Inconsolata"/>
              </a:rPr>
              <a:t>:</a:t>
            </a:r>
          </a:p>
          <a:p>
            <a:pPr>
              <a:lnSpc>
                <a:spcPct val="111111"/>
              </a:lnSpc>
              <a:spcAft>
                <a:spcPts val="0"/>
              </a:spcAft>
            </a:pPr>
            <a:r>
              <a:rPr sz="825" i="0">
                <a:solidFill>
                  <a:srgbClr val="5C6773"/>
                </a:solidFill>
                <a:latin typeface="Inconsolata"/>
              </a:rPr>
              <a:t>15  </a:t>
            </a:r>
            <a:r>
              <a:rPr sz="825" i="0">
                <a:solidFill>
                  <a:srgbClr val="E6EDF3"/>
                </a:solidFill>
                <a:latin typeface="Inconsolata"/>
              </a:rPr>
              <a:t>    database_url: </a:t>
            </a:r>
            <a:r>
              <a:rPr sz="825" i="0">
                <a:solidFill>
                  <a:srgbClr val="C3A6FF"/>
                </a:solidFill>
                <a:latin typeface="Inconsolata"/>
              </a:rPr>
              <a:t>str</a:t>
            </a:r>
            <a:r>
              <a:rPr sz="825" i="0">
                <a:solidFill>
                  <a:srgbClr val="E6EDF3"/>
                </a:solidFill>
                <a:latin typeface="Inconsolata"/>
              </a:rPr>
              <a:t> = </a:t>
            </a:r>
            <a:r>
              <a:rPr sz="825" i="0">
                <a:solidFill>
                  <a:srgbClr val="A5D6A7"/>
                </a:solidFill>
                <a:latin typeface="Inconsolata"/>
              </a:rPr>
              <a:t>"postgresql://app:rahasia123@db.internal/orders"</a:t>
            </a:r>
          </a:p>
          <a:p>
            <a:pPr>
              <a:lnSpc>
                <a:spcPct val="111111"/>
              </a:lnSpc>
              <a:spcAft>
                <a:spcPts val="0"/>
              </a:spcAft>
            </a:pPr>
            <a:r>
              <a:rPr sz="825" i="0">
                <a:solidFill>
                  <a:srgbClr val="5C6773"/>
                </a:solidFill>
                <a:latin typeface="Inconsolata"/>
              </a:rPr>
              <a:t>16  </a:t>
            </a:r>
            <a:r>
              <a:rPr sz="825" i="0">
                <a:solidFill>
                  <a:srgbClr val="E6EDF3"/>
                </a:solidFill>
                <a:latin typeface="Inconsolata"/>
              </a:rPr>
              <a:t>    jwt_secret: </a:t>
            </a:r>
            <a:r>
              <a:rPr sz="825" i="0">
                <a:solidFill>
                  <a:srgbClr val="C3A6FF"/>
                </a:solidFill>
                <a:latin typeface="Inconsolata"/>
              </a:rPr>
              <a:t>str</a:t>
            </a:r>
            <a:r>
              <a:rPr sz="825" i="0">
                <a:solidFill>
                  <a:srgbClr val="E6EDF3"/>
                </a:solidFill>
                <a:latin typeface="Inconsolata"/>
              </a:rPr>
              <a:t> = </a:t>
            </a:r>
            <a:r>
              <a:rPr sz="825" i="0">
                <a:solidFill>
                  <a:srgbClr val="A5D6A7"/>
                </a:solidFill>
                <a:latin typeface="Inconsolata"/>
              </a:rPr>
              <a:t>"secret"</a:t>
            </a:r>
          </a:p>
          <a:p>
            <a:pPr>
              <a:lnSpc>
                <a:spcPct val="111111"/>
              </a:lnSpc>
              <a:spcAft>
                <a:spcPts val="0"/>
              </a:spcAft>
            </a:pPr>
            <a:r>
              <a:rPr sz="825" i="0">
                <a:solidFill>
                  <a:srgbClr val="5C6773"/>
                </a:solidFill>
                <a:latin typeface="Inconsolata"/>
              </a:rPr>
              <a:t>17  </a:t>
            </a:r>
            <a:r>
              <a:rPr sz="825" i="0">
                <a:solidFill>
                  <a:srgbClr val="E6EDF3"/>
                </a:solidFill>
                <a:latin typeface="Inconsolata"/>
              </a:rPr>
              <a:t>    debug: </a:t>
            </a:r>
            <a:r>
              <a:rPr sz="825" i="0">
                <a:solidFill>
                  <a:srgbClr val="C3A6FF"/>
                </a:solidFill>
                <a:latin typeface="Inconsolata"/>
              </a:rPr>
              <a:t>bool</a:t>
            </a:r>
            <a:r>
              <a:rPr sz="825" i="0">
                <a:solidFill>
                  <a:srgbClr val="E6EDF3"/>
                </a:solidFill>
                <a:latin typeface="Inconsolata"/>
              </a:rPr>
              <a:t> = </a:t>
            </a:r>
            <a:r>
              <a:rPr sz="825" i="0">
                <a:solidFill>
                  <a:srgbClr val="FF8E6E"/>
                </a:solidFill>
                <a:latin typeface="Inconsolata"/>
              </a:rPr>
              <a:t>True</a:t>
            </a:r>
          </a:p>
          <a:p>
            <a:pPr>
              <a:lnSpc>
                <a:spcPct val="111111"/>
              </a:lnSpc>
              <a:spcAft>
                <a:spcPts val="0"/>
              </a:spcAft>
            </a:pPr>
            <a:r>
              <a:rPr sz="825" i="0">
                <a:solidFill>
                  <a:srgbClr val="5C6773"/>
                </a:solidFill>
                <a:latin typeface="Inconsolata"/>
              </a:rPr>
              <a:t>18  </a:t>
            </a:r>
            <a:r>
              <a:rPr sz="825" i="0">
                <a:solidFill>
                  <a:srgbClr val="E6EDF3"/>
                </a:solidFill>
                <a:latin typeface="Inconsolata"/>
              </a:rPr>
              <a:t> </a:t>
            </a:r>
          </a:p>
          <a:p>
            <a:pPr>
              <a:lnSpc>
                <a:spcPct val="111111"/>
              </a:lnSpc>
              <a:spcAft>
                <a:spcPts val="0"/>
              </a:spcAft>
            </a:pPr>
            <a:r>
              <a:rPr sz="825" i="0">
                <a:solidFill>
                  <a:srgbClr val="5C6773"/>
                </a:solidFill>
                <a:latin typeface="Inconsolata"/>
              </a:rPr>
              <a:t>19  </a:t>
            </a:r>
            <a:r>
              <a:rPr sz="825" i="0">
                <a:solidFill>
                  <a:srgbClr val="E6EDF3"/>
                </a:solidFill>
                <a:latin typeface="Inconsolata"/>
              </a:rPr>
              <a:t> </a:t>
            </a:r>
          </a:p>
          <a:p>
            <a:pPr>
              <a:lnSpc>
                <a:spcPct val="111111"/>
              </a:lnSpc>
              <a:spcAft>
                <a:spcPts val="0"/>
              </a:spcAft>
            </a:pPr>
            <a:r>
              <a:rPr sz="825" i="0">
                <a:solidFill>
                  <a:srgbClr val="5C6773"/>
                </a:solidFill>
                <a:latin typeface="Inconsolata"/>
              </a:rPr>
              <a:t>20  </a:t>
            </a:r>
            <a:r>
              <a:rPr sz="825" i="0">
                <a:solidFill>
                  <a:srgbClr val="FF8E6E"/>
                </a:solidFill>
                <a:latin typeface="Inconsolata"/>
              </a:rPr>
              <a:t>if</a:t>
            </a:r>
            <a:r>
              <a:rPr sz="825" i="0">
                <a:solidFill>
                  <a:srgbClr val="E6EDF3"/>
                </a:solidFill>
                <a:latin typeface="Inconsolata"/>
              </a:rPr>
              <a:t> __name__ == </a:t>
            </a:r>
            <a:r>
              <a:rPr sz="825" i="0">
                <a:solidFill>
                  <a:srgbClr val="A5D6A7"/>
                </a:solidFill>
                <a:latin typeface="Inconsolata"/>
              </a:rPr>
              <a:t>"__main__"</a:t>
            </a:r>
            <a:r>
              <a:rPr sz="825" i="0">
                <a:solidFill>
                  <a:srgbClr val="E6EDF3"/>
                </a:solidFill>
                <a:latin typeface="Inconsolata"/>
              </a:rPr>
              <a:t>:</a:t>
            </a:r>
          </a:p>
          <a:p>
            <a:pPr>
              <a:lnSpc>
                <a:spcPct val="111111"/>
              </a:lnSpc>
              <a:spcAft>
                <a:spcPts val="0"/>
              </a:spcAft>
            </a:pPr>
            <a:r>
              <a:rPr sz="825" i="0">
                <a:solidFill>
                  <a:srgbClr val="5C6773"/>
                </a:solidFill>
                <a:latin typeface="Inconsolata"/>
              </a:rPr>
              <a:t>21  </a:t>
            </a:r>
            <a:r>
              <a:rPr sz="825" i="0">
                <a:solidFill>
                  <a:srgbClr val="E6EDF3"/>
                </a:solidFill>
                <a:latin typeface="Inconsolata"/>
              </a:rPr>
              <a:t>    settings = </a:t>
            </a:r>
            <a:r>
              <a:rPr sz="825" i="0">
                <a:solidFill>
                  <a:srgbClr val="7FDBCA"/>
                </a:solidFill>
                <a:latin typeface="Inconsolata"/>
              </a:rPr>
              <a:t>Settings</a:t>
            </a:r>
            <a:r>
              <a:rPr sz="825" i="0">
                <a:solidFill>
                  <a:srgbClr val="E6EDF3"/>
                </a:solidFill>
                <a:latin typeface="Inconsolata"/>
              </a:rPr>
              <a:t>()</a:t>
            </a:r>
          </a:p>
          <a:p>
            <a:pPr>
              <a:lnSpc>
                <a:spcPct val="111111"/>
              </a:lnSpc>
              <a:spcAft>
                <a:spcPts val="0"/>
              </a:spcAft>
            </a:pPr>
            <a:r>
              <a:rPr sz="825" i="0">
                <a:solidFill>
                  <a:srgbClr val="5C6773"/>
                </a:solidFill>
                <a:latin typeface="Inconsolata"/>
              </a:rPr>
              <a:t>22  </a:t>
            </a:r>
            <a:r>
              <a:rPr sz="825" i="0">
                <a:solidFill>
                  <a:srgbClr val="E6EDF3"/>
                </a:solidFill>
                <a:latin typeface="Inconsolata"/>
              </a:rPr>
              <a:t>    </a:t>
            </a:r>
            <a:r>
              <a:rPr sz="825" i="0">
                <a:solidFill>
                  <a:srgbClr val="C3A6FF"/>
                </a:solidFill>
                <a:latin typeface="Inconsolata"/>
              </a:rPr>
              <a:t>print</a:t>
            </a:r>
            <a:r>
              <a:rPr sz="825" i="0">
                <a:solidFill>
                  <a:srgbClr val="E6EDF3"/>
                </a:solidFill>
                <a:latin typeface="Inconsolata"/>
              </a:rPr>
              <a:t>(</a:t>
            </a:r>
            <a:r>
              <a:rPr sz="825" i="0">
                <a:solidFill>
                  <a:srgbClr val="A5D6A7"/>
                </a:solidFill>
                <a:latin typeface="Inconsolata"/>
              </a:rPr>
              <a:t>"Config saat startup:"</a:t>
            </a:r>
            <a:r>
              <a:rPr sz="825" i="0">
                <a:solidFill>
                  <a:srgbClr val="E6EDF3"/>
                </a:solidFill>
                <a:latin typeface="Inconsolata"/>
              </a:rPr>
              <a:t>, settings)</a:t>
            </a:r>
          </a:p>
        </p:txBody>
      </p:sp>
      <p:sp>
        <p:nvSpPr>
          <p:cNvPr id="29" name="Box 12"/>
          <p:cNvSpPr/>
          <p:nvPr/>
        </p:nvSpPr>
        <p:spPr>
          <a:xfrm>
            <a:off x="704088" y="2527173"/>
            <a:ext cx="4343400" cy="271018"/>
          </a:xfrm>
          <a:prstGeom prst="roundRect">
            <a:avLst>
              <a:gd name="adj" fmla="val 16869"/>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4928616" y="254381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505073"/>
            <a:ext cx="4343400" cy="131318"/>
          </a:xfrm>
          <a:prstGeom prst="roundRect">
            <a:avLst>
              <a:gd name="adj" fmla="val 3481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4928616" y="345186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CodeTab 17"/>
          <p:cNvSpPr/>
          <p:nvPr/>
        </p:nvSpPr>
        <p:spPr>
          <a:xfrm>
            <a:off x="5285231" y="1481328"/>
            <a:ext cx="32004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Dot 18"/>
          <p:cNvSpPr/>
          <p:nvPr/>
        </p:nvSpPr>
        <p:spPr>
          <a:xfrm>
            <a:off x="5394959"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Dot 19"/>
          <p:cNvSpPr/>
          <p:nvPr/>
        </p:nvSpPr>
        <p:spPr>
          <a:xfrm>
            <a:off x="553212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Dot 20"/>
          <p:cNvSpPr/>
          <p:nvPr/>
        </p:nvSpPr>
        <p:spPr>
          <a:xfrm>
            <a:off x="5669279"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 21"/>
          <p:cNvSpPr txBox="1"/>
          <p:nvPr/>
        </p:nvSpPr>
        <p:spPr>
          <a:xfrm>
            <a:off x="5833871" y="1490472"/>
            <a:ext cx="25603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38" name="CodeBg 23"/>
          <p:cNvSpPr/>
          <p:nvPr/>
        </p:nvSpPr>
        <p:spPr>
          <a:xfrm>
            <a:off x="5285231" y="1719072"/>
            <a:ext cx="3200400" cy="457200"/>
          </a:xfrm>
          <a:prstGeom prst="roundRect">
            <a:avLst>
              <a:gd name="adj" fmla="val 4000"/>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Code 24"/>
          <p:cNvSpPr txBox="1"/>
          <p:nvPr/>
        </p:nvSpPr>
        <p:spPr>
          <a:xfrm>
            <a:off x="5285231" y="1719072"/>
            <a:ext cx="3200400" cy="457200"/>
          </a:xfrm>
          <a:prstGeom prst="rect">
            <a:avLst/>
          </a:prstGeom>
          <a:noFill/>
        </p:spPr>
        <p:txBody>
          <a:bodyPr wrap="none" lIns="146304" tIns="91440" rIns="146304" bIns="54864">
            <a:spAutoFit/>
          </a:bodyPr>
          <a:lstStyle/>
          <a:p>
            <a:pPr>
              <a:lnSpc>
                <a:spcPct val="104167"/>
              </a:lnSpc>
              <a:spcAft>
                <a:spcPts val="0"/>
              </a:spcAft>
            </a:pPr>
            <a:r>
              <a:rPr sz="800" i="0">
                <a:solidFill>
                  <a:srgbClr val="82B1FF"/>
                </a:solidFill>
                <a:latin typeface="Inconsolata"/>
              </a:rPr>
              <a:t>$ cd sesi-10-api-security/07-secrets</a:t>
            </a:r>
          </a:p>
          <a:p>
            <a:pPr>
              <a:lnSpc>
                <a:spcPct val="104167"/>
              </a:lnSpc>
              <a:spcAft>
                <a:spcPts val="0"/>
              </a:spcAft>
            </a:pPr>
            <a:r>
              <a:rPr sz="800" i="0">
                <a:solidFill>
                  <a:srgbClr val="82B1FF"/>
                </a:solidFill>
                <a:latin typeface="Inconsolata"/>
              </a:rPr>
              <a:t>$ python before.py</a:t>
            </a:r>
          </a:p>
        </p:txBody>
      </p:sp>
      <p:pic>
        <p:nvPicPr>
          <p:cNvPr id="40" name="Image 25" descr="s10-07-secrets-before.png"/>
          <p:cNvPicPr>
            <a:picLocks noChangeAspect="1"/>
          </p:cNvPicPr>
          <p:nvPr/>
        </p:nvPicPr>
        <p:blipFill>
          <a:blip r:embed="rId2"/>
          <a:stretch>
            <a:fillRect/>
          </a:stretch>
        </p:blipFill>
        <p:spPr>
          <a:xfrm>
            <a:off x="5285231" y="2249424"/>
            <a:ext cx="3200400" cy="501115"/>
          </a:xfrm>
          <a:prstGeom prst="rect">
            <a:avLst/>
          </a:prstGeom>
        </p:spPr>
      </p:pic>
      <p:sp>
        <p:nvSpPr>
          <p:cNvPr id="41" name="Box 26"/>
          <p:cNvSpPr/>
          <p:nvPr/>
        </p:nvSpPr>
        <p:spPr>
          <a:xfrm>
            <a:off x="5285231" y="2841979"/>
            <a:ext cx="3200400" cy="1858036"/>
          </a:xfrm>
          <a:prstGeom prst="roundRect">
            <a:avLst>
              <a:gd name="adj" fmla="val 5905"/>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2" name="Text 27"/>
          <p:cNvSpPr txBox="1"/>
          <p:nvPr/>
        </p:nvSpPr>
        <p:spPr>
          <a:xfrm>
            <a:off x="5422392" y="2933419"/>
            <a:ext cx="2926080" cy="310896"/>
          </a:xfrm>
          <a:prstGeom prst="rect">
            <a:avLst/>
          </a:prstGeom>
          <a:noFill/>
        </p:spPr>
        <p:txBody>
          <a:bodyPr wrap="square" lIns="45720" rIns="45720" anchor="t">
            <a:spAutoFit/>
          </a:bodyPr>
          <a:lstStyle/>
          <a:p>
            <a:pPr algn="l">
              <a:lnSpc>
                <a:spcPct val="115000"/>
              </a:lnSpc>
              <a:spcAft>
                <a:spcPts val="400"/>
              </a:spcAft>
            </a:pPr>
            <a:r>
              <a:rPr sz="1000" b="1" i="0">
                <a:solidFill>
                  <a:srgbClr val="C0392B"/>
                </a:solidFill>
                <a:latin typeface="Inter"/>
              </a:rPr>
              <a:t>Masalahnya</a:t>
            </a:r>
          </a:p>
        </p:txBody>
      </p:sp>
      <p:sp>
        <p:nvSpPr>
          <p:cNvPr id="43" name="Text 28"/>
          <p:cNvSpPr txBox="1"/>
          <p:nvPr/>
        </p:nvSpPr>
        <p:spPr>
          <a:xfrm>
            <a:off x="5422392" y="3253459"/>
            <a:ext cx="2926080" cy="1355116"/>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Password database dan secret JWT sebagai default (baris 15-16)</a:t>
            </a:r>
          </a:p>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Config dicetak ke log saat startup (baris 22)</a:t>
            </a:r>
          </a:p>
          <a:p>
            <a:pPr algn="l">
              <a:lnSpc>
                <a:spcPct val="115000"/>
              </a:lnSpc>
              <a:spcAft>
                <a:spcPts val="0"/>
              </a:spcAft>
            </a:pPr>
            <a:endParaRPr sz="850" b="0" i="0">
              <a:solidFill>
                <a:srgbClr val="434343"/>
              </a:solidFill>
              <a:latin typeface="Inter"/>
            </a:endParaRPr>
          </a:p>
          <a:p>
            <a:pPr algn="l">
              <a:lnSpc>
                <a:spcPct val="115000"/>
              </a:lnSpc>
              <a:spcAft>
                <a:spcPts val="400"/>
              </a:spcAft>
            </a:pPr>
            <a:r>
              <a:rPr sz="850" b="0" i="0">
                <a:solidFill>
                  <a:srgbClr val="434343"/>
                </a:solidFill>
                <a:latin typeface="Inter"/>
              </a:rPr>
              <a:t>Semua secret terlihat di output.</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Secrets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environment dan SecretStr</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07-secrets/after.py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7095"/>
              </a:lnSpc>
              <a:spcAft>
                <a:spcPts val="0"/>
              </a:spcAft>
            </a:pPr>
            <a:r>
              <a:rPr sz="700" i="0">
                <a:solidFill>
                  <a:srgbClr val="5C6773"/>
                </a:solidFill>
                <a:latin typeface="Inconsolata"/>
              </a:rPr>
              <a:t>11  </a:t>
            </a:r>
            <a:r>
              <a:rPr sz="700" i="0">
                <a:solidFill>
                  <a:srgbClr val="FF8E6E"/>
                </a:solidFill>
                <a:latin typeface="Inconsolata"/>
              </a:rPr>
              <a:t>import</a:t>
            </a:r>
            <a:r>
              <a:rPr sz="700" i="0">
                <a:solidFill>
                  <a:srgbClr val="E6EDF3"/>
                </a:solidFill>
                <a:latin typeface="Inconsolata"/>
              </a:rPr>
              <a:t> os</a:t>
            </a:r>
          </a:p>
          <a:p>
            <a:pPr>
              <a:lnSpc>
                <a:spcPct val="107095"/>
              </a:lnSpc>
              <a:spcAft>
                <a:spcPts val="0"/>
              </a:spcAft>
            </a:pPr>
            <a:r>
              <a:rPr sz="700" i="0">
                <a:solidFill>
                  <a:srgbClr val="5C6773"/>
                </a:solidFill>
                <a:latin typeface="Inconsolata"/>
              </a:rPr>
              <a:t>12  </a:t>
            </a:r>
            <a:r>
              <a:rPr sz="700" i="0">
                <a:solidFill>
                  <a:srgbClr val="E6EDF3"/>
                </a:solidFill>
                <a:latin typeface="Inconsolata"/>
              </a:rPr>
              <a:t> </a:t>
            </a:r>
          </a:p>
          <a:p>
            <a:pPr>
              <a:lnSpc>
                <a:spcPct val="107095"/>
              </a:lnSpc>
              <a:spcAft>
                <a:spcPts val="0"/>
              </a:spcAft>
            </a:pPr>
            <a:r>
              <a:rPr sz="700" i="0">
                <a:solidFill>
                  <a:srgbClr val="5C6773"/>
                </a:solidFill>
                <a:latin typeface="Inconsolata"/>
              </a:rPr>
              <a:t>13  </a:t>
            </a:r>
            <a:r>
              <a:rPr sz="700" i="0">
                <a:solidFill>
                  <a:srgbClr val="FF8E6E"/>
                </a:solidFill>
                <a:latin typeface="Inconsolata"/>
              </a:rPr>
              <a:t>from</a:t>
            </a:r>
            <a:r>
              <a:rPr sz="700" i="0">
                <a:solidFill>
                  <a:srgbClr val="E6EDF3"/>
                </a:solidFill>
                <a:latin typeface="Inconsolata"/>
              </a:rPr>
              <a:t> pydantic </a:t>
            </a:r>
            <a:r>
              <a:rPr sz="700" i="0">
                <a:solidFill>
                  <a:srgbClr val="FF8E6E"/>
                </a:solidFill>
                <a:latin typeface="Inconsolata"/>
              </a:rPr>
              <a:t>import</a:t>
            </a:r>
            <a:r>
              <a:rPr sz="700" i="0">
                <a:solidFill>
                  <a:srgbClr val="E6EDF3"/>
                </a:solidFill>
                <a:latin typeface="Inconsolata"/>
              </a:rPr>
              <a:t> </a:t>
            </a:r>
            <a:r>
              <a:rPr sz="700" i="0">
                <a:solidFill>
                  <a:srgbClr val="7FDBCA"/>
                </a:solidFill>
                <a:latin typeface="Inconsolata"/>
              </a:rPr>
              <a:t>Field</a:t>
            </a:r>
            <a:r>
              <a:rPr sz="700" i="0">
                <a:solidFill>
                  <a:srgbClr val="E6EDF3"/>
                </a:solidFill>
                <a:latin typeface="Inconsolata"/>
              </a:rPr>
              <a:t>, </a:t>
            </a:r>
            <a:r>
              <a:rPr sz="700" i="0">
                <a:solidFill>
                  <a:srgbClr val="7FDBCA"/>
                </a:solidFill>
                <a:latin typeface="Inconsolata"/>
              </a:rPr>
              <a:t>SecretStr</a:t>
            </a:r>
            <a:r>
              <a:rPr sz="700" i="0">
                <a:solidFill>
                  <a:srgbClr val="E6EDF3"/>
                </a:solidFill>
                <a:latin typeface="Inconsolata"/>
              </a:rPr>
              <a:t>, </a:t>
            </a:r>
            <a:r>
              <a:rPr sz="700" i="0">
                <a:solidFill>
                  <a:srgbClr val="7FDBCA"/>
                </a:solidFill>
                <a:latin typeface="Inconsolata"/>
              </a:rPr>
              <a:t>ValidationError</a:t>
            </a:r>
          </a:p>
          <a:p>
            <a:pPr>
              <a:lnSpc>
                <a:spcPct val="107095"/>
              </a:lnSpc>
              <a:spcAft>
                <a:spcPts val="0"/>
              </a:spcAft>
            </a:pPr>
            <a:r>
              <a:rPr sz="700" i="0">
                <a:solidFill>
                  <a:srgbClr val="5C6773"/>
                </a:solidFill>
                <a:latin typeface="Inconsolata"/>
              </a:rPr>
              <a:t>14  </a:t>
            </a:r>
            <a:r>
              <a:rPr sz="700" i="0">
                <a:solidFill>
                  <a:srgbClr val="FF8E6E"/>
                </a:solidFill>
                <a:latin typeface="Inconsolata"/>
              </a:rPr>
              <a:t>from</a:t>
            </a:r>
            <a:r>
              <a:rPr sz="700" i="0">
                <a:solidFill>
                  <a:srgbClr val="E6EDF3"/>
                </a:solidFill>
                <a:latin typeface="Inconsolata"/>
              </a:rPr>
              <a:t> pydantic_settings </a:t>
            </a:r>
            <a:r>
              <a:rPr sz="700" i="0">
                <a:solidFill>
                  <a:srgbClr val="FF8E6E"/>
                </a:solidFill>
                <a:latin typeface="Inconsolata"/>
              </a:rPr>
              <a:t>import</a:t>
            </a:r>
            <a:r>
              <a:rPr sz="700" i="0">
                <a:solidFill>
                  <a:srgbClr val="E6EDF3"/>
                </a:solidFill>
                <a:latin typeface="Inconsolata"/>
              </a:rPr>
              <a:t> </a:t>
            </a:r>
            <a:r>
              <a:rPr sz="700" i="0">
                <a:solidFill>
                  <a:srgbClr val="7FDBCA"/>
                </a:solidFill>
                <a:latin typeface="Inconsolata"/>
              </a:rPr>
              <a:t>BaseSettings</a:t>
            </a:r>
            <a:r>
              <a:rPr sz="700" i="0">
                <a:solidFill>
                  <a:srgbClr val="E6EDF3"/>
                </a:solidFill>
                <a:latin typeface="Inconsolata"/>
              </a:rPr>
              <a:t>, </a:t>
            </a:r>
            <a:r>
              <a:rPr sz="700" i="0">
                <a:solidFill>
                  <a:srgbClr val="7FDBCA"/>
                </a:solidFill>
                <a:latin typeface="Inconsolata"/>
              </a:rPr>
              <a:t>SettingsConfigDict</a:t>
            </a:r>
          </a:p>
          <a:p>
            <a:pPr>
              <a:lnSpc>
                <a:spcPct val="107095"/>
              </a:lnSpc>
              <a:spcAft>
                <a:spcPts val="0"/>
              </a:spcAft>
            </a:pPr>
            <a:r>
              <a:rPr sz="700" i="0">
                <a:solidFill>
                  <a:srgbClr val="5C6773"/>
                </a:solidFill>
                <a:latin typeface="Inconsolata"/>
              </a:rPr>
              <a:t>15  </a:t>
            </a:r>
            <a:r>
              <a:rPr sz="700" i="0">
                <a:solidFill>
                  <a:srgbClr val="E6EDF3"/>
                </a:solidFill>
                <a:latin typeface="Inconsolata"/>
              </a:rPr>
              <a:t> </a:t>
            </a:r>
          </a:p>
          <a:p>
            <a:pPr>
              <a:lnSpc>
                <a:spcPct val="107095"/>
              </a:lnSpc>
              <a:spcAft>
                <a:spcPts val="0"/>
              </a:spcAft>
            </a:pPr>
            <a:r>
              <a:rPr sz="700" i="0">
                <a:solidFill>
                  <a:srgbClr val="5C6773"/>
                </a:solidFill>
                <a:latin typeface="Inconsolata"/>
              </a:rPr>
              <a:t>16  </a:t>
            </a:r>
            <a:r>
              <a:rPr sz="700" i="0">
                <a:solidFill>
                  <a:srgbClr val="E6EDF3"/>
                </a:solidFill>
                <a:latin typeface="Inconsolata"/>
              </a:rPr>
              <a:t> </a:t>
            </a:r>
          </a:p>
          <a:p>
            <a:pPr>
              <a:lnSpc>
                <a:spcPct val="107095"/>
              </a:lnSpc>
              <a:spcAft>
                <a:spcPts val="0"/>
              </a:spcAft>
            </a:pPr>
            <a:r>
              <a:rPr sz="700" i="0">
                <a:solidFill>
                  <a:srgbClr val="5C6773"/>
                </a:solidFill>
                <a:latin typeface="Inconsolata"/>
              </a:rPr>
              <a:t>17  </a:t>
            </a:r>
            <a:r>
              <a:rPr sz="700" i="0">
                <a:solidFill>
                  <a:srgbClr val="FF8E6E"/>
                </a:solidFill>
                <a:latin typeface="Inconsolata"/>
              </a:rPr>
              <a:t>class</a:t>
            </a:r>
            <a:r>
              <a:rPr sz="700" i="0">
                <a:solidFill>
                  <a:srgbClr val="E6EDF3"/>
                </a:solidFill>
                <a:latin typeface="Inconsolata"/>
              </a:rPr>
              <a:t> </a:t>
            </a:r>
            <a:r>
              <a:rPr sz="700" i="0">
                <a:solidFill>
                  <a:srgbClr val="7FDBCA"/>
                </a:solidFill>
                <a:latin typeface="Inconsolata"/>
              </a:rPr>
              <a:t>Settings</a:t>
            </a:r>
            <a:r>
              <a:rPr sz="700" i="0">
                <a:solidFill>
                  <a:srgbClr val="E6EDF3"/>
                </a:solidFill>
                <a:latin typeface="Inconsolata"/>
              </a:rPr>
              <a:t>(</a:t>
            </a:r>
            <a:r>
              <a:rPr sz="700" i="0">
                <a:solidFill>
                  <a:srgbClr val="7FDBCA"/>
                </a:solidFill>
                <a:latin typeface="Inconsolata"/>
              </a:rPr>
              <a:t>BaseSettings</a:t>
            </a:r>
            <a:r>
              <a:rPr sz="700" i="0">
                <a:solidFill>
                  <a:srgbClr val="E6EDF3"/>
                </a:solidFill>
                <a:latin typeface="Inconsolata"/>
              </a:rPr>
              <a:t>):</a:t>
            </a:r>
          </a:p>
          <a:p>
            <a:pPr>
              <a:lnSpc>
                <a:spcPct val="107095"/>
              </a:lnSpc>
              <a:spcAft>
                <a:spcPts val="0"/>
              </a:spcAft>
            </a:pPr>
            <a:r>
              <a:rPr sz="700" i="0">
                <a:solidFill>
                  <a:srgbClr val="5C6773"/>
                </a:solidFill>
                <a:latin typeface="Inconsolata"/>
              </a:rPr>
              <a:t>18  </a:t>
            </a:r>
            <a:r>
              <a:rPr sz="700" i="0">
                <a:solidFill>
                  <a:srgbClr val="E6EDF3"/>
                </a:solidFill>
                <a:latin typeface="Inconsolata"/>
              </a:rPr>
              <a:t>    model_config = </a:t>
            </a:r>
            <a:r>
              <a:rPr sz="700" i="0">
                <a:solidFill>
                  <a:srgbClr val="7FDBCA"/>
                </a:solidFill>
                <a:latin typeface="Inconsolata"/>
              </a:rPr>
              <a:t>SettingsConfigDict</a:t>
            </a:r>
            <a:r>
              <a:rPr sz="700" i="0">
                <a:solidFill>
                  <a:srgbClr val="E6EDF3"/>
                </a:solidFill>
                <a:latin typeface="Inconsolata"/>
              </a:rPr>
              <a:t>(env_file=</a:t>
            </a:r>
            <a:r>
              <a:rPr sz="700" i="0">
                <a:solidFill>
                  <a:srgbClr val="A5D6A7"/>
                </a:solidFill>
                <a:latin typeface="Inconsolata"/>
              </a:rPr>
              <a:t>".env"</a:t>
            </a:r>
            <a:r>
              <a:rPr sz="700" i="0">
                <a:solidFill>
                  <a:srgbClr val="E6EDF3"/>
                </a:solidFill>
                <a:latin typeface="Inconsolata"/>
              </a:rPr>
              <a:t>)</a:t>
            </a:r>
          </a:p>
          <a:p>
            <a:pPr>
              <a:lnSpc>
                <a:spcPct val="107095"/>
              </a:lnSpc>
              <a:spcAft>
                <a:spcPts val="0"/>
              </a:spcAft>
            </a:pPr>
            <a:r>
              <a:rPr sz="700" i="0">
                <a:solidFill>
                  <a:srgbClr val="5C6773"/>
                </a:solidFill>
                <a:latin typeface="Inconsolata"/>
              </a:rPr>
              <a:t>19  </a:t>
            </a:r>
            <a:r>
              <a:rPr sz="700" i="0">
                <a:solidFill>
                  <a:srgbClr val="E6EDF3"/>
                </a:solidFill>
                <a:latin typeface="Inconsolata"/>
              </a:rPr>
              <a:t> </a:t>
            </a:r>
          </a:p>
          <a:p>
            <a:pPr>
              <a:lnSpc>
                <a:spcPct val="107095"/>
              </a:lnSpc>
              <a:spcAft>
                <a:spcPts val="0"/>
              </a:spcAft>
            </a:pPr>
            <a:r>
              <a:rPr sz="700" i="0">
                <a:solidFill>
                  <a:srgbClr val="5C6773"/>
                </a:solidFill>
                <a:latin typeface="Inconsolata"/>
              </a:rPr>
              <a:t>20  </a:t>
            </a:r>
            <a:r>
              <a:rPr sz="700" i="0">
                <a:solidFill>
                  <a:srgbClr val="E6EDF3"/>
                </a:solidFill>
                <a:latin typeface="Inconsolata"/>
              </a:rPr>
              <a:t>    database_url: </a:t>
            </a:r>
            <a:r>
              <a:rPr sz="700" i="0">
                <a:solidFill>
                  <a:srgbClr val="7FDBCA"/>
                </a:solidFill>
                <a:latin typeface="Inconsolata"/>
              </a:rPr>
              <a:t>SecretStr</a:t>
            </a:r>
          </a:p>
          <a:p>
            <a:pPr>
              <a:lnSpc>
                <a:spcPct val="107095"/>
              </a:lnSpc>
              <a:spcAft>
                <a:spcPts val="0"/>
              </a:spcAft>
            </a:pPr>
            <a:r>
              <a:rPr sz="700" i="0">
                <a:solidFill>
                  <a:srgbClr val="5C6773"/>
                </a:solidFill>
                <a:latin typeface="Inconsolata"/>
              </a:rPr>
              <a:t>21  </a:t>
            </a:r>
            <a:r>
              <a:rPr sz="700" i="0">
                <a:solidFill>
                  <a:srgbClr val="E6EDF3"/>
                </a:solidFill>
                <a:latin typeface="Inconsolata"/>
              </a:rPr>
              <a:t>    jwt_secret: </a:t>
            </a:r>
            <a:r>
              <a:rPr sz="700" i="0">
                <a:solidFill>
                  <a:srgbClr val="7FDBCA"/>
                </a:solidFill>
                <a:latin typeface="Inconsolata"/>
              </a:rPr>
              <a:t>SecretStr</a:t>
            </a:r>
            <a:r>
              <a:rPr sz="700" i="0">
                <a:solidFill>
                  <a:srgbClr val="E6EDF3"/>
                </a:solidFill>
                <a:latin typeface="Inconsolata"/>
              </a:rPr>
              <a:t> = </a:t>
            </a:r>
            <a:r>
              <a:rPr sz="700" i="0">
                <a:solidFill>
                  <a:srgbClr val="7FDBCA"/>
                </a:solidFill>
                <a:latin typeface="Inconsolata"/>
              </a:rPr>
              <a:t>Field</a:t>
            </a:r>
            <a:r>
              <a:rPr sz="700" i="0">
                <a:solidFill>
                  <a:srgbClr val="E6EDF3"/>
                </a:solidFill>
                <a:latin typeface="Inconsolata"/>
              </a:rPr>
              <a:t>(min_length=</a:t>
            </a:r>
            <a:r>
              <a:rPr sz="700" i="0">
                <a:solidFill>
                  <a:srgbClr val="F9C97A"/>
                </a:solidFill>
                <a:latin typeface="Inconsolata"/>
              </a:rPr>
              <a:t>32</a:t>
            </a:r>
            <a:r>
              <a:rPr sz="700" i="0">
                <a:solidFill>
                  <a:srgbClr val="E6EDF3"/>
                </a:solidFill>
                <a:latin typeface="Inconsolata"/>
              </a:rPr>
              <a:t>)</a:t>
            </a:r>
          </a:p>
          <a:p>
            <a:pPr>
              <a:lnSpc>
                <a:spcPct val="107095"/>
              </a:lnSpc>
              <a:spcAft>
                <a:spcPts val="0"/>
              </a:spcAft>
            </a:pPr>
            <a:r>
              <a:rPr sz="700" i="0">
                <a:solidFill>
                  <a:srgbClr val="5C6773"/>
                </a:solidFill>
                <a:latin typeface="Inconsolata"/>
              </a:rPr>
              <a:t>22  </a:t>
            </a:r>
            <a:r>
              <a:rPr sz="700" i="0">
                <a:solidFill>
                  <a:srgbClr val="E6EDF3"/>
                </a:solidFill>
                <a:latin typeface="Inconsolata"/>
              </a:rPr>
              <a:t>    debug: </a:t>
            </a:r>
            <a:r>
              <a:rPr sz="700" i="0">
                <a:solidFill>
                  <a:srgbClr val="C3A6FF"/>
                </a:solidFill>
                <a:latin typeface="Inconsolata"/>
              </a:rPr>
              <a:t>bool</a:t>
            </a:r>
            <a:r>
              <a:rPr sz="700" i="0">
                <a:solidFill>
                  <a:srgbClr val="E6EDF3"/>
                </a:solidFill>
                <a:latin typeface="Inconsolata"/>
              </a:rPr>
              <a:t> = </a:t>
            </a:r>
            <a:r>
              <a:rPr sz="700" i="0">
                <a:solidFill>
                  <a:srgbClr val="FF8E6E"/>
                </a:solidFill>
                <a:latin typeface="Inconsolata"/>
              </a:rPr>
              <a:t>False</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07-secrets/after.py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7095"/>
              </a:lnSpc>
              <a:spcAft>
                <a:spcPts val="0"/>
              </a:spcAft>
            </a:pPr>
            <a:r>
              <a:rPr sz="700" i="0">
                <a:solidFill>
                  <a:srgbClr val="5C6773"/>
                </a:solidFill>
                <a:latin typeface="Inconsolata"/>
              </a:rPr>
              <a:t>25  </a:t>
            </a:r>
            <a:r>
              <a:rPr sz="700" i="0">
                <a:solidFill>
                  <a:srgbClr val="FF8E6E"/>
                </a:solidFill>
                <a:latin typeface="Inconsolata"/>
              </a:rPr>
              <a:t>if</a:t>
            </a:r>
            <a:r>
              <a:rPr sz="700" i="0">
                <a:solidFill>
                  <a:srgbClr val="E6EDF3"/>
                </a:solidFill>
                <a:latin typeface="Inconsolata"/>
              </a:rPr>
              <a:t> __name__ == </a:t>
            </a:r>
            <a:r>
              <a:rPr sz="700" i="0">
                <a:solidFill>
                  <a:srgbClr val="A5D6A7"/>
                </a:solidFill>
                <a:latin typeface="Inconsolata"/>
              </a:rPr>
              <a:t>"__main__"</a:t>
            </a:r>
            <a:r>
              <a:rPr sz="700" i="0">
                <a:solidFill>
                  <a:srgbClr val="E6EDF3"/>
                </a:solidFill>
                <a:latin typeface="Inconsolata"/>
              </a:rPr>
              <a:t>:</a:t>
            </a:r>
          </a:p>
          <a:p>
            <a:pPr>
              <a:lnSpc>
                <a:spcPct val="107095"/>
              </a:lnSpc>
              <a:spcAft>
                <a:spcPts val="0"/>
              </a:spcAft>
            </a:pPr>
            <a:r>
              <a:rPr sz="700" i="0">
                <a:solidFill>
                  <a:srgbClr val="5C6773"/>
                </a:solidFill>
                <a:latin typeface="Inconsolata"/>
              </a:rPr>
              <a:t>26  </a:t>
            </a:r>
            <a:r>
              <a:rPr sz="700" i="0">
                <a:solidFill>
                  <a:srgbClr val="E6EDF3"/>
                </a:solidFill>
                <a:latin typeface="Inconsolata"/>
              </a:rPr>
              <a:t>    </a:t>
            </a:r>
            <a:r>
              <a:rPr sz="700" i="0">
                <a:solidFill>
                  <a:srgbClr val="FF8E6E"/>
                </a:solidFill>
                <a:latin typeface="Inconsolata"/>
              </a:rPr>
              <a:t>try</a:t>
            </a:r>
            <a:r>
              <a:rPr sz="700" i="0">
                <a:solidFill>
                  <a:srgbClr val="E6EDF3"/>
                </a:solidFill>
                <a:latin typeface="Inconsolata"/>
              </a:rPr>
              <a:t>:</a:t>
            </a:r>
          </a:p>
          <a:p>
            <a:pPr>
              <a:lnSpc>
                <a:spcPct val="107095"/>
              </a:lnSpc>
              <a:spcAft>
                <a:spcPts val="0"/>
              </a:spcAft>
            </a:pPr>
            <a:r>
              <a:rPr sz="700" i="0">
                <a:solidFill>
                  <a:srgbClr val="5C6773"/>
                </a:solidFill>
                <a:latin typeface="Inconsolata"/>
              </a:rPr>
              <a:t>27  </a:t>
            </a:r>
            <a:r>
              <a:rPr sz="700" i="0">
                <a:solidFill>
                  <a:srgbClr val="E6EDF3"/>
                </a:solidFill>
                <a:latin typeface="Inconsolata"/>
              </a:rPr>
              <a:t>        </a:t>
            </a:r>
            <a:r>
              <a:rPr sz="700" i="0">
                <a:solidFill>
                  <a:srgbClr val="7FDBCA"/>
                </a:solidFill>
                <a:latin typeface="Inconsolata"/>
              </a:rPr>
              <a:t>Settings</a:t>
            </a:r>
            <a:r>
              <a:rPr sz="700" i="0">
                <a:solidFill>
                  <a:srgbClr val="E6EDF3"/>
                </a:solidFill>
                <a:latin typeface="Inconsolata"/>
              </a:rPr>
              <a:t>()</a:t>
            </a:r>
          </a:p>
          <a:p>
            <a:pPr>
              <a:lnSpc>
                <a:spcPct val="107095"/>
              </a:lnSpc>
              <a:spcAft>
                <a:spcPts val="0"/>
              </a:spcAft>
            </a:pPr>
            <a:r>
              <a:rPr sz="700" i="0">
                <a:solidFill>
                  <a:srgbClr val="5C6773"/>
                </a:solidFill>
                <a:latin typeface="Inconsolata"/>
              </a:rPr>
              <a:t>28  </a:t>
            </a:r>
            <a:r>
              <a:rPr sz="700" i="0">
                <a:solidFill>
                  <a:srgbClr val="E6EDF3"/>
                </a:solidFill>
                <a:latin typeface="Inconsolata"/>
              </a:rPr>
              <a:t>    </a:t>
            </a:r>
            <a:r>
              <a:rPr sz="700" i="0">
                <a:solidFill>
                  <a:srgbClr val="FF8E6E"/>
                </a:solidFill>
                <a:latin typeface="Inconsolata"/>
              </a:rPr>
              <a:t>except</a:t>
            </a:r>
            <a:r>
              <a:rPr sz="700" i="0">
                <a:solidFill>
                  <a:srgbClr val="E6EDF3"/>
                </a:solidFill>
                <a:latin typeface="Inconsolata"/>
              </a:rPr>
              <a:t> </a:t>
            </a:r>
            <a:r>
              <a:rPr sz="700" i="0">
                <a:solidFill>
                  <a:srgbClr val="7FDBCA"/>
                </a:solidFill>
                <a:latin typeface="Inconsolata"/>
              </a:rPr>
              <a:t>ValidationError</a:t>
            </a:r>
            <a:r>
              <a:rPr sz="700" i="0">
                <a:solidFill>
                  <a:srgbClr val="E6EDF3"/>
                </a:solidFill>
                <a:latin typeface="Inconsolata"/>
              </a:rPr>
              <a:t> </a:t>
            </a:r>
            <a:r>
              <a:rPr sz="700" i="0">
                <a:solidFill>
                  <a:srgbClr val="FF8E6E"/>
                </a:solidFill>
                <a:latin typeface="Inconsolata"/>
              </a:rPr>
              <a:t>as</a:t>
            </a:r>
            <a:r>
              <a:rPr sz="700" i="0">
                <a:solidFill>
                  <a:srgbClr val="E6EDF3"/>
                </a:solidFill>
                <a:latin typeface="Inconsolata"/>
              </a:rPr>
              <a:t> exc:</a:t>
            </a:r>
          </a:p>
          <a:p>
            <a:pPr>
              <a:lnSpc>
                <a:spcPct val="107095"/>
              </a:lnSpc>
              <a:spcAft>
                <a:spcPts val="0"/>
              </a:spcAft>
            </a:pPr>
            <a:r>
              <a:rPr sz="700" i="0">
                <a:solidFill>
                  <a:srgbClr val="5C6773"/>
                </a:solidFill>
                <a:latin typeface="Inconsolata"/>
              </a:rPr>
              <a:t>29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"Tanpa environment variable:"</a:t>
            </a:r>
            <a:r>
              <a:rPr sz="700" i="0">
                <a:solidFill>
                  <a:srgbClr val="E6EDF3"/>
                </a:solidFill>
                <a:latin typeface="Inconsolata"/>
              </a:rPr>
              <a:t>)</a:t>
            </a:r>
          </a:p>
          <a:p>
            <a:pPr>
              <a:lnSpc>
                <a:spcPct val="107095"/>
              </a:lnSpc>
              <a:spcAft>
                <a:spcPts val="0"/>
              </a:spcAft>
            </a:pPr>
            <a:r>
              <a:rPr sz="700" i="0">
                <a:solidFill>
                  <a:srgbClr val="5C6773"/>
                </a:solidFill>
                <a:latin typeface="Inconsolata"/>
              </a:rPr>
              <a:t>30  </a:t>
            </a:r>
            <a:r>
              <a:rPr sz="700" i="0">
                <a:solidFill>
                  <a:srgbClr val="E6EDF3"/>
                </a:solidFill>
                <a:latin typeface="Inconsolata"/>
              </a:rPr>
              <a:t>        </a:t>
            </a:r>
            <a:r>
              <a:rPr sz="700" i="0">
                <a:solidFill>
                  <a:srgbClr val="FF8E6E"/>
                </a:solidFill>
                <a:latin typeface="Inconsolata"/>
              </a:rPr>
              <a:t>for</a:t>
            </a:r>
            <a:r>
              <a:rPr sz="700" i="0">
                <a:solidFill>
                  <a:srgbClr val="E6EDF3"/>
                </a:solidFill>
                <a:latin typeface="Inconsolata"/>
              </a:rPr>
              <a:t> error </a:t>
            </a:r>
            <a:r>
              <a:rPr sz="700" i="0">
                <a:solidFill>
                  <a:srgbClr val="FF8E6E"/>
                </a:solidFill>
                <a:latin typeface="Inconsolata"/>
              </a:rPr>
              <a:t>in</a:t>
            </a:r>
            <a:r>
              <a:rPr sz="700" i="0">
                <a:solidFill>
                  <a:srgbClr val="E6EDF3"/>
                </a:solidFill>
                <a:latin typeface="Inconsolata"/>
              </a:rPr>
              <a:t> exc.errors():</a:t>
            </a:r>
          </a:p>
          <a:p>
            <a:pPr>
              <a:lnSpc>
                <a:spcPct val="107095"/>
              </a:lnSpc>
              <a:spcAft>
                <a:spcPts val="0"/>
              </a:spcAft>
            </a:pPr>
            <a:r>
              <a:rPr sz="700" i="0">
                <a:solidFill>
                  <a:srgbClr val="5C6773"/>
                </a:solidFill>
                <a:latin typeface="Inconsolata"/>
              </a:rPr>
              <a:t>31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f"  {error['loc'][0]}: {error['msg']}"</a:t>
            </a:r>
            <a:r>
              <a:rPr sz="700" i="0">
                <a:solidFill>
                  <a:srgbClr val="E6EDF3"/>
                </a:solidFill>
                <a:latin typeface="Inconsolata"/>
              </a:rPr>
              <a:t>)</a:t>
            </a:r>
          </a:p>
          <a:p>
            <a:pPr>
              <a:lnSpc>
                <a:spcPct val="107095"/>
              </a:lnSpc>
              <a:spcAft>
                <a:spcPts val="0"/>
              </a:spcAft>
            </a:pPr>
            <a:r>
              <a:rPr sz="700" i="0">
                <a:solidFill>
                  <a:srgbClr val="5C6773"/>
                </a:solidFill>
                <a:latin typeface="Inconsolata"/>
              </a:rPr>
              <a:t>32  </a:t>
            </a:r>
            <a:r>
              <a:rPr sz="700" i="0">
                <a:solidFill>
                  <a:srgbClr val="E6EDF3"/>
                </a:solidFill>
                <a:latin typeface="Inconsolata"/>
              </a:rPr>
              <a:t> </a:t>
            </a:r>
          </a:p>
          <a:p>
            <a:pPr>
              <a:lnSpc>
                <a:spcPct val="107095"/>
              </a:lnSpc>
              <a:spcAft>
                <a:spcPts val="0"/>
              </a:spcAft>
            </a:pPr>
            <a:r>
              <a:rPr sz="700" i="0">
                <a:solidFill>
                  <a:srgbClr val="5C6773"/>
                </a:solidFill>
                <a:latin typeface="Inconsolata"/>
              </a:rPr>
              <a:t>33  </a:t>
            </a:r>
            <a:r>
              <a:rPr sz="700" i="0">
                <a:solidFill>
                  <a:srgbClr val="E6EDF3"/>
                </a:solidFill>
                <a:latin typeface="Inconsolata"/>
              </a:rPr>
              <a:t>    os.environ[</a:t>
            </a:r>
            <a:r>
              <a:rPr sz="700" i="0">
                <a:solidFill>
                  <a:srgbClr val="A5D6A7"/>
                </a:solidFill>
                <a:latin typeface="Inconsolata"/>
              </a:rPr>
              <a:t>"DATABASE_URL"</a:t>
            </a:r>
            <a:r>
              <a:rPr sz="700" i="0">
                <a:solidFill>
                  <a:srgbClr val="E6EDF3"/>
                </a:solidFill>
                <a:latin typeface="Inconsolata"/>
              </a:rPr>
              <a:t>] = </a:t>
            </a:r>
            <a:r>
              <a:rPr sz="700" i="0">
                <a:solidFill>
                  <a:srgbClr val="A5D6A7"/>
                </a:solidFill>
                <a:latin typeface="Inconsolata"/>
              </a:rPr>
              <a:t>"postgresql://app:rahasia123@db/orders"</a:t>
            </a:r>
          </a:p>
          <a:p>
            <a:pPr>
              <a:lnSpc>
                <a:spcPct val="107095"/>
              </a:lnSpc>
              <a:spcAft>
                <a:spcPts val="0"/>
              </a:spcAft>
            </a:pPr>
            <a:r>
              <a:rPr sz="700" i="0">
                <a:solidFill>
                  <a:srgbClr val="5C6773"/>
                </a:solidFill>
                <a:latin typeface="Inconsolata"/>
              </a:rPr>
              <a:t>34  </a:t>
            </a:r>
            <a:r>
              <a:rPr sz="700" i="0">
                <a:solidFill>
                  <a:srgbClr val="E6EDF3"/>
                </a:solidFill>
                <a:latin typeface="Inconsolata"/>
              </a:rPr>
              <a:t>    os.environ[</a:t>
            </a:r>
            <a:r>
              <a:rPr sz="700" i="0">
                <a:solidFill>
                  <a:srgbClr val="A5D6A7"/>
                </a:solidFill>
                <a:latin typeface="Inconsolata"/>
              </a:rPr>
              <a:t>"JWT_SECRET"</a:t>
            </a:r>
            <a:r>
              <a:rPr sz="700" i="0">
                <a:solidFill>
                  <a:srgbClr val="E6EDF3"/>
                </a:solidFill>
                <a:latin typeface="Inconsolata"/>
              </a:rPr>
              <a:t>] = </a:t>
            </a:r>
            <a:r>
              <a:rPr sz="700" i="0">
                <a:solidFill>
                  <a:srgbClr val="A5D6A7"/>
                </a:solidFill>
                <a:latin typeface="Inconsolata"/>
              </a:rPr>
              <a:t>"3f9a1c7e5b2d8f4a6c0e9b1d7f3a5c8e"</a:t>
            </a:r>
          </a:p>
          <a:p>
            <a:pPr>
              <a:lnSpc>
                <a:spcPct val="107095"/>
              </a:lnSpc>
              <a:spcAft>
                <a:spcPts val="0"/>
              </a:spcAft>
            </a:pPr>
            <a:r>
              <a:rPr sz="700" i="0">
                <a:solidFill>
                  <a:srgbClr val="5C6773"/>
                </a:solidFill>
                <a:latin typeface="Inconsolata"/>
              </a:rPr>
              <a:t>35  </a:t>
            </a:r>
            <a:r>
              <a:rPr sz="700" i="0">
                <a:solidFill>
                  <a:srgbClr val="E6EDF3"/>
                </a:solidFill>
                <a:latin typeface="Inconsolata"/>
              </a:rPr>
              <a:t>    settings = </a:t>
            </a:r>
            <a:r>
              <a:rPr sz="700" i="0">
                <a:solidFill>
                  <a:srgbClr val="7FDBCA"/>
                </a:solidFill>
                <a:latin typeface="Inconsolata"/>
              </a:rPr>
              <a:t>Settings</a:t>
            </a:r>
            <a:r>
              <a:rPr sz="700" i="0">
                <a:solidFill>
                  <a:srgbClr val="E6EDF3"/>
                </a:solidFill>
                <a:latin typeface="Inconsolata"/>
              </a:rPr>
              <a:t>()</a:t>
            </a:r>
          </a:p>
          <a:p>
            <a:pPr>
              <a:lnSpc>
                <a:spcPct val="107095"/>
              </a:lnSpc>
              <a:spcAft>
                <a:spcPts val="0"/>
              </a:spcAft>
            </a:pPr>
            <a:r>
              <a:rPr sz="700" i="0">
                <a:solidFill>
                  <a:srgbClr val="5C6773"/>
                </a:solidFill>
                <a:latin typeface="Inconsolata"/>
              </a:rPr>
              <a:t>36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"Config saat startup:"</a:t>
            </a:r>
            <a:r>
              <a:rPr sz="700" i="0">
                <a:solidFill>
                  <a:srgbClr val="E6EDF3"/>
                </a:solidFill>
                <a:latin typeface="Inconsolata"/>
              </a:rPr>
              <a:t>, settings)</a:t>
            </a:r>
          </a:p>
          <a:p>
            <a:pPr>
              <a:lnSpc>
                <a:spcPct val="107095"/>
              </a:lnSpc>
              <a:spcAft>
                <a:spcPts val="0"/>
              </a:spcAft>
            </a:pPr>
            <a:r>
              <a:rPr sz="700" i="0">
                <a:solidFill>
                  <a:srgbClr val="5C6773"/>
                </a:solidFill>
                <a:latin typeface="Inconsolata"/>
              </a:rPr>
              <a:t>37  </a:t>
            </a:r>
            <a:r>
              <a:rPr sz="700" i="0">
                <a:solidFill>
                  <a:srgbClr val="E6EDF3"/>
                </a:solidFill>
                <a:latin typeface="Inconsolata"/>
              </a:rPr>
              <a:t>    secret = settings.jwt_secret.get_secret_value()</a:t>
            </a:r>
          </a:p>
          <a:p>
            <a:pPr>
              <a:lnSpc>
                <a:spcPct val="107095"/>
              </a:lnSpc>
              <a:spcAft>
                <a:spcPts val="0"/>
              </a:spcAft>
            </a:pPr>
            <a:r>
              <a:rPr sz="700" i="0">
                <a:solidFill>
                  <a:srgbClr val="5C6773"/>
                </a:solidFill>
                <a:latin typeface="Inconsolata"/>
              </a:rPr>
              <a:t>38  </a:t>
            </a:r>
            <a:r>
              <a:rPr sz="700" i="0">
                <a:solidFill>
                  <a:srgbClr val="E6EDF3"/>
                </a:solidFill>
                <a:latin typeface="Inconsolata"/>
              </a:rPr>
              <a:t>    </a:t>
            </a:r>
            <a:r>
              <a:rPr sz="700" i="0">
                <a:solidFill>
                  <a:srgbClr val="C3A6FF"/>
                </a:solidFill>
                <a:latin typeface="Inconsolata"/>
              </a:rPr>
              <a:t>print</a:t>
            </a:r>
            <a:r>
              <a:rPr sz="700" i="0">
                <a:solidFill>
                  <a:srgbClr val="E6EDF3"/>
                </a:solidFill>
                <a:latin typeface="Inconsolata"/>
              </a:rPr>
              <a:t>(</a:t>
            </a:r>
            <a:r>
              <a:rPr sz="700" i="0">
                <a:solidFill>
                  <a:srgbClr val="A5D6A7"/>
                </a:solidFill>
                <a:latin typeface="Inconsolata"/>
              </a:rPr>
              <a:t>"Dipakai di kode    :"</a:t>
            </a:r>
            <a:r>
              <a:rPr sz="700" i="0">
                <a:solidFill>
                  <a:srgbClr val="E6EDF3"/>
                </a:solidFill>
                <a:latin typeface="Inconsolata"/>
              </a:rPr>
              <a:t>, secret[:</a:t>
            </a:r>
            <a:r>
              <a:rPr sz="700" i="0">
                <a:solidFill>
                  <a:srgbClr val="F9C97A"/>
                </a:solidFill>
                <a:latin typeface="Inconsolata"/>
              </a:rPr>
              <a:t>6</a:t>
            </a:r>
            <a:r>
              <a:rPr sz="700" i="0">
                <a:solidFill>
                  <a:srgbClr val="E6EDF3"/>
                </a:solidFill>
                <a:latin typeface="Inconsolata"/>
              </a:rPr>
              <a:t>] + </a:t>
            </a:r>
            <a:r>
              <a:rPr sz="700" i="0">
                <a:solidFill>
                  <a:srgbClr val="A5D6A7"/>
                </a:solidFill>
                <a:latin typeface="Inconsolata"/>
              </a:rPr>
              <a:t>"..."</a:t>
            </a:r>
            <a:r>
              <a:rPr sz="700" i="0">
                <a:solidFill>
                  <a:srgbClr val="E6EDF3"/>
                </a:solidFill>
                <a:latin typeface="Inconsolata"/>
              </a:rPr>
              <a:t>)</a:t>
            </a:r>
          </a:p>
        </p:txBody>
      </p:sp>
      <p:sp>
        <p:nvSpPr>
          <p:cNvPr id="36" name="Box 21"/>
          <p:cNvSpPr/>
          <p:nvPr/>
        </p:nvSpPr>
        <p:spPr>
          <a:xfrm>
            <a:off x="704088" y="2511171"/>
            <a:ext cx="3694176" cy="678942"/>
          </a:xfrm>
          <a:prstGeom prst="roundRect">
            <a:avLst>
              <a:gd name="adj" fmla="val 673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27317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2168271"/>
            <a:ext cx="3694176" cy="450342"/>
          </a:xfrm>
          <a:prstGeom prst="roundRect">
            <a:avLst>
              <a:gd name="adj" fmla="val 10152"/>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22745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40" name="Box 25"/>
          <p:cNvSpPr/>
          <p:nvPr/>
        </p:nvSpPr>
        <p:spPr>
          <a:xfrm>
            <a:off x="4709159" y="31969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1" name="Box 26"/>
          <p:cNvSpPr/>
          <p:nvPr/>
        </p:nvSpPr>
        <p:spPr>
          <a:xfrm>
            <a:off x="8284463" y="31318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Secrets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07-secrets/after.py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sesi-10-api-security/07-secrets</a:t>
            </a:r>
          </a:p>
          <a:p>
            <a:pPr>
              <a:lnSpc>
                <a:spcPct val="111111"/>
              </a:lnSpc>
              <a:spcAft>
                <a:spcPts val="0"/>
              </a:spcAft>
            </a:pPr>
            <a:r>
              <a:rPr sz="900" i="0">
                <a:solidFill>
                  <a:srgbClr val="82B1FF"/>
                </a:solidFill>
                <a:latin typeface="Inconsolata"/>
              </a:rPr>
              <a:t>$ python after.py</a:t>
            </a:r>
          </a:p>
        </p:txBody>
      </p:sp>
      <p:pic>
        <p:nvPicPr>
          <p:cNvPr id="29" name="Image 12" descr="s10-07-secrets-after.png"/>
          <p:cNvPicPr>
            <a:picLocks noChangeAspect="1"/>
          </p:cNvPicPr>
          <p:nvPr/>
        </p:nvPicPr>
        <p:blipFill>
          <a:blip r:embed="rId2"/>
          <a:stretch>
            <a:fillRect/>
          </a:stretch>
        </p:blipFill>
        <p:spPr>
          <a:xfrm>
            <a:off x="621792" y="2322576"/>
            <a:ext cx="4297680" cy="1136623"/>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Field tanpa default = wajib, </a:t>
            </a:r>
            <a:r>
              <a:rPr sz="950" b="0" i="0">
                <a:solidFill>
                  <a:srgbClr val="B5482A"/>
                </a:solidFill>
                <a:latin typeface="Inconsolata"/>
              </a:rPr>
              <a:t>SecretStr</a:t>
            </a:r>
            <a:r>
              <a:rPr sz="950" b="0" i="0">
                <a:solidFill>
                  <a:srgbClr val="434343"/>
                </a:solidFill>
                <a:latin typeface="Inter"/>
              </a:rPr>
              <a:t>, minimal 32 karakter (baris 17-22)</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Tanpa environment: gagal dengan pesan jelas (baris 28-31)</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Nilai asli hanya diambil saat dipakai (baris 37)</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B5482A"/>
                </a:solidFill>
                <a:latin typeface="Inconsolata"/>
              </a:rPr>
              <a:t>Field required</a:t>
            </a:r>
            <a:r>
              <a:rPr sz="950" b="0" i="0">
                <a:solidFill>
                  <a:srgbClr val="434343"/>
                </a:solidFill>
                <a:latin typeface="Inter"/>
              </a:rPr>
              <a:t> untuk dua secret, lalu config tercetak sebagai </a:t>
            </a:r>
            <a:r>
              <a:rPr sz="950" b="0" i="0">
                <a:solidFill>
                  <a:srgbClr val="B5482A"/>
                </a:solidFill>
                <a:latin typeface="Inconsolata"/>
              </a:rPr>
              <a:t>**********</a:t>
            </a:r>
            <a:r>
              <a:rPr sz="950" b="0" i="0">
                <a:solidFill>
                  <a:srgbClr val="434343"/>
                </a:solidFill>
                <a:latin typeface="Inter"/>
              </a:rPr>
              <a:t>.</a:t>
            </a: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Input Validation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Input Validation?</a:t>
            </a:r>
          </a:p>
        </p:txBody>
      </p:sp>
      <p:sp>
        <p:nvSpPr>
          <p:cNvPr id="22" name="Text 3"/>
          <p:cNvSpPr txBox="1"/>
          <p:nvPr/>
        </p:nvSpPr>
        <p:spPr>
          <a:xfrm>
            <a:off x="621792" y="1481328"/>
            <a:ext cx="3520440" cy="32918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Input validation adalah</a:t>
            </a:r>
          </a:p>
          <a:p>
            <a:pPr algn="l">
              <a:lnSpc>
                <a:spcPct val="115000"/>
              </a:lnSpc>
              <a:spcAft>
                <a:spcPts val="400"/>
              </a:spcAft>
            </a:pPr>
            <a:r>
              <a:rPr sz="900" b="0" i="0">
                <a:solidFill>
                  <a:srgbClr val="434343"/>
                </a:solidFill>
                <a:latin typeface="Inter"/>
              </a:rPr>
              <a:t>Pengecekan data dari client </a:t>
            </a:r>
            <a:r>
              <a:rPr sz="900" b="1" i="0">
                <a:solidFill>
                  <a:srgbClr val="434343"/>
                </a:solidFill>
                <a:latin typeface="Inter"/>
              </a:rPr>
              <a:t>sebelum</a:t>
            </a:r>
            <a:r>
              <a:rPr sz="900" b="0" i="0">
                <a:solidFill>
                  <a:srgbClr val="434343"/>
                </a:solidFill>
                <a:latin typeface="Inter"/>
              </a:rPr>
              <a:t> dipakai: tipe, batas nilai, panjang, dan field yang boleh ada. Data yang tidak sesuai ditolak dengan 422, sehingga kode endpoint hanya menerima data yang masuk akal.</a:t>
            </a:r>
          </a:p>
          <a:p>
            <a:pPr algn="l">
              <a:lnSpc>
                <a:spcPct val="115000"/>
              </a:lnSpc>
              <a:spcAft>
                <a:spcPts val="400"/>
              </a:spcAft>
            </a:pPr>
            <a:r>
              <a:rPr sz="100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Menolak nilai yang merusak business logic, misalnya qty negatif</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Mencegah client mengubah field yang bukan haknya (mass assignment)</a:t>
            </a:r>
          </a:p>
        </p:txBody>
      </p:sp>
      <p:sp>
        <p:nvSpPr>
          <p:cNvPr id="23" name="CodeTab 5"/>
          <p:cNvSpPr/>
          <p:nvPr/>
        </p:nvSpPr>
        <p:spPr>
          <a:xfrm>
            <a:off x="4297680" y="1481328"/>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Dot 6"/>
          <p:cNvSpPr/>
          <p:nvPr/>
        </p:nvSpPr>
        <p:spPr>
          <a:xfrm>
            <a:off x="440740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454456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Dot 8"/>
          <p:cNvSpPr/>
          <p:nvPr/>
        </p:nvSpPr>
        <p:spPr>
          <a:xfrm>
            <a:off x="468172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 9"/>
          <p:cNvSpPr txBox="1"/>
          <p:nvPr/>
        </p:nvSpPr>
        <p:spPr>
          <a:xfrm>
            <a:off x="4846320" y="1490472"/>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dict bebas: 08-input-validation/before.py</a:t>
            </a:r>
          </a:p>
        </p:txBody>
      </p:sp>
      <p:sp>
        <p:nvSpPr>
          <p:cNvPr id="28" name="CodeBg 11"/>
          <p:cNvSpPr/>
          <p:nvPr/>
        </p:nvSpPr>
        <p:spPr>
          <a:xfrm>
            <a:off x="4297680" y="1719072"/>
            <a:ext cx="4187951" cy="640080"/>
          </a:xfrm>
          <a:prstGeom prst="roundRect">
            <a:avLst>
              <a:gd name="adj" fmla="val 2857"/>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Code 12"/>
          <p:cNvSpPr txBox="1"/>
          <p:nvPr/>
        </p:nvSpPr>
        <p:spPr>
          <a:xfrm>
            <a:off x="4297680" y="1719072"/>
            <a:ext cx="4187951" cy="640080"/>
          </a:xfrm>
          <a:prstGeom prst="rect">
            <a:avLst/>
          </a:prstGeom>
          <a:noFill/>
        </p:spPr>
        <p:txBody>
          <a:bodyPr wrap="none" lIns="146304" tIns="91440" rIns="146304" bIns="54864">
            <a:spAutoFit/>
          </a:bodyPr>
          <a:lstStyle/>
          <a:p>
            <a:pPr>
              <a:lnSpc>
                <a:spcPct val="111111"/>
              </a:lnSpc>
              <a:spcAft>
                <a:spcPts val="0"/>
              </a:spcAft>
            </a:pPr>
            <a:r>
              <a:rPr sz="750" i="0">
                <a:solidFill>
                  <a:srgbClr val="FF8E6E"/>
                </a:solidFill>
                <a:latin typeface="Inconsolata"/>
              </a:rPr>
              <a:t>def</a:t>
            </a:r>
            <a:r>
              <a:rPr sz="750" i="0">
                <a:solidFill>
                  <a:srgbClr val="E6EDF3"/>
                </a:solidFill>
                <a:latin typeface="Inconsolata"/>
              </a:rPr>
              <a:t> </a:t>
            </a:r>
            <a:r>
              <a:rPr sz="750" i="0">
                <a:solidFill>
                  <a:srgbClr val="82B1FF"/>
                </a:solidFill>
                <a:latin typeface="Inconsolata"/>
              </a:rPr>
              <a:t>create_order</a:t>
            </a:r>
            <a:r>
              <a:rPr sz="750" i="0">
                <a:solidFill>
                  <a:srgbClr val="E6EDF3"/>
                </a:solidFill>
                <a:latin typeface="Inconsolata"/>
              </a:rPr>
              <a:t>(body: </a:t>
            </a:r>
            <a:r>
              <a:rPr sz="750" i="0">
                <a:solidFill>
                  <a:srgbClr val="C3A6FF"/>
                </a:solidFill>
                <a:latin typeface="Inconsolata"/>
              </a:rPr>
              <a:t>dict</a:t>
            </a:r>
            <a:r>
              <a:rPr sz="750" i="0">
                <a:solidFill>
                  <a:srgbClr val="E6EDF3"/>
                </a:solidFill>
                <a:latin typeface="Inconsolata"/>
              </a:rPr>
              <a:t> = </a:t>
            </a:r>
            <a:r>
              <a:rPr sz="750" i="0">
                <a:solidFill>
                  <a:srgbClr val="7FDBCA"/>
                </a:solidFill>
                <a:latin typeface="Inconsolata"/>
              </a:rPr>
              <a:t>Body</a:t>
            </a:r>
            <a:r>
              <a:rPr sz="750" i="0">
                <a:solidFill>
                  <a:srgbClr val="E6EDF3"/>
                </a:solidFill>
                <a:latin typeface="Inconsolata"/>
              </a:rPr>
              <a:t>()):</a:t>
            </a:r>
          </a:p>
          <a:p>
            <a:pPr>
              <a:lnSpc>
                <a:spcPct val="111111"/>
              </a:lnSpc>
              <a:spcAft>
                <a:spcPts val="0"/>
              </a:spcAft>
            </a:pPr>
            <a:r>
              <a:rPr sz="750" i="0">
                <a:solidFill>
                  <a:srgbClr val="E6EDF3"/>
                </a:solidFill>
                <a:latin typeface="Inconsolata"/>
              </a:rPr>
              <a:t>    item = {**</a:t>
            </a:r>
            <a:r>
              <a:rPr sz="750" i="0">
                <a:solidFill>
                  <a:srgbClr val="7FDBCA"/>
                </a:solidFill>
                <a:latin typeface="Inconsolata"/>
              </a:rPr>
              <a:t>PRODUCTS</a:t>
            </a:r>
            <a:r>
              <a:rPr sz="750" i="0">
                <a:solidFill>
                  <a:srgbClr val="E6EDF3"/>
                </a:solidFill>
                <a:latin typeface="Inconsolata"/>
              </a:rPr>
              <a:t>[body[</a:t>
            </a:r>
            <a:r>
              <a:rPr sz="750" i="0">
                <a:solidFill>
                  <a:srgbClr val="A5D6A7"/>
                </a:solidFill>
                <a:latin typeface="Inconsolata"/>
              </a:rPr>
              <a:t>"product_id"</a:t>
            </a:r>
            <a:r>
              <a:rPr sz="750" i="0">
                <a:solidFill>
                  <a:srgbClr val="E6EDF3"/>
                </a:solidFill>
                <a:latin typeface="Inconsolata"/>
              </a:rPr>
              <a:t>]], **body}  </a:t>
            </a:r>
            <a:r>
              <a:rPr sz="750" i="1">
                <a:solidFill>
                  <a:srgbClr val="8B98A8"/>
                </a:solidFill>
                <a:latin typeface="Inconsolata"/>
              </a:rPr>
              <a:t># body menimpa data</a:t>
            </a:r>
          </a:p>
        </p:txBody>
      </p:sp>
      <p:sp>
        <p:nvSpPr>
          <p:cNvPr id="30" name="Box 13"/>
          <p:cNvSpPr/>
          <p:nvPr/>
        </p:nvSpPr>
        <p:spPr>
          <a:xfrm>
            <a:off x="4379976" y="1954022"/>
            <a:ext cx="4023359" cy="119380"/>
          </a:xfrm>
          <a:prstGeom prst="roundRect">
            <a:avLst>
              <a:gd name="adj" fmla="val 38297"/>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Tab 15"/>
          <p:cNvSpPr/>
          <p:nvPr/>
        </p:nvSpPr>
        <p:spPr>
          <a:xfrm>
            <a:off x="4297680" y="2450592"/>
            <a:ext cx="4187951"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4407408" y="2528316"/>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4544568" y="2528316"/>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4681728" y="2528316"/>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4846320" y="2459736"/>
            <a:ext cx="354787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schema ketat: 08-input-validation/after.py</a:t>
            </a:r>
          </a:p>
        </p:txBody>
      </p:sp>
      <p:sp>
        <p:nvSpPr>
          <p:cNvPr id="36" name="CodeBg 21"/>
          <p:cNvSpPr/>
          <p:nvPr/>
        </p:nvSpPr>
        <p:spPr>
          <a:xfrm>
            <a:off x="4297680" y="2688336"/>
            <a:ext cx="4187951" cy="2011679"/>
          </a:xfrm>
          <a:prstGeom prst="roundRect">
            <a:avLst>
              <a:gd name="adj" fmla="val 90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4297680" y="2688336"/>
            <a:ext cx="4187951" cy="2011679"/>
          </a:xfrm>
          <a:prstGeom prst="rect">
            <a:avLst/>
          </a:prstGeom>
          <a:noFill/>
        </p:spPr>
        <p:txBody>
          <a:bodyPr wrap="none" lIns="146304" tIns="91440" rIns="146304" bIns="54864">
            <a:spAutoFit/>
          </a:bodyPr>
          <a:lstStyle/>
          <a:p>
            <a:pPr>
              <a:lnSpc>
                <a:spcPct val="111111"/>
              </a:lnSpc>
              <a:spcAft>
                <a:spcPts val="0"/>
              </a:spcAft>
            </a:pPr>
            <a:r>
              <a:rPr sz="750" i="0">
                <a:solidFill>
                  <a:srgbClr val="FF8E6E"/>
                </a:solidFill>
                <a:latin typeface="Inconsolata"/>
              </a:rPr>
              <a:t>class</a:t>
            </a:r>
            <a:r>
              <a:rPr sz="750" i="0">
                <a:solidFill>
                  <a:srgbClr val="E6EDF3"/>
                </a:solidFill>
                <a:latin typeface="Inconsolata"/>
              </a:rPr>
              <a:t> </a:t>
            </a:r>
            <a:r>
              <a:rPr sz="750" i="0">
                <a:solidFill>
                  <a:srgbClr val="7FDBCA"/>
                </a:solidFill>
                <a:latin typeface="Inconsolata"/>
              </a:rPr>
              <a:t>OrderIn</a:t>
            </a:r>
            <a:r>
              <a:rPr sz="750" i="0">
                <a:solidFill>
                  <a:srgbClr val="E6EDF3"/>
                </a:solidFill>
                <a:latin typeface="Inconsolata"/>
              </a:rPr>
              <a:t>(</a:t>
            </a:r>
            <a:r>
              <a:rPr sz="750" i="0">
                <a:solidFill>
                  <a:srgbClr val="7FDBCA"/>
                </a:solidFill>
                <a:latin typeface="Inconsolata"/>
              </a:rPr>
              <a:t>BaseModel</a:t>
            </a:r>
            <a:r>
              <a:rPr sz="750" i="0">
                <a:solidFill>
                  <a:srgbClr val="E6EDF3"/>
                </a:solidFill>
                <a:latin typeface="Inconsolata"/>
              </a:rPr>
              <a:t>):</a:t>
            </a:r>
          </a:p>
          <a:p>
            <a:pPr>
              <a:lnSpc>
                <a:spcPct val="111111"/>
              </a:lnSpc>
              <a:spcAft>
                <a:spcPts val="0"/>
              </a:spcAft>
            </a:pPr>
            <a:r>
              <a:rPr sz="750" i="0">
                <a:solidFill>
                  <a:srgbClr val="E6EDF3"/>
                </a:solidFill>
                <a:latin typeface="Inconsolata"/>
              </a:rPr>
              <a:t>    model_config = </a:t>
            </a:r>
            <a:r>
              <a:rPr sz="750" i="0">
                <a:solidFill>
                  <a:srgbClr val="7FDBCA"/>
                </a:solidFill>
                <a:latin typeface="Inconsolata"/>
              </a:rPr>
              <a:t>ConfigDict</a:t>
            </a:r>
            <a:r>
              <a:rPr sz="750" i="0">
                <a:solidFill>
                  <a:srgbClr val="E6EDF3"/>
                </a:solidFill>
                <a:latin typeface="Inconsolata"/>
              </a:rPr>
              <a:t>(extra=</a:t>
            </a:r>
            <a:r>
              <a:rPr sz="750" i="0">
                <a:solidFill>
                  <a:srgbClr val="A5D6A7"/>
                </a:solidFill>
                <a:latin typeface="Inconsolata"/>
              </a:rPr>
              <a:t>"forbid"</a:t>
            </a:r>
            <a:r>
              <a:rPr sz="750" i="0">
                <a:solidFill>
                  <a:srgbClr val="E6EDF3"/>
                </a:solidFill>
                <a:latin typeface="Inconsolata"/>
              </a:rPr>
              <a:t>)</a:t>
            </a:r>
          </a:p>
          <a:p>
            <a:pPr>
              <a:lnSpc>
                <a:spcPct val="111111"/>
              </a:lnSpc>
              <a:spcAft>
                <a:spcPts val="0"/>
              </a:spcAft>
            </a:pPr>
            <a:r>
              <a:rPr sz="750" i="0">
                <a:solidFill>
                  <a:srgbClr val="E6EDF3"/>
                </a:solidFill>
                <a:latin typeface="Inconsolata"/>
              </a:rPr>
              <a:t> </a:t>
            </a:r>
          </a:p>
          <a:p>
            <a:pPr>
              <a:lnSpc>
                <a:spcPct val="111111"/>
              </a:lnSpc>
              <a:spcAft>
                <a:spcPts val="0"/>
              </a:spcAft>
            </a:pPr>
            <a:r>
              <a:rPr sz="750" i="0">
                <a:solidFill>
                  <a:srgbClr val="E6EDF3"/>
                </a:solidFill>
                <a:latin typeface="Inconsolata"/>
              </a:rPr>
              <a:t>    product_id: </a:t>
            </a:r>
            <a:r>
              <a:rPr sz="750" i="0">
                <a:solidFill>
                  <a:srgbClr val="C3A6FF"/>
                </a:solidFill>
                <a:latin typeface="Inconsolata"/>
              </a:rPr>
              <a:t>int</a:t>
            </a:r>
            <a:r>
              <a:rPr sz="750" i="0">
                <a:solidFill>
                  <a:srgbClr val="E6EDF3"/>
                </a:solidFill>
                <a:latin typeface="Inconsolata"/>
              </a:rPr>
              <a:t> = </a:t>
            </a:r>
            <a:r>
              <a:rPr sz="750" i="0">
                <a:solidFill>
                  <a:srgbClr val="7FDBCA"/>
                </a:solidFill>
                <a:latin typeface="Inconsolata"/>
              </a:rPr>
              <a:t>Field</a:t>
            </a:r>
            <a:r>
              <a:rPr sz="750" i="0">
                <a:solidFill>
                  <a:srgbClr val="E6EDF3"/>
                </a:solidFill>
                <a:latin typeface="Inconsolata"/>
              </a:rPr>
              <a:t>(gt=</a:t>
            </a:r>
            <a:r>
              <a:rPr sz="750" i="0">
                <a:solidFill>
                  <a:srgbClr val="F9C97A"/>
                </a:solidFill>
                <a:latin typeface="Inconsolata"/>
              </a:rPr>
              <a:t>0</a:t>
            </a:r>
            <a:r>
              <a:rPr sz="750" i="0">
                <a:solidFill>
                  <a:srgbClr val="E6EDF3"/>
                </a:solidFill>
                <a:latin typeface="Inconsolata"/>
              </a:rPr>
              <a:t>)</a:t>
            </a:r>
          </a:p>
          <a:p>
            <a:pPr>
              <a:lnSpc>
                <a:spcPct val="111111"/>
              </a:lnSpc>
              <a:spcAft>
                <a:spcPts val="0"/>
              </a:spcAft>
            </a:pPr>
            <a:r>
              <a:rPr sz="750" i="0">
                <a:solidFill>
                  <a:srgbClr val="E6EDF3"/>
                </a:solidFill>
                <a:latin typeface="Inconsolata"/>
              </a:rPr>
              <a:t>    qty: </a:t>
            </a:r>
            <a:r>
              <a:rPr sz="750" i="0">
                <a:solidFill>
                  <a:srgbClr val="C3A6FF"/>
                </a:solidFill>
                <a:latin typeface="Inconsolata"/>
              </a:rPr>
              <a:t>int</a:t>
            </a:r>
            <a:r>
              <a:rPr sz="750" i="0">
                <a:solidFill>
                  <a:srgbClr val="E6EDF3"/>
                </a:solidFill>
                <a:latin typeface="Inconsolata"/>
              </a:rPr>
              <a:t> = </a:t>
            </a:r>
            <a:r>
              <a:rPr sz="750" i="0">
                <a:solidFill>
                  <a:srgbClr val="7FDBCA"/>
                </a:solidFill>
                <a:latin typeface="Inconsolata"/>
              </a:rPr>
              <a:t>Field</a:t>
            </a:r>
            <a:r>
              <a:rPr sz="750" i="0">
                <a:solidFill>
                  <a:srgbClr val="E6EDF3"/>
                </a:solidFill>
                <a:latin typeface="Inconsolata"/>
              </a:rPr>
              <a:t>(gt=</a:t>
            </a:r>
            <a:r>
              <a:rPr sz="750" i="0">
                <a:solidFill>
                  <a:srgbClr val="F9C97A"/>
                </a:solidFill>
                <a:latin typeface="Inconsolata"/>
              </a:rPr>
              <a:t>0</a:t>
            </a:r>
            <a:r>
              <a:rPr sz="750" i="0">
                <a:solidFill>
                  <a:srgbClr val="E6EDF3"/>
                </a:solidFill>
                <a:latin typeface="Inconsolata"/>
              </a:rPr>
              <a:t>, le=</a:t>
            </a:r>
            <a:r>
              <a:rPr sz="750" i="0">
                <a:solidFill>
                  <a:srgbClr val="F9C97A"/>
                </a:solidFill>
                <a:latin typeface="Inconsolata"/>
              </a:rPr>
              <a:t>100</a:t>
            </a:r>
            <a:r>
              <a:rPr sz="750" i="0">
                <a:solidFill>
                  <a:srgbClr val="E6EDF3"/>
                </a:solidFill>
                <a:latin typeface="Inconsolata"/>
              </a:rPr>
              <a:t>)</a:t>
            </a:r>
          </a:p>
          <a:p>
            <a:pPr>
              <a:lnSpc>
                <a:spcPct val="111111"/>
              </a:lnSpc>
              <a:spcAft>
                <a:spcPts val="0"/>
              </a:spcAft>
            </a:pPr>
            <a:r>
              <a:rPr sz="750" i="0">
                <a:solidFill>
                  <a:srgbClr val="E6EDF3"/>
                </a:solidFill>
                <a:latin typeface="Inconsolata"/>
              </a:rPr>
              <a:t>    customer_type: </a:t>
            </a:r>
            <a:r>
              <a:rPr sz="750" i="0">
                <a:solidFill>
                  <a:srgbClr val="7FDBCA"/>
                </a:solidFill>
                <a:latin typeface="Inconsolata"/>
              </a:rPr>
              <a:t>Literal</a:t>
            </a:r>
            <a:r>
              <a:rPr sz="750" i="0">
                <a:solidFill>
                  <a:srgbClr val="E6EDF3"/>
                </a:solidFill>
                <a:latin typeface="Inconsolata"/>
              </a:rPr>
              <a:t>[</a:t>
            </a:r>
            <a:r>
              <a:rPr sz="750" i="0">
                <a:solidFill>
                  <a:srgbClr val="A5D6A7"/>
                </a:solidFill>
                <a:latin typeface="Inconsolata"/>
              </a:rPr>
              <a:t>"regular"</a:t>
            </a:r>
            <a:r>
              <a:rPr sz="750" i="0">
                <a:solidFill>
                  <a:srgbClr val="E6EDF3"/>
                </a:solidFill>
                <a:latin typeface="Inconsolata"/>
              </a:rPr>
              <a:t>, </a:t>
            </a:r>
            <a:r>
              <a:rPr sz="750" i="0">
                <a:solidFill>
                  <a:srgbClr val="A5D6A7"/>
                </a:solidFill>
                <a:latin typeface="Inconsolata"/>
              </a:rPr>
              <a:t>"member"</a:t>
            </a:r>
            <a:r>
              <a:rPr sz="750" i="0">
                <a:solidFill>
                  <a:srgbClr val="E6EDF3"/>
                </a:solidFill>
                <a:latin typeface="Inconsolata"/>
              </a:rPr>
              <a:t>, </a:t>
            </a:r>
            <a:r>
              <a:rPr sz="750" i="0">
                <a:solidFill>
                  <a:srgbClr val="A5D6A7"/>
                </a:solidFill>
                <a:latin typeface="Inconsolata"/>
              </a:rPr>
              <a:t>"vip"</a:t>
            </a:r>
            <a:r>
              <a:rPr sz="750" i="0">
                <a:solidFill>
                  <a:srgbClr val="E6EDF3"/>
                </a:solidFill>
                <a:latin typeface="Inconsolata"/>
              </a:rPr>
              <a:t>]</a:t>
            </a:r>
          </a:p>
        </p:txBody>
      </p:sp>
      <p:sp>
        <p:nvSpPr>
          <p:cNvPr id="38" name="Box 23"/>
          <p:cNvSpPr/>
          <p:nvPr/>
        </p:nvSpPr>
        <p:spPr>
          <a:xfrm>
            <a:off x="4379976" y="2923286"/>
            <a:ext cx="4023359" cy="119380"/>
          </a:xfrm>
          <a:prstGeom prst="roundRect">
            <a:avLst>
              <a:gd name="adj" fmla="val 38297"/>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4379976" y="3304286"/>
            <a:ext cx="4023359" cy="246380"/>
          </a:xfrm>
          <a:prstGeom prst="roundRect">
            <a:avLst>
              <a:gd name="adj" fmla="val 18556"/>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Input Validation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Kapan Schema dibuat Ketat?</a:t>
            </a:r>
          </a:p>
        </p:txBody>
      </p:sp>
      <p:sp>
        <p:nvSpPr>
          <p:cNvPr id="22" name="Text 3"/>
          <p:cNvSpPr txBox="1"/>
          <p:nvPr/>
        </p:nvSpPr>
        <p:spPr>
          <a:xfrm>
            <a:off x="621792" y="1481328"/>
            <a:ext cx="402336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Dengan dict bebas</a:t>
            </a:r>
          </a:p>
          <a:p>
            <a:pPr algn="l">
              <a:lnSpc>
                <a:spcPct val="115000"/>
              </a:lnSpc>
              <a:spcAft>
                <a:spcPts val="400"/>
              </a:spcAft>
            </a:pPr>
            <a:r>
              <a:rPr sz="950" b="0" i="0">
                <a:solidFill>
                  <a:srgbClr val="434343"/>
                </a:solidFill>
                <a:latin typeface="Inter"/>
              </a:rPr>
              <a:t>qty -5 diterima, total order jadi minus. Client mengirim </a:t>
            </a:r>
            <a:r>
              <a:rPr sz="950" b="0" i="0">
                <a:solidFill>
                  <a:srgbClr val="B5482A"/>
                </a:solidFill>
                <a:latin typeface="Inconsolata"/>
              </a:rPr>
              <a:t>"price": 1</a:t>
            </a:r>
            <a:r>
              <a:rPr sz="950" b="0" i="0">
                <a:solidFill>
                  <a:srgbClr val="434343"/>
                </a:solidFill>
                <a:latin typeface="Inter"/>
              </a:rPr>
              <a:t>, dan harga produk tertimpa.</a:t>
            </a:r>
          </a:p>
          <a:p>
            <a:pPr algn="l">
              <a:lnSpc>
                <a:spcPct val="115000"/>
              </a:lnSpc>
              <a:spcAft>
                <a:spcPts val="400"/>
              </a:spcAft>
            </a:pPr>
            <a:r>
              <a:rPr sz="1050" b="1" i="0">
                <a:solidFill>
                  <a:srgbClr val="1C4587"/>
                </a:solidFill>
                <a:latin typeface="Inter"/>
              </a:rPr>
              <a:t>Jika field request makin banyak</a:t>
            </a:r>
          </a:p>
          <a:p>
            <a:pPr algn="l">
              <a:lnSpc>
                <a:spcPct val="115000"/>
              </a:lnSpc>
              <a:spcAft>
                <a:spcPts val="400"/>
              </a:spcAft>
            </a:pPr>
            <a:r>
              <a:rPr sz="950" b="0" i="0">
                <a:solidFill>
                  <a:srgbClr val="434343"/>
                </a:solidFill>
                <a:latin typeface="Inter"/>
              </a:rPr>
              <a:t>Setiap field baru adalah tempat baru untuk nilai yang tidak terduga.</a:t>
            </a:r>
          </a:p>
          <a:p>
            <a:pPr algn="l">
              <a:lnSpc>
                <a:spcPct val="115000"/>
              </a:lnSpc>
              <a:spcAft>
                <a:spcPts val="400"/>
              </a:spcAft>
            </a:pPr>
            <a:r>
              <a:rPr sz="950" b="0" i="0">
                <a:solidFill>
                  <a:srgbClr val="434343"/>
                </a:solidFill>
                <a:latin typeface="Inter"/>
              </a:rPr>
              <a:t>Hal ini menimbulkan potensi harga, diskon, atau pemilik data diubah dari body request.</a:t>
            </a:r>
          </a:p>
          <a:p>
            <a:pPr algn="l">
              <a:lnSpc>
                <a:spcPct val="115000"/>
              </a:lnSpc>
              <a:spcAft>
                <a:spcPts val="400"/>
              </a:spcAft>
            </a:pPr>
            <a:r>
              <a:rPr sz="1050" b="1" i="0">
                <a:solidFill>
                  <a:srgbClr val="1C4587"/>
                </a:solidFill>
                <a:latin typeface="Inter"/>
              </a:rPr>
              <a:t>Yang dipakai dari Pydantic</a:t>
            </a:r>
          </a:p>
          <a:p>
            <a:pPr algn="l">
              <a:lnSpc>
                <a:spcPct val="115000"/>
              </a:lnSpc>
              <a:spcAft>
                <a:spcPts val="400"/>
              </a:spcAft>
            </a:pPr>
            <a:r>
              <a:rPr sz="950" b="0" i="0">
                <a:solidFill>
                  <a:srgbClr val="434343"/>
                </a:solidFill>
                <a:latin typeface="Inter"/>
              </a:rPr>
              <a:t>Aturan ditulis di schema, FastAPI menjalankannya sebelum endpoint dipanggil.</a:t>
            </a:r>
          </a:p>
        </p:txBody>
      </p:sp>
      <p:graphicFrame>
        <p:nvGraphicFramePr>
          <p:cNvPr id="23" name="Table 4"/>
          <p:cNvGraphicFramePr>
            <a:graphicFrameLocks noGrp="1"/>
          </p:cNvGraphicFramePr>
          <p:nvPr/>
        </p:nvGraphicFramePr>
        <p:xfrm>
          <a:off x="4800600" y="1481328"/>
          <a:ext cx="3685032" cy="2057400"/>
        </p:xfrm>
        <a:graphic>
          <a:graphicData uri="http://schemas.openxmlformats.org/drawingml/2006/table">
            <a:tbl>
              <a:tblPr firstRow="1" bandRow="1"/>
              <a:tblGrid>
                <a:gridCol w="1764792">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tblGrid>
              <a:tr h="411480">
                <a:tc>
                  <a:txBody>
                    <a:bodyPr/>
                    <a:lstStyle/>
                    <a:p>
                      <a:pPr algn="l">
                        <a:lnSpc>
                          <a:spcPct val="100000"/>
                        </a:lnSpc>
                        <a:spcAft>
                          <a:spcPts val="0"/>
                        </a:spcAft>
                      </a:pPr>
                      <a:r>
                        <a:rPr sz="850" b="1" i="0">
                          <a:solidFill>
                            <a:srgbClr val="FFFFFF"/>
                          </a:solidFill>
                          <a:latin typeface="Inter"/>
                        </a:rPr>
                        <a:t>Ditulis</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Artinya</a:t>
                      </a:r>
                    </a:p>
                  </a:txBody>
                  <a:tcPr marL="73152" marR="73152" marT="36576" marB="36576" anchor="ctr">
                    <a:solidFill>
                      <a:srgbClr val="1C4587"/>
                    </a:solidFill>
                  </a:tcPr>
                </a:tc>
                <a:extLst>
                  <a:ext uri="{0D108BD9-81ED-4DB2-BD59-A6C34878D82A}">
                    <a16:rowId xmlns:a16="http://schemas.microsoft.com/office/drawing/2014/main" val="10000"/>
                  </a:ext>
                </a:extLst>
              </a:tr>
              <a:tr h="411480">
                <a:tc>
                  <a:txBody>
                    <a:bodyPr/>
                    <a:lstStyle/>
                    <a:p>
                      <a:pPr algn="l">
                        <a:lnSpc>
                          <a:spcPct val="100000"/>
                        </a:lnSpc>
                        <a:spcAft>
                          <a:spcPts val="0"/>
                        </a:spcAft>
                      </a:pPr>
                      <a:r>
                        <a:rPr sz="850" b="1" i="0">
                          <a:solidFill>
                            <a:srgbClr val="1C4587"/>
                          </a:solidFill>
                          <a:latin typeface="Inter"/>
                        </a:rPr>
                        <a:t>Field(gt=0, le=100)</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Batas nilai</a:t>
                      </a:r>
                    </a:p>
                  </a:txBody>
                  <a:tcPr marL="73152" marR="73152" marT="36576" marB="36576" anchor="ctr">
                    <a:solidFill>
                      <a:srgbClr val="FFFFFF"/>
                    </a:solidFill>
                  </a:tcPr>
                </a:tc>
                <a:extLst>
                  <a:ext uri="{0D108BD9-81ED-4DB2-BD59-A6C34878D82A}">
                    <a16:rowId xmlns:a16="http://schemas.microsoft.com/office/drawing/2014/main" val="10001"/>
                  </a:ext>
                </a:extLst>
              </a:tr>
              <a:tr h="411480">
                <a:tc>
                  <a:txBody>
                    <a:bodyPr/>
                    <a:lstStyle/>
                    <a:p>
                      <a:pPr algn="l">
                        <a:lnSpc>
                          <a:spcPct val="100000"/>
                        </a:lnSpc>
                        <a:spcAft>
                          <a:spcPts val="0"/>
                        </a:spcAft>
                      </a:pPr>
                      <a:r>
                        <a:rPr sz="850" b="1" i="0">
                          <a:solidFill>
                            <a:srgbClr val="1C4587"/>
                          </a:solidFill>
                          <a:latin typeface="Inter"/>
                        </a:rPr>
                        <a:t>Field(max_length=100)</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Batas panjang teks</a:t>
                      </a:r>
                    </a:p>
                  </a:txBody>
                  <a:tcPr marL="73152" marR="73152" marT="36576" marB="36576" anchor="ctr">
                    <a:solidFill>
                      <a:srgbClr val="F3F4F6"/>
                    </a:solidFill>
                  </a:tcPr>
                </a:tc>
                <a:extLst>
                  <a:ext uri="{0D108BD9-81ED-4DB2-BD59-A6C34878D82A}">
                    <a16:rowId xmlns:a16="http://schemas.microsoft.com/office/drawing/2014/main" val="10002"/>
                  </a:ext>
                </a:extLst>
              </a:tr>
              <a:tr h="411480">
                <a:tc>
                  <a:txBody>
                    <a:bodyPr/>
                    <a:lstStyle/>
                    <a:p>
                      <a:pPr algn="l">
                        <a:lnSpc>
                          <a:spcPct val="100000"/>
                        </a:lnSpc>
                        <a:spcAft>
                          <a:spcPts val="0"/>
                        </a:spcAft>
                      </a:pPr>
                      <a:r>
                        <a:rPr sz="850" b="1" i="0">
                          <a:solidFill>
                            <a:srgbClr val="1C4587"/>
                          </a:solidFill>
                          <a:latin typeface="Inter"/>
                        </a:rPr>
                        <a:t>Literal["a", "b"]</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Hanya nilai yang dikenal</a:t>
                      </a:r>
                    </a:p>
                  </a:txBody>
                  <a:tcPr marL="73152" marR="73152" marT="36576" marB="36576" anchor="ctr">
                    <a:solidFill>
                      <a:srgbClr val="FFFFFF"/>
                    </a:solidFill>
                  </a:tcPr>
                </a:tc>
                <a:extLst>
                  <a:ext uri="{0D108BD9-81ED-4DB2-BD59-A6C34878D82A}">
                    <a16:rowId xmlns:a16="http://schemas.microsoft.com/office/drawing/2014/main" val="10003"/>
                  </a:ext>
                </a:extLst>
              </a:tr>
              <a:tr h="411480">
                <a:tc>
                  <a:txBody>
                    <a:bodyPr/>
                    <a:lstStyle/>
                    <a:p>
                      <a:pPr algn="l">
                        <a:lnSpc>
                          <a:spcPct val="100000"/>
                        </a:lnSpc>
                        <a:spcAft>
                          <a:spcPts val="0"/>
                        </a:spcAft>
                      </a:pPr>
                      <a:r>
                        <a:rPr sz="850" b="1" i="0">
                          <a:solidFill>
                            <a:srgbClr val="1C4587"/>
                          </a:solidFill>
                          <a:latin typeface="Inter"/>
                        </a:rPr>
                        <a:t>extra="forbid"</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Field lain ditolak</a:t>
                      </a:r>
                    </a:p>
                  </a:txBody>
                  <a:tcPr marL="73152" marR="73152" marT="36576" marB="36576" anchor="ctr">
                    <a:solidFill>
                      <a:srgbClr val="F3F4F6"/>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Input Validation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Before: body diterima apa adanya</a:t>
            </a:r>
          </a:p>
        </p:txBody>
      </p:sp>
      <p:sp>
        <p:nvSpPr>
          <p:cNvPr id="22" name="CodeTab 4"/>
          <p:cNvSpPr/>
          <p:nvPr/>
        </p:nvSpPr>
        <p:spPr>
          <a:xfrm>
            <a:off x="621792" y="1481328"/>
            <a:ext cx="450799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867911"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08-input-validation/before.py</a:t>
            </a:r>
          </a:p>
        </p:txBody>
      </p:sp>
      <p:sp>
        <p:nvSpPr>
          <p:cNvPr id="27" name="CodeBg 10"/>
          <p:cNvSpPr/>
          <p:nvPr/>
        </p:nvSpPr>
        <p:spPr>
          <a:xfrm>
            <a:off x="621792" y="1719072"/>
            <a:ext cx="450799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507992" cy="2980944"/>
          </a:xfrm>
          <a:prstGeom prst="rect">
            <a:avLst/>
          </a:prstGeom>
          <a:noFill/>
        </p:spPr>
        <p:txBody>
          <a:bodyPr wrap="none" lIns="146304" tIns="91440" rIns="146304" bIns="54864">
            <a:spAutoFit/>
          </a:bodyPr>
          <a:lstStyle/>
          <a:p>
            <a:pPr>
              <a:lnSpc>
                <a:spcPct val="104167"/>
              </a:lnSpc>
              <a:spcAft>
                <a:spcPts val="0"/>
              </a:spcAft>
            </a:pPr>
            <a:r>
              <a:rPr sz="800" i="0">
                <a:solidFill>
                  <a:srgbClr val="5C6773"/>
                </a:solidFill>
                <a:latin typeface="Inconsolata"/>
              </a:rPr>
              <a:t>10  </a:t>
            </a:r>
            <a:r>
              <a:rPr sz="800" i="0">
                <a:solidFill>
                  <a:srgbClr val="FF8E6E"/>
                </a:solidFill>
                <a:latin typeface="Inconsolata"/>
              </a:rPr>
              <a:t>from</a:t>
            </a:r>
            <a:r>
              <a:rPr sz="800" i="0">
                <a:solidFill>
                  <a:srgbClr val="E6EDF3"/>
                </a:solidFill>
                <a:latin typeface="Inconsolata"/>
              </a:rPr>
              <a:t> fastapi </a:t>
            </a:r>
            <a:r>
              <a:rPr sz="800" i="0">
                <a:solidFill>
                  <a:srgbClr val="FF8E6E"/>
                </a:solidFill>
                <a:latin typeface="Inconsolata"/>
              </a:rPr>
              <a:t>import</a:t>
            </a:r>
            <a:r>
              <a:rPr sz="800" i="0">
                <a:solidFill>
                  <a:srgbClr val="E6EDF3"/>
                </a:solidFill>
                <a:latin typeface="Inconsolata"/>
              </a:rPr>
              <a:t> </a:t>
            </a:r>
            <a:r>
              <a:rPr sz="800" i="0">
                <a:solidFill>
                  <a:srgbClr val="7FDBCA"/>
                </a:solidFill>
                <a:latin typeface="Inconsolata"/>
              </a:rPr>
              <a:t>Body</a:t>
            </a:r>
            <a:r>
              <a:rPr sz="800" i="0">
                <a:solidFill>
                  <a:srgbClr val="E6EDF3"/>
                </a:solidFill>
                <a:latin typeface="Inconsolata"/>
              </a:rPr>
              <a:t>, </a:t>
            </a:r>
            <a:r>
              <a:rPr sz="800" i="0">
                <a:solidFill>
                  <a:srgbClr val="7FDBCA"/>
                </a:solidFill>
                <a:latin typeface="Inconsolata"/>
              </a:rPr>
              <a:t>FastAPI</a:t>
            </a:r>
          </a:p>
          <a:p>
            <a:pPr>
              <a:lnSpc>
                <a:spcPct val="104167"/>
              </a:lnSpc>
              <a:spcAft>
                <a:spcPts val="0"/>
              </a:spcAft>
            </a:pPr>
            <a:r>
              <a:rPr sz="800" i="0">
                <a:solidFill>
                  <a:srgbClr val="5C6773"/>
                </a:solidFill>
                <a:latin typeface="Inconsolata"/>
              </a:rPr>
              <a:t>11  </a:t>
            </a:r>
            <a:r>
              <a:rPr sz="800" i="0">
                <a:solidFill>
                  <a:srgbClr val="FF8E6E"/>
                </a:solidFill>
                <a:latin typeface="Inconsolata"/>
              </a:rPr>
              <a:t>from</a:t>
            </a:r>
            <a:r>
              <a:rPr sz="800" i="0">
                <a:solidFill>
                  <a:srgbClr val="E6EDF3"/>
                </a:solidFill>
                <a:latin typeface="Inconsolata"/>
              </a:rPr>
              <a:t> fastapi.testclient </a:t>
            </a:r>
            <a:r>
              <a:rPr sz="800" i="0">
                <a:solidFill>
                  <a:srgbClr val="FF8E6E"/>
                </a:solidFill>
                <a:latin typeface="Inconsolata"/>
              </a:rPr>
              <a:t>import</a:t>
            </a:r>
            <a:r>
              <a:rPr sz="800" i="0">
                <a:solidFill>
                  <a:srgbClr val="E6EDF3"/>
                </a:solidFill>
                <a:latin typeface="Inconsolata"/>
              </a:rPr>
              <a:t> </a:t>
            </a:r>
            <a:r>
              <a:rPr sz="800" i="0">
                <a:solidFill>
                  <a:srgbClr val="7FDBCA"/>
                </a:solidFill>
                <a:latin typeface="Inconsolata"/>
              </a:rPr>
              <a:t>TestClient</a:t>
            </a:r>
          </a:p>
          <a:p>
            <a:pPr>
              <a:lnSpc>
                <a:spcPct val="104167"/>
              </a:lnSpc>
              <a:spcAft>
                <a:spcPts val="0"/>
              </a:spcAft>
            </a:pPr>
            <a:r>
              <a:rPr sz="800" i="0">
                <a:solidFill>
                  <a:srgbClr val="5C6773"/>
                </a:solidFill>
                <a:latin typeface="Inconsolata"/>
              </a:rPr>
              <a:t>12  </a:t>
            </a:r>
            <a:r>
              <a:rPr sz="800" i="0">
                <a:solidFill>
                  <a:srgbClr val="E6EDF3"/>
                </a:solidFill>
                <a:latin typeface="Inconsolata"/>
              </a:rPr>
              <a:t> </a:t>
            </a:r>
          </a:p>
          <a:p>
            <a:pPr>
              <a:lnSpc>
                <a:spcPct val="104167"/>
              </a:lnSpc>
              <a:spcAft>
                <a:spcPts val="0"/>
              </a:spcAft>
            </a:pPr>
            <a:r>
              <a:rPr sz="800" i="0">
                <a:solidFill>
                  <a:srgbClr val="5C6773"/>
                </a:solidFill>
                <a:latin typeface="Inconsolata"/>
              </a:rPr>
              <a:t>13  </a:t>
            </a:r>
            <a:r>
              <a:rPr sz="800" i="0">
                <a:solidFill>
                  <a:srgbClr val="7FDBCA"/>
                </a:solidFill>
                <a:latin typeface="Inconsolata"/>
              </a:rPr>
              <a:t>PRODUCTS</a:t>
            </a:r>
            <a:r>
              <a:rPr sz="800" i="0">
                <a:solidFill>
                  <a:srgbClr val="E6EDF3"/>
                </a:solidFill>
                <a:latin typeface="Inconsolata"/>
              </a:rPr>
              <a:t> = {</a:t>
            </a:r>
            <a:r>
              <a:rPr sz="800" i="0">
                <a:solidFill>
                  <a:srgbClr val="F9C97A"/>
                </a:solidFill>
                <a:latin typeface="Inconsolata"/>
              </a:rPr>
              <a:t>1</a:t>
            </a:r>
            <a:r>
              <a:rPr sz="800" i="0">
                <a:solidFill>
                  <a:srgbClr val="E6EDF3"/>
                </a:solidFill>
                <a:latin typeface="Inconsolata"/>
              </a:rPr>
              <a:t>: {</a:t>
            </a:r>
            <a:r>
              <a:rPr sz="800" i="0">
                <a:solidFill>
                  <a:srgbClr val="A5D6A7"/>
                </a:solidFill>
                <a:latin typeface="Inconsolata"/>
              </a:rPr>
              <a:t>"name"</a:t>
            </a:r>
            <a:r>
              <a:rPr sz="800" i="0">
                <a:solidFill>
                  <a:srgbClr val="E6EDF3"/>
                </a:solidFill>
                <a:latin typeface="Inconsolata"/>
              </a:rPr>
              <a:t>: </a:t>
            </a:r>
            <a:r>
              <a:rPr sz="800" i="0">
                <a:solidFill>
                  <a:srgbClr val="A5D6A7"/>
                </a:solidFill>
                <a:latin typeface="Inconsolata"/>
              </a:rPr>
              <a:t>"Keyboard"</a:t>
            </a:r>
            <a:r>
              <a:rPr sz="800" i="0">
                <a:solidFill>
                  <a:srgbClr val="E6EDF3"/>
                </a:solidFill>
                <a:latin typeface="Inconsolata"/>
              </a:rPr>
              <a:t>, </a:t>
            </a:r>
            <a:r>
              <a:rPr sz="800" i="0">
                <a:solidFill>
                  <a:srgbClr val="A5D6A7"/>
                </a:solidFill>
                <a:latin typeface="Inconsolata"/>
              </a:rPr>
              <a:t>"price"</a:t>
            </a:r>
            <a:r>
              <a:rPr sz="800" i="0">
                <a:solidFill>
                  <a:srgbClr val="E6EDF3"/>
                </a:solidFill>
                <a:latin typeface="Inconsolata"/>
              </a:rPr>
              <a:t>: </a:t>
            </a:r>
            <a:r>
              <a:rPr sz="800" i="0">
                <a:solidFill>
                  <a:srgbClr val="F9C97A"/>
                </a:solidFill>
                <a:latin typeface="Inconsolata"/>
              </a:rPr>
              <a:t>500_000</a:t>
            </a:r>
            <a:r>
              <a:rPr sz="800" i="0">
                <a:solidFill>
                  <a:srgbClr val="E6EDF3"/>
                </a:solidFill>
                <a:latin typeface="Inconsolata"/>
              </a:rPr>
              <a:t>}}</a:t>
            </a:r>
          </a:p>
          <a:p>
            <a:pPr>
              <a:lnSpc>
                <a:spcPct val="104167"/>
              </a:lnSpc>
              <a:spcAft>
                <a:spcPts val="0"/>
              </a:spcAft>
            </a:pPr>
            <a:r>
              <a:rPr sz="800" i="0">
                <a:solidFill>
                  <a:srgbClr val="5C6773"/>
                </a:solidFill>
                <a:latin typeface="Inconsolata"/>
              </a:rPr>
              <a:t>14  </a:t>
            </a:r>
            <a:r>
              <a:rPr sz="800" i="0">
                <a:solidFill>
                  <a:srgbClr val="E6EDF3"/>
                </a:solidFill>
                <a:latin typeface="Inconsolata"/>
              </a:rPr>
              <a:t>app = </a:t>
            </a:r>
            <a:r>
              <a:rPr sz="800" i="0">
                <a:solidFill>
                  <a:srgbClr val="7FDBCA"/>
                </a:solidFill>
                <a:latin typeface="Inconsolata"/>
              </a:rPr>
              <a:t>FastAPI</a:t>
            </a:r>
            <a:r>
              <a:rPr sz="800" i="0">
                <a:solidFill>
                  <a:srgbClr val="E6EDF3"/>
                </a:solidFill>
                <a:latin typeface="Inconsolata"/>
              </a:rPr>
              <a:t>()</a:t>
            </a:r>
          </a:p>
          <a:p>
            <a:pPr>
              <a:lnSpc>
                <a:spcPct val="104167"/>
              </a:lnSpc>
              <a:spcAft>
                <a:spcPts val="0"/>
              </a:spcAft>
            </a:pPr>
            <a:r>
              <a:rPr sz="800" i="0">
                <a:solidFill>
                  <a:srgbClr val="5C6773"/>
                </a:solidFill>
                <a:latin typeface="Inconsolata"/>
              </a:rPr>
              <a:t>15  </a:t>
            </a:r>
            <a:r>
              <a:rPr sz="800" i="0">
                <a:solidFill>
                  <a:srgbClr val="E6EDF3"/>
                </a:solidFill>
                <a:latin typeface="Inconsolata"/>
              </a:rPr>
              <a:t> </a:t>
            </a:r>
          </a:p>
          <a:p>
            <a:pPr>
              <a:lnSpc>
                <a:spcPct val="104167"/>
              </a:lnSpc>
              <a:spcAft>
                <a:spcPts val="0"/>
              </a:spcAft>
            </a:pPr>
            <a:r>
              <a:rPr sz="800" i="0">
                <a:solidFill>
                  <a:srgbClr val="5C6773"/>
                </a:solidFill>
                <a:latin typeface="Inconsolata"/>
              </a:rPr>
              <a:t>16  </a:t>
            </a:r>
            <a:r>
              <a:rPr sz="800" i="0">
                <a:solidFill>
                  <a:srgbClr val="E6EDF3"/>
                </a:solidFill>
                <a:latin typeface="Inconsolata"/>
              </a:rPr>
              <a:t> </a:t>
            </a:r>
          </a:p>
          <a:p>
            <a:pPr>
              <a:lnSpc>
                <a:spcPct val="104167"/>
              </a:lnSpc>
              <a:spcAft>
                <a:spcPts val="0"/>
              </a:spcAft>
            </a:pPr>
            <a:r>
              <a:rPr sz="800" i="0">
                <a:solidFill>
                  <a:srgbClr val="5C6773"/>
                </a:solidFill>
                <a:latin typeface="Inconsolata"/>
              </a:rPr>
              <a:t>17  </a:t>
            </a:r>
            <a:r>
              <a:rPr sz="800" i="0">
                <a:solidFill>
                  <a:srgbClr val="F9C97A"/>
                </a:solidFill>
                <a:latin typeface="Inconsolata"/>
              </a:rPr>
              <a:t>@app.post</a:t>
            </a:r>
            <a:r>
              <a:rPr sz="800" i="0">
                <a:solidFill>
                  <a:srgbClr val="E6EDF3"/>
                </a:solidFill>
                <a:latin typeface="Inconsolata"/>
              </a:rPr>
              <a:t>(</a:t>
            </a:r>
            <a:r>
              <a:rPr sz="800" i="0">
                <a:solidFill>
                  <a:srgbClr val="A5D6A7"/>
                </a:solidFill>
                <a:latin typeface="Inconsolata"/>
              </a:rPr>
              <a:t>"/orders"</a:t>
            </a:r>
            <a:r>
              <a:rPr sz="800" i="0">
                <a:solidFill>
                  <a:srgbClr val="E6EDF3"/>
                </a:solidFill>
                <a:latin typeface="Inconsolata"/>
              </a:rPr>
              <a:t>, status_code=</a:t>
            </a:r>
            <a:r>
              <a:rPr sz="800" i="0">
                <a:solidFill>
                  <a:srgbClr val="F9C97A"/>
                </a:solidFill>
                <a:latin typeface="Inconsolata"/>
              </a:rPr>
              <a:t>201</a:t>
            </a:r>
            <a:r>
              <a:rPr sz="800" i="0">
                <a:solidFill>
                  <a:srgbClr val="E6EDF3"/>
                </a:solidFill>
                <a:latin typeface="Inconsolata"/>
              </a:rPr>
              <a:t>)</a:t>
            </a:r>
          </a:p>
          <a:p>
            <a:pPr>
              <a:lnSpc>
                <a:spcPct val="104167"/>
              </a:lnSpc>
              <a:spcAft>
                <a:spcPts val="0"/>
              </a:spcAft>
            </a:pPr>
            <a:r>
              <a:rPr sz="800" i="0">
                <a:solidFill>
                  <a:srgbClr val="5C6773"/>
                </a:solidFill>
                <a:latin typeface="Inconsolata"/>
              </a:rPr>
              <a:t>18  </a:t>
            </a:r>
            <a:r>
              <a:rPr sz="800" i="0">
                <a:solidFill>
                  <a:srgbClr val="FF8E6E"/>
                </a:solidFill>
                <a:latin typeface="Inconsolata"/>
              </a:rPr>
              <a:t>def</a:t>
            </a:r>
            <a:r>
              <a:rPr sz="800" i="0">
                <a:solidFill>
                  <a:srgbClr val="E6EDF3"/>
                </a:solidFill>
                <a:latin typeface="Inconsolata"/>
              </a:rPr>
              <a:t> </a:t>
            </a:r>
            <a:r>
              <a:rPr sz="800" i="0">
                <a:solidFill>
                  <a:srgbClr val="82B1FF"/>
                </a:solidFill>
                <a:latin typeface="Inconsolata"/>
              </a:rPr>
              <a:t>create_order</a:t>
            </a:r>
            <a:r>
              <a:rPr sz="800" i="0">
                <a:solidFill>
                  <a:srgbClr val="E6EDF3"/>
                </a:solidFill>
                <a:latin typeface="Inconsolata"/>
              </a:rPr>
              <a:t>(body: </a:t>
            </a:r>
            <a:r>
              <a:rPr sz="800" i="0">
                <a:solidFill>
                  <a:srgbClr val="C3A6FF"/>
                </a:solidFill>
                <a:latin typeface="Inconsolata"/>
              </a:rPr>
              <a:t>dict</a:t>
            </a:r>
            <a:r>
              <a:rPr sz="800" i="0">
                <a:solidFill>
                  <a:srgbClr val="E6EDF3"/>
                </a:solidFill>
                <a:latin typeface="Inconsolata"/>
              </a:rPr>
              <a:t> = </a:t>
            </a:r>
            <a:r>
              <a:rPr sz="800" i="0">
                <a:solidFill>
                  <a:srgbClr val="7FDBCA"/>
                </a:solidFill>
                <a:latin typeface="Inconsolata"/>
              </a:rPr>
              <a:t>Body</a:t>
            </a:r>
            <a:r>
              <a:rPr sz="800" i="0">
                <a:solidFill>
                  <a:srgbClr val="E6EDF3"/>
                </a:solidFill>
                <a:latin typeface="Inconsolata"/>
              </a:rPr>
              <a:t>()):</a:t>
            </a:r>
          </a:p>
          <a:p>
            <a:pPr>
              <a:lnSpc>
                <a:spcPct val="104167"/>
              </a:lnSpc>
              <a:spcAft>
                <a:spcPts val="0"/>
              </a:spcAft>
            </a:pPr>
            <a:r>
              <a:rPr sz="800" i="0">
                <a:solidFill>
                  <a:srgbClr val="5C6773"/>
                </a:solidFill>
                <a:latin typeface="Inconsolata"/>
              </a:rPr>
              <a:t>19  </a:t>
            </a:r>
            <a:r>
              <a:rPr sz="800" i="0">
                <a:solidFill>
                  <a:srgbClr val="E6EDF3"/>
                </a:solidFill>
                <a:latin typeface="Inconsolata"/>
              </a:rPr>
              <a:t>    item = {**</a:t>
            </a:r>
            <a:r>
              <a:rPr sz="800" i="0">
                <a:solidFill>
                  <a:srgbClr val="7FDBCA"/>
                </a:solidFill>
                <a:latin typeface="Inconsolata"/>
              </a:rPr>
              <a:t>PRODUCTS</a:t>
            </a:r>
            <a:r>
              <a:rPr sz="800" i="0">
                <a:solidFill>
                  <a:srgbClr val="E6EDF3"/>
                </a:solidFill>
                <a:latin typeface="Inconsolata"/>
              </a:rPr>
              <a:t>[body[</a:t>
            </a:r>
            <a:r>
              <a:rPr sz="800" i="0">
                <a:solidFill>
                  <a:srgbClr val="A5D6A7"/>
                </a:solidFill>
                <a:latin typeface="Inconsolata"/>
              </a:rPr>
              <a:t>"product_id"</a:t>
            </a:r>
            <a:r>
              <a:rPr sz="800" i="0">
                <a:solidFill>
                  <a:srgbClr val="E6EDF3"/>
                </a:solidFill>
                <a:latin typeface="Inconsolata"/>
              </a:rPr>
              <a:t>]], **body}  </a:t>
            </a:r>
            <a:r>
              <a:rPr sz="800" i="1">
                <a:solidFill>
                  <a:srgbClr val="8B98A8"/>
                </a:solidFill>
                <a:latin typeface="Inconsolata"/>
              </a:rPr>
              <a:t># body menimpa data</a:t>
            </a:r>
          </a:p>
          <a:p>
            <a:pPr>
              <a:lnSpc>
                <a:spcPct val="104167"/>
              </a:lnSpc>
              <a:spcAft>
                <a:spcPts val="0"/>
              </a:spcAft>
            </a:pPr>
            <a:r>
              <a:rPr sz="800" i="0">
                <a:solidFill>
                  <a:srgbClr val="5C6773"/>
                </a:solidFill>
                <a:latin typeface="Inconsolata"/>
              </a:rPr>
              <a:t>20  </a:t>
            </a:r>
            <a:r>
              <a:rPr sz="800" i="0">
                <a:solidFill>
                  <a:srgbClr val="E6EDF3"/>
                </a:solidFill>
                <a:latin typeface="Inconsolata"/>
              </a:rPr>
              <a:t>    </a:t>
            </a:r>
            <a:r>
              <a:rPr sz="800" i="0">
                <a:solidFill>
                  <a:srgbClr val="FF8E6E"/>
                </a:solidFill>
                <a:latin typeface="Inconsolata"/>
              </a:rPr>
              <a:t>return</a:t>
            </a:r>
            <a:r>
              <a:rPr sz="800" i="0">
                <a:solidFill>
                  <a:srgbClr val="E6EDF3"/>
                </a:solidFill>
                <a:latin typeface="Inconsolata"/>
              </a:rPr>
              <a:t> {</a:t>
            </a:r>
            <a:r>
              <a:rPr sz="800" i="0">
                <a:solidFill>
                  <a:srgbClr val="A5D6A7"/>
                </a:solidFill>
                <a:latin typeface="Inconsolata"/>
              </a:rPr>
              <a:t>"customer_type"</a:t>
            </a:r>
            <a:r>
              <a:rPr sz="800" i="0">
                <a:solidFill>
                  <a:srgbClr val="E6EDF3"/>
                </a:solidFill>
                <a:latin typeface="Inconsolata"/>
              </a:rPr>
              <a:t>: body[</a:t>
            </a:r>
            <a:r>
              <a:rPr sz="800" i="0">
                <a:solidFill>
                  <a:srgbClr val="A5D6A7"/>
                </a:solidFill>
                <a:latin typeface="Inconsolata"/>
              </a:rPr>
              <a:t>"customer_type"</a:t>
            </a:r>
            <a:r>
              <a:rPr sz="800" i="0">
                <a:solidFill>
                  <a:srgbClr val="E6EDF3"/>
                </a:solidFill>
                <a:latin typeface="Inconsolata"/>
              </a:rPr>
              <a:t>],</a:t>
            </a:r>
          </a:p>
          <a:p>
            <a:pPr>
              <a:lnSpc>
                <a:spcPct val="104167"/>
              </a:lnSpc>
              <a:spcAft>
                <a:spcPts val="0"/>
              </a:spcAft>
            </a:pPr>
            <a:r>
              <a:rPr sz="800" i="0">
                <a:solidFill>
                  <a:srgbClr val="5C6773"/>
                </a:solidFill>
                <a:latin typeface="Inconsolata"/>
              </a:rPr>
              <a:t>21  </a:t>
            </a:r>
            <a:r>
              <a:rPr sz="800" i="0">
                <a:solidFill>
                  <a:srgbClr val="E6EDF3"/>
                </a:solidFill>
                <a:latin typeface="Inconsolata"/>
              </a:rPr>
              <a:t>            </a:t>
            </a:r>
            <a:r>
              <a:rPr sz="800" i="0">
                <a:solidFill>
                  <a:srgbClr val="A5D6A7"/>
                </a:solidFill>
                <a:latin typeface="Inconsolata"/>
              </a:rPr>
              <a:t>"total"</a:t>
            </a:r>
            <a:r>
              <a:rPr sz="800" i="0">
                <a:solidFill>
                  <a:srgbClr val="E6EDF3"/>
                </a:solidFill>
                <a:latin typeface="Inconsolata"/>
              </a:rPr>
              <a:t>: item[</a:t>
            </a:r>
            <a:r>
              <a:rPr sz="800" i="0">
                <a:solidFill>
                  <a:srgbClr val="A5D6A7"/>
                </a:solidFill>
                <a:latin typeface="Inconsolata"/>
              </a:rPr>
              <a:t>"price"</a:t>
            </a:r>
            <a:r>
              <a:rPr sz="800" i="0">
                <a:solidFill>
                  <a:srgbClr val="E6EDF3"/>
                </a:solidFill>
                <a:latin typeface="Inconsolata"/>
              </a:rPr>
              <a:t>] * item[</a:t>
            </a:r>
            <a:r>
              <a:rPr sz="800" i="0">
                <a:solidFill>
                  <a:srgbClr val="A5D6A7"/>
                </a:solidFill>
                <a:latin typeface="Inconsolata"/>
              </a:rPr>
              <a:t>"qty"</a:t>
            </a:r>
            <a:r>
              <a:rPr sz="800" i="0">
                <a:solidFill>
                  <a:srgbClr val="E6EDF3"/>
                </a:solidFill>
                <a:latin typeface="Inconsolata"/>
              </a:rPr>
              <a:t>]}</a:t>
            </a:r>
          </a:p>
          <a:p>
            <a:pPr>
              <a:lnSpc>
                <a:spcPct val="104167"/>
              </a:lnSpc>
              <a:spcAft>
                <a:spcPts val="0"/>
              </a:spcAft>
            </a:pPr>
            <a:r>
              <a:rPr sz="800" i="0">
                <a:solidFill>
                  <a:srgbClr val="5C6773"/>
                </a:solidFill>
                <a:latin typeface="Inconsolata"/>
              </a:rPr>
              <a:t>22  </a:t>
            </a:r>
            <a:r>
              <a:rPr sz="800" i="0">
                <a:solidFill>
                  <a:srgbClr val="E6EDF3"/>
                </a:solidFill>
                <a:latin typeface="Inconsolata"/>
              </a:rPr>
              <a:t> </a:t>
            </a:r>
          </a:p>
          <a:p>
            <a:pPr>
              <a:lnSpc>
                <a:spcPct val="104167"/>
              </a:lnSpc>
              <a:spcAft>
                <a:spcPts val="0"/>
              </a:spcAft>
            </a:pPr>
            <a:r>
              <a:rPr sz="800" i="0">
                <a:solidFill>
                  <a:srgbClr val="5C6773"/>
                </a:solidFill>
                <a:latin typeface="Inconsolata"/>
              </a:rPr>
              <a:t>23  </a:t>
            </a:r>
            <a:r>
              <a:rPr sz="800" i="0">
                <a:solidFill>
                  <a:srgbClr val="E6EDF3"/>
                </a:solidFill>
                <a:latin typeface="Inconsolata"/>
              </a:rPr>
              <a:t> </a:t>
            </a:r>
          </a:p>
          <a:p>
            <a:pPr>
              <a:lnSpc>
                <a:spcPct val="104167"/>
              </a:lnSpc>
              <a:spcAft>
                <a:spcPts val="0"/>
              </a:spcAft>
            </a:pPr>
            <a:r>
              <a:rPr sz="800" i="0">
                <a:solidFill>
                  <a:srgbClr val="5C6773"/>
                </a:solidFill>
                <a:latin typeface="Inconsolata"/>
              </a:rPr>
              <a:t>24  </a:t>
            </a:r>
            <a:r>
              <a:rPr sz="800" i="0">
                <a:solidFill>
                  <a:srgbClr val="FF8E6E"/>
                </a:solidFill>
                <a:latin typeface="Inconsolata"/>
              </a:rPr>
              <a:t>if</a:t>
            </a:r>
            <a:r>
              <a:rPr sz="800" i="0">
                <a:solidFill>
                  <a:srgbClr val="E6EDF3"/>
                </a:solidFill>
                <a:latin typeface="Inconsolata"/>
              </a:rPr>
              <a:t> __name__ == </a:t>
            </a:r>
            <a:r>
              <a:rPr sz="800" i="0">
                <a:solidFill>
                  <a:srgbClr val="A5D6A7"/>
                </a:solidFill>
                <a:latin typeface="Inconsolata"/>
              </a:rPr>
              <a:t>"__main__"</a:t>
            </a:r>
            <a:r>
              <a:rPr sz="800" i="0">
                <a:solidFill>
                  <a:srgbClr val="E6EDF3"/>
                </a:solidFill>
                <a:latin typeface="Inconsolata"/>
              </a:rPr>
              <a:t>:</a:t>
            </a:r>
          </a:p>
          <a:p>
            <a:pPr>
              <a:lnSpc>
                <a:spcPct val="104167"/>
              </a:lnSpc>
              <a:spcAft>
                <a:spcPts val="0"/>
              </a:spcAft>
            </a:pPr>
            <a:r>
              <a:rPr sz="800" i="0">
                <a:solidFill>
                  <a:srgbClr val="5C6773"/>
                </a:solidFill>
                <a:latin typeface="Inconsolata"/>
              </a:rPr>
              <a:t>25  </a:t>
            </a:r>
            <a:r>
              <a:rPr sz="800" i="0">
                <a:solidFill>
                  <a:srgbClr val="E6EDF3"/>
                </a:solidFill>
                <a:latin typeface="Inconsolata"/>
              </a:rPr>
              <a:t>    client = </a:t>
            </a:r>
            <a:r>
              <a:rPr sz="800" i="0">
                <a:solidFill>
                  <a:srgbClr val="7FDBCA"/>
                </a:solidFill>
                <a:latin typeface="Inconsolata"/>
              </a:rPr>
              <a:t>TestClient</a:t>
            </a:r>
            <a:r>
              <a:rPr sz="800" i="0">
                <a:solidFill>
                  <a:srgbClr val="E6EDF3"/>
                </a:solidFill>
                <a:latin typeface="Inconsolata"/>
              </a:rPr>
              <a:t>(app)</a:t>
            </a:r>
          </a:p>
          <a:p>
            <a:pPr>
              <a:lnSpc>
                <a:spcPct val="104167"/>
              </a:lnSpc>
              <a:spcAft>
                <a:spcPts val="0"/>
              </a:spcAft>
            </a:pPr>
            <a:r>
              <a:rPr sz="800" i="0">
                <a:solidFill>
                  <a:srgbClr val="5C6773"/>
                </a:solidFill>
                <a:latin typeface="Inconsolata"/>
              </a:rPr>
              <a:t>26  </a:t>
            </a:r>
            <a:r>
              <a:rPr sz="800" i="0">
                <a:solidFill>
                  <a:srgbClr val="E6EDF3"/>
                </a:solidFill>
                <a:latin typeface="Inconsolata"/>
              </a:rPr>
              <a:t>    </a:t>
            </a:r>
            <a:r>
              <a:rPr sz="800" i="0">
                <a:solidFill>
                  <a:srgbClr val="FF8E6E"/>
                </a:solidFill>
                <a:latin typeface="Inconsolata"/>
              </a:rPr>
              <a:t>for</a:t>
            </a:r>
            <a:r>
              <a:rPr sz="800" i="0">
                <a:solidFill>
                  <a:srgbClr val="E6EDF3"/>
                </a:solidFill>
                <a:latin typeface="Inconsolata"/>
              </a:rPr>
              <a:t> body </a:t>
            </a:r>
            <a:r>
              <a:rPr sz="800" i="0">
                <a:solidFill>
                  <a:srgbClr val="FF8E6E"/>
                </a:solidFill>
                <a:latin typeface="Inconsolata"/>
              </a:rPr>
              <a:t>in</a:t>
            </a:r>
            <a:r>
              <a:rPr sz="800" i="0">
                <a:solidFill>
                  <a:srgbClr val="E6EDF3"/>
                </a:solidFill>
                <a:latin typeface="Inconsolata"/>
              </a:rPr>
              <a:t> [{</a:t>
            </a:r>
            <a:r>
              <a:rPr sz="800" i="0">
                <a:solidFill>
                  <a:srgbClr val="A5D6A7"/>
                </a:solidFill>
                <a:latin typeface="Inconsolata"/>
              </a:rPr>
              <a:t>"product_id"</a:t>
            </a:r>
            <a:r>
              <a:rPr sz="800" i="0">
                <a:solidFill>
                  <a:srgbClr val="E6EDF3"/>
                </a:solidFill>
                <a:latin typeface="Inconsolata"/>
              </a:rPr>
              <a:t>: </a:t>
            </a:r>
            <a:r>
              <a:rPr sz="800" i="0">
                <a:solidFill>
                  <a:srgbClr val="F9C97A"/>
                </a:solidFill>
                <a:latin typeface="Inconsolata"/>
              </a:rPr>
              <a:t>1</a:t>
            </a:r>
            <a:r>
              <a:rPr sz="800" i="0">
                <a:solidFill>
                  <a:srgbClr val="E6EDF3"/>
                </a:solidFill>
                <a:latin typeface="Inconsolata"/>
              </a:rPr>
              <a:t>, </a:t>
            </a:r>
            <a:r>
              <a:rPr sz="800" i="0">
                <a:solidFill>
                  <a:srgbClr val="A5D6A7"/>
                </a:solidFill>
                <a:latin typeface="Inconsolata"/>
              </a:rPr>
              <a:t>"qty"</a:t>
            </a:r>
            <a:r>
              <a:rPr sz="800" i="0">
                <a:solidFill>
                  <a:srgbClr val="E6EDF3"/>
                </a:solidFill>
                <a:latin typeface="Inconsolata"/>
              </a:rPr>
              <a:t>: -</a:t>
            </a:r>
            <a:r>
              <a:rPr sz="800" i="0">
                <a:solidFill>
                  <a:srgbClr val="F9C97A"/>
                </a:solidFill>
                <a:latin typeface="Inconsolata"/>
              </a:rPr>
              <a:t>5</a:t>
            </a:r>
            <a:r>
              <a:rPr sz="800" i="0">
                <a:solidFill>
                  <a:srgbClr val="E6EDF3"/>
                </a:solidFill>
                <a:latin typeface="Inconsolata"/>
              </a:rPr>
              <a:t>, </a:t>
            </a:r>
            <a:r>
              <a:rPr sz="800" i="0">
                <a:solidFill>
                  <a:srgbClr val="A5D6A7"/>
                </a:solidFill>
                <a:latin typeface="Inconsolata"/>
              </a:rPr>
              <a:t>"customer_type"</a:t>
            </a:r>
            <a:r>
              <a:rPr sz="800" i="0">
                <a:solidFill>
                  <a:srgbClr val="E6EDF3"/>
                </a:solidFill>
                <a:latin typeface="Inconsolata"/>
              </a:rPr>
              <a:t>: </a:t>
            </a:r>
            <a:r>
              <a:rPr sz="800" i="0">
                <a:solidFill>
                  <a:srgbClr val="A5D6A7"/>
                </a:solidFill>
                <a:latin typeface="Inconsolata"/>
              </a:rPr>
              <a:t>"vip"</a:t>
            </a:r>
            <a:r>
              <a:rPr sz="800" i="0">
                <a:solidFill>
                  <a:srgbClr val="E6EDF3"/>
                </a:solidFill>
                <a:latin typeface="Inconsolata"/>
              </a:rPr>
              <a:t>},</a:t>
            </a:r>
          </a:p>
          <a:p>
            <a:pPr>
              <a:lnSpc>
                <a:spcPct val="104167"/>
              </a:lnSpc>
              <a:spcAft>
                <a:spcPts val="0"/>
              </a:spcAft>
            </a:pPr>
            <a:r>
              <a:rPr sz="800" i="0">
                <a:solidFill>
                  <a:srgbClr val="5C6773"/>
                </a:solidFill>
                <a:latin typeface="Inconsolata"/>
              </a:rPr>
              <a:t>27  </a:t>
            </a:r>
            <a:r>
              <a:rPr sz="800" i="0">
                <a:solidFill>
                  <a:srgbClr val="E6EDF3"/>
                </a:solidFill>
                <a:latin typeface="Inconsolata"/>
              </a:rPr>
              <a:t>                 {</a:t>
            </a:r>
            <a:r>
              <a:rPr sz="800" i="0">
                <a:solidFill>
                  <a:srgbClr val="A5D6A7"/>
                </a:solidFill>
                <a:latin typeface="Inconsolata"/>
              </a:rPr>
              <a:t>"product_id"</a:t>
            </a:r>
            <a:r>
              <a:rPr sz="800" i="0">
                <a:solidFill>
                  <a:srgbClr val="E6EDF3"/>
                </a:solidFill>
                <a:latin typeface="Inconsolata"/>
              </a:rPr>
              <a:t>: </a:t>
            </a:r>
            <a:r>
              <a:rPr sz="800" i="0">
                <a:solidFill>
                  <a:srgbClr val="F9C97A"/>
                </a:solidFill>
                <a:latin typeface="Inconsolata"/>
              </a:rPr>
              <a:t>1</a:t>
            </a:r>
            <a:r>
              <a:rPr sz="800" i="0">
                <a:solidFill>
                  <a:srgbClr val="E6EDF3"/>
                </a:solidFill>
                <a:latin typeface="Inconsolata"/>
              </a:rPr>
              <a:t>, </a:t>
            </a:r>
            <a:r>
              <a:rPr sz="800" i="0">
                <a:solidFill>
                  <a:srgbClr val="A5D6A7"/>
                </a:solidFill>
                <a:latin typeface="Inconsolata"/>
              </a:rPr>
              <a:t>"qty"</a:t>
            </a:r>
            <a:r>
              <a:rPr sz="800" i="0">
                <a:solidFill>
                  <a:srgbClr val="E6EDF3"/>
                </a:solidFill>
                <a:latin typeface="Inconsolata"/>
              </a:rPr>
              <a:t>: </a:t>
            </a:r>
            <a:r>
              <a:rPr sz="800" i="0">
                <a:solidFill>
                  <a:srgbClr val="F9C97A"/>
                </a:solidFill>
                <a:latin typeface="Inconsolata"/>
              </a:rPr>
              <a:t>2</a:t>
            </a:r>
            <a:r>
              <a:rPr sz="800" i="0">
                <a:solidFill>
                  <a:srgbClr val="E6EDF3"/>
                </a:solidFill>
                <a:latin typeface="Inconsolata"/>
              </a:rPr>
              <a:t>, </a:t>
            </a:r>
            <a:r>
              <a:rPr sz="800" i="0">
                <a:solidFill>
                  <a:srgbClr val="A5D6A7"/>
                </a:solidFill>
                <a:latin typeface="Inconsolata"/>
              </a:rPr>
              <a:t>"price"</a:t>
            </a:r>
            <a:r>
              <a:rPr sz="800" i="0">
                <a:solidFill>
                  <a:srgbClr val="E6EDF3"/>
                </a:solidFill>
                <a:latin typeface="Inconsolata"/>
              </a:rPr>
              <a:t>: </a:t>
            </a:r>
            <a:r>
              <a:rPr sz="800" i="0">
                <a:solidFill>
                  <a:srgbClr val="F9C97A"/>
                </a:solidFill>
                <a:latin typeface="Inconsolata"/>
              </a:rPr>
              <a:t>1</a:t>
            </a:r>
            <a:r>
              <a:rPr sz="800" i="0">
                <a:solidFill>
                  <a:srgbClr val="E6EDF3"/>
                </a:solidFill>
                <a:latin typeface="Inconsolata"/>
              </a:rPr>
              <a:t>,</a:t>
            </a:r>
          </a:p>
          <a:p>
            <a:pPr>
              <a:lnSpc>
                <a:spcPct val="104167"/>
              </a:lnSpc>
              <a:spcAft>
                <a:spcPts val="0"/>
              </a:spcAft>
            </a:pPr>
            <a:r>
              <a:rPr sz="800" i="0">
                <a:solidFill>
                  <a:srgbClr val="5C6773"/>
                </a:solidFill>
                <a:latin typeface="Inconsolata"/>
              </a:rPr>
              <a:t>28  </a:t>
            </a:r>
            <a:r>
              <a:rPr sz="800" i="0">
                <a:solidFill>
                  <a:srgbClr val="E6EDF3"/>
                </a:solidFill>
                <a:latin typeface="Inconsolata"/>
              </a:rPr>
              <a:t>                  </a:t>
            </a:r>
            <a:r>
              <a:rPr sz="800" i="0">
                <a:solidFill>
                  <a:srgbClr val="A5D6A7"/>
                </a:solidFill>
                <a:latin typeface="Inconsolata"/>
              </a:rPr>
              <a:t>"customer_type"</a:t>
            </a:r>
            <a:r>
              <a:rPr sz="800" i="0">
                <a:solidFill>
                  <a:srgbClr val="E6EDF3"/>
                </a:solidFill>
                <a:latin typeface="Inconsolata"/>
              </a:rPr>
              <a:t>: </a:t>
            </a:r>
            <a:r>
              <a:rPr sz="800" i="0">
                <a:solidFill>
                  <a:srgbClr val="A5D6A7"/>
                </a:solidFill>
                <a:latin typeface="Inconsolata"/>
              </a:rPr>
              <a:t>"reseller"</a:t>
            </a:r>
            <a:r>
              <a:rPr sz="800" i="0">
                <a:solidFill>
                  <a:srgbClr val="E6EDF3"/>
                </a:solidFill>
                <a:latin typeface="Inconsolata"/>
              </a:rPr>
              <a:t>}]:</a:t>
            </a:r>
          </a:p>
          <a:p>
            <a:pPr>
              <a:lnSpc>
                <a:spcPct val="104167"/>
              </a:lnSpc>
              <a:spcAft>
                <a:spcPts val="0"/>
              </a:spcAft>
            </a:pPr>
            <a:r>
              <a:rPr sz="800" i="0">
                <a:solidFill>
                  <a:srgbClr val="5C6773"/>
                </a:solidFill>
                <a:latin typeface="Inconsolata"/>
              </a:rPr>
              <a:t>29  </a:t>
            </a:r>
            <a:r>
              <a:rPr sz="800" i="0">
                <a:solidFill>
                  <a:srgbClr val="E6EDF3"/>
                </a:solidFill>
                <a:latin typeface="Inconsolata"/>
              </a:rPr>
              <a:t>        response = client.post(</a:t>
            </a:r>
            <a:r>
              <a:rPr sz="800" i="0">
                <a:solidFill>
                  <a:srgbClr val="A5D6A7"/>
                </a:solidFill>
                <a:latin typeface="Inconsolata"/>
              </a:rPr>
              <a:t>"/orders"</a:t>
            </a:r>
            <a:r>
              <a:rPr sz="800" i="0">
                <a:solidFill>
                  <a:srgbClr val="E6EDF3"/>
                </a:solidFill>
                <a:latin typeface="Inconsolata"/>
              </a:rPr>
              <a:t>, json=body)</a:t>
            </a:r>
          </a:p>
          <a:p>
            <a:pPr>
              <a:lnSpc>
                <a:spcPct val="104167"/>
              </a:lnSpc>
              <a:spcAft>
                <a:spcPts val="0"/>
              </a:spcAft>
            </a:pPr>
            <a:r>
              <a:rPr sz="800" i="0">
                <a:solidFill>
                  <a:srgbClr val="5C6773"/>
                </a:solidFill>
                <a:latin typeface="Inconsolata"/>
              </a:rPr>
              <a:t>30  </a:t>
            </a:r>
            <a:r>
              <a:rPr sz="800" i="0">
                <a:solidFill>
                  <a:srgbClr val="E6EDF3"/>
                </a:solidFill>
                <a:latin typeface="Inconsolata"/>
              </a:rPr>
              <a:t>        </a:t>
            </a:r>
            <a:r>
              <a:rPr sz="800" i="0">
                <a:solidFill>
                  <a:srgbClr val="C3A6FF"/>
                </a:solidFill>
                <a:latin typeface="Inconsolata"/>
              </a:rPr>
              <a:t>print</a:t>
            </a:r>
            <a:r>
              <a:rPr sz="800" i="0">
                <a:solidFill>
                  <a:srgbClr val="E6EDF3"/>
                </a:solidFill>
                <a:latin typeface="Inconsolata"/>
              </a:rPr>
              <a:t>(</a:t>
            </a:r>
            <a:r>
              <a:rPr sz="800" i="0">
                <a:solidFill>
                  <a:srgbClr val="A5D6A7"/>
                </a:solidFill>
                <a:latin typeface="Inconsolata"/>
              </a:rPr>
              <a:t>f"{body}\n  -&gt; {response.status_code} {response.json()}"</a:t>
            </a:r>
            <a:r>
              <a:rPr sz="800" i="0">
                <a:solidFill>
                  <a:srgbClr val="E6EDF3"/>
                </a:solidFill>
                <a:latin typeface="Inconsolata"/>
              </a:rPr>
              <a:t>)</a:t>
            </a:r>
          </a:p>
        </p:txBody>
      </p:sp>
      <p:sp>
        <p:nvSpPr>
          <p:cNvPr id="29" name="Box 12"/>
          <p:cNvSpPr/>
          <p:nvPr/>
        </p:nvSpPr>
        <p:spPr>
          <a:xfrm>
            <a:off x="704088" y="2843022"/>
            <a:ext cx="4343400" cy="246380"/>
          </a:xfrm>
          <a:prstGeom prst="roundRect">
            <a:avLst>
              <a:gd name="adj" fmla="val 18556"/>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4928616" y="284734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CodeTab 15"/>
          <p:cNvSpPr/>
          <p:nvPr/>
        </p:nvSpPr>
        <p:spPr>
          <a:xfrm>
            <a:off x="5285231" y="1481328"/>
            <a:ext cx="32004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Dot 16"/>
          <p:cNvSpPr/>
          <p:nvPr/>
        </p:nvSpPr>
        <p:spPr>
          <a:xfrm>
            <a:off x="5394959"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Dot 17"/>
          <p:cNvSpPr/>
          <p:nvPr/>
        </p:nvSpPr>
        <p:spPr>
          <a:xfrm>
            <a:off x="553212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Dot 18"/>
          <p:cNvSpPr/>
          <p:nvPr/>
        </p:nvSpPr>
        <p:spPr>
          <a:xfrm>
            <a:off x="5669279"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 19"/>
          <p:cNvSpPr txBox="1"/>
          <p:nvPr/>
        </p:nvSpPr>
        <p:spPr>
          <a:xfrm>
            <a:off x="5833871" y="1490472"/>
            <a:ext cx="25603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36" name="CodeBg 21"/>
          <p:cNvSpPr/>
          <p:nvPr/>
        </p:nvSpPr>
        <p:spPr>
          <a:xfrm>
            <a:off x="5285231" y="1719072"/>
            <a:ext cx="3200400" cy="457200"/>
          </a:xfrm>
          <a:prstGeom prst="roundRect">
            <a:avLst>
              <a:gd name="adj" fmla="val 4000"/>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Code 22"/>
          <p:cNvSpPr txBox="1"/>
          <p:nvPr/>
        </p:nvSpPr>
        <p:spPr>
          <a:xfrm>
            <a:off x="5285231" y="1719072"/>
            <a:ext cx="3200400" cy="457200"/>
          </a:xfrm>
          <a:prstGeom prst="rect">
            <a:avLst/>
          </a:prstGeom>
          <a:noFill/>
        </p:spPr>
        <p:txBody>
          <a:bodyPr wrap="none" lIns="146304" tIns="91440" rIns="146304" bIns="54864">
            <a:spAutoFit/>
          </a:bodyPr>
          <a:lstStyle/>
          <a:p>
            <a:pPr>
              <a:lnSpc>
                <a:spcPct val="104167"/>
              </a:lnSpc>
              <a:spcAft>
                <a:spcPts val="0"/>
              </a:spcAft>
            </a:pPr>
            <a:r>
              <a:rPr sz="800" i="0">
                <a:solidFill>
                  <a:srgbClr val="82B1FF"/>
                </a:solidFill>
                <a:latin typeface="Inconsolata"/>
              </a:rPr>
              <a:t>$ cd sesi-10-api-security/08-input-validation</a:t>
            </a:r>
          </a:p>
          <a:p>
            <a:pPr>
              <a:lnSpc>
                <a:spcPct val="104167"/>
              </a:lnSpc>
              <a:spcAft>
                <a:spcPts val="0"/>
              </a:spcAft>
            </a:pPr>
            <a:r>
              <a:rPr sz="800" i="0">
                <a:solidFill>
                  <a:srgbClr val="82B1FF"/>
                </a:solidFill>
                <a:latin typeface="Inconsolata"/>
              </a:rPr>
              <a:t>$ python before.py</a:t>
            </a:r>
          </a:p>
        </p:txBody>
      </p:sp>
      <p:pic>
        <p:nvPicPr>
          <p:cNvPr id="38" name="Image 23" descr="s10-08-input-validation-before.png"/>
          <p:cNvPicPr>
            <a:picLocks noChangeAspect="1"/>
          </p:cNvPicPr>
          <p:nvPr/>
        </p:nvPicPr>
        <p:blipFill>
          <a:blip r:embed="rId2"/>
          <a:stretch>
            <a:fillRect/>
          </a:stretch>
        </p:blipFill>
        <p:spPr>
          <a:xfrm>
            <a:off x="5285231" y="2249424"/>
            <a:ext cx="3200400" cy="673768"/>
          </a:xfrm>
          <a:prstGeom prst="rect">
            <a:avLst/>
          </a:prstGeom>
        </p:spPr>
      </p:pic>
      <p:sp>
        <p:nvSpPr>
          <p:cNvPr id="39" name="Box 24"/>
          <p:cNvSpPr/>
          <p:nvPr/>
        </p:nvSpPr>
        <p:spPr>
          <a:xfrm>
            <a:off x="5285231" y="3014632"/>
            <a:ext cx="3200400" cy="1685383"/>
          </a:xfrm>
          <a:prstGeom prst="roundRect">
            <a:avLst>
              <a:gd name="adj" fmla="val 651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0" name="Text 25"/>
          <p:cNvSpPr txBox="1"/>
          <p:nvPr/>
        </p:nvSpPr>
        <p:spPr>
          <a:xfrm>
            <a:off x="5422392" y="3106072"/>
            <a:ext cx="2926080" cy="310896"/>
          </a:xfrm>
          <a:prstGeom prst="rect">
            <a:avLst/>
          </a:prstGeom>
          <a:noFill/>
        </p:spPr>
        <p:txBody>
          <a:bodyPr wrap="square" lIns="45720" rIns="45720" anchor="t">
            <a:spAutoFit/>
          </a:bodyPr>
          <a:lstStyle/>
          <a:p>
            <a:pPr algn="l">
              <a:lnSpc>
                <a:spcPct val="115000"/>
              </a:lnSpc>
              <a:spcAft>
                <a:spcPts val="400"/>
              </a:spcAft>
            </a:pPr>
            <a:r>
              <a:rPr sz="1000" b="1" i="0">
                <a:solidFill>
                  <a:srgbClr val="C0392B"/>
                </a:solidFill>
                <a:latin typeface="Inter"/>
              </a:rPr>
              <a:t>Masalahnya</a:t>
            </a:r>
          </a:p>
        </p:txBody>
      </p:sp>
      <p:sp>
        <p:nvSpPr>
          <p:cNvPr id="41" name="Text 26"/>
          <p:cNvSpPr txBox="1"/>
          <p:nvPr/>
        </p:nvSpPr>
        <p:spPr>
          <a:xfrm>
            <a:off x="5422392" y="3426112"/>
            <a:ext cx="2926080" cy="1182463"/>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850" b="0" i="0">
                <a:solidFill>
                  <a:srgbClr val="434343"/>
                </a:solidFill>
                <a:latin typeface="Inter"/>
              </a:rPr>
              <a:t>Body berupa dict tanpa schema, lalu isinya menimpa data produk dari database (baris 18-19)</a:t>
            </a:r>
          </a:p>
          <a:p>
            <a:pPr algn="l">
              <a:lnSpc>
                <a:spcPct val="115000"/>
              </a:lnSpc>
              <a:spcAft>
                <a:spcPts val="0"/>
              </a:spcAft>
            </a:pPr>
            <a:endParaRPr sz="850" b="0" i="0">
              <a:solidFill>
                <a:srgbClr val="434343"/>
              </a:solidFill>
              <a:latin typeface="Inter"/>
            </a:endParaRPr>
          </a:p>
          <a:p>
            <a:pPr algn="l">
              <a:lnSpc>
                <a:spcPct val="115000"/>
              </a:lnSpc>
              <a:spcAft>
                <a:spcPts val="400"/>
              </a:spcAft>
            </a:pPr>
            <a:r>
              <a:rPr sz="850" b="0" i="0">
                <a:solidFill>
                  <a:srgbClr val="434343"/>
                </a:solidFill>
                <a:latin typeface="Inter"/>
              </a:rPr>
              <a:t>qty -5 menghasilkan total -2.500.000, dan </a:t>
            </a:r>
            <a:r>
              <a:rPr sz="850" b="0" i="0">
                <a:solidFill>
                  <a:srgbClr val="B5482A"/>
                </a:solidFill>
                <a:latin typeface="Inconsolata"/>
              </a:rPr>
              <a:t>price: 1</a:t>
            </a:r>
            <a:r>
              <a:rPr sz="850" b="0" i="0">
                <a:solidFill>
                  <a:srgbClr val="434343"/>
                </a:solidFill>
                <a:latin typeface="Inter"/>
              </a:rPr>
              <a:t> menimpa harga.</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Input Validation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After: schema Pydantic yang ketat</a:t>
            </a:r>
          </a:p>
        </p:txBody>
      </p:sp>
      <p:sp>
        <p:nvSpPr>
          <p:cNvPr id="22" name="CodeTab 4"/>
          <p:cNvSpPr/>
          <p:nvPr/>
        </p:nvSpPr>
        <p:spPr>
          <a:xfrm>
            <a:off x="621792"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08-input-validation/after.py</a:t>
            </a:r>
          </a:p>
        </p:txBody>
      </p:sp>
      <p:sp>
        <p:nvSpPr>
          <p:cNvPr id="27" name="CodeBg 10"/>
          <p:cNvSpPr/>
          <p:nvPr/>
        </p:nvSpPr>
        <p:spPr>
          <a:xfrm>
            <a:off x="621792"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12  </a:t>
            </a:r>
            <a:r>
              <a:rPr sz="719" i="0">
                <a:solidFill>
                  <a:srgbClr val="FF8E6E"/>
                </a:solidFill>
                <a:latin typeface="Inconsolata"/>
              </a:rPr>
              <a:t>from</a:t>
            </a:r>
            <a:r>
              <a:rPr sz="719" i="0">
                <a:solidFill>
                  <a:srgbClr val="E6EDF3"/>
                </a:solidFill>
                <a:latin typeface="Inconsolata"/>
              </a:rPr>
              <a:t> typing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Literal</a:t>
            </a:r>
          </a:p>
          <a:p>
            <a:pPr>
              <a:lnSpc>
                <a:spcPct val="104277"/>
              </a:lnSpc>
              <a:spcAft>
                <a:spcPts val="0"/>
              </a:spcAft>
            </a:pPr>
            <a:r>
              <a:rPr sz="719" i="0">
                <a:solidFill>
                  <a:srgbClr val="5C6773"/>
                </a:solidFill>
                <a:latin typeface="Inconsolata"/>
              </a:rPr>
              <a:t>13  </a:t>
            </a:r>
            <a:r>
              <a:rPr sz="719" i="0">
                <a:solidFill>
                  <a:srgbClr val="E6EDF3"/>
                </a:solidFill>
                <a:latin typeface="Inconsolata"/>
              </a:rPr>
              <a:t> </a:t>
            </a:r>
          </a:p>
          <a:p>
            <a:pPr>
              <a:lnSpc>
                <a:spcPct val="104277"/>
              </a:lnSpc>
              <a:spcAft>
                <a:spcPts val="0"/>
              </a:spcAft>
            </a:pPr>
            <a:r>
              <a:rPr sz="719" i="0">
                <a:solidFill>
                  <a:srgbClr val="5C6773"/>
                </a:solidFill>
                <a:latin typeface="Inconsolata"/>
              </a:rPr>
              <a:t>14  </a:t>
            </a:r>
            <a:r>
              <a:rPr sz="719" i="0">
                <a:solidFill>
                  <a:srgbClr val="FF8E6E"/>
                </a:solidFill>
                <a:latin typeface="Inconsolata"/>
              </a:rPr>
              <a:t>from</a:t>
            </a:r>
            <a:r>
              <a:rPr sz="719" i="0">
                <a:solidFill>
                  <a:srgbClr val="E6EDF3"/>
                </a:solidFill>
                <a:latin typeface="Inconsolata"/>
              </a:rPr>
              <a:t> fastapi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FastAPI</a:t>
            </a:r>
          </a:p>
          <a:p>
            <a:pPr>
              <a:lnSpc>
                <a:spcPct val="104277"/>
              </a:lnSpc>
              <a:spcAft>
                <a:spcPts val="0"/>
              </a:spcAft>
            </a:pPr>
            <a:r>
              <a:rPr sz="719" i="0">
                <a:solidFill>
                  <a:srgbClr val="5C6773"/>
                </a:solidFill>
                <a:latin typeface="Inconsolata"/>
              </a:rPr>
              <a:t>15  </a:t>
            </a:r>
            <a:r>
              <a:rPr sz="719" i="0">
                <a:solidFill>
                  <a:srgbClr val="FF8E6E"/>
                </a:solidFill>
                <a:latin typeface="Inconsolata"/>
              </a:rPr>
              <a:t>from</a:t>
            </a:r>
            <a:r>
              <a:rPr sz="719" i="0">
                <a:solidFill>
                  <a:srgbClr val="E6EDF3"/>
                </a:solidFill>
                <a:latin typeface="Inconsolata"/>
              </a:rPr>
              <a:t> fastapi.testclient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TestClient</a:t>
            </a:r>
          </a:p>
          <a:p>
            <a:pPr>
              <a:lnSpc>
                <a:spcPct val="104277"/>
              </a:lnSpc>
              <a:spcAft>
                <a:spcPts val="0"/>
              </a:spcAft>
            </a:pPr>
            <a:r>
              <a:rPr sz="719" i="0">
                <a:solidFill>
                  <a:srgbClr val="5C6773"/>
                </a:solidFill>
                <a:latin typeface="Inconsolata"/>
              </a:rPr>
              <a:t>16  </a:t>
            </a:r>
            <a:r>
              <a:rPr sz="719" i="0">
                <a:solidFill>
                  <a:srgbClr val="FF8E6E"/>
                </a:solidFill>
                <a:latin typeface="Inconsolata"/>
              </a:rPr>
              <a:t>from</a:t>
            </a:r>
            <a:r>
              <a:rPr sz="719" i="0">
                <a:solidFill>
                  <a:srgbClr val="E6EDF3"/>
                </a:solidFill>
                <a:latin typeface="Inconsolata"/>
              </a:rPr>
              <a:t> pydantic </a:t>
            </a:r>
            <a:r>
              <a:rPr sz="719" i="0">
                <a:solidFill>
                  <a:srgbClr val="FF8E6E"/>
                </a:solidFill>
                <a:latin typeface="Inconsolata"/>
              </a:rPr>
              <a:t>import</a:t>
            </a:r>
            <a:r>
              <a:rPr sz="719" i="0">
                <a:solidFill>
                  <a:srgbClr val="E6EDF3"/>
                </a:solidFill>
                <a:latin typeface="Inconsolata"/>
              </a:rPr>
              <a:t> </a:t>
            </a:r>
            <a:r>
              <a:rPr sz="719" i="0">
                <a:solidFill>
                  <a:srgbClr val="7FDBCA"/>
                </a:solidFill>
                <a:latin typeface="Inconsolata"/>
              </a:rPr>
              <a:t>BaseModel</a:t>
            </a:r>
            <a:r>
              <a:rPr sz="719" i="0">
                <a:solidFill>
                  <a:srgbClr val="E6EDF3"/>
                </a:solidFill>
                <a:latin typeface="Inconsolata"/>
              </a:rPr>
              <a:t>, </a:t>
            </a:r>
            <a:r>
              <a:rPr sz="719" i="0">
                <a:solidFill>
                  <a:srgbClr val="7FDBCA"/>
                </a:solidFill>
                <a:latin typeface="Inconsolata"/>
              </a:rPr>
              <a:t>ConfigDict</a:t>
            </a:r>
            <a:r>
              <a:rPr sz="719" i="0">
                <a:solidFill>
                  <a:srgbClr val="E6EDF3"/>
                </a:solidFill>
                <a:latin typeface="Inconsolata"/>
              </a:rPr>
              <a:t>, </a:t>
            </a:r>
            <a:r>
              <a:rPr sz="719" i="0">
                <a:solidFill>
                  <a:srgbClr val="7FDBCA"/>
                </a:solidFill>
                <a:latin typeface="Inconsolata"/>
              </a:rPr>
              <a:t>Field</a:t>
            </a:r>
          </a:p>
          <a:p>
            <a:pPr>
              <a:lnSpc>
                <a:spcPct val="104277"/>
              </a:lnSpc>
              <a:spcAft>
                <a:spcPts val="0"/>
              </a:spcAft>
            </a:pPr>
            <a:r>
              <a:rPr sz="719" i="0">
                <a:solidFill>
                  <a:srgbClr val="5C6773"/>
                </a:solidFill>
                <a:latin typeface="Inconsolata"/>
              </a:rPr>
              <a:t>17  </a:t>
            </a:r>
            <a:r>
              <a:rPr sz="719" i="0">
                <a:solidFill>
                  <a:srgbClr val="E6EDF3"/>
                </a:solidFill>
                <a:latin typeface="Inconsolata"/>
              </a:rPr>
              <a:t> </a:t>
            </a:r>
          </a:p>
          <a:p>
            <a:pPr>
              <a:lnSpc>
                <a:spcPct val="104277"/>
              </a:lnSpc>
              <a:spcAft>
                <a:spcPts val="0"/>
              </a:spcAft>
            </a:pPr>
            <a:r>
              <a:rPr sz="719" i="0">
                <a:solidFill>
                  <a:srgbClr val="5C6773"/>
                </a:solidFill>
                <a:latin typeface="Inconsolata"/>
              </a:rPr>
              <a:t>18  </a:t>
            </a:r>
            <a:r>
              <a:rPr sz="719" i="0">
                <a:solidFill>
                  <a:srgbClr val="7FDBCA"/>
                </a:solidFill>
                <a:latin typeface="Inconsolata"/>
              </a:rPr>
              <a:t>PRODUCTS</a:t>
            </a:r>
            <a:r>
              <a:rPr sz="719" i="0">
                <a:solidFill>
                  <a:srgbClr val="E6EDF3"/>
                </a:solidFill>
                <a:latin typeface="Inconsolata"/>
              </a:rPr>
              <a:t> = {</a:t>
            </a:r>
            <a:r>
              <a:rPr sz="719" i="0">
                <a:solidFill>
                  <a:srgbClr val="F9C97A"/>
                </a:solidFill>
                <a:latin typeface="Inconsolata"/>
              </a:rPr>
              <a:t>1</a:t>
            </a:r>
            <a:r>
              <a:rPr sz="719" i="0">
                <a:solidFill>
                  <a:srgbClr val="E6EDF3"/>
                </a:solidFill>
                <a:latin typeface="Inconsolata"/>
              </a:rPr>
              <a:t>: {</a:t>
            </a:r>
            <a:r>
              <a:rPr sz="719" i="0">
                <a:solidFill>
                  <a:srgbClr val="A5D6A7"/>
                </a:solidFill>
                <a:latin typeface="Inconsolata"/>
              </a:rPr>
              <a:t>"name"</a:t>
            </a:r>
            <a:r>
              <a:rPr sz="719" i="0">
                <a:solidFill>
                  <a:srgbClr val="E6EDF3"/>
                </a:solidFill>
                <a:latin typeface="Inconsolata"/>
              </a:rPr>
              <a:t>: </a:t>
            </a:r>
            <a:r>
              <a:rPr sz="719" i="0">
                <a:solidFill>
                  <a:srgbClr val="A5D6A7"/>
                </a:solidFill>
                <a:latin typeface="Inconsolata"/>
              </a:rPr>
              <a:t>"Keyboard"</a:t>
            </a:r>
            <a:r>
              <a:rPr sz="719" i="0">
                <a:solidFill>
                  <a:srgbClr val="E6EDF3"/>
                </a:solidFill>
                <a:latin typeface="Inconsolata"/>
              </a:rPr>
              <a:t>, </a:t>
            </a:r>
            <a:r>
              <a:rPr sz="719" i="0">
                <a:solidFill>
                  <a:srgbClr val="A5D6A7"/>
                </a:solidFill>
                <a:latin typeface="Inconsolata"/>
              </a:rPr>
              <a:t>"price"</a:t>
            </a:r>
            <a:r>
              <a:rPr sz="719" i="0">
                <a:solidFill>
                  <a:srgbClr val="E6EDF3"/>
                </a:solidFill>
                <a:latin typeface="Inconsolata"/>
              </a:rPr>
              <a:t>: </a:t>
            </a:r>
            <a:r>
              <a:rPr sz="719" i="0">
                <a:solidFill>
                  <a:srgbClr val="F9C97A"/>
                </a:solidFill>
                <a:latin typeface="Inconsolata"/>
              </a:rPr>
              <a:t>500_000</a:t>
            </a:r>
            <a:r>
              <a:rPr sz="719" i="0">
                <a:solidFill>
                  <a:srgbClr val="E6EDF3"/>
                </a:solidFill>
                <a:latin typeface="Inconsolata"/>
              </a:rPr>
              <a:t>}}</a:t>
            </a:r>
          </a:p>
          <a:p>
            <a:pPr>
              <a:lnSpc>
                <a:spcPct val="104277"/>
              </a:lnSpc>
              <a:spcAft>
                <a:spcPts val="0"/>
              </a:spcAft>
            </a:pPr>
            <a:r>
              <a:rPr sz="719" i="0">
                <a:solidFill>
                  <a:srgbClr val="5C6773"/>
                </a:solidFill>
                <a:latin typeface="Inconsolata"/>
              </a:rPr>
              <a:t>19  </a:t>
            </a:r>
            <a:r>
              <a:rPr sz="719" i="0">
                <a:solidFill>
                  <a:srgbClr val="E6EDF3"/>
                </a:solidFill>
                <a:latin typeface="Inconsolata"/>
              </a:rPr>
              <a:t>app = </a:t>
            </a:r>
            <a:r>
              <a:rPr sz="719" i="0">
                <a:solidFill>
                  <a:srgbClr val="7FDBCA"/>
                </a:solidFill>
                <a:latin typeface="Inconsolata"/>
              </a:rPr>
              <a:t>FastAPI</a:t>
            </a:r>
            <a:r>
              <a:rPr sz="719" i="0">
                <a:solidFill>
                  <a:srgbClr val="E6EDF3"/>
                </a:solidFill>
                <a:latin typeface="Inconsolata"/>
              </a:rPr>
              <a:t>()</a:t>
            </a:r>
          </a:p>
          <a:p>
            <a:pPr>
              <a:lnSpc>
                <a:spcPct val="104277"/>
              </a:lnSpc>
              <a:spcAft>
                <a:spcPts val="0"/>
              </a:spcAft>
            </a:pPr>
            <a:r>
              <a:rPr sz="719" i="0">
                <a:solidFill>
                  <a:srgbClr val="5C6773"/>
                </a:solidFill>
                <a:latin typeface="Inconsolata"/>
              </a:rPr>
              <a:t>20  </a:t>
            </a:r>
            <a:r>
              <a:rPr sz="719" i="0">
                <a:solidFill>
                  <a:srgbClr val="E6EDF3"/>
                </a:solidFill>
                <a:latin typeface="Inconsolata"/>
              </a:rPr>
              <a:t> </a:t>
            </a:r>
          </a:p>
          <a:p>
            <a:pPr>
              <a:lnSpc>
                <a:spcPct val="104277"/>
              </a:lnSpc>
              <a:spcAft>
                <a:spcPts val="0"/>
              </a:spcAft>
            </a:pPr>
            <a:r>
              <a:rPr sz="719" i="0">
                <a:solidFill>
                  <a:srgbClr val="5C6773"/>
                </a:solidFill>
                <a:latin typeface="Inconsolata"/>
              </a:rPr>
              <a:t>21  </a:t>
            </a:r>
            <a:r>
              <a:rPr sz="719" i="0">
                <a:solidFill>
                  <a:srgbClr val="E6EDF3"/>
                </a:solidFill>
                <a:latin typeface="Inconsolata"/>
              </a:rPr>
              <a:t> </a:t>
            </a:r>
          </a:p>
          <a:p>
            <a:pPr>
              <a:lnSpc>
                <a:spcPct val="104277"/>
              </a:lnSpc>
              <a:spcAft>
                <a:spcPts val="0"/>
              </a:spcAft>
            </a:pPr>
            <a:r>
              <a:rPr sz="719" i="0">
                <a:solidFill>
                  <a:srgbClr val="5C6773"/>
                </a:solidFill>
                <a:latin typeface="Inconsolata"/>
              </a:rPr>
              <a:t>22  </a:t>
            </a:r>
            <a:r>
              <a:rPr sz="719" i="0">
                <a:solidFill>
                  <a:srgbClr val="FF8E6E"/>
                </a:solidFill>
                <a:latin typeface="Inconsolata"/>
              </a:rPr>
              <a:t>class</a:t>
            </a:r>
            <a:r>
              <a:rPr sz="719" i="0">
                <a:solidFill>
                  <a:srgbClr val="E6EDF3"/>
                </a:solidFill>
                <a:latin typeface="Inconsolata"/>
              </a:rPr>
              <a:t> </a:t>
            </a:r>
            <a:r>
              <a:rPr sz="719" i="0">
                <a:solidFill>
                  <a:srgbClr val="7FDBCA"/>
                </a:solidFill>
                <a:latin typeface="Inconsolata"/>
              </a:rPr>
              <a:t>OrderIn</a:t>
            </a:r>
            <a:r>
              <a:rPr sz="719" i="0">
                <a:solidFill>
                  <a:srgbClr val="E6EDF3"/>
                </a:solidFill>
                <a:latin typeface="Inconsolata"/>
              </a:rPr>
              <a:t>(</a:t>
            </a:r>
            <a:r>
              <a:rPr sz="719" i="0">
                <a:solidFill>
                  <a:srgbClr val="7FDBCA"/>
                </a:solidFill>
                <a:latin typeface="Inconsolata"/>
              </a:rPr>
              <a:t>BaseModel</a:t>
            </a:r>
            <a:r>
              <a:rPr sz="719" i="0">
                <a:solidFill>
                  <a:srgbClr val="E6EDF3"/>
                </a:solidFill>
                <a:latin typeface="Inconsolata"/>
              </a:rPr>
              <a:t>):</a:t>
            </a:r>
          </a:p>
          <a:p>
            <a:pPr>
              <a:lnSpc>
                <a:spcPct val="104277"/>
              </a:lnSpc>
              <a:spcAft>
                <a:spcPts val="0"/>
              </a:spcAft>
            </a:pPr>
            <a:r>
              <a:rPr sz="719" i="0">
                <a:solidFill>
                  <a:srgbClr val="5C6773"/>
                </a:solidFill>
                <a:latin typeface="Inconsolata"/>
              </a:rPr>
              <a:t>23  </a:t>
            </a:r>
            <a:r>
              <a:rPr sz="719" i="0">
                <a:solidFill>
                  <a:srgbClr val="E6EDF3"/>
                </a:solidFill>
                <a:latin typeface="Inconsolata"/>
              </a:rPr>
              <a:t>    model_config = </a:t>
            </a:r>
            <a:r>
              <a:rPr sz="719" i="0">
                <a:solidFill>
                  <a:srgbClr val="7FDBCA"/>
                </a:solidFill>
                <a:latin typeface="Inconsolata"/>
              </a:rPr>
              <a:t>ConfigDict</a:t>
            </a:r>
            <a:r>
              <a:rPr sz="719" i="0">
                <a:solidFill>
                  <a:srgbClr val="E6EDF3"/>
                </a:solidFill>
                <a:latin typeface="Inconsolata"/>
              </a:rPr>
              <a:t>(extra=</a:t>
            </a:r>
            <a:r>
              <a:rPr sz="719" i="0">
                <a:solidFill>
                  <a:srgbClr val="A5D6A7"/>
                </a:solidFill>
                <a:latin typeface="Inconsolata"/>
              </a:rPr>
              <a:t>"forbid"</a:t>
            </a:r>
            <a:r>
              <a:rPr sz="719" i="0">
                <a:solidFill>
                  <a:srgbClr val="E6EDF3"/>
                </a:solidFill>
                <a:latin typeface="Inconsolata"/>
              </a:rPr>
              <a:t>)</a:t>
            </a:r>
          </a:p>
          <a:p>
            <a:pPr>
              <a:lnSpc>
                <a:spcPct val="104277"/>
              </a:lnSpc>
              <a:spcAft>
                <a:spcPts val="0"/>
              </a:spcAft>
            </a:pPr>
            <a:r>
              <a:rPr sz="719" i="0">
                <a:solidFill>
                  <a:srgbClr val="5C6773"/>
                </a:solidFill>
                <a:latin typeface="Inconsolata"/>
              </a:rPr>
              <a:t>24  </a:t>
            </a:r>
            <a:r>
              <a:rPr sz="719" i="0">
                <a:solidFill>
                  <a:srgbClr val="E6EDF3"/>
                </a:solidFill>
                <a:latin typeface="Inconsolata"/>
              </a:rPr>
              <a:t> </a:t>
            </a:r>
          </a:p>
          <a:p>
            <a:pPr>
              <a:lnSpc>
                <a:spcPct val="104277"/>
              </a:lnSpc>
              <a:spcAft>
                <a:spcPts val="0"/>
              </a:spcAft>
            </a:pPr>
            <a:r>
              <a:rPr sz="719" i="0">
                <a:solidFill>
                  <a:srgbClr val="5C6773"/>
                </a:solidFill>
                <a:latin typeface="Inconsolata"/>
              </a:rPr>
              <a:t>25  </a:t>
            </a:r>
            <a:r>
              <a:rPr sz="719" i="0">
                <a:solidFill>
                  <a:srgbClr val="E6EDF3"/>
                </a:solidFill>
                <a:latin typeface="Inconsolata"/>
              </a:rPr>
              <a:t>    product_id: </a:t>
            </a:r>
            <a:r>
              <a:rPr sz="719" i="0">
                <a:solidFill>
                  <a:srgbClr val="C3A6FF"/>
                </a:solidFill>
                <a:latin typeface="Inconsolata"/>
              </a:rPr>
              <a:t>int</a:t>
            </a:r>
            <a:r>
              <a:rPr sz="719" i="0">
                <a:solidFill>
                  <a:srgbClr val="E6EDF3"/>
                </a:solidFill>
                <a:latin typeface="Inconsolata"/>
              </a:rPr>
              <a:t> = </a:t>
            </a:r>
            <a:r>
              <a:rPr sz="719" i="0">
                <a:solidFill>
                  <a:srgbClr val="7FDBCA"/>
                </a:solidFill>
                <a:latin typeface="Inconsolata"/>
              </a:rPr>
              <a:t>Field</a:t>
            </a:r>
            <a:r>
              <a:rPr sz="719" i="0">
                <a:solidFill>
                  <a:srgbClr val="E6EDF3"/>
                </a:solidFill>
                <a:latin typeface="Inconsolata"/>
              </a:rPr>
              <a:t>(gt=</a:t>
            </a:r>
            <a:r>
              <a:rPr sz="719" i="0">
                <a:solidFill>
                  <a:srgbClr val="F9C97A"/>
                </a:solidFill>
                <a:latin typeface="Inconsolata"/>
              </a:rPr>
              <a:t>0</a:t>
            </a:r>
            <a:r>
              <a:rPr sz="719" i="0">
                <a:solidFill>
                  <a:srgbClr val="E6EDF3"/>
                </a:solidFill>
                <a:latin typeface="Inconsolata"/>
              </a:rPr>
              <a:t>)</a:t>
            </a:r>
          </a:p>
          <a:p>
            <a:pPr>
              <a:lnSpc>
                <a:spcPct val="104277"/>
              </a:lnSpc>
              <a:spcAft>
                <a:spcPts val="0"/>
              </a:spcAft>
            </a:pPr>
            <a:r>
              <a:rPr sz="719" i="0">
                <a:solidFill>
                  <a:srgbClr val="5C6773"/>
                </a:solidFill>
                <a:latin typeface="Inconsolata"/>
              </a:rPr>
              <a:t>26  </a:t>
            </a:r>
            <a:r>
              <a:rPr sz="719" i="0">
                <a:solidFill>
                  <a:srgbClr val="E6EDF3"/>
                </a:solidFill>
                <a:latin typeface="Inconsolata"/>
              </a:rPr>
              <a:t>    qty: </a:t>
            </a:r>
            <a:r>
              <a:rPr sz="719" i="0">
                <a:solidFill>
                  <a:srgbClr val="C3A6FF"/>
                </a:solidFill>
                <a:latin typeface="Inconsolata"/>
              </a:rPr>
              <a:t>int</a:t>
            </a:r>
            <a:r>
              <a:rPr sz="719" i="0">
                <a:solidFill>
                  <a:srgbClr val="E6EDF3"/>
                </a:solidFill>
                <a:latin typeface="Inconsolata"/>
              </a:rPr>
              <a:t> = </a:t>
            </a:r>
            <a:r>
              <a:rPr sz="719" i="0">
                <a:solidFill>
                  <a:srgbClr val="7FDBCA"/>
                </a:solidFill>
                <a:latin typeface="Inconsolata"/>
              </a:rPr>
              <a:t>Field</a:t>
            </a:r>
            <a:r>
              <a:rPr sz="719" i="0">
                <a:solidFill>
                  <a:srgbClr val="E6EDF3"/>
                </a:solidFill>
                <a:latin typeface="Inconsolata"/>
              </a:rPr>
              <a:t>(gt=</a:t>
            </a:r>
            <a:r>
              <a:rPr sz="719" i="0">
                <a:solidFill>
                  <a:srgbClr val="F9C97A"/>
                </a:solidFill>
                <a:latin typeface="Inconsolata"/>
              </a:rPr>
              <a:t>0</a:t>
            </a:r>
            <a:r>
              <a:rPr sz="719" i="0">
                <a:solidFill>
                  <a:srgbClr val="E6EDF3"/>
                </a:solidFill>
                <a:latin typeface="Inconsolata"/>
              </a:rPr>
              <a:t>, le=</a:t>
            </a:r>
            <a:r>
              <a:rPr sz="719" i="0">
                <a:solidFill>
                  <a:srgbClr val="F9C97A"/>
                </a:solidFill>
                <a:latin typeface="Inconsolata"/>
              </a:rPr>
              <a:t>100</a:t>
            </a:r>
            <a:r>
              <a:rPr sz="719" i="0">
                <a:solidFill>
                  <a:srgbClr val="E6EDF3"/>
                </a:solidFill>
                <a:latin typeface="Inconsolata"/>
              </a:rPr>
              <a:t>)</a:t>
            </a:r>
          </a:p>
          <a:p>
            <a:pPr>
              <a:lnSpc>
                <a:spcPct val="104277"/>
              </a:lnSpc>
              <a:spcAft>
                <a:spcPts val="0"/>
              </a:spcAft>
            </a:pPr>
            <a:r>
              <a:rPr sz="719" i="0">
                <a:solidFill>
                  <a:srgbClr val="5C6773"/>
                </a:solidFill>
                <a:latin typeface="Inconsolata"/>
              </a:rPr>
              <a:t>27  </a:t>
            </a:r>
            <a:r>
              <a:rPr sz="719" i="0">
                <a:solidFill>
                  <a:srgbClr val="E6EDF3"/>
                </a:solidFill>
                <a:latin typeface="Inconsolata"/>
              </a:rPr>
              <a:t>    customer_type: </a:t>
            </a:r>
            <a:r>
              <a:rPr sz="719" i="0">
                <a:solidFill>
                  <a:srgbClr val="7FDBCA"/>
                </a:solidFill>
                <a:latin typeface="Inconsolata"/>
              </a:rPr>
              <a:t>Literal</a:t>
            </a:r>
            <a:r>
              <a:rPr sz="719" i="0">
                <a:solidFill>
                  <a:srgbClr val="E6EDF3"/>
                </a:solidFill>
                <a:latin typeface="Inconsolata"/>
              </a:rPr>
              <a:t>[</a:t>
            </a:r>
            <a:r>
              <a:rPr sz="719" i="0">
                <a:solidFill>
                  <a:srgbClr val="A5D6A7"/>
                </a:solidFill>
                <a:latin typeface="Inconsolata"/>
              </a:rPr>
              <a:t>"regular"</a:t>
            </a:r>
            <a:r>
              <a:rPr sz="719" i="0">
                <a:solidFill>
                  <a:srgbClr val="E6EDF3"/>
                </a:solidFill>
                <a:latin typeface="Inconsolata"/>
              </a:rPr>
              <a:t>, </a:t>
            </a:r>
            <a:r>
              <a:rPr sz="719" i="0">
                <a:solidFill>
                  <a:srgbClr val="A5D6A7"/>
                </a:solidFill>
                <a:latin typeface="Inconsolata"/>
              </a:rPr>
              <a:t>"member"</a:t>
            </a:r>
            <a:r>
              <a:rPr sz="719" i="0">
                <a:solidFill>
                  <a:srgbClr val="E6EDF3"/>
                </a:solidFill>
                <a:latin typeface="Inconsolata"/>
              </a:rPr>
              <a:t>, </a:t>
            </a:r>
            <a:r>
              <a:rPr sz="719" i="0">
                <a:solidFill>
                  <a:srgbClr val="A5D6A7"/>
                </a:solidFill>
                <a:latin typeface="Inconsolata"/>
              </a:rPr>
              <a:t>"vip"</a:t>
            </a:r>
            <a:r>
              <a:rPr sz="719" i="0">
                <a:solidFill>
                  <a:srgbClr val="E6EDF3"/>
                </a:solidFill>
                <a:latin typeface="Inconsolata"/>
              </a:rPr>
              <a:t>]</a:t>
            </a:r>
          </a:p>
        </p:txBody>
      </p:sp>
      <p:sp>
        <p:nvSpPr>
          <p:cNvPr id="29" name="CodeTab 13"/>
          <p:cNvSpPr/>
          <p:nvPr/>
        </p:nvSpPr>
        <p:spPr>
          <a:xfrm>
            <a:off x="4626864" y="1481328"/>
            <a:ext cx="3858768"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Dot 14"/>
          <p:cNvSpPr/>
          <p:nvPr/>
        </p:nvSpPr>
        <p:spPr>
          <a:xfrm>
            <a:off x="4736592"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Dot 15"/>
          <p:cNvSpPr/>
          <p:nvPr/>
        </p:nvSpPr>
        <p:spPr>
          <a:xfrm>
            <a:off x="4873752"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Dot 16"/>
          <p:cNvSpPr/>
          <p:nvPr/>
        </p:nvSpPr>
        <p:spPr>
          <a:xfrm>
            <a:off x="5010912"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 17"/>
          <p:cNvSpPr txBox="1"/>
          <p:nvPr/>
        </p:nvSpPr>
        <p:spPr>
          <a:xfrm>
            <a:off x="5175503" y="1490472"/>
            <a:ext cx="3218687"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08-input-validation/after.py (lanjutan)</a:t>
            </a:r>
          </a:p>
        </p:txBody>
      </p:sp>
      <p:sp>
        <p:nvSpPr>
          <p:cNvPr id="34" name="CodeBg 19"/>
          <p:cNvSpPr/>
          <p:nvPr/>
        </p:nvSpPr>
        <p:spPr>
          <a:xfrm>
            <a:off x="4626864" y="1719072"/>
            <a:ext cx="3858768"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Code 20"/>
          <p:cNvSpPr txBox="1"/>
          <p:nvPr/>
        </p:nvSpPr>
        <p:spPr>
          <a:xfrm>
            <a:off x="4626864" y="1719072"/>
            <a:ext cx="3858768" cy="2980944"/>
          </a:xfrm>
          <a:prstGeom prst="rect">
            <a:avLst/>
          </a:prstGeom>
          <a:noFill/>
        </p:spPr>
        <p:txBody>
          <a:bodyPr wrap="none" lIns="146304" tIns="91440" rIns="146304" bIns="54864">
            <a:spAutoFit/>
          </a:bodyPr>
          <a:lstStyle/>
          <a:p>
            <a:pPr>
              <a:lnSpc>
                <a:spcPct val="104277"/>
              </a:lnSpc>
              <a:spcAft>
                <a:spcPts val="0"/>
              </a:spcAft>
            </a:pPr>
            <a:r>
              <a:rPr sz="719" i="0">
                <a:solidFill>
                  <a:srgbClr val="5C6773"/>
                </a:solidFill>
                <a:latin typeface="Inconsolata"/>
              </a:rPr>
              <a:t>30  </a:t>
            </a:r>
            <a:r>
              <a:rPr sz="719" i="0">
                <a:solidFill>
                  <a:srgbClr val="F9C97A"/>
                </a:solidFill>
                <a:latin typeface="Inconsolata"/>
              </a:rPr>
              <a:t>@app.post</a:t>
            </a:r>
            <a:r>
              <a:rPr sz="719" i="0">
                <a:solidFill>
                  <a:srgbClr val="E6EDF3"/>
                </a:solidFill>
                <a:latin typeface="Inconsolata"/>
              </a:rPr>
              <a:t>(</a:t>
            </a:r>
            <a:r>
              <a:rPr sz="719" i="0">
                <a:solidFill>
                  <a:srgbClr val="A5D6A7"/>
                </a:solidFill>
                <a:latin typeface="Inconsolata"/>
              </a:rPr>
              <a:t>"/orders"</a:t>
            </a:r>
            <a:r>
              <a:rPr sz="719" i="0">
                <a:solidFill>
                  <a:srgbClr val="E6EDF3"/>
                </a:solidFill>
                <a:latin typeface="Inconsolata"/>
              </a:rPr>
              <a:t>, status_code=</a:t>
            </a:r>
            <a:r>
              <a:rPr sz="719" i="0">
                <a:solidFill>
                  <a:srgbClr val="F9C97A"/>
                </a:solidFill>
                <a:latin typeface="Inconsolata"/>
              </a:rPr>
              <a:t>201</a:t>
            </a:r>
            <a:r>
              <a:rPr sz="719" i="0">
                <a:solidFill>
                  <a:srgbClr val="E6EDF3"/>
                </a:solidFill>
                <a:latin typeface="Inconsolata"/>
              </a:rPr>
              <a:t>)</a:t>
            </a:r>
          </a:p>
          <a:p>
            <a:pPr>
              <a:lnSpc>
                <a:spcPct val="104277"/>
              </a:lnSpc>
              <a:spcAft>
                <a:spcPts val="0"/>
              </a:spcAft>
            </a:pPr>
            <a:r>
              <a:rPr sz="719" i="0">
                <a:solidFill>
                  <a:srgbClr val="5C6773"/>
                </a:solidFill>
                <a:latin typeface="Inconsolata"/>
              </a:rPr>
              <a:t>31  </a:t>
            </a:r>
            <a:r>
              <a:rPr sz="719" i="0">
                <a:solidFill>
                  <a:srgbClr val="FF8E6E"/>
                </a:solidFill>
                <a:latin typeface="Inconsolata"/>
              </a:rPr>
              <a:t>def</a:t>
            </a:r>
            <a:r>
              <a:rPr sz="719" i="0">
                <a:solidFill>
                  <a:srgbClr val="E6EDF3"/>
                </a:solidFill>
                <a:latin typeface="Inconsolata"/>
              </a:rPr>
              <a:t> </a:t>
            </a:r>
            <a:r>
              <a:rPr sz="719" i="0">
                <a:solidFill>
                  <a:srgbClr val="82B1FF"/>
                </a:solidFill>
                <a:latin typeface="Inconsolata"/>
              </a:rPr>
              <a:t>create_order</a:t>
            </a:r>
            <a:r>
              <a:rPr sz="719" i="0">
                <a:solidFill>
                  <a:srgbClr val="E6EDF3"/>
                </a:solidFill>
                <a:latin typeface="Inconsolata"/>
              </a:rPr>
              <a:t>(body: </a:t>
            </a:r>
            <a:r>
              <a:rPr sz="719" i="0">
                <a:solidFill>
                  <a:srgbClr val="7FDBCA"/>
                </a:solidFill>
                <a:latin typeface="Inconsolata"/>
              </a:rPr>
              <a:t>OrderIn</a:t>
            </a:r>
            <a:r>
              <a:rPr sz="719" i="0">
                <a:solidFill>
                  <a:srgbClr val="E6EDF3"/>
                </a:solidFill>
                <a:latin typeface="Inconsolata"/>
              </a:rPr>
              <a:t>):</a:t>
            </a:r>
          </a:p>
          <a:p>
            <a:pPr>
              <a:lnSpc>
                <a:spcPct val="104277"/>
              </a:lnSpc>
              <a:spcAft>
                <a:spcPts val="0"/>
              </a:spcAft>
            </a:pPr>
            <a:r>
              <a:rPr sz="719" i="0">
                <a:solidFill>
                  <a:srgbClr val="5C6773"/>
                </a:solidFill>
                <a:latin typeface="Inconsolata"/>
              </a:rPr>
              <a:t>32  </a:t>
            </a:r>
            <a:r>
              <a:rPr sz="719" i="0">
                <a:solidFill>
                  <a:srgbClr val="E6EDF3"/>
                </a:solidFill>
                <a:latin typeface="Inconsolata"/>
              </a:rPr>
              <a:t>    price = </a:t>
            </a:r>
            <a:r>
              <a:rPr sz="719" i="0">
                <a:solidFill>
                  <a:srgbClr val="7FDBCA"/>
                </a:solidFill>
                <a:latin typeface="Inconsolata"/>
              </a:rPr>
              <a:t>PRODUCTS</a:t>
            </a:r>
            <a:r>
              <a:rPr sz="719" i="0">
                <a:solidFill>
                  <a:srgbClr val="E6EDF3"/>
                </a:solidFill>
                <a:latin typeface="Inconsolata"/>
              </a:rPr>
              <a:t>[body.product_id][</a:t>
            </a:r>
            <a:r>
              <a:rPr sz="719" i="0">
                <a:solidFill>
                  <a:srgbClr val="A5D6A7"/>
                </a:solidFill>
                <a:latin typeface="Inconsolata"/>
              </a:rPr>
              <a:t>"price"</a:t>
            </a:r>
            <a:r>
              <a:rPr sz="719" i="0">
                <a:solidFill>
                  <a:srgbClr val="E6EDF3"/>
                </a:solidFill>
                <a:latin typeface="Inconsolata"/>
              </a:rPr>
              <a:t>]       </a:t>
            </a:r>
            <a:r>
              <a:rPr sz="719" i="1">
                <a:solidFill>
                  <a:srgbClr val="8B98A8"/>
                </a:solidFill>
                <a:latin typeface="Inconsolata"/>
              </a:rPr>
              <a:t># dari database</a:t>
            </a:r>
          </a:p>
          <a:p>
            <a:pPr>
              <a:lnSpc>
                <a:spcPct val="104277"/>
              </a:lnSpc>
              <a:spcAft>
                <a:spcPts val="0"/>
              </a:spcAft>
            </a:pPr>
            <a:r>
              <a:rPr sz="719" i="0">
                <a:solidFill>
                  <a:srgbClr val="5C6773"/>
                </a:solidFill>
                <a:latin typeface="Inconsolata"/>
              </a:rPr>
              <a:t>33  </a:t>
            </a:r>
            <a:r>
              <a:rPr sz="719" i="0">
                <a:solidFill>
                  <a:srgbClr val="E6EDF3"/>
                </a:solidFill>
                <a:latin typeface="Inconsolata"/>
              </a:rPr>
              <a:t>    </a:t>
            </a:r>
            <a:r>
              <a:rPr sz="719" i="0">
                <a:solidFill>
                  <a:srgbClr val="FF8E6E"/>
                </a:solidFill>
                <a:latin typeface="Inconsolata"/>
              </a:rPr>
              <a:t>return</a:t>
            </a:r>
            <a:r>
              <a:rPr sz="719" i="0">
                <a:solidFill>
                  <a:srgbClr val="E6EDF3"/>
                </a:solidFill>
                <a:latin typeface="Inconsolata"/>
              </a:rPr>
              <a:t> {</a:t>
            </a:r>
            <a:r>
              <a:rPr sz="719" i="0">
                <a:solidFill>
                  <a:srgbClr val="A5D6A7"/>
                </a:solidFill>
                <a:latin typeface="Inconsolata"/>
              </a:rPr>
              <a:t>"customer_type"</a:t>
            </a:r>
            <a:r>
              <a:rPr sz="719" i="0">
                <a:solidFill>
                  <a:srgbClr val="E6EDF3"/>
                </a:solidFill>
                <a:latin typeface="Inconsolata"/>
              </a:rPr>
              <a:t>: body.customer_type,</a:t>
            </a:r>
          </a:p>
          <a:p>
            <a:pPr>
              <a:lnSpc>
                <a:spcPct val="104277"/>
              </a:lnSpc>
              <a:spcAft>
                <a:spcPts val="0"/>
              </a:spcAft>
            </a:pPr>
            <a:r>
              <a:rPr sz="719" i="0">
                <a:solidFill>
                  <a:srgbClr val="5C6773"/>
                </a:solidFill>
                <a:latin typeface="Inconsolata"/>
              </a:rPr>
              <a:t>34  </a:t>
            </a:r>
            <a:r>
              <a:rPr sz="719" i="0">
                <a:solidFill>
                  <a:srgbClr val="E6EDF3"/>
                </a:solidFill>
                <a:latin typeface="Inconsolata"/>
              </a:rPr>
              <a:t>            </a:t>
            </a:r>
            <a:r>
              <a:rPr sz="719" i="0">
                <a:solidFill>
                  <a:srgbClr val="A5D6A7"/>
                </a:solidFill>
                <a:latin typeface="Inconsolata"/>
              </a:rPr>
              <a:t>"total"</a:t>
            </a:r>
            <a:r>
              <a:rPr sz="719" i="0">
                <a:solidFill>
                  <a:srgbClr val="E6EDF3"/>
                </a:solidFill>
                <a:latin typeface="Inconsolata"/>
              </a:rPr>
              <a:t>: price * body.qty}</a:t>
            </a:r>
          </a:p>
          <a:p>
            <a:pPr>
              <a:lnSpc>
                <a:spcPct val="104277"/>
              </a:lnSpc>
              <a:spcAft>
                <a:spcPts val="0"/>
              </a:spcAft>
            </a:pPr>
            <a:r>
              <a:rPr sz="719" i="0">
                <a:solidFill>
                  <a:srgbClr val="5C6773"/>
                </a:solidFill>
                <a:latin typeface="Inconsolata"/>
              </a:rPr>
              <a:t>35  </a:t>
            </a:r>
            <a:r>
              <a:rPr sz="719" i="0">
                <a:solidFill>
                  <a:srgbClr val="E6EDF3"/>
                </a:solidFill>
                <a:latin typeface="Inconsolata"/>
              </a:rPr>
              <a:t> </a:t>
            </a:r>
          </a:p>
          <a:p>
            <a:pPr>
              <a:lnSpc>
                <a:spcPct val="104277"/>
              </a:lnSpc>
              <a:spcAft>
                <a:spcPts val="0"/>
              </a:spcAft>
            </a:pPr>
            <a:r>
              <a:rPr sz="719" i="0">
                <a:solidFill>
                  <a:srgbClr val="5C6773"/>
                </a:solidFill>
                <a:latin typeface="Inconsolata"/>
              </a:rPr>
              <a:t>36  </a:t>
            </a:r>
            <a:r>
              <a:rPr sz="719" i="0">
                <a:solidFill>
                  <a:srgbClr val="E6EDF3"/>
                </a:solidFill>
                <a:latin typeface="Inconsolata"/>
              </a:rPr>
              <a:t> </a:t>
            </a:r>
          </a:p>
          <a:p>
            <a:pPr>
              <a:lnSpc>
                <a:spcPct val="104277"/>
              </a:lnSpc>
              <a:spcAft>
                <a:spcPts val="0"/>
              </a:spcAft>
            </a:pPr>
            <a:r>
              <a:rPr sz="719" i="0">
                <a:solidFill>
                  <a:srgbClr val="5C6773"/>
                </a:solidFill>
                <a:latin typeface="Inconsolata"/>
              </a:rPr>
              <a:t>37  </a:t>
            </a:r>
            <a:r>
              <a:rPr sz="719" i="0">
                <a:solidFill>
                  <a:srgbClr val="FF8E6E"/>
                </a:solidFill>
                <a:latin typeface="Inconsolata"/>
              </a:rPr>
              <a:t>if</a:t>
            </a:r>
            <a:r>
              <a:rPr sz="719" i="0">
                <a:solidFill>
                  <a:srgbClr val="E6EDF3"/>
                </a:solidFill>
                <a:latin typeface="Inconsolata"/>
              </a:rPr>
              <a:t> __name__ == </a:t>
            </a:r>
            <a:r>
              <a:rPr sz="719" i="0">
                <a:solidFill>
                  <a:srgbClr val="A5D6A7"/>
                </a:solidFill>
                <a:latin typeface="Inconsolata"/>
              </a:rPr>
              <a:t>"__main__"</a:t>
            </a:r>
            <a:r>
              <a:rPr sz="719" i="0">
                <a:solidFill>
                  <a:srgbClr val="E6EDF3"/>
                </a:solidFill>
                <a:latin typeface="Inconsolata"/>
              </a:rPr>
              <a:t>:</a:t>
            </a:r>
          </a:p>
          <a:p>
            <a:pPr>
              <a:lnSpc>
                <a:spcPct val="104277"/>
              </a:lnSpc>
              <a:spcAft>
                <a:spcPts val="0"/>
              </a:spcAft>
            </a:pPr>
            <a:r>
              <a:rPr sz="719" i="0">
                <a:solidFill>
                  <a:srgbClr val="5C6773"/>
                </a:solidFill>
                <a:latin typeface="Inconsolata"/>
              </a:rPr>
              <a:t>38  </a:t>
            </a:r>
            <a:r>
              <a:rPr sz="719" i="0">
                <a:solidFill>
                  <a:srgbClr val="E6EDF3"/>
                </a:solidFill>
                <a:latin typeface="Inconsolata"/>
              </a:rPr>
              <a:t>    client = </a:t>
            </a:r>
            <a:r>
              <a:rPr sz="719" i="0">
                <a:solidFill>
                  <a:srgbClr val="7FDBCA"/>
                </a:solidFill>
                <a:latin typeface="Inconsolata"/>
              </a:rPr>
              <a:t>TestClient</a:t>
            </a:r>
            <a:r>
              <a:rPr sz="719" i="0">
                <a:solidFill>
                  <a:srgbClr val="E6EDF3"/>
                </a:solidFill>
                <a:latin typeface="Inconsolata"/>
              </a:rPr>
              <a:t>(app)</a:t>
            </a:r>
          </a:p>
          <a:p>
            <a:pPr>
              <a:lnSpc>
                <a:spcPct val="104277"/>
              </a:lnSpc>
              <a:spcAft>
                <a:spcPts val="0"/>
              </a:spcAft>
            </a:pPr>
            <a:r>
              <a:rPr sz="719" i="0">
                <a:solidFill>
                  <a:srgbClr val="5C6773"/>
                </a:solidFill>
                <a:latin typeface="Inconsolata"/>
              </a:rPr>
              <a:t>39  </a:t>
            </a:r>
            <a:r>
              <a:rPr sz="719" i="0">
                <a:solidFill>
                  <a:srgbClr val="E6EDF3"/>
                </a:solidFill>
                <a:latin typeface="Inconsolata"/>
              </a:rPr>
              <a:t>    </a:t>
            </a:r>
            <a:r>
              <a:rPr sz="719" i="0">
                <a:solidFill>
                  <a:srgbClr val="FF8E6E"/>
                </a:solidFill>
                <a:latin typeface="Inconsolata"/>
              </a:rPr>
              <a:t>for</a:t>
            </a:r>
            <a:r>
              <a:rPr sz="719" i="0">
                <a:solidFill>
                  <a:srgbClr val="E6EDF3"/>
                </a:solidFill>
                <a:latin typeface="Inconsolata"/>
              </a:rPr>
              <a:t> body </a:t>
            </a:r>
            <a:r>
              <a:rPr sz="719" i="0">
                <a:solidFill>
                  <a:srgbClr val="FF8E6E"/>
                </a:solidFill>
                <a:latin typeface="Inconsolata"/>
              </a:rPr>
              <a:t>in</a:t>
            </a:r>
            <a:r>
              <a:rPr sz="719" i="0">
                <a:solidFill>
                  <a:srgbClr val="E6EDF3"/>
                </a:solidFill>
                <a:latin typeface="Inconsolata"/>
              </a:rPr>
              <a:t> [{</a:t>
            </a:r>
            <a:r>
              <a:rPr sz="719" i="0">
                <a:solidFill>
                  <a:srgbClr val="A5D6A7"/>
                </a:solidFill>
                <a:latin typeface="Inconsolata"/>
              </a:rPr>
              <a:t>"product_id"</a:t>
            </a:r>
            <a:r>
              <a:rPr sz="719" i="0">
                <a:solidFill>
                  <a:srgbClr val="E6EDF3"/>
                </a:solidFill>
                <a:latin typeface="Inconsolata"/>
              </a:rPr>
              <a:t>: </a:t>
            </a:r>
            <a:r>
              <a:rPr sz="719" i="0">
                <a:solidFill>
                  <a:srgbClr val="F9C97A"/>
                </a:solidFill>
                <a:latin typeface="Inconsolata"/>
              </a:rPr>
              <a:t>1</a:t>
            </a:r>
            <a:r>
              <a:rPr sz="719" i="0">
                <a:solidFill>
                  <a:srgbClr val="E6EDF3"/>
                </a:solidFill>
                <a:latin typeface="Inconsolata"/>
              </a:rPr>
              <a:t>, </a:t>
            </a:r>
            <a:r>
              <a:rPr sz="719" i="0">
                <a:solidFill>
                  <a:srgbClr val="A5D6A7"/>
                </a:solidFill>
                <a:latin typeface="Inconsolata"/>
              </a:rPr>
              <a:t>"qty"</a:t>
            </a:r>
            <a:r>
              <a:rPr sz="719" i="0">
                <a:solidFill>
                  <a:srgbClr val="E6EDF3"/>
                </a:solidFill>
                <a:latin typeface="Inconsolata"/>
              </a:rPr>
              <a:t>: -</a:t>
            </a:r>
            <a:r>
              <a:rPr sz="719" i="0">
                <a:solidFill>
                  <a:srgbClr val="F9C97A"/>
                </a:solidFill>
                <a:latin typeface="Inconsolata"/>
              </a:rPr>
              <a:t>5</a:t>
            </a:r>
            <a:r>
              <a:rPr sz="719" i="0">
                <a:solidFill>
                  <a:srgbClr val="E6EDF3"/>
                </a:solidFill>
                <a:latin typeface="Inconsolata"/>
              </a:rPr>
              <a:t>, </a:t>
            </a:r>
            <a:r>
              <a:rPr sz="719" i="0">
                <a:solidFill>
                  <a:srgbClr val="A5D6A7"/>
                </a:solidFill>
                <a:latin typeface="Inconsolata"/>
              </a:rPr>
              <a:t>"customer_type"</a:t>
            </a:r>
            <a:r>
              <a:rPr sz="719" i="0">
                <a:solidFill>
                  <a:srgbClr val="E6EDF3"/>
                </a:solidFill>
                <a:latin typeface="Inconsolata"/>
              </a:rPr>
              <a:t>: </a:t>
            </a:r>
            <a:r>
              <a:rPr sz="719" i="0">
                <a:solidFill>
                  <a:srgbClr val="A5D6A7"/>
                </a:solidFill>
                <a:latin typeface="Inconsolata"/>
              </a:rPr>
              <a:t>"vip"</a:t>
            </a:r>
            <a:r>
              <a:rPr sz="719" i="0">
                <a:solidFill>
                  <a:srgbClr val="E6EDF3"/>
                </a:solidFill>
                <a:latin typeface="Inconsolata"/>
              </a:rPr>
              <a:t>},</a:t>
            </a:r>
          </a:p>
          <a:p>
            <a:pPr>
              <a:lnSpc>
                <a:spcPct val="104277"/>
              </a:lnSpc>
              <a:spcAft>
                <a:spcPts val="0"/>
              </a:spcAft>
            </a:pPr>
            <a:r>
              <a:rPr sz="719" i="0">
                <a:solidFill>
                  <a:srgbClr val="5C6773"/>
                </a:solidFill>
                <a:latin typeface="Inconsolata"/>
              </a:rPr>
              <a:t>40  </a:t>
            </a:r>
            <a:r>
              <a:rPr sz="719" i="0">
                <a:solidFill>
                  <a:srgbClr val="E6EDF3"/>
                </a:solidFill>
                <a:latin typeface="Inconsolata"/>
              </a:rPr>
              <a:t>                 {</a:t>
            </a:r>
            <a:r>
              <a:rPr sz="719" i="0">
                <a:solidFill>
                  <a:srgbClr val="A5D6A7"/>
                </a:solidFill>
                <a:latin typeface="Inconsolata"/>
              </a:rPr>
              <a:t>"product_id"</a:t>
            </a:r>
            <a:r>
              <a:rPr sz="719" i="0">
                <a:solidFill>
                  <a:srgbClr val="E6EDF3"/>
                </a:solidFill>
                <a:latin typeface="Inconsolata"/>
              </a:rPr>
              <a:t>: </a:t>
            </a:r>
            <a:r>
              <a:rPr sz="719" i="0">
                <a:solidFill>
                  <a:srgbClr val="F9C97A"/>
                </a:solidFill>
                <a:latin typeface="Inconsolata"/>
              </a:rPr>
              <a:t>1</a:t>
            </a:r>
            <a:r>
              <a:rPr sz="719" i="0">
                <a:solidFill>
                  <a:srgbClr val="E6EDF3"/>
                </a:solidFill>
                <a:latin typeface="Inconsolata"/>
              </a:rPr>
              <a:t>, </a:t>
            </a:r>
            <a:r>
              <a:rPr sz="719" i="0">
                <a:solidFill>
                  <a:srgbClr val="A5D6A7"/>
                </a:solidFill>
                <a:latin typeface="Inconsolata"/>
              </a:rPr>
              <a:t>"qty"</a:t>
            </a:r>
            <a:r>
              <a:rPr sz="719" i="0">
                <a:solidFill>
                  <a:srgbClr val="E6EDF3"/>
                </a:solidFill>
                <a:latin typeface="Inconsolata"/>
              </a:rPr>
              <a:t>: </a:t>
            </a:r>
            <a:r>
              <a:rPr sz="719" i="0">
                <a:solidFill>
                  <a:srgbClr val="F9C97A"/>
                </a:solidFill>
                <a:latin typeface="Inconsolata"/>
              </a:rPr>
              <a:t>2</a:t>
            </a:r>
            <a:r>
              <a:rPr sz="719" i="0">
                <a:solidFill>
                  <a:srgbClr val="E6EDF3"/>
                </a:solidFill>
                <a:latin typeface="Inconsolata"/>
              </a:rPr>
              <a:t>, </a:t>
            </a:r>
            <a:r>
              <a:rPr sz="719" i="0">
                <a:solidFill>
                  <a:srgbClr val="A5D6A7"/>
                </a:solidFill>
                <a:latin typeface="Inconsolata"/>
              </a:rPr>
              <a:t>"price"</a:t>
            </a:r>
            <a:r>
              <a:rPr sz="719" i="0">
                <a:solidFill>
                  <a:srgbClr val="E6EDF3"/>
                </a:solidFill>
                <a:latin typeface="Inconsolata"/>
              </a:rPr>
              <a:t>: </a:t>
            </a:r>
            <a:r>
              <a:rPr sz="719" i="0">
                <a:solidFill>
                  <a:srgbClr val="F9C97A"/>
                </a:solidFill>
                <a:latin typeface="Inconsolata"/>
              </a:rPr>
              <a:t>1</a:t>
            </a:r>
            <a:r>
              <a:rPr sz="719" i="0">
                <a:solidFill>
                  <a:srgbClr val="E6EDF3"/>
                </a:solidFill>
                <a:latin typeface="Inconsolata"/>
              </a:rPr>
              <a:t>,</a:t>
            </a:r>
          </a:p>
          <a:p>
            <a:pPr>
              <a:lnSpc>
                <a:spcPct val="104277"/>
              </a:lnSpc>
              <a:spcAft>
                <a:spcPts val="0"/>
              </a:spcAft>
            </a:pPr>
            <a:r>
              <a:rPr sz="719" i="0">
                <a:solidFill>
                  <a:srgbClr val="5C6773"/>
                </a:solidFill>
                <a:latin typeface="Inconsolata"/>
              </a:rPr>
              <a:t>41  </a:t>
            </a:r>
            <a:r>
              <a:rPr sz="719" i="0">
                <a:solidFill>
                  <a:srgbClr val="E6EDF3"/>
                </a:solidFill>
                <a:latin typeface="Inconsolata"/>
              </a:rPr>
              <a:t>                  </a:t>
            </a:r>
            <a:r>
              <a:rPr sz="719" i="0">
                <a:solidFill>
                  <a:srgbClr val="A5D6A7"/>
                </a:solidFill>
                <a:latin typeface="Inconsolata"/>
              </a:rPr>
              <a:t>"customer_type"</a:t>
            </a:r>
            <a:r>
              <a:rPr sz="719" i="0">
                <a:solidFill>
                  <a:srgbClr val="E6EDF3"/>
                </a:solidFill>
                <a:latin typeface="Inconsolata"/>
              </a:rPr>
              <a:t>: </a:t>
            </a:r>
            <a:r>
              <a:rPr sz="719" i="0">
                <a:solidFill>
                  <a:srgbClr val="A5D6A7"/>
                </a:solidFill>
                <a:latin typeface="Inconsolata"/>
              </a:rPr>
              <a:t>"reseller"</a:t>
            </a:r>
            <a:r>
              <a:rPr sz="719" i="0">
                <a:solidFill>
                  <a:srgbClr val="E6EDF3"/>
                </a:solidFill>
                <a:latin typeface="Inconsolata"/>
              </a:rPr>
              <a:t>},</a:t>
            </a:r>
          </a:p>
          <a:p>
            <a:pPr>
              <a:lnSpc>
                <a:spcPct val="104277"/>
              </a:lnSpc>
              <a:spcAft>
                <a:spcPts val="0"/>
              </a:spcAft>
            </a:pPr>
            <a:r>
              <a:rPr sz="719" i="0">
                <a:solidFill>
                  <a:srgbClr val="5C6773"/>
                </a:solidFill>
                <a:latin typeface="Inconsolata"/>
              </a:rPr>
              <a:t>42  </a:t>
            </a:r>
            <a:r>
              <a:rPr sz="719" i="0">
                <a:solidFill>
                  <a:srgbClr val="E6EDF3"/>
                </a:solidFill>
                <a:latin typeface="Inconsolata"/>
              </a:rPr>
              <a:t>                 {</a:t>
            </a:r>
            <a:r>
              <a:rPr sz="719" i="0">
                <a:solidFill>
                  <a:srgbClr val="A5D6A7"/>
                </a:solidFill>
                <a:latin typeface="Inconsolata"/>
              </a:rPr>
              <a:t>"product_id"</a:t>
            </a:r>
            <a:r>
              <a:rPr sz="719" i="0">
                <a:solidFill>
                  <a:srgbClr val="E6EDF3"/>
                </a:solidFill>
                <a:latin typeface="Inconsolata"/>
              </a:rPr>
              <a:t>: </a:t>
            </a:r>
            <a:r>
              <a:rPr sz="719" i="0">
                <a:solidFill>
                  <a:srgbClr val="F9C97A"/>
                </a:solidFill>
                <a:latin typeface="Inconsolata"/>
              </a:rPr>
              <a:t>1</a:t>
            </a:r>
            <a:r>
              <a:rPr sz="719" i="0">
                <a:solidFill>
                  <a:srgbClr val="E6EDF3"/>
                </a:solidFill>
                <a:latin typeface="Inconsolata"/>
              </a:rPr>
              <a:t>, </a:t>
            </a:r>
            <a:r>
              <a:rPr sz="719" i="0">
                <a:solidFill>
                  <a:srgbClr val="A5D6A7"/>
                </a:solidFill>
                <a:latin typeface="Inconsolata"/>
              </a:rPr>
              <a:t>"qty"</a:t>
            </a:r>
            <a:r>
              <a:rPr sz="719" i="0">
                <a:solidFill>
                  <a:srgbClr val="E6EDF3"/>
                </a:solidFill>
                <a:latin typeface="Inconsolata"/>
              </a:rPr>
              <a:t>: </a:t>
            </a:r>
            <a:r>
              <a:rPr sz="719" i="0">
                <a:solidFill>
                  <a:srgbClr val="F9C97A"/>
                </a:solidFill>
                <a:latin typeface="Inconsolata"/>
              </a:rPr>
              <a:t>2</a:t>
            </a:r>
            <a:r>
              <a:rPr sz="719" i="0">
                <a:solidFill>
                  <a:srgbClr val="E6EDF3"/>
                </a:solidFill>
                <a:latin typeface="Inconsolata"/>
              </a:rPr>
              <a:t>, </a:t>
            </a:r>
            <a:r>
              <a:rPr sz="719" i="0">
                <a:solidFill>
                  <a:srgbClr val="A5D6A7"/>
                </a:solidFill>
                <a:latin typeface="Inconsolata"/>
              </a:rPr>
              <a:t>"customer_type"</a:t>
            </a:r>
            <a:r>
              <a:rPr sz="719" i="0">
                <a:solidFill>
                  <a:srgbClr val="E6EDF3"/>
                </a:solidFill>
                <a:latin typeface="Inconsolata"/>
              </a:rPr>
              <a:t>: </a:t>
            </a:r>
            <a:r>
              <a:rPr sz="719" i="0">
                <a:solidFill>
                  <a:srgbClr val="A5D6A7"/>
                </a:solidFill>
                <a:latin typeface="Inconsolata"/>
              </a:rPr>
              <a:t>"vip"</a:t>
            </a:r>
            <a:r>
              <a:rPr sz="719" i="0">
                <a:solidFill>
                  <a:srgbClr val="E6EDF3"/>
                </a:solidFill>
                <a:latin typeface="Inconsolata"/>
              </a:rPr>
              <a:t>}]:</a:t>
            </a:r>
          </a:p>
          <a:p>
            <a:pPr>
              <a:lnSpc>
                <a:spcPct val="104277"/>
              </a:lnSpc>
              <a:spcAft>
                <a:spcPts val="0"/>
              </a:spcAft>
            </a:pPr>
            <a:r>
              <a:rPr sz="719" i="0">
                <a:solidFill>
                  <a:srgbClr val="5C6773"/>
                </a:solidFill>
                <a:latin typeface="Inconsolata"/>
              </a:rPr>
              <a:t>43  </a:t>
            </a:r>
            <a:r>
              <a:rPr sz="719" i="0">
                <a:solidFill>
                  <a:srgbClr val="E6EDF3"/>
                </a:solidFill>
                <a:latin typeface="Inconsolata"/>
              </a:rPr>
              <a:t>        response = client.post(</a:t>
            </a:r>
            <a:r>
              <a:rPr sz="719" i="0">
                <a:solidFill>
                  <a:srgbClr val="A5D6A7"/>
                </a:solidFill>
                <a:latin typeface="Inconsolata"/>
              </a:rPr>
              <a:t>"/orders"</a:t>
            </a:r>
            <a:r>
              <a:rPr sz="719" i="0">
                <a:solidFill>
                  <a:srgbClr val="E6EDF3"/>
                </a:solidFill>
                <a:latin typeface="Inconsolata"/>
              </a:rPr>
              <a:t>, json=body)</a:t>
            </a:r>
          </a:p>
          <a:p>
            <a:pPr>
              <a:lnSpc>
                <a:spcPct val="104277"/>
              </a:lnSpc>
              <a:spcAft>
                <a:spcPts val="0"/>
              </a:spcAft>
            </a:pPr>
            <a:r>
              <a:rPr sz="719" i="0">
                <a:solidFill>
                  <a:srgbClr val="5C6773"/>
                </a:solidFill>
                <a:latin typeface="Inconsolata"/>
              </a:rPr>
              <a:t>44  </a:t>
            </a:r>
            <a:r>
              <a:rPr sz="719" i="0">
                <a:solidFill>
                  <a:srgbClr val="E6EDF3"/>
                </a:solidFill>
                <a:latin typeface="Inconsolata"/>
              </a:rPr>
              <a:t>        result = response.json()</a:t>
            </a:r>
          </a:p>
          <a:p>
            <a:pPr>
              <a:lnSpc>
                <a:spcPct val="104277"/>
              </a:lnSpc>
              <a:spcAft>
                <a:spcPts val="0"/>
              </a:spcAft>
            </a:pPr>
            <a:r>
              <a:rPr sz="719" i="0">
                <a:solidFill>
                  <a:srgbClr val="5C6773"/>
                </a:solidFill>
                <a:latin typeface="Inconsolata"/>
              </a:rPr>
              <a:t>45  </a:t>
            </a:r>
            <a:r>
              <a:rPr sz="719" i="0">
                <a:solidFill>
                  <a:srgbClr val="E6EDF3"/>
                </a:solidFill>
                <a:latin typeface="Inconsolata"/>
              </a:rPr>
              <a:t>        </a:t>
            </a:r>
            <a:r>
              <a:rPr sz="719" i="0">
                <a:solidFill>
                  <a:srgbClr val="FF8E6E"/>
                </a:solidFill>
                <a:latin typeface="Inconsolata"/>
              </a:rPr>
              <a:t>if</a:t>
            </a:r>
            <a:r>
              <a:rPr sz="719" i="0">
                <a:solidFill>
                  <a:srgbClr val="E6EDF3"/>
                </a:solidFill>
                <a:latin typeface="Inconsolata"/>
              </a:rPr>
              <a:t> response.status_code == </a:t>
            </a:r>
            <a:r>
              <a:rPr sz="719" i="0">
                <a:solidFill>
                  <a:srgbClr val="F9C97A"/>
                </a:solidFill>
                <a:latin typeface="Inconsolata"/>
              </a:rPr>
              <a:t>422</a:t>
            </a:r>
            <a:r>
              <a:rPr sz="719" i="0">
                <a:solidFill>
                  <a:srgbClr val="E6EDF3"/>
                </a:solidFill>
                <a:latin typeface="Inconsolata"/>
              </a:rPr>
              <a:t>:</a:t>
            </a:r>
          </a:p>
          <a:p>
            <a:pPr>
              <a:lnSpc>
                <a:spcPct val="104277"/>
              </a:lnSpc>
              <a:spcAft>
                <a:spcPts val="0"/>
              </a:spcAft>
            </a:pPr>
            <a:r>
              <a:rPr sz="719" i="0">
                <a:solidFill>
                  <a:srgbClr val="5C6773"/>
                </a:solidFill>
                <a:latin typeface="Inconsolata"/>
              </a:rPr>
              <a:t>46  </a:t>
            </a:r>
            <a:r>
              <a:rPr sz="719" i="0">
                <a:solidFill>
                  <a:srgbClr val="E6EDF3"/>
                </a:solidFill>
                <a:latin typeface="Inconsolata"/>
              </a:rPr>
              <a:t>            result = [</a:t>
            </a:r>
            <a:r>
              <a:rPr sz="719" i="0">
                <a:solidFill>
                  <a:srgbClr val="A5D6A7"/>
                </a:solidFill>
                <a:latin typeface="Inconsolata"/>
              </a:rPr>
              <a:t>f"{e['loc'][-1]}: {e['msg']}"</a:t>
            </a:r>
          </a:p>
          <a:p>
            <a:pPr>
              <a:lnSpc>
                <a:spcPct val="104277"/>
              </a:lnSpc>
              <a:spcAft>
                <a:spcPts val="0"/>
              </a:spcAft>
            </a:pPr>
            <a:r>
              <a:rPr sz="719" i="0">
                <a:solidFill>
                  <a:srgbClr val="5C6773"/>
                </a:solidFill>
                <a:latin typeface="Inconsolata"/>
              </a:rPr>
              <a:t>47  </a:t>
            </a:r>
            <a:r>
              <a:rPr sz="719" i="0">
                <a:solidFill>
                  <a:srgbClr val="E6EDF3"/>
                </a:solidFill>
                <a:latin typeface="Inconsolata"/>
              </a:rPr>
              <a:t>                      </a:t>
            </a:r>
            <a:r>
              <a:rPr sz="719" i="0">
                <a:solidFill>
                  <a:srgbClr val="FF8E6E"/>
                </a:solidFill>
                <a:latin typeface="Inconsolata"/>
              </a:rPr>
              <a:t>for</a:t>
            </a:r>
            <a:r>
              <a:rPr sz="719" i="0">
                <a:solidFill>
                  <a:srgbClr val="E6EDF3"/>
                </a:solidFill>
                <a:latin typeface="Inconsolata"/>
              </a:rPr>
              <a:t> e </a:t>
            </a:r>
            <a:r>
              <a:rPr sz="719" i="0">
                <a:solidFill>
                  <a:srgbClr val="FF8E6E"/>
                </a:solidFill>
                <a:latin typeface="Inconsolata"/>
              </a:rPr>
              <a:t>in</a:t>
            </a:r>
            <a:r>
              <a:rPr sz="719" i="0">
                <a:solidFill>
                  <a:srgbClr val="E6EDF3"/>
                </a:solidFill>
                <a:latin typeface="Inconsolata"/>
              </a:rPr>
              <a:t> result[</a:t>
            </a:r>
            <a:r>
              <a:rPr sz="719" i="0">
                <a:solidFill>
                  <a:srgbClr val="A5D6A7"/>
                </a:solidFill>
                <a:latin typeface="Inconsolata"/>
              </a:rPr>
              <a:t>"detail"</a:t>
            </a:r>
            <a:r>
              <a:rPr sz="719" i="0">
                <a:solidFill>
                  <a:srgbClr val="E6EDF3"/>
                </a:solidFill>
                <a:latin typeface="Inconsolata"/>
              </a:rPr>
              <a:t>]]</a:t>
            </a:r>
          </a:p>
          <a:p>
            <a:pPr>
              <a:lnSpc>
                <a:spcPct val="104277"/>
              </a:lnSpc>
              <a:spcAft>
                <a:spcPts val="0"/>
              </a:spcAft>
            </a:pPr>
            <a:r>
              <a:rPr sz="719" i="0">
                <a:solidFill>
                  <a:srgbClr val="5C6773"/>
                </a:solidFill>
                <a:latin typeface="Inconsolata"/>
              </a:rPr>
              <a:t>48  </a:t>
            </a:r>
            <a:r>
              <a:rPr sz="719" i="0">
                <a:solidFill>
                  <a:srgbClr val="E6EDF3"/>
                </a:solidFill>
                <a:latin typeface="Inconsolata"/>
              </a:rPr>
              <a:t>        </a:t>
            </a:r>
            <a:r>
              <a:rPr sz="719" i="0">
                <a:solidFill>
                  <a:srgbClr val="C3A6FF"/>
                </a:solidFill>
                <a:latin typeface="Inconsolata"/>
              </a:rPr>
              <a:t>print</a:t>
            </a:r>
            <a:r>
              <a:rPr sz="719" i="0">
                <a:solidFill>
                  <a:srgbClr val="E6EDF3"/>
                </a:solidFill>
                <a:latin typeface="Inconsolata"/>
              </a:rPr>
              <a:t>(</a:t>
            </a:r>
            <a:r>
              <a:rPr sz="719" i="0">
                <a:solidFill>
                  <a:srgbClr val="A5D6A7"/>
                </a:solidFill>
                <a:latin typeface="Inconsolata"/>
              </a:rPr>
              <a:t>f"{body}\n  -&gt; {response.status_code} {result}"</a:t>
            </a:r>
            <a:r>
              <a:rPr sz="719" i="0">
                <a:solidFill>
                  <a:srgbClr val="E6EDF3"/>
                </a:solidFill>
                <a:latin typeface="Inconsolata"/>
              </a:rPr>
              <a:t>)</a:t>
            </a:r>
          </a:p>
        </p:txBody>
      </p:sp>
      <p:sp>
        <p:nvSpPr>
          <p:cNvPr id="36" name="Box 21"/>
          <p:cNvSpPr/>
          <p:nvPr/>
        </p:nvSpPr>
        <p:spPr>
          <a:xfrm>
            <a:off x="704088" y="2968371"/>
            <a:ext cx="3694176" cy="678942"/>
          </a:xfrm>
          <a:prstGeom prst="roundRect">
            <a:avLst>
              <a:gd name="adj" fmla="val 6734"/>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Box 22"/>
          <p:cNvSpPr/>
          <p:nvPr/>
        </p:nvSpPr>
        <p:spPr>
          <a:xfrm>
            <a:off x="4279392" y="318897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8" name="Box 23"/>
          <p:cNvSpPr/>
          <p:nvPr/>
        </p:nvSpPr>
        <p:spPr>
          <a:xfrm>
            <a:off x="4709159" y="2053971"/>
            <a:ext cx="3694176" cy="107442"/>
          </a:xfrm>
          <a:prstGeom prst="roundRect">
            <a:avLst>
              <a:gd name="adj" fmla="val 42553"/>
            </a:avLst>
          </a:prstGeom>
          <a:solidFill>
            <a:srgbClr val="2E7D5B">
              <a:alpha val="22000"/>
            </a:srgbClr>
          </a:solidFill>
          <a:ln w="12700">
            <a:solidFill>
              <a:srgbClr val="2E7D5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Box 24"/>
          <p:cNvSpPr/>
          <p:nvPr/>
        </p:nvSpPr>
        <p:spPr>
          <a:xfrm>
            <a:off x="8284463" y="1988820"/>
            <a:ext cx="237744" cy="237744"/>
          </a:xfrm>
          <a:prstGeom prst="ellipse">
            <a:avLst/>
          </a:prstGeom>
          <a:solidFill>
            <a:srgbClr val="2E7D5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Input Validation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Menjalankan 08-input-validation/after.py</a:t>
            </a:r>
          </a:p>
        </p:txBody>
      </p:sp>
      <p:sp>
        <p:nvSpPr>
          <p:cNvPr id="22" name="CodeTab 4"/>
          <p:cNvSpPr/>
          <p:nvPr/>
        </p:nvSpPr>
        <p:spPr>
          <a:xfrm>
            <a:off x="621792" y="1481328"/>
            <a:ext cx="429768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365760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cara menjalankan</a:t>
            </a:r>
          </a:p>
        </p:txBody>
      </p:sp>
      <p:sp>
        <p:nvSpPr>
          <p:cNvPr id="27" name="CodeBg 10"/>
          <p:cNvSpPr/>
          <p:nvPr/>
        </p:nvSpPr>
        <p:spPr>
          <a:xfrm>
            <a:off x="621792" y="1719072"/>
            <a:ext cx="4297680" cy="484632"/>
          </a:xfrm>
          <a:prstGeom prst="roundRect">
            <a:avLst>
              <a:gd name="adj" fmla="val 377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297680" cy="484632"/>
          </a:xfrm>
          <a:prstGeom prst="rect">
            <a:avLst/>
          </a:prstGeom>
          <a:noFill/>
        </p:spPr>
        <p:txBody>
          <a:bodyPr wrap="none" lIns="146304" tIns="91440" rIns="146304" bIns="54864">
            <a:spAutoFit/>
          </a:bodyPr>
          <a:lstStyle/>
          <a:p>
            <a:pPr>
              <a:lnSpc>
                <a:spcPct val="111111"/>
              </a:lnSpc>
              <a:spcAft>
                <a:spcPts val="0"/>
              </a:spcAft>
            </a:pPr>
            <a:r>
              <a:rPr sz="900" i="0">
                <a:solidFill>
                  <a:srgbClr val="82B1FF"/>
                </a:solidFill>
                <a:latin typeface="Inconsolata"/>
              </a:rPr>
              <a:t>$ cd sesi-10-api-security/08-input-validation</a:t>
            </a:r>
          </a:p>
          <a:p>
            <a:pPr>
              <a:lnSpc>
                <a:spcPct val="111111"/>
              </a:lnSpc>
              <a:spcAft>
                <a:spcPts val="0"/>
              </a:spcAft>
            </a:pPr>
            <a:r>
              <a:rPr sz="900" i="0">
                <a:solidFill>
                  <a:srgbClr val="82B1FF"/>
                </a:solidFill>
                <a:latin typeface="Inconsolata"/>
              </a:rPr>
              <a:t>$ python after.py</a:t>
            </a:r>
          </a:p>
        </p:txBody>
      </p:sp>
      <p:pic>
        <p:nvPicPr>
          <p:cNvPr id="29" name="Image 12" descr="s10-08-input-validation-after.png"/>
          <p:cNvPicPr>
            <a:picLocks noChangeAspect="1"/>
          </p:cNvPicPr>
          <p:nvPr/>
        </p:nvPicPr>
        <p:blipFill>
          <a:blip r:embed="rId2"/>
          <a:stretch>
            <a:fillRect/>
          </a:stretch>
        </p:blipFill>
        <p:spPr>
          <a:xfrm>
            <a:off x="621792" y="2322576"/>
            <a:ext cx="4297680" cy="1055319"/>
          </a:xfrm>
          <a:prstGeom prst="rect">
            <a:avLst/>
          </a:prstGeom>
        </p:spPr>
      </p:pic>
      <p:sp>
        <p:nvSpPr>
          <p:cNvPr id="30" name="Box 13"/>
          <p:cNvSpPr/>
          <p:nvPr/>
        </p:nvSpPr>
        <p:spPr>
          <a:xfrm>
            <a:off x="5074920" y="1481328"/>
            <a:ext cx="3410712" cy="3218688"/>
          </a:xfrm>
          <a:prstGeom prst="roundRect">
            <a:avLst>
              <a:gd name="adj" fmla="val 3409"/>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Text 14"/>
          <p:cNvSpPr txBox="1"/>
          <p:nvPr/>
        </p:nvSpPr>
        <p:spPr>
          <a:xfrm>
            <a:off x="5212080" y="1572768"/>
            <a:ext cx="3136392"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Perbaikannya</a:t>
            </a:r>
          </a:p>
        </p:txBody>
      </p:sp>
      <p:sp>
        <p:nvSpPr>
          <p:cNvPr id="32" name="Text 15"/>
          <p:cNvSpPr txBox="1"/>
          <p:nvPr/>
        </p:nvSpPr>
        <p:spPr>
          <a:xfrm>
            <a:off x="5212080" y="1892808"/>
            <a:ext cx="313639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Schema dengan batas nilai, nilai yang dikenal, dan field lain ditolak (baris 22-27)</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Harga selalu dari database (baris 32)</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Dua request pertama 422 dengan pesan per field, request yang benar 201.</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Least Privilege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Apa Itu Least Privilege?</a:t>
            </a:r>
          </a:p>
        </p:txBody>
      </p:sp>
      <p:sp>
        <p:nvSpPr>
          <p:cNvPr id="22" name="Text 3"/>
          <p:cNvSpPr txBox="1"/>
          <p:nvPr/>
        </p:nvSpPr>
        <p:spPr>
          <a:xfrm>
            <a:off x="621792" y="1481328"/>
            <a:ext cx="3840480" cy="3291840"/>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Least privilege adalah</a:t>
            </a:r>
          </a:p>
          <a:p>
            <a:pPr algn="l">
              <a:lnSpc>
                <a:spcPct val="115000"/>
              </a:lnSpc>
              <a:spcAft>
                <a:spcPts val="400"/>
              </a:spcAft>
            </a:pPr>
            <a:r>
              <a:rPr sz="950" b="0" i="0">
                <a:solidFill>
                  <a:srgbClr val="434343"/>
                </a:solidFill>
                <a:latin typeface="Inter"/>
              </a:rPr>
              <a:t>Prinsip keamanan: setiap user, proses, dan service hanya diberi akses </a:t>
            </a:r>
            <a:r>
              <a:rPr sz="950" b="1" i="0">
                <a:solidFill>
                  <a:srgbClr val="434343"/>
                </a:solidFill>
                <a:latin typeface="Inter"/>
              </a:rPr>
              <a:t>minimal</a:t>
            </a:r>
            <a:r>
              <a:rPr sz="950" b="0" i="0">
                <a:solidFill>
                  <a:srgbClr val="434343"/>
                </a:solidFill>
                <a:latin typeface="Inter"/>
              </a:rPr>
              <a:t> yang dibutuhkan untuk tugasnya. Sehingga jika satu bagian berhasil dibobol, kerusakannya terbatas.</a:t>
            </a:r>
          </a:p>
          <a:p>
            <a:pPr algn="l">
              <a:lnSpc>
                <a:spcPct val="115000"/>
              </a:lnSpc>
              <a:spcAft>
                <a:spcPts val="400"/>
              </a:spcAft>
            </a:pPr>
            <a:r>
              <a:rPr sz="1050" b="1" i="0">
                <a:solidFill>
                  <a:srgbClr val="1C4587"/>
                </a:solidFill>
                <a:latin typeface="Inter"/>
              </a:rPr>
              <a:t>Untuk apa</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Membatasi dampak token, akun, atau server yang bocor</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Membuat hak akses mudah di-review</a:t>
            </a:r>
          </a:p>
        </p:txBody>
      </p:sp>
      <p:graphicFrame>
        <p:nvGraphicFramePr>
          <p:cNvPr id="23" name="Table 4"/>
          <p:cNvGraphicFramePr>
            <a:graphicFrameLocks noGrp="1"/>
          </p:cNvGraphicFramePr>
          <p:nvPr/>
        </p:nvGraphicFramePr>
        <p:xfrm>
          <a:off x="4892040" y="1481328"/>
          <a:ext cx="3593592" cy="2304288"/>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2221992">
                  <a:extLst>
                    <a:ext uri="{9D8B030D-6E8A-4147-A177-3AD203B41FA5}">
                      <a16:colId xmlns:a16="http://schemas.microsoft.com/office/drawing/2014/main" val="20001"/>
                    </a:ext>
                  </a:extLst>
                </a:gridCol>
              </a:tblGrid>
              <a:tr h="384048">
                <a:tc>
                  <a:txBody>
                    <a:bodyPr/>
                    <a:lstStyle/>
                    <a:p>
                      <a:pPr algn="l">
                        <a:lnSpc>
                          <a:spcPct val="100000"/>
                        </a:lnSpc>
                        <a:spcAft>
                          <a:spcPts val="0"/>
                        </a:spcAft>
                      </a:pPr>
                      <a:r>
                        <a:rPr sz="850" b="1" i="0">
                          <a:solidFill>
                            <a:srgbClr val="FFFFFF"/>
                          </a:solidFill>
                          <a:latin typeface="Inter"/>
                        </a:rPr>
                        <a:t>Di mana</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Diterapkan dengan</a:t>
                      </a:r>
                    </a:p>
                  </a:txBody>
                  <a:tcPr marL="73152" marR="73152" marT="36576" marB="36576" anchor="ctr">
                    <a:solidFill>
                      <a:srgbClr val="1C4587"/>
                    </a:solidFill>
                  </a:tcPr>
                </a:tc>
                <a:extLst>
                  <a:ext uri="{0D108BD9-81ED-4DB2-BD59-A6C34878D82A}">
                    <a16:rowId xmlns:a16="http://schemas.microsoft.com/office/drawing/2014/main" val="10000"/>
                  </a:ext>
                </a:extLst>
              </a:tr>
              <a:tr h="384048">
                <a:tc>
                  <a:txBody>
                    <a:bodyPr/>
                    <a:lstStyle/>
                    <a:p>
                      <a:pPr algn="l">
                        <a:lnSpc>
                          <a:spcPct val="100000"/>
                        </a:lnSpc>
                        <a:spcAft>
                          <a:spcPts val="0"/>
                        </a:spcAft>
                      </a:pPr>
                      <a:r>
                        <a:rPr sz="850" b="1" i="0">
                          <a:solidFill>
                            <a:srgbClr val="1C4587"/>
                          </a:solidFill>
                          <a:latin typeface="Inter"/>
                        </a:rPr>
                        <a:t>User API</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Customer hanya orders:write</a:t>
                      </a:r>
                    </a:p>
                  </a:txBody>
                  <a:tcPr marL="73152" marR="73152" marT="36576" marB="36576" anchor="ctr">
                    <a:solidFill>
                      <a:srgbClr val="FFFFFF"/>
                    </a:solidFill>
                  </a:tcPr>
                </a:tc>
                <a:extLst>
                  <a:ext uri="{0D108BD9-81ED-4DB2-BD59-A6C34878D82A}">
                    <a16:rowId xmlns:a16="http://schemas.microsoft.com/office/drawing/2014/main" val="10001"/>
                  </a:ext>
                </a:extLst>
              </a:tr>
              <a:tr h="384048">
                <a:tc>
                  <a:txBody>
                    <a:bodyPr/>
                    <a:lstStyle/>
                    <a:p>
                      <a:pPr algn="l">
                        <a:lnSpc>
                          <a:spcPct val="100000"/>
                        </a:lnSpc>
                        <a:spcAft>
                          <a:spcPts val="0"/>
                        </a:spcAft>
                      </a:pPr>
                      <a:r>
                        <a:rPr sz="850" b="1" i="0">
                          <a:solidFill>
                            <a:srgbClr val="1C4587"/>
                          </a:solidFill>
                          <a:latin typeface="Inter"/>
                        </a:rPr>
                        <a:t>Token</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exp 30 menit, scope sesuai role</a:t>
                      </a:r>
                    </a:p>
                  </a:txBody>
                  <a:tcPr marL="73152" marR="73152" marT="36576" marB="36576" anchor="ctr">
                    <a:solidFill>
                      <a:srgbClr val="F3F4F6"/>
                    </a:solidFill>
                  </a:tcPr>
                </a:tc>
                <a:extLst>
                  <a:ext uri="{0D108BD9-81ED-4DB2-BD59-A6C34878D82A}">
                    <a16:rowId xmlns:a16="http://schemas.microsoft.com/office/drawing/2014/main" val="10002"/>
                  </a:ext>
                </a:extLst>
              </a:tr>
              <a:tr h="384048">
                <a:tc>
                  <a:txBody>
                    <a:bodyPr/>
                    <a:lstStyle/>
                    <a:p>
                      <a:pPr algn="l">
                        <a:lnSpc>
                          <a:spcPct val="100000"/>
                        </a:lnSpc>
                        <a:spcAft>
                          <a:spcPts val="0"/>
                        </a:spcAft>
                      </a:pPr>
                      <a:r>
                        <a:rPr sz="850" b="1" i="0">
                          <a:solidFill>
                            <a:srgbClr val="1C4587"/>
                          </a:solidFill>
                          <a:latin typeface="Inter"/>
                        </a:rPr>
                        <a:t>Consumer dan worker</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Tidak membaca JWT_SECRET</a:t>
                      </a:r>
                    </a:p>
                  </a:txBody>
                  <a:tcPr marL="73152" marR="73152" marT="36576" marB="36576" anchor="ctr">
                    <a:solidFill>
                      <a:srgbClr val="FFFFFF"/>
                    </a:solidFill>
                  </a:tcPr>
                </a:tc>
                <a:extLst>
                  <a:ext uri="{0D108BD9-81ED-4DB2-BD59-A6C34878D82A}">
                    <a16:rowId xmlns:a16="http://schemas.microsoft.com/office/drawing/2014/main" val="10003"/>
                  </a:ext>
                </a:extLst>
              </a:tr>
              <a:tr h="384048">
                <a:tc>
                  <a:txBody>
                    <a:bodyPr/>
                    <a:lstStyle/>
                    <a:p>
                      <a:pPr algn="l">
                        <a:lnSpc>
                          <a:spcPct val="100000"/>
                        </a:lnSpc>
                        <a:spcAft>
                          <a:spcPts val="0"/>
                        </a:spcAft>
                      </a:pPr>
                      <a:r>
                        <a:rPr sz="850" b="1" i="0">
                          <a:solidFill>
                            <a:srgbClr val="1C4587"/>
                          </a:solidFill>
                          <a:latin typeface="Inter"/>
                        </a:rPr>
                        <a:t>User database</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Tanpa hak DROP / ALTER di production</a:t>
                      </a:r>
                    </a:p>
                  </a:txBody>
                  <a:tcPr marL="73152" marR="73152" marT="36576" marB="36576" anchor="ctr">
                    <a:solidFill>
                      <a:srgbClr val="F3F4F6"/>
                    </a:solidFill>
                  </a:tcPr>
                </a:tc>
                <a:extLst>
                  <a:ext uri="{0D108BD9-81ED-4DB2-BD59-A6C34878D82A}">
                    <a16:rowId xmlns:a16="http://schemas.microsoft.com/office/drawing/2014/main" val="10004"/>
                  </a:ext>
                </a:extLst>
              </a:tr>
              <a:tr h="384048">
                <a:tc>
                  <a:txBody>
                    <a:bodyPr/>
                    <a:lstStyle/>
                    <a:p>
                      <a:pPr algn="l">
                        <a:lnSpc>
                          <a:spcPct val="100000"/>
                        </a:lnSpc>
                        <a:spcAft>
                          <a:spcPts val="0"/>
                        </a:spcAft>
                      </a:pPr>
                      <a:r>
                        <a:rPr sz="850" b="1" i="0">
                          <a:solidFill>
                            <a:srgbClr val="1C4587"/>
                          </a:solidFill>
                          <a:latin typeface="Inter"/>
                        </a:rPr>
                        <a:t>Container (Sesi 11)</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Jalan sebagai user non-root</a:t>
                      </a:r>
                    </a:p>
                  </a:txBody>
                  <a:tcPr marL="73152" marR="73152" marT="36576" marB="36576" anchor="ctr">
                    <a:solidFill>
                      <a:srgbClr val="FFFFFF"/>
                    </a:solidFill>
                  </a:tcPr>
                </a:tc>
                <a:extLst>
                  <a:ext uri="{0D108BD9-81ED-4DB2-BD59-A6C34878D82A}">
                    <a16:rowId xmlns:a16="http://schemas.microsoft.com/office/drawing/2014/main" val="10005"/>
                  </a:ext>
                </a:extLst>
              </a:tr>
            </a:tbl>
          </a:graphicData>
        </a:graphic>
      </p:graphicFrame>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58</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04</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Hands-on: Login OAuth2 dan Hak Akses per Role</a:t>
            </a:r>
          </a:p>
        </p:txBody>
      </p:sp>
      <p:sp>
        <p:nvSpPr>
          <p:cNvPr id="33" name="Text 3"/>
          <p:cNvSpPr txBox="1"/>
          <p:nvPr/>
        </p:nvSpPr>
        <p:spPr>
          <a:xfrm>
            <a:off x="822960" y="324612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Dikerjakan bersama mentor, langkah demi langkah. Ditutup dengan security checklist.</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59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Kondisi Awal</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Hasil Sesi 9: Semua Endpoint Terbuka</a:t>
            </a:r>
          </a:p>
        </p:txBody>
      </p:sp>
      <p:sp>
        <p:nvSpPr>
          <p:cNvPr id="22" name="CodeTab 4"/>
          <p:cNvSpPr/>
          <p:nvPr/>
        </p:nvSpPr>
        <p:spPr>
          <a:xfrm>
            <a:off x="621792" y="1481328"/>
            <a:ext cx="51206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4805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09-secure-orders/before/app</a:t>
            </a:r>
          </a:p>
        </p:txBody>
      </p:sp>
      <p:sp>
        <p:nvSpPr>
          <p:cNvPr id="27" name="CodeBg 10"/>
          <p:cNvSpPr/>
          <p:nvPr/>
        </p:nvSpPr>
        <p:spPr>
          <a:xfrm>
            <a:off x="621792" y="1719072"/>
            <a:ext cx="51206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120640" cy="2980944"/>
          </a:xfrm>
          <a:prstGeom prst="rect">
            <a:avLst/>
          </a:prstGeom>
          <a:noFill/>
        </p:spPr>
        <p:txBody>
          <a:bodyPr wrap="none" lIns="146304" tIns="91440" rIns="146304" bIns="54864">
            <a:spAutoFit/>
          </a:bodyPr>
          <a:lstStyle/>
          <a:p>
            <a:pPr>
              <a:lnSpc>
                <a:spcPct val="107143"/>
              </a:lnSpc>
              <a:spcAft>
                <a:spcPts val="0"/>
              </a:spcAft>
            </a:pPr>
            <a:r>
              <a:rPr sz="700" i="1">
                <a:solidFill>
                  <a:srgbClr val="8B98A8"/>
                </a:solidFill>
                <a:latin typeface="Inconsolata"/>
              </a:rPr>
              <a:t># api/schemas.py</a:t>
            </a:r>
          </a:p>
          <a:p>
            <a:pPr>
              <a:lnSpc>
                <a:spcPct val="107143"/>
              </a:lnSpc>
              <a:spcAft>
                <a:spcPts val="0"/>
              </a:spcAft>
            </a:pPr>
            <a:r>
              <a:rPr sz="700" i="0">
                <a:solidFill>
                  <a:srgbClr val="FF8E6E"/>
                </a:solidFill>
                <a:latin typeface="Inconsolata"/>
              </a:rPr>
              <a:t>class</a:t>
            </a:r>
            <a:r>
              <a:rPr sz="700" i="0">
                <a:solidFill>
                  <a:srgbClr val="E6EDF3"/>
                </a:solidFill>
                <a:latin typeface="Inconsolata"/>
              </a:rPr>
              <a:t> </a:t>
            </a:r>
            <a:r>
              <a:rPr sz="700" i="0">
                <a:solidFill>
                  <a:srgbClr val="7FDBCA"/>
                </a:solidFill>
                <a:latin typeface="Inconsolata"/>
              </a:rPr>
              <a:t>OrderIn</a:t>
            </a:r>
            <a:r>
              <a:rPr sz="700" i="0">
                <a:solidFill>
                  <a:srgbClr val="E6EDF3"/>
                </a:solidFill>
                <a:latin typeface="Inconsolata"/>
              </a:rPr>
              <a:t>(</a:t>
            </a:r>
            <a:r>
              <a:rPr sz="700" i="0">
                <a:solidFill>
                  <a:srgbClr val="7FDBCA"/>
                </a:solidFill>
                <a:latin typeface="Inconsolata"/>
              </a:rPr>
              <a:t>BaseModel</a:t>
            </a:r>
            <a:r>
              <a:rPr sz="700" i="0">
                <a:solidFill>
                  <a:srgbClr val="E6EDF3"/>
                </a:solidFill>
                <a:latin typeface="Inconsolata"/>
              </a:rPr>
              <a:t>):</a:t>
            </a:r>
          </a:p>
          <a:p>
            <a:pPr>
              <a:lnSpc>
                <a:spcPct val="107143"/>
              </a:lnSpc>
              <a:spcAft>
                <a:spcPts val="0"/>
              </a:spcAft>
            </a:pPr>
            <a:r>
              <a:rPr sz="700" i="0">
                <a:solidFill>
                  <a:srgbClr val="E6EDF3"/>
                </a:solidFill>
                <a:latin typeface="Inconsolata"/>
              </a:rPr>
              <a:t>    customer: </a:t>
            </a:r>
            <a:r>
              <a:rPr sz="700" i="0">
                <a:solidFill>
                  <a:srgbClr val="C3A6FF"/>
                </a:solidFill>
                <a:latin typeface="Inconsolata"/>
              </a:rPr>
              <a:t>str</a:t>
            </a:r>
            <a:r>
              <a:rPr sz="700" i="0">
                <a:solidFill>
                  <a:srgbClr val="E6EDF3"/>
                </a:solidFill>
                <a:latin typeface="Inconsolata"/>
              </a:rPr>
              <a:t> = </a:t>
            </a:r>
            <a:r>
              <a:rPr sz="700" i="0">
                <a:solidFill>
                  <a:srgbClr val="7FDBCA"/>
                </a:solidFill>
                <a:latin typeface="Inconsolata"/>
              </a:rPr>
              <a:t>Field</a:t>
            </a:r>
            <a:r>
              <a:rPr sz="700" i="0">
                <a:solidFill>
                  <a:srgbClr val="E6EDF3"/>
                </a:solidFill>
                <a:latin typeface="Inconsolata"/>
              </a:rPr>
              <a:t>(min_length=</a:t>
            </a:r>
            <a:r>
              <a:rPr sz="700" i="0">
                <a:solidFill>
                  <a:srgbClr val="F9C97A"/>
                </a:solidFill>
                <a:latin typeface="Inconsolata"/>
              </a:rPr>
              <a:t>1</a:t>
            </a:r>
            <a:r>
              <a:rPr sz="700" i="0">
                <a:solidFill>
                  <a:srgbClr val="E6EDF3"/>
                </a:solidFill>
                <a:latin typeface="Inconsolata"/>
              </a:rPr>
              <a:t>, examples=[</a:t>
            </a:r>
            <a:r>
              <a:rPr sz="700" i="0">
                <a:solidFill>
                  <a:srgbClr val="A5D6A7"/>
                </a:solidFill>
                <a:latin typeface="Inconsolata"/>
              </a:rPr>
              <a:t>"budi@mail.com"</a:t>
            </a:r>
            <a:r>
              <a:rPr sz="700" i="0">
                <a:solidFill>
                  <a:srgbClr val="E6EDF3"/>
                </a:solidFill>
                <a:latin typeface="Inconsolata"/>
              </a:rPr>
              <a:t>])</a:t>
            </a:r>
          </a:p>
          <a:p>
            <a:pPr>
              <a:lnSpc>
                <a:spcPct val="107143"/>
              </a:lnSpc>
              <a:spcAft>
                <a:spcPts val="0"/>
              </a:spcAft>
            </a:pPr>
            <a:r>
              <a:rPr sz="700" i="0">
                <a:solidFill>
                  <a:srgbClr val="E6EDF3"/>
                </a:solidFill>
                <a:latin typeface="Inconsolata"/>
              </a:rPr>
              <a:t>    customer_type: </a:t>
            </a:r>
            <a:r>
              <a:rPr sz="700" i="0">
                <a:solidFill>
                  <a:srgbClr val="C3A6FF"/>
                </a:solidFill>
                <a:latin typeface="Inconsolata"/>
              </a:rPr>
              <a:t>str</a:t>
            </a:r>
            <a:r>
              <a:rPr sz="700" i="0">
                <a:solidFill>
                  <a:srgbClr val="E6EDF3"/>
                </a:solidFill>
                <a:latin typeface="Inconsolata"/>
              </a:rPr>
              <a:t> = </a:t>
            </a:r>
            <a:r>
              <a:rPr sz="700" i="0">
                <a:solidFill>
                  <a:srgbClr val="7FDBCA"/>
                </a:solidFill>
                <a:latin typeface="Inconsolata"/>
              </a:rPr>
              <a:t>Field</a:t>
            </a:r>
            <a:r>
              <a:rPr sz="700" i="0">
                <a:solidFill>
                  <a:srgbClr val="E6EDF3"/>
                </a:solidFill>
                <a:latin typeface="Inconsolata"/>
              </a:rPr>
              <a:t>(</a:t>
            </a:r>
            <a:r>
              <a:rPr sz="700" i="0">
                <a:solidFill>
                  <a:srgbClr val="A5D6A7"/>
                </a:solidFill>
                <a:latin typeface="Inconsolata"/>
              </a:rPr>
              <a:t>"regular"</a:t>
            </a:r>
            <a:r>
              <a:rPr sz="700" i="0">
                <a:solidFill>
                  <a:srgbClr val="E6EDF3"/>
                </a:solidFill>
                <a:latin typeface="Inconsolata"/>
              </a:rPr>
              <a:t>, examples=[</a:t>
            </a:r>
            <a:r>
              <a:rPr sz="700" i="0">
                <a:solidFill>
                  <a:srgbClr val="A5D6A7"/>
                </a:solidFill>
                <a:latin typeface="Inconsolata"/>
              </a:rPr>
              <a:t>"vip"</a:t>
            </a:r>
            <a:r>
              <a:rPr sz="700" i="0">
                <a:solidFill>
                  <a:srgbClr val="E6EDF3"/>
                </a:solidFill>
                <a:latin typeface="Inconsolata"/>
              </a:rPr>
              <a:t>])</a:t>
            </a:r>
          </a:p>
          <a:p>
            <a:pPr>
              <a:lnSpc>
                <a:spcPct val="107143"/>
              </a:lnSpc>
              <a:spcAft>
                <a:spcPts val="0"/>
              </a:spcAft>
            </a:pPr>
            <a:r>
              <a:rPr sz="700" i="0">
                <a:solidFill>
                  <a:srgbClr val="E6EDF3"/>
                </a:solidFill>
                <a:latin typeface="Inconsolata"/>
              </a:rPr>
              <a:t>    items: </a:t>
            </a:r>
            <a:r>
              <a:rPr sz="700" i="0">
                <a:solidFill>
                  <a:srgbClr val="C3A6FF"/>
                </a:solidFill>
                <a:latin typeface="Inconsolata"/>
              </a:rPr>
              <a:t>list</a:t>
            </a:r>
            <a:r>
              <a:rPr sz="700" i="0">
                <a:solidFill>
                  <a:srgbClr val="E6EDF3"/>
                </a:solidFill>
                <a:latin typeface="Inconsolata"/>
              </a:rPr>
              <a:t>[</a:t>
            </a:r>
            <a:r>
              <a:rPr sz="700" i="0">
                <a:solidFill>
                  <a:srgbClr val="7FDBCA"/>
                </a:solidFill>
                <a:latin typeface="Inconsolata"/>
              </a:rPr>
              <a:t>OrderItemIn</a:t>
            </a:r>
            <a:r>
              <a:rPr sz="700" i="0">
                <a:solidFill>
                  <a:srgbClr val="E6EDF3"/>
                </a:solidFill>
                <a:latin typeface="Inconsolata"/>
              </a:rPr>
              <a:t>] = </a:t>
            </a:r>
            <a:r>
              <a:rPr sz="700" i="0">
                <a:solidFill>
                  <a:srgbClr val="7FDBCA"/>
                </a:solidFill>
                <a:latin typeface="Inconsolata"/>
              </a:rPr>
              <a:t>Field</a:t>
            </a:r>
            <a:r>
              <a:rPr sz="700" i="0">
                <a:solidFill>
                  <a:srgbClr val="E6EDF3"/>
                </a:solidFill>
                <a:latin typeface="Inconsolata"/>
              </a:rPr>
              <a:t>(min_length=</a:t>
            </a:r>
            <a:r>
              <a:rPr sz="700" i="0">
                <a:solidFill>
                  <a:srgbClr val="F9C97A"/>
                </a:solidFill>
                <a:latin typeface="Inconsolata"/>
              </a:rPr>
              <a:t>1</a:t>
            </a:r>
            <a:r>
              <a:rPr sz="700" i="0">
                <a:solidFill>
                  <a:srgbClr val="E6EDF3"/>
                </a:solidFill>
                <a:latin typeface="Inconsolata"/>
              </a:rPr>
              <a:t>)</a:t>
            </a:r>
          </a:p>
          <a:p>
            <a:pPr>
              <a:lnSpc>
                <a:spcPct val="107143"/>
              </a:lnSpc>
              <a:spcAft>
                <a:spcPts val="0"/>
              </a:spcAft>
            </a:pPr>
            <a:r>
              <a:rPr sz="700" i="0">
                <a:solidFill>
                  <a:srgbClr val="E6EDF3"/>
                </a:solidFill>
                <a:latin typeface="Inconsolata"/>
              </a:rPr>
              <a:t> </a:t>
            </a:r>
          </a:p>
          <a:p>
            <a:pPr>
              <a:lnSpc>
                <a:spcPct val="107143"/>
              </a:lnSpc>
              <a:spcAft>
                <a:spcPts val="0"/>
              </a:spcAft>
            </a:pPr>
            <a:r>
              <a:rPr sz="700" i="1">
                <a:solidFill>
                  <a:srgbClr val="8B98A8"/>
                </a:solidFill>
                <a:latin typeface="Inconsolata"/>
              </a:rPr>
              <a:t># api/routers/orders.py</a:t>
            </a:r>
          </a:p>
          <a:p>
            <a:pPr>
              <a:lnSpc>
                <a:spcPct val="107143"/>
              </a:lnSpc>
              <a:spcAft>
                <a:spcPts val="0"/>
              </a:spcAft>
            </a:pPr>
            <a:r>
              <a:rPr sz="700" i="0">
                <a:solidFill>
                  <a:srgbClr val="F9C97A"/>
                </a:solidFill>
                <a:latin typeface="Inconsolata"/>
              </a:rPr>
              <a:t>@router.get</a:t>
            </a:r>
            <a:r>
              <a:rPr sz="700" i="0">
                <a:solidFill>
                  <a:srgbClr val="E6EDF3"/>
                </a:solidFill>
                <a:latin typeface="Inconsolata"/>
              </a:rPr>
              <a:t>(</a:t>
            </a:r>
            <a:r>
              <a:rPr sz="700" i="0">
                <a:solidFill>
                  <a:srgbClr val="A5D6A7"/>
                </a:solidFill>
                <a:latin typeface="Inconsolata"/>
              </a:rPr>
              <a:t>"/{order_id}"</a:t>
            </a:r>
            <a:r>
              <a:rPr sz="700" i="0">
                <a:solidFill>
                  <a:srgbClr val="E6EDF3"/>
                </a:solidFill>
                <a:latin typeface="Inconsolata"/>
              </a:rPr>
              <a:t>, response_model=</a:t>
            </a:r>
            <a:r>
              <a:rPr sz="700" i="0">
                <a:solidFill>
                  <a:srgbClr val="7FDBCA"/>
                </a:solidFill>
                <a:latin typeface="Inconsolata"/>
              </a:rPr>
              <a:t>OrderOut</a:t>
            </a:r>
            <a:r>
              <a:rPr sz="700" i="0">
                <a:solidFill>
                  <a:srgbClr val="E6EDF3"/>
                </a:solidFill>
                <a:latin typeface="Inconsolata"/>
              </a:rPr>
              <a:t>, summary=</a:t>
            </a:r>
            <a:r>
              <a:rPr sz="700" i="0">
                <a:solidFill>
                  <a:srgbClr val="A5D6A7"/>
                </a:solidFill>
                <a:latin typeface="Inconsolata"/>
              </a:rPr>
              <a:t>"Detail order"</a:t>
            </a:r>
            <a:r>
              <a:rPr sz="700" i="0">
                <a:solidFill>
                  <a:srgbClr val="E6EDF3"/>
                </a:solidFill>
                <a:latin typeface="Inconsolata"/>
              </a:rPr>
              <a:t>, responses=</a:t>
            </a:r>
            <a:r>
              <a:rPr sz="700" i="0">
                <a:solidFill>
                  <a:srgbClr val="7FDBCA"/>
                </a:solidFill>
                <a:latin typeface="Inconsolata"/>
              </a:rPr>
              <a:t>NOT_FOUND</a:t>
            </a:r>
            <a:r>
              <a:rPr sz="700" i="0">
                <a:solidFill>
                  <a:srgbClr val="E6EDF3"/>
                </a:solidFill>
                <a:latin typeface="Inconsolata"/>
              </a:rPr>
              <a:t>)</a:t>
            </a:r>
          </a:p>
          <a:p>
            <a:pPr>
              <a:lnSpc>
                <a:spcPct val="107143"/>
              </a:lnSpc>
              <a:spcAft>
                <a:spcPts val="0"/>
              </a:spcAft>
            </a:pPr>
            <a:r>
              <a:rPr sz="700" i="0">
                <a:solidFill>
                  <a:srgbClr val="FF8E6E"/>
                </a:solidFill>
                <a:latin typeface="Inconsolata"/>
              </a:rPr>
              <a:t>def</a:t>
            </a:r>
            <a:r>
              <a:rPr sz="700" i="0">
                <a:solidFill>
                  <a:srgbClr val="E6EDF3"/>
                </a:solidFill>
                <a:latin typeface="Inconsolata"/>
              </a:rPr>
              <a:t> </a:t>
            </a:r>
            <a:r>
              <a:rPr sz="700" i="0">
                <a:solidFill>
                  <a:srgbClr val="82B1FF"/>
                </a:solidFill>
                <a:latin typeface="Inconsolata"/>
              </a:rPr>
              <a:t>get_order</a:t>
            </a:r>
            <a:r>
              <a:rPr sz="700" i="0">
                <a:solidFill>
                  <a:srgbClr val="E6EDF3"/>
                </a:solidFill>
                <a:latin typeface="Inconsolata"/>
              </a:rPr>
              <a:t>(order_id: </a:t>
            </a:r>
            <a:r>
              <a:rPr sz="700" i="0">
                <a:solidFill>
                  <a:srgbClr val="C3A6FF"/>
                </a:solidFill>
                <a:latin typeface="Inconsolata"/>
              </a:rPr>
              <a:t>int</a:t>
            </a:r>
            <a:r>
              <a:rPr sz="700" i="0">
                <a:solidFill>
                  <a:srgbClr val="E6EDF3"/>
                </a:solidFill>
                <a:latin typeface="Inconsolata"/>
              </a:rPr>
              <a:t>, service: </a:t>
            </a:r>
            <a:r>
              <a:rPr sz="700" i="0">
                <a:solidFill>
                  <a:srgbClr val="7FDBCA"/>
                </a:solidFill>
                <a:latin typeface="Inconsolata"/>
              </a:rPr>
              <a:t>OrderService</a:t>
            </a:r>
            <a:r>
              <a:rPr sz="700" i="0">
                <a:solidFill>
                  <a:srgbClr val="E6EDF3"/>
                </a:solidFill>
                <a:latin typeface="Inconsolata"/>
              </a:rPr>
              <a:t> = </a:t>
            </a:r>
            <a:r>
              <a:rPr sz="700" i="0">
                <a:solidFill>
                  <a:srgbClr val="7FDBCA"/>
                </a:solidFill>
                <a:latin typeface="Inconsolata"/>
              </a:rPr>
              <a:t>Depends</a:t>
            </a:r>
            <a:r>
              <a:rPr sz="700" i="0">
                <a:solidFill>
                  <a:srgbClr val="E6EDF3"/>
                </a:solidFill>
                <a:latin typeface="Inconsolata"/>
              </a:rPr>
              <a:t>(get_order_service)):</a:t>
            </a:r>
          </a:p>
          <a:p>
            <a:pPr>
              <a:lnSpc>
                <a:spcPct val="107143"/>
              </a:lnSpc>
              <a:spcAft>
                <a:spcPts val="0"/>
              </a:spcAft>
            </a:pPr>
            <a:r>
              <a:rPr sz="700" i="0">
                <a:solidFill>
                  <a:srgbClr val="E6EDF3"/>
                </a:solidFill>
                <a:latin typeface="Inconsolata"/>
              </a:rPr>
              <a:t>    </a:t>
            </a:r>
            <a:r>
              <a:rPr sz="700" i="0">
                <a:solidFill>
                  <a:srgbClr val="FF8E6E"/>
                </a:solidFill>
                <a:latin typeface="Inconsolata"/>
              </a:rPr>
              <a:t>return</a:t>
            </a:r>
            <a:r>
              <a:rPr sz="700" i="0">
                <a:solidFill>
                  <a:srgbClr val="E6EDF3"/>
                </a:solidFill>
                <a:latin typeface="Inconsolata"/>
              </a:rPr>
              <a:t> </a:t>
            </a:r>
            <a:r>
              <a:rPr sz="700" i="0">
                <a:solidFill>
                  <a:srgbClr val="7FDBCA"/>
                </a:solidFill>
                <a:latin typeface="Inconsolata"/>
              </a:rPr>
              <a:t>OrderOut</a:t>
            </a:r>
            <a:r>
              <a:rPr sz="700" i="0">
                <a:solidFill>
                  <a:srgbClr val="E6EDF3"/>
                </a:solidFill>
                <a:latin typeface="Inconsolata"/>
              </a:rPr>
              <a:t>.from_domain(service.get_order(order_id))</a:t>
            </a:r>
          </a:p>
        </p:txBody>
      </p:sp>
      <p:sp>
        <p:nvSpPr>
          <p:cNvPr id="29" name="Box 12"/>
          <p:cNvSpPr/>
          <p:nvPr/>
        </p:nvSpPr>
        <p:spPr>
          <a:xfrm>
            <a:off x="704088" y="2053971"/>
            <a:ext cx="4956048" cy="221742"/>
          </a:xfrm>
          <a:prstGeom prst="roundRect">
            <a:avLst>
              <a:gd name="adj" fmla="val 20618"/>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541264" y="204597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739771"/>
            <a:ext cx="4956048" cy="107442"/>
          </a:xfrm>
          <a:prstGeom prst="roundRect">
            <a:avLst>
              <a:gd name="adj" fmla="val 42553"/>
            </a:avLst>
          </a:prstGeom>
          <a:solidFill>
            <a:srgbClr val="C0392B">
              <a:alpha val="22000"/>
            </a:srgbClr>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541264" y="2674620"/>
            <a:ext cx="237744" cy="237744"/>
          </a:xfrm>
          <a:prstGeom prst="ellipse">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5897879" y="1481328"/>
            <a:ext cx="2587752" cy="3218688"/>
          </a:xfrm>
          <a:prstGeom prst="roundRect">
            <a:avLst>
              <a:gd name="adj" fmla="val 4240"/>
            </a:avLst>
          </a:prstGeom>
          <a:solidFill>
            <a:srgbClr val="FBEAEA"/>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035040" y="1572768"/>
            <a:ext cx="2313432" cy="310896"/>
          </a:xfrm>
          <a:prstGeom prst="rect">
            <a:avLst/>
          </a:prstGeom>
          <a:noFill/>
        </p:spPr>
        <p:txBody>
          <a:bodyPr wrap="square" lIns="45720" rIns="45720" anchor="t">
            <a:spAutoFit/>
          </a:bodyPr>
          <a:lstStyle/>
          <a:p>
            <a:pPr algn="l">
              <a:lnSpc>
                <a:spcPct val="115000"/>
              </a:lnSpc>
              <a:spcAft>
                <a:spcPts val="400"/>
              </a:spcAft>
            </a:pPr>
            <a:r>
              <a:rPr sz="1100" b="1" i="0">
                <a:solidFill>
                  <a:srgbClr val="C0392B"/>
                </a:solidFill>
                <a:latin typeface="Inter"/>
              </a:rPr>
              <a:t>Masalahnya</a:t>
            </a:r>
          </a:p>
        </p:txBody>
      </p:sp>
      <p:sp>
        <p:nvSpPr>
          <p:cNvPr id="35" name="Text 18"/>
          <p:cNvSpPr txBox="1"/>
          <p:nvPr/>
        </p:nvSpPr>
        <p:spPr>
          <a:xfrm>
            <a:off x="6035040" y="1892808"/>
            <a:ext cx="2313432"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Client menentukan sendiri </a:t>
            </a:r>
            <a:r>
              <a:rPr sz="950" b="0" i="0">
                <a:solidFill>
                  <a:srgbClr val="B5482A"/>
                </a:solidFill>
                <a:latin typeface="Inconsolata"/>
              </a:rPr>
              <a:t>customer</a:t>
            </a:r>
            <a:r>
              <a:rPr sz="950" b="0" i="0">
                <a:solidFill>
                  <a:srgbClr val="434343"/>
                </a:solidFill>
                <a:latin typeface="Inter"/>
              </a:rPr>
              <a:t> dan </a:t>
            </a:r>
            <a:r>
              <a:rPr sz="950" b="0" i="0">
                <a:solidFill>
                  <a:srgbClr val="B5482A"/>
                </a:solidFill>
                <a:latin typeface="Inconsolata"/>
              </a:rPr>
              <a:t>customer_type</a:t>
            </a:r>
            <a:r>
              <a:rPr sz="950" b="0" i="0">
                <a:solidFill>
                  <a:srgbClr val="434343"/>
                </a:solidFill>
                <a:latin typeface="Inter"/>
              </a:rPr>
              <a:t> (diskon vip)</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Siapa pun bisa membaca, membayar, dan membatalkan order siapa pun</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Tambah produk dan report tanpa login</a:t>
            </a:r>
          </a:p>
          <a:p>
            <a:pPr algn="l">
              <a:lnSpc>
                <a:spcPct val="115000"/>
              </a:lnSpc>
              <a:spcAft>
                <a:spcPts val="0"/>
              </a:spcAft>
            </a:pPr>
            <a:endParaRPr sz="950" b="0" i="0">
              <a:solidFill>
                <a:srgbClr val="434343"/>
              </a:solidFill>
              <a:latin typeface="Inter"/>
            </a:endParaRPr>
          </a:p>
          <a:p>
            <a:pPr algn="l">
              <a:lnSpc>
                <a:spcPct val="115000"/>
              </a:lnSpc>
              <a:spcAft>
                <a:spcPts val="400"/>
              </a:spcAft>
            </a:pPr>
            <a:r>
              <a:rPr sz="950" b="0" i="0">
                <a:solidFill>
                  <a:srgbClr val="434343"/>
                </a:solidFill>
                <a:latin typeface="Inter"/>
              </a:rPr>
              <a:t>Kode inilah yang kita kembangkan di hands-on.</a:t>
            </a: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mulai dari 09-secure-orders/before/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Tujuan &amp; Kriteria Selesai</a:t>
            </a:r>
          </a:p>
        </p:txBody>
      </p:sp>
      <p:sp>
        <p:nvSpPr>
          <p:cNvPr id="22" name="Box 3"/>
          <p:cNvSpPr/>
          <p:nvPr/>
        </p:nvSpPr>
        <p:spPr>
          <a:xfrm>
            <a:off x="621792" y="1481328"/>
            <a:ext cx="3840480" cy="3218688"/>
          </a:xfrm>
          <a:prstGeom prst="roundRect">
            <a:avLst>
              <a:gd name="adj" fmla="val 3409"/>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Text 4"/>
          <p:cNvSpPr txBox="1"/>
          <p:nvPr/>
        </p:nvSpPr>
        <p:spPr>
          <a:xfrm>
            <a:off x="758952" y="1572768"/>
            <a:ext cx="3566160" cy="310896"/>
          </a:xfrm>
          <a:prstGeom prst="rect">
            <a:avLst/>
          </a:prstGeom>
          <a:noFill/>
        </p:spPr>
        <p:txBody>
          <a:bodyPr wrap="square" lIns="45720" rIns="45720" anchor="t">
            <a:spAutoFit/>
          </a:bodyPr>
          <a:lstStyle/>
          <a:p>
            <a:pPr algn="l">
              <a:lnSpc>
                <a:spcPct val="115000"/>
              </a:lnSpc>
              <a:spcAft>
                <a:spcPts val="400"/>
              </a:spcAft>
            </a:pPr>
            <a:r>
              <a:rPr sz="1050" b="1" i="0">
                <a:solidFill>
                  <a:srgbClr val="1C4587"/>
                </a:solidFill>
                <a:latin typeface="Inter"/>
              </a:rPr>
              <a:t>Kriteria selesai</a:t>
            </a:r>
          </a:p>
        </p:txBody>
      </p:sp>
      <p:sp>
        <p:nvSpPr>
          <p:cNvPr id="24" name="Text 5"/>
          <p:cNvSpPr txBox="1"/>
          <p:nvPr/>
        </p:nvSpPr>
        <p:spPr>
          <a:xfrm>
            <a:off x="758952" y="1892808"/>
            <a:ext cx="3566160"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Arial"/>
              <a:buChar char="•"/>
            </a:pPr>
            <a:r>
              <a:rPr sz="900" b="0" i="0">
                <a:solidFill>
                  <a:srgbClr val="B5482A"/>
                </a:solidFill>
                <a:latin typeface="Inconsolata"/>
              </a:rPr>
              <a:t>POST /auth/token</a:t>
            </a:r>
            <a:r>
              <a:rPr sz="900" b="0" i="0">
                <a:solidFill>
                  <a:srgbClr val="434343"/>
                </a:solidFill>
                <a:latin typeface="Inter"/>
              </a:rPr>
              <a:t> mengembalikan JWT, password salah 401</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Password disimpan sebagai hash Argon2</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Order dibuat atas nama user di token, </a:t>
            </a:r>
            <a:r>
              <a:rPr sz="900" b="0" i="0">
                <a:solidFill>
                  <a:srgbClr val="B5482A"/>
                </a:solidFill>
                <a:latin typeface="Inconsolata"/>
              </a:rPr>
              <a:t>customer_type</a:t>
            </a:r>
            <a:r>
              <a:rPr sz="900" b="0" i="0">
                <a:solidFill>
                  <a:srgbClr val="434343"/>
                </a:solidFill>
                <a:latin typeface="Inter"/>
              </a:rPr>
              <a:t> dari data user</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Order milik orang lain = 404</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Tambah produk dan report hanya admin (403)</a:t>
            </a:r>
          </a:p>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API gagal start tanpa </a:t>
            </a:r>
            <a:r>
              <a:rPr sz="900" b="0" i="0">
                <a:solidFill>
                  <a:srgbClr val="B5482A"/>
                </a:solidFill>
                <a:latin typeface="Inconsolata"/>
              </a:rPr>
              <a:t>JWT_SECRET</a:t>
            </a:r>
          </a:p>
          <a:p>
            <a:pPr marL="182880" indent="-182880" algn="l">
              <a:lnSpc>
                <a:spcPct val="115000"/>
              </a:lnSpc>
              <a:spcAft>
                <a:spcPts val="400"/>
              </a:spcAft>
              <a:buClr>
                <a:srgbClr val="E0764F"/>
              </a:buClr>
              <a:buSzPct val="100000"/>
              <a:buFont typeface="Arial"/>
              <a:buChar char="•"/>
            </a:pPr>
            <a:r>
              <a:rPr sz="900" b="0" i="0">
                <a:solidFill>
                  <a:srgbClr val="B5482A"/>
                </a:solidFill>
                <a:latin typeface="Inconsolata"/>
              </a:rPr>
              <a:t>pytest</a:t>
            </a:r>
            <a:r>
              <a:rPr sz="900" b="0" i="0">
                <a:solidFill>
                  <a:srgbClr val="434343"/>
                </a:solidFill>
                <a:latin typeface="Inter"/>
              </a:rPr>
              <a:t> hijau</a:t>
            </a:r>
          </a:p>
        </p:txBody>
      </p:sp>
      <p:sp>
        <p:nvSpPr>
          <p:cNvPr id="25" name="CodeTab 7"/>
          <p:cNvSpPr/>
          <p:nvPr/>
        </p:nvSpPr>
        <p:spPr>
          <a:xfrm>
            <a:off x="4617720" y="1481328"/>
            <a:ext cx="386791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6" name="Dot 8"/>
          <p:cNvSpPr/>
          <p:nvPr/>
        </p:nvSpPr>
        <p:spPr>
          <a:xfrm>
            <a:off x="472744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Dot 9"/>
          <p:cNvSpPr/>
          <p:nvPr/>
        </p:nvSpPr>
        <p:spPr>
          <a:xfrm>
            <a:off x="486460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Dot 10"/>
          <p:cNvSpPr/>
          <p:nvPr/>
        </p:nvSpPr>
        <p:spPr>
          <a:xfrm>
            <a:off x="500176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 11"/>
          <p:cNvSpPr txBox="1"/>
          <p:nvPr/>
        </p:nvSpPr>
        <p:spPr>
          <a:xfrm>
            <a:off x="5166359" y="1490472"/>
            <a:ext cx="3227832"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target struktur (nomor langkah)</a:t>
            </a:r>
          </a:p>
        </p:txBody>
      </p:sp>
      <p:sp>
        <p:nvSpPr>
          <p:cNvPr id="30" name="CodeBg 13"/>
          <p:cNvSpPr/>
          <p:nvPr/>
        </p:nvSpPr>
        <p:spPr>
          <a:xfrm>
            <a:off x="4617720" y="1719072"/>
            <a:ext cx="386791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1" name="Code 14"/>
          <p:cNvSpPr txBox="1"/>
          <p:nvPr/>
        </p:nvSpPr>
        <p:spPr>
          <a:xfrm>
            <a:off x="4617720" y="1719072"/>
            <a:ext cx="3867912" cy="2980944"/>
          </a:xfrm>
          <a:prstGeom prst="rect">
            <a:avLst/>
          </a:prstGeom>
          <a:noFill/>
        </p:spPr>
        <p:txBody>
          <a:bodyPr wrap="none" lIns="146304" tIns="91440" rIns="146304" bIns="54864">
            <a:spAutoFit/>
          </a:bodyPr>
          <a:lstStyle/>
          <a:p>
            <a:pPr>
              <a:lnSpc>
                <a:spcPct val="107143"/>
              </a:lnSpc>
              <a:spcAft>
                <a:spcPts val="0"/>
              </a:spcAft>
            </a:pPr>
            <a:r>
              <a:rPr sz="700" i="0">
                <a:solidFill>
                  <a:srgbClr val="E6EDF3"/>
                </a:solidFill>
                <a:latin typeface="Inconsolata"/>
              </a:rPr>
              <a:t>latihan/</a:t>
            </a:r>
          </a:p>
          <a:p>
            <a:pPr>
              <a:lnSpc>
                <a:spcPct val="107143"/>
              </a:lnSpc>
              <a:spcAft>
                <a:spcPts val="0"/>
              </a:spcAft>
            </a:pPr>
            <a:r>
              <a:rPr sz="700" i="0">
                <a:solidFill>
                  <a:srgbClr val="E6EDF3"/>
                </a:solidFill>
                <a:latin typeface="Inconsolata"/>
              </a:rPr>
              <a:t>  app/</a:t>
            </a:r>
          </a:p>
          <a:p>
            <a:pPr>
              <a:lnSpc>
                <a:spcPct val="107143"/>
              </a:lnSpc>
              <a:spcAft>
                <a:spcPts val="0"/>
              </a:spcAft>
            </a:pPr>
            <a:r>
              <a:rPr sz="700" i="0">
                <a:solidFill>
                  <a:srgbClr val="E6EDF3"/>
                </a:solidFill>
                <a:latin typeface="Inconsolata"/>
              </a:rPr>
              <a:t>    domain/user.py         # 2</a:t>
            </a:r>
          </a:p>
          <a:p>
            <a:pPr>
              <a:lnSpc>
                <a:spcPct val="107143"/>
              </a:lnSpc>
              <a:spcAft>
                <a:spcPts val="0"/>
              </a:spcAft>
            </a:pPr>
            <a:r>
              <a:rPr sz="700" i="0">
                <a:solidFill>
                  <a:srgbClr val="E6EDF3"/>
                </a:solidFill>
                <a:latin typeface="Inconsolata"/>
              </a:rPr>
              <a:t>    application/</a:t>
            </a:r>
          </a:p>
          <a:p>
            <a:pPr>
              <a:lnSpc>
                <a:spcPct val="107143"/>
              </a:lnSpc>
              <a:spcAft>
                <a:spcPts val="0"/>
              </a:spcAft>
            </a:pPr>
            <a:r>
              <a:rPr sz="700" i="0">
                <a:solidFill>
                  <a:srgbClr val="E6EDF3"/>
                </a:solidFill>
                <a:latin typeface="Inconsolata"/>
              </a:rPr>
              <a:t>      ports.py             # 2</a:t>
            </a:r>
          </a:p>
          <a:p>
            <a:pPr>
              <a:lnSpc>
                <a:spcPct val="107143"/>
              </a:lnSpc>
              <a:spcAft>
                <a:spcPts val="0"/>
              </a:spcAft>
            </a:pPr>
            <a:r>
              <a:rPr sz="700" i="0">
                <a:solidFill>
                  <a:srgbClr val="E6EDF3"/>
                </a:solidFill>
                <a:latin typeface="Inconsolata"/>
              </a:rPr>
              <a:t>      auth_service.py      # 4</a:t>
            </a:r>
          </a:p>
          <a:p>
            <a:pPr>
              <a:lnSpc>
                <a:spcPct val="107143"/>
              </a:lnSpc>
              <a:spcAft>
                <a:spcPts val="0"/>
              </a:spcAft>
            </a:pPr>
            <a:r>
              <a:rPr sz="700" i="0">
                <a:solidFill>
                  <a:srgbClr val="E6EDF3"/>
                </a:solidFill>
                <a:latin typeface="Inconsolata"/>
              </a:rPr>
              <a:t>      order_service.py     # 7</a:t>
            </a:r>
          </a:p>
          <a:p>
            <a:pPr>
              <a:lnSpc>
                <a:spcPct val="107143"/>
              </a:lnSpc>
              <a:spcAft>
                <a:spcPts val="0"/>
              </a:spcAft>
            </a:pPr>
            <a:r>
              <a:rPr sz="700" i="0">
                <a:solidFill>
                  <a:srgbClr val="E6EDF3"/>
                </a:solidFill>
                <a:latin typeface="Inconsolata"/>
              </a:rPr>
              <a:t>    infrastructure/</a:t>
            </a:r>
          </a:p>
          <a:p>
            <a:pPr>
              <a:lnSpc>
                <a:spcPct val="107143"/>
              </a:lnSpc>
              <a:spcAft>
                <a:spcPts val="0"/>
              </a:spcAft>
            </a:pPr>
            <a:r>
              <a:rPr sz="700" i="0">
                <a:solidFill>
                  <a:srgbClr val="E6EDF3"/>
                </a:solidFill>
                <a:latin typeface="Inconsolata"/>
              </a:rPr>
              <a:t>      security.py          # 3</a:t>
            </a:r>
          </a:p>
          <a:p>
            <a:pPr>
              <a:lnSpc>
                <a:spcPct val="107143"/>
              </a:lnSpc>
              <a:spcAft>
                <a:spcPts val="0"/>
              </a:spcAft>
            </a:pPr>
            <a:r>
              <a:rPr sz="700" i="0">
                <a:solidFill>
                  <a:srgbClr val="E6EDF3"/>
                </a:solidFill>
                <a:latin typeface="Inconsolata"/>
              </a:rPr>
              <a:t>      models.py, repositories.py # 3</a:t>
            </a:r>
          </a:p>
          <a:p>
            <a:pPr>
              <a:lnSpc>
                <a:spcPct val="107143"/>
              </a:lnSpc>
              <a:spcAft>
                <a:spcPts val="0"/>
              </a:spcAft>
            </a:pPr>
            <a:r>
              <a:rPr sz="700" i="0">
                <a:solidFill>
                  <a:srgbClr val="E6EDF3"/>
                </a:solidFill>
                <a:latin typeface="Inconsolata"/>
              </a:rPr>
              <a:t>      config.py            # 9</a:t>
            </a:r>
          </a:p>
          <a:p>
            <a:pPr>
              <a:lnSpc>
                <a:spcPct val="107143"/>
              </a:lnSpc>
              <a:spcAft>
                <a:spcPts val="0"/>
              </a:spcAft>
            </a:pPr>
            <a:r>
              <a:rPr sz="700" i="0">
                <a:solidFill>
                  <a:srgbClr val="E6EDF3"/>
                </a:solidFill>
                <a:latin typeface="Inconsolata"/>
              </a:rPr>
              <a:t>    api/</a:t>
            </a:r>
          </a:p>
          <a:p>
            <a:pPr>
              <a:lnSpc>
                <a:spcPct val="107143"/>
              </a:lnSpc>
              <a:spcAft>
                <a:spcPts val="0"/>
              </a:spcAft>
            </a:pPr>
            <a:r>
              <a:rPr sz="700" i="0">
                <a:solidFill>
                  <a:srgbClr val="E6EDF3"/>
                </a:solidFill>
                <a:latin typeface="Inconsolata"/>
              </a:rPr>
              <a:t>      security.py          # 5</a:t>
            </a:r>
          </a:p>
          <a:p>
            <a:pPr>
              <a:lnSpc>
                <a:spcPct val="107143"/>
              </a:lnSpc>
              <a:spcAft>
                <a:spcPts val="0"/>
              </a:spcAft>
            </a:pPr>
            <a:r>
              <a:rPr sz="700" i="0">
                <a:solidFill>
                  <a:srgbClr val="E6EDF3"/>
                </a:solidFill>
                <a:latin typeface="Inconsolata"/>
              </a:rPr>
              <a:t>      routers/auth.py      # 5</a:t>
            </a:r>
          </a:p>
          <a:p>
            <a:pPr>
              <a:lnSpc>
                <a:spcPct val="107143"/>
              </a:lnSpc>
              <a:spcAft>
                <a:spcPts val="0"/>
              </a:spcAft>
            </a:pPr>
            <a:r>
              <a:rPr sz="700" i="0">
                <a:solidFill>
                  <a:srgbClr val="E6EDF3"/>
                </a:solidFill>
                <a:latin typeface="Inconsolata"/>
              </a:rPr>
              <a:t>      routers/*.py         # 6</a:t>
            </a:r>
          </a:p>
          <a:p>
            <a:pPr>
              <a:lnSpc>
                <a:spcPct val="107143"/>
              </a:lnSpc>
              <a:spcAft>
                <a:spcPts val="0"/>
              </a:spcAft>
            </a:pPr>
            <a:r>
              <a:rPr sz="700" i="0">
                <a:solidFill>
                  <a:srgbClr val="E6EDF3"/>
                </a:solidFill>
                <a:latin typeface="Inconsolata"/>
              </a:rPr>
              <a:t>      schemas.py, errors.py # 8</a:t>
            </a:r>
          </a:p>
          <a:p>
            <a:pPr>
              <a:lnSpc>
                <a:spcPct val="107143"/>
              </a:lnSpc>
              <a:spcAft>
                <a:spcPts val="0"/>
              </a:spcAft>
            </a:pPr>
            <a:r>
              <a:rPr sz="700" i="0">
                <a:solidFill>
                  <a:srgbClr val="E6EDF3"/>
                </a:solidFill>
                <a:latin typeface="Inconsolata"/>
              </a:rPr>
              <a:t>  create_user.py           # 9</a:t>
            </a:r>
          </a:p>
          <a:p>
            <a:pPr>
              <a:lnSpc>
                <a:spcPct val="107143"/>
              </a:lnSpc>
              <a:spcAft>
                <a:spcPts val="0"/>
              </a:spcAft>
            </a:pPr>
            <a:r>
              <a:rPr sz="700" i="0">
                <a:solidFill>
                  <a:srgbClr val="E6EDF3"/>
                </a:solidFill>
                <a:latin typeface="Inconsolata"/>
              </a:rPr>
              <a:t>  tests/test_security.py   # 10</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Siapkan folder latihan</a:t>
            </a:r>
          </a:p>
        </p:txBody>
      </p:sp>
      <p:sp>
        <p:nvSpPr>
          <p:cNvPr id="22" name="CodeTab 4"/>
          <p:cNvSpPr/>
          <p:nvPr/>
        </p:nvSpPr>
        <p:spPr>
          <a:xfrm>
            <a:off x="621792" y="1481328"/>
            <a:ext cx="489204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251959"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terminal</a:t>
            </a:r>
          </a:p>
        </p:txBody>
      </p:sp>
      <p:sp>
        <p:nvSpPr>
          <p:cNvPr id="27" name="CodeBg 10"/>
          <p:cNvSpPr/>
          <p:nvPr/>
        </p:nvSpPr>
        <p:spPr>
          <a:xfrm>
            <a:off x="621792" y="1719072"/>
            <a:ext cx="489204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4892040" cy="2980944"/>
          </a:xfrm>
          <a:prstGeom prst="rect">
            <a:avLst/>
          </a:prstGeom>
          <a:noFill/>
        </p:spPr>
        <p:txBody>
          <a:bodyPr wrap="none" lIns="146304" tIns="91440" rIns="146304" bIns="54864">
            <a:spAutoFit/>
          </a:bodyPr>
          <a:lstStyle/>
          <a:p>
            <a:pPr>
              <a:lnSpc>
                <a:spcPct val="107843"/>
              </a:lnSpc>
              <a:spcAft>
                <a:spcPts val="0"/>
              </a:spcAft>
            </a:pPr>
            <a:r>
              <a:rPr sz="850" i="0">
                <a:solidFill>
                  <a:srgbClr val="82B1FF"/>
                </a:solidFill>
                <a:latin typeface="Inconsolata"/>
              </a:rPr>
              <a:t>$ cd sesi-10-api-security</a:t>
            </a:r>
          </a:p>
          <a:p>
            <a:pPr>
              <a:lnSpc>
                <a:spcPct val="107843"/>
              </a:lnSpc>
              <a:spcAft>
                <a:spcPts val="0"/>
              </a:spcAft>
            </a:pPr>
            <a:r>
              <a:rPr sz="850" i="0">
                <a:solidFill>
                  <a:srgbClr val="82B1FF"/>
                </a:solidFill>
                <a:latin typeface="Inconsolata"/>
              </a:rPr>
              <a:t>$ pip install -r requirements.txt</a:t>
            </a:r>
          </a:p>
          <a:p>
            <a:pPr>
              <a:lnSpc>
                <a:spcPct val="107843"/>
              </a:lnSpc>
              <a:spcAft>
                <a:spcPts val="0"/>
              </a:spcAft>
            </a:pPr>
            <a:r>
              <a:rPr sz="850" i="0">
                <a:solidFill>
                  <a:srgbClr val="82B1FF"/>
                </a:solidFill>
                <a:latin typeface="Inconsolata"/>
              </a:rPr>
              <a:t>$ docker compose up -d</a:t>
            </a:r>
          </a:p>
          <a:p>
            <a:pPr>
              <a:lnSpc>
                <a:spcPct val="107843"/>
              </a:lnSpc>
              <a:spcAft>
                <a:spcPts val="0"/>
              </a:spcAft>
            </a:pPr>
            <a:r>
              <a:rPr sz="850" i="0">
                <a:solidFill>
                  <a:srgbClr val="82B1FF"/>
                </a:solidFill>
                <a:latin typeface="Inconsolata"/>
              </a:rPr>
              <a:t>$ cd 09-secure-orders</a:t>
            </a:r>
          </a:p>
          <a:p>
            <a:pPr>
              <a:lnSpc>
                <a:spcPct val="107843"/>
              </a:lnSpc>
              <a:spcAft>
                <a:spcPts val="0"/>
              </a:spcAft>
            </a:pPr>
            <a:r>
              <a:rPr sz="850" i="0">
                <a:solidFill>
                  <a:srgbClr val="82B1FF"/>
                </a:solidFill>
                <a:latin typeface="Inconsolata"/>
              </a:rPr>
              <a:t>$ cp -r before latihan</a:t>
            </a:r>
          </a:p>
          <a:p>
            <a:pPr>
              <a:lnSpc>
                <a:spcPct val="107843"/>
              </a:lnSpc>
              <a:spcAft>
                <a:spcPts val="0"/>
              </a:spcAft>
            </a:pPr>
            <a:r>
              <a:rPr sz="850" i="0">
                <a:solidFill>
                  <a:srgbClr val="82B1FF"/>
                </a:solidFill>
                <a:latin typeface="Inconsolata"/>
              </a:rPr>
              <a:t>$ cd latihan</a:t>
            </a:r>
          </a:p>
          <a:p>
            <a:pPr>
              <a:lnSpc>
                <a:spcPct val="107843"/>
              </a:lnSpc>
              <a:spcAft>
                <a:spcPts val="0"/>
              </a:spcAft>
            </a:pPr>
            <a:r>
              <a:rPr sz="850" i="0">
                <a:solidFill>
                  <a:srgbClr val="82B1FF"/>
                </a:solidFill>
                <a:latin typeface="Inconsolata"/>
              </a:rPr>
              <a:t>$ pytest -q</a:t>
            </a:r>
          </a:p>
          <a:p>
            <a:pPr>
              <a:lnSpc>
                <a:spcPct val="107843"/>
              </a:lnSpc>
              <a:spcAft>
                <a:spcPts val="0"/>
              </a:spcAft>
            </a:pPr>
            <a:endParaRPr sz="850" i="0">
              <a:solidFill>
                <a:srgbClr val="82B1FF"/>
              </a:solidFill>
              <a:latin typeface="Inconsolata"/>
            </a:endParaRPr>
          </a:p>
          <a:p>
            <a:pPr>
              <a:lnSpc>
                <a:spcPct val="107843"/>
              </a:lnSpc>
              <a:spcAft>
                <a:spcPts val="0"/>
              </a:spcAft>
            </a:pPr>
            <a:r>
              <a:rPr sz="850" i="1">
                <a:solidFill>
                  <a:srgbClr val="8B98A8"/>
                </a:solidFill>
                <a:latin typeface="Inconsolata"/>
              </a:rPr>
              <a:t># membuat JWT_SECRET</a:t>
            </a:r>
          </a:p>
          <a:p>
            <a:pPr>
              <a:lnSpc>
                <a:spcPct val="107843"/>
              </a:lnSpc>
              <a:spcAft>
                <a:spcPts val="0"/>
              </a:spcAft>
            </a:pPr>
            <a:r>
              <a:rPr sz="850" i="0">
                <a:solidFill>
                  <a:srgbClr val="82B1FF"/>
                </a:solidFill>
                <a:latin typeface="Inconsolata"/>
              </a:rPr>
              <a:t>$ python -c "import secrets; print(secrets.token_hex(32))"</a:t>
            </a:r>
          </a:p>
        </p:txBody>
      </p:sp>
      <p:sp>
        <p:nvSpPr>
          <p:cNvPr id="29" name="Box 12"/>
          <p:cNvSpPr/>
          <p:nvPr/>
        </p:nvSpPr>
        <p:spPr>
          <a:xfrm>
            <a:off x="5669279" y="1481328"/>
            <a:ext cx="2816352"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Text 13"/>
          <p:cNvSpPr txBox="1"/>
          <p:nvPr/>
        </p:nvSpPr>
        <p:spPr>
          <a:xfrm>
            <a:off x="5806440" y="1572768"/>
            <a:ext cx="2542032"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1" name="Text 14"/>
          <p:cNvSpPr txBox="1"/>
          <p:nvPr/>
        </p:nvSpPr>
        <p:spPr>
          <a:xfrm>
            <a:off x="5806440" y="1892808"/>
            <a:ext cx="2542032"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Install dependency baru: </a:t>
            </a:r>
            <a:r>
              <a:rPr sz="900" b="0" i="0">
                <a:solidFill>
                  <a:srgbClr val="B5482A"/>
                </a:solidFill>
                <a:latin typeface="Inconsolata"/>
              </a:rPr>
              <a:t>pyjwt</a:t>
            </a:r>
            <a:r>
              <a:rPr sz="900" b="0" i="0">
                <a:solidFill>
                  <a:srgbClr val="434343"/>
                </a:solidFill>
                <a:latin typeface="Inter"/>
              </a:rPr>
              <a:t>, </a:t>
            </a:r>
            <a:r>
              <a:rPr sz="900" b="0" i="0">
                <a:solidFill>
                  <a:srgbClr val="B5482A"/>
                </a:solidFill>
                <a:latin typeface="Inconsolata"/>
              </a:rPr>
              <a:t>pwdlib[argon2]</a:t>
            </a:r>
            <a:r>
              <a:rPr sz="900" b="0" i="0">
                <a:solidFill>
                  <a:srgbClr val="434343"/>
                </a:solidFill>
                <a:latin typeface="Inter"/>
              </a:rPr>
              <a:t>, </a:t>
            </a:r>
            <a:r>
              <a:rPr sz="900" b="0" i="0">
                <a:solidFill>
                  <a:srgbClr val="B5482A"/>
                </a:solidFill>
                <a:latin typeface="Inconsolata"/>
              </a:rPr>
              <a:t>python-multipart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Salin </a:t>
            </a:r>
            <a:r>
              <a:rPr sz="900" b="0" i="0">
                <a:solidFill>
                  <a:srgbClr val="B5482A"/>
                </a:solidFill>
                <a:latin typeface="Inconsolata"/>
              </a:rPr>
              <a:t>before/</a:t>
            </a:r>
            <a:r>
              <a:rPr sz="900" b="0" i="0">
                <a:solidFill>
                  <a:srgbClr val="434343"/>
                </a:solidFill>
                <a:latin typeface="Inter"/>
              </a:rPr>
              <a:t> jadi </a:t>
            </a:r>
            <a:r>
              <a:rPr sz="900" b="0" i="0">
                <a:solidFill>
                  <a:srgbClr val="B5482A"/>
                </a:solidFill>
                <a:latin typeface="Inconsolata"/>
              </a:rPr>
              <a:t>latihan/</a:t>
            </a:r>
            <a:r>
              <a:rPr sz="900" b="0" i="0">
                <a:solidFill>
                  <a:srgbClr val="434343"/>
                </a:solidFill>
                <a:latin typeface="Inter"/>
              </a:rPr>
              <a:t>, pastikan test awal hijau</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Simpan JWT_SECRET untuk langkah 9</a:t>
            </a:r>
          </a:p>
        </p:txBody>
      </p:sp>
      <p:sp>
        <p:nvSpPr>
          <p:cNvPr id="32" name="Box 15"/>
          <p:cNvSpPr/>
          <p:nvPr/>
        </p:nvSpPr>
        <p:spPr>
          <a:xfrm>
            <a:off x="5669279" y="3721608"/>
            <a:ext cx="2816352"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3" name="Text 16"/>
          <p:cNvSpPr txBox="1"/>
          <p:nvPr/>
        </p:nvSpPr>
        <p:spPr>
          <a:xfrm>
            <a:off x="5806440" y="3813048"/>
            <a:ext cx="2542032"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4" name="Text 17"/>
          <p:cNvSpPr txBox="1"/>
          <p:nvPr/>
        </p:nvSpPr>
        <p:spPr>
          <a:xfrm>
            <a:off x="5806440" y="4133088"/>
            <a:ext cx="2542032"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Test awal PASSED.</a:t>
            </a:r>
          </a:p>
        </p:txBody>
      </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2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domain/user.py dan port baru</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domain/user.py  +  application/ports.py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2564"/>
              </a:lnSpc>
              <a:spcAft>
                <a:spcPts val="0"/>
              </a:spcAft>
            </a:pPr>
            <a:r>
              <a:rPr sz="650" i="1">
                <a:solidFill>
                  <a:srgbClr val="8B98A8"/>
                </a:solidFill>
                <a:latin typeface="Inconsolata"/>
              </a:rPr>
              <a:t># app/domain/user.py</a:t>
            </a:r>
          </a:p>
          <a:p>
            <a:pPr>
              <a:lnSpc>
                <a:spcPct val="102564"/>
              </a:lnSpc>
              <a:spcAft>
                <a:spcPts val="0"/>
              </a:spcAft>
            </a:pPr>
            <a:r>
              <a:rPr sz="650" i="0">
                <a:solidFill>
                  <a:srgbClr val="7FDBCA"/>
                </a:solidFill>
                <a:latin typeface="Inconsolata"/>
              </a:rPr>
              <a:t>ROLE_SCOPES</a:t>
            </a:r>
            <a:r>
              <a:rPr sz="650" i="0">
                <a:solidFill>
                  <a:srgbClr val="E6EDF3"/>
                </a:solidFill>
                <a:latin typeface="Inconsolata"/>
              </a:rPr>
              <a:t> = {</a:t>
            </a:r>
          </a:p>
          <a:p>
            <a:pPr>
              <a:lnSpc>
                <a:spcPct val="102564"/>
              </a:lnSpc>
              <a:spcAft>
                <a:spcPts val="0"/>
              </a:spcAft>
            </a:pPr>
            <a:r>
              <a:rPr sz="650" i="0">
                <a:solidFill>
                  <a:srgbClr val="E6EDF3"/>
                </a:solidFill>
                <a:latin typeface="Inconsolata"/>
              </a:rPr>
              <a:t>    </a:t>
            </a:r>
            <a:r>
              <a:rPr sz="650" i="0">
                <a:solidFill>
                  <a:srgbClr val="A5D6A7"/>
                </a:solidFill>
                <a:latin typeface="Inconsolata"/>
              </a:rPr>
              <a:t>"customer"</a:t>
            </a:r>
            <a:r>
              <a:rPr sz="650" i="0">
                <a:solidFill>
                  <a:srgbClr val="E6EDF3"/>
                </a:solidFill>
                <a:latin typeface="Inconsolata"/>
              </a:rPr>
              <a:t>: {</a:t>
            </a:r>
            <a:r>
              <a:rPr sz="650" i="0">
                <a:solidFill>
                  <a:srgbClr val="A5D6A7"/>
                </a:solidFill>
                <a:latin typeface="Inconsolata"/>
              </a:rPr>
              <a:t>"orders:write"</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A5D6A7"/>
                </a:solidFill>
                <a:latin typeface="Inconsolata"/>
              </a:rPr>
              <a:t>"admin"</a:t>
            </a:r>
            <a:r>
              <a:rPr sz="650" i="0">
                <a:solidFill>
                  <a:srgbClr val="E6EDF3"/>
                </a:solidFill>
                <a:latin typeface="Inconsolata"/>
              </a:rPr>
              <a:t>: {</a:t>
            </a:r>
            <a:r>
              <a:rPr sz="650" i="0">
                <a:solidFill>
                  <a:srgbClr val="A5D6A7"/>
                </a:solidFill>
                <a:latin typeface="Inconsolata"/>
              </a:rPr>
              <a:t>"orders:write"</a:t>
            </a:r>
            <a:r>
              <a:rPr sz="650" i="0">
                <a:solidFill>
                  <a:srgbClr val="E6EDF3"/>
                </a:solidFill>
                <a:latin typeface="Inconsolata"/>
              </a:rPr>
              <a:t>, </a:t>
            </a:r>
            <a:r>
              <a:rPr sz="650" i="0">
                <a:solidFill>
                  <a:srgbClr val="A5D6A7"/>
                </a:solidFill>
                <a:latin typeface="Inconsolata"/>
              </a:rPr>
              <a:t>"orders:all"</a:t>
            </a:r>
            <a:r>
              <a:rPr sz="650" i="0">
                <a:solidFill>
                  <a:srgbClr val="E6EDF3"/>
                </a:solidFill>
                <a:latin typeface="Inconsolata"/>
              </a:rPr>
              <a:t>, </a:t>
            </a:r>
            <a:r>
              <a:rPr sz="650" i="0">
                <a:solidFill>
                  <a:srgbClr val="A5D6A7"/>
                </a:solidFill>
                <a:latin typeface="Inconsolata"/>
              </a:rPr>
              <a:t>"products:write"</a:t>
            </a:r>
            <a:r>
              <a:rPr sz="650" i="0">
                <a:solidFill>
                  <a:srgbClr val="E6EDF3"/>
                </a:solidFill>
                <a:latin typeface="Inconsolata"/>
              </a:rPr>
              <a:t>, </a:t>
            </a:r>
            <a:r>
              <a:rPr sz="650" i="0">
                <a:solidFill>
                  <a:srgbClr val="A5D6A7"/>
                </a:solidFill>
                <a:latin typeface="Inconsolata"/>
              </a:rPr>
              <a:t>"reports:read"</a:t>
            </a:r>
            <a:r>
              <a:rPr sz="650" i="0">
                <a:solidFill>
                  <a:srgbClr val="E6EDF3"/>
                </a:solidFill>
                <a:latin typeface="Inconsolata"/>
              </a:rPr>
              <a:t>},</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E6EDF3"/>
                </a:solidFill>
                <a:latin typeface="Inconsolata"/>
              </a:rPr>
              <a:t> </a:t>
            </a:r>
          </a:p>
          <a:p>
            <a:pPr>
              <a:lnSpc>
                <a:spcPct val="102564"/>
              </a:lnSpc>
              <a:spcAft>
                <a:spcPts val="0"/>
              </a:spcAft>
            </a:pPr>
            <a:r>
              <a:rPr sz="650" i="0">
                <a:solidFill>
                  <a:srgbClr val="F9C97A"/>
                </a:solidFill>
                <a:latin typeface="Inconsolata"/>
              </a:rPr>
              <a:t>@dataclass</a:t>
            </a:r>
          </a:p>
          <a:p>
            <a:pPr>
              <a:lnSpc>
                <a:spcPct val="102564"/>
              </a:lnSpc>
              <a:spcAft>
                <a:spcPts val="0"/>
              </a:spcAft>
            </a:pPr>
            <a:r>
              <a:rPr sz="650" i="0">
                <a:solidFill>
                  <a:srgbClr val="FF8E6E"/>
                </a:solidFill>
                <a:latin typeface="Inconsolata"/>
              </a:rPr>
              <a:t>class</a:t>
            </a:r>
            <a:r>
              <a:rPr sz="650" i="0">
                <a:solidFill>
                  <a:srgbClr val="E6EDF3"/>
                </a:solidFill>
                <a:latin typeface="Inconsolata"/>
              </a:rPr>
              <a:t> </a:t>
            </a:r>
            <a:r>
              <a:rPr sz="650" i="0">
                <a:solidFill>
                  <a:srgbClr val="7FDBCA"/>
                </a:solidFill>
                <a:latin typeface="Inconsolata"/>
              </a:rPr>
              <a:t>User</a:t>
            </a:r>
            <a:r>
              <a:rPr sz="650" i="0">
                <a:solidFill>
                  <a:srgbClr val="E6EDF3"/>
                </a:solidFill>
                <a:latin typeface="Inconsolata"/>
              </a:rPr>
              <a:t>:</a:t>
            </a:r>
          </a:p>
          <a:p>
            <a:pPr>
              <a:lnSpc>
                <a:spcPct val="102564"/>
              </a:lnSpc>
              <a:spcAft>
                <a:spcPts val="0"/>
              </a:spcAft>
            </a:pPr>
            <a:r>
              <a:rPr sz="650" i="0">
                <a:solidFill>
                  <a:srgbClr val="E6EDF3"/>
                </a:solidFill>
                <a:latin typeface="Inconsolata"/>
              </a:rPr>
              <a:t>    email: </a:t>
            </a:r>
            <a:r>
              <a:rPr sz="650" i="0">
                <a:solidFill>
                  <a:srgbClr val="C3A6FF"/>
                </a:solidFill>
                <a:latin typeface="Inconsolata"/>
              </a:rPr>
              <a:t>str</a:t>
            </a:r>
          </a:p>
          <a:p>
            <a:pPr>
              <a:lnSpc>
                <a:spcPct val="102564"/>
              </a:lnSpc>
              <a:spcAft>
                <a:spcPts val="0"/>
              </a:spcAft>
            </a:pPr>
            <a:r>
              <a:rPr sz="650" i="0">
                <a:solidFill>
                  <a:srgbClr val="E6EDF3"/>
                </a:solidFill>
                <a:latin typeface="Inconsolata"/>
              </a:rPr>
              <a:t>    password_hash: </a:t>
            </a:r>
            <a:r>
              <a:rPr sz="650" i="0">
                <a:solidFill>
                  <a:srgbClr val="C3A6FF"/>
                </a:solidFill>
                <a:latin typeface="Inconsolata"/>
              </a:rPr>
              <a:t>str</a:t>
            </a:r>
          </a:p>
          <a:p>
            <a:pPr>
              <a:lnSpc>
                <a:spcPct val="102564"/>
              </a:lnSpc>
              <a:spcAft>
                <a:spcPts val="0"/>
              </a:spcAft>
            </a:pPr>
            <a:r>
              <a:rPr sz="650" i="0">
                <a:solidFill>
                  <a:srgbClr val="E6EDF3"/>
                </a:solidFill>
                <a:latin typeface="Inconsolata"/>
              </a:rPr>
              <a:t>    role: </a:t>
            </a:r>
            <a:r>
              <a:rPr sz="650" i="0">
                <a:solidFill>
                  <a:srgbClr val="C3A6FF"/>
                </a:solidFill>
                <a:latin typeface="Inconsolata"/>
              </a:rPr>
              <a:t>str</a:t>
            </a:r>
            <a:r>
              <a:rPr sz="650" i="0">
                <a:solidFill>
                  <a:srgbClr val="E6EDF3"/>
                </a:solidFill>
                <a:latin typeface="Inconsolata"/>
              </a:rPr>
              <a:t> = </a:t>
            </a:r>
            <a:r>
              <a:rPr sz="650" i="0">
                <a:solidFill>
                  <a:srgbClr val="A5D6A7"/>
                </a:solidFill>
                <a:latin typeface="Inconsolata"/>
              </a:rPr>
              <a:t>"customer"</a:t>
            </a:r>
          </a:p>
          <a:p>
            <a:pPr>
              <a:lnSpc>
                <a:spcPct val="102564"/>
              </a:lnSpc>
              <a:spcAft>
                <a:spcPts val="0"/>
              </a:spcAft>
            </a:pPr>
            <a:r>
              <a:rPr sz="650" i="0">
                <a:solidFill>
                  <a:srgbClr val="E6EDF3"/>
                </a:solidFill>
                <a:latin typeface="Inconsolata"/>
              </a:rPr>
              <a:t>    customer_type: </a:t>
            </a:r>
            <a:r>
              <a:rPr sz="650" i="0">
                <a:solidFill>
                  <a:srgbClr val="C3A6FF"/>
                </a:solidFill>
                <a:latin typeface="Inconsolata"/>
              </a:rPr>
              <a:t>str</a:t>
            </a:r>
            <a:r>
              <a:rPr sz="650" i="0">
                <a:solidFill>
                  <a:srgbClr val="E6EDF3"/>
                </a:solidFill>
                <a:latin typeface="Inconsolata"/>
              </a:rPr>
              <a:t> = </a:t>
            </a:r>
            <a:r>
              <a:rPr sz="650" i="0">
                <a:solidFill>
                  <a:srgbClr val="A5D6A7"/>
                </a:solidFill>
                <a:latin typeface="Inconsolata"/>
              </a:rPr>
              <a:t>"regular"</a:t>
            </a:r>
          </a:p>
          <a:p>
            <a:pPr>
              <a:lnSpc>
                <a:spcPct val="102564"/>
              </a:lnSpc>
              <a:spcAft>
                <a:spcPts val="0"/>
              </a:spcAft>
            </a:pPr>
            <a:r>
              <a:rPr sz="650" i="0">
                <a:solidFill>
                  <a:srgbClr val="E6EDF3"/>
                </a:solidFill>
                <a:latin typeface="Inconsolata"/>
              </a:rPr>
              <a:t>...</a:t>
            </a:r>
          </a:p>
          <a:p>
            <a:pPr>
              <a:lnSpc>
                <a:spcPct val="102564"/>
              </a:lnSpc>
              <a:spcAft>
                <a:spcPts val="0"/>
              </a:spcAft>
            </a:pPr>
            <a:r>
              <a:rPr sz="650" i="1">
                <a:solidFill>
                  <a:srgbClr val="8B98A8"/>
                </a:solidFill>
                <a:latin typeface="Inconsolata"/>
              </a:rPr>
              <a:t># app/application/ports.py</a:t>
            </a:r>
          </a:p>
          <a:p>
            <a:pPr>
              <a:lnSpc>
                <a:spcPct val="102564"/>
              </a:lnSpc>
              <a:spcAft>
                <a:spcPts val="0"/>
              </a:spcAft>
            </a:pPr>
            <a:r>
              <a:rPr sz="650" i="0">
                <a:solidFill>
                  <a:srgbClr val="FF8E6E"/>
                </a:solidFill>
                <a:latin typeface="Inconsolata"/>
              </a:rPr>
              <a:t>class</a:t>
            </a:r>
            <a:r>
              <a:rPr sz="650" i="0">
                <a:solidFill>
                  <a:srgbClr val="E6EDF3"/>
                </a:solidFill>
                <a:latin typeface="Inconsolata"/>
              </a:rPr>
              <a:t> </a:t>
            </a:r>
            <a:r>
              <a:rPr sz="650" i="0">
                <a:solidFill>
                  <a:srgbClr val="7FDBCA"/>
                </a:solidFill>
                <a:latin typeface="Inconsolata"/>
              </a:rPr>
              <a:t>PasswordHasher</a:t>
            </a:r>
            <a:r>
              <a:rPr sz="650" i="0">
                <a:solidFill>
                  <a:srgbClr val="E6EDF3"/>
                </a:solidFill>
                <a:latin typeface="Inconsolata"/>
              </a:rPr>
              <a:t>(</a:t>
            </a:r>
            <a:r>
              <a:rPr sz="650" i="0">
                <a:solidFill>
                  <a:srgbClr val="7FDBCA"/>
                </a:solidFill>
                <a:latin typeface="Inconsolata"/>
              </a:rPr>
              <a:t>Protocol</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A5D6A7"/>
                </a:solidFill>
                <a:latin typeface="Inconsolata"/>
              </a:rPr>
              <a:t>"""Hash password satu arah. Password asli tidak pernah disimpan."""</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hash</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password: </a:t>
            </a:r>
            <a:r>
              <a:rPr sz="650" i="0">
                <a:solidFill>
                  <a:srgbClr val="C3A6FF"/>
                </a:solidFill>
                <a:latin typeface="Inconsolata"/>
              </a:rPr>
              <a:t>str</a:t>
            </a:r>
            <a:r>
              <a:rPr sz="650" i="0">
                <a:solidFill>
                  <a:srgbClr val="E6EDF3"/>
                </a:solidFill>
                <a:latin typeface="Inconsolata"/>
              </a:rPr>
              <a:t>) -&gt; </a:t>
            </a:r>
            <a:r>
              <a:rPr sz="650" i="0">
                <a:solidFill>
                  <a:srgbClr val="C3A6FF"/>
                </a:solidFill>
                <a:latin typeface="Inconsolata"/>
              </a:rPr>
              <a:t>str</a:t>
            </a:r>
            <a:r>
              <a:rPr sz="650" i="0">
                <a:solidFill>
                  <a:srgbClr val="E6EDF3"/>
                </a:solidFill>
                <a:latin typeface="Inconsolata"/>
              </a:rPr>
              <a:t>: ...</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verify</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password: </a:t>
            </a:r>
            <a:r>
              <a:rPr sz="650" i="0">
                <a:solidFill>
                  <a:srgbClr val="C3A6FF"/>
                </a:solidFill>
                <a:latin typeface="Inconsolata"/>
              </a:rPr>
              <a:t>str</a:t>
            </a:r>
            <a:r>
              <a:rPr sz="650" i="0">
                <a:solidFill>
                  <a:srgbClr val="E6EDF3"/>
                </a:solidFill>
                <a:latin typeface="Inconsolata"/>
              </a:rPr>
              <a:t>, password_hash: </a:t>
            </a:r>
            <a:r>
              <a:rPr sz="650" i="0">
                <a:solidFill>
                  <a:srgbClr val="C3A6FF"/>
                </a:solidFill>
                <a:latin typeface="Inconsolata"/>
              </a:rPr>
              <a:t>str</a:t>
            </a:r>
            <a:r>
              <a:rPr sz="650" i="0">
                <a:solidFill>
                  <a:srgbClr val="E6EDF3"/>
                </a:solidFill>
                <a:latin typeface="Inconsolata"/>
              </a:rPr>
              <a:t>) -&gt; </a:t>
            </a:r>
            <a:r>
              <a:rPr sz="650" i="0">
                <a:solidFill>
                  <a:srgbClr val="C3A6FF"/>
                </a:solidFill>
                <a:latin typeface="Inconsolata"/>
              </a:rPr>
              <a:t>bool</a:t>
            </a:r>
            <a:r>
              <a:rPr sz="650" i="0">
                <a:solidFill>
                  <a:srgbClr val="E6EDF3"/>
                </a:solidFill>
                <a:latin typeface="Inconsolata"/>
              </a:rPr>
              <a:t>: ...</a:t>
            </a:r>
          </a:p>
          <a:p>
            <a:pPr>
              <a:lnSpc>
                <a:spcPct val="102564"/>
              </a:lnSpc>
              <a:spcAft>
                <a:spcPts val="0"/>
              </a:spcAft>
            </a:pPr>
            <a:r>
              <a:rPr sz="650" i="0">
                <a:solidFill>
                  <a:srgbClr val="E6EDF3"/>
                </a:solidFill>
                <a:latin typeface="Inconsolata"/>
              </a:rPr>
              <a:t> </a:t>
            </a:r>
          </a:p>
          <a:p>
            <a:pPr>
              <a:lnSpc>
                <a:spcPct val="102564"/>
              </a:lnSpc>
              <a:spcAft>
                <a:spcPts val="0"/>
              </a:spcAft>
            </a:pPr>
            <a:r>
              <a:rPr sz="650" i="0">
                <a:solidFill>
                  <a:srgbClr val="FF8E6E"/>
                </a:solidFill>
                <a:latin typeface="Inconsolata"/>
              </a:rPr>
              <a:t>class</a:t>
            </a:r>
            <a:r>
              <a:rPr sz="650" i="0">
                <a:solidFill>
                  <a:srgbClr val="E6EDF3"/>
                </a:solidFill>
                <a:latin typeface="Inconsolata"/>
              </a:rPr>
              <a:t> </a:t>
            </a:r>
            <a:r>
              <a:rPr sz="650" i="0">
                <a:solidFill>
                  <a:srgbClr val="7FDBCA"/>
                </a:solidFill>
                <a:latin typeface="Inconsolata"/>
              </a:rPr>
              <a:t>TokenService</a:t>
            </a:r>
            <a:r>
              <a:rPr sz="650" i="0">
                <a:solidFill>
                  <a:srgbClr val="E6EDF3"/>
                </a:solidFill>
                <a:latin typeface="Inconsolata"/>
              </a:rPr>
              <a:t>(</a:t>
            </a:r>
            <a:r>
              <a:rPr sz="650" i="0">
                <a:solidFill>
                  <a:srgbClr val="7FDBCA"/>
                </a:solidFill>
                <a:latin typeface="Inconsolata"/>
              </a:rPr>
              <a:t>Protocol</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A5D6A7"/>
                </a:solidFill>
                <a:latin typeface="Inconsolata"/>
              </a:rPr>
              <a:t>"""Membuat dan membaca access token (JWT)."""</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issue</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user: </a:t>
            </a:r>
            <a:r>
              <a:rPr sz="650" i="0">
                <a:solidFill>
                  <a:srgbClr val="7FDBCA"/>
                </a:solidFill>
                <a:latin typeface="Inconsolata"/>
              </a:rPr>
              <a:t>User</a:t>
            </a:r>
            <a:r>
              <a:rPr sz="650" i="0">
                <a:solidFill>
                  <a:srgbClr val="E6EDF3"/>
                </a:solidFill>
                <a:latin typeface="Inconsolata"/>
              </a:rPr>
              <a:t>) -&gt; </a:t>
            </a:r>
            <a:r>
              <a:rPr sz="650" i="0">
                <a:solidFill>
                  <a:srgbClr val="C3A6FF"/>
                </a:solidFill>
                <a:latin typeface="Inconsolata"/>
              </a:rPr>
              <a:t>str</a:t>
            </a:r>
            <a:r>
              <a:rPr sz="650" i="0">
                <a:solidFill>
                  <a:srgbClr val="E6EDF3"/>
                </a:solidFill>
                <a:latin typeface="Inconsolata"/>
              </a:rPr>
              <a:t>: ...</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read</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token: </a:t>
            </a:r>
            <a:r>
              <a:rPr sz="650" i="0">
                <a:solidFill>
                  <a:srgbClr val="C3A6FF"/>
                </a:solidFill>
                <a:latin typeface="Inconsolata"/>
              </a:rPr>
              <a:t>str</a:t>
            </a:r>
            <a:r>
              <a:rPr sz="650" i="0">
                <a:solidFill>
                  <a:srgbClr val="E6EDF3"/>
                </a:solidFill>
                <a:latin typeface="Inconsolata"/>
              </a:rPr>
              <a:t>) -&gt; </a:t>
            </a:r>
            <a:r>
              <a:rPr sz="650" i="0">
                <a:solidFill>
                  <a:srgbClr val="C3A6FF"/>
                </a:solidFill>
                <a:latin typeface="Inconsolata"/>
              </a:rPr>
              <a:t>dict</a:t>
            </a:r>
            <a:r>
              <a:rPr sz="650" i="0">
                <a:solidFill>
                  <a:srgbClr val="E6EDF3"/>
                </a:solidFill>
                <a:latin typeface="Inconsolata"/>
              </a:rPr>
              <a:t>: ...</a:t>
            </a:r>
          </a:p>
        </p:txBody>
      </p:sp>
      <p:sp>
        <p:nvSpPr>
          <p:cNvPr id="29" name="Box 12"/>
          <p:cNvSpPr/>
          <p:nvPr/>
        </p:nvSpPr>
        <p:spPr>
          <a:xfrm>
            <a:off x="704088" y="19253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955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9413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870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246120"/>
            <a:ext cx="5230368" cy="908304"/>
          </a:xfrm>
          <a:prstGeom prst="roundRect">
            <a:avLst>
              <a:gd name="adj" fmla="val 5033"/>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5814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Role dan scope-nya, aturan RBAC (contoh 06)</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customer_type</a:t>
            </a:r>
            <a:r>
              <a:rPr sz="900" b="0" i="0">
                <a:solidFill>
                  <a:srgbClr val="434343"/>
                </a:solidFill>
                <a:latin typeface="Inter"/>
              </a:rPr>
              <a:t> jadi milik user, bukan isi request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Port untuk hash dan token, application tidak tahu Argon2 dan JWT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Tambah juga </a:t>
            </a:r>
            <a:r>
              <a:rPr sz="900" b="0" i="0">
                <a:solidFill>
                  <a:srgbClr val="B5482A"/>
                </a:solidFill>
                <a:latin typeface="Inconsolata"/>
              </a:rPr>
              <a:t>UserRepository</a:t>
            </a:r>
            <a:r>
              <a:rPr sz="900" b="0" i="0">
                <a:solidFill>
                  <a:srgbClr val="434343"/>
                </a:solidFill>
                <a:latin typeface="Inter"/>
              </a:rPr>
              <a:t> dan </a:t>
            </a:r>
            <a:r>
              <a:rPr sz="900" b="0" i="0">
                <a:solidFill>
                  <a:srgbClr val="B5482A"/>
                </a:solidFill>
                <a:latin typeface="Inconsolata"/>
              </a:rPr>
              <a:t>uow.users</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Domain tanpa library security.</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3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infrastructure/security.py: Argon2 dan JWT</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app/infrastructure/security.py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5820"/>
              </a:lnSpc>
              <a:spcAft>
                <a:spcPts val="0"/>
              </a:spcAft>
            </a:pPr>
            <a:r>
              <a:rPr sz="630" i="0">
                <a:solidFill>
                  <a:srgbClr val="FF8E6E"/>
                </a:solidFill>
                <a:latin typeface="Inconsolata"/>
              </a:rPr>
              <a:t>class</a:t>
            </a:r>
            <a:r>
              <a:rPr sz="630" i="0">
                <a:solidFill>
                  <a:srgbClr val="E6EDF3"/>
                </a:solidFill>
                <a:latin typeface="Inconsolata"/>
              </a:rPr>
              <a:t> </a:t>
            </a:r>
            <a:r>
              <a:rPr sz="630" i="0">
                <a:solidFill>
                  <a:srgbClr val="7FDBCA"/>
                </a:solidFill>
                <a:latin typeface="Inconsolata"/>
              </a:rPr>
              <a:t>Argon2PasswordHasher</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FF8E6E"/>
                </a:solidFill>
                <a:latin typeface="Inconsolata"/>
              </a:rPr>
              <a:t>def</a:t>
            </a:r>
            <a:r>
              <a:rPr sz="630" i="0">
                <a:solidFill>
                  <a:srgbClr val="E6EDF3"/>
                </a:solidFill>
                <a:latin typeface="Inconsolata"/>
              </a:rPr>
              <a:t> </a:t>
            </a:r>
            <a:r>
              <a:rPr sz="630" i="0">
                <a:solidFill>
                  <a:srgbClr val="82B1FF"/>
                </a:solidFill>
                <a:latin typeface="Inconsolata"/>
              </a:rPr>
              <a:t>__init__</a:t>
            </a:r>
            <a:r>
              <a:rPr sz="630" i="0">
                <a:solidFill>
                  <a:srgbClr val="E6EDF3"/>
                </a:solidFill>
                <a:latin typeface="Inconsolata"/>
              </a:rPr>
              <a:t>(</a:t>
            </a:r>
            <a:r>
              <a:rPr sz="630" i="0">
                <a:solidFill>
                  <a:srgbClr val="C3A6FF"/>
                </a:solidFill>
                <a:latin typeface="Inconsolata"/>
              </a:rPr>
              <a:t>self</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C3A6FF"/>
                </a:solidFill>
                <a:latin typeface="Inconsolata"/>
              </a:rPr>
              <a:t>self</a:t>
            </a:r>
            <a:r>
              <a:rPr sz="630" i="0">
                <a:solidFill>
                  <a:srgbClr val="E6EDF3"/>
                </a:solidFill>
                <a:latin typeface="Inconsolata"/>
              </a:rPr>
              <a:t>.hasher = </a:t>
            </a:r>
            <a:r>
              <a:rPr sz="630" i="0">
                <a:solidFill>
                  <a:srgbClr val="7FDBCA"/>
                </a:solidFill>
                <a:latin typeface="Inconsolata"/>
              </a:rPr>
              <a:t>PasswordHash</a:t>
            </a:r>
            <a:r>
              <a:rPr sz="630" i="0">
                <a:solidFill>
                  <a:srgbClr val="E6EDF3"/>
                </a:solidFill>
                <a:latin typeface="Inconsolata"/>
              </a:rPr>
              <a:t>.recommended()</a:t>
            </a:r>
          </a:p>
          <a:p>
            <a:pPr>
              <a:lnSpc>
                <a:spcPct val="105820"/>
              </a:lnSpc>
              <a:spcAft>
                <a:spcPts val="0"/>
              </a:spcAft>
            </a:pPr>
            <a:r>
              <a:rPr sz="630" i="0">
                <a:solidFill>
                  <a:srgbClr val="E6EDF3"/>
                </a:solidFill>
                <a:latin typeface="Inconsolata"/>
              </a:rPr>
              <a:t>...</a:t>
            </a:r>
          </a:p>
          <a:p>
            <a:pPr>
              <a:lnSpc>
                <a:spcPct val="105820"/>
              </a:lnSpc>
              <a:spcAft>
                <a:spcPts val="0"/>
              </a:spcAft>
            </a:pPr>
            <a:r>
              <a:rPr sz="630" i="0">
                <a:solidFill>
                  <a:srgbClr val="FF8E6E"/>
                </a:solidFill>
                <a:latin typeface="Inconsolata"/>
              </a:rPr>
              <a:t>class</a:t>
            </a:r>
            <a:r>
              <a:rPr sz="630" i="0">
                <a:solidFill>
                  <a:srgbClr val="E6EDF3"/>
                </a:solidFill>
                <a:latin typeface="Inconsolata"/>
              </a:rPr>
              <a:t> </a:t>
            </a:r>
            <a:r>
              <a:rPr sz="630" i="0">
                <a:solidFill>
                  <a:srgbClr val="7FDBCA"/>
                </a:solidFill>
                <a:latin typeface="Inconsolata"/>
              </a:rPr>
              <a:t>JwtTokenService</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7FDBCA"/>
                </a:solidFill>
                <a:latin typeface="Inconsolata"/>
              </a:rPr>
              <a:t>ALGORITHM</a:t>
            </a:r>
            <a:r>
              <a:rPr sz="630" i="0">
                <a:solidFill>
                  <a:srgbClr val="E6EDF3"/>
                </a:solidFill>
                <a:latin typeface="Inconsolata"/>
              </a:rPr>
              <a:t> = </a:t>
            </a:r>
            <a:r>
              <a:rPr sz="630" i="0">
                <a:solidFill>
                  <a:srgbClr val="A5D6A7"/>
                </a:solidFill>
                <a:latin typeface="Inconsolata"/>
              </a:rPr>
              <a:t>"HS256"</a:t>
            </a:r>
          </a:p>
          <a:p>
            <a:pPr>
              <a:lnSpc>
                <a:spcPct val="105820"/>
              </a:lnSpc>
              <a:spcAft>
                <a:spcPts val="0"/>
              </a:spcAft>
            </a:pP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FF8E6E"/>
                </a:solidFill>
                <a:latin typeface="Inconsolata"/>
              </a:rPr>
              <a:t>def</a:t>
            </a:r>
            <a:r>
              <a:rPr sz="630" i="0">
                <a:solidFill>
                  <a:srgbClr val="E6EDF3"/>
                </a:solidFill>
                <a:latin typeface="Inconsolata"/>
              </a:rPr>
              <a:t> </a:t>
            </a:r>
            <a:r>
              <a:rPr sz="630" i="0">
                <a:solidFill>
                  <a:srgbClr val="82B1FF"/>
                </a:solidFill>
                <a:latin typeface="Inconsolata"/>
              </a:rPr>
              <a:t>issue</a:t>
            </a:r>
            <a:r>
              <a:rPr sz="630" i="0">
                <a:solidFill>
                  <a:srgbClr val="E6EDF3"/>
                </a:solidFill>
                <a:latin typeface="Inconsolata"/>
              </a:rPr>
              <a:t>(</a:t>
            </a:r>
            <a:r>
              <a:rPr sz="630" i="0">
                <a:solidFill>
                  <a:srgbClr val="C3A6FF"/>
                </a:solidFill>
                <a:latin typeface="Inconsolata"/>
              </a:rPr>
              <a:t>self</a:t>
            </a:r>
            <a:r>
              <a:rPr sz="630" i="0">
                <a:solidFill>
                  <a:srgbClr val="E6EDF3"/>
                </a:solidFill>
                <a:latin typeface="Inconsolata"/>
              </a:rPr>
              <a:t>, user: </a:t>
            </a:r>
            <a:r>
              <a:rPr sz="630" i="0">
                <a:solidFill>
                  <a:srgbClr val="7FDBCA"/>
                </a:solidFill>
                <a:latin typeface="Inconsolata"/>
              </a:rPr>
              <a:t>User</a:t>
            </a:r>
            <a:r>
              <a:rPr sz="630" i="0">
                <a:solidFill>
                  <a:srgbClr val="E6EDF3"/>
                </a:solidFill>
                <a:latin typeface="Inconsolata"/>
              </a:rPr>
              <a:t>) -&gt; </a:t>
            </a:r>
            <a:r>
              <a:rPr sz="630" i="0">
                <a:solidFill>
                  <a:srgbClr val="C3A6FF"/>
                </a:solidFill>
                <a:latin typeface="Inconsolata"/>
              </a:rPr>
              <a:t>str</a:t>
            </a:r>
            <a:r>
              <a:rPr sz="630" i="0">
                <a:solidFill>
                  <a:srgbClr val="E6EDF3"/>
                </a:solidFill>
                <a:latin typeface="Inconsolata"/>
              </a:rPr>
              <a:t>:</a:t>
            </a:r>
          </a:p>
          <a:p>
            <a:pPr>
              <a:lnSpc>
                <a:spcPct val="105820"/>
              </a:lnSpc>
              <a:spcAft>
                <a:spcPts val="0"/>
              </a:spcAft>
            </a:pPr>
            <a:r>
              <a:rPr sz="630" i="0">
                <a:solidFill>
                  <a:srgbClr val="E6EDF3"/>
                </a:solidFill>
                <a:latin typeface="Inconsolata"/>
              </a:rPr>
              <a:t>        now = datetime.now(timezone.utc)</a:t>
            </a:r>
          </a:p>
          <a:p>
            <a:pPr>
              <a:lnSpc>
                <a:spcPct val="105820"/>
              </a:lnSpc>
              <a:spcAft>
                <a:spcPts val="0"/>
              </a:spcAft>
            </a:pPr>
            <a:r>
              <a:rPr sz="630" i="0">
                <a:solidFill>
                  <a:srgbClr val="E6EDF3"/>
                </a:solidFill>
                <a:latin typeface="Inconsolata"/>
              </a:rPr>
              <a:t>        claims = {</a:t>
            </a:r>
            <a:r>
              <a:rPr sz="630" i="0">
                <a:solidFill>
                  <a:srgbClr val="A5D6A7"/>
                </a:solidFill>
                <a:latin typeface="Inconsolata"/>
              </a:rPr>
              <a:t>"sub"</a:t>
            </a:r>
            <a:r>
              <a:rPr sz="630" i="0">
                <a:solidFill>
                  <a:srgbClr val="E6EDF3"/>
                </a:solidFill>
                <a:latin typeface="Inconsolata"/>
              </a:rPr>
              <a:t>: user.email, </a:t>
            </a:r>
            <a:r>
              <a:rPr sz="630" i="0">
                <a:solidFill>
                  <a:srgbClr val="A5D6A7"/>
                </a:solidFill>
                <a:latin typeface="Inconsolata"/>
              </a:rPr>
              <a:t>"role"</a:t>
            </a:r>
            <a:r>
              <a:rPr sz="630" i="0">
                <a:solidFill>
                  <a:srgbClr val="E6EDF3"/>
                </a:solidFill>
                <a:latin typeface="Inconsolata"/>
              </a:rPr>
              <a:t>: user.role, </a:t>
            </a:r>
            <a:r>
              <a:rPr sz="630" i="0">
                <a:solidFill>
                  <a:srgbClr val="A5D6A7"/>
                </a:solidFill>
                <a:latin typeface="Inconsolata"/>
              </a:rPr>
              <a:t>"customer_type"</a:t>
            </a:r>
            <a:r>
              <a:rPr sz="630" i="0">
                <a:solidFill>
                  <a:srgbClr val="E6EDF3"/>
                </a:solidFill>
                <a:latin typeface="Inconsolata"/>
              </a:rPr>
              <a:t>: user.customer_type,</a:t>
            </a:r>
          </a:p>
          <a:p>
            <a:pPr>
              <a:lnSpc>
                <a:spcPct val="105820"/>
              </a:lnSpc>
              <a:spcAft>
                <a:spcPts val="0"/>
              </a:spcAft>
            </a:pPr>
            <a:r>
              <a:rPr sz="630" i="0">
                <a:solidFill>
                  <a:srgbClr val="E6EDF3"/>
                </a:solidFill>
                <a:latin typeface="Inconsolata"/>
              </a:rPr>
              <a:t>                  </a:t>
            </a:r>
            <a:r>
              <a:rPr sz="630" i="0">
                <a:solidFill>
                  <a:srgbClr val="A5D6A7"/>
                </a:solidFill>
                <a:latin typeface="Inconsolata"/>
              </a:rPr>
              <a:t>"scope"</a:t>
            </a:r>
            <a:r>
              <a:rPr sz="630" i="0">
                <a:solidFill>
                  <a:srgbClr val="E6EDF3"/>
                </a:solidFill>
                <a:latin typeface="Inconsolata"/>
              </a:rPr>
              <a:t>: </a:t>
            </a:r>
            <a:r>
              <a:rPr sz="630" i="0">
                <a:solidFill>
                  <a:srgbClr val="A5D6A7"/>
                </a:solidFill>
                <a:latin typeface="Inconsolata"/>
              </a:rPr>
              <a:t>" "</a:t>
            </a:r>
            <a:r>
              <a:rPr sz="630" i="0">
                <a:solidFill>
                  <a:srgbClr val="E6EDF3"/>
                </a:solidFill>
                <a:latin typeface="Inconsolata"/>
              </a:rPr>
              <a:t>.join(sorted(user.scopes)),</a:t>
            </a:r>
          </a:p>
          <a:p>
            <a:pPr>
              <a:lnSpc>
                <a:spcPct val="105820"/>
              </a:lnSpc>
              <a:spcAft>
                <a:spcPts val="0"/>
              </a:spcAft>
            </a:pPr>
            <a:r>
              <a:rPr sz="630" i="0">
                <a:solidFill>
                  <a:srgbClr val="E6EDF3"/>
                </a:solidFill>
                <a:latin typeface="Inconsolata"/>
              </a:rPr>
              <a:t>                  </a:t>
            </a:r>
            <a:r>
              <a:rPr sz="630" i="0">
                <a:solidFill>
                  <a:srgbClr val="A5D6A7"/>
                </a:solidFill>
                <a:latin typeface="Inconsolata"/>
              </a:rPr>
              <a:t>"iat"</a:t>
            </a:r>
            <a:r>
              <a:rPr sz="630" i="0">
                <a:solidFill>
                  <a:srgbClr val="E6EDF3"/>
                </a:solidFill>
                <a:latin typeface="Inconsolata"/>
              </a:rPr>
              <a:t>: now, </a:t>
            </a:r>
            <a:r>
              <a:rPr sz="630" i="0">
                <a:solidFill>
                  <a:srgbClr val="A5D6A7"/>
                </a:solidFill>
                <a:latin typeface="Inconsolata"/>
              </a:rPr>
              <a:t>"exp"</a:t>
            </a:r>
            <a:r>
              <a:rPr sz="630" i="0">
                <a:solidFill>
                  <a:srgbClr val="E6EDF3"/>
                </a:solidFill>
                <a:latin typeface="Inconsolata"/>
              </a:rPr>
              <a:t>: now + timedelta(minutes=</a:t>
            </a:r>
            <a:r>
              <a:rPr sz="630" i="0">
                <a:solidFill>
                  <a:srgbClr val="C3A6FF"/>
                </a:solidFill>
                <a:latin typeface="Inconsolata"/>
              </a:rPr>
              <a:t>self</a:t>
            </a:r>
            <a:r>
              <a:rPr sz="630" i="0">
                <a:solidFill>
                  <a:srgbClr val="E6EDF3"/>
                </a:solidFill>
                <a:latin typeface="Inconsolata"/>
              </a:rPr>
              <a:t>.minutes)}</a:t>
            </a:r>
          </a:p>
          <a:p>
            <a:pPr>
              <a:lnSpc>
                <a:spcPct val="105820"/>
              </a:lnSpc>
              <a:spcAft>
                <a:spcPts val="0"/>
              </a:spcAft>
            </a:pPr>
            <a:r>
              <a:rPr sz="630" i="0">
                <a:solidFill>
                  <a:srgbClr val="E6EDF3"/>
                </a:solidFill>
                <a:latin typeface="Inconsolata"/>
              </a:rPr>
              <a:t>        </a:t>
            </a:r>
            <a:r>
              <a:rPr sz="630" i="0">
                <a:solidFill>
                  <a:srgbClr val="FF8E6E"/>
                </a:solidFill>
                <a:latin typeface="Inconsolata"/>
              </a:rPr>
              <a:t>return</a:t>
            </a:r>
            <a:r>
              <a:rPr sz="630" i="0">
                <a:solidFill>
                  <a:srgbClr val="E6EDF3"/>
                </a:solidFill>
                <a:latin typeface="Inconsolata"/>
              </a:rPr>
              <a:t> jwt.encode(claims, </a:t>
            </a:r>
            <a:r>
              <a:rPr sz="630" i="0">
                <a:solidFill>
                  <a:srgbClr val="C3A6FF"/>
                </a:solidFill>
                <a:latin typeface="Inconsolata"/>
              </a:rPr>
              <a:t>self</a:t>
            </a:r>
            <a:r>
              <a:rPr sz="630" i="0">
                <a:solidFill>
                  <a:srgbClr val="E6EDF3"/>
                </a:solidFill>
                <a:latin typeface="Inconsolata"/>
              </a:rPr>
              <a:t>.secret, algorithm=</a:t>
            </a:r>
            <a:r>
              <a:rPr sz="630" i="0">
                <a:solidFill>
                  <a:srgbClr val="C3A6FF"/>
                </a:solidFill>
                <a:latin typeface="Inconsolata"/>
              </a:rPr>
              <a:t>self</a:t>
            </a:r>
            <a:r>
              <a:rPr sz="630" i="0">
                <a:solidFill>
                  <a:srgbClr val="E6EDF3"/>
                </a:solidFill>
                <a:latin typeface="Inconsolata"/>
              </a:rPr>
              <a:t>.</a:t>
            </a:r>
            <a:r>
              <a:rPr sz="630" i="0">
                <a:solidFill>
                  <a:srgbClr val="7FDBCA"/>
                </a:solidFill>
                <a:latin typeface="Inconsolata"/>
              </a:rPr>
              <a:t>ALGORITHM</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p>
          <a:p>
            <a:pPr>
              <a:lnSpc>
                <a:spcPct val="105820"/>
              </a:lnSpc>
              <a:spcAft>
                <a:spcPts val="0"/>
              </a:spcAft>
            </a:pPr>
            <a:r>
              <a:rPr sz="630" i="0">
                <a:solidFill>
                  <a:srgbClr val="E6EDF3"/>
                </a:solidFill>
                <a:latin typeface="Inconsolata"/>
              </a:rPr>
              <a:t>    </a:t>
            </a:r>
            <a:r>
              <a:rPr sz="630" i="0">
                <a:solidFill>
                  <a:srgbClr val="FF8E6E"/>
                </a:solidFill>
                <a:latin typeface="Inconsolata"/>
              </a:rPr>
              <a:t>def</a:t>
            </a:r>
            <a:r>
              <a:rPr sz="630" i="0">
                <a:solidFill>
                  <a:srgbClr val="E6EDF3"/>
                </a:solidFill>
                <a:latin typeface="Inconsolata"/>
              </a:rPr>
              <a:t> </a:t>
            </a:r>
            <a:r>
              <a:rPr sz="630" i="0">
                <a:solidFill>
                  <a:srgbClr val="82B1FF"/>
                </a:solidFill>
                <a:latin typeface="Inconsolata"/>
              </a:rPr>
              <a:t>read</a:t>
            </a:r>
            <a:r>
              <a:rPr sz="630" i="0">
                <a:solidFill>
                  <a:srgbClr val="E6EDF3"/>
                </a:solidFill>
                <a:latin typeface="Inconsolata"/>
              </a:rPr>
              <a:t>(</a:t>
            </a:r>
            <a:r>
              <a:rPr sz="630" i="0">
                <a:solidFill>
                  <a:srgbClr val="C3A6FF"/>
                </a:solidFill>
                <a:latin typeface="Inconsolata"/>
              </a:rPr>
              <a:t>self</a:t>
            </a:r>
            <a:r>
              <a:rPr sz="630" i="0">
                <a:solidFill>
                  <a:srgbClr val="E6EDF3"/>
                </a:solidFill>
                <a:latin typeface="Inconsolata"/>
              </a:rPr>
              <a:t>, token: </a:t>
            </a:r>
            <a:r>
              <a:rPr sz="630" i="0">
                <a:solidFill>
                  <a:srgbClr val="C3A6FF"/>
                </a:solidFill>
                <a:latin typeface="Inconsolata"/>
              </a:rPr>
              <a:t>str</a:t>
            </a:r>
            <a:r>
              <a:rPr sz="630" i="0">
                <a:solidFill>
                  <a:srgbClr val="E6EDF3"/>
                </a:solidFill>
                <a:latin typeface="Inconsolata"/>
              </a:rPr>
              <a:t>) -&gt; </a:t>
            </a:r>
            <a:r>
              <a:rPr sz="630" i="0">
                <a:solidFill>
                  <a:srgbClr val="C3A6FF"/>
                </a:solidFill>
                <a:latin typeface="Inconsolata"/>
              </a:rPr>
              <a:t>dict</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FF8E6E"/>
                </a:solidFill>
                <a:latin typeface="Inconsolata"/>
              </a:rPr>
              <a:t>try</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1">
                <a:solidFill>
                  <a:srgbClr val="8B98A8"/>
                </a:solidFill>
                <a:latin typeface="Inconsolata"/>
              </a:rPr>
              <a:t># algorithms wajib ditulis, supaya token dengan algoritma lain (misalnya "none") ditolak</a:t>
            </a:r>
          </a:p>
          <a:p>
            <a:pPr>
              <a:lnSpc>
                <a:spcPct val="105820"/>
              </a:lnSpc>
              <a:spcAft>
                <a:spcPts val="0"/>
              </a:spcAft>
            </a:pPr>
            <a:r>
              <a:rPr sz="630" i="0">
                <a:solidFill>
                  <a:srgbClr val="E6EDF3"/>
                </a:solidFill>
                <a:latin typeface="Inconsolata"/>
              </a:rPr>
              <a:t>            </a:t>
            </a:r>
            <a:r>
              <a:rPr sz="630" i="0">
                <a:solidFill>
                  <a:srgbClr val="FF8E6E"/>
                </a:solidFill>
                <a:latin typeface="Inconsolata"/>
              </a:rPr>
              <a:t>return</a:t>
            </a:r>
            <a:r>
              <a:rPr sz="630" i="0">
                <a:solidFill>
                  <a:srgbClr val="E6EDF3"/>
                </a:solidFill>
                <a:latin typeface="Inconsolata"/>
              </a:rPr>
              <a:t> jwt.decode(token, </a:t>
            </a:r>
            <a:r>
              <a:rPr sz="630" i="0">
                <a:solidFill>
                  <a:srgbClr val="C3A6FF"/>
                </a:solidFill>
                <a:latin typeface="Inconsolata"/>
              </a:rPr>
              <a:t>self</a:t>
            </a:r>
            <a:r>
              <a:rPr sz="630" i="0">
                <a:solidFill>
                  <a:srgbClr val="E6EDF3"/>
                </a:solidFill>
                <a:latin typeface="Inconsolata"/>
              </a:rPr>
              <a:t>.secret, algorithms=[</a:t>
            </a:r>
            <a:r>
              <a:rPr sz="630" i="0">
                <a:solidFill>
                  <a:srgbClr val="C3A6FF"/>
                </a:solidFill>
                <a:latin typeface="Inconsolata"/>
              </a:rPr>
              <a:t>self</a:t>
            </a:r>
            <a:r>
              <a:rPr sz="630" i="0">
                <a:solidFill>
                  <a:srgbClr val="E6EDF3"/>
                </a:solidFill>
                <a:latin typeface="Inconsolata"/>
              </a:rPr>
              <a:t>.</a:t>
            </a:r>
            <a:r>
              <a:rPr sz="630" i="0">
                <a:solidFill>
                  <a:srgbClr val="7FDBCA"/>
                </a:solidFill>
                <a:latin typeface="Inconsolata"/>
              </a:rPr>
              <a:t>ALGORITHM</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FF8E6E"/>
                </a:solidFill>
                <a:latin typeface="Inconsolata"/>
              </a:rPr>
              <a:t>except</a:t>
            </a:r>
            <a:r>
              <a:rPr sz="630" i="0">
                <a:solidFill>
                  <a:srgbClr val="E6EDF3"/>
                </a:solidFill>
                <a:latin typeface="Inconsolata"/>
              </a:rPr>
              <a:t> jwt.</a:t>
            </a:r>
            <a:r>
              <a:rPr sz="630" i="0">
                <a:solidFill>
                  <a:srgbClr val="7FDBCA"/>
                </a:solidFill>
                <a:latin typeface="Inconsolata"/>
              </a:rPr>
              <a:t>ExpiredSignatureError</a:t>
            </a:r>
            <a:r>
              <a:rPr sz="630" i="0">
                <a:solidFill>
                  <a:srgbClr val="E6EDF3"/>
                </a:solidFill>
                <a:latin typeface="Inconsolata"/>
              </a:rPr>
              <a:t> </a:t>
            </a:r>
            <a:r>
              <a:rPr sz="630" i="0">
                <a:solidFill>
                  <a:srgbClr val="FF8E6E"/>
                </a:solidFill>
                <a:latin typeface="Inconsolata"/>
              </a:rPr>
              <a:t>as</a:t>
            </a:r>
            <a:r>
              <a:rPr sz="630" i="0">
                <a:solidFill>
                  <a:srgbClr val="E6EDF3"/>
                </a:solidFill>
                <a:latin typeface="Inconsolata"/>
              </a:rPr>
              <a:t> exc:</a:t>
            </a:r>
          </a:p>
          <a:p>
            <a:pPr>
              <a:lnSpc>
                <a:spcPct val="105820"/>
              </a:lnSpc>
              <a:spcAft>
                <a:spcPts val="0"/>
              </a:spcAft>
            </a:pPr>
            <a:r>
              <a:rPr sz="630" i="0">
                <a:solidFill>
                  <a:srgbClr val="E6EDF3"/>
                </a:solidFill>
                <a:latin typeface="Inconsolata"/>
              </a:rPr>
              <a:t>            </a:t>
            </a:r>
            <a:r>
              <a:rPr sz="630" i="0">
                <a:solidFill>
                  <a:srgbClr val="FF8E6E"/>
                </a:solidFill>
                <a:latin typeface="Inconsolata"/>
              </a:rPr>
              <a:t>raise</a:t>
            </a:r>
            <a:r>
              <a:rPr sz="630" i="0">
                <a:solidFill>
                  <a:srgbClr val="E6EDF3"/>
                </a:solidFill>
                <a:latin typeface="Inconsolata"/>
              </a:rPr>
              <a:t> </a:t>
            </a:r>
            <a:r>
              <a:rPr sz="630" i="0">
                <a:solidFill>
                  <a:srgbClr val="7FDBCA"/>
                </a:solidFill>
                <a:latin typeface="Inconsolata"/>
              </a:rPr>
              <a:t>InvalidToken</a:t>
            </a:r>
            <a:r>
              <a:rPr sz="630" i="0">
                <a:solidFill>
                  <a:srgbClr val="E6EDF3"/>
                </a:solidFill>
                <a:latin typeface="Inconsolata"/>
              </a:rPr>
              <a:t>(</a:t>
            </a:r>
            <a:r>
              <a:rPr sz="630" i="0">
                <a:solidFill>
                  <a:srgbClr val="A5D6A7"/>
                </a:solidFill>
                <a:latin typeface="Inconsolata"/>
              </a:rPr>
              <a:t>"Token kedaluwarsa, silakan login lagi"</a:t>
            </a:r>
            <a:r>
              <a:rPr sz="630" i="0">
                <a:solidFill>
                  <a:srgbClr val="E6EDF3"/>
                </a:solidFill>
                <a:latin typeface="Inconsolata"/>
              </a:rPr>
              <a:t>) </a:t>
            </a:r>
            <a:r>
              <a:rPr sz="630" i="0">
                <a:solidFill>
                  <a:srgbClr val="FF8E6E"/>
                </a:solidFill>
                <a:latin typeface="Inconsolata"/>
              </a:rPr>
              <a:t>from</a:t>
            </a:r>
            <a:r>
              <a:rPr sz="630" i="0">
                <a:solidFill>
                  <a:srgbClr val="E6EDF3"/>
                </a:solidFill>
                <a:latin typeface="Inconsolata"/>
              </a:rPr>
              <a:t> exc</a:t>
            </a:r>
          </a:p>
        </p:txBody>
      </p:sp>
      <p:sp>
        <p:nvSpPr>
          <p:cNvPr id="29" name="Box 12"/>
          <p:cNvSpPr/>
          <p:nvPr/>
        </p:nvSpPr>
        <p:spPr>
          <a:xfrm>
            <a:off x="704088" y="18237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85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738120"/>
            <a:ext cx="5230368" cy="400304"/>
          </a:xfrm>
          <a:prstGeom prst="roundRect">
            <a:avLst>
              <a:gd name="adj" fmla="val 11421"/>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8194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246120"/>
            <a:ext cx="5230368" cy="603503"/>
          </a:xfrm>
          <a:prstGeom prst="roundRect">
            <a:avLst>
              <a:gd name="adj" fmla="val 757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429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Hash Argon2 (contoh 05)</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Claims: sub, role, customer_type, scope, exp (contoh 04)</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Token salah atau kedaluwarsa = </a:t>
            </a:r>
            <a:r>
              <a:rPr sz="900" b="0" i="0">
                <a:solidFill>
                  <a:srgbClr val="B5482A"/>
                </a:solidFill>
                <a:latin typeface="Inconsolata"/>
              </a:rPr>
              <a:t>InvalidToken</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Tambah </a:t>
            </a:r>
            <a:r>
              <a:rPr sz="900" b="0" i="0">
                <a:solidFill>
                  <a:srgbClr val="B5482A"/>
                </a:solidFill>
                <a:latin typeface="Inconsolata"/>
              </a:rPr>
              <a:t>UserRecord</a:t>
            </a:r>
            <a:r>
              <a:rPr sz="900" b="0" i="0">
                <a:solidFill>
                  <a:srgbClr val="434343"/>
                </a:solidFill>
                <a:latin typeface="Inter"/>
              </a:rPr>
              <a:t> di models, </a:t>
            </a:r>
            <a:r>
              <a:rPr sz="900" b="0" i="0">
                <a:solidFill>
                  <a:srgbClr val="B5482A"/>
                </a:solidFill>
                <a:latin typeface="Inconsolata"/>
              </a:rPr>
              <a:t>SqlAlchemyUserRepository</a:t>
            </a:r>
            <a:r>
              <a:rPr sz="900" b="0" i="0">
                <a:solidFill>
                  <a:srgbClr val="434343"/>
                </a:solidFill>
                <a:latin typeface="Inter"/>
              </a:rPr>
              <a:t>, dan </a:t>
            </a:r>
            <a:r>
              <a:rPr sz="900" b="0" i="0">
                <a:solidFill>
                  <a:srgbClr val="B5482A"/>
                </a:solidFill>
                <a:latin typeface="Inconsolata"/>
              </a:rPr>
              <a:t>uow.users</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Adapter untuk port langkah 2.</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4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application/auth_service.py</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app/application/auth_service.py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7527"/>
              </a:lnSpc>
              <a:spcAft>
                <a:spcPts val="0"/>
              </a:spcAft>
            </a:pPr>
            <a:r>
              <a:rPr sz="620" i="0">
                <a:solidFill>
                  <a:srgbClr val="F9C97A"/>
                </a:solidFill>
                <a:latin typeface="Inconsolata"/>
              </a:rPr>
              <a:t>@dataclass</a:t>
            </a:r>
            <a:r>
              <a:rPr sz="620" i="0">
                <a:solidFill>
                  <a:srgbClr val="E6EDF3"/>
                </a:solidFill>
                <a:latin typeface="Inconsolata"/>
              </a:rPr>
              <a:t>(frozen=</a:t>
            </a:r>
            <a:r>
              <a:rPr sz="620" i="0">
                <a:solidFill>
                  <a:srgbClr val="FF8E6E"/>
                </a:solidFill>
                <a:latin typeface="Inconsolata"/>
              </a:rPr>
              <a:t>True</a:t>
            </a:r>
            <a:r>
              <a:rPr sz="620" i="0">
                <a:solidFill>
                  <a:srgbClr val="E6EDF3"/>
                </a:solidFill>
                <a:latin typeface="Inconsolata"/>
              </a:rPr>
              <a:t>)</a:t>
            </a:r>
          </a:p>
          <a:p>
            <a:pPr>
              <a:lnSpc>
                <a:spcPct val="107527"/>
              </a:lnSpc>
              <a:spcAft>
                <a:spcPts val="0"/>
              </a:spcAft>
            </a:pPr>
            <a:r>
              <a:rPr sz="620" i="0">
                <a:solidFill>
                  <a:srgbClr val="FF8E6E"/>
                </a:solidFill>
                <a:latin typeface="Inconsolata"/>
              </a:rPr>
              <a:t>class</a:t>
            </a:r>
            <a:r>
              <a:rPr sz="620" i="0">
                <a:solidFill>
                  <a:srgbClr val="E6EDF3"/>
                </a:solidFill>
                <a:latin typeface="Inconsolata"/>
              </a:rPr>
              <a:t> </a:t>
            </a:r>
            <a:r>
              <a:rPr sz="620" i="0">
                <a:solidFill>
                  <a:srgbClr val="7FDBCA"/>
                </a:solidFill>
                <a:latin typeface="Inconsolata"/>
              </a:rPr>
              <a:t>CurrentUser</a:t>
            </a:r>
            <a:r>
              <a:rPr sz="620" i="0">
                <a:solidFill>
                  <a:srgbClr val="E6EDF3"/>
                </a:solidFill>
                <a:latin typeface="Inconsolata"/>
              </a:rPr>
              <a:t>:</a:t>
            </a:r>
          </a:p>
          <a:p>
            <a:pPr>
              <a:lnSpc>
                <a:spcPct val="107527"/>
              </a:lnSpc>
              <a:spcAft>
                <a:spcPts val="0"/>
              </a:spcAft>
            </a:pPr>
            <a:r>
              <a:rPr sz="620" i="0">
                <a:solidFill>
                  <a:srgbClr val="E6EDF3"/>
                </a:solidFill>
                <a:latin typeface="Inconsolata"/>
              </a:rPr>
              <a:t>    </a:t>
            </a:r>
            <a:r>
              <a:rPr sz="620" i="0">
                <a:solidFill>
                  <a:srgbClr val="A5D6A7"/>
                </a:solidFill>
                <a:latin typeface="Inconsolata"/>
              </a:rPr>
              <a:t>"""User yang sedang login, diambil dari token. Dipakai use case untuk cek hak akses."""</a:t>
            </a:r>
          </a:p>
          <a:p>
            <a:pPr>
              <a:lnSpc>
                <a:spcPct val="107527"/>
              </a:lnSpc>
              <a:spcAft>
                <a:spcPts val="0"/>
              </a:spcAft>
            </a:pPr>
            <a:r>
              <a:rPr sz="620" i="0">
                <a:solidFill>
                  <a:srgbClr val="E6EDF3"/>
                </a:solidFill>
                <a:latin typeface="Inconsolata"/>
              </a:rPr>
              <a:t>    email: </a:t>
            </a:r>
            <a:r>
              <a:rPr sz="620" i="0">
                <a:solidFill>
                  <a:srgbClr val="C3A6FF"/>
                </a:solidFill>
                <a:latin typeface="Inconsolata"/>
              </a:rPr>
              <a:t>str</a:t>
            </a:r>
          </a:p>
          <a:p>
            <a:pPr>
              <a:lnSpc>
                <a:spcPct val="107527"/>
              </a:lnSpc>
              <a:spcAft>
                <a:spcPts val="0"/>
              </a:spcAft>
            </a:pPr>
            <a:r>
              <a:rPr sz="620" i="0">
                <a:solidFill>
                  <a:srgbClr val="E6EDF3"/>
                </a:solidFill>
                <a:latin typeface="Inconsolata"/>
              </a:rPr>
              <a:t>    role: </a:t>
            </a:r>
            <a:r>
              <a:rPr sz="620" i="0">
                <a:solidFill>
                  <a:srgbClr val="C3A6FF"/>
                </a:solidFill>
                <a:latin typeface="Inconsolata"/>
              </a:rPr>
              <a:t>str</a:t>
            </a:r>
          </a:p>
          <a:p>
            <a:pPr>
              <a:lnSpc>
                <a:spcPct val="107527"/>
              </a:lnSpc>
              <a:spcAft>
                <a:spcPts val="0"/>
              </a:spcAft>
            </a:pPr>
            <a:r>
              <a:rPr sz="620" i="0">
                <a:solidFill>
                  <a:srgbClr val="E6EDF3"/>
                </a:solidFill>
                <a:latin typeface="Inconsolata"/>
              </a:rPr>
              <a:t>    customer_type: </a:t>
            </a:r>
            <a:r>
              <a:rPr sz="620" i="0">
                <a:solidFill>
                  <a:srgbClr val="C3A6FF"/>
                </a:solidFill>
                <a:latin typeface="Inconsolata"/>
              </a:rPr>
              <a:t>str</a:t>
            </a:r>
          </a:p>
          <a:p>
            <a:pPr>
              <a:lnSpc>
                <a:spcPct val="107527"/>
              </a:lnSpc>
              <a:spcAft>
                <a:spcPts val="0"/>
              </a:spcAft>
            </a:pPr>
            <a:r>
              <a:rPr sz="620" i="0">
                <a:solidFill>
                  <a:srgbClr val="E6EDF3"/>
                </a:solidFill>
                <a:latin typeface="Inconsolata"/>
              </a:rPr>
              <a:t>    scopes: frozenset[</a:t>
            </a:r>
            <a:r>
              <a:rPr sz="620" i="0">
                <a:solidFill>
                  <a:srgbClr val="C3A6FF"/>
                </a:solidFill>
                <a:latin typeface="Inconsolata"/>
              </a:rPr>
              <a:t>str</a:t>
            </a:r>
            <a:r>
              <a:rPr sz="620" i="0">
                <a:solidFill>
                  <a:srgbClr val="E6EDF3"/>
                </a:solidFill>
                <a:latin typeface="Inconsolata"/>
              </a:rPr>
              <a:t>]</a:t>
            </a:r>
          </a:p>
          <a:p>
            <a:pPr>
              <a:lnSpc>
                <a:spcPct val="107527"/>
              </a:lnSpc>
              <a:spcAft>
                <a:spcPts val="0"/>
              </a:spcAft>
            </a:pPr>
            <a:r>
              <a:rPr sz="620" i="0">
                <a:solidFill>
                  <a:srgbClr val="E6EDF3"/>
                </a:solidFill>
                <a:latin typeface="Inconsolata"/>
              </a:rPr>
              <a:t>...</a:t>
            </a:r>
          </a:p>
          <a:p>
            <a:pPr>
              <a:lnSpc>
                <a:spcPct val="107527"/>
              </a:lnSpc>
              <a:spcAft>
                <a:spcPts val="0"/>
              </a:spcAft>
            </a:pPr>
            <a:r>
              <a:rPr sz="620" i="0">
                <a:solidFill>
                  <a:srgbClr val="E6EDF3"/>
                </a:solidFill>
                <a:latin typeface="Inconsolata"/>
              </a:rPr>
              <a:t>    </a:t>
            </a:r>
            <a:r>
              <a:rPr sz="620" i="0">
                <a:solidFill>
                  <a:srgbClr val="FF8E6E"/>
                </a:solidFill>
                <a:latin typeface="Inconsolata"/>
              </a:rPr>
              <a:t>def</a:t>
            </a:r>
            <a:r>
              <a:rPr sz="620" i="0">
                <a:solidFill>
                  <a:srgbClr val="E6EDF3"/>
                </a:solidFill>
                <a:latin typeface="Inconsolata"/>
              </a:rPr>
              <a:t> </a:t>
            </a:r>
            <a:r>
              <a:rPr sz="620" i="0">
                <a:solidFill>
                  <a:srgbClr val="82B1FF"/>
                </a:solidFill>
                <a:latin typeface="Inconsolata"/>
              </a:rPr>
              <a:t>login</a:t>
            </a:r>
            <a:r>
              <a:rPr sz="620" i="0">
                <a:solidFill>
                  <a:srgbClr val="E6EDF3"/>
                </a:solidFill>
                <a:latin typeface="Inconsolata"/>
              </a:rPr>
              <a:t>(</a:t>
            </a:r>
            <a:r>
              <a:rPr sz="620" i="0">
                <a:solidFill>
                  <a:srgbClr val="C3A6FF"/>
                </a:solidFill>
                <a:latin typeface="Inconsolata"/>
              </a:rPr>
              <a:t>self</a:t>
            </a:r>
            <a:r>
              <a:rPr sz="620" i="0">
                <a:solidFill>
                  <a:srgbClr val="E6EDF3"/>
                </a:solidFill>
                <a:latin typeface="Inconsolata"/>
              </a:rPr>
              <a:t>, email: </a:t>
            </a:r>
            <a:r>
              <a:rPr sz="620" i="0">
                <a:solidFill>
                  <a:srgbClr val="C3A6FF"/>
                </a:solidFill>
                <a:latin typeface="Inconsolata"/>
              </a:rPr>
              <a:t>str</a:t>
            </a:r>
            <a:r>
              <a:rPr sz="620" i="0">
                <a:solidFill>
                  <a:srgbClr val="E6EDF3"/>
                </a:solidFill>
                <a:latin typeface="Inconsolata"/>
              </a:rPr>
              <a:t>, password: </a:t>
            </a:r>
            <a:r>
              <a:rPr sz="620" i="0">
                <a:solidFill>
                  <a:srgbClr val="C3A6FF"/>
                </a:solidFill>
                <a:latin typeface="Inconsolata"/>
              </a:rPr>
              <a:t>str</a:t>
            </a:r>
            <a:r>
              <a:rPr sz="620" i="0">
                <a:solidFill>
                  <a:srgbClr val="E6EDF3"/>
                </a:solidFill>
                <a:latin typeface="Inconsolata"/>
              </a:rPr>
              <a:t>) -&gt; </a:t>
            </a:r>
            <a:r>
              <a:rPr sz="620" i="0">
                <a:solidFill>
                  <a:srgbClr val="C3A6FF"/>
                </a:solidFill>
                <a:latin typeface="Inconsolata"/>
              </a:rPr>
              <a:t>str</a:t>
            </a:r>
            <a:r>
              <a:rPr sz="620" i="0">
                <a:solidFill>
                  <a:srgbClr val="E6EDF3"/>
                </a:solidFill>
                <a:latin typeface="Inconsolata"/>
              </a:rPr>
              <a:t>:</a:t>
            </a:r>
          </a:p>
          <a:p>
            <a:pPr>
              <a:lnSpc>
                <a:spcPct val="107527"/>
              </a:lnSpc>
              <a:spcAft>
                <a:spcPts val="0"/>
              </a:spcAft>
            </a:pPr>
            <a:r>
              <a:rPr sz="620" i="0">
                <a:solidFill>
                  <a:srgbClr val="E6EDF3"/>
                </a:solidFill>
                <a:latin typeface="Inconsolata"/>
              </a:rPr>
              <a:t>        </a:t>
            </a:r>
            <a:r>
              <a:rPr sz="620" i="0">
                <a:solidFill>
                  <a:srgbClr val="FF8E6E"/>
                </a:solidFill>
                <a:latin typeface="Inconsolata"/>
              </a:rPr>
              <a:t>with</a:t>
            </a:r>
            <a:r>
              <a:rPr sz="620" i="0">
                <a:solidFill>
                  <a:srgbClr val="E6EDF3"/>
                </a:solidFill>
                <a:latin typeface="Inconsolata"/>
              </a:rPr>
              <a:t> </a:t>
            </a:r>
            <a:r>
              <a:rPr sz="620" i="0">
                <a:solidFill>
                  <a:srgbClr val="C3A6FF"/>
                </a:solidFill>
                <a:latin typeface="Inconsolata"/>
              </a:rPr>
              <a:t>self</a:t>
            </a:r>
            <a:r>
              <a:rPr sz="620" i="0">
                <a:solidFill>
                  <a:srgbClr val="E6EDF3"/>
                </a:solidFill>
                <a:latin typeface="Inconsolata"/>
              </a:rPr>
              <a:t>.uow:</a:t>
            </a:r>
          </a:p>
          <a:p>
            <a:pPr>
              <a:lnSpc>
                <a:spcPct val="107527"/>
              </a:lnSpc>
              <a:spcAft>
                <a:spcPts val="0"/>
              </a:spcAft>
            </a:pPr>
            <a:r>
              <a:rPr sz="620" i="0">
                <a:solidFill>
                  <a:srgbClr val="E6EDF3"/>
                </a:solidFill>
                <a:latin typeface="Inconsolata"/>
              </a:rPr>
              <a:t>            user = </a:t>
            </a:r>
            <a:r>
              <a:rPr sz="620" i="0">
                <a:solidFill>
                  <a:srgbClr val="C3A6FF"/>
                </a:solidFill>
                <a:latin typeface="Inconsolata"/>
              </a:rPr>
              <a:t>self</a:t>
            </a:r>
            <a:r>
              <a:rPr sz="620" i="0">
                <a:solidFill>
                  <a:srgbClr val="E6EDF3"/>
                </a:solidFill>
                <a:latin typeface="Inconsolata"/>
              </a:rPr>
              <a:t>.uow.users.get_by_email(email)</a:t>
            </a:r>
          </a:p>
          <a:p>
            <a:pPr>
              <a:lnSpc>
                <a:spcPct val="107527"/>
              </a:lnSpc>
              <a:spcAft>
                <a:spcPts val="0"/>
              </a:spcAft>
            </a:pPr>
            <a:r>
              <a:rPr sz="620" i="0">
                <a:solidFill>
                  <a:srgbClr val="E6EDF3"/>
                </a:solidFill>
                <a:latin typeface="Inconsolata"/>
              </a:rPr>
              <a:t>        </a:t>
            </a:r>
            <a:r>
              <a:rPr sz="620" i="1">
                <a:solidFill>
                  <a:srgbClr val="8B98A8"/>
                </a:solidFill>
                <a:latin typeface="Inconsolata"/>
              </a:rPr>
              <a:t># pesan dan jalur yang sama untuk email tidak ada dan password salah,</a:t>
            </a:r>
          </a:p>
          <a:p>
            <a:pPr>
              <a:lnSpc>
                <a:spcPct val="107527"/>
              </a:lnSpc>
              <a:spcAft>
                <a:spcPts val="0"/>
              </a:spcAft>
            </a:pPr>
            <a:r>
              <a:rPr sz="620" i="0">
                <a:solidFill>
                  <a:srgbClr val="E6EDF3"/>
                </a:solidFill>
                <a:latin typeface="Inconsolata"/>
              </a:rPr>
              <a:t>        </a:t>
            </a:r>
            <a:r>
              <a:rPr sz="620" i="1">
                <a:solidFill>
                  <a:srgbClr val="8B98A8"/>
                </a:solidFill>
                <a:latin typeface="Inconsolata"/>
              </a:rPr>
              <a:t># supaya penyerang tidak bisa menebak email mana yang terdaftar</a:t>
            </a:r>
          </a:p>
          <a:p>
            <a:pPr>
              <a:lnSpc>
                <a:spcPct val="107527"/>
              </a:lnSpc>
              <a:spcAft>
                <a:spcPts val="0"/>
              </a:spcAft>
            </a:pPr>
            <a:r>
              <a:rPr sz="620" i="0">
                <a:solidFill>
                  <a:srgbClr val="E6EDF3"/>
                </a:solidFill>
                <a:latin typeface="Inconsolata"/>
              </a:rPr>
              <a:t>        </a:t>
            </a:r>
            <a:r>
              <a:rPr sz="620" i="0">
                <a:solidFill>
                  <a:srgbClr val="FF8E6E"/>
                </a:solidFill>
                <a:latin typeface="Inconsolata"/>
              </a:rPr>
              <a:t>if</a:t>
            </a:r>
            <a:r>
              <a:rPr sz="620" i="0">
                <a:solidFill>
                  <a:srgbClr val="E6EDF3"/>
                </a:solidFill>
                <a:latin typeface="Inconsolata"/>
              </a:rPr>
              <a:t> user </a:t>
            </a:r>
            <a:r>
              <a:rPr sz="620" i="0">
                <a:solidFill>
                  <a:srgbClr val="FF8E6E"/>
                </a:solidFill>
                <a:latin typeface="Inconsolata"/>
              </a:rPr>
              <a:t>is</a:t>
            </a:r>
            <a:r>
              <a:rPr sz="620" i="0">
                <a:solidFill>
                  <a:srgbClr val="E6EDF3"/>
                </a:solidFill>
                <a:latin typeface="Inconsolata"/>
              </a:rPr>
              <a:t> </a:t>
            </a:r>
            <a:r>
              <a:rPr sz="620" i="0">
                <a:solidFill>
                  <a:srgbClr val="FF8E6E"/>
                </a:solidFill>
                <a:latin typeface="Inconsolata"/>
              </a:rPr>
              <a:t>None</a:t>
            </a:r>
            <a:r>
              <a:rPr sz="620" i="0">
                <a:solidFill>
                  <a:srgbClr val="E6EDF3"/>
                </a:solidFill>
                <a:latin typeface="Inconsolata"/>
              </a:rPr>
              <a:t> </a:t>
            </a:r>
            <a:r>
              <a:rPr sz="620" i="0">
                <a:solidFill>
                  <a:srgbClr val="FF8E6E"/>
                </a:solidFill>
                <a:latin typeface="Inconsolata"/>
              </a:rPr>
              <a:t>or</a:t>
            </a:r>
            <a:r>
              <a:rPr sz="620" i="0">
                <a:solidFill>
                  <a:srgbClr val="E6EDF3"/>
                </a:solidFill>
                <a:latin typeface="Inconsolata"/>
              </a:rPr>
              <a:t> </a:t>
            </a:r>
            <a:r>
              <a:rPr sz="620" i="0">
                <a:solidFill>
                  <a:srgbClr val="FF8E6E"/>
                </a:solidFill>
                <a:latin typeface="Inconsolata"/>
              </a:rPr>
              <a:t>not</a:t>
            </a:r>
            <a:r>
              <a:rPr sz="620" i="0">
                <a:solidFill>
                  <a:srgbClr val="E6EDF3"/>
                </a:solidFill>
                <a:latin typeface="Inconsolata"/>
              </a:rPr>
              <a:t> </a:t>
            </a:r>
            <a:r>
              <a:rPr sz="620" i="0">
                <a:solidFill>
                  <a:srgbClr val="C3A6FF"/>
                </a:solidFill>
                <a:latin typeface="Inconsolata"/>
              </a:rPr>
              <a:t>self</a:t>
            </a:r>
            <a:r>
              <a:rPr sz="620" i="0">
                <a:solidFill>
                  <a:srgbClr val="E6EDF3"/>
                </a:solidFill>
                <a:latin typeface="Inconsolata"/>
              </a:rPr>
              <a:t>.hasher.verify(password, user.password_hash):</a:t>
            </a:r>
          </a:p>
          <a:p>
            <a:pPr>
              <a:lnSpc>
                <a:spcPct val="107527"/>
              </a:lnSpc>
              <a:spcAft>
                <a:spcPts val="0"/>
              </a:spcAft>
            </a:pPr>
            <a:r>
              <a:rPr sz="620" i="0">
                <a:solidFill>
                  <a:srgbClr val="E6EDF3"/>
                </a:solidFill>
                <a:latin typeface="Inconsolata"/>
              </a:rPr>
              <a:t>            </a:t>
            </a:r>
            <a:r>
              <a:rPr sz="620" i="0">
                <a:solidFill>
                  <a:srgbClr val="FF8E6E"/>
                </a:solidFill>
                <a:latin typeface="Inconsolata"/>
              </a:rPr>
              <a:t>raise</a:t>
            </a:r>
            <a:r>
              <a:rPr sz="620" i="0">
                <a:solidFill>
                  <a:srgbClr val="E6EDF3"/>
                </a:solidFill>
                <a:latin typeface="Inconsolata"/>
              </a:rPr>
              <a:t> </a:t>
            </a:r>
            <a:r>
              <a:rPr sz="620" i="0">
                <a:solidFill>
                  <a:srgbClr val="7FDBCA"/>
                </a:solidFill>
                <a:latin typeface="Inconsolata"/>
              </a:rPr>
              <a:t>InvalidCredentials</a:t>
            </a:r>
            <a:r>
              <a:rPr sz="620" i="0">
                <a:solidFill>
                  <a:srgbClr val="E6EDF3"/>
                </a:solidFill>
                <a:latin typeface="Inconsolata"/>
              </a:rPr>
              <a:t>(</a:t>
            </a:r>
            <a:r>
              <a:rPr sz="620" i="0">
                <a:solidFill>
                  <a:srgbClr val="A5D6A7"/>
                </a:solidFill>
                <a:latin typeface="Inconsolata"/>
              </a:rPr>
              <a:t>"Email atau password salah"</a:t>
            </a:r>
            <a:r>
              <a:rPr sz="620" i="0">
                <a:solidFill>
                  <a:srgbClr val="E6EDF3"/>
                </a:solidFill>
                <a:latin typeface="Inconsolata"/>
              </a:rPr>
              <a:t>)</a:t>
            </a:r>
          </a:p>
          <a:p>
            <a:pPr>
              <a:lnSpc>
                <a:spcPct val="107527"/>
              </a:lnSpc>
              <a:spcAft>
                <a:spcPts val="0"/>
              </a:spcAft>
            </a:pPr>
            <a:r>
              <a:rPr sz="620" i="0">
                <a:solidFill>
                  <a:srgbClr val="E6EDF3"/>
                </a:solidFill>
                <a:latin typeface="Inconsolata"/>
              </a:rPr>
              <a:t>        </a:t>
            </a:r>
            <a:r>
              <a:rPr sz="620" i="0">
                <a:solidFill>
                  <a:srgbClr val="FF8E6E"/>
                </a:solidFill>
                <a:latin typeface="Inconsolata"/>
              </a:rPr>
              <a:t>return</a:t>
            </a:r>
            <a:r>
              <a:rPr sz="620" i="0">
                <a:solidFill>
                  <a:srgbClr val="E6EDF3"/>
                </a:solidFill>
                <a:latin typeface="Inconsolata"/>
              </a:rPr>
              <a:t> </a:t>
            </a:r>
            <a:r>
              <a:rPr sz="620" i="0">
                <a:solidFill>
                  <a:srgbClr val="C3A6FF"/>
                </a:solidFill>
                <a:latin typeface="Inconsolata"/>
              </a:rPr>
              <a:t>self</a:t>
            </a:r>
            <a:r>
              <a:rPr sz="620" i="0">
                <a:solidFill>
                  <a:srgbClr val="E6EDF3"/>
                </a:solidFill>
                <a:latin typeface="Inconsolata"/>
              </a:rPr>
              <a:t>.tokens.issue(user)</a:t>
            </a:r>
          </a:p>
          <a:p>
            <a:pPr>
              <a:lnSpc>
                <a:spcPct val="107527"/>
              </a:lnSpc>
              <a:spcAft>
                <a:spcPts val="0"/>
              </a:spcAft>
            </a:pPr>
            <a:r>
              <a:rPr sz="620" i="0">
                <a:solidFill>
                  <a:srgbClr val="E6EDF3"/>
                </a:solidFill>
                <a:latin typeface="Inconsolata"/>
              </a:rPr>
              <a:t> </a:t>
            </a:r>
          </a:p>
          <a:p>
            <a:pPr>
              <a:lnSpc>
                <a:spcPct val="107527"/>
              </a:lnSpc>
              <a:spcAft>
                <a:spcPts val="0"/>
              </a:spcAft>
            </a:pPr>
            <a:r>
              <a:rPr sz="620" i="0">
                <a:solidFill>
                  <a:srgbClr val="E6EDF3"/>
                </a:solidFill>
                <a:latin typeface="Inconsolata"/>
              </a:rPr>
              <a:t>    </a:t>
            </a:r>
            <a:r>
              <a:rPr sz="620" i="0">
                <a:solidFill>
                  <a:srgbClr val="FF8E6E"/>
                </a:solidFill>
                <a:latin typeface="Inconsolata"/>
              </a:rPr>
              <a:t>def</a:t>
            </a:r>
            <a:r>
              <a:rPr sz="620" i="0">
                <a:solidFill>
                  <a:srgbClr val="E6EDF3"/>
                </a:solidFill>
                <a:latin typeface="Inconsolata"/>
              </a:rPr>
              <a:t> </a:t>
            </a:r>
            <a:r>
              <a:rPr sz="620" i="0">
                <a:solidFill>
                  <a:srgbClr val="82B1FF"/>
                </a:solidFill>
                <a:latin typeface="Inconsolata"/>
              </a:rPr>
              <a:t>authenticate</a:t>
            </a:r>
            <a:r>
              <a:rPr sz="620" i="0">
                <a:solidFill>
                  <a:srgbClr val="E6EDF3"/>
                </a:solidFill>
                <a:latin typeface="Inconsolata"/>
              </a:rPr>
              <a:t>(</a:t>
            </a:r>
            <a:r>
              <a:rPr sz="620" i="0">
                <a:solidFill>
                  <a:srgbClr val="C3A6FF"/>
                </a:solidFill>
                <a:latin typeface="Inconsolata"/>
              </a:rPr>
              <a:t>self</a:t>
            </a:r>
            <a:r>
              <a:rPr sz="620" i="0">
                <a:solidFill>
                  <a:srgbClr val="E6EDF3"/>
                </a:solidFill>
                <a:latin typeface="Inconsolata"/>
              </a:rPr>
              <a:t>, token: </a:t>
            </a:r>
            <a:r>
              <a:rPr sz="620" i="0">
                <a:solidFill>
                  <a:srgbClr val="C3A6FF"/>
                </a:solidFill>
                <a:latin typeface="Inconsolata"/>
              </a:rPr>
              <a:t>str</a:t>
            </a:r>
            <a:r>
              <a:rPr sz="620" i="0">
                <a:solidFill>
                  <a:srgbClr val="E6EDF3"/>
                </a:solidFill>
                <a:latin typeface="Inconsolata"/>
              </a:rPr>
              <a:t>, required_scopes: </a:t>
            </a:r>
            <a:r>
              <a:rPr sz="620" i="0">
                <a:solidFill>
                  <a:srgbClr val="C3A6FF"/>
                </a:solidFill>
                <a:latin typeface="Inconsolata"/>
              </a:rPr>
              <a:t>list</a:t>
            </a:r>
            <a:r>
              <a:rPr sz="620" i="0">
                <a:solidFill>
                  <a:srgbClr val="E6EDF3"/>
                </a:solidFill>
                <a:latin typeface="Inconsolata"/>
              </a:rPr>
              <a:t>[</a:t>
            </a:r>
            <a:r>
              <a:rPr sz="620" i="0">
                <a:solidFill>
                  <a:srgbClr val="C3A6FF"/>
                </a:solidFill>
                <a:latin typeface="Inconsolata"/>
              </a:rPr>
              <a:t>str</a:t>
            </a:r>
            <a:r>
              <a:rPr sz="620" i="0">
                <a:solidFill>
                  <a:srgbClr val="E6EDF3"/>
                </a:solidFill>
                <a:latin typeface="Inconsolata"/>
              </a:rPr>
              <a:t>]) -&gt; </a:t>
            </a:r>
            <a:r>
              <a:rPr sz="620" i="0">
                <a:solidFill>
                  <a:srgbClr val="7FDBCA"/>
                </a:solidFill>
                <a:latin typeface="Inconsolata"/>
              </a:rPr>
              <a:t>CurrentUser</a:t>
            </a:r>
            <a:r>
              <a:rPr sz="620" i="0">
                <a:solidFill>
                  <a:srgbClr val="E6EDF3"/>
                </a:solidFill>
                <a:latin typeface="Inconsolata"/>
              </a:rPr>
              <a:t>:</a:t>
            </a:r>
          </a:p>
          <a:p>
            <a:pPr>
              <a:lnSpc>
                <a:spcPct val="107527"/>
              </a:lnSpc>
              <a:spcAft>
                <a:spcPts val="0"/>
              </a:spcAft>
            </a:pPr>
            <a:r>
              <a:rPr sz="620" i="0">
                <a:solidFill>
                  <a:srgbClr val="E6EDF3"/>
                </a:solidFill>
                <a:latin typeface="Inconsolata"/>
              </a:rPr>
              <a:t>        claims = </a:t>
            </a:r>
            <a:r>
              <a:rPr sz="620" i="0">
                <a:solidFill>
                  <a:srgbClr val="C3A6FF"/>
                </a:solidFill>
                <a:latin typeface="Inconsolata"/>
              </a:rPr>
              <a:t>self</a:t>
            </a:r>
            <a:r>
              <a:rPr sz="620" i="0">
                <a:solidFill>
                  <a:srgbClr val="E6EDF3"/>
                </a:solidFill>
                <a:latin typeface="Inconsolata"/>
              </a:rPr>
              <a:t>.tokens.read(token)                    </a:t>
            </a:r>
            <a:r>
              <a:rPr sz="620" i="1">
                <a:solidFill>
                  <a:srgbClr val="8B98A8"/>
                </a:solidFill>
                <a:latin typeface="Inconsolata"/>
              </a:rPr>
              <a:t># InvalidToken jika palsu atau kedaluwarsa</a:t>
            </a:r>
          </a:p>
          <a:p>
            <a:pPr>
              <a:lnSpc>
                <a:spcPct val="107527"/>
              </a:lnSpc>
              <a:spcAft>
                <a:spcPts val="0"/>
              </a:spcAft>
            </a:pPr>
            <a:r>
              <a:rPr sz="620" i="0">
                <a:solidFill>
                  <a:srgbClr val="E6EDF3"/>
                </a:solidFill>
                <a:latin typeface="Inconsolata"/>
              </a:rPr>
              <a:t>...</a:t>
            </a:r>
          </a:p>
          <a:p>
            <a:pPr>
              <a:lnSpc>
                <a:spcPct val="107527"/>
              </a:lnSpc>
              <a:spcAft>
                <a:spcPts val="0"/>
              </a:spcAft>
            </a:pPr>
            <a:r>
              <a:rPr sz="620" i="0">
                <a:solidFill>
                  <a:srgbClr val="E6EDF3"/>
                </a:solidFill>
                <a:latin typeface="Inconsolata"/>
              </a:rPr>
              <a:t>        missing = [scope </a:t>
            </a:r>
            <a:r>
              <a:rPr sz="620" i="0">
                <a:solidFill>
                  <a:srgbClr val="FF8E6E"/>
                </a:solidFill>
                <a:latin typeface="Inconsolata"/>
              </a:rPr>
              <a:t>for</a:t>
            </a:r>
            <a:r>
              <a:rPr sz="620" i="0">
                <a:solidFill>
                  <a:srgbClr val="E6EDF3"/>
                </a:solidFill>
                <a:latin typeface="Inconsolata"/>
              </a:rPr>
              <a:t> scope </a:t>
            </a:r>
            <a:r>
              <a:rPr sz="620" i="0">
                <a:solidFill>
                  <a:srgbClr val="FF8E6E"/>
                </a:solidFill>
                <a:latin typeface="Inconsolata"/>
              </a:rPr>
              <a:t>in</a:t>
            </a:r>
            <a:r>
              <a:rPr sz="620" i="0">
                <a:solidFill>
                  <a:srgbClr val="E6EDF3"/>
                </a:solidFill>
                <a:latin typeface="Inconsolata"/>
              </a:rPr>
              <a:t> required_scopes </a:t>
            </a:r>
            <a:r>
              <a:rPr sz="620" i="0">
                <a:solidFill>
                  <a:srgbClr val="FF8E6E"/>
                </a:solidFill>
                <a:latin typeface="Inconsolata"/>
              </a:rPr>
              <a:t>if</a:t>
            </a:r>
            <a:r>
              <a:rPr sz="620" i="0">
                <a:solidFill>
                  <a:srgbClr val="E6EDF3"/>
                </a:solidFill>
                <a:latin typeface="Inconsolata"/>
              </a:rPr>
              <a:t> </a:t>
            </a:r>
            <a:r>
              <a:rPr sz="620" i="0">
                <a:solidFill>
                  <a:srgbClr val="FF8E6E"/>
                </a:solidFill>
                <a:latin typeface="Inconsolata"/>
              </a:rPr>
              <a:t>not</a:t>
            </a:r>
            <a:r>
              <a:rPr sz="620" i="0">
                <a:solidFill>
                  <a:srgbClr val="E6EDF3"/>
                </a:solidFill>
                <a:latin typeface="Inconsolata"/>
              </a:rPr>
              <a:t> user.can(scope)]</a:t>
            </a:r>
          </a:p>
          <a:p>
            <a:pPr>
              <a:lnSpc>
                <a:spcPct val="107527"/>
              </a:lnSpc>
              <a:spcAft>
                <a:spcPts val="0"/>
              </a:spcAft>
            </a:pPr>
            <a:r>
              <a:rPr sz="620" i="0">
                <a:solidFill>
                  <a:srgbClr val="E6EDF3"/>
                </a:solidFill>
                <a:latin typeface="Inconsolata"/>
              </a:rPr>
              <a:t>        </a:t>
            </a:r>
            <a:r>
              <a:rPr sz="620" i="0">
                <a:solidFill>
                  <a:srgbClr val="FF8E6E"/>
                </a:solidFill>
                <a:latin typeface="Inconsolata"/>
              </a:rPr>
              <a:t>if</a:t>
            </a:r>
            <a:r>
              <a:rPr sz="620" i="0">
                <a:solidFill>
                  <a:srgbClr val="E6EDF3"/>
                </a:solidFill>
                <a:latin typeface="Inconsolata"/>
              </a:rPr>
              <a:t> missing:</a:t>
            </a:r>
          </a:p>
          <a:p>
            <a:pPr>
              <a:lnSpc>
                <a:spcPct val="107527"/>
              </a:lnSpc>
              <a:spcAft>
                <a:spcPts val="0"/>
              </a:spcAft>
            </a:pPr>
            <a:r>
              <a:rPr sz="620" i="0">
                <a:solidFill>
                  <a:srgbClr val="E6EDF3"/>
                </a:solidFill>
                <a:latin typeface="Inconsolata"/>
              </a:rPr>
              <a:t>            </a:t>
            </a:r>
            <a:r>
              <a:rPr sz="620" i="0">
                <a:solidFill>
                  <a:srgbClr val="FF8E6E"/>
                </a:solidFill>
                <a:latin typeface="Inconsolata"/>
              </a:rPr>
              <a:t>raise</a:t>
            </a:r>
            <a:r>
              <a:rPr sz="620" i="0">
                <a:solidFill>
                  <a:srgbClr val="E6EDF3"/>
                </a:solidFill>
                <a:latin typeface="Inconsolata"/>
              </a:rPr>
              <a:t> </a:t>
            </a:r>
            <a:r>
              <a:rPr sz="620" i="0">
                <a:solidFill>
                  <a:srgbClr val="7FDBCA"/>
                </a:solidFill>
                <a:latin typeface="Inconsolata"/>
              </a:rPr>
              <a:t>AccessDenied</a:t>
            </a:r>
            <a:r>
              <a:rPr sz="620" i="0">
                <a:solidFill>
                  <a:srgbClr val="E6EDF3"/>
                </a:solidFill>
                <a:latin typeface="Inconsolata"/>
              </a:rPr>
              <a:t>(</a:t>
            </a:r>
            <a:r>
              <a:rPr sz="620" i="0">
                <a:solidFill>
                  <a:srgbClr val="A5D6A7"/>
                </a:solidFill>
                <a:latin typeface="Inconsolata"/>
              </a:rPr>
              <a:t>f"Butuh scope: {', '.join(missing)}"</a:t>
            </a:r>
            <a:r>
              <a:rPr sz="620" i="0">
                <a:solidFill>
                  <a:srgbClr val="E6EDF3"/>
                </a:solidFill>
                <a:latin typeface="Inconsolata"/>
              </a:rPr>
              <a:t>)</a:t>
            </a:r>
          </a:p>
        </p:txBody>
      </p:sp>
      <p:sp>
        <p:nvSpPr>
          <p:cNvPr id="29" name="Box 12"/>
          <p:cNvSpPr/>
          <p:nvPr/>
        </p:nvSpPr>
        <p:spPr>
          <a:xfrm>
            <a:off x="704088" y="1925320"/>
            <a:ext cx="5230368" cy="603503"/>
          </a:xfrm>
          <a:prstGeom prst="roundRect">
            <a:avLst>
              <a:gd name="adj" fmla="val 757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108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3144520"/>
            <a:ext cx="5230368" cy="197104"/>
          </a:xfrm>
          <a:prstGeom prst="roundRect">
            <a:avLst>
              <a:gd name="adj" fmla="val 2319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312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8557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886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CurrentUser</a:t>
            </a:r>
            <a:r>
              <a:rPr sz="900" b="0" i="0">
                <a:solidFill>
                  <a:srgbClr val="434343"/>
                </a:solidFill>
                <a:latin typeface="Inter"/>
              </a:rPr>
              <a:t>: siapa yang sedang login</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login</a:t>
            </a:r>
            <a:r>
              <a:rPr sz="900" b="0" i="0">
                <a:solidFill>
                  <a:srgbClr val="434343"/>
                </a:solidFill>
                <a:latin typeface="Inter"/>
              </a:rPr>
              <a:t>: pesan salah yang sama untuk email dan password</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authenticate</a:t>
            </a:r>
            <a:r>
              <a:rPr sz="900" b="0" i="0">
                <a:solidFill>
                  <a:srgbClr val="434343"/>
                </a:solidFill>
                <a:latin typeface="Inter"/>
              </a:rPr>
              <a:t>: baca token, cek scope yang dibutuhkan</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Tambah error </a:t>
            </a:r>
            <a:r>
              <a:rPr sz="900" b="0" i="0">
                <a:solidFill>
                  <a:srgbClr val="B5482A"/>
                </a:solidFill>
                <a:latin typeface="Inconsolata"/>
              </a:rPr>
              <a:t>InvalidCredentials</a:t>
            </a:r>
            <a:r>
              <a:rPr sz="900" b="0" i="0">
                <a:solidFill>
                  <a:srgbClr val="434343"/>
                </a:solidFill>
                <a:latin typeface="Inter"/>
              </a:rPr>
              <a:t>, </a:t>
            </a:r>
            <a:r>
              <a:rPr sz="900" b="0" i="0">
                <a:solidFill>
                  <a:srgbClr val="B5482A"/>
                </a:solidFill>
                <a:latin typeface="Inconsolata"/>
              </a:rPr>
              <a:t>InvalidToken</a:t>
            </a:r>
            <a:r>
              <a:rPr sz="900" b="0" i="0">
                <a:solidFill>
                  <a:srgbClr val="434343"/>
                </a:solidFill>
                <a:latin typeface="Inter"/>
              </a:rPr>
              <a:t>, </a:t>
            </a:r>
            <a:r>
              <a:rPr sz="900" b="0" i="0">
                <a:solidFill>
                  <a:srgbClr val="B5482A"/>
                </a:solidFill>
                <a:latin typeface="Inconsolata"/>
              </a:rPr>
              <a:t>AccessDenied</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Use case, tanpa HTTP.</a:t>
            </a:r>
          </a:p>
        </p:txBody>
      </p:sp>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5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api/security.py dan POST /auth/token</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api/security.py  +  routers/auth.py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11111"/>
              </a:lnSpc>
              <a:spcAft>
                <a:spcPts val="0"/>
              </a:spcAft>
            </a:pPr>
            <a:r>
              <a:rPr sz="600" i="1">
                <a:solidFill>
                  <a:srgbClr val="8B98A8"/>
                </a:solidFill>
                <a:latin typeface="Inconsolata"/>
              </a:rPr>
              <a:t># app/api/security.py</a:t>
            </a:r>
          </a:p>
          <a:p>
            <a:pPr>
              <a:lnSpc>
                <a:spcPct val="111111"/>
              </a:lnSpc>
              <a:spcAft>
                <a:spcPts val="0"/>
              </a:spcAft>
            </a:pPr>
            <a:r>
              <a:rPr sz="600" i="0">
                <a:solidFill>
                  <a:srgbClr val="E6EDF3"/>
                </a:solidFill>
                <a:latin typeface="Inconsolata"/>
              </a:rPr>
              <a:t>oauth2_scheme = </a:t>
            </a:r>
            <a:r>
              <a:rPr sz="600" i="0">
                <a:solidFill>
                  <a:srgbClr val="7FDBCA"/>
                </a:solidFill>
                <a:latin typeface="Inconsolata"/>
              </a:rPr>
              <a:t>OAuth2PasswordBearer</a:t>
            </a:r>
            <a:r>
              <a:rPr sz="600" i="0">
                <a:solidFill>
                  <a:srgbClr val="E6EDF3"/>
                </a:solidFill>
                <a:latin typeface="Inconsolata"/>
              </a:rPr>
              <a:t>(tokenUrl=</a:t>
            </a:r>
            <a:r>
              <a:rPr sz="600" i="0">
                <a:solidFill>
                  <a:srgbClr val="A5D6A7"/>
                </a:solidFill>
                <a:latin typeface="Inconsolata"/>
              </a:rPr>
              <a:t>"/auth/token"</a:t>
            </a:r>
            <a:r>
              <a:rPr sz="600" i="0">
                <a:solidFill>
                  <a:srgbClr val="E6EDF3"/>
                </a:solidFill>
                <a:latin typeface="Inconsolata"/>
              </a:rPr>
              <a:t>, scopes=</a:t>
            </a:r>
            <a:r>
              <a:rPr sz="600" i="0">
                <a:solidFill>
                  <a:srgbClr val="7FDBCA"/>
                </a:solidFill>
                <a:latin typeface="Inconsolata"/>
              </a:rPr>
              <a:t>SCOPES</a:t>
            </a:r>
            <a:r>
              <a:rPr sz="600" i="0">
                <a:solidFill>
                  <a:srgbClr val="E6EDF3"/>
                </a:solidFill>
                <a:latin typeface="Inconsolata"/>
              </a:rPr>
              <a:t>, auto_error=</a:t>
            </a:r>
            <a:r>
              <a:rPr sz="600" i="0">
                <a:solidFill>
                  <a:srgbClr val="FF8E6E"/>
                </a:solidFill>
                <a:latin typeface="Inconsolata"/>
              </a:rPr>
              <a:t>False</a:t>
            </a:r>
            <a:r>
              <a:rPr sz="600" i="0">
                <a:solidFill>
                  <a:srgbClr val="E6EDF3"/>
                </a:solidFill>
                <a:latin typeface="Inconsolata"/>
              </a:rPr>
              <a:t>)</a:t>
            </a:r>
          </a:p>
          <a:p>
            <a:pPr>
              <a:lnSpc>
                <a:spcPct val="111111"/>
              </a:lnSpc>
              <a:spcAft>
                <a:spcPts val="0"/>
              </a:spcAft>
            </a:pPr>
            <a:r>
              <a:rPr sz="600" i="0">
                <a:solidFill>
                  <a:srgbClr val="E6EDF3"/>
                </a:solidFill>
                <a:latin typeface="Inconsolata"/>
              </a:rPr>
              <a:t> </a:t>
            </a:r>
          </a:p>
          <a:p>
            <a:pPr>
              <a:lnSpc>
                <a:spcPct val="111111"/>
              </a:lnSpc>
              <a:spcAft>
                <a:spcPts val="0"/>
              </a:spcAft>
            </a:pPr>
            <a:r>
              <a:rPr sz="600" i="0">
                <a:solidFill>
                  <a:srgbClr val="FF8E6E"/>
                </a:solidFill>
                <a:latin typeface="Inconsolata"/>
              </a:rPr>
              <a:t>def</a:t>
            </a:r>
            <a:r>
              <a:rPr sz="600" i="0">
                <a:solidFill>
                  <a:srgbClr val="E6EDF3"/>
                </a:solidFill>
                <a:latin typeface="Inconsolata"/>
              </a:rPr>
              <a:t> </a:t>
            </a:r>
            <a:r>
              <a:rPr sz="600" i="0">
                <a:solidFill>
                  <a:srgbClr val="82B1FF"/>
                </a:solidFill>
                <a:latin typeface="Inconsolata"/>
              </a:rPr>
              <a:t>get_current_user</a:t>
            </a:r>
            <a:r>
              <a:rPr sz="600" i="0">
                <a:solidFill>
                  <a:srgbClr val="E6EDF3"/>
                </a:solidFill>
                <a:latin typeface="Inconsolata"/>
              </a:rPr>
              <a:t>(security_scopes: </a:t>
            </a:r>
            <a:r>
              <a:rPr sz="600" i="0">
                <a:solidFill>
                  <a:srgbClr val="7FDBCA"/>
                </a:solidFill>
                <a:latin typeface="Inconsolata"/>
              </a:rPr>
              <a:t>SecurityScopes</a:t>
            </a:r>
            <a:r>
              <a:rPr sz="600" i="0">
                <a:solidFill>
                  <a:srgbClr val="E6EDF3"/>
                </a:solidFill>
                <a:latin typeface="Inconsolata"/>
              </a:rPr>
              <a:t>, token: </a:t>
            </a:r>
            <a:r>
              <a:rPr sz="600" i="0">
                <a:solidFill>
                  <a:srgbClr val="C3A6FF"/>
                </a:solidFill>
                <a:latin typeface="Inconsolata"/>
              </a:rPr>
              <a:t>str</a:t>
            </a:r>
            <a:r>
              <a:rPr sz="600" i="0">
                <a:solidFill>
                  <a:srgbClr val="E6EDF3"/>
                </a:solidFill>
                <a:latin typeface="Inconsolata"/>
              </a:rPr>
              <a:t> | </a:t>
            </a:r>
            <a:r>
              <a:rPr sz="600" i="0">
                <a:solidFill>
                  <a:srgbClr val="FF8E6E"/>
                </a:solidFill>
                <a:latin typeface="Inconsolata"/>
              </a:rPr>
              <a:t>None</a:t>
            </a:r>
            <a:r>
              <a:rPr sz="600" i="0">
                <a:solidFill>
                  <a:srgbClr val="E6EDF3"/>
                </a:solidFill>
                <a:latin typeface="Inconsolata"/>
              </a:rPr>
              <a:t> = </a:t>
            </a:r>
            <a:r>
              <a:rPr sz="600" i="0">
                <a:solidFill>
                  <a:srgbClr val="7FDBCA"/>
                </a:solidFill>
                <a:latin typeface="Inconsolata"/>
              </a:rPr>
              <a:t>Depends</a:t>
            </a:r>
            <a:r>
              <a:rPr sz="600" i="0">
                <a:solidFill>
                  <a:srgbClr val="E6EDF3"/>
                </a:solidFill>
                <a:latin typeface="Inconsolata"/>
              </a:rPr>
              <a:t>(oauth2_scheme),</a:t>
            </a:r>
          </a:p>
          <a:p>
            <a:pPr>
              <a:lnSpc>
                <a:spcPct val="111111"/>
              </a:lnSpc>
              <a:spcAft>
                <a:spcPts val="0"/>
              </a:spcAft>
            </a:pPr>
            <a:r>
              <a:rPr sz="600" i="0">
                <a:solidFill>
                  <a:srgbClr val="E6EDF3"/>
                </a:solidFill>
                <a:latin typeface="Inconsolata"/>
              </a:rPr>
              <a:t>                     auth: </a:t>
            </a:r>
            <a:r>
              <a:rPr sz="600" i="0">
                <a:solidFill>
                  <a:srgbClr val="7FDBCA"/>
                </a:solidFill>
                <a:latin typeface="Inconsolata"/>
              </a:rPr>
              <a:t>AuthService</a:t>
            </a:r>
            <a:r>
              <a:rPr sz="600" i="0">
                <a:solidFill>
                  <a:srgbClr val="E6EDF3"/>
                </a:solidFill>
                <a:latin typeface="Inconsolata"/>
              </a:rPr>
              <a:t> = </a:t>
            </a:r>
            <a:r>
              <a:rPr sz="600" i="0">
                <a:solidFill>
                  <a:srgbClr val="7FDBCA"/>
                </a:solidFill>
                <a:latin typeface="Inconsolata"/>
              </a:rPr>
              <a:t>Depends</a:t>
            </a:r>
            <a:r>
              <a:rPr sz="600" i="0">
                <a:solidFill>
                  <a:srgbClr val="E6EDF3"/>
                </a:solidFill>
                <a:latin typeface="Inconsolata"/>
              </a:rPr>
              <a:t>(get_auth_service)) -&gt; </a:t>
            </a:r>
            <a:r>
              <a:rPr sz="600" i="0">
                <a:solidFill>
                  <a:srgbClr val="7FDBCA"/>
                </a:solidFill>
                <a:latin typeface="Inconsolata"/>
              </a:rPr>
              <a:t>CurrentUser</a:t>
            </a:r>
            <a:r>
              <a:rPr sz="600" i="0">
                <a:solidFill>
                  <a:srgbClr val="E6EDF3"/>
                </a:solidFill>
                <a:latin typeface="Inconsolata"/>
              </a:rPr>
              <a:t>:</a:t>
            </a:r>
          </a:p>
          <a:p>
            <a:pPr>
              <a:lnSpc>
                <a:spcPct val="111111"/>
              </a:lnSpc>
              <a:spcAft>
                <a:spcPts val="0"/>
              </a:spcAft>
            </a:pPr>
            <a:r>
              <a:rPr sz="600" i="0">
                <a:solidFill>
                  <a:srgbClr val="E6EDF3"/>
                </a:solidFill>
                <a:latin typeface="Inconsolata"/>
              </a:rPr>
              <a:t>    </a:t>
            </a:r>
            <a:r>
              <a:rPr sz="600" i="0">
                <a:solidFill>
                  <a:srgbClr val="FF8E6E"/>
                </a:solidFill>
                <a:latin typeface="Inconsolata"/>
              </a:rPr>
              <a:t>if</a:t>
            </a:r>
            <a:r>
              <a:rPr sz="600" i="0">
                <a:solidFill>
                  <a:srgbClr val="E6EDF3"/>
                </a:solidFill>
                <a:latin typeface="Inconsolata"/>
              </a:rPr>
              <a:t> </a:t>
            </a:r>
            <a:r>
              <a:rPr sz="600" i="0">
                <a:solidFill>
                  <a:srgbClr val="FF8E6E"/>
                </a:solidFill>
                <a:latin typeface="Inconsolata"/>
              </a:rPr>
              <a:t>not</a:t>
            </a:r>
            <a:r>
              <a:rPr sz="600" i="0">
                <a:solidFill>
                  <a:srgbClr val="E6EDF3"/>
                </a:solidFill>
                <a:latin typeface="Inconsolata"/>
              </a:rPr>
              <a:t> token:</a:t>
            </a:r>
          </a:p>
          <a:p>
            <a:pPr>
              <a:lnSpc>
                <a:spcPct val="111111"/>
              </a:lnSpc>
              <a:spcAft>
                <a:spcPts val="0"/>
              </a:spcAft>
            </a:pPr>
            <a:r>
              <a:rPr sz="600" i="0">
                <a:solidFill>
                  <a:srgbClr val="E6EDF3"/>
                </a:solidFill>
                <a:latin typeface="Inconsolata"/>
              </a:rPr>
              <a:t>        </a:t>
            </a:r>
            <a:r>
              <a:rPr sz="600" i="0">
                <a:solidFill>
                  <a:srgbClr val="FF8E6E"/>
                </a:solidFill>
                <a:latin typeface="Inconsolata"/>
              </a:rPr>
              <a:t>raise</a:t>
            </a:r>
            <a:r>
              <a:rPr sz="600" i="0">
                <a:solidFill>
                  <a:srgbClr val="E6EDF3"/>
                </a:solidFill>
                <a:latin typeface="Inconsolata"/>
              </a:rPr>
              <a:t> </a:t>
            </a:r>
            <a:r>
              <a:rPr sz="600" i="0">
                <a:solidFill>
                  <a:srgbClr val="7FDBCA"/>
                </a:solidFill>
                <a:latin typeface="Inconsolata"/>
              </a:rPr>
              <a:t>InvalidToken</a:t>
            </a:r>
            <a:r>
              <a:rPr sz="600" i="0">
                <a:solidFill>
                  <a:srgbClr val="E6EDF3"/>
                </a:solidFill>
                <a:latin typeface="Inconsolata"/>
              </a:rPr>
              <a:t>(</a:t>
            </a:r>
            <a:r>
              <a:rPr sz="600" i="0">
                <a:solidFill>
                  <a:srgbClr val="A5D6A7"/>
                </a:solidFill>
                <a:latin typeface="Inconsolata"/>
              </a:rPr>
              <a:t>"Butuh login: kirim header Authorization: Bearer &lt;token&gt;"</a:t>
            </a:r>
            <a:r>
              <a:rPr sz="600" i="0">
                <a:solidFill>
                  <a:srgbClr val="E6EDF3"/>
                </a:solidFill>
                <a:latin typeface="Inconsolata"/>
              </a:rPr>
              <a:t>)</a:t>
            </a:r>
          </a:p>
          <a:p>
            <a:pPr>
              <a:lnSpc>
                <a:spcPct val="111111"/>
              </a:lnSpc>
              <a:spcAft>
                <a:spcPts val="0"/>
              </a:spcAft>
            </a:pPr>
            <a:r>
              <a:rPr sz="600" i="0">
                <a:solidFill>
                  <a:srgbClr val="E6EDF3"/>
                </a:solidFill>
                <a:latin typeface="Inconsolata"/>
              </a:rPr>
              <a:t>    </a:t>
            </a:r>
            <a:r>
              <a:rPr sz="600" i="0">
                <a:solidFill>
                  <a:srgbClr val="FF8E6E"/>
                </a:solidFill>
                <a:latin typeface="Inconsolata"/>
              </a:rPr>
              <a:t>return</a:t>
            </a:r>
            <a:r>
              <a:rPr sz="600" i="0">
                <a:solidFill>
                  <a:srgbClr val="E6EDF3"/>
                </a:solidFill>
                <a:latin typeface="Inconsolata"/>
              </a:rPr>
              <a:t> auth.authenticate(token, security_scopes.scopes)</a:t>
            </a:r>
          </a:p>
          <a:p>
            <a:pPr>
              <a:lnSpc>
                <a:spcPct val="111111"/>
              </a:lnSpc>
              <a:spcAft>
                <a:spcPts val="0"/>
              </a:spcAft>
            </a:pPr>
            <a:r>
              <a:rPr sz="600" i="0">
                <a:solidFill>
                  <a:srgbClr val="E6EDF3"/>
                </a:solidFill>
                <a:latin typeface="Inconsolata"/>
              </a:rPr>
              <a:t> </a:t>
            </a:r>
          </a:p>
          <a:p>
            <a:pPr>
              <a:lnSpc>
                <a:spcPct val="111111"/>
              </a:lnSpc>
              <a:spcAft>
                <a:spcPts val="0"/>
              </a:spcAft>
            </a:pPr>
            <a:r>
              <a:rPr sz="600" i="1">
                <a:solidFill>
                  <a:srgbClr val="8B98A8"/>
                </a:solidFill>
                <a:latin typeface="Inconsolata"/>
              </a:rPr>
              <a:t># app/api/routers/auth.py</a:t>
            </a:r>
          </a:p>
          <a:p>
            <a:pPr>
              <a:lnSpc>
                <a:spcPct val="111111"/>
              </a:lnSpc>
              <a:spcAft>
                <a:spcPts val="0"/>
              </a:spcAft>
            </a:pPr>
            <a:r>
              <a:rPr sz="600" i="0">
                <a:solidFill>
                  <a:srgbClr val="F9C97A"/>
                </a:solidFill>
                <a:latin typeface="Inconsolata"/>
              </a:rPr>
              <a:t>@router.post</a:t>
            </a:r>
            <a:r>
              <a:rPr sz="600" i="0">
                <a:solidFill>
                  <a:srgbClr val="E6EDF3"/>
                </a:solidFill>
                <a:latin typeface="Inconsolata"/>
              </a:rPr>
              <a:t>(</a:t>
            </a:r>
            <a:r>
              <a:rPr sz="600" i="0">
                <a:solidFill>
                  <a:srgbClr val="A5D6A7"/>
                </a:solidFill>
                <a:latin typeface="Inconsolata"/>
              </a:rPr>
              <a:t>"/token"</a:t>
            </a:r>
            <a:r>
              <a:rPr sz="600" i="0">
                <a:solidFill>
                  <a:srgbClr val="E6EDF3"/>
                </a:solidFill>
                <a:latin typeface="Inconsolata"/>
              </a:rPr>
              <a:t>, response_model=</a:t>
            </a:r>
            <a:r>
              <a:rPr sz="600" i="0">
                <a:solidFill>
                  <a:srgbClr val="7FDBCA"/>
                </a:solidFill>
                <a:latin typeface="Inconsolata"/>
              </a:rPr>
              <a:t>TokenOut</a:t>
            </a:r>
            <a:r>
              <a:rPr sz="600" i="0">
                <a:solidFill>
                  <a:srgbClr val="E6EDF3"/>
                </a:solidFill>
                <a:latin typeface="Inconsolata"/>
              </a:rPr>
              <a:t>, summary=</a:t>
            </a:r>
            <a:r>
              <a:rPr sz="600" i="0">
                <a:solidFill>
                  <a:srgbClr val="A5D6A7"/>
                </a:solidFill>
                <a:latin typeface="Inconsolata"/>
              </a:rPr>
              <a:t>"Login, mendapatkan access token"</a:t>
            </a:r>
            <a:r>
              <a:rPr sz="600" i="0">
                <a:solidFill>
                  <a:srgbClr val="E6EDF3"/>
                </a:solidFill>
                <a:latin typeface="Inconsolata"/>
              </a:rPr>
              <a:t>,</a:t>
            </a:r>
          </a:p>
          <a:p>
            <a:pPr>
              <a:lnSpc>
                <a:spcPct val="111111"/>
              </a:lnSpc>
              <a:spcAft>
                <a:spcPts val="0"/>
              </a:spcAft>
            </a:pPr>
            <a:r>
              <a:rPr sz="600" i="0">
                <a:solidFill>
                  <a:srgbClr val="E6EDF3"/>
                </a:solidFill>
                <a:latin typeface="Inconsolata"/>
              </a:rPr>
              <a:t>             responses=</a:t>
            </a:r>
            <a:r>
              <a:rPr sz="600" i="0">
                <a:solidFill>
                  <a:srgbClr val="7FDBCA"/>
                </a:solidFill>
                <a:latin typeface="Inconsolata"/>
              </a:rPr>
              <a:t>UNAUTHORIZED</a:t>
            </a:r>
            <a:r>
              <a:rPr sz="600" i="0">
                <a:solidFill>
                  <a:srgbClr val="E6EDF3"/>
                </a:solidFill>
                <a:latin typeface="Inconsolata"/>
              </a:rPr>
              <a:t>)</a:t>
            </a:r>
          </a:p>
          <a:p>
            <a:pPr>
              <a:lnSpc>
                <a:spcPct val="111111"/>
              </a:lnSpc>
              <a:spcAft>
                <a:spcPts val="0"/>
              </a:spcAft>
            </a:pPr>
            <a:r>
              <a:rPr sz="600" i="0">
                <a:solidFill>
                  <a:srgbClr val="FF8E6E"/>
                </a:solidFill>
                <a:latin typeface="Inconsolata"/>
              </a:rPr>
              <a:t>def</a:t>
            </a:r>
            <a:r>
              <a:rPr sz="600" i="0">
                <a:solidFill>
                  <a:srgbClr val="E6EDF3"/>
                </a:solidFill>
                <a:latin typeface="Inconsolata"/>
              </a:rPr>
              <a:t> </a:t>
            </a:r>
            <a:r>
              <a:rPr sz="600" i="0">
                <a:solidFill>
                  <a:srgbClr val="82B1FF"/>
                </a:solidFill>
                <a:latin typeface="Inconsolata"/>
              </a:rPr>
              <a:t>login</a:t>
            </a:r>
            <a:r>
              <a:rPr sz="600" i="0">
                <a:solidFill>
                  <a:srgbClr val="E6EDF3"/>
                </a:solidFill>
                <a:latin typeface="Inconsolata"/>
              </a:rPr>
              <a:t>(form: </a:t>
            </a:r>
            <a:r>
              <a:rPr sz="600" i="0">
                <a:solidFill>
                  <a:srgbClr val="7FDBCA"/>
                </a:solidFill>
                <a:latin typeface="Inconsolata"/>
              </a:rPr>
              <a:t>OAuth2PasswordRequestForm</a:t>
            </a:r>
            <a:r>
              <a:rPr sz="600" i="0">
                <a:solidFill>
                  <a:srgbClr val="E6EDF3"/>
                </a:solidFill>
                <a:latin typeface="Inconsolata"/>
              </a:rPr>
              <a:t> = </a:t>
            </a:r>
            <a:r>
              <a:rPr sz="600" i="0">
                <a:solidFill>
                  <a:srgbClr val="7FDBCA"/>
                </a:solidFill>
                <a:latin typeface="Inconsolata"/>
              </a:rPr>
              <a:t>Depends</a:t>
            </a:r>
            <a:r>
              <a:rPr sz="600" i="0">
                <a:solidFill>
                  <a:srgbClr val="E6EDF3"/>
                </a:solidFill>
                <a:latin typeface="Inconsolata"/>
              </a:rPr>
              <a:t>(), auth: </a:t>
            </a:r>
            <a:r>
              <a:rPr sz="600" i="0">
                <a:solidFill>
                  <a:srgbClr val="7FDBCA"/>
                </a:solidFill>
                <a:latin typeface="Inconsolata"/>
              </a:rPr>
              <a:t>AuthService</a:t>
            </a:r>
            <a:r>
              <a:rPr sz="600" i="0">
                <a:solidFill>
                  <a:srgbClr val="E6EDF3"/>
                </a:solidFill>
                <a:latin typeface="Inconsolata"/>
              </a:rPr>
              <a:t> = </a:t>
            </a:r>
            <a:r>
              <a:rPr sz="600" i="0">
                <a:solidFill>
                  <a:srgbClr val="7FDBCA"/>
                </a:solidFill>
                <a:latin typeface="Inconsolata"/>
              </a:rPr>
              <a:t>Depends</a:t>
            </a:r>
            <a:r>
              <a:rPr sz="600" i="0">
                <a:solidFill>
                  <a:srgbClr val="E6EDF3"/>
                </a:solidFill>
                <a:latin typeface="Inconsolata"/>
              </a:rPr>
              <a:t>(get_auth_service)):</a:t>
            </a:r>
          </a:p>
          <a:p>
            <a:pPr>
              <a:lnSpc>
                <a:spcPct val="111111"/>
              </a:lnSpc>
              <a:spcAft>
                <a:spcPts val="0"/>
              </a:spcAft>
            </a:pPr>
            <a:r>
              <a:rPr sz="600" i="0">
                <a:solidFill>
                  <a:srgbClr val="E6EDF3"/>
                </a:solidFill>
                <a:latin typeface="Inconsolata"/>
              </a:rPr>
              <a:t>    token = auth.login(form.username, form.password)</a:t>
            </a:r>
          </a:p>
          <a:p>
            <a:pPr>
              <a:lnSpc>
                <a:spcPct val="111111"/>
              </a:lnSpc>
              <a:spcAft>
                <a:spcPts val="0"/>
              </a:spcAft>
            </a:pPr>
            <a:r>
              <a:rPr sz="600" i="0">
                <a:solidFill>
                  <a:srgbClr val="E6EDF3"/>
                </a:solidFill>
                <a:latin typeface="Inconsolata"/>
              </a:rPr>
              <a:t>    </a:t>
            </a:r>
            <a:r>
              <a:rPr sz="600" i="0">
                <a:solidFill>
                  <a:srgbClr val="FF8E6E"/>
                </a:solidFill>
                <a:latin typeface="Inconsolata"/>
              </a:rPr>
              <a:t>return</a:t>
            </a:r>
            <a:r>
              <a:rPr sz="600" i="0">
                <a:solidFill>
                  <a:srgbClr val="E6EDF3"/>
                </a:solidFill>
                <a:latin typeface="Inconsolata"/>
              </a:rPr>
              <a:t> </a:t>
            </a:r>
            <a:r>
              <a:rPr sz="600" i="0">
                <a:solidFill>
                  <a:srgbClr val="7FDBCA"/>
                </a:solidFill>
                <a:latin typeface="Inconsolata"/>
              </a:rPr>
              <a:t>TokenOut</a:t>
            </a:r>
            <a:r>
              <a:rPr sz="600" i="0">
                <a:solidFill>
                  <a:srgbClr val="E6EDF3"/>
                </a:solidFill>
                <a:latin typeface="Inconsolata"/>
              </a:rPr>
              <a:t>(access_token=token, expires_in=get_settings().access_token_minutes * </a:t>
            </a:r>
            <a:r>
              <a:rPr sz="600" i="0">
                <a:solidFill>
                  <a:srgbClr val="F9C97A"/>
                </a:solidFill>
                <a:latin typeface="Inconsolata"/>
              </a:rPr>
              <a:t>60</a:t>
            </a:r>
            <a:r>
              <a:rPr sz="600" i="0">
                <a:solidFill>
                  <a:srgbClr val="E6EDF3"/>
                </a:solidFill>
                <a:latin typeface="Inconsolata"/>
              </a:rPr>
              <a:t>)</a:t>
            </a:r>
          </a:p>
        </p:txBody>
      </p:sp>
      <p:sp>
        <p:nvSpPr>
          <p:cNvPr id="29" name="Box 12"/>
          <p:cNvSpPr/>
          <p:nvPr/>
        </p:nvSpPr>
        <p:spPr>
          <a:xfrm>
            <a:off x="704088" y="19253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85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128520"/>
            <a:ext cx="5230368" cy="501904"/>
          </a:xfrm>
          <a:prstGeom prst="roundRect">
            <a:avLst>
              <a:gd name="adj" fmla="val 9109"/>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260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2839720"/>
            <a:ext cx="5230368" cy="501904"/>
          </a:xfrm>
          <a:prstGeom prst="roundRect">
            <a:avLst>
              <a:gd name="adj" fmla="val 9109"/>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2971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Baca header Bearer. </a:t>
            </a:r>
            <a:r>
              <a:rPr sz="900" b="0" i="0">
                <a:solidFill>
                  <a:srgbClr val="B5482A"/>
                </a:solidFill>
                <a:latin typeface="Inconsolata"/>
              </a:rPr>
              <a:t>tokenUrl</a:t>
            </a:r>
            <a:r>
              <a:rPr sz="900" b="0" i="0">
                <a:solidFill>
                  <a:srgbClr val="434343"/>
                </a:solidFill>
                <a:latin typeface="Inter"/>
              </a:rPr>
              <a:t> dipakai tombol Authorize di /docs</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Scope dari endpoint diteruskan ke </a:t>
            </a:r>
            <a:r>
              <a:rPr sz="900" b="0" i="0">
                <a:solidFill>
                  <a:srgbClr val="B5482A"/>
                </a:solidFill>
                <a:latin typeface="Inconsolata"/>
              </a:rPr>
              <a:t>authenticate</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Login OAuth2 dengan form username + password</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GET /auth/me</a:t>
            </a:r>
            <a:r>
              <a:rPr sz="900" b="0" i="0">
                <a:solidFill>
                  <a:srgbClr val="434343"/>
                </a:solidFill>
                <a:latin typeface="Inter"/>
              </a:rPr>
              <a:t>, </a:t>
            </a:r>
            <a:r>
              <a:rPr sz="900" b="0" i="0">
                <a:solidFill>
                  <a:srgbClr val="B5482A"/>
                </a:solidFill>
                <a:latin typeface="Inconsolata"/>
              </a:rPr>
              <a:t>get_auth_service</a:t>
            </a:r>
            <a:r>
              <a:rPr sz="900" b="0" i="0">
                <a:solidFill>
                  <a:srgbClr val="434343"/>
                </a:solidFill>
                <a:latin typeface="Inter"/>
              </a:rPr>
              <a:t> di dependencies</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Sama polanya dengan contoh 05 dan 06.</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6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Proteksi endpoint dengan scope</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routers/orders.py  +  products.py  +  reports.py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5820"/>
              </a:lnSpc>
              <a:spcAft>
                <a:spcPts val="0"/>
              </a:spcAft>
            </a:pPr>
            <a:r>
              <a:rPr sz="630" i="1">
                <a:solidFill>
                  <a:srgbClr val="8B98A8"/>
                </a:solidFill>
                <a:latin typeface="Inconsolata"/>
              </a:rPr>
              <a:t># app/api/routers/orders.py</a:t>
            </a:r>
          </a:p>
          <a:p>
            <a:pPr>
              <a:lnSpc>
                <a:spcPct val="105820"/>
              </a:lnSpc>
              <a:spcAft>
                <a:spcPts val="0"/>
              </a:spcAft>
            </a:pPr>
            <a:r>
              <a:rPr sz="630" i="0">
                <a:solidFill>
                  <a:srgbClr val="7FDBCA"/>
                </a:solidFill>
                <a:latin typeface="Inconsolata"/>
              </a:rPr>
              <a:t>Customer</a:t>
            </a:r>
            <a:r>
              <a:rPr sz="630" i="0">
                <a:solidFill>
                  <a:srgbClr val="E6EDF3"/>
                </a:solidFill>
                <a:latin typeface="Inconsolata"/>
              </a:rPr>
              <a:t> = </a:t>
            </a:r>
            <a:r>
              <a:rPr sz="630" i="0">
                <a:solidFill>
                  <a:srgbClr val="7FDBCA"/>
                </a:solidFill>
                <a:latin typeface="Inconsolata"/>
              </a:rPr>
              <a:t>Security</a:t>
            </a:r>
            <a:r>
              <a:rPr sz="630" i="0">
                <a:solidFill>
                  <a:srgbClr val="E6EDF3"/>
                </a:solidFill>
                <a:latin typeface="Inconsolata"/>
              </a:rPr>
              <a:t>(get_current_user, scopes=[</a:t>
            </a:r>
            <a:r>
              <a:rPr sz="630" i="0">
                <a:solidFill>
                  <a:srgbClr val="A5D6A7"/>
                </a:solidFill>
                <a:latin typeface="Inconsolata"/>
              </a:rPr>
              <a:t>"orders:write"</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p>
          <a:p>
            <a:pPr>
              <a:lnSpc>
                <a:spcPct val="105820"/>
              </a:lnSpc>
              <a:spcAft>
                <a:spcPts val="0"/>
              </a:spcAft>
            </a:pPr>
            <a:r>
              <a:rPr sz="630" i="0">
                <a:solidFill>
                  <a:srgbClr val="FF8E6E"/>
                </a:solidFill>
                <a:latin typeface="Inconsolata"/>
              </a:rPr>
              <a:t>def</a:t>
            </a:r>
            <a:r>
              <a:rPr sz="630" i="0">
                <a:solidFill>
                  <a:srgbClr val="E6EDF3"/>
                </a:solidFill>
                <a:latin typeface="Inconsolata"/>
              </a:rPr>
              <a:t> </a:t>
            </a:r>
            <a:r>
              <a:rPr sz="630" i="0">
                <a:solidFill>
                  <a:srgbClr val="82B1FF"/>
                </a:solidFill>
                <a:latin typeface="Inconsolata"/>
              </a:rPr>
              <a:t>create_order</a:t>
            </a:r>
            <a:r>
              <a:rPr sz="630" i="0">
                <a:solidFill>
                  <a:srgbClr val="E6EDF3"/>
                </a:solidFill>
                <a:latin typeface="Inconsolata"/>
              </a:rPr>
              <a:t>(payload: </a:t>
            </a:r>
            <a:r>
              <a:rPr sz="630" i="0">
                <a:solidFill>
                  <a:srgbClr val="7FDBCA"/>
                </a:solidFill>
                <a:latin typeface="Inconsolata"/>
              </a:rPr>
              <a:t>OrderIn</a:t>
            </a:r>
            <a:r>
              <a:rPr sz="630" i="0">
                <a:solidFill>
                  <a:srgbClr val="E6EDF3"/>
                </a:solidFill>
                <a:latin typeface="Inconsolata"/>
              </a:rPr>
              <a:t>, user: </a:t>
            </a:r>
            <a:r>
              <a:rPr sz="630" i="0">
                <a:solidFill>
                  <a:srgbClr val="7FDBCA"/>
                </a:solidFill>
                <a:latin typeface="Inconsolata"/>
              </a:rPr>
              <a:t>CurrentUser</a:t>
            </a:r>
            <a:r>
              <a:rPr sz="630" i="0">
                <a:solidFill>
                  <a:srgbClr val="E6EDF3"/>
                </a:solidFill>
                <a:latin typeface="Inconsolata"/>
              </a:rPr>
              <a:t> = </a:t>
            </a:r>
            <a:r>
              <a:rPr sz="630" i="0">
                <a:solidFill>
                  <a:srgbClr val="7FDBCA"/>
                </a:solidFill>
                <a:latin typeface="Inconsolata"/>
              </a:rPr>
              <a:t>Customer</a:t>
            </a:r>
            <a:r>
              <a:rPr sz="630" i="0">
                <a:solidFill>
                  <a:srgbClr val="E6EDF3"/>
                </a:solidFill>
                <a:latin typeface="Inconsolata"/>
              </a:rPr>
              <a:t>,</a:t>
            </a:r>
          </a:p>
          <a:p>
            <a:pPr>
              <a:lnSpc>
                <a:spcPct val="105820"/>
              </a:lnSpc>
              <a:spcAft>
                <a:spcPts val="0"/>
              </a:spcAft>
            </a:pPr>
            <a:r>
              <a:rPr sz="630" i="0">
                <a:solidFill>
                  <a:srgbClr val="E6EDF3"/>
                </a:solidFill>
                <a:latin typeface="Inconsolata"/>
              </a:rPr>
              <a:t>                 service: </a:t>
            </a:r>
            <a:r>
              <a:rPr sz="630" i="0">
                <a:solidFill>
                  <a:srgbClr val="7FDBCA"/>
                </a:solidFill>
                <a:latin typeface="Inconsolata"/>
              </a:rPr>
              <a:t>OrderService</a:t>
            </a:r>
            <a:r>
              <a:rPr sz="630" i="0">
                <a:solidFill>
                  <a:srgbClr val="E6EDF3"/>
                </a:solidFill>
                <a:latin typeface="Inconsolata"/>
              </a:rPr>
              <a:t> = </a:t>
            </a:r>
            <a:r>
              <a:rPr sz="630" i="0">
                <a:solidFill>
                  <a:srgbClr val="7FDBCA"/>
                </a:solidFill>
                <a:latin typeface="Inconsolata"/>
              </a:rPr>
              <a:t>Depends</a:t>
            </a:r>
            <a:r>
              <a:rPr sz="630" i="0">
                <a:solidFill>
                  <a:srgbClr val="E6EDF3"/>
                </a:solidFill>
                <a:latin typeface="Inconsolata"/>
              </a:rPr>
              <a:t>(get_order_service)):</a:t>
            </a:r>
          </a:p>
          <a:p>
            <a:pPr>
              <a:lnSpc>
                <a:spcPct val="105820"/>
              </a:lnSpc>
              <a:spcAft>
                <a:spcPts val="0"/>
              </a:spcAft>
            </a:pPr>
            <a:r>
              <a:rPr sz="630" i="0">
                <a:solidFill>
                  <a:srgbClr val="E6EDF3"/>
                </a:solidFill>
                <a:latin typeface="Inconsolata"/>
              </a:rPr>
              <a:t>    items = [i.model_dump() </a:t>
            </a:r>
            <a:r>
              <a:rPr sz="630" i="0">
                <a:solidFill>
                  <a:srgbClr val="FF8E6E"/>
                </a:solidFill>
                <a:latin typeface="Inconsolata"/>
              </a:rPr>
              <a:t>for</a:t>
            </a:r>
            <a:r>
              <a:rPr sz="630" i="0">
                <a:solidFill>
                  <a:srgbClr val="E6EDF3"/>
                </a:solidFill>
                <a:latin typeface="Inconsolata"/>
              </a:rPr>
              <a:t> i </a:t>
            </a:r>
            <a:r>
              <a:rPr sz="630" i="0">
                <a:solidFill>
                  <a:srgbClr val="FF8E6E"/>
                </a:solidFill>
                <a:latin typeface="Inconsolata"/>
              </a:rPr>
              <a:t>in</a:t>
            </a:r>
            <a:r>
              <a:rPr sz="630" i="0">
                <a:solidFill>
                  <a:srgbClr val="E6EDF3"/>
                </a:solidFill>
                <a:latin typeface="Inconsolata"/>
              </a:rPr>
              <a:t> payload.items]</a:t>
            </a:r>
          </a:p>
          <a:p>
            <a:pPr>
              <a:lnSpc>
                <a:spcPct val="105820"/>
              </a:lnSpc>
              <a:spcAft>
                <a:spcPts val="0"/>
              </a:spcAft>
            </a:pPr>
            <a:r>
              <a:rPr sz="630" i="0">
                <a:solidFill>
                  <a:srgbClr val="E6EDF3"/>
                </a:solidFill>
                <a:latin typeface="Inconsolata"/>
              </a:rPr>
              <a:t>    </a:t>
            </a:r>
            <a:r>
              <a:rPr sz="630" i="0">
                <a:solidFill>
                  <a:srgbClr val="FF8E6E"/>
                </a:solidFill>
                <a:latin typeface="Inconsolata"/>
              </a:rPr>
              <a:t>return</a:t>
            </a:r>
            <a:r>
              <a:rPr sz="630" i="0">
                <a:solidFill>
                  <a:srgbClr val="E6EDF3"/>
                </a:solidFill>
                <a:latin typeface="Inconsolata"/>
              </a:rPr>
              <a:t> </a:t>
            </a:r>
            <a:r>
              <a:rPr sz="630" i="0">
                <a:solidFill>
                  <a:srgbClr val="7FDBCA"/>
                </a:solidFill>
                <a:latin typeface="Inconsolata"/>
              </a:rPr>
              <a:t>OrderOut</a:t>
            </a:r>
            <a:r>
              <a:rPr sz="630" i="0">
                <a:solidFill>
                  <a:srgbClr val="E6EDF3"/>
                </a:solidFill>
                <a:latin typeface="Inconsolata"/>
              </a:rPr>
              <a:t>.from_domain(service.place_order(user, items))</a:t>
            </a:r>
          </a:p>
          <a:p>
            <a:pPr>
              <a:lnSpc>
                <a:spcPct val="105820"/>
              </a:lnSpc>
              <a:spcAft>
                <a:spcPts val="0"/>
              </a:spcAft>
            </a:pPr>
            <a:r>
              <a:rPr sz="630" i="0">
                <a:solidFill>
                  <a:srgbClr val="E6EDF3"/>
                </a:solidFill>
                <a:latin typeface="Inconsolata"/>
              </a:rPr>
              <a:t> </a:t>
            </a:r>
          </a:p>
          <a:p>
            <a:pPr>
              <a:lnSpc>
                <a:spcPct val="105820"/>
              </a:lnSpc>
              <a:spcAft>
                <a:spcPts val="0"/>
              </a:spcAft>
            </a:pPr>
            <a:r>
              <a:rPr sz="630" i="1">
                <a:solidFill>
                  <a:srgbClr val="8B98A8"/>
                </a:solidFill>
                <a:latin typeface="Inconsolata"/>
              </a:rPr>
              <a:t># app/api/routers/products.py</a:t>
            </a:r>
          </a:p>
          <a:p>
            <a:pPr>
              <a:lnSpc>
                <a:spcPct val="105820"/>
              </a:lnSpc>
              <a:spcAft>
                <a:spcPts val="0"/>
              </a:spcAft>
            </a:pPr>
            <a:r>
              <a:rPr sz="630" i="0">
                <a:solidFill>
                  <a:srgbClr val="F9C97A"/>
                </a:solidFill>
                <a:latin typeface="Inconsolata"/>
              </a:rPr>
              <a:t>@router.post</a:t>
            </a:r>
            <a:r>
              <a:rPr sz="630" i="0">
                <a:solidFill>
                  <a:srgbClr val="E6EDF3"/>
                </a:solidFill>
                <a:latin typeface="Inconsolata"/>
              </a:rPr>
              <a:t>(</a:t>
            </a:r>
            <a:r>
              <a:rPr sz="630" i="0">
                <a:solidFill>
                  <a:srgbClr val="A5D6A7"/>
                </a:solidFill>
                <a:latin typeface="Inconsolata"/>
              </a:rPr>
              <a:t>""</a:t>
            </a:r>
            <a:r>
              <a:rPr sz="630" i="0">
                <a:solidFill>
                  <a:srgbClr val="E6EDF3"/>
                </a:solidFill>
                <a:latin typeface="Inconsolata"/>
              </a:rPr>
              <a:t>, status_code=</a:t>
            </a:r>
            <a:r>
              <a:rPr sz="630" i="0">
                <a:solidFill>
                  <a:srgbClr val="F9C97A"/>
                </a:solidFill>
                <a:latin typeface="Inconsolata"/>
              </a:rPr>
              <a:t>201</a:t>
            </a:r>
            <a:r>
              <a:rPr sz="630" i="0">
                <a:solidFill>
                  <a:srgbClr val="E6EDF3"/>
                </a:solidFill>
                <a:latin typeface="Inconsolata"/>
              </a:rPr>
              <a:t>, response_model=</a:t>
            </a:r>
            <a:r>
              <a:rPr sz="630" i="0">
                <a:solidFill>
                  <a:srgbClr val="7FDBCA"/>
                </a:solidFill>
                <a:latin typeface="Inconsolata"/>
              </a:rPr>
              <a:t>ProductOut</a:t>
            </a:r>
            <a:r>
              <a:rPr sz="630" i="0">
                <a:solidFill>
                  <a:srgbClr val="E6EDF3"/>
                </a:solidFill>
                <a:latin typeface="Inconsolata"/>
              </a:rPr>
              <a:t>, summary=</a:t>
            </a:r>
            <a:r>
              <a:rPr sz="630" i="0">
                <a:solidFill>
                  <a:srgbClr val="A5D6A7"/>
                </a:solidFill>
                <a:latin typeface="Inconsolata"/>
              </a:rPr>
              <a:t>"Tambah produk (admin)"</a:t>
            </a:r>
            <a:r>
              <a:rPr sz="630" i="0">
                <a:solidFill>
                  <a:srgbClr val="E6EDF3"/>
                </a:solidFill>
                <a:latin typeface="Inconsolata"/>
              </a:rPr>
              <a:t>,</a:t>
            </a:r>
          </a:p>
          <a:p>
            <a:pPr>
              <a:lnSpc>
                <a:spcPct val="105820"/>
              </a:lnSpc>
              <a:spcAft>
                <a:spcPts val="0"/>
              </a:spcAft>
            </a:pPr>
            <a:r>
              <a:rPr sz="630" i="0">
                <a:solidFill>
                  <a:srgbClr val="E6EDF3"/>
                </a:solidFill>
                <a:latin typeface="Inconsolata"/>
              </a:rPr>
              <a:t>             dependencies=[</a:t>
            </a:r>
            <a:r>
              <a:rPr sz="630" i="0">
                <a:solidFill>
                  <a:srgbClr val="7FDBCA"/>
                </a:solidFill>
                <a:latin typeface="Inconsolata"/>
              </a:rPr>
              <a:t>Security</a:t>
            </a:r>
            <a:r>
              <a:rPr sz="630" i="0">
                <a:solidFill>
                  <a:srgbClr val="E6EDF3"/>
                </a:solidFill>
                <a:latin typeface="Inconsolata"/>
              </a:rPr>
              <a:t>(get_current_user, scopes=[</a:t>
            </a:r>
            <a:r>
              <a:rPr sz="630" i="0">
                <a:solidFill>
                  <a:srgbClr val="A5D6A7"/>
                </a:solidFill>
                <a:latin typeface="Inconsolata"/>
              </a:rPr>
              <a:t>"products:write"</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p>
          <a:p>
            <a:pPr>
              <a:lnSpc>
                <a:spcPct val="105820"/>
              </a:lnSpc>
              <a:spcAft>
                <a:spcPts val="0"/>
              </a:spcAft>
            </a:pPr>
            <a:r>
              <a:rPr sz="630" i="1">
                <a:solidFill>
                  <a:srgbClr val="8B98A8"/>
                </a:solidFill>
                <a:latin typeface="Inconsolata"/>
              </a:rPr>
              <a:t># app/api/routers/reports.py</a:t>
            </a:r>
          </a:p>
          <a:p>
            <a:pPr>
              <a:lnSpc>
                <a:spcPct val="105820"/>
              </a:lnSpc>
              <a:spcAft>
                <a:spcPts val="0"/>
              </a:spcAft>
            </a:pPr>
            <a:r>
              <a:rPr sz="630" i="0">
                <a:solidFill>
                  <a:srgbClr val="E6EDF3"/>
                </a:solidFill>
                <a:latin typeface="Inconsolata"/>
              </a:rPr>
              <a:t>                   dependencies=[</a:t>
            </a:r>
            <a:r>
              <a:rPr sz="630" i="0">
                <a:solidFill>
                  <a:srgbClr val="7FDBCA"/>
                </a:solidFill>
                <a:latin typeface="Inconsolata"/>
              </a:rPr>
              <a:t>Depends</a:t>
            </a:r>
            <a:r>
              <a:rPr sz="630" i="0">
                <a:solidFill>
                  <a:srgbClr val="E6EDF3"/>
                </a:solidFill>
                <a:latin typeface="Inconsolata"/>
              </a:rPr>
              <a:t>(rate_limit), </a:t>
            </a:r>
            <a:r>
              <a:rPr sz="630" i="0">
                <a:solidFill>
                  <a:srgbClr val="7FDBCA"/>
                </a:solidFill>
                <a:latin typeface="Inconsolata"/>
              </a:rPr>
              <a:t>Security</a:t>
            </a:r>
            <a:r>
              <a:rPr sz="630" i="0">
                <a:solidFill>
                  <a:srgbClr val="E6EDF3"/>
                </a:solidFill>
                <a:latin typeface="Inconsolata"/>
              </a:rPr>
              <a:t>(get_current_user, scopes=[</a:t>
            </a:r>
            <a:r>
              <a:rPr sz="630" i="0">
                <a:solidFill>
                  <a:srgbClr val="A5D6A7"/>
                </a:solidFill>
                <a:latin typeface="Inconsolata"/>
              </a:rPr>
              <a:t>"reports:read"</a:t>
            </a:r>
            <a:r>
              <a:rPr sz="630" i="0">
                <a:solidFill>
                  <a:srgbClr val="E6EDF3"/>
                </a:solidFill>
                <a:latin typeface="Inconsolata"/>
              </a:rPr>
              <a:t>])],</a:t>
            </a:r>
          </a:p>
        </p:txBody>
      </p:sp>
      <p:sp>
        <p:nvSpPr>
          <p:cNvPr id="29" name="Box 12"/>
          <p:cNvSpPr/>
          <p:nvPr/>
        </p:nvSpPr>
        <p:spPr>
          <a:xfrm>
            <a:off x="704088" y="19253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85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4333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704088" y="28397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3" name="Box 16"/>
          <p:cNvSpPr/>
          <p:nvPr/>
        </p:nvSpPr>
        <p:spPr>
          <a:xfrm>
            <a:off x="5815584" y="2768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4" name="Box 17"/>
          <p:cNvSpPr/>
          <p:nvPr/>
        </p:nvSpPr>
        <p:spPr>
          <a:xfrm>
            <a:off x="704088" y="31445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Box 18"/>
          <p:cNvSpPr/>
          <p:nvPr/>
        </p:nvSpPr>
        <p:spPr>
          <a:xfrm>
            <a:off x="5815584" y="30734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6" name="Box 19"/>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8" name="Text 21"/>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Semua endpoint order butuh </a:t>
            </a:r>
            <a:r>
              <a:rPr sz="900" b="0" i="0">
                <a:solidFill>
                  <a:srgbClr val="B5482A"/>
                </a:solidFill>
                <a:latin typeface="Inconsolata"/>
              </a:rPr>
              <a:t>orders:write</a:t>
            </a:r>
            <a:r>
              <a:rPr sz="900" b="0" i="0">
                <a:solidFill>
                  <a:srgbClr val="434343"/>
                </a:solidFill>
                <a:latin typeface="Inter"/>
              </a:rPr>
              <a:t>, user diteruskan ke service</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Tambah produk khusus </a:t>
            </a:r>
            <a:r>
              <a:rPr sz="900" b="0" i="0">
                <a:solidFill>
                  <a:srgbClr val="B5482A"/>
                </a:solidFill>
                <a:latin typeface="Inconsolata"/>
              </a:rPr>
              <a:t>products:write</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Semua endpoint report khusus </a:t>
            </a:r>
            <a:r>
              <a:rPr sz="900" b="0" i="0">
                <a:solidFill>
                  <a:srgbClr val="B5482A"/>
                </a:solidFill>
                <a:latin typeface="Inconsolata"/>
              </a:rPr>
              <a:t>reports:read</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GET /products</a:t>
            </a:r>
            <a:r>
              <a:rPr sz="900" b="0" i="0">
                <a:solidFill>
                  <a:srgbClr val="434343"/>
                </a:solidFill>
                <a:latin typeface="Inter"/>
              </a:rPr>
              <a:t> tetap publik</a:t>
            </a:r>
          </a:p>
        </p:txBody>
      </p:sp>
      <p:sp>
        <p:nvSpPr>
          <p:cNvPr id="39" name="Box 22"/>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0" name="Text 23"/>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1" name="Text 24"/>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Scope terlihat jelas di setiap route.</a:t>
            </a: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7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OrderService: order milik siapa?</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app/application/order_service.py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place_order</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actor: </a:t>
            </a:r>
            <a:r>
              <a:rPr sz="650" i="0">
                <a:solidFill>
                  <a:srgbClr val="7FDBCA"/>
                </a:solidFill>
                <a:latin typeface="Inconsolata"/>
              </a:rPr>
              <a:t>CurrentUser</a:t>
            </a:r>
            <a:r>
              <a:rPr sz="650" i="0">
                <a:solidFill>
                  <a:srgbClr val="E6EDF3"/>
                </a:solidFill>
                <a:latin typeface="Inconsolata"/>
              </a:rPr>
              <a:t>, items: </a:t>
            </a:r>
            <a:r>
              <a:rPr sz="650" i="0">
                <a:solidFill>
                  <a:srgbClr val="C3A6FF"/>
                </a:solidFill>
                <a:latin typeface="Inconsolata"/>
              </a:rPr>
              <a:t>list</a:t>
            </a:r>
            <a:r>
              <a:rPr sz="650" i="0">
                <a:solidFill>
                  <a:srgbClr val="E6EDF3"/>
                </a:solidFill>
                <a:latin typeface="Inconsolata"/>
              </a:rPr>
              <a:t>[</a:t>
            </a:r>
            <a:r>
              <a:rPr sz="650" i="0">
                <a:solidFill>
                  <a:srgbClr val="C3A6FF"/>
                </a:solidFill>
                <a:latin typeface="Inconsolata"/>
              </a:rPr>
              <a:t>dict</a:t>
            </a:r>
            <a:r>
              <a:rPr sz="650" i="0">
                <a:solidFill>
                  <a:srgbClr val="E6EDF3"/>
                </a:solidFill>
                <a:latin typeface="Inconsolata"/>
              </a:rPr>
              <a:t>]) -&gt; </a:t>
            </a:r>
            <a:r>
              <a:rPr sz="650" i="0">
                <a:solidFill>
                  <a:srgbClr val="7FDBCA"/>
                </a:solidFill>
                <a:latin typeface="Inconsolata"/>
              </a:rPr>
              <a:t>Order</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with</a:t>
            </a:r>
            <a:r>
              <a:rPr sz="650" i="0">
                <a:solidFill>
                  <a:srgbClr val="E6EDF3"/>
                </a:solidFill>
                <a:latin typeface="Inconsolata"/>
              </a:rPr>
              <a:t> </a:t>
            </a:r>
            <a:r>
              <a:rPr sz="650" i="0">
                <a:solidFill>
                  <a:srgbClr val="C3A6FF"/>
                </a:solidFill>
                <a:latin typeface="Inconsolata"/>
              </a:rPr>
              <a:t>self</a:t>
            </a:r>
            <a:r>
              <a:rPr sz="650" i="0">
                <a:solidFill>
                  <a:srgbClr val="E6EDF3"/>
                </a:solidFill>
                <a:latin typeface="Inconsolata"/>
              </a:rPr>
              <a:t>.uow:</a:t>
            </a:r>
          </a:p>
          <a:p>
            <a:pPr>
              <a:lnSpc>
                <a:spcPct val="102564"/>
              </a:lnSpc>
              <a:spcAft>
                <a:spcPts val="0"/>
              </a:spcAft>
            </a:pPr>
            <a:r>
              <a:rPr sz="650" i="0">
                <a:solidFill>
                  <a:srgbClr val="E6EDF3"/>
                </a:solidFill>
                <a:latin typeface="Inconsolata"/>
              </a:rPr>
              <a:t>            order = </a:t>
            </a:r>
            <a:r>
              <a:rPr sz="650" i="0">
                <a:solidFill>
                  <a:srgbClr val="7FDBCA"/>
                </a:solidFill>
                <a:latin typeface="Inconsolata"/>
              </a:rPr>
              <a:t>Order</a:t>
            </a:r>
            <a:r>
              <a:rPr sz="650" i="0">
                <a:solidFill>
                  <a:srgbClr val="E6EDF3"/>
                </a:solidFill>
                <a:latin typeface="Inconsolata"/>
              </a:rPr>
              <a:t>(actor.email, actor.customer_type)</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list_orders</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actor: </a:t>
            </a:r>
            <a:r>
              <a:rPr sz="650" i="0">
                <a:solidFill>
                  <a:srgbClr val="7FDBCA"/>
                </a:solidFill>
                <a:latin typeface="Inconsolata"/>
              </a:rPr>
              <a:t>CurrentUser</a:t>
            </a:r>
            <a:r>
              <a:rPr sz="650" i="0">
                <a:solidFill>
                  <a:srgbClr val="E6EDF3"/>
                </a:solidFill>
                <a:latin typeface="Inconsolata"/>
              </a:rPr>
              <a:t>, customer: </a:t>
            </a:r>
            <a:r>
              <a:rPr sz="650" i="0">
                <a:solidFill>
                  <a:srgbClr val="C3A6FF"/>
                </a:solidFill>
                <a:latin typeface="Inconsolata"/>
              </a:rPr>
              <a:t>str</a:t>
            </a:r>
            <a:r>
              <a:rPr sz="650" i="0">
                <a:solidFill>
                  <a:srgbClr val="E6EDF3"/>
                </a:solidFill>
                <a:latin typeface="Inconsolata"/>
              </a:rPr>
              <a:t> | </a:t>
            </a:r>
            <a:r>
              <a:rPr sz="650" i="0">
                <a:solidFill>
                  <a:srgbClr val="FF8E6E"/>
                </a:solidFill>
                <a:latin typeface="Inconsolata"/>
              </a:rPr>
              <a:t>None</a:t>
            </a:r>
            <a:r>
              <a:rPr sz="650" i="0">
                <a:solidFill>
                  <a:srgbClr val="E6EDF3"/>
                </a:solidFill>
                <a:latin typeface="Inconsolata"/>
              </a:rPr>
              <a:t> = </a:t>
            </a:r>
            <a:r>
              <a:rPr sz="650" i="0">
                <a:solidFill>
                  <a:srgbClr val="FF8E6E"/>
                </a:solidFill>
                <a:latin typeface="Inconsolata"/>
              </a:rPr>
              <a:t>None</a:t>
            </a:r>
            <a:r>
              <a:rPr sz="650" i="0">
                <a:solidFill>
                  <a:srgbClr val="E6EDF3"/>
                </a:solidFill>
                <a:latin typeface="Inconsolata"/>
              </a:rPr>
              <a:t>, limit: </a:t>
            </a:r>
            <a:r>
              <a:rPr sz="650" i="0">
                <a:solidFill>
                  <a:srgbClr val="C3A6FF"/>
                </a:solidFill>
                <a:latin typeface="Inconsolata"/>
              </a:rPr>
              <a:t>int</a:t>
            </a:r>
            <a:r>
              <a:rPr sz="650" i="0">
                <a:solidFill>
                  <a:srgbClr val="E6EDF3"/>
                </a:solidFill>
                <a:latin typeface="Inconsolata"/>
              </a:rPr>
              <a:t> = </a:t>
            </a:r>
            <a:r>
              <a:rPr sz="650" i="0">
                <a:solidFill>
                  <a:srgbClr val="F9C97A"/>
                </a:solidFill>
                <a:latin typeface="Inconsolata"/>
              </a:rPr>
              <a:t>20</a:t>
            </a:r>
            <a:r>
              <a:rPr sz="650" i="0">
                <a:solidFill>
                  <a:srgbClr val="E6EDF3"/>
                </a:solidFill>
                <a:latin typeface="Inconsolata"/>
              </a:rPr>
              <a:t>,</a:t>
            </a:r>
          </a:p>
          <a:p>
            <a:pPr>
              <a:lnSpc>
                <a:spcPct val="102564"/>
              </a:lnSpc>
              <a:spcAft>
                <a:spcPts val="0"/>
              </a:spcAft>
            </a:pPr>
            <a:r>
              <a:rPr sz="650" i="0">
                <a:solidFill>
                  <a:srgbClr val="E6EDF3"/>
                </a:solidFill>
                <a:latin typeface="Inconsolata"/>
              </a:rPr>
              <a:t>                    after: </a:t>
            </a:r>
            <a:r>
              <a:rPr sz="650" i="0">
                <a:solidFill>
                  <a:srgbClr val="C3A6FF"/>
                </a:solidFill>
                <a:latin typeface="Inconsolata"/>
              </a:rPr>
              <a:t>int</a:t>
            </a:r>
            <a:r>
              <a:rPr sz="650" i="0">
                <a:solidFill>
                  <a:srgbClr val="E6EDF3"/>
                </a:solidFill>
                <a:latin typeface="Inconsolata"/>
              </a:rPr>
              <a:t> | </a:t>
            </a:r>
            <a:r>
              <a:rPr sz="650" i="0">
                <a:solidFill>
                  <a:srgbClr val="FF8E6E"/>
                </a:solidFill>
                <a:latin typeface="Inconsolata"/>
              </a:rPr>
              <a:t>None</a:t>
            </a:r>
            <a:r>
              <a:rPr sz="650" i="0">
                <a:solidFill>
                  <a:srgbClr val="E6EDF3"/>
                </a:solidFill>
                <a:latin typeface="Inconsolata"/>
              </a:rPr>
              <a:t> = </a:t>
            </a:r>
            <a:r>
              <a:rPr sz="650" i="0">
                <a:solidFill>
                  <a:srgbClr val="FF8E6E"/>
                </a:solidFill>
                <a:latin typeface="Inconsolata"/>
              </a:rPr>
              <a:t>None</a:t>
            </a:r>
            <a:r>
              <a:rPr sz="650" i="0">
                <a:solidFill>
                  <a:srgbClr val="E6EDF3"/>
                </a:solidFill>
                <a:latin typeface="Inconsolata"/>
              </a:rPr>
              <a:t>) -&gt; </a:t>
            </a:r>
            <a:r>
              <a:rPr sz="650" i="0">
                <a:solidFill>
                  <a:srgbClr val="C3A6FF"/>
                </a:solidFill>
                <a:latin typeface="Inconsolata"/>
              </a:rPr>
              <a:t>list</a:t>
            </a:r>
            <a:r>
              <a:rPr sz="650" i="0">
                <a:solidFill>
                  <a:srgbClr val="E6EDF3"/>
                </a:solidFill>
                <a:latin typeface="Inconsolata"/>
              </a:rPr>
              <a:t>[</a:t>
            </a:r>
            <a:r>
              <a:rPr sz="650" i="0">
                <a:solidFill>
                  <a:srgbClr val="7FDBCA"/>
                </a:solidFill>
                <a:latin typeface="Inconsolata"/>
              </a:rPr>
              <a:t>Order</a:t>
            </a:r>
            <a:r>
              <a:rPr sz="650" i="0">
                <a:solidFill>
                  <a:srgbClr val="E6EDF3"/>
                </a:solidFill>
                <a:latin typeface="Inconsolata"/>
              </a:rPr>
              <a:t>]:</a:t>
            </a:r>
          </a:p>
          <a:p>
            <a:pPr>
              <a:lnSpc>
                <a:spcPct val="102564"/>
              </a:lnSpc>
              <a:spcAft>
                <a:spcPts val="0"/>
              </a:spcAft>
            </a:pPr>
            <a:r>
              <a:rPr sz="650" i="0">
                <a:solidFill>
                  <a:srgbClr val="E6EDF3"/>
                </a:solidFill>
                <a:latin typeface="Inconsolata"/>
              </a:rPr>
              <a:t>        customer = customer </a:t>
            </a:r>
            <a:r>
              <a:rPr sz="650" i="0">
                <a:solidFill>
                  <a:srgbClr val="FF8E6E"/>
                </a:solidFill>
                <a:latin typeface="Inconsolata"/>
              </a:rPr>
              <a:t>or</a:t>
            </a:r>
            <a:r>
              <a:rPr sz="650" i="0">
                <a:solidFill>
                  <a:srgbClr val="E6EDF3"/>
                </a:solidFill>
                <a:latin typeface="Inconsolata"/>
              </a:rPr>
              <a:t> actor.email</a:t>
            </a:r>
          </a:p>
          <a:p>
            <a:pPr>
              <a:lnSpc>
                <a:spcPct val="102564"/>
              </a:lnSpc>
              <a:spcAft>
                <a:spcPts val="0"/>
              </a:spcAft>
            </a:pPr>
            <a:r>
              <a:rPr sz="650" i="0">
                <a:solidFill>
                  <a:srgbClr val="E6EDF3"/>
                </a:solidFill>
                <a:latin typeface="Inconsolata"/>
              </a:rPr>
              <a:t>        </a:t>
            </a:r>
            <a:r>
              <a:rPr sz="650" i="0">
                <a:solidFill>
                  <a:srgbClr val="FF8E6E"/>
                </a:solidFill>
                <a:latin typeface="Inconsolata"/>
              </a:rPr>
              <a:t>if</a:t>
            </a:r>
            <a:r>
              <a:rPr sz="650" i="0">
                <a:solidFill>
                  <a:srgbClr val="E6EDF3"/>
                </a:solidFill>
                <a:latin typeface="Inconsolata"/>
              </a:rPr>
              <a:t> customer != actor.email </a:t>
            </a:r>
            <a:r>
              <a:rPr sz="650" i="0">
                <a:solidFill>
                  <a:srgbClr val="FF8E6E"/>
                </a:solidFill>
                <a:latin typeface="Inconsolata"/>
              </a:rPr>
              <a:t>and</a:t>
            </a:r>
            <a:r>
              <a:rPr sz="650" i="0">
                <a:solidFill>
                  <a:srgbClr val="E6EDF3"/>
                </a:solidFill>
                <a:latin typeface="Inconsolata"/>
              </a:rPr>
              <a:t> </a:t>
            </a:r>
            <a:r>
              <a:rPr sz="650" i="0">
                <a:solidFill>
                  <a:srgbClr val="FF8E6E"/>
                </a:solidFill>
                <a:latin typeface="Inconsolata"/>
              </a:rPr>
              <a:t>not</a:t>
            </a:r>
            <a:r>
              <a:rPr sz="650" i="0">
                <a:solidFill>
                  <a:srgbClr val="E6EDF3"/>
                </a:solidFill>
                <a:latin typeface="Inconsolata"/>
              </a:rPr>
              <a:t> actor.can(</a:t>
            </a:r>
            <a:r>
              <a:rPr sz="650" i="0">
                <a:solidFill>
                  <a:srgbClr val="A5D6A7"/>
                </a:solidFill>
                <a:latin typeface="Inconsolata"/>
              </a:rPr>
              <a:t>"orders:all"</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raise</a:t>
            </a:r>
            <a:r>
              <a:rPr sz="650" i="0">
                <a:solidFill>
                  <a:srgbClr val="E6EDF3"/>
                </a:solidFill>
                <a:latin typeface="Inconsolata"/>
              </a:rPr>
              <a:t> </a:t>
            </a:r>
            <a:r>
              <a:rPr sz="650" i="0">
                <a:solidFill>
                  <a:srgbClr val="7FDBCA"/>
                </a:solidFill>
                <a:latin typeface="Inconsolata"/>
              </a:rPr>
              <a:t>AccessDenied</a:t>
            </a:r>
            <a:r>
              <a:rPr sz="650" i="0">
                <a:solidFill>
                  <a:srgbClr val="E6EDF3"/>
                </a:solidFill>
                <a:latin typeface="Inconsolata"/>
              </a:rPr>
              <a:t>(</a:t>
            </a:r>
            <a:r>
              <a:rPr sz="650" i="0">
                <a:solidFill>
                  <a:srgbClr val="A5D6A7"/>
                </a:solidFill>
                <a:latin typeface="Inconsolata"/>
              </a:rPr>
              <a:t>"Hanya bisa melihat riwayat order sendiri"</a:t>
            </a:r>
            <a:r>
              <a:rPr sz="650" i="0">
                <a:solidFill>
                  <a:srgbClr val="E6EDF3"/>
                </a:solidFill>
                <a:latin typeface="Inconsolata"/>
              </a:rPr>
              <a:t>)</a:t>
            </a:r>
          </a:p>
          <a:p>
            <a:pPr>
              <a:lnSpc>
                <a:spcPct val="102564"/>
              </a:lnSpc>
              <a:spcAft>
                <a:spcPts val="0"/>
              </a:spcAft>
            </a:pP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def</a:t>
            </a:r>
            <a:r>
              <a:rPr sz="650" i="0">
                <a:solidFill>
                  <a:srgbClr val="E6EDF3"/>
                </a:solidFill>
                <a:latin typeface="Inconsolata"/>
              </a:rPr>
              <a:t> </a:t>
            </a:r>
            <a:r>
              <a:rPr sz="650" i="0">
                <a:solidFill>
                  <a:srgbClr val="82B1FF"/>
                </a:solidFill>
                <a:latin typeface="Inconsolata"/>
              </a:rPr>
              <a:t>_get_order</a:t>
            </a:r>
            <a:r>
              <a:rPr sz="650" i="0">
                <a:solidFill>
                  <a:srgbClr val="E6EDF3"/>
                </a:solidFill>
                <a:latin typeface="Inconsolata"/>
              </a:rPr>
              <a:t>(</a:t>
            </a:r>
            <a:r>
              <a:rPr sz="650" i="0">
                <a:solidFill>
                  <a:srgbClr val="C3A6FF"/>
                </a:solidFill>
                <a:latin typeface="Inconsolata"/>
              </a:rPr>
              <a:t>self</a:t>
            </a:r>
            <a:r>
              <a:rPr sz="650" i="0">
                <a:solidFill>
                  <a:srgbClr val="E6EDF3"/>
                </a:solidFill>
                <a:latin typeface="Inconsolata"/>
              </a:rPr>
              <a:t>, order_id: </a:t>
            </a:r>
            <a:r>
              <a:rPr sz="650" i="0">
                <a:solidFill>
                  <a:srgbClr val="C3A6FF"/>
                </a:solidFill>
                <a:latin typeface="Inconsolata"/>
              </a:rPr>
              <a:t>int</a:t>
            </a:r>
            <a:r>
              <a:rPr sz="650" i="0">
                <a:solidFill>
                  <a:srgbClr val="E6EDF3"/>
                </a:solidFill>
                <a:latin typeface="Inconsolata"/>
              </a:rPr>
              <a:t>, actor: </a:t>
            </a:r>
            <a:r>
              <a:rPr sz="650" i="0">
                <a:solidFill>
                  <a:srgbClr val="7FDBCA"/>
                </a:solidFill>
                <a:latin typeface="Inconsolata"/>
              </a:rPr>
              <a:t>CurrentUser</a:t>
            </a:r>
            <a:r>
              <a:rPr sz="650" i="0">
                <a:solidFill>
                  <a:srgbClr val="E6EDF3"/>
                </a:solidFill>
                <a:latin typeface="Inconsolata"/>
              </a:rPr>
              <a:t>) -&gt; </a:t>
            </a:r>
            <a:r>
              <a:rPr sz="650" i="0">
                <a:solidFill>
                  <a:srgbClr val="7FDBCA"/>
                </a:solidFill>
                <a:latin typeface="Inconsolata"/>
              </a:rPr>
              <a:t>Order</a:t>
            </a:r>
            <a:r>
              <a:rPr sz="650" i="0">
                <a:solidFill>
                  <a:srgbClr val="E6EDF3"/>
                </a:solidFill>
                <a:latin typeface="Inconsolata"/>
              </a:rPr>
              <a:t>:</a:t>
            </a:r>
          </a:p>
          <a:p>
            <a:pPr>
              <a:lnSpc>
                <a:spcPct val="102564"/>
              </a:lnSpc>
              <a:spcAft>
                <a:spcPts val="0"/>
              </a:spcAft>
            </a:pPr>
            <a:r>
              <a:rPr sz="650" i="0">
                <a:solidFill>
                  <a:srgbClr val="E6EDF3"/>
                </a:solidFill>
                <a:latin typeface="Inconsolata"/>
              </a:rPr>
              <a:t>        order = </a:t>
            </a:r>
            <a:r>
              <a:rPr sz="650" i="0">
                <a:solidFill>
                  <a:srgbClr val="C3A6FF"/>
                </a:solidFill>
                <a:latin typeface="Inconsolata"/>
              </a:rPr>
              <a:t>self</a:t>
            </a:r>
            <a:r>
              <a:rPr sz="650" i="0">
                <a:solidFill>
                  <a:srgbClr val="E6EDF3"/>
                </a:solidFill>
                <a:latin typeface="Inconsolata"/>
              </a:rPr>
              <a:t>.uow.orders.get(order_id)</a:t>
            </a:r>
          </a:p>
          <a:p>
            <a:pPr>
              <a:lnSpc>
                <a:spcPct val="102564"/>
              </a:lnSpc>
              <a:spcAft>
                <a:spcPts val="0"/>
              </a:spcAft>
            </a:pPr>
            <a:r>
              <a:rPr sz="650" i="0">
                <a:solidFill>
                  <a:srgbClr val="E6EDF3"/>
                </a:solidFill>
                <a:latin typeface="Inconsolata"/>
              </a:rPr>
              <a:t>        </a:t>
            </a:r>
            <a:r>
              <a:rPr sz="650" i="1">
                <a:solidFill>
                  <a:srgbClr val="8B98A8"/>
                </a:solidFill>
                <a:latin typeface="Inconsolata"/>
              </a:rPr>
              <a:t># order milik orang lain = 404, bukan 403, supaya keberadaan order tidak bocor</a:t>
            </a:r>
          </a:p>
          <a:p>
            <a:pPr>
              <a:lnSpc>
                <a:spcPct val="102564"/>
              </a:lnSpc>
              <a:spcAft>
                <a:spcPts val="0"/>
              </a:spcAft>
            </a:pPr>
            <a:r>
              <a:rPr sz="650" i="0">
                <a:solidFill>
                  <a:srgbClr val="E6EDF3"/>
                </a:solidFill>
                <a:latin typeface="Inconsolata"/>
              </a:rPr>
              <a:t>        </a:t>
            </a:r>
            <a:r>
              <a:rPr sz="650" i="0">
                <a:solidFill>
                  <a:srgbClr val="FF8E6E"/>
                </a:solidFill>
                <a:latin typeface="Inconsolata"/>
              </a:rPr>
              <a:t>if</a:t>
            </a:r>
            <a:r>
              <a:rPr sz="650" i="0">
                <a:solidFill>
                  <a:srgbClr val="E6EDF3"/>
                </a:solidFill>
                <a:latin typeface="Inconsolata"/>
              </a:rPr>
              <a:t> order </a:t>
            </a:r>
            <a:r>
              <a:rPr sz="650" i="0">
                <a:solidFill>
                  <a:srgbClr val="FF8E6E"/>
                </a:solidFill>
                <a:latin typeface="Inconsolata"/>
              </a:rPr>
              <a:t>is</a:t>
            </a:r>
            <a:r>
              <a:rPr sz="650" i="0">
                <a:solidFill>
                  <a:srgbClr val="E6EDF3"/>
                </a:solidFill>
                <a:latin typeface="Inconsolata"/>
              </a:rPr>
              <a:t> </a:t>
            </a:r>
            <a:r>
              <a:rPr sz="650" i="0">
                <a:solidFill>
                  <a:srgbClr val="FF8E6E"/>
                </a:solidFill>
                <a:latin typeface="Inconsolata"/>
              </a:rPr>
              <a:t>None</a:t>
            </a:r>
            <a:r>
              <a:rPr sz="650" i="0">
                <a:solidFill>
                  <a:srgbClr val="E6EDF3"/>
                </a:solidFill>
                <a:latin typeface="Inconsolata"/>
              </a:rPr>
              <a:t> </a:t>
            </a:r>
            <a:r>
              <a:rPr sz="650" i="0">
                <a:solidFill>
                  <a:srgbClr val="FF8E6E"/>
                </a:solidFill>
                <a:latin typeface="Inconsolata"/>
              </a:rPr>
              <a:t>or</a:t>
            </a:r>
            <a:r>
              <a:rPr sz="650" i="0">
                <a:solidFill>
                  <a:srgbClr val="E6EDF3"/>
                </a:solidFill>
                <a:latin typeface="Inconsolata"/>
              </a:rPr>
              <a:t> (order.customer != actor.email </a:t>
            </a:r>
            <a:r>
              <a:rPr sz="650" i="0">
                <a:solidFill>
                  <a:srgbClr val="FF8E6E"/>
                </a:solidFill>
                <a:latin typeface="Inconsolata"/>
              </a:rPr>
              <a:t>and</a:t>
            </a:r>
            <a:r>
              <a:rPr sz="650" i="0">
                <a:solidFill>
                  <a:srgbClr val="E6EDF3"/>
                </a:solidFill>
                <a:latin typeface="Inconsolata"/>
              </a:rPr>
              <a:t> </a:t>
            </a:r>
            <a:r>
              <a:rPr sz="650" i="0">
                <a:solidFill>
                  <a:srgbClr val="FF8E6E"/>
                </a:solidFill>
                <a:latin typeface="Inconsolata"/>
              </a:rPr>
              <a:t>not</a:t>
            </a:r>
            <a:r>
              <a:rPr sz="650" i="0">
                <a:solidFill>
                  <a:srgbClr val="E6EDF3"/>
                </a:solidFill>
                <a:latin typeface="Inconsolata"/>
              </a:rPr>
              <a:t> actor.can(</a:t>
            </a:r>
            <a:r>
              <a:rPr sz="650" i="0">
                <a:solidFill>
                  <a:srgbClr val="A5D6A7"/>
                </a:solidFill>
                <a:latin typeface="Inconsolata"/>
              </a:rPr>
              <a:t>"orders:all"</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raise</a:t>
            </a:r>
            <a:r>
              <a:rPr sz="650" i="0">
                <a:solidFill>
                  <a:srgbClr val="E6EDF3"/>
                </a:solidFill>
                <a:latin typeface="Inconsolata"/>
              </a:rPr>
              <a:t> </a:t>
            </a:r>
            <a:r>
              <a:rPr sz="650" i="0">
                <a:solidFill>
                  <a:srgbClr val="7FDBCA"/>
                </a:solidFill>
                <a:latin typeface="Inconsolata"/>
              </a:rPr>
              <a:t>OrderNotFound</a:t>
            </a:r>
            <a:r>
              <a:rPr sz="650" i="0">
                <a:solidFill>
                  <a:srgbClr val="E6EDF3"/>
                </a:solidFill>
                <a:latin typeface="Inconsolata"/>
              </a:rPr>
              <a:t>(</a:t>
            </a:r>
            <a:r>
              <a:rPr sz="650" i="0">
                <a:solidFill>
                  <a:srgbClr val="A5D6A7"/>
                </a:solidFill>
                <a:latin typeface="Inconsolata"/>
              </a:rPr>
              <a:t>f"Order #{order_id} tidak ditemukan"</a:t>
            </a:r>
            <a:r>
              <a:rPr sz="650" i="0">
                <a:solidFill>
                  <a:srgbClr val="E6EDF3"/>
                </a:solidFill>
                <a:latin typeface="Inconsolata"/>
              </a:rPr>
              <a:t>)</a:t>
            </a:r>
          </a:p>
          <a:p>
            <a:pPr>
              <a:lnSpc>
                <a:spcPct val="102564"/>
              </a:lnSpc>
              <a:spcAft>
                <a:spcPts val="0"/>
              </a:spcAft>
            </a:pPr>
            <a:r>
              <a:rPr sz="650" i="0">
                <a:solidFill>
                  <a:srgbClr val="E6EDF3"/>
                </a:solidFill>
                <a:latin typeface="Inconsolata"/>
              </a:rPr>
              <a:t>        </a:t>
            </a:r>
            <a:r>
              <a:rPr sz="650" i="0">
                <a:solidFill>
                  <a:srgbClr val="FF8E6E"/>
                </a:solidFill>
                <a:latin typeface="Inconsolata"/>
              </a:rPr>
              <a:t>return</a:t>
            </a:r>
            <a:r>
              <a:rPr sz="650" i="0">
                <a:solidFill>
                  <a:srgbClr val="E6EDF3"/>
                </a:solidFill>
                <a:latin typeface="Inconsolata"/>
              </a:rPr>
              <a:t> order</a:t>
            </a:r>
          </a:p>
        </p:txBody>
      </p:sp>
      <p:sp>
        <p:nvSpPr>
          <p:cNvPr id="29" name="Box 12"/>
          <p:cNvSpPr/>
          <p:nvPr/>
        </p:nvSpPr>
        <p:spPr>
          <a:xfrm>
            <a:off x="704088" y="18237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85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433320"/>
            <a:ext cx="5230368" cy="298704"/>
          </a:xfrm>
          <a:prstGeom prst="roundRect">
            <a:avLst>
              <a:gd name="adj" fmla="val 15306"/>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463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2839720"/>
            <a:ext cx="5230368" cy="603503"/>
          </a:xfrm>
          <a:prstGeom prst="roundRect">
            <a:avLst>
              <a:gd name="adj" fmla="val 757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022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Order atas nama user login, </a:t>
            </a:r>
            <a:r>
              <a:rPr sz="900" b="0" i="0">
                <a:solidFill>
                  <a:srgbClr val="B5482A"/>
                </a:solidFill>
                <a:latin typeface="Inconsolata"/>
              </a:rPr>
              <a:t>customer_type</a:t>
            </a:r>
            <a:r>
              <a:rPr sz="900" b="0" i="0">
                <a:solidFill>
                  <a:srgbClr val="434343"/>
                </a:solidFill>
                <a:latin typeface="Inter"/>
              </a:rPr>
              <a:t> dari token</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Riwayat order orang lain hanya untuk </a:t>
            </a:r>
            <a:r>
              <a:rPr sz="900" b="0" i="0">
                <a:solidFill>
                  <a:srgbClr val="B5482A"/>
                </a:solidFill>
                <a:latin typeface="Inconsolata"/>
              </a:rPr>
              <a:t>orders:all</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get</a:t>
            </a:r>
            <a:r>
              <a:rPr sz="900" b="0" i="0">
                <a:solidFill>
                  <a:srgbClr val="434343"/>
                </a:solidFill>
                <a:latin typeface="Inter"/>
              </a:rPr>
              <a:t>, </a:t>
            </a:r>
            <a:r>
              <a:rPr sz="900" b="0" i="0">
                <a:solidFill>
                  <a:srgbClr val="B5482A"/>
                </a:solidFill>
                <a:latin typeface="Inconsolata"/>
              </a:rPr>
              <a:t>pay</a:t>
            </a:r>
            <a:r>
              <a:rPr sz="900" b="0" i="0">
                <a:solidFill>
                  <a:srgbClr val="434343"/>
                </a:solidFill>
                <a:latin typeface="Inter"/>
              </a:rPr>
              <a:t>, </a:t>
            </a:r>
            <a:r>
              <a:rPr sz="900" b="0" i="0">
                <a:solidFill>
                  <a:srgbClr val="B5482A"/>
                </a:solidFill>
                <a:latin typeface="Inconsolata"/>
              </a:rPr>
              <a:t>cancel</a:t>
            </a:r>
            <a:r>
              <a:rPr sz="900" b="0" i="0">
                <a:solidFill>
                  <a:srgbClr val="434343"/>
                </a:solidFill>
                <a:latin typeface="Inter"/>
              </a:rPr>
              <a:t> memakai </a:t>
            </a:r>
            <a:r>
              <a:rPr sz="900" b="0" i="0">
                <a:solidFill>
                  <a:srgbClr val="B5482A"/>
                </a:solidFill>
                <a:latin typeface="Inconsolata"/>
              </a:rPr>
              <a:t>_get_order</a:t>
            </a:r>
            <a:r>
              <a:rPr sz="900" b="0" i="0">
                <a:solidFill>
                  <a:srgbClr val="434343"/>
                </a:solidFill>
                <a:latin typeface="Inter"/>
              </a:rPr>
              <a:t> yang sama (contoh 01)</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Aturan akses ada di use case.</a:t>
            </a: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8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Schema ketat dan error 401/403</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api/schemas.py  +  api/errors.py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5820"/>
              </a:lnSpc>
              <a:spcAft>
                <a:spcPts val="0"/>
              </a:spcAft>
            </a:pPr>
            <a:r>
              <a:rPr sz="630" i="1">
                <a:solidFill>
                  <a:srgbClr val="8B98A8"/>
                </a:solidFill>
                <a:latin typeface="Inconsolata"/>
              </a:rPr>
              <a:t># app/api/schemas.py</a:t>
            </a:r>
          </a:p>
          <a:p>
            <a:pPr>
              <a:lnSpc>
                <a:spcPct val="105820"/>
              </a:lnSpc>
              <a:spcAft>
                <a:spcPts val="0"/>
              </a:spcAft>
            </a:pPr>
            <a:r>
              <a:rPr sz="630" i="0">
                <a:solidFill>
                  <a:srgbClr val="FF8E6E"/>
                </a:solidFill>
                <a:latin typeface="Inconsolata"/>
              </a:rPr>
              <a:t>class</a:t>
            </a:r>
            <a:r>
              <a:rPr sz="630" i="0">
                <a:solidFill>
                  <a:srgbClr val="E6EDF3"/>
                </a:solidFill>
                <a:latin typeface="Inconsolata"/>
              </a:rPr>
              <a:t> </a:t>
            </a:r>
            <a:r>
              <a:rPr sz="630" i="0">
                <a:solidFill>
                  <a:srgbClr val="7FDBCA"/>
                </a:solidFill>
                <a:latin typeface="Inconsolata"/>
              </a:rPr>
              <a:t>OrderIn</a:t>
            </a:r>
            <a:r>
              <a:rPr sz="630" i="0">
                <a:solidFill>
                  <a:srgbClr val="E6EDF3"/>
                </a:solidFill>
                <a:latin typeface="Inconsolata"/>
              </a:rPr>
              <a:t>(</a:t>
            </a:r>
            <a:r>
              <a:rPr sz="630" i="0">
                <a:solidFill>
                  <a:srgbClr val="7FDBCA"/>
                </a:solidFill>
                <a:latin typeface="Inconsolata"/>
              </a:rPr>
              <a:t>BaseModel</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A5D6A7"/>
                </a:solidFill>
                <a:latin typeface="Inconsolata"/>
              </a:rPr>
              <a:t>"""customer dan customer_type tidak ada di sini: diambil dari token user yang login."""</a:t>
            </a:r>
          </a:p>
          <a:p>
            <a:pPr>
              <a:lnSpc>
                <a:spcPct val="105820"/>
              </a:lnSpc>
              <a:spcAft>
                <a:spcPts val="0"/>
              </a:spcAft>
            </a:pPr>
            <a:r>
              <a:rPr sz="630" i="0">
                <a:solidFill>
                  <a:srgbClr val="E6EDF3"/>
                </a:solidFill>
                <a:latin typeface="Inconsolata"/>
              </a:rPr>
              <a:t>    model_config = </a:t>
            </a:r>
            <a:r>
              <a:rPr sz="630" i="0">
                <a:solidFill>
                  <a:srgbClr val="7FDBCA"/>
                </a:solidFill>
                <a:latin typeface="Inconsolata"/>
              </a:rPr>
              <a:t>ConfigDict</a:t>
            </a:r>
            <a:r>
              <a:rPr sz="630" i="0">
                <a:solidFill>
                  <a:srgbClr val="E6EDF3"/>
                </a:solidFill>
                <a:latin typeface="Inconsolata"/>
              </a:rPr>
              <a:t>(extra=</a:t>
            </a:r>
            <a:r>
              <a:rPr sz="630" i="0">
                <a:solidFill>
                  <a:srgbClr val="A5D6A7"/>
                </a:solidFill>
                <a:latin typeface="Inconsolata"/>
              </a:rPr>
              <a:t>"forbid"</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p>
          <a:p>
            <a:pPr>
              <a:lnSpc>
                <a:spcPct val="105820"/>
              </a:lnSpc>
              <a:spcAft>
                <a:spcPts val="0"/>
              </a:spcAft>
            </a:pPr>
            <a:r>
              <a:rPr sz="630" i="0">
                <a:solidFill>
                  <a:srgbClr val="E6EDF3"/>
                </a:solidFill>
                <a:latin typeface="Inconsolata"/>
              </a:rPr>
              <a:t>    items: </a:t>
            </a:r>
            <a:r>
              <a:rPr sz="630" i="0">
                <a:solidFill>
                  <a:srgbClr val="C3A6FF"/>
                </a:solidFill>
                <a:latin typeface="Inconsolata"/>
              </a:rPr>
              <a:t>list</a:t>
            </a:r>
            <a:r>
              <a:rPr sz="630" i="0">
                <a:solidFill>
                  <a:srgbClr val="E6EDF3"/>
                </a:solidFill>
                <a:latin typeface="Inconsolata"/>
              </a:rPr>
              <a:t>[</a:t>
            </a:r>
            <a:r>
              <a:rPr sz="630" i="0">
                <a:solidFill>
                  <a:srgbClr val="7FDBCA"/>
                </a:solidFill>
                <a:latin typeface="Inconsolata"/>
              </a:rPr>
              <a:t>OrderItemIn</a:t>
            </a:r>
            <a:r>
              <a:rPr sz="630" i="0">
                <a:solidFill>
                  <a:srgbClr val="E6EDF3"/>
                </a:solidFill>
                <a:latin typeface="Inconsolata"/>
              </a:rPr>
              <a:t>] = </a:t>
            </a:r>
            <a:r>
              <a:rPr sz="630" i="0">
                <a:solidFill>
                  <a:srgbClr val="7FDBCA"/>
                </a:solidFill>
                <a:latin typeface="Inconsolata"/>
              </a:rPr>
              <a:t>Field</a:t>
            </a:r>
            <a:r>
              <a:rPr sz="630" i="0">
                <a:solidFill>
                  <a:srgbClr val="E6EDF3"/>
                </a:solidFill>
                <a:latin typeface="Inconsolata"/>
              </a:rPr>
              <a:t>(min_length=</a:t>
            </a:r>
            <a:r>
              <a:rPr sz="630" i="0">
                <a:solidFill>
                  <a:srgbClr val="F9C97A"/>
                </a:solidFill>
                <a:latin typeface="Inconsolata"/>
              </a:rPr>
              <a:t>1</a:t>
            </a:r>
            <a:r>
              <a:rPr sz="630" i="0">
                <a:solidFill>
                  <a:srgbClr val="E6EDF3"/>
                </a:solidFill>
                <a:latin typeface="Inconsolata"/>
              </a:rPr>
              <a:t>, max_length=</a:t>
            </a:r>
            <a:r>
              <a:rPr sz="630" i="0">
                <a:solidFill>
                  <a:srgbClr val="F9C97A"/>
                </a:solidFill>
                <a:latin typeface="Inconsolata"/>
              </a:rPr>
              <a:t>50</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p>
          <a:p>
            <a:pPr>
              <a:lnSpc>
                <a:spcPct val="105820"/>
              </a:lnSpc>
              <a:spcAft>
                <a:spcPts val="0"/>
              </a:spcAft>
            </a:pPr>
            <a:r>
              <a:rPr sz="630" i="1">
                <a:solidFill>
                  <a:srgbClr val="8B98A8"/>
                </a:solidFill>
                <a:latin typeface="Inconsolata"/>
              </a:rPr>
              <a:t># app/api/errors.py</a:t>
            </a:r>
          </a:p>
          <a:p>
            <a:pPr>
              <a:lnSpc>
                <a:spcPct val="105820"/>
              </a:lnSpc>
              <a:spcAft>
                <a:spcPts val="0"/>
              </a:spcAft>
            </a:pPr>
            <a:r>
              <a:rPr sz="630" i="0">
                <a:solidFill>
                  <a:srgbClr val="FF8E6E"/>
                </a:solidFill>
                <a:latin typeface="Inconsolata"/>
              </a:rPr>
              <a:t>async</a:t>
            </a:r>
            <a:r>
              <a:rPr sz="630" i="0">
                <a:solidFill>
                  <a:srgbClr val="E6EDF3"/>
                </a:solidFill>
                <a:latin typeface="Inconsolata"/>
              </a:rPr>
              <a:t> </a:t>
            </a:r>
            <a:r>
              <a:rPr sz="630" i="0">
                <a:solidFill>
                  <a:srgbClr val="FF8E6E"/>
                </a:solidFill>
                <a:latin typeface="Inconsolata"/>
              </a:rPr>
              <a:t>def</a:t>
            </a:r>
            <a:r>
              <a:rPr sz="630" i="0">
                <a:solidFill>
                  <a:srgbClr val="E6EDF3"/>
                </a:solidFill>
                <a:latin typeface="Inconsolata"/>
              </a:rPr>
              <a:t> </a:t>
            </a:r>
            <a:r>
              <a:rPr sz="630" i="0">
                <a:solidFill>
                  <a:srgbClr val="82B1FF"/>
                </a:solidFill>
                <a:latin typeface="Inconsolata"/>
              </a:rPr>
              <a:t>handle_unauthorized</a:t>
            </a:r>
            <a:r>
              <a:rPr sz="630" i="0">
                <a:solidFill>
                  <a:srgbClr val="E6EDF3"/>
                </a:solidFill>
                <a:latin typeface="Inconsolata"/>
              </a:rPr>
              <a:t>(request: </a:t>
            </a:r>
            <a:r>
              <a:rPr sz="630" i="0">
                <a:solidFill>
                  <a:srgbClr val="7FDBCA"/>
                </a:solidFill>
                <a:latin typeface="Inconsolata"/>
              </a:rPr>
              <a:t>Request</a:t>
            </a:r>
            <a:r>
              <a:rPr sz="630" i="0">
                <a:solidFill>
                  <a:srgbClr val="E6EDF3"/>
                </a:solidFill>
                <a:latin typeface="Inconsolata"/>
              </a:rPr>
              <a:t>, exc: </a:t>
            </a:r>
            <a:r>
              <a:rPr sz="630" i="0">
                <a:solidFill>
                  <a:srgbClr val="7FDBCA"/>
                </a:solidFill>
                <a:latin typeface="Inconsolata"/>
              </a:rPr>
              <a:t>InvalidCredentials</a:t>
            </a:r>
            <a:r>
              <a:rPr sz="630" i="0">
                <a:solidFill>
                  <a:srgbClr val="E6EDF3"/>
                </a:solidFill>
                <a:latin typeface="Inconsolata"/>
              </a:rPr>
              <a:t> | </a:t>
            </a:r>
            <a:r>
              <a:rPr sz="630" i="0">
                <a:solidFill>
                  <a:srgbClr val="7FDBCA"/>
                </a:solidFill>
                <a:latin typeface="Inconsolata"/>
              </a:rPr>
              <a:t>InvalidToken</a:t>
            </a:r>
            <a:r>
              <a:rPr sz="630" i="0">
                <a:solidFill>
                  <a:srgbClr val="E6EDF3"/>
                </a:solidFill>
                <a:latin typeface="Inconsolata"/>
              </a:rPr>
              <a:t>) -&gt; </a:t>
            </a:r>
            <a:r>
              <a:rPr sz="630" i="0">
                <a:solidFill>
                  <a:srgbClr val="7FDBCA"/>
                </a:solidFill>
                <a:latin typeface="Inconsolata"/>
              </a:rPr>
              <a:t>JSONResponse</a:t>
            </a:r>
            <a:r>
              <a:rPr sz="630" i="0">
                <a:solidFill>
                  <a:srgbClr val="E6EDF3"/>
                </a:solidFill>
                <a:latin typeface="Inconsolata"/>
              </a:rPr>
              <a:t>:</a:t>
            </a:r>
          </a:p>
          <a:p>
            <a:pPr>
              <a:lnSpc>
                <a:spcPct val="105820"/>
              </a:lnSpc>
              <a:spcAft>
                <a:spcPts val="0"/>
              </a:spcAft>
            </a:pPr>
            <a:r>
              <a:rPr sz="630" i="0">
                <a:solidFill>
                  <a:srgbClr val="E6EDF3"/>
                </a:solidFill>
                <a:latin typeface="Inconsolata"/>
              </a:rPr>
              <a:t>    response = client_error(request, </a:t>
            </a:r>
            <a:r>
              <a:rPr sz="630" i="0">
                <a:solidFill>
                  <a:srgbClr val="F9C97A"/>
                </a:solidFill>
                <a:latin typeface="Inconsolata"/>
              </a:rPr>
              <a:t>401</a:t>
            </a:r>
            <a:r>
              <a:rPr sz="630" i="0">
                <a:solidFill>
                  <a:srgbClr val="E6EDF3"/>
                </a:solidFill>
                <a:latin typeface="Inconsolata"/>
              </a:rPr>
              <a:t>, exc.code, </a:t>
            </a:r>
            <a:r>
              <a:rPr sz="630" i="0">
                <a:solidFill>
                  <a:srgbClr val="C3A6FF"/>
                </a:solidFill>
                <a:latin typeface="Inconsolata"/>
              </a:rPr>
              <a:t>str</a:t>
            </a:r>
            <a:r>
              <a:rPr sz="630" i="0">
                <a:solidFill>
                  <a:srgbClr val="E6EDF3"/>
                </a:solidFill>
                <a:latin typeface="Inconsolata"/>
              </a:rPr>
              <a:t>(exc))</a:t>
            </a:r>
          </a:p>
          <a:p>
            <a:pPr>
              <a:lnSpc>
                <a:spcPct val="105820"/>
              </a:lnSpc>
              <a:spcAft>
                <a:spcPts val="0"/>
              </a:spcAft>
            </a:pPr>
            <a:r>
              <a:rPr sz="630" i="0">
                <a:solidFill>
                  <a:srgbClr val="E6EDF3"/>
                </a:solidFill>
                <a:latin typeface="Inconsolata"/>
              </a:rPr>
              <a:t>    response.headers[</a:t>
            </a:r>
            <a:r>
              <a:rPr sz="630" i="0">
                <a:solidFill>
                  <a:srgbClr val="A5D6A7"/>
                </a:solidFill>
                <a:latin typeface="Inconsolata"/>
              </a:rPr>
              <a:t>"WWW-Authenticate"</a:t>
            </a:r>
            <a:r>
              <a:rPr sz="630" i="0">
                <a:solidFill>
                  <a:srgbClr val="E6EDF3"/>
                </a:solidFill>
                <a:latin typeface="Inconsolata"/>
              </a:rPr>
              <a:t>] = </a:t>
            </a:r>
            <a:r>
              <a:rPr sz="630" i="0">
                <a:solidFill>
                  <a:srgbClr val="A5D6A7"/>
                </a:solidFill>
                <a:latin typeface="Inconsolata"/>
              </a:rPr>
              <a:t>"Bearer"</a:t>
            </a:r>
            <a:r>
              <a:rPr sz="630" i="0">
                <a:solidFill>
                  <a:srgbClr val="E6EDF3"/>
                </a:solidFill>
                <a:latin typeface="Inconsolata"/>
              </a:rPr>
              <a:t>           </a:t>
            </a:r>
            <a:r>
              <a:rPr sz="630" i="1">
                <a:solidFill>
                  <a:srgbClr val="8B98A8"/>
                </a:solidFill>
                <a:latin typeface="Inconsolata"/>
              </a:rPr>
              <a:t># standar OAuth2: cara login yang diharapkan</a:t>
            </a:r>
          </a:p>
          <a:p>
            <a:pPr>
              <a:lnSpc>
                <a:spcPct val="105820"/>
              </a:lnSpc>
              <a:spcAft>
                <a:spcPts val="0"/>
              </a:spcAft>
            </a:pPr>
            <a:r>
              <a:rPr sz="630" i="0">
                <a:solidFill>
                  <a:srgbClr val="E6EDF3"/>
                </a:solidFill>
                <a:latin typeface="Inconsolata"/>
              </a:rPr>
              <a:t>    </a:t>
            </a:r>
            <a:r>
              <a:rPr sz="630" i="0">
                <a:solidFill>
                  <a:srgbClr val="FF8E6E"/>
                </a:solidFill>
                <a:latin typeface="Inconsolata"/>
              </a:rPr>
              <a:t>return</a:t>
            </a:r>
            <a:r>
              <a:rPr sz="630" i="0">
                <a:solidFill>
                  <a:srgbClr val="E6EDF3"/>
                </a:solidFill>
                <a:latin typeface="Inconsolata"/>
              </a:rPr>
              <a:t> response</a:t>
            </a:r>
          </a:p>
          <a:p>
            <a:pPr>
              <a:lnSpc>
                <a:spcPct val="105820"/>
              </a:lnSpc>
              <a:spcAft>
                <a:spcPts val="0"/>
              </a:spcAft>
            </a:pPr>
            <a:r>
              <a:rPr sz="630" i="0">
                <a:solidFill>
                  <a:srgbClr val="E6EDF3"/>
                </a:solidFill>
                <a:latin typeface="Inconsolata"/>
              </a:rPr>
              <a:t> </a:t>
            </a:r>
          </a:p>
          <a:p>
            <a:pPr>
              <a:lnSpc>
                <a:spcPct val="105820"/>
              </a:lnSpc>
              <a:spcAft>
                <a:spcPts val="0"/>
              </a:spcAft>
            </a:pPr>
            <a:r>
              <a:rPr sz="630" i="0">
                <a:solidFill>
                  <a:srgbClr val="FF8E6E"/>
                </a:solidFill>
                <a:latin typeface="Inconsolata"/>
              </a:rPr>
              <a:t>async</a:t>
            </a:r>
            <a:r>
              <a:rPr sz="630" i="0">
                <a:solidFill>
                  <a:srgbClr val="E6EDF3"/>
                </a:solidFill>
                <a:latin typeface="Inconsolata"/>
              </a:rPr>
              <a:t> </a:t>
            </a:r>
            <a:r>
              <a:rPr sz="630" i="0">
                <a:solidFill>
                  <a:srgbClr val="FF8E6E"/>
                </a:solidFill>
                <a:latin typeface="Inconsolata"/>
              </a:rPr>
              <a:t>def</a:t>
            </a:r>
            <a:r>
              <a:rPr sz="630" i="0">
                <a:solidFill>
                  <a:srgbClr val="E6EDF3"/>
                </a:solidFill>
                <a:latin typeface="Inconsolata"/>
              </a:rPr>
              <a:t> </a:t>
            </a:r>
            <a:r>
              <a:rPr sz="630" i="0">
                <a:solidFill>
                  <a:srgbClr val="82B1FF"/>
                </a:solidFill>
                <a:latin typeface="Inconsolata"/>
              </a:rPr>
              <a:t>handle_forbidden</a:t>
            </a:r>
            <a:r>
              <a:rPr sz="630" i="0">
                <a:solidFill>
                  <a:srgbClr val="E6EDF3"/>
                </a:solidFill>
                <a:latin typeface="Inconsolata"/>
              </a:rPr>
              <a:t>(request: </a:t>
            </a:r>
            <a:r>
              <a:rPr sz="630" i="0">
                <a:solidFill>
                  <a:srgbClr val="7FDBCA"/>
                </a:solidFill>
                <a:latin typeface="Inconsolata"/>
              </a:rPr>
              <a:t>Request</a:t>
            </a:r>
            <a:r>
              <a:rPr sz="630" i="0">
                <a:solidFill>
                  <a:srgbClr val="E6EDF3"/>
                </a:solidFill>
                <a:latin typeface="Inconsolata"/>
              </a:rPr>
              <a:t>, exc: </a:t>
            </a:r>
            <a:r>
              <a:rPr sz="630" i="0">
                <a:solidFill>
                  <a:srgbClr val="7FDBCA"/>
                </a:solidFill>
                <a:latin typeface="Inconsolata"/>
              </a:rPr>
              <a:t>AccessDenied</a:t>
            </a:r>
            <a:r>
              <a:rPr sz="630" i="0">
                <a:solidFill>
                  <a:srgbClr val="E6EDF3"/>
                </a:solidFill>
                <a:latin typeface="Inconsolata"/>
              </a:rPr>
              <a:t>) -&gt; </a:t>
            </a:r>
            <a:r>
              <a:rPr sz="630" i="0">
                <a:solidFill>
                  <a:srgbClr val="7FDBCA"/>
                </a:solidFill>
                <a:latin typeface="Inconsolata"/>
              </a:rPr>
              <a:t>JSONResponse</a:t>
            </a:r>
            <a:r>
              <a:rPr sz="630" i="0">
                <a:solidFill>
                  <a:srgbClr val="E6EDF3"/>
                </a:solidFill>
                <a:latin typeface="Inconsolata"/>
              </a:rPr>
              <a:t>:</a:t>
            </a:r>
          </a:p>
          <a:p>
            <a:pPr>
              <a:lnSpc>
                <a:spcPct val="105820"/>
              </a:lnSpc>
              <a:spcAft>
                <a:spcPts val="0"/>
              </a:spcAft>
            </a:pPr>
            <a:r>
              <a:rPr sz="630" i="0">
                <a:solidFill>
                  <a:srgbClr val="E6EDF3"/>
                </a:solidFill>
                <a:latin typeface="Inconsolata"/>
              </a:rPr>
              <a:t>    </a:t>
            </a:r>
            <a:r>
              <a:rPr sz="630" i="0">
                <a:solidFill>
                  <a:srgbClr val="FF8E6E"/>
                </a:solidFill>
                <a:latin typeface="Inconsolata"/>
              </a:rPr>
              <a:t>return</a:t>
            </a:r>
            <a:r>
              <a:rPr sz="630" i="0">
                <a:solidFill>
                  <a:srgbClr val="E6EDF3"/>
                </a:solidFill>
                <a:latin typeface="Inconsolata"/>
              </a:rPr>
              <a:t> client_error(request, </a:t>
            </a:r>
            <a:r>
              <a:rPr sz="630" i="0">
                <a:solidFill>
                  <a:srgbClr val="F9C97A"/>
                </a:solidFill>
                <a:latin typeface="Inconsolata"/>
              </a:rPr>
              <a:t>403</a:t>
            </a:r>
            <a:r>
              <a:rPr sz="630" i="0">
                <a:solidFill>
                  <a:srgbClr val="E6EDF3"/>
                </a:solidFill>
                <a:latin typeface="Inconsolata"/>
              </a:rPr>
              <a:t>, exc.code, </a:t>
            </a:r>
            <a:r>
              <a:rPr sz="630" i="0">
                <a:solidFill>
                  <a:srgbClr val="C3A6FF"/>
                </a:solidFill>
                <a:latin typeface="Inconsolata"/>
              </a:rPr>
              <a:t>str</a:t>
            </a:r>
            <a:r>
              <a:rPr sz="630" i="0">
                <a:solidFill>
                  <a:srgbClr val="E6EDF3"/>
                </a:solidFill>
                <a:latin typeface="Inconsolata"/>
              </a:rPr>
              <a:t>(exc))</a:t>
            </a:r>
          </a:p>
        </p:txBody>
      </p:sp>
      <p:sp>
        <p:nvSpPr>
          <p:cNvPr id="29" name="Box 12"/>
          <p:cNvSpPr/>
          <p:nvPr/>
        </p:nvSpPr>
        <p:spPr>
          <a:xfrm>
            <a:off x="704088" y="1925320"/>
            <a:ext cx="5230368" cy="501904"/>
          </a:xfrm>
          <a:prstGeom prst="roundRect">
            <a:avLst>
              <a:gd name="adj" fmla="val 9109"/>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0574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636520"/>
            <a:ext cx="5230368" cy="400304"/>
          </a:xfrm>
          <a:prstGeom prst="roundRect">
            <a:avLst>
              <a:gd name="adj" fmla="val 11421"/>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717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144520"/>
            <a:ext cx="5230368" cy="197104"/>
          </a:xfrm>
          <a:prstGeom prst="roundRect">
            <a:avLst>
              <a:gd name="adj" fmla="val 23195"/>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312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Text 19"/>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7" name="Text 20"/>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customer</a:t>
            </a:r>
            <a:r>
              <a:rPr sz="900" b="0" i="0">
                <a:solidFill>
                  <a:srgbClr val="434343"/>
                </a:solidFill>
                <a:latin typeface="Inter"/>
              </a:rPr>
              <a:t> dan </a:t>
            </a:r>
            <a:r>
              <a:rPr sz="900" b="0" i="0">
                <a:solidFill>
                  <a:srgbClr val="B5482A"/>
                </a:solidFill>
                <a:latin typeface="Inconsolata"/>
              </a:rPr>
              <a:t>customer_type</a:t>
            </a:r>
            <a:r>
              <a:rPr sz="900" b="0" i="0">
                <a:solidFill>
                  <a:srgbClr val="434343"/>
                </a:solidFill>
                <a:latin typeface="Inter"/>
              </a:rPr>
              <a:t> dihapus, field lain ditolak (contoh 08)</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401 dengan header </a:t>
            </a:r>
            <a:r>
              <a:rPr sz="900" b="0" i="0">
                <a:solidFill>
                  <a:srgbClr val="B5482A"/>
                </a:solidFill>
                <a:latin typeface="Inconsolata"/>
              </a:rPr>
              <a:t>WWW-Authenticate</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403 untuk scope yang kurang</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ProductIn</a:t>
            </a:r>
            <a:r>
              <a:rPr sz="900" b="0" i="0">
                <a:solidFill>
                  <a:srgbClr val="434343"/>
                </a:solidFill>
                <a:latin typeface="Inter"/>
              </a:rPr>
              <a:t> dan </a:t>
            </a:r>
            <a:r>
              <a:rPr sz="900" b="0" i="0">
                <a:solidFill>
                  <a:srgbClr val="B5482A"/>
                </a:solidFill>
                <a:latin typeface="Inconsolata"/>
              </a:rPr>
              <a:t>OrderItemIn</a:t>
            </a:r>
            <a:r>
              <a:rPr sz="900" b="0" i="0">
                <a:solidFill>
                  <a:srgbClr val="434343"/>
                </a:solidFill>
                <a:latin typeface="Inter"/>
              </a:rPr>
              <a:t> juga diberi batas nilai</a:t>
            </a:r>
          </a:p>
        </p:txBody>
      </p:sp>
      <p:sp>
        <p:nvSpPr>
          <p:cNvPr id="38" name="Box 21"/>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9" name="Text 22"/>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0" name="Text 23"/>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Format error tetap sama.</a:t>
            </a:r>
          </a:p>
        </p:txBody>
      </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69</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9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Config aman, main.py, dan create_user.py</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config.py  +  main.py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7527"/>
              </a:lnSpc>
              <a:spcAft>
                <a:spcPts val="0"/>
              </a:spcAft>
            </a:pPr>
            <a:r>
              <a:rPr sz="620" i="1">
                <a:solidFill>
                  <a:srgbClr val="8B98A8"/>
                </a:solidFill>
                <a:latin typeface="Inconsolata"/>
              </a:rPr>
              <a:t># app/infrastructure/config.py</a:t>
            </a:r>
          </a:p>
          <a:p>
            <a:pPr>
              <a:lnSpc>
                <a:spcPct val="107527"/>
              </a:lnSpc>
              <a:spcAft>
                <a:spcPts val="0"/>
              </a:spcAft>
            </a:pPr>
            <a:r>
              <a:rPr sz="620" i="0">
                <a:solidFill>
                  <a:srgbClr val="E6EDF3"/>
                </a:solidFill>
                <a:latin typeface="Inconsolata"/>
              </a:rPr>
              <a:t>    jwt_secret: </a:t>
            </a:r>
            <a:r>
              <a:rPr sz="620" i="0">
                <a:solidFill>
                  <a:srgbClr val="C3A6FF"/>
                </a:solidFill>
                <a:latin typeface="Inconsolata"/>
              </a:rPr>
              <a:t>str</a:t>
            </a:r>
            <a:r>
              <a:rPr sz="620" i="0">
                <a:solidFill>
                  <a:srgbClr val="E6EDF3"/>
                </a:solidFill>
                <a:latin typeface="Inconsolata"/>
              </a:rPr>
              <a:t> = field(repr=</a:t>
            </a:r>
            <a:r>
              <a:rPr sz="620" i="0">
                <a:solidFill>
                  <a:srgbClr val="FF8E6E"/>
                </a:solidFill>
                <a:latin typeface="Inconsolata"/>
              </a:rPr>
              <a:t>False</a:t>
            </a:r>
            <a:r>
              <a:rPr sz="620" i="0">
                <a:solidFill>
                  <a:srgbClr val="E6EDF3"/>
                </a:solidFill>
                <a:latin typeface="Inconsolata"/>
              </a:rPr>
              <a:t>)   </a:t>
            </a:r>
            <a:r>
              <a:rPr sz="620" i="1">
                <a:solidFill>
                  <a:srgbClr val="8B98A8"/>
                </a:solidFill>
                <a:latin typeface="Inconsolata"/>
              </a:rPr>
              <a:t># kunci tanda tangan JWT, min. 32 karakter, tidak ikut tercetak</a:t>
            </a:r>
          </a:p>
          <a:p>
            <a:pPr>
              <a:lnSpc>
                <a:spcPct val="107527"/>
              </a:lnSpc>
              <a:spcAft>
                <a:spcPts val="0"/>
              </a:spcAft>
            </a:pPr>
            <a:r>
              <a:rPr sz="620" i="0">
                <a:solidFill>
                  <a:srgbClr val="E6EDF3"/>
                </a:solidFill>
                <a:latin typeface="Inconsolata"/>
              </a:rPr>
              <a:t>...</a:t>
            </a:r>
          </a:p>
          <a:p>
            <a:pPr>
              <a:lnSpc>
                <a:spcPct val="107527"/>
              </a:lnSpc>
              <a:spcAft>
                <a:spcPts val="0"/>
              </a:spcAft>
            </a:pPr>
            <a:r>
              <a:rPr sz="620" i="0">
                <a:solidFill>
                  <a:srgbClr val="FF8E6E"/>
                </a:solidFill>
                <a:latin typeface="Inconsolata"/>
              </a:rPr>
              <a:t>def</a:t>
            </a:r>
            <a:r>
              <a:rPr sz="620" i="0">
                <a:solidFill>
                  <a:srgbClr val="E6EDF3"/>
                </a:solidFill>
                <a:latin typeface="Inconsolata"/>
              </a:rPr>
              <a:t> </a:t>
            </a:r>
            <a:r>
              <a:rPr sz="620" i="0">
                <a:solidFill>
                  <a:srgbClr val="82B1FF"/>
                </a:solidFill>
                <a:latin typeface="Inconsolata"/>
              </a:rPr>
              <a:t>check_api_settings</a:t>
            </a:r>
            <a:r>
              <a:rPr sz="620" i="0">
                <a:solidFill>
                  <a:srgbClr val="E6EDF3"/>
                </a:solidFill>
                <a:latin typeface="Inconsolata"/>
              </a:rPr>
              <a:t>(settings: </a:t>
            </a:r>
            <a:r>
              <a:rPr sz="620" i="0">
                <a:solidFill>
                  <a:srgbClr val="7FDBCA"/>
                </a:solidFill>
                <a:latin typeface="Inconsolata"/>
              </a:rPr>
              <a:t>Settings</a:t>
            </a:r>
            <a:r>
              <a:rPr sz="620" i="0">
                <a:solidFill>
                  <a:srgbClr val="E6EDF3"/>
                </a:solidFill>
                <a:latin typeface="Inconsolata"/>
              </a:rPr>
              <a:t>) -&gt; </a:t>
            </a:r>
            <a:r>
              <a:rPr sz="620" i="0">
                <a:solidFill>
                  <a:srgbClr val="FF8E6E"/>
                </a:solidFill>
                <a:latin typeface="Inconsolata"/>
              </a:rPr>
              <a:t>None</a:t>
            </a:r>
            <a:r>
              <a:rPr sz="620" i="0">
                <a:solidFill>
                  <a:srgbClr val="E6EDF3"/>
                </a:solidFill>
                <a:latin typeface="Inconsolata"/>
              </a:rPr>
              <a:t>:</a:t>
            </a:r>
          </a:p>
          <a:p>
            <a:pPr>
              <a:lnSpc>
                <a:spcPct val="107527"/>
              </a:lnSpc>
              <a:spcAft>
                <a:spcPts val="0"/>
              </a:spcAft>
            </a:pPr>
            <a:r>
              <a:rPr sz="620" i="0">
                <a:solidFill>
                  <a:srgbClr val="E6EDF3"/>
                </a:solidFill>
                <a:latin typeface="Inconsolata"/>
              </a:rPr>
              <a:t>    </a:t>
            </a:r>
            <a:r>
              <a:rPr sz="620" i="0">
                <a:solidFill>
                  <a:srgbClr val="A5D6A7"/>
                </a:solidFill>
                <a:latin typeface="Inconsolata"/>
              </a:rPr>
              <a:t>"""Dipanggil saat API start. Setting yang tidak aman = API gagal start, bukan jalan diam-diam."""</a:t>
            </a:r>
          </a:p>
          <a:p>
            <a:pPr>
              <a:lnSpc>
                <a:spcPct val="107527"/>
              </a:lnSpc>
              <a:spcAft>
                <a:spcPts val="0"/>
              </a:spcAft>
            </a:pPr>
            <a:r>
              <a:rPr sz="620" i="0">
                <a:solidFill>
                  <a:srgbClr val="E6EDF3"/>
                </a:solidFill>
                <a:latin typeface="Inconsolata"/>
              </a:rPr>
              <a:t>    </a:t>
            </a:r>
            <a:r>
              <a:rPr sz="620" i="0">
                <a:solidFill>
                  <a:srgbClr val="FF8E6E"/>
                </a:solidFill>
                <a:latin typeface="Inconsolata"/>
              </a:rPr>
              <a:t>if</a:t>
            </a:r>
            <a:r>
              <a:rPr sz="620" i="0">
                <a:solidFill>
                  <a:srgbClr val="E6EDF3"/>
                </a:solidFill>
                <a:latin typeface="Inconsolata"/>
              </a:rPr>
              <a:t> </a:t>
            </a:r>
            <a:r>
              <a:rPr sz="620" i="0">
                <a:solidFill>
                  <a:srgbClr val="C3A6FF"/>
                </a:solidFill>
                <a:latin typeface="Inconsolata"/>
              </a:rPr>
              <a:t>len</a:t>
            </a:r>
            <a:r>
              <a:rPr sz="620" i="0">
                <a:solidFill>
                  <a:srgbClr val="E6EDF3"/>
                </a:solidFill>
                <a:latin typeface="Inconsolata"/>
              </a:rPr>
              <a:t>(settings.jwt_secret) &lt; </a:t>
            </a:r>
            <a:r>
              <a:rPr sz="620" i="0">
                <a:solidFill>
                  <a:srgbClr val="F9C97A"/>
                </a:solidFill>
                <a:latin typeface="Inconsolata"/>
              </a:rPr>
              <a:t>32</a:t>
            </a:r>
            <a:r>
              <a:rPr sz="620" i="0">
                <a:solidFill>
                  <a:srgbClr val="E6EDF3"/>
                </a:solidFill>
                <a:latin typeface="Inconsolata"/>
              </a:rPr>
              <a:t>:</a:t>
            </a:r>
          </a:p>
          <a:p>
            <a:pPr>
              <a:lnSpc>
                <a:spcPct val="107527"/>
              </a:lnSpc>
              <a:spcAft>
                <a:spcPts val="0"/>
              </a:spcAft>
            </a:pPr>
            <a:r>
              <a:rPr sz="620" i="0">
                <a:solidFill>
                  <a:srgbClr val="E6EDF3"/>
                </a:solidFill>
                <a:latin typeface="Inconsolata"/>
              </a:rPr>
              <a:t>        </a:t>
            </a:r>
            <a:r>
              <a:rPr sz="620" i="0">
                <a:solidFill>
                  <a:srgbClr val="FF8E6E"/>
                </a:solidFill>
                <a:latin typeface="Inconsolata"/>
              </a:rPr>
              <a:t>raise</a:t>
            </a:r>
            <a:r>
              <a:rPr sz="620" i="0">
                <a:solidFill>
                  <a:srgbClr val="E6EDF3"/>
                </a:solidFill>
                <a:latin typeface="Inconsolata"/>
              </a:rPr>
              <a:t> </a:t>
            </a:r>
            <a:r>
              <a:rPr sz="620" i="0">
                <a:solidFill>
                  <a:srgbClr val="7FDBCA"/>
                </a:solidFill>
                <a:latin typeface="Inconsolata"/>
              </a:rPr>
              <a:t>RuntimeError</a:t>
            </a:r>
            <a:r>
              <a:rPr sz="620" i="0">
                <a:solidFill>
                  <a:srgbClr val="E6EDF3"/>
                </a:solidFill>
                <a:latin typeface="Inconsolata"/>
              </a:rPr>
              <a:t>(</a:t>
            </a:r>
            <a:r>
              <a:rPr sz="620" i="0">
                <a:solidFill>
                  <a:srgbClr val="A5D6A7"/>
                </a:solidFill>
                <a:latin typeface="Inconsolata"/>
              </a:rPr>
              <a:t>"JWT_SECRET belum di-set atau kurang dari 32 karakter. "</a:t>
            </a:r>
          </a:p>
          <a:p>
            <a:pPr>
              <a:lnSpc>
                <a:spcPct val="107527"/>
              </a:lnSpc>
              <a:spcAft>
                <a:spcPts val="0"/>
              </a:spcAft>
            </a:pPr>
            <a:r>
              <a:rPr sz="620" i="0">
                <a:solidFill>
                  <a:srgbClr val="E6EDF3"/>
                </a:solidFill>
                <a:latin typeface="Inconsolata"/>
              </a:rPr>
              <a:t> </a:t>
            </a:r>
          </a:p>
          <a:p>
            <a:pPr>
              <a:lnSpc>
                <a:spcPct val="107527"/>
              </a:lnSpc>
              <a:spcAft>
                <a:spcPts val="0"/>
              </a:spcAft>
            </a:pPr>
            <a:r>
              <a:rPr sz="620" i="1">
                <a:solidFill>
                  <a:srgbClr val="8B98A8"/>
                </a:solidFill>
                <a:latin typeface="Inconsolata"/>
              </a:rPr>
              <a:t># app/main.py</a:t>
            </a:r>
          </a:p>
          <a:p>
            <a:pPr>
              <a:lnSpc>
                <a:spcPct val="107527"/>
              </a:lnSpc>
              <a:spcAft>
                <a:spcPts val="0"/>
              </a:spcAft>
            </a:pPr>
            <a:r>
              <a:rPr sz="620" i="0">
                <a:solidFill>
                  <a:srgbClr val="E6EDF3"/>
                </a:solidFill>
                <a:latin typeface="Inconsolata"/>
              </a:rPr>
              <a:t>settings = get_settings()</a:t>
            </a:r>
          </a:p>
          <a:p>
            <a:pPr>
              <a:lnSpc>
                <a:spcPct val="107527"/>
              </a:lnSpc>
              <a:spcAft>
                <a:spcPts val="0"/>
              </a:spcAft>
            </a:pPr>
            <a:r>
              <a:rPr sz="620" i="0">
                <a:solidFill>
                  <a:srgbClr val="E6EDF3"/>
                </a:solidFill>
                <a:latin typeface="Inconsolata"/>
              </a:rPr>
              <a:t>check_api_settings(settings)                     </a:t>
            </a:r>
            <a:r>
              <a:rPr sz="620" i="1">
                <a:solidFill>
                  <a:srgbClr val="8B98A8"/>
                </a:solidFill>
                <a:latin typeface="Inconsolata"/>
              </a:rPr>
              <a:t># JWT_SECRET tidak ada = API gagal start</a:t>
            </a:r>
          </a:p>
          <a:p>
            <a:pPr>
              <a:lnSpc>
                <a:spcPct val="107527"/>
              </a:lnSpc>
              <a:spcAft>
                <a:spcPts val="0"/>
              </a:spcAft>
            </a:pPr>
            <a:r>
              <a:rPr sz="620" i="0">
                <a:solidFill>
                  <a:srgbClr val="E6EDF3"/>
                </a:solidFill>
                <a:latin typeface="Inconsolata"/>
              </a:rPr>
              <a:t>setup_logging(settings.log_level)</a:t>
            </a:r>
          </a:p>
          <a:p>
            <a:pPr>
              <a:lnSpc>
                <a:spcPct val="107527"/>
              </a:lnSpc>
              <a:spcAft>
                <a:spcPts val="0"/>
              </a:spcAft>
            </a:pPr>
            <a:r>
              <a:rPr sz="620" i="0">
                <a:solidFill>
                  <a:srgbClr val="E6EDF3"/>
                </a:solidFill>
                <a:latin typeface="Inconsolata"/>
              </a:rPr>
              <a:t>docs = settings.env == </a:t>
            </a:r>
            <a:r>
              <a:rPr sz="620" i="0">
                <a:solidFill>
                  <a:srgbClr val="A5D6A7"/>
                </a:solidFill>
                <a:latin typeface="Inconsolata"/>
              </a:rPr>
              <a:t>"development"</a:t>
            </a:r>
            <a:r>
              <a:rPr sz="620" i="0">
                <a:solidFill>
                  <a:srgbClr val="E6EDF3"/>
                </a:solidFill>
                <a:latin typeface="Inconsolata"/>
              </a:rPr>
              <a:t>             </a:t>
            </a:r>
            <a:r>
              <a:rPr sz="620" i="1">
                <a:solidFill>
                  <a:srgbClr val="8B98A8"/>
                </a:solidFill>
                <a:latin typeface="Inconsolata"/>
              </a:rPr>
              <a:t># /docs hanya di development</a:t>
            </a:r>
          </a:p>
          <a:p>
            <a:pPr>
              <a:lnSpc>
                <a:spcPct val="107527"/>
              </a:lnSpc>
              <a:spcAft>
                <a:spcPts val="0"/>
              </a:spcAft>
            </a:pPr>
            <a:r>
              <a:rPr sz="620" i="0">
                <a:solidFill>
                  <a:srgbClr val="E6EDF3"/>
                </a:solidFill>
                <a:latin typeface="Inconsolata"/>
              </a:rPr>
              <a:t>...</a:t>
            </a:r>
          </a:p>
          <a:p>
            <a:pPr>
              <a:lnSpc>
                <a:spcPct val="107527"/>
              </a:lnSpc>
              <a:spcAft>
                <a:spcPts val="0"/>
              </a:spcAft>
            </a:pPr>
            <a:r>
              <a:rPr sz="620" i="0">
                <a:solidFill>
                  <a:srgbClr val="E6EDF3"/>
                </a:solidFill>
                <a:latin typeface="Inconsolata"/>
              </a:rPr>
              <a:t>app.add_middleware(</a:t>
            </a:r>
            <a:r>
              <a:rPr sz="620" i="0">
                <a:solidFill>
                  <a:srgbClr val="7FDBCA"/>
                </a:solidFill>
                <a:latin typeface="Inconsolata"/>
              </a:rPr>
              <a:t>CORSMiddleware</a:t>
            </a:r>
            <a:r>
              <a:rPr sz="620" i="0">
                <a:solidFill>
                  <a:srgbClr val="E6EDF3"/>
                </a:solidFill>
                <a:latin typeface="Inconsolata"/>
              </a:rPr>
              <a:t>, allow_origins=settings.cors_origins,      </a:t>
            </a:r>
            <a:r>
              <a:rPr sz="620" i="1">
                <a:solidFill>
                  <a:srgbClr val="8B98A8"/>
                </a:solidFill>
                <a:latin typeface="Inconsolata"/>
              </a:rPr>
              <a:t># kosong = tidak ada</a:t>
            </a:r>
          </a:p>
        </p:txBody>
      </p:sp>
      <p:sp>
        <p:nvSpPr>
          <p:cNvPr id="29" name="Box 12"/>
          <p:cNvSpPr/>
          <p:nvPr/>
        </p:nvSpPr>
        <p:spPr>
          <a:xfrm>
            <a:off x="704088" y="19253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185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128520"/>
            <a:ext cx="5230368" cy="400304"/>
          </a:xfrm>
          <a:prstGeom prst="roundRect">
            <a:avLst>
              <a:gd name="adj" fmla="val 11421"/>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209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30429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815584" y="2971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3246120"/>
            <a:ext cx="523036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8" name="Text 21"/>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Secret dari environment, tidak tercetak (contoh 07)</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API menolak start tanpa secret yang cukup panjang</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/docs</a:t>
            </a:r>
            <a:r>
              <a:rPr sz="900" b="0" i="0">
                <a:solidFill>
                  <a:srgbClr val="434343"/>
                </a:solidFill>
                <a:latin typeface="Inter"/>
              </a:rPr>
              <a:t> dan CORS sesuai environment (contoh 03)</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Buat </a:t>
            </a:r>
            <a:r>
              <a:rPr sz="900" b="0" i="0">
                <a:solidFill>
                  <a:srgbClr val="B5482A"/>
                </a:solidFill>
                <a:latin typeface="Inconsolata"/>
              </a:rPr>
              <a:t>.env</a:t>
            </a:r>
            <a:r>
              <a:rPr sz="900" b="0" i="0">
                <a:solidFill>
                  <a:srgbClr val="434343"/>
                </a:solidFill>
                <a:latin typeface="Inter"/>
              </a:rPr>
              <a:t> dari </a:t>
            </a:r>
            <a:r>
              <a:rPr sz="900" b="0" i="0">
                <a:solidFill>
                  <a:srgbClr val="B5482A"/>
                </a:solidFill>
                <a:latin typeface="Inconsolata"/>
              </a:rPr>
              <a:t>.env.example</a:t>
            </a:r>
            <a:r>
              <a:rPr sz="900" b="0" i="0">
                <a:solidFill>
                  <a:srgbClr val="434343"/>
                </a:solidFill>
                <a:latin typeface="Inter"/>
              </a:rPr>
              <a:t>, lalu </a:t>
            </a:r>
            <a:r>
              <a:rPr sz="900" b="0" i="0">
                <a:solidFill>
                  <a:srgbClr val="B5482A"/>
                </a:solidFill>
                <a:latin typeface="Inconsolata"/>
              </a:rPr>
              <a:t>create_user.py</a:t>
            </a:r>
          </a:p>
        </p:txBody>
      </p:sp>
      <p:sp>
        <p:nvSpPr>
          <p:cNvPr id="39" name="Box 22"/>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0" name="Text 23"/>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41" name="Text 24"/>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Least privilege: consumer tidak butuh secret.</a:t>
            </a:r>
          </a:p>
        </p:txBody>
      </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10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tests/test_security.py</a:t>
            </a:r>
          </a:p>
        </p:txBody>
      </p:sp>
      <p:sp>
        <p:nvSpPr>
          <p:cNvPr id="22" name="CodeTab 4"/>
          <p:cNvSpPr/>
          <p:nvPr/>
        </p:nvSpPr>
        <p:spPr>
          <a:xfrm>
            <a:off x="621792" y="1481328"/>
            <a:ext cx="539496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75488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tests/test_security.py</a:t>
            </a:r>
          </a:p>
        </p:txBody>
      </p:sp>
      <p:sp>
        <p:nvSpPr>
          <p:cNvPr id="27" name="CodeBg 10"/>
          <p:cNvSpPr/>
          <p:nvPr/>
        </p:nvSpPr>
        <p:spPr>
          <a:xfrm>
            <a:off x="621792" y="1719072"/>
            <a:ext cx="539496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394960" cy="2980944"/>
          </a:xfrm>
          <a:prstGeom prst="rect">
            <a:avLst/>
          </a:prstGeom>
          <a:noFill/>
        </p:spPr>
        <p:txBody>
          <a:bodyPr wrap="none" lIns="146304" tIns="91440" rIns="146304" bIns="54864">
            <a:spAutoFit/>
          </a:bodyPr>
          <a:lstStyle/>
          <a:p>
            <a:pPr>
              <a:lnSpc>
                <a:spcPct val="107527"/>
              </a:lnSpc>
              <a:spcAft>
                <a:spcPts val="0"/>
              </a:spcAft>
            </a:pPr>
            <a:r>
              <a:rPr sz="620" i="0">
                <a:solidFill>
                  <a:srgbClr val="FF8E6E"/>
                </a:solidFill>
                <a:latin typeface="Inconsolata"/>
              </a:rPr>
              <a:t>def</a:t>
            </a:r>
            <a:r>
              <a:rPr sz="620" i="0">
                <a:solidFill>
                  <a:srgbClr val="E6EDF3"/>
                </a:solidFill>
                <a:latin typeface="Inconsolata"/>
              </a:rPr>
              <a:t> </a:t>
            </a:r>
            <a:r>
              <a:rPr sz="620" i="0">
                <a:solidFill>
                  <a:srgbClr val="82B1FF"/>
                </a:solidFill>
                <a:latin typeface="Inconsolata"/>
              </a:rPr>
              <a:t>test_token_diubah_jadi_admin_ditolak</a:t>
            </a:r>
            <a:r>
              <a:rPr sz="620" i="0">
                <a:solidFill>
                  <a:srgbClr val="E6EDF3"/>
                </a:solidFill>
                <a:latin typeface="Inconsolata"/>
              </a:rPr>
              <a:t>(client):</a:t>
            </a:r>
          </a:p>
          <a:p>
            <a:pPr>
              <a:lnSpc>
                <a:spcPct val="107527"/>
              </a:lnSpc>
              <a:spcAft>
                <a:spcPts val="0"/>
              </a:spcAft>
            </a:pPr>
            <a:r>
              <a:rPr sz="620" i="0">
                <a:solidFill>
                  <a:srgbClr val="E6EDF3"/>
                </a:solidFill>
                <a:latin typeface="Inconsolata"/>
              </a:rPr>
              <a:t>    token = auth(</a:t>
            </a:r>
            <a:r>
              <a:rPr sz="620" i="0">
                <a:solidFill>
                  <a:srgbClr val="A5D6A7"/>
                </a:solidFill>
                <a:latin typeface="Inconsolata"/>
              </a:rPr>
              <a:t>"budi@mail.com"</a:t>
            </a:r>
            <a:r>
              <a:rPr sz="620" i="0">
                <a:solidFill>
                  <a:srgbClr val="E6EDF3"/>
                </a:solidFill>
                <a:latin typeface="Inconsolata"/>
              </a:rPr>
              <a:t>)[</a:t>
            </a:r>
            <a:r>
              <a:rPr sz="620" i="0">
                <a:solidFill>
                  <a:srgbClr val="A5D6A7"/>
                </a:solidFill>
                <a:latin typeface="Inconsolata"/>
              </a:rPr>
              <a:t>"Authorization"</a:t>
            </a:r>
            <a:r>
              <a:rPr sz="620" i="0">
                <a:solidFill>
                  <a:srgbClr val="E6EDF3"/>
                </a:solidFill>
                <a:latin typeface="Inconsolata"/>
              </a:rPr>
              <a:t>].split()[</a:t>
            </a:r>
            <a:r>
              <a:rPr sz="620" i="0">
                <a:solidFill>
                  <a:srgbClr val="F9C97A"/>
                </a:solidFill>
                <a:latin typeface="Inconsolata"/>
              </a:rPr>
              <a:t>1</a:t>
            </a:r>
            <a:r>
              <a:rPr sz="620" i="0">
                <a:solidFill>
                  <a:srgbClr val="E6EDF3"/>
                </a:solidFill>
                <a:latin typeface="Inconsolata"/>
              </a:rPr>
              <a:t>]</a:t>
            </a:r>
          </a:p>
          <a:p>
            <a:pPr>
              <a:lnSpc>
                <a:spcPct val="107527"/>
              </a:lnSpc>
              <a:spcAft>
                <a:spcPts val="0"/>
              </a:spcAft>
            </a:pPr>
            <a:r>
              <a:rPr sz="620" i="0">
                <a:solidFill>
                  <a:srgbClr val="E6EDF3"/>
                </a:solidFill>
                <a:latin typeface="Inconsolata"/>
              </a:rPr>
              <a:t>    claims = jwt.decode(token, options={</a:t>
            </a:r>
            <a:r>
              <a:rPr sz="620" i="0">
                <a:solidFill>
                  <a:srgbClr val="A5D6A7"/>
                </a:solidFill>
                <a:latin typeface="Inconsolata"/>
              </a:rPr>
              <a:t>"verify_signature"</a:t>
            </a:r>
            <a:r>
              <a:rPr sz="620" i="0">
                <a:solidFill>
                  <a:srgbClr val="E6EDF3"/>
                </a:solidFill>
                <a:latin typeface="Inconsolata"/>
              </a:rPr>
              <a:t>: </a:t>
            </a:r>
            <a:r>
              <a:rPr sz="620" i="0">
                <a:solidFill>
                  <a:srgbClr val="FF8E6E"/>
                </a:solidFill>
                <a:latin typeface="Inconsolata"/>
              </a:rPr>
              <a:t>False</a:t>
            </a:r>
            <a:r>
              <a:rPr sz="620" i="0">
                <a:solidFill>
                  <a:srgbClr val="E6EDF3"/>
                </a:solidFill>
                <a:latin typeface="Inconsolata"/>
              </a:rPr>
              <a:t>})</a:t>
            </a:r>
          </a:p>
          <a:p>
            <a:pPr>
              <a:lnSpc>
                <a:spcPct val="107527"/>
              </a:lnSpc>
              <a:spcAft>
                <a:spcPts val="0"/>
              </a:spcAft>
            </a:pPr>
            <a:r>
              <a:rPr sz="620" i="0">
                <a:solidFill>
                  <a:srgbClr val="E6EDF3"/>
                </a:solidFill>
                <a:latin typeface="Inconsolata"/>
              </a:rPr>
              <a:t>    claims[</a:t>
            </a:r>
            <a:r>
              <a:rPr sz="620" i="0">
                <a:solidFill>
                  <a:srgbClr val="A5D6A7"/>
                </a:solidFill>
                <a:latin typeface="Inconsolata"/>
              </a:rPr>
              <a:t>"scope"</a:t>
            </a:r>
            <a:r>
              <a:rPr sz="620" i="0">
                <a:solidFill>
                  <a:srgbClr val="E6EDF3"/>
                </a:solidFill>
                <a:latin typeface="Inconsolata"/>
              </a:rPr>
              <a:t>] = </a:t>
            </a:r>
            <a:r>
              <a:rPr sz="620" i="0">
                <a:solidFill>
                  <a:srgbClr val="A5D6A7"/>
                </a:solidFill>
                <a:latin typeface="Inconsolata"/>
              </a:rPr>
              <a:t>"orders:write orders:all products:write reports:read"</a:t>
            </a:r>
          </a:p>
          <a:p>
            <a:pPr>
              <a:lnSpc>
                <a:spcPct val="107527"/>
              </a:lnSpc>
              <a:spcAft>
                <a:spcPts val="0"/>
              </a:spcAft>
            </a:pPr>
            <a:r>
              <a:rPr sz="620" i="0">
                <a:solidFill>
                  <a:srgbClr val="E6EDF3"/>
                </a:solidFill>
                <a:latin typeface="Inconsolata"/>
              </a:rPr>
              <a:t>    forged = jwt.encode(claims, </a:t>
            </a:r>
            <a:r>
              <a:rPr sz="620" i="0">
                <a:solidFill>
                  <a:srgbClr val="A5D6A7"/>
                </a:solidFill>
                <a:latin typeface="Inconsolata"/>
              </a:rPr>
              <a:t>"secret-penyerang-yang-juga-panjang-32-karakter"</a:t>
            </a:r>
            <a:r>
              <a:rPr sz="620" i="0">
                <a:solidFill>
                  <a:srgbClr val="E6EDF3"/>
                </a:solidFill>
                <a:latin typeface="Inconsolata"/>
              </a:rPr>
              <a:t>, algorithm=</a:t>
            </a:r>
            <a:r>
              <a:rPr sz="620" i="0">
                <a:solidFill>
                  <a:srgbClr val="A5D6A7"/>
                </a:solidFill>
                <a:latin typeface="Inconsolata"/>
              </a:rPr>
              <a:t>"HS256"</a:t>
            </a:r>
            <a:r>
              <a:rPr sz="620" i="0">
                <a:solidFill>
                  <a:srgbClr val="E6EDF3"/>
                </a:solidFill>
                <a:latin typeface="Inconsolata"/>
              </a:rPr>
              <a:t>)</a:t>
            </a:r>
          </a:p>
          <a:p>
            <a:pPr>
              <a:lnSpc>
                <a:spcPct val="107527"/>
              </a:lnSpc>
              <a:spcAft>
                <a:spcPts val="0"/>
              </a:spcAft>
            </a:pPr>
            <a:r>
              <a:rPr sz="620" i="0">
                <a:solidFill>
                  <a:srgbClr val="E6EDF3"/>
                </a:solidFill>
                <a:latin typeface="Inconsolata"/>
              </a:rPr>
              <a:t>    response = client.get(</a:t>
            </a:r>
            <a:r>
              <a:rPr sz="620" i="0">
                <a:solidFill>
                  <a:srgbClr val="A5D6A7"/>
                </a:solidFill>
                <a:latin typeface="Inconsolata"/>
              </a:rPr>
              <a:t>"/auth/me"</a:t>
            </a:r>
            <a:r>
              <a:rPr sz="620" i="0">
                <a:solidFill>
                  <a:srgbClr val="E6EDF3"/>
                </a:solidFill>
                <a:latin typeface="Inconsolata"/>
              </a:rPr>
              <a:t>, headers={</a:t>
            </a:r>
            <a:r>
              <a:rPr sz="620" i="0">
                <a:solidFill>
                  <a:srgbClr val="A5D6A7"/>
                </a:solidFill>
                <a:latin typeface="Inconsolata"/>
              </a:rPr>
              <a:t>"Authorization"</a:t>
            </a:r>
            <a:r>
              <a:rPr sz="620" i="0">
                <a:solidFill>
                  <a:srgbClr val="E6EDF3"/>
                </a:solidFill>
                <a:latin typeface="Inconsolata"/>
              </a:rPr>
              <a:t>: </a:t>
            </a:r>
            <a:r>
              <a:rPr sz="620" i="0">
                <a:solidFill>
                  <a:srgbClr val="A5D6A7"/>
                </a:solidFill>
                <a:latin typeface="Inconsolata"/>
              </a:rPr>
              <a:t>f"Bearer {forged}"</a:t>
            </a:r>
            <a:r>
              <a:rPr sz="620" i="0">
                <a:solidFill>
                  <a:srgbClr val="E6EDF3"/>
                </a:solidFill>
                <a:latin typeface="Inconsolata"/>
              </a:rPr>
              <a:t>})</a:t>
            </a:r>
          </a:p>
          <a:p>
            <a:pPr>
              <a:lnSpc>
                <a:spcPct val="107527"/>
              </a:lnSpc>
              <a:spcAft>
                <a:spcPts val="0"/>
              </a:spcAft>
            </a:pPr>
            <a:r>
              <a:rPr sz="620" i="0">
                <a:solidFill>
                  <a:srgbClr val="E6EDF3"/>
                </a:solidFill>
                <a:latin typeface="Inconsolata"/>
              </a:rPr>
              <a:t>    </a:t>
            </a:r>
            <a:r>
              <a:rPr sz="620" i="0">
                <a:solidFill>
                  <a:srgbClr val="FF8E6E"/>
                </a:solidFill>
                <a:latin typeface="Inconsolata"/>
              </a:rPr>
              <a:t>assert</a:t>
            </a:r>
            <a:r>
              <a:rPr sz="620" i="0">
                <a:solidFill>
                  <a:srgbClr val="E6EDF3"/>
                </a:solidFill>
                <a:latin typeface="Inconsolata"/>
              </a:rPr>
              <a:t> response.status_code == </a:t>
            </a:r>
            <a:r>
              <a:rPr sz="620" i="0">
                <a:solidFill>
                  <a:srgbClr val="F9C97A"/>
                </a:solidFill>
                <a:latin typeface="Inconsolata"/>
              </a:rPr>
              <a:t>401</a:t>
            </a:r>
          </a:p>
          <a:p>
            <a:pPr>
              <a:lnSpc>
                <a:spcPct val="107527"/>
              </a:lnSpc>
              <a:spcAft>
                <a:spcPts val="0"/>
              </a:spcAft>
            </a:pPr>
            <a:r>
              <a:rPr sz="620" i="0">
                <a:solidFill>
                  <a:srgbClr val="E6EDF3"/>
                </a:solidFill>
                <a:latin typeface="Inconsolata"/>
              </a:rPr>
              <a:t>...</a:t>
            </a:r>
          </a:p>
          <a:p>
            <a:pPr>
              <a:lnSpc>
                <a:spcPct val="107527"/>
              </a:lnSpc>
              <a:spcAft>
                <a:spcPts val="0"/>
              </a:spcAft>
            </a:pPr>
            <a:r>
              <a:rPr sz="620" i="0">
                <a:solidFill>
                  <a:srgbClr val="FF8E6E"/>
                </a:solidFill>
                <a:latin typeface="Inconsolata"/>
              </a:rPr>
              <a:t>def</a:t>
            </a:r>
            <a:r>
              <a:rPr sz="620" i="0">
                <a:solidFill>
                  <a:srgbClr val="E6EDF3"/>
                </a:solidFill>
                <a:latin typeface="Inconsolata"/>
              </a:rPr>
              <a:t> </a:t>
            </a:r>
            <a:r>
              <a:rPr sz="620" i="0">
                <a:solidFill>
                  <a:srgbClr val="82B1FF"/>
                </a:solidFill>
                <a:latin typeface="Inconsolata"/>
              </a:rPr>
              <a:t>test_customer_lain_tidak_bisa_akses_order</a:t>
            </a:r>
            <a:r>
              <a:rPr sz="620" i="0">
                <a:solidFill>
                  <a:srgbClr val="E6EDF3"/>
                </a:solidFill>
                <a:latin typeface="Inconsolata"/>
              </a:rPr>
              <a:t>(client):</a:t>
            </a:r>
          </a:p>
          <a:p>
            <a:pPr>
              <a:lnSpc>
                <a:spcPct val="107527"/>
              </a:lnSpc>
              <a:spcAft>
                <a:spcPts val="0"/>
              </a:spcAft>
            </a:pPr>
            <a:r>
              <a:rPr sz="620" i="0">
                <a:solidFill>
                  <a:srgbClr val="E6EDF3"/>
                </a:solidFill>
                <a:latin typeface="Inconsolata"/>
              </a:rPr>
              <a:t>    order_id = client.post(</a:t>
            </a:r>
            <a:r>
              <a:rPr sz="620" i="0">
                <a:solidFill>
                  <a:srgbClr val="A5D6A7"/>
                </a:solidFill>
                <a:latin typeface="Inconsolata"/>
              </a:rPr>
              <a:t>"/orders"</a:t>
            </a:r>
            <a:r>
              <a:rPr sz="620" i="0">
                <a:solidFill>
                  <a:srgbClr val="E6EDF3"/>
                </a:solidFill>
                <a:latin typeface="Inconsolata"/>
              </a:rPr>
              <a:t>, json=order((</a:t>
            </a:r>
            <a:r>
              <a:rPr sz="620" i="0">
                <a:solidFill>
                  <a:srgbClr val="F9C97A"/>
                </a:solidFill>
                <a:latin typeface="Inconsolata"/>
              </a:rPr>
              <a:t>1</a:t>
            </a:r>
            <a:r>
              <a:rPr sz="620" i="0">
                <a:solidFill>
                  <a:srgbClr val="E6EDF3"/>
                </a:solidFill>
                <a:latin typeface="Inconsolata"/>
              </a:rPr>
              <a:t>, </a:t>
            </a:r>
            <a:r>
              <a:rPr sz="620" i="0">
                <a:solidFill>
                  <a:srgbClr val="F9C97A"/>
                </a:solidFill>
                <a:latin typeface="Inconsolata"/>
              </a:rPr>
              <a:t>1</a:t>
            </a:r>
            <a:r>
              <a:rPr sz="620" i="0">
                <a:solidFill>
                  <a:srgbClr val="E6EDF3"/>
                </a:solidFill>
                <a:latin typeface="Inconsolata"/>
              </a:rPr>
              <a:t>))).json()[</a:t>
            </a:r>
            <a:r>
              <a:rPr sz="620" i="0">
                <a:solidFill>
                  <a:srgbClr val="A5D6A7"/>
                </a:solidFill>
                <a:latin typeface="Inconsolata"/>
              </a:rPr>
              <a:t>"id"</a:t>
            </a:r>
            <a:r>
              <a:rPr sz="620" i="0">
                <a:solidFill>
                  <a:srgbClr val="E6EDF3"/>
                </a:solidFill>
                <a:latin typeface="Inconsolata"/>
              </a:rPr>
              <a:t>]</a:t>
            </a:r>
          </a:p>
          <a:p>
            <a:pPr>
              <a:lnSpc>
                <a:spcPct val="107527"/>
              </a:lnSpc>
              <a:spcAft>
                <a:spcPts val="0"/>
              </a:spcAft>
            </a:pPr>
            <a:r>
              <a:rPr sz="620" i="0">
                <a:solidFill>
                  <a:srgbClr val="E6EDF3"/>
                </a:solidFill>
                <a:latin typeface="Inconsolata"/>
              </a:rPr>
              <a:t>    ani = auth(</a:t>
            </a:r>
            <a:r>
              <a:rPr sz="620" i="0">
                <a:solidFill>
                  <a:srgbClr val="A5D6A7"/>
                </a:solidFill>
                <a:latin typeface="Inconsolata"/>
              </a:rPr>
              <a:t>"ani@mail.com"</a:t>
            </a:r>
            <a:r>
              <a:rPr sz="620" i="0">
                <a:solidFill>
                  <a:srgbClr val="E6EDF3"/>
                </a:solidFill>
                <a:latin typeface="Inconsolata"/>
              </a:rPr>
              <a:t>)</a:t>
            </a:r>
          </a:p>
          <a:p>
            <a:pPr>
              <a:lnSpc>
                <a:spcPct val="107527"/>
              </a:lnSpc>
              <a:spcAft>
                <a:spcPts val="0"/>
              </a:spcAft>
            </a:pPr>
            <a:r>
              <a:rPr sz="620" i="0">
                <a:solidFill>
                  <a:srgbClr val="E6EDF3"/>
                </a:solidFill>
                <a:latin typeface="Inconsolata"/>
              </a:rPr>
              <a:t>    </a:t>
            </a:r>
            <a:r>
              <a:rPr sz="620" i="0">
                <a:solidFill>
                  <a:srgbClr val="FF8E6E"/>
                </a:solidFill>
                <a:latin typeface="Inconsolata"/>
              </a:rPr>
              <a:t>for</a:t>
            </a:r>
            <a:r>
              <a:rPr sz="620" i="0">
                <a:solidFill>
                  <a:srgbClr val="E6EDF3"/>
                </a:solidFill>
                <a:latin typeface="Inconsolata"/>
              </a:rPr>
              <a:t> method, path </a:t>
            </a:r>
            <a:r>
              <a:rPr sz="620" i="0">
                <a:solidFill>
                  <a:srgbClr val="FF8E6E"/>
                </a:solidFill>
                <a:latin typeface="Inconsolata"/>
              </a:rPr>
              <a:t>in</a:t>
            </a:r>
            <a:r>
              <a:rPr sz="620" i="0">
                <a:solidFill>
                  <a:srgbClr val="E6EDF3"/>
                </a:solidFill>
                <a:latin typeface="Inconsolata"/>
              </a:rPr>
              <a:t> [(</a:t>
            </a:r>
            <a:r>
              <a:rPr sz="620" i="0">
                <a:solidFill>
                  <a:srgbClr val="A5D6A7"/>
                </a:solidFill>
                <a:latin typeface="Inconsolata"/>
              </a:rPr>
              <a:t>"GET"</a:t>
            </a:r>
            <a:r>
              <a:rPr sz="620" i="0">
                <a:solidFill>
                  <a:srgbClr val="E6EDF3"/>
                </a:solidFill>
                <a:latin typeface="Inconsolata"/>
              </a:rPr>
              <a:t>, </a:t>
            </a:r>
            <a:r>
              <a:rPr sz="620" i="0">
                <a:solidFill>
                  <a:srgbClr val="A5D6A7"/>
                </a:solidFill>
                <a:latin typeface="Inconsolata"/>
              </a:rPr>
              <a:t>f"/orders/{order_id}"</a:t>
            </a:r>
            <a:r>
              <a:rPr sz="620" i="0">
                <a:solidFill>
                  <a:srgbClr val="E6EDF3"/>
                </a:solidFill>
                <a:latin typeface="Inconsolata"/>
              </a:rPr>
              <a:t>), (</a:t>
            </a:r>
            <a:r>
              <a:rPr sz="620" i="0">
                <a:solidFill>
                  <a:srgbClr val="A5D6A7"/>
                </a:solidFill>
                <a:latin typeface="Inconsolata"/>
              </a:rPr>
              <a:t>"POST"</a:t>
            </a:r>
            <a:r>
              <a:rPr sz="620" i="0">
                <a:solidFill>
                  <a:srgbClr val="E6EDF3"/>
                </a:solidFill>
                <a:latin typeface="Inconsolata"/>
              </a:rPr>
              <a:t>, </a:t>
            </a:r>
            <a:r>
              <a:rPr sz="620" i="0">
                <a:solidFill>
                  <a:srgbClr val="A5D6A7"/>
                </a:solidFill>
                <a:latin typeface="Inconsolata"/>
              </a:rPr>
              <a:t>f"/orders/{order_id}/pay"</a:t>
            </a:r>
            <a:r>
              <a:rPr sz="620" i="0">
                <a:solidFill>
                  <a:srgbClr val="E6EDF3"/>
                </a:solidFill>
                <a:latin typeface="Inconsolata"/>
              </a:rPr>
              <a:t>),</a:t>
            </a:r>
          </a:p>
          <a:p>
            <a:pPr>
              <a:lnSpc>
                <a:spcPct val="107527"/>
              </a:lnSpc>
              <a:spcAft>
                <a:spcPts val="0"/>
              </a:spcAft>
            </a:pPr>
            <a:r>
              <a:rPr sz="620" i="0">
                <a:solidFill>
                  <a:srgbClr val="E6EDF3"/>
                </a:solidFill>
                <a:latin typeface="Inconsolata"/>
              </a:rPr>
              <a:t>                         (</a:t>
            </a:r>
            <a:r>
              <a:rPr sz="620" i="0">
                <a:solidFill>
                  <a:srgbClr val="A5D6A7"/>
                </a:solidFill>
                <a:latin typeface="Inconsolata"/>
              </a:rPr>
              <a:t>"POST"</a:t>
            </a:r>
            <a:r>
              <a:rPr sz="620" i="0">
                <a:solidFill>
                  <a:srgbClr val="E6EDF3"/>
                </a:solidFill>
                <a:latin typeface="Inconsolata"/>
              </a:rPr>
              <a:t>, </a:t>
            </a:r>
            <a:r>
              <a:rPr sz="620" i="0">
                <a:solidFill>
                  <a:srgbClr val="A5D6A7"/>
                </a:solidFill>
                <a:latin typeface="Inconsolata"/>
              </a:rPr>
              <a:t>f"/orders/{order_id}/cancel"</a:t>
            </a:r>
            <a:r>
              <a:rPr sz="620" i="0">
                <a:solidFill>
                  <a:srgbClr val="E6EDF3"/>
                </a:solidFill>
                <a:latin typeface="Inconsolata"/>
              </a:rPr>
              <a:t>)]:</a:t>
            </a:r>
          </a:p>
          <a:p>
            <a:pPr>
              <a:lnSpc>
                <a:spcPct val="107527"/>
              </a:lnSpc>
              <a:spcAft>
                <a:spcPts val="0"/>
              </a:spcAft>
            </a:pPr>
            <a:r>
              <a:rPr sz="620" i="0">
                <a:solidFill>
                  <a:srgbClr val="E6EDF3"/>
                </a:solidFill>
                <a:latin typeface="Inconsolata"/>
              </a:rPr>
              <a:t>        response = client.request(method, path, headers=ani)</a:t>
            </a:r>
          </a:p>
          <a:p>
            <a:pPr>
              <a:lnSpc>
                <a:spcPct val="107527"/>
              </a:lnSpc>
              <a:spcAft>
                <a:spcPts val="0"/>
              </a:spcAft>
            </a:pPr>
            <a:r>
              <a:rPr sz="620" i="0">
                <a:solidFill>
                  <a:srgbClr val="E6EDF3"/>
                </a:solidFill>
                <a:latin typeface="Inconsolata"/>
              </a:rPr>
              <a:t>        </a:t>
            </a:r>
            <a:r>
              <a:rPr sz="620" i="0">
                <a:solidFill>
                  <a:srgbClr val="FF8E6E"/>
                </a:solidFill>
                <a:latin typeface="Inconsolata"/>
              </a:rPr>
              <a:t>assert</a:t>
            </a:r>
            <a:r>
              <a:rPr sz="620" i="0">
                <a:solidFill>
                  <a:srgbClr val="E6EDF3"/>
                </a:solidFill>
                <a:latin typeface="Inconsolata"/>
              </a:rPr>
              <a:t> response.status_code == </a:t>
            </a:r>
            <a:r>
              <a:rPr sz="620" i="0">
                <a:solidFill>
                  <a:srgbClr val="F9C97A"/>
                </a:solidFill>
                <a:latin typeface="Inconsolata"/>
              </a:rPr>
              <a:t>404</a:t>
            </a:r>
            <a:r>
              <a:rPr sz="620" i="0">
                <a:solidFill>
                  <a:srgbClr val="E6EDF3"/>
                </a:solidFill>
                <a:latin typeface="Inconsolata"/>
              </a:rPr>
              <a:t>                </a:t>
            </a:r>
            <a:r>
              <a:rPr sz="620" i="1">
                <a:solidFill>
                  <a:srgbClr val="8B98A8"/>
                </a:solidFill>
                <a:latin typeface="Inconsolata"/>
              </a:rPr>
              <a:t># sama seperti order yang tidak ada</a:t>
            </a:r>
          </a:p>
        </p:txBody>
      </p:sp>
      <p:sp>
        <p:nvSpPr>
          <p:cNvPr id="29" name="Box 12"/>
          <p:cNvSpPr/>
          <p:nvPr/>
        </p:nvSpPr>
        <p:spPr>
          <a:xfrm>
            <a:off x="704088" y="1823720"/>
            <a:ext cx="5230368" cy="705103"/>
          </a:xfrm>
          <a:prstGeom prst="roundRect">
            <a:avLst>
              <a:gd name="adj" fmla="val 6484"/>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815584" y="20574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636520"/>
            <a:ext cx="5230368" cy="705103"/>
          </a:xfrm>
          <a:prstGeom prst="roundRect">
            <a:avLst>
              <a:gd name="adj" fmla="val 6484"/>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815584" y="2870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6172200" y="1481328"/>
            <a:ext cx="2313431" cy="2148840"/>
          </a:xfrm>
          <a:prstGeom prst="roundRect">
            <a:avLst>
              <a:gd name="adj" fmla="val 5106"/>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Text 17"/>
          <p:cNvSpPr txBox="1"/>
          <p:nvPr/>
        </p:nvSpPr>
        <p:spPr>
          <a:xfrm>
            <a:off x="6309360" y="157276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Yang dikerjakan</a:t>
            </a:r>
          </a:p>
        </p:txBody>
      </p:sp>
      <p:sp>
        <p:nvSpPr>
          <p:cNvPr id="35" name="Text 18"/>
          <p:cNvSpPr txBox="1"/>
          <p:nvPr/>
        </p:nvSpPr>
        <p:spPr>
          <a:xfrm>
            <a:off x="6309360" y="1892808"/>
            <a:ext cx="2039111" cy="16459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Token palsu dengan scope admin ditolak</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Ani tidak bisa membaca, membayar, atau membatalkan order Budi</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conftest.py</a:t>
            </a:r>
            <a:r>
              <a:rPr sz="900" b="0" i="0">
                <a:solidFill>
                  <a:srgbClr val="434343"/>
                </a:solidFill>
                <a:latin typeface="Inter"/>
              </a:rPr>
              <a:t>: 3 user, helper </a:t>
            </a:r>
            <a:r>
              <a:rPr sz="900" b="0" i="0">
                <a:solidFill>
                  <a:srgbClr val="B5482A"/>
                </a:solidFill>
                <a:latin typeface="Inconsolata"/>
              </a:rPr>
              <a:t>auth(email)</a:t>
            </a:r>
            <a:r>
              <a:rPr sz="900" b="0" i="0">
                <a:solidFill>
                  <a:srgbClr val="434343"/>
                </a:solidFill>
                <a:latin typeface="Inter"/>
              </a:rPr>
              <a:t>, client default login sebagai budi</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Test lama: </a:t>
            </a:r>
            <a:r>
              <a:rPr sz="900" b="0" i="0">
                <a:solidFill>
                  <a:srgbClr val="B5482A"/>
                </a:solidFill>
                <a:latin typeface="Inconsolata"/>
              </a:rPr>
              <a:t>OrderService</a:t>
            </a:r>
            <a:r>
              <a:rPr sz="900" b="0" i="0">
                <a:solidFill>
                  <a:srgbClr val="434343"/>
                </a:solidFill>
                <a:latin typeface="Inter"/>
              </a:rPr>
              <a:t> dipanggil dengan </a:t>
            </a:r>
            <a:r>
              <a:rPr sz="900" b="0" i="0">
                <a:solidFill>
                  <a:srgbClr val="B5482A"/>
                </a:solidFill>
                <a:latin typeface="Inconsolata"/>
              </a:rPr>
              <a:t>actor</a:t>
            </a:r>
          </a:p>
        </p:txBody>
      </p:sp>
      <p:sp>
        <p:nvSpPr>
          <p:cNvPr id="36" name="Box 19"/>
          <p:cNvSpPr/>
          <p:nvPr/>
        </p:nvSpPr>
        <p:spPr>
          <a:xfrm>
            <a:off x="6172200" y="3721608"/>
            <a:ext cx="2313431" cy="978408"/>
          </a:xfrm>
          <a:prstGeom prst="roundRect">
            <a:avLst>
              <a:gd name="adj" fmla="val 11214"/>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7" name="Text 20"/>
          <p:cNvSpPr txBox="1"/>
          <p:nvPr/>
        </p:nvSpPr>
        <p:spPr>
          <a:xfrm>
            <a:off x="6309360" y="3813048"/>
            <a:ext cx="2039111" cy="310896"/>
          </a:xfrm>
          <a:prstGeom prst="rect">
            <a:avLst/>
          </a:prstGeom>
          <a:noFill/>
        </p:spPr>
        <p:txBody>
          <a:bodyPr wrap="square" lIns="45720" rIns="45720" anchor="t">
            <a:spAutoFit/>
          </a:bodyPr>
          <a:lstStyle/>
          <a:p>
            <a:pPr algn="l">
              <a:lnSpc>
                <a:spcPct val="115000"/>
              </a:lnSpc>
              <a:spcAft>
                <a:spcPts val="400"/>
              </a:spcAft>
            </a:pPr>
            <a:r>
              <a:rPr sz="1050" b="1" i="0">
                <a:solidFill>
                  <a:srgbClr val="2E7D5B"/>
                </a:solidFill>
                <a:latin typeface="Inter"/>
              </a:rPr>
              <a:t>Cek</a:t>
            </a:r>
          </a:p>
        </p:txBody>
      </p:sp>
      <p:sp>
        <p:nvSpPr>
          <p:cNvPr id="38" name="Text 21"/>
          <p:cNvSpPr txBox="1"/>
          <p:nvPr/>
        </p:nvSpPr>
        <p:spPr>
          <a:xfrm>
            <a:off x="6309360" y="4133088"/>
            <a:ext cx="2039111" cy="475488"/>
          </a:xfrm>
          <a:prstGeom prst="rect">
            <a:avLst/>
          </a:prstGeom>
          <a:noFill/>
        </p:spPr>
        <p:txBody>
          <a:bodyPr wrap="square" lIns="45720" rIns="45720" anchor="t">
            <a:spAutoFit/>
          </a:bodyPr>
          <a:lstStyle/>
          <a:p>
            <a:pPr algn="l">
              <a:lnSpc>
                <a:spcPct val="115000"/>
              </a:lnSpc>
              <a:spcAft>
                <a:spcPts val="400"/>
              </a:spcAft>
            </a:pPr>
            <a:r>
              <a:rPr sz="900" b="0" i="0">
                <a:solidFill>
                  <a:srgbClr val="434343"/>
                </a:solidFill>
                <a:latin typeface="Inter"/>
              </a:rPr>
              <a:t>18 test baru.</a:t>
            </a:r>
          </a:p>
        </p:txBody>
      </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11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Buat User</a:t>
            </a:r>
          </a:p>
        </p:txBody>
      </p:sp>
      <p:pic>
        <p:nvPicPr>
          <p:cNvPr id="22" name="Image 3" descr="s10-create-user.png"/>
          <p:cNvPicPr>
            <a:picLocks noChangeAspect="1"/>
          </p:cNvPicPr>
          <p:nvPr/>
        </p:nvPicPr>
        <p:blipFill>
          <a:blip r:embed="rId2"/>
          <a:stretch>
            <a:fillRect/>
          </a:stretch>
        </p:blipFill>
        <p:spPr>
          <a:xfrm>
            <a:off x="621792" y="1481328"/>
            <a:ext cx="4206240" cy="1333821"/>
          </a:xfrm>
          <a:prstGeom prst="rect">
            <a:avLst/>
          </a:prstGeom>
          <a:ln w="9525">
            <a:solidFill>
              <a:srgbClr val="D0D5DD"/>
            </a:solidFill>
          </a:ln>
        </p:spPr>
      </p:pic>
      <p:sp>
        <p:nvSpPr>
          <p:cNvPr id="23" name="Text 4"/>
          <p:cNvSpPr txBox="1"/>
          <p:nvPr/>
        </p:nvSpPr>
        <p:spPr>
          <a:xfrm>
            <a:off x="5056631" y="1481328"/>
            <a:ext cx="3429000" cy="173736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Yang terlihat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Password ditanyakan lewat </a:t>
            </a:r>
            <a:r>
              <a:rPr sz="900" b="0" i="0">
                <a:solidFill>
                  <a:srgbClr val="B5482A"/>
                </a:solidFill>
                <a:latin typeface="Inconsolata"/>
              </a:rPr>
              <a:t>getpass</a:t>
            </a:r>
            <a:r>
              <a:rPr sz="900" b="0" i="0">
                <a:solidFill>
                  <a:srgbClr val="434343"/>
                </a:solidFill>
                <a:latin typeface="Inter"/>
              </a:rPr>
              <a:t>, tidak tampil di layar</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Admin, budi (vip), dan ani (regular) dibuat dengan role dan tipe masing-masing</a:t>
            </a:r>
          </a:p>
        </p:txBody>
      </p:sp>
      <p:pic>
        <p:nvPicPr>
          <p:cNvPr id="24" name="Image 5" descr="s10-no-secret.png"/>
          <p:cNvPicPr>
            <a:picLocks noChangeAspect="1"/>
          </p:cNvPicPr>
          <p:nvPr/>
        </p:nvPicPr>
        <p:blipFill>
          <a:blip r:embed="rId3"/>
          <a:stretch>
            <a:fillRect/>
          </a:stretch>
        </p:blipFill>
        <p:spPr>
          <a:xfrm>
            <a:off x="621792" y="2998028"/>
            <a:ext cx="7863840" cy="1100938"/>
          </a:xfrm>
          <a:prstGeom prst="rect">
            <a:avLst/>
          </a:prstGeom>
          <a:ln w="9525">
            <a:solidFill>
              <a:srgbClr val="D0D5DD"/>
            </a:solidFill>
          </a:ln>
        </p:spPr>
      </p:pic>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11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Login dan Baca Token</a:t>
            </a:r>
          </a:p>
        </p:txBody>
      </p:sp>
      <p:pic>
        <p:nvPicPr>
          <p:cNvPr id="22" name="Image 3" descr="s10-login.png"/>
          <p:cNvPicPr>
            <a:picLocks noChangeAspect="1"/>
          </p:cNvPicPr>
          <p:nvPr/>
        </p:nvPicPr>
        <p:blipFill>
          <a:blip r:embed="rId2"/>
          <a:stretch>
            <a:fillRect/>
          </a:stretch>
        </p:blipFill>
        <p:spPr>
          <a:xfrm>
            <a:off x="621792" y="1481328"/>
            <a:ext cx="7863840" cy="1737909"/>
          </a:xfrm>
          <a:prstGeom prst="rect">
            <a:avLst/>
          </a:prstGeom>
          <a:ln w="9525">
            <a:solidFill>
              <a:srgbClr val="D0D5DD"/>
            </a:solidFill>
          </a:ln>
        </p:spPr>
      </p:pic>
      <p:sp>
        <p:nvSpPr>
          <p:cNvPr id="23" name="Text 4"/>
          <p:cNvSpPr txBox="1"/>
          <p:nvPr/>
        </p:nvSpPr>
        <p:spPr>
          <a:xfrm>
            <a:off x="621792" y="3356396"/>
            <a:ext cx="7863840" cy="118872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Yang terlihat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Password salah 401, password benar mendapat JWT</a:t>
            </a:r>
          </a:p>
          <a:p>
            <a:pPr marL="182880" indent="-182880" algn="l">
              <a:lnSpc>
                <a:spcPct val="115000"/>
              </a:lnSpc>
              <a:spcAft>
                <a:spcPts val="400"/>
              </a:spcAft>
              <a:buClr>
                <a:srgbClr val="E0764F"/>
              </a:buClr>
              <a:buSzPct val="100000"/>
              <a:buFont typeface="+mj-lt"/>
              <a:buAutoNum type="arabicPeriod"/>
            </a:pPr>
            <a:r>
              <a:rPr sz="900" b="0" i="0">
                <a:solidFill>
                  <a:srgbClr val="B5482A"/>
                </a:solidFill>
                <a:latin typeface="Inconsolata"/>
              </a:rPr>
              <a:t>/auth/me</a:t>
            </a:r>
            <a:r>
              <a:rPr sz="900" b="0" i="0">
                <a:solidFill>
                  <a:srgbClr val="434343"/>
                </a:solidFill>
                <a:latin typeface="Inter"/>
              </a:rPr>
              <a:t> membaca isi token: role, customer_type, dan scope</a:t>
            </a:r>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11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Login di Swagger dengan Authorize</a:t>
            </a:r>
          </a:p>
        </p:txBody>
      </p:sp>
      <p:pic>
        <p:nvPicPr>
          <p:cNvPr id="22" name="Image 3" descr="s10-swagger-auth.png"/>
          <p:cNvPicPr>
            <a:picLocks noChangeAspect="1"/>
          </p:cNvPicPr>
          <p:nvPr/>
        </p:nvPicPr>
        <p:blipFill>
          <a:blip r:embed="rId2"/>
          <a:stretch>
            <a:fillRect/>
          </a:stretch>
        </p:blipFill>
        <p:spPr>
          <a:xfrm>
            <a:off x="621792" y="1481328"/>
            <a:ext cx="2862743" cy="1920240"/>
          </a:xfrm>
          <a:prstGeom prst="rect">
            <a:avLst/>
          </a:prstGeom>
          <a:ln w="9525">
            <a:solidFill>
              <a:srgbClr val="D0D5DD"/>
            </a:solidFill>
          </a:ln>
        </p:spPr>
      </p:pic>
      <p:pic>
        <p:nvPicPr>
          <p:cNvPr id="23" name="Image 4" descr="s10-swagger-order-resp.png"/>
          <p:cNvPicPr>
            <a:picLocks noChangeAspect="1"/>
          </p:cNvPicPr>
          <p:nvPr/>
        </p:nvPicPr>
        <p:blipFill>
          <a:blip r:embed="rId3"/>
          <a:stretch>
            <a:fillRect/>
          </a:stretch>
        </p:blipFill>
        <p:spPr>
          <a:xfrm>
            <a:off x="3667415" y="1481328"/>
            <a:ext cx="3840480" cy="1920240"/>
          </a:xfrm>
          <a:prstGeom prst="rect">
            <a:avLst/>
          </a:prstGeom>
          <a:ln w="9525">
            <a:solidFill>
              <a:srgbClr val="D0D5DD"/>
            </a:solidFill>
          </a:ln>
        </p:spPr>
      </p:pic>
      <p:sp>
        <p:nvSpPr>
          <p:cNvPr id="24" name="Text 5"/>
          <p:cNvSpPr txBox="1"/>
          <p:nvPr/>
        </p:nvSpPr>
        <p:spPr>
          <a:xfrm>
            <a:off x="621792" y="3511296"/>
            <a:ext cx="7863840" cy="73152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Buka </a:t>
            </a:r>
            <a:r>
              <a:rPr sz="900" b="0" i="0">
                <a:solidFill>
                  <a:srgbClr val="B5482A"/>
                </a:solidFill>
                <a:latin typeface="Inconsolata"/>
              </a:rPr>
              <a:t>/docs</a:t>
            </a:r>
            <a:r>
              <a:rPr sz="900" b="0" i="0">
                <a:solidFill>
                  <a:srgbClr val="434343"/>
                </a:solidFill>
                <a:latin typeface="Inter"/>
              </a:rPr>
              <a:t>, klik </a:t>
            </a:r>
            <a:r>
              <a:rPr sz="900" b="1" i="0">
                <a:solidFill>
                  <a:srgbClr val="434343"/>
                </a:solidFill>
                <a:latin typeface="Inter"/>
              </a:rPr>
              <a:t>Authorize</a:t>
            </a:r>
            <a:r>
              <a:rPr sz="900" b="0" i="0">
                <a:solidFill>
                  <a:srgbClr val="434343"/>
                </a:solidFill>
                <a:latin typeface="Inter"/>
              </a:rPr>
              <a:t>, isi email dan password budi    2. </a:t>
            </a:r>
            <a:r>
              <a:rPr sz="900" b="0" i="0">
                <a:solidFill>
                  <a:srgbClr val="B5482A"/>
                </a:solidFill>
                <a:latin typeface="Inconsolata"/>
              </a:rPr>
              <a:t>POST /orders</a:t>
            </a:r>
            <a:r>
              <a:rPr sz="900" b="0" i="0">
                <a:solidFill>
                  <a:srgbClr val="434343"/>
                </a:solidFill>
                <a:latin typeface="Inter"/>
              </a:rPr>
              <a:t> hanya dengan </a:t>
            </a:r>
            <a:r>
              <a:rPr sz="900" b="0" i="0">
                <a:solidFill>
                  <a:srgbClr val="B5482A"/>
                </a:solidFill>
                <a:latin typeface="Inconsolata"/>
              </a:rPr>
              <a:t>items</a:t>
            </a:r>
          </a:p>
          <a:p>
            <a:pPr algn="l">
              <a:lnSpc>
                <a:spcPct val="115000"/>
              </a:lnSpc>
              <a:spcAft>
                <a:spcPts val="400"/>
              </a:spcAft>
            </a:pPr>
            <a:r>
              <a:rPr sz="900" b="0" i="0">
                <a:solidFill>
                  <a:srgbClr val="434343"/>
                </a:solidFill>
                <a:latin typeface="Inter"/>
              </a:rPr>
              <a:t>Response: order atas nama budi dengan customer_type vip, diskon 10%.</a:t>
            </a: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11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Cek Hak Akses</a:t>
            </a:r>
          </a:p>
        </p:txBody>
      </p:sp>
      <p:pic>
        <p:nvPicPr>
          <p:cNvPr id="22" name="Image 3" descr="s10-access.png"/>
          <p:cNvPicPr>
            <a:picLocks noChangeAspect="1"/>
          </p:cNvPicPr>
          <p:nvPr/>
        </p:nvPicPr>
        <p:blipFill>
          <a:blip r:embed="rId2"/>
          <a:stretch>
            <a:fillRect/>
          </a:stretch>
        </p:blipFill>
        <p:spPr>
          <a:xfrm>
            <a:off x="621792" y="1481328"/>
            <a:ext cx="5669280" cy="1186593"/>
          </a:xfrm>
          <a:prstGeom prst="rect">
            <a:avLst/>
          </a:prstGeom>
          <a:ln w="9525">
            <a:solidFill>
              <a:srgbClr val="D0D5DD"/>
            </a:solidFill>
          </a:ln>
        </p:spPr>
      </p:pic>
      <p:sp>
        <p:nvSpPr>
          <p:cNvPr id="23" name="Text 4"/>
          <p:cNvSpPr txBox="1"/>
          <p:nvPr/>
        </p:nvSpPr>
        <p:spPr>
          <a:xfrm>
            <a:off x="6473952" y="1481328"/>
            <a:ext cx="2011679" cy="320040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Yang terlihat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Tanpa token: 401</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Body berisi </a:t>
            </a:r>
            <a:r>
              <a:rPr sz="900" b="0" i="0">
                <a:solidFill>
                  <a:srgbClr val="B5482A"/>
                </a:solidFill>
                <a:latin typeface="Inconsolata"/>
              </a:rPr>
              <a:t>customer</a:t>
            </a:r>
            <a:r>
              <a:rPr sz="900" b="0" i="0">
                <a:solidFill>
                  <a:srgbClr val="434343"/>
                </a:solidFill>
                <a:latin typeface="Inter"/>
              </a:rPr>
              <a:t>: 422</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Order milik orang lain: 404</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Customer tambah produk: 403</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Admin bisa membuka semua order</a:t>
            </a:r>
          </a:p>
        </p:txBody>
      </p:sp>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75</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  ·  Langkah 11 dari 11</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Jalankan Test</a:t>
            </a:r>
          </a:p>
        </p:txBody>
      </p:sp>
      <p:pic>
        <p:nvPicPr>
          <p:cNvPr id="22" name="Image 3" descr="s10-pytest.png"/>
          <p:cNvPicPr>
            <a:picLocks noChangeAspect="1"/>
          </p:cNvPicPr>
          <p:nvPr/>
        </p:nvPicPr>
        <p:blipFill>
          <a:blip r:embed="rId2"/>
          <a:stretch>
            <a:fillRect/>
          </a:stretch>
        </p:blipFill>
        <p:spPr>
          <a:xfrm>
            <a:off x="621792" y="1481328"/>
            <a:ext cx="5305529" cy="3218688"/>
          </a:xfrm>
          <a:prstGeom prst="rect">
            <a:avLst/>
          </a:prstGeom>
          <a:ln w="9525">
            <a:solidFill>
              <a:srgbClr val="D0D5DD"/>
            </a:solidFill>
          </a:ln>
        </p:spPr>
      </p:pic>
      <p:sp>
        <p:nvSpPr>
          <p:cNvPr id="23" name="Box 4"/>
          <p:cNvSpPr/>
          <p:nvPr/>
        </p:nvSpPr>
        <p:spPr>
          <a:xfrm>
            <a:off x="6110201" y="1481328"/>
            <a:ext cx="2375430" cy="3218688"/>
          </a:xfrm>
          <a:prstGeom prst="roundRect">
            <a:avLst>
              <a:gd name="adj" fmla="val 4619"/>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Text 5"/>
          <p:cNvSpPr txBox="1"/>
          <p:nvPr/>
        </p:nvSpPr>
        <p:spPr>
          <a:xfrm>
            <a:off x="6247361" y="1572768"/>
            <a:ext cx="2101110" cy="310896"/>
          </a:xfrm>
          <a:prstGeom prst="rect">
            <a:avLst/>
          </a:prstGeom>
          <a:noFill/>
        </p:spPr>
        <p:txBody>
          <a:bodyPr wrap="square" lIns="45720" rIns="45720" anchor="t">
            <a:spAutoFit/>
          </a:bodyPr>
          <a:lstStyle/>
          <a:p>
            <a:pPr algn="l">
              <a:lnSpc>
                <a:spcPct val="115000"/>
              </a:lnSpc>
              <a:spcAft>
                <a:spcPts val="400"/>
              </a:spcAft>
            </a:pPr>
            <a:r>
              <a:rPr sz="1100" b="1" i="0">
                <a:solidFill>
                  <a:srgbClr val="E0764F"/>
                </a:solidFill>
                <a:latin typeface="Inter"/>
              </a:rPr>
              <a:t>Yang dikerjakan</a:t>
            </a:r>
          </a:p>
        </p:txBody>
      </p:sp>
      <p:sp>
        <p:nvSpPr>
          <p:cNvPr id="25" name="Text 6"/>
          <p:cNvSpPr txBox="1"/>
          <p:nvPr/>
        </p:nvSpPr>
        <p:spPr>
          <a:xfrm>
            <a:off x="6247361" y="1892808"/>
            <a:ext cx="2101110"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Masuk ke folder </a:t>
            </a:r>
            <a:r>
              <a:rPr sz="950" b="0" i="0">
                <a:solidFill>
                  <a:srgbClr val="B5482A"/>
                </a:solidFill>
                <a:latin typeface="Inconsolata"/>
              </a:rPr>
              <a:t>latihan/</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Jalankan </a:t>
            </a:r>
            <a:r>
              <a:rPr sz="950" b="0" i="0">
                <a:solidFill>
                  <a:srgbClr val="B5482A"/>
                </a:solidFill>
                <a:latin typeface="Inconsolata"/>
              </a:rPr>
              <a:t>pytest -v</a:t>
            </a:r>
          </a:p>
          <a:p>
            <a:pPr marL="182880" indent="-182880" algn="l">
              <a:lnSpc>
                <a:spcPct val="115000"/>
              </a:lnSpc>
              <a:spcAft>
                <a:spcPts val="400"/>
              </a:spcAft>
              <a:buClr>
                <a:srgbClr val="E0764F"/>
              </a:buClr>
              <a:buSzPct val="100000"/>
              <a:buFont typeface="+mj-lt"/>
              <a:buAutoNum type="arabicPeriod"/>
            </a:pPr>
            <a:r>
              <a:rPr sz="950" b="0" i="0">
                <a:solidFill>
                  <a:srgbClr val="434343"/>
                </a:solidFill>
                <a:latin typeface="Inter"/>
              </a:rPr>
              <a:t>Semua test harus </a:t>
            </a:r>
            <a:r>
              <a:rPr sz="950" b="1" i="0">
                <a:solidFill>
                  <a:srgbClr val="434343"/>
                </a:solidFill>
                <a:latin typeface="Inter"/>
              </a:rPr>
              <a:t>PASSED</a:t>
            </a:r>
          </a:p>
          <a:p>
            <a:pPr algn="l">
              <a:lnSpc>
                <a:spcPct val="115000"/>
              </a:lnSpc>
              <a:spcAft>
                <a:spcPts val="0"/>
              </a:spcAft>
            </a:pPr>
            <a:endParaRPr sz="950" b="1" i="0">
              <a:solidFill>
                <a:srgbClr val="434343"/>
              </a:solidFill>
              <a:latin typeface="Inter"/>
            </a:endParaRPr>
          </a:p>
          <a:p>
            <a:pPr algn="l">
              <a:lnSpc>
                <a:spcPct val="115000"/>
              </a:lnSpc>
              <a:spcAft>
                <a:spcPts val="400"/>
              </a:spcAft>
            </a:pPr>
            <a:r>
              <a:rPr sz="950" b="0" i="0">
                <a:solidFill>
                  <a:srgbClr val="434343"/>
                </a:solidFill>
                <a:latin typeface="Inter"/>
              </a:rPr>
              <a:t>Test membuat token langsung lewat </a:t>
            </a:r>
            <a:r>
              <a:rPr sz="950" b="0" i="0">
                <a:solidFill>
                  <a:srgbClr val="B5482A"/>
                </a:solidFill>
                <a:latin typeface="Inconsolata"/>
              </a:rPr>
              <a:t>JwtTokenService</a:t>
            </a:r>
            <a:r>
              <a:rPr sz="950" b="0" i="0">
                <a:solidFill>
                  <a:srgbClr val="434343"/>
                </a:solidFill>
                <a:latin typeface="Inter"/>
              </a:rPr>
              <a:t>, jadi tidak perlu login di setiap test.</a:t>
            </a:r>
          </a:p>
        </p:txBody>
      </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76</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Security Checklist</a:t>
            </a:r>
          </a:p>
        </p:txBody>
      </p:sp>
      <p:graphicFrame>
        <p:nvGraphicFramePr>
          <p:cNvPr id="22" name="Table 3"/>
          <p:cNvGraphicFramePr>
            <a:graphicFrameLocks noGrp="1"/>
          </p:cNvGraphicFramePr>
          <p:nvPr/>
        </p:nvGraphicFramePr>
        <p:xfrm>
          <a:off x="621792" y="1481328"/>
          <a:ext cx="7863840" cy="2962656"/>
        </p:xfrm>
        <a:graphic>
          <a:graphicData uri="http://schemas.openxmlformats.org/drawingml/2006/table">
            <a:tbl>
              <a:tblPr firstRow="1" bandRow="1"/>
              <a:tblGrid>
                <a:gridCol w="1371600">
                  <a:extLst>
                    <a:ext uri="{9D8B030D-6E8A-4147-A177-3AD203B41FA5}">
                      <a16:colId xmlns:a16="http://schemas.microsoft.com/office/drawing/2014/main" val="20000"/>
                    </a:ext>
                  </a:extLst>
                </a:gridCol>
                <a:gridCol w="3108960">
                  <a:extLst>
                    <a:ext uri="{9D8B030D-6E8A-4147-A177-3AD203B41FA5}">
                      <a16:colId xmlns:a16="http://schemas.microsoft.com/office/drawing/2014/main" val="20001"/>
                    </a:ext>
                  </a:extLst>
                </a:gridCol>
                <a:gridCol w="3383280">
                  <a:extLst>
                    <a:ext uri="{9D8B030D-6E8A-4147-A177-3AD203B41FA5}">
                      <a16:colId xmlns:a16="http://schemas.microsoft.com/office/drawing/2014/main" val="20002"/>
                    </a:ext>
                  </a:extLst>
                </a:gridCol>
              </a:tblGrid>
              <a:tr h="329184">
                <a:tc>
                  <a:txBody>
                    <a:bodyPr/>
                    <a:lstStyle/>
                    <a:p>
                      <a:pPr algn="l">
                        <a:lnSpc>
                          <a:spcPct val="100000"/>
                        </a:lnSpc>
                        <a:spcAft>
                          <a:spcPts val="0"/>
                        </a:spcAft>
                      </a:pPr>
                      <a:r>
                        <a:rPr sz="850" b="1" i="0">
                          <a:solidFill>
                            <a:srgbClr val="FFFFFF"/>
                          </a:solidFill>
                          <a:latin typeface="Inter"/>
                        </a:rPr>
                        <a:t>Area</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Cek</a:t>
                      </a:r>
                    </a:p>
                  </a:txBody>
                  <a:tcPr marL="73152" marR="73152" marT="36576" marB="36576" anchor="ctr">
                    <a:solidFill>
                      <a:srgbClr val="1C4587"/>
                    </a:solidFill>
                  </a:tcPr>
                </a:tc>
                <a:tc>
                  <a:txBody>
                    <a:bodyPr/>
                    <a:lstStyle/>
                    <a:p>
                      <a:pPr algn="l">
                        <a:lnSpc>
                          <a:spcPct val="100000"/>
                        </a:lnSpc>
                        <a:spcAft>
                          <a:spcPts val="0"/>
                        </a:spcAft>
                      </a:pPr>
                      <a:r>
                        <a:rPr sz="850" b="1" i="0">
                          <a:solidFill>
                            <a:srgbClr val="FFFFFF"/>
                          </a:solidFill>
                          <a:latin typeface="Inter"/>
                        </a:rPr>
                        <a:t>Di Order API</a:t>
                      </a:r>
                    </a:p>
                  </a:txBody>
                  <a:tcPr marL="73152" marR="73152" marT="36576" marB="36576" anchor="ctr">
                    <a:solidFill>
                      <a:srgbClr val="1C4587"/>
                    </a:solidFill>
                  </a:tcPr>
                </a:tc>
                <a:extLst>
                  <a:ext uri="{0D108BD9-81ED-4DB2-BD59-A6C34878D82A}">
                    <a16:rowId xmlns:a16="http://schemas.microsoft.com/office/drawing/2014/main" val="10000"/>
                  </a:ext>
                </a:extLst>
              </a:tr>
              <a:tr h="329184">
                <a:tc>
                  <a:txBody>
                    <a:bodyPr/>
                    <a:lstStyle/>
                    <a:p>
                      <a:pPr algn="l">
                        <a:lnSpc>
                          <a:spcPct val="100000"/>
                        </a:lnSpc>
                        <a:spcAft>
                          <a:spcPts val="0"/>
                        </a:spcAft>
                      </a:pPr>
                      <a:r>
                        <a:rPr sz="850" b="1" i="0">
                          <a:solidFill>
                            <a:srgbClr val="1C4587"/>
                          </a:solidFill>
                          <a:latin typeface="Inter"/>
                        </a:rPr>
                        <a:t>Access control</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Data orang lain tidak bisa diakses</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OrderService mengecek pemilik, jawab 404</a:t>
                      </a:r>
                    </a:p>
                  </a:txBody>
                  <a:tcPr marL="73152" marR="73152" marT="36576" marB="36576" anchor="ctr">
                    <a:solidFill>
                      <a:srgbClr val="FFFFFF"/>
                    </a:solidFill>
                  </a:tcPr>
                </a:tc>
                <a:extLst>
                  <a:ext uri="{0D108BD9-81ED-4DB2-BD59-A6C34878D82A}">
                    <a16:rowId xmlns:a16="http://schemas.microsoft.com/office/drawing/2014/main" val="10001"/>
                  </a:ext>
                </a:extLst>
              </a:tr>
              <a:tr h="329184">
                <a:tc>
                  <a:txBody>
                    <a:bodyPr/>
                    <a:lstStyle/>
                    <a:p>
                      <a:pPr algn="l">
                        <a:lnSpc>
                          <a:spcPct val="100000"/>
                        </a:lnSpc>
                        <a:spcAft>
                          <a:spcPts val="0"/>
                        </a:spcAft>
                      </a:pPr>
                      <a:r>
                        <a:rPr sz="850" b="1" i="0">
                          <a:solidFill>
                            <a:srgbClr val="1C4587"/>
                          </a:solidFill>
                          <a:latin typeface="Inter"/>
                        </a:rPr>
                        <a:t>Access control</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Hak akses lewat scope, satu tempat</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Security(get_current_user, scopes=[...])</a:t>
                      </a:r>
                    </a:p>
                  </a:txBody>
                  <a:tcPr marL="73152" marR="73152" marT="36576" marB="36576" anchor="ctr">
                    <a:solidFill>
                      <a:srgbClr val="F3F4F6"/>
                    </a:solidFill>
                  </a:tcPr>
                </a:tc>
                <a:extLst>
                  <a:ext uri="{0D108BD9-81ED-4DB2-BD59-A6C34878D82A}">
                    <a16:rowId xmlns:a16="http://schemas.microsoft.com/office/drawing/2014/main" val="10002"/>
                  </a:ext>
                </a:extLst>
              </a:tr>
              <a:tr h="329184">
                <a:tc>
                  <a:txBody>
                    <a:bodyPr/>
                    <a:lstStyle/>
                    <a:p>
                      <a:pPr algn="l">
                        <a:lnSpc>
                          <a:spcPct val="100000"/>
                        </a:lnSpc>
                        <a:spcAft>
                          <a:spcPts val="0"/>
                        </a:spcAft>
                      </a:pPr>
                      <a:r>
                        <a:rPr sz="850" b="1" i="0">
                          <a:solidFill>
                            <a:srgbClr val="1C4587"/>
                          </a:solidFill>
                          <a:latin typeface="Inter"/>
                        </a:rPr>
                        <a:t>Authentication</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Password di-hash, token punya exp</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Argon2, JWT 30 menit, algoritma dikunci</a:t>
                      </a:r>
                    </a:p>
                  </a:txBody>
                  <a:tcPr marL="73152" marR="73152" marT="36576" marB="36576" anchor="ctr">
                    <a:solidFill>
                      <a:srgbClr val="FFFFFF"/>
                    </a:solidFill>
                  </a:tcPr>
                </a:tc>
                <a:extLst>
                  <a:ext uri="{0D108BD9-81ED-4DB2-BD59-A6C34878D82A}">
                    <a16:rowId xmlns:a16="http://schemas.microsoft.com/office/drawing/2014/main" val="10003"/>
                  </a:ext>
                </a:extLst>
              </a:tr>
              <a:tr h="329184">
                <a:tc>
                  <a:txBody>
                    <a:bodyPr/>
                    <a:lstStyle/>
                    <a:p>
                      <a:pPr algn="l">
                        <a:lnSpc>
                          <a:spcPct val="100000"/>
                        </a:lnSpc>
                        <a:spcAft>
                          <a:spcPts val="0"/>
                        </a:spcAft>
                      </a:pPr>
                      <a:r>
                        <a:rPr sz="850" b="1" i="0">
                          <a:solidFill>
                            <a:srgbClr val="1C4587"/>
                          </a:solidFill>
                          <a:latin typeface="Inter"/>
                        </a:rPr>
                        <a:t>Injection</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Tidak ada SQL dari f-string</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SQLAlchemy dengan parameter</a:t>
                      </a:r>
                    </a:p>
                  </a:txBody>
                  <a:tcPr marL="73152" marR="73152" marT="36576" marB="36576" anchor="ctr">
                    <a:solidFill>
                      <a:srgbClr val="F3F4F6"/>
                    </a:solidFill>
                  </a:tcPr>
                </a:tc>
                <a:extLst>
                  <a:ext uri="{0D108BD9-81ED-4DB2-BD59-A6C34878D82A}">
                    <a16:rowId xmlns:a16="http://schemas.microsoft.com/office/drawing/2014/main" val="10004"/>
                  </a:ext>
                </a:extLst>
              </a:tr>
              <a:tr h="329184">
                <a:tc>
                  <a:txBody>
                    <a:bodyPr/>
                    <a:lstStyle/>
                    <a:p>
                      <a:pPr algn="l">
                        <a:lnSpc>
                          <a:spcPct val="100000"/>
                        </a:lnSpc>
                        <a:spcAft>
                          <a:spcPts val="0"/>
                        </a:spcAft>
                      </a:pPr>
                      <a:r>
                        <a:rPr sz="850" b="1" i="0">
                          <a:solidFill>
                            <a:srgbClr val="1C4587"/>
                          </a:solidFill>
                          <a:latin typeface="Inter"/>
                        </a:rPr>
                        <a:t>Input</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Schema ketat, data penting bukan dari body</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extra="forbid", customer dari token</a:t>
                      </a:r>
                    </a:p>
                  </a:txBody>
                  <a:tcPr marL="73152" marR="73152" marT="36576" marB="36576" anchor="ctr">
                    <a:solidFill>
                      <a:srgbClr val="FFFFFF"/>
                    </a:solidFill>
                  </a:tcPr>
                </a:tc>
                <a:extLst>
                  <a:ext uri="{0D108BD9-81ED-4DB2-BD59-A6C34878D82A}">
                    <a16:rowId xmlns:a16="http://schemas.microsoft.com/office/drawing/2014/main" val="10005"/>
                  </a:ext>
                </a:extLst>
              </a:tr>
              <a:tr h="329184">
                <a:tc>
                  <a:txBody>
                    <a:bodyPr/>
                    <a:lstStyle/>
                    <a:p>
                      <a:pPr algn="l">
                        <a:lnSpc>
                          <a:spcPct val="100000"/>
                        </a:lnSpc>
                        <a:spcAft>
                          <a:spcPts val="0"/>
                        </a:spcAft>
                      </a:pPr>
                      <a:r>
                        <a:rPr sz="850" b="1" i="0">
                          <a:solidFill>
                            <a:srgbClr val="1C4587"/>
                          </a:solidFill>
                          <a:latin typeface="Inter"/>
                        </a:rPr>
                        <a:t>Secrets</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Dari environment, tidak di-commit, tidak tercetak</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JWT_SECRET, .env di .gitignore</a:t>
                      </a:r>
                    </a:p>
                  </a:txBody>
                  <a:tcPr marL="73152" marR="73152" marT="36576" marB="36576" anchor="ctr">
                    <a:solidFill>
                      <a:srgbClr val="F3F4F6"/>
                    </a:solidFill>
                  </a:tcPr>
                </a:tc>
                <a:extLst>
                  <a:ext uri="{0D108BD9-81ED-4DB2-BD59-A6C34878D82A}">
                    <a16:rowId xmlns:a16="http://schemas.microsoft.com/office/drawing/2014/main" val="10006"/>
                  </a:ext>
                </a:extLst>
              </a:tr>
              <a:tr h="329184">
                <a:tc>
                  <a:txBody>
                    <a:bodyPr/>
                    <a:lstStyle/>
                    <a:p>
                      <a:pPr algn="l">
                        <a:lnSpc>
                          <a:spcPct val="100000"/>
                        </a:lnSpc>
                        <a:spcAft>
                          <a:spcPts val="0"/>
                        </a:spcAft>
                      </a:pPr>
                      <a:r>
                        <a:rPr sz="850" b="1" i="0">
                          <a:solidFill>
                            <a:srgbClr val="1C4587"/>
                          </a:solidFill>
                          <a:latin typeface="Inter"/>
                        </a:rPr>
                        <a:t>Configuration</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Setting production berbeda</a:t>
                      </a:r>
                    </a:p>
                  </a:txBody>
                  <a:tcPr marL="73152" marR="73152" marT="36576" marB="36576" anchor="ctr">
                    <a:solidFill>
                      <a:srgbClr val="FFFFFF"/>
                    </a:solidFill>
                  </a:tcPr>
                </a:tc>
                <a:tc>
                  <a:txBody>
                    <a:bodyPr/>
                    <a:lstStyle/>
                    <a:p>
                      <a:pPr algn="l">
                        <a:lnSpc>
                          <a:spcPct val="100000"/>
                        </a:lnSpc>
                        <a:spcAft>
                          <a:spcPts val="0"/>
                        </a:spcAft>
                      </a:pPr>
                      <a:r>
                        <a:rPr sz="850" b="0" i="0">
                          <a:solidFill>
                            <a:srgbClr val="434343"/>
                          </a:solidFill>
                          <a:latin typeface="Inter"/>
                        </a:rPr>
                        <a:t>ENV=production: /docs mati, CORS allowlist</a:t>
                      </a:r>
                    </a:p>
                  </a:txBody>
                  <a:tcPr marL="73152" marR="73152" marT="36576" marB="36576" anchor="ctr">
                    <a:solidFill>
                      <a:srgbClr val="FFFFFF"/>
                    </a:solidFill>
                  </a:tcPr>
                </a:tc>
                <a:extLst>
                  <a:ext uri="{0D108BD9-81ED-4DB2-BD59-A6C34878D82A}">
                    <a16:rowId xmlns:a16="http://schemas.microsoft.com/office/drawing/2014/main" val="10007"/>
                  </a:ext>
                </a:extLst>
              </a:tr>
              <a:tr h="329184">
                <a:tc>
                  <a:txBody>
                    <a:bodyPr/>
                    <a:lstStyle/>
                    <a:p>
                      <a:pPr algn="l">
                        <a:lnSpc>
                          <a:spcPct val="100000"/>
                        </a:lnSpc>
                        <a:spcAft>
                          <a:spcPts val="0"/>
                        </a:spcAft>
                      </a:pPr>
                      <a:r>
                        <a:rPr sz="850" b="1" i="0">
                          <a:solidFill>
                            <a:srgbClr val="1C4587"/>
                          </a:solidFill>
                          <a:latin typeface="Inter"/>
                        </a:rPr>
                        <a:t>Error &amp; log</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Tanpa detail internal, kejadian tercatat</a:t>
                      </a:r>
                    </a:p>
                  </a:txBody>
                  <a:tcPr marL="73152" marR="73152" marT="36576" marB="36576" anchor="ctr">
                    <a:solidFill>
                      <a:srgbClr val="F3F4F6"/>
                    </a:solidFill>
                  </a:tcPr>
                </a:tc>
                <a:tc>
                  <a:txBody>
                    <a:bodyPr/>
                    <a:lstStyle/>
                    <a:p>
                      <a:pPr algn="l">
                        <a:lnSpc>
                          <a:spcPct val="100000"/>
                        </a:lnSpc>
                        <a:spcAft>
                          <a:spcPts val="0"/>
                        </a:spcAft>
                      </a:pPr>
                      <a:r>
                        <a:rPr sz="850" b="0" i="0">
                          <a:solidFill>
                            <a:srgbClr val="434343"/>
                          </a:solidFill>
                          <a:latin typeface="Inter"/>
                        </a:rPr>
                        <a:t>Pesan umum + request_id, 401/403 di log</a:t>
                      </a:r>
                    </a:p>
                  </a:txBody>
                  <a:tcPr marL="73152" marR="73152" marT="36576" marB="36576" anchor="ctr">
                    <a:solidFill>
                      <a:srgbClr val="F3F4F6"/>
                    </a:solidFill>
                  </a:tcPr>
                </a:tc>
                <a:extLst>
                  <a:ext uri="{0D108BD9-81ED-4DB2-BD59-A6C34878D82A}">
                    <a16:rowId xmlns:a16="http://schemas.microsoft.com/office/drawing/2014/main" val="10008"/>
                  </a:ext>
                </a:extLst>
              </a:tr>
            </a:tbl>
          </a:graphicData>
        </a:graphic>
      </p:graphicFrame>
    </p:spTree>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77</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Cek Kriteria Selesai</a:t>
            </a:r>
          </a:p>
        </p:txBody>
      </p:sp>
      <p:graphicFrame>
        <p:nvGraphicFramePr>
          <p:cNvPr id="22" name="Table 3"/>
          <p:cNvGraphicFramePr>
            <a:graphicFrameLocks noGrp="1"/>
          </p:cNvGraphicFramePr>
          <p:nvPr/>
        </p:nvGraphicFramePr>
        <p:xfrm>
          <a:off x="621792" y="1481328"/>
          <a:ext cx="7863840" cy="3072384"/>
        </p:xfrm>
        <a:graphic>
          <a:graphicData uri="http://schemas.openxmlformats.org/drawingml/2006/table">
            <a:tbl>
              <a:tblPr firstRow="1" bandRow="1"/>
              <a:tblGrid>
                <a:gridCol w="329184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384048">
                <a:tc>
                  <a:txBody>
                    <a:bodyPr/>
                    <a:lstStyle/>
                    <a:p>
                      <a:pPr algn="l">
                        <a:lnSpc>
                          <a:spcPct val="100000"/>
                        </a:lnSpc>
                        <a:spcAft>
                          <a:spcPts val="0"/>
                        </a:spcAft>
                      </a:pPr>
                      <a:r>
                        <a:rPr sz="900" b="1" i="0">
                          <a:solidFill>
                            <a:srgbClr val="FFFFFF"/>
                          </a:solidFill>
                          <a:latin typeface="Inter"/>
                        </a:rPr>
                        <a:t>Kriteria</a:t>
                      </a:r>
                    </a:p>
                  </a:txBody>
                  <a:tcPr marL="73152" marR="73152" marT="36576" marB="36576" anchor="ctr">
                    <a:solidFill>
                      <a:srgbClr val="1C4587"/>
                    </a:solidFill>
                  </a:tcPr>
                </a:tc>
                <a:tc>
                  <a:txBody>
                    <a:bodyPr/>
                    <a:lstStyle/>
                    <a:p>
                      <a:pPr algn="l">
                        <a:lnSpc>
                          <a:spcPct val="100000"/>
                        </a:lnSpc>
                        <a:spcAft>
                          <a:spcPts val="0"/>
                        </a:spcAft>
                      </a:pPr>
                      <a:r>
                        <a:rPr sz="900" b="1" i="0">
                          <a:solidFill>
                            <a:srgbClr val="FFFFFF"/>
                          </a:solidFill>
                          <a:latin typeface="Inter"/>
                        </a:rPr>
                        <a:t>Cara mengecek</a:t>
                      </a:r>
                    </a:p>
                  </a:txBody>
                  <a:tcPr marL="73152" marR="73152" marT="36576" marB="36576" anchor="ctr">
                    <a:solidFill>
                      <a:srgbClr val="1C4587"/>
                    </a:solidFill>
                  </a:tcPr>
                </a:tc>
                <a:extLst>
                  <a:ext uri="{0D108BD9-81ED-4DB2-BD59-A6C34878D82A}">
                    <a16:rowId xmlns:a16="http://schemas.microsoft.com/office/drawing/2014/main" val="10000"/>
                  </a:ext>
                </a:extLst>
              </a:tr>
              <a:tr h="384048">
                <a:tc>
                  <a:txBody>
                    <a:bodyPr/>
                    <a:lstStyle/>
                    <a:p>
                      <a:pPr algn="l">
                        <a:lnSpc>
                          <a:spcPct val="100000"/>
                        </a:lnSpc>
                        <a:spcAft>
                          <a:spcPts val="0"/>
                        </a:spcAft>
                      </a:pPr>
                      <a:r>
                        <a:rPr sz="900" b="1" i="0">
                          <a:solidFill>
                            <a:srgbClr val="1C4587"/>
                          </a:solidFill>
                          <a:latin typeface="Inter"/>
                        </a:rPr>
                        <a:t>POST /auth/token mengembalikan JWT</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test_login_benar_mendapat_token_dan_scope</a:t>
                      </a:r>
                    </a:p>
                  </a:txBody>
                  <a:tcPr marL="73152" marR="73152" marT="36576" marB="36576" anchor="ctr">
                    <a:solidFill>
                      <a:srgbClr val="FFFFFF"/>
                    </a:solidFill>
                  </a:tcPr>
                </a:tc>
                <a:extLst>
                  <a:ext uri="{0D108BD9-81ED-4DB2-BD59-A6C34878D82A}">
                    <a16:rowId xmlns:a16="http://schemas.microsoft.com/office/drawing/2014/main" val="10001"/>
                  </a:ext>
                </a:extLst>
              </a:tr>
              <a:tr h="384048">
                <a:tc>
                  <a:txBody>
                    <a:bodyPr/>
                    <a:lstStyle/>
                    <a:p>
                      <a:pPr algn="l">
                        <a:lnSpc>
                          <a:spcPct val="100000"/>
                        </a:lnSpc>
                        <a:spcAft>
                          <a:spcPts val="0"/>
                        </a:spcAft>
                      </a:pPr>
                      <a:r>
                        <a:rPr sz="900" b="1" i="0">
                          <a:solidFill>
                            <a:srgbClr val="1C4587"/>
                          </a:solidFill>
                          <a:latin typeface="Inter"/>
                        </a:rPr>
                        <a:t>Password disimpan sebagai hash</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test_password_disimpan_sebagai_hash</a:t>
                      </a:r>
                    </a:p>
                  </a:txBody>
                  <a:tcPr marL="73152" marR="73152" marT="36576" marB="36576" anchor="ctr">
                    <a:solidFill>
                      <a:srgbClr val="F3F4F6"/>
                    </a:solidFill>
                  </a:tcPr>
                </a:tc>
                <a:extLst>
                  <a:ext uri="{0D108BD9-81ED-4DB2-BD59-A6C34878D82A}">
                    <a16:rowId xmlns:a16="http://schemas.microsoft.com/office/drawing/2014/main" val="10002"/>
                  </a:ext>
                </a:extLst>
              </a:tr>
              <a:tr h="384048">
                <a:tc>
                  <a:txBody>
                    <a:bodyPr/>
                    <a:lstStyle/>
                    <a:p>
                      <a:pPr algn="l">
                        <a:lnSpc>
                          <a:spcPct val="100000"/>
                        </a:lnSpc>
                        <a:spcAft>
                          <a:spcPts val="0"/>
                        </a:spcAft>
                      </a:pPr>
                      <a:r>
                        <a:rPr sz="900" b="1" i="0">
                          <a:solidFill>
                            <a:srgbClr val="1C4587"/>
                          </a:solidFill>
                          <a:latin typeface="Inter"/>
                        </a:rPr>
                        <a:t>Order atas nama user di token</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test_order_atas_nama_user_di_token, Swagger</a:t>
                      </a:r>
                    </a:p>
                  </a:txBody>
                  <a:tcPr marL="73152" marR="73152" marT="36576" marB="36576" anchor="ctr">
                    <a:solidFill>
                      <a:srgbClr val="FFFFFF"/>
                    </a:solidFill>
                  </a:tcPr>
                </a:tc>
                <a:extLst>
                  <a:ext uri="{0D108BD9-81ED-4DB2-BD59-A6C34878D82A}">
                    <a16:rowId xmlns:a16="http://schemas.microsoft.com/office/drawing/2014/main" val="10003"/>
                  </a:ext>
                </a:extLst>
              </a:tr>
              <a:tr h="384048">
                <a:tc>
                  <a:txBody>
                    <a:bodyPr/>
                    <a:lstStyle/>
                    <a:p>
                      <a:pPr algn="l">
                        <a:lnSpc>
                          <a:spcPct val="100000"/>
                        </a:lnSpc>
                        <a:spcAft>
                          <a:spcPts val="0"/>
                        </a:spcAft>
                      </a:pPr>
                      <a:r>
                        <a:rPr sz="900" b="1" i="0">
                          <a:solidFill>
                            <a:srgbClr val="1C4587"/>
                          </a:solidFill>
                          <a:latin typeface="Inter"/>
                        </a:rPr>
                        <a:t>Order milik orang lain = 404</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test_customer_lain_tidak_bisa_akses_order</a:t>
                      </a:r>
                    </a:p>
                  </a:txBody>
                  <a:tcPr marL="73152" marR="73152" marT="36576" marB="36576" anchor="ctr">
                    <a:solidFill>
                      <a:srgbClr val="F3F4F6"/>
                    </a:solidFill>
                  </a:tcPr>
                </a:tc>
                <a:extLst>
                  <a:ext uri="{0D108BD9-81ED-4DB2-BD59-A6C34878D82A}">
                    <a16:rowId xmlns:a16="http://schemas.microsoft.com/office/drawing/2014/main" val="10004"/>
                  </a:ext>
                </a:extLst>
              </a:tr>
              <a:tr h="384048">
                <a:tc>
                  <a:txBody>
                    <a:bodyPr/>
                    <a:lstStyle/>
                    <a:p>
                      <a:pPr algn="l">
                        <a:lnSpc>
                          <a:spcPct val="100000"/>
                        </a:lnSpc>
                        <a:spcAft>
                          <a:spcPts val="0"/>
                        </a:spcAft>
                      </a:pPr>
                      <a:r>
                        <a:rPr sz="900" b="1" i="0">
                          <a:solidFill>
                            <a:srgbClr val="1C4587"/>
                          </a:solidFill>
                          <a:latin typeface="Inter"/>
                        </a:rPr>
                        <a:t>Produk dan report hanya admin</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test_customer_tidak_bisa_tambah_produk, *_report</a:t>
                      </a:r>
                    </a:p>
                  </a:txBody>
                  <a:tcPr marL="73152" marR="73152" marT="36576" marB="36576" anchor="ctr">
                    <a:solidFill>
                      <a:srgbClr val="FFFFFF"/>
                    </a:solidFill>
                  </a:tcPr>
                </a:tc>
                <a:extLst>
                  <a:ext uri="{0D108BD9-81ED-4DB2-BD59-A6C34878D82A}">
                    <a16:rowId xmlns:a16="http://schemas.microsoft.com/office/drawing/2014/main" val="10005"/>
                  </a:ext>
                </a:extLst>
              </a:tr>
              <a:tr h="384048">
                <a:tc>
                  <a:txBody>
                    <a:bodyPr/>
                    <a:lstStyle/>
                    <a:p>
                      <a:pPr algn="l">
                        <a:lnSpc>
                          <a:spcPct val="100000"/>
                        </a:lnSpc>
                        <a:spcAft>
                          <a:spcPts val="0"/>
                        </a:spcAft>
                      </a:pPr>
                      <a:r>
                        <a:rPr sz="900" b="1" i="0">
                          <a:solidFill>
                            <a:srgbClr val="1C4587"/>
                          </a:solidFill>
                          <a:latin typeface="Inter"/>
                        </a:rPr>
                        <a:t>Gagal start tanpa JWT_SECRET</a:t>
                      </a:r>
                    </a:p>
                  </a:txBody>
                  <a:tcPr marL="73152" marR="73152" marT="36576" marB="36576" anchor="ctr">
                    <a:solidFill>
                      <a:srgbClr val="F3F4F6"/>
                    </a:solidFill>
                  </a:tcPr>
                </a:tc>
                <a:tc>
                  <a:txBody>
                    <a:bodyPr/>
                    <a:lstStyle/>
                    <a:p>
                      <a:pPr algn="l">
                        <a:lnSpc>
                          <a:spcPct val="100000"/>
                        </a:lnSpc>
                        <a:spcAft>
                          <a:spcPts val="0"/>
                        </a:spcAft>
                      </a:pPr>
                      <a:r>
                        <a:rPr sz="900" b="0" i="0">
                          <a:solidFill>
                            <a:srgbClr val="434343"/>
                          </a:solidFill>
                          <a:latin typeface="Inter"/>
                        </a:rPr>
                        <a:t>test_api_tidak_mau_start_tanpa_jwt_secret</a:t>
                      </a:r>
                    </a:p>
                  </a:txBody>
                  <a:tcPr marL="73152" marR="73152" marT="36576" marB="36576" anchor="ctr">
                    <a:solidFill>
                      <a:srgbClr val="F3F4F6"/>
                    </a:solidFill>
                  </a:tcPr>
                </a:tc>
                <a:extLst>
                  <a:ext uri="{0D108BD9-81ED-4DB2-BD59-A6C34878D82A}">
                    <a16:rowId xmlns:a16="http://schemas.microsoft.com/office/drawing/2014/main" val="10006"/>
                  </a:ext>
                </a:extLst>
              </a:tr>
              <a:tr h="384048">
                <a:tc>
                  <a:txBody>
                    <a:bodyPr/>
                    <a:lstStyle/>
                    <a:p>
                      <a:pPr algn="l">
                        <a:lnSpc>
                          <a:spcPct val="100000"/>
                        </a:lnSpc>
                        <a:spcAft>
                          <a:spcPts val="0"/>
                        </a:spcAft>
                      </a:pPr>
                      <a:r>
                        <a:rPr sz="900" b="1" i="0">
                          <a:solidFill>
                            <a:srgbClr val="1C4587"/>
                          </a:solidFill>
                          <a:latin typeface="Inter"/>
                        </a:rPr>
                        <a:t>pytest hijau</a:t>
                      </a:r>
                    </a:p>
                  </a:txBody>
                  <a:tcPr marL="73152" marR="73152" marT="36576" marB="36576" anchor="ctr">
                    <a:solidFill>
                      <a:srgbClr val="FFFFFF"/>
                    </a:solidFill>
                  </a:tcPr>
                </a:tc>
                <a:tc>
                  <a:txBody>
                    <a:bodyPr/>
                    <a:lstStyle/>
                    <a:p>
                      <a:pPr algn="l">
                        <a:lnSpc>
                          <a:spcPct val="100000"/>
                        </a:lnSpc>
                        <a:spcAft>
                          <a:spcPts val="0"/>
                        </a:spcAft>
                      </a:pPr>
                      <a:r>
                        <a:rPr sz="900" b="0" i="0">
                          <a:solidFill>
                            <a:srgbClr val="434343"/>
                          </a:solidFill>
                          <a:latin typeface="Inter"/>
                        </a:rPr>
                        <a:t>pytest -v: semua PASSED</a:t>
                      </a:r>
                    </a:p>
                  </a:txBody>
                  <a:tcPr marL="73152" marR="73152" marT="36576" marB="36576" anchor="ctr">
                    <a:solidFill>
                      <a:srgbClr val="FFFFFF"/>
                    </a:solidFill>
                  </a:tcPr>
                </a:tc>
                <a:extLst>
                  <a:ext uri="{0D108BD9-81ED-4DB2-BD59-A6C34878D82A}">
                    <a16:rowId xmlns:a16="http://schemas.microsoft.com/office/drawing/2014/main" val="10007"/>
                  </a:ext>
                </a:extLst>
              </a:tr>
            </a:tbl>
          </a:graphicData>
        </a:graphic>
      </p:graphicFrame>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78</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Hands-on</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Request Flow: Login sampai Cek Pemilik Order</a:t>
            </a:r>
          </a:p>
        </p:txBody>
      </p:sp>
      <p:sp>
        <p:nvSpPr>
          <p:cNvPr id="22" name="CodeTab 4"/>
          <p:cNvSpPr/>
          <p:nvPr/>
        </p:nvSpPr>
        <p:spPr>
          <a:xfrm>
            <a:off x="621792" y="1481328"/>
            <a:ext cx="5257800"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Dot 5"/>
          <p:cNvSpPr/>
          <p:nvPr/>
        </p:nvSpPr>
        <p:spPr>
          <a:xfrm>
            <a:off x="731520"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Dot 6"/>
          <p:cNvSpPr/>
          <p:nvPr/>
        </p:nvSpPr>
        <p:spPr>
          <a:xfrm>
            <a:off x="868680"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Dot 7"/>
          <p:cNvSpPr/>
          <p:nvPr/>
        </p:nvSpPr>
        <p:spPr>
          <a:xfrm>
            <a:off x="1005840"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 8"/>
          <p:cNvSpPr txBox="1"/>
          <p:nvPr/>
        </p:nvSpPr>
        <p:spPr>
          <a:xfrm>
            <a:off x="1170432" y="1490472"/>
            <a:ext cx="4617720"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latihan/app: auth.py → security.py → orders.py → order_service.py</a:t>
            </a:r>
          </a:p>
        </p:txBody>
      </p:sp>
      <p:sp>
        <p:nvSpPr>
          <p:cNvPr id="27" name="CodeBg 10"/>
          <p:cNvSpPr/>
          <p:nvPr/>
        </p:nvSpPr>
        <p:spPr>
          <a:xfrm>
            <a:off x="621792" y="1719072"/>
            <a:ext cx="5257800"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8" name="Code 11"/>
          <p:cNvSpPr txBox="1"/>
          <p:nvPr/>
        </p:nvSpPr>
        <p:spPr>
          <a:xfrm>
            <a:off x="621792" y="1719072"/>
            <a:ext cx="5257800" cy="2980944"/>
          </a:xfrm>
          <a:prstGeom prst="rect">
            <a:avLst/>
          </a:prstGeom>
          <a:noFill/>
        </p:spPr>
        <p:txBody>
          <a:bodyPr wrap="none" lIns="146304" tIns="91440" rIns="146304" bIns="54864">
            <a:spAutoFit/>
          </a:bodyPr>
          <a:lstStyle/>
          <a:p>
            <a:pPr>
              <a:lnSpc>
                <a:spcPct val="111111"/>
              </a:lnSpc>
              <a:spcAft>
                <a:spcPts val="0"/>
              </a:spcAft>
            </a:pPr>
            <a:r>
              <a:rPr sz="600" i="1">
                <a:solidFill>
                  <a:srgbClr val="8B98A8"/>
                </a:solidFill>
                <a:latin typeface="Inconsolata"/>
              </a:rPr>
              <a:t># api/routers/auth.py</a:t>
            </a:r>
          </a:p>
          <a:p>
            <a:pPr>
              <a:lnSpc>
                <a:spcPct val="111111"/>
              </a:lnSpc>
              <a:spcAft>
                <a:spcPts val="0"/>
              </a:spcAft>
            </a:pPr>
            <a:r>
              <a:rPr sz="600" i="0">
                <a:solidFill>
                  <a:srgbClr val="E6EDF3"/>
                </a:solidFill>
                <a:latin typeface="Inconsolata"/>
              </a:rPr>
              <a:t>    token = auth.login(form.username, form.password)</a:t>
            </a:r>
          </a:p>
          <a:p>
            <a:pPr>
              <a:lnSpc>
                <a:spcPct val="111111"/>
              </a:lnSpc>
              <a:spcAft>
                <a:spcPts val="0"/>
              </a:spcAft>
            </a:pPr>
            <a:r>
              <a:rPr sz="600" i="0">
                <a:solidFill>
                  <a:srgbClr val="E6EDF3"/>
                </a:solidFill>
                <a:latin typeface="Inconsolata"/>
              </a:rPr>
              <a:t> </a:t>
            </a:r>
          </a:p>
          <a:p>
            <a:pPr>
              <a:lnSpc>
                <a:spcPct val="111111"/>
              </a:lnSpc>
              <a:spcAft>
                <a:spcPts val="0"/>
              </a:spcAft>
            </a:pPr>
            <a:r>
              <a:rPr sz="600" i="1">
                <a:solidFill>
                  <a:srgbClr val="8B98A8"/>
                </a:solidFill>
                <a:latin typeface="Inconsolata"/>
              </a:rPr>
              <a:t># api/security.py</a:t>
            </a:r>
          </a:p>
          <a:p>
            <a:pPr>
              <a:lnSpc>
                <a:spcPct val="111111"/>
              </a:lnSpc>
              <a:spcAft>
                <a:spcPts val="0"/>
              </a:spcAft>
            </a:pPr>
            <a:r>
              <a:rPr sz="600" i="0">
                <a:solidFill>
                  <a:srgbClr val="FF8E6E"/>
                </a:solidFill>
                <a:latin typeface="Inconsolata"/>
              </a:rPr>
              <a:t>def</a:t>
            </a:r>
            <a:r>
              <a:rPr sz="600" i="0">
                <a:solidFill>
                  <a:srgbClr val="E6EDF3"/>
                </a:solidFill>
                <a:latin typeface="Inconsolata"/>
              </a:rPr>
              <a:t> </a:t>
            </a:r>
            <a:r>
              <a:rPr sz="600" i="0">
                <a:solidFill>
                  <a:srgbClr val="82B1FF"/>
                </a:solidFill>
                <a:latin typeface="Inconsolata"/>
              </a:rPr>
              <a:t>get_current_user</a:t>
            </a:r>
            <a:r>
              <a:rPr sz="600" i="0">
                <a:solidFill>
                  <a:srgbClr val="E6EDF3"/>
                </a:solidFill>
                <a:latin typeface="Inconsolata"/>
              </a:rPr>
              <a:t>(security_scopes: </a:t>
            </a:r>
            <a:r>
              <a:rPr sz="600" i="0">
                <a:solidFill>
                  <a:srgbClr val="7FDBCA"/>
                </a:solidFill>
                <a:latin typeface="Inconsolata"/>
              </a:rPr>
              <a:t>SecurityScopes</a:t>
            </a:r>
            <a:r>
              <a:rPr sz="600" i="0">
                <a:solidFill>
                  <a:srgbClr val="E6EDF3"/>
                </a:solidFill>
                <a:latin typeface="Inconsolata"/>
              </a:rPr>
              <a:t>, token: </a:t>
            </a:r>
            <a:r>
              <a:rPr sz="600" i="0">
                <a:solidFill>
                  <a:srgbClr val="C3A6FF"/>
                </a:solidFill>
                <a:latin typeface="Inconsolata"/>
              </a:rPr>
              <a:t>str</a:t>
            </a:r>
            <a:r>
              <a:rPr sz="600" i="0">
                <a:solidFill>
                  <a:srgbClr val="E6EDF3"/>
                </a:solidFill>
                <a:latin typeface="Inconsolata"/>
              </a:rPr>
              <a:t> | </a:t>
            </a:r>
            <a:r>
              <a:rPr sz="600" i="0">
                <a:solidFill>
                  <a:srgbClr val="FF8E6E"/>
                </a:solidFill>
                <a:latin typeface="Inconsolata"/>
              </a:rPr>
              <a:t>None</a:t>
            </a:r>
            <a:r>
              <a:rPr sz="600" i="0">
                <a:solidFill>
                  <a:srgbClr val="E6EDF3"/>
                </a:solidFill>
                <a:latin typeface="Inconsolata"/>
              </a:rPr>
              <a:t> = </a:t>
            </a:r>
            <a:r>
              <a:rPr sz="600" i="0">
                <a:solidFill>
                  <a:srgbClr val="7FDBCA"/>
                </a:solidFill>
                <a:latin typeface="Inconsolata"/>
              </a:rPr>
              <a:t>Depends</a:t>
            </a:r>
            <a:r>
              <a:rPr sz="600" i="0">
                <a:solidFill>
                  <a:srgbClr val="E6EDF3"/>
                </a:solidFill>
                <a:latin typeface="Inconsolata"/>
              </a:rPr>
              <a:t>(oauth2_scheme),</a:t>
            </a:r>
          </a:p>
          <a:p>
            <a:pPr>
              <a:lnSpc>
                <a:spcPct val="111111"/>
              </a:lnSpc>
              <a:spcAft>
                <a:spcPts val="0"/>
              </a:spcAft>
            </a:pPr>
            <a:r>
              <a:rPr sz="600" i="0">
                <a:solidFill>
                  <a:srgbClr val="E6EDF3"/>
                </a:solidFill>
                <a:latin typeface="Inconsolata"/>
              </a:rPr>
              <a:t>    </a:t>
            </a:r>
            <a:r>
              <a:rPr sz="600" i="0">
                <a:solidFill>
                  <a:srgbClr val="FF8E6E"/>
                </a:solidFill>
                <a:latin typeface="Inconsolata"/>
              </a:rPr>
              <a:t>return</a:t>
            </a:r>
            <a:r>
              <a:rPr sz="600" i="0">
                <a:solidFill>
                  <a:srgbClr val="E6EDF3"/>
                </a:solidFill>
                <a:latin typeface="Inconsolata"/>
              </a:rPr>
              <a:t> auth.authenticate(token, security_scopes.scopes)</a:t>
            </a:r>
          </a:p>
          <a:p>
            <a:pPr>
              <a:lnSpc>
                <a:spcPct val="111111"/>
              </a:lnSpc>
              <a:spcAft>
                <a:spcPts val="0"/>
              </a:spcAft>
            </a:pPr>
            <a:r>
              <a:rPr sz="600" i="0">
                <a:solidFill>
                  <a:srgbClr val="E6EDF3"/>
                </a:solidFill>
                <a:latin typeface="Inconsolata"/>
              </a:rPr>
              <a:t> </a:t>
            </a:r>
          </a:p>
          <a:p>
            <a:pPr>
              <a:lnSpc>
                <a:spcPct val="111111"/>
              </a:lnSpc>
              <a:spcAft>
                <a:spcPts val="0"/>
              </a:spcAft>
            </a:pPr>
            <a:r>
              <a:rPr sz="600" i="1">
                <a:solidFill>
                  <a:srgbClr val="8B98A8"/>
                </a:solidFill>
                <a:latin typeface="Inconsolata"/>
              </a:rPr>
              <a:t># application/auth_service.py</a:t>
            </a:r>
          </a:p>
          <a:p>
            <a:pPr>
              <a:lnSpc>
                <a:spcPct val="111111"/>
              </a:lnSpc>
              <a:spcAft>
                <a:spcPts val="0"/>
              </a:spcAft>
            </a:pPr>
            <a:r>
              <a:rPr sz="600" i="0">
                <a:solidFill>
                  <a:srgbClr val="E6EDF3"/>
                </a:solidFill>
                <a:latin typeface="Inconsolata"/>
              </a:rPr>
              <a:t>        claims = </a:t>
            </a:r>
            <a:r>
              <a:rPr sz="600" i="0">
                <a:solidFill>
                  <a:srgbClr val="C3A6FF"/>
                </a:solidFill>
                <a:latin typeface="Inconsolata"/>
              </a:rPr>
              <a:t>self</a:t>
            </a:r>
            <a:r>
              <a:rPr sz="600" i="0">
                <a:solidFill>
                  <a:srgbClr val="E6EDF3"/>
                </a:solidFill>
                <a:latin typeface="Inconsolata"/>
              </a:rPr>
              <a:t>.tokens.read(token)                    </a:t>
            </a:r>
            <a:r>
              <a:rPr sz="600" i="1">
                <a:solidFill>
                  <a:srgbClr val="8B98A8"/>
                </a:solidFill>
                <a:latin typeface="Inconsolata"/>
              </a:rPr>
              <a:t># InvalidToken jika palsu atau kedaluwarsa</a:t>
            </a:r>
          </a:p>
          <a:p>
            <a:pPr>
              <a:lnSpc>
                <a:spcPct val="111111"/>
              </a:lnSpc>
              <a:spcAft>
                <a:spcPts val="0"/>
              </a:spcAft>
            </a:pPr>
            <a:r>
              <a:rPr sz="600" i="0">
                <a:solidFill>
                  <a:srgbClr val="E6EDF3"/>
                </a:solidFill>
                <a:latin typeface="Inconsolata"/>
              </a:rPr>
              <a:t>        missing = [scope </a:t>
            </a:r>
            <a:r>
              <a:rPr sz="600" i="0">
                <a:solidFill>
                  <a:srgbClr val="FF8E6E"/>
                </a:solidFill>
                <a:latin typeface="Inconsolata"/>
              </a:rPr>
              <a:t>for</a:t>
            </a:r>
            <a:r>
              <a:rPr sz="600" i="0">
                <a:solidFill>
                  <a:srgbClr val="E6EDF3"/>
                </a:solidFill>
                <a:latin typeface="Inconsolata"/>
              </a:rPr>
              <a:t> scope </a:t>
            </a:r>
            <a:r>
              <a:rPr sz="600" i="0">
                <a:solidFill>
                  <a:srgbClr val="FF8E6E"/>
                </a:solidFill>
                <a:latin typeface="Inconsolata"/>
              </a:rPr>
              <a:t>in</a:t>
            </a:r>
            <a:r>
              <a:rPr sz="600" i="0">
                <a:solidFill>
                  <a:srgbClr val="E6EDF3"/>
                </a:solidFill>
                <a:latin typeface="Inconsolata"/>
              </a:rPr>
              <a:t> required_scopes </a:t>
            </a:r>
            <a:r>
              <a:rPr sz="600" i="0">
                <a:solidFill>
                  <a:srgbClr val="FF8E6E"/>
                </a:solidFill>
                <a:latin typeface="Inconsolata"/>
              </a:rPr>
              <a:t>if</a:t>
            </a:r>
            <a:r>
              <a:rPr sz="600" i="0">
                <a:solidFill>
                  <a:srgbClr val="E6EDF3"/>
                </a:solidFill>
                <a:latin typeface="Inconsolata"/>
              </a:rPr>
              <a:t> </a:t>
            </a:r>
            <a:r>
              <a:rPr sz="600" i="0">
                <a:solidFill>
                  <a:srgbClr val="FF8E6E"/>
                </a:solidFill>
                <a:latin typeface="Inconsolata"/>
              </a:rPr>
              <a:t>not</a:t>
            </a:r>
            <a:r>
              <a:rPr sz="600" i="0">
                <a:solidFill>
                  <a:srgbClr val="E6EDF3"/>
                </a:solidFill>
                <a:latin typeface="Inconsolata"/>
              </a:rPr>
              <a:t> user.can(scope)]</a:t>
            </a:r>
          </a:p>
          <a:p>
            <a:pPr>
              <a:lnSpc>
                <a:spcPct val="111111"/>
              </a:lnSpc>
              <a:spcAft>
                <a:spcPts val="0"/>
              </a:spcAft>
            </a:pPr>
            <a:r>
              <a:rPr sz="600" i="0">
                <a:solidFill>
                  <a:srgbClr val="E6EDF3"/>
                </a:solidFill>
                <a:latin typeface="Inconsolata"/>
              </a:rPr>
              <a:t> </a:t>
            </a:r>
          </a:p>
          <a:p>
            <a:pPr>
              <a:lnSpc>
                <a:spcPct val="111111"/>
              </a:lnSpc>
              <a:spcAft>
                <a:spcPts val="0"/>
              </a:spcAft>
            </a:pPr>
            <a:r>
              <a:rPr sz="600" i="1">
                <a:solidFill>
                  <a:srgbClr val="8B98A8"/>
                </a:solidFill>
                <a:latin typeface="Inconsolata"/>
              </a:rPr>
              <a:t># api/routers/orders.py</a:t>
            </a:r>
          </a:p>
          <a:p>
            <a:pPr>
              <a:lnSpc>
                <a:spcPct val="111111"/>
              </a:lnSpc>
              <a:spcAft>
                <a:spcPts val="0"/>
              </a:spcAft>
            </a:pPr>
            <a:r>
              <a:rPr sz="600" i="0">
                <a:solidFill>
                  <a:srgbClr val="E6EDF3"/>
                </a:solidFill>
                <a:latin typeface="Inconsolata"/>
              </a:rPr>
              <a:t>    </a:t>
            </a:r>
            <a:r>
              <a:rPr sz="600" i="0">
                <a:solidFill>
                  <a:srgbClr val="FF8E6E"/>
                </a:solidFill>
                <a:latin typeface="Inconsolata"/>
              </a:rPr>
              <a:t>return</a:t>
            </a:r>
            <a:r>
              <a:rPr sz="600" i="0">
                <a:solidFill>
                  <a:srgbClr val="E6EDF3"/>
                </a:solidFill>
                <a:latin typeface="Inconsolata"/>
              </a:rPr>
              <a:t> </a:t>
            </a:r>
            <a:r>
              <a:rPr sz="600" i="0">
                <a:solidFill>
                  <a:srgbClr val="7FDBCA"/>
                </a:solidFill>
                <a:latin typeface="Inconsolata"/>
              </a:rPr>
              <a:t>OrderOut</a:t>
            </a:r>
            <a:r>
              <a:rPr sz="600" i="0">
                <a:solidFill>
                  <a:srgbClr val="E6EDF3"/>
                </a:solidFill>
                <a:latin typeface="Inconsolata"/>
              </a:rPr>
              <a:t>.from_domain(service.get_order(order_id, user))</a:t>
            </a:r>
          </a:p>
          <a:p>
            <a:pPr>
              <a:lnSpc>
                <a:spcPct val="111111"/>
              </a:lnSpc>
              <a:spcAft>
                <a:spcPts val="0"/>
              </a:spcAft>
            </a:pPr>
            <a:r>
              <a:rPr sz="600" i="0">
                <a:solidFill>
                  <a:srgbClr val="E6EDF3"/>
                </a:solidFill>
                <a:latin typeface="Inconsolata"/>
              </a:rPr>
              <a:t> </a:t>
            </a:r>
          </a:p>
          <a:p>
            <a:pPr>
              <a:lnSpc>
                <a:spcPct val="111111"/>
              </a:lnSpc>
              <a:spcAft>
                <a:spcPts val="0"/>
              </a:spcAft>
            </a:pPr>
            <a:r>
              <a:rPr sz="600" i="1">
                <a:solidFill>
                  <a:srgbClr val="8B98A8"/>
                </a:solidFill>
                <a:latin typeface="Inconsolata"/>
              </a:rPr>
              <a:t># application/order_service.py</a:t>
            </a:r>
          </a:p>
          <a:p>
            <a:pPr>
              <a:lnSpc>
                <a:spcPct val="111111"/>
              </a:lnSpc>
              <a:spcAft>
                <a:spcPts val="0"/>
              </a:spcAft>
            </a:pPr>
            <a:r>
              <a:rPr sz="600" i="0">
                <a:solidFill>
                  <a:srgbClr val="E6EDF3"/>
                </a:solidFill>
                <a:latin typeface="Inconsolata"/>
              </a:rPr>
              <a:t>        </a:t>
            </a:r>
            <a:r>
              <a:rPr sz="600" i="0">
                <a:solidFill>
                  <a:srgbClr val="FF8E6E"/>
                </a:solidFill>
                <a:latin typeface="Inconsolata"/>
              </a:rPr>
              <a:t>if</a:t>
            </a:r>
            <a:r>
              <a:rPr sz="600" i="0">
                <a:solidFill>
                  <a:srgbClr val="E6EDF3"/>
                </a:solidFill>
                <a:latin typeface="Inconsolata"/>
              </a:rPr>
              <a:t> order </a:t>
            </a:r>
            <a:r>
              <a:rPr sz="600" i="0">
                <a:solidFill>
                  <a:srgbClr val="FF8E6E"/>
                </a:solidFill>
                <a:latin typeface="Inconsolata"/>
              </a:rPr>
              <a:t>is</a:t>
            </a:r>
            <a:r>
              <a:rPr sz="600" i="0">
                <a:solidFill>
                  <a:srgbClr val="E6EDF3"/>
                </a:solidFill>
                <a:latin typeface="Inconsolata"/>
              </a:rPr>
              <a:t> </a:t>
            </a:r>
            <a:r>
              <a:rPr sz="600" i="0">
                <a:solidFill>
                  <a:srgbClr val="FF8E6E"/>
                </a:solidFill>
                <a:latin typeface="Inconsolata"/>
              </a:rPr>
              <a:t>None</a:t>
            </a:r>
            <a:r>
              <a:rPr sz="600" i="0">
                <a:solidFill>
                  <a:srgbClr val="E6EDF3"/>
                </a:solidFill>
                <a:latin typeface="Inconsolata"/>
              </a:rPr>
              <a:t> </a:t>
            </a:r>
            <a:r>
              <a:rPr sz="600" i="0">
                <a:solidFill>
                  <a:srgbClr val="FF8E6E"/>
                </a:solidFill>
                <a:latin typeface="Inconsolata"/>
              </a:rPr>
              <a:t>or</a:t>
            </a:r>
            <a:r>
              <a:rPr sz="600" i="0">
                <a:solidFill>
                  <a:srgbClr val="E6EDF3"/>
                </a:solidFill>
                <a:latin typeface="Inconsolata"/>
              </a:rPr>
              <a:t> (order.customer != actor.email </a:t>
            </a:r>
            <a:r>
              <a:rPr sz="600" i="0">
                <a:solidFill>
                  <a:srgbClr val="FF8E6E"/>
                </a:solidFill>
                <a:latin typeface="Inconsolata"/>
              </a:rPr>
              <a:t>and</a:t>
            </a:r>
            <a:r>
              <a:rPr sz="600" i="0">
                <a:solidFill>
                  <a:srgbClr val="E6EDF3"/>
                </a:solidFill>
                <a:latin typeface="Inconsolata"/>
              </a:rPr>
              <a:t> </a:t>
            </a:r>
            <a:r>
              <a:rPr sz="600" i="0">
                <a:solidFill>
                  <a:srgbClr val="FF8E6E"/>
                </a:solidFill>
                <a:latin typeface="Inconsolata"/>
              </a:rPr>
              <a:t>not</a:t>
            </a:r>
            <a:r>
              <a:rPr sz="600" i="0">
                <a:solidFill>
                  <a:srgbClr val="E6EDF3"/>
                </a:solidFill>
                <a:latin typeface="Inconsolata"/>
              </a:rPr>
              <a:t> actor.can(</a:t>
            </a:r>
            <a:r>
              <a:rPr sz="600" i="0">
                <a:solidFill>
                  <a:srgbClr val="A5D6A7"/>
                </a:solidFill>
                <a:latin typeface="Inconsolata"/>
              </a:rPr>
              <a:t>"orders:all"</a:t>
            </a:r>
            <a:r>
              <a:rPr sz="600" i="0">
                <a:solidFill>
                  <a:srgbClr val="E6EDF3"/>
                </a:solidFill>
                <a:latin typeface="Inconsolata"/>
              </a:rPr>
              <a:t>)):</a:t>
            </a:r>
          </a:p>
        </p:txBody>
      </p:sp>
      <p:sp>
        <p:nvSpPr>
          <p:cNvPr id="29" name="Box 12"/>
          <p:cNvSpPr/>
          <p:nvPr/>
        </p:nvSpPr>
        <p:spPr>
          <a:xfrm>
            <a:off x="704088" y="19253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0" name="Box 13"/>
          <p:cNvSpPr/>
          <p:nvPr/>
        </p:nvSpPr>
        <p:spPr>
          <a:xfrm>
            <a:off x="5678424" y="18542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1</a:t>
            </a:r>
          </a:p>
        </p:txBody>
      </p:sp>
      <p:sp>
        <p:nvSpPr>
          <p:cNvPr id="31" name="Box 14"/>
          <p:cNvSpPr/>
          <p:nvPr/>
        </p:nvSpPr>
        <p:spPr>
          <a:xfrm>
            <a:off x="704088" y="22301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Box 15"/>
          <p:cNvSpPr/>
          <p:nvPr/>
        </p:nvSpPr>
        <p:spPr>
          <a:xfrm>
            <a:off x="5678424" y="2159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2</a:t>
            </a:r>
          </a:p>
        </p:txBody>
      </p:sp>
      <p:sp>
        <p:nvSpPr>
          <p:cNvPr id="33" name="Box 16"/>
          <p:cNvSpPr/>
          <p:nvPr/>
        </p:nvSpPr>
        <p:spPr>
          <a:xfrm>
            <a:off x="704088" y="26365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4" name="Box 17"/>
          <p:cNvSpPr/>
          <p:nvPr/>
        </p:nvSpPr>
        <p:spPr>
          <a:xfrm>
            <a:off x="5678424" y="25654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3</a:t>
            </a:r>
          </a:p>
        </p:txBody>
      </p:sp>
      <p:sp>
        <p:nvSpPr>
          <p:cNvPr id="35" name="Box 18"/>
          <p:cNvSpPr/>
          <p:nvPr/>
        </p:nvSpPr>
        <p:spPr>
          <a:xfrm>
            <a:off x="704088" y="27381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6" name="Box 19"/>
          <p:cNvSpPr/>
          <p:nvPr/>
        </p:nvSpPr>
        <p:spPr>
          <a:xfrm>
            <a:off x="5385816" y="26670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4</a:t>
            </a:r>
          </a:p>
        </p:txBody>
      </p:sp>
      <p:sp>
        <p:nvSpPr>
          <p:cNvPr id="37" name="Box 20"/>
          <p:cNvSpPr/>
          <p:nvPr/>
        </p:nvSpPr>
        <p:spPr>
          <a:xfrm>
            <a:off x="704088" y="30429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Box 21"/>
          <p:cNvSpPr/>
          <p:nvPr/>
        </p:nvSpPr>
        <p:spPr>
          <a:xfrm>
            <a:off x="5678424" y="29718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5</a:t>
            </a:r>
          </a:p>
        </p:txBody>
      </p:sp>
      <p:sp>
        <p:nvSpPr>
          <p:cNvPr id="39" name="Box 22"/>
          <p:cNvSpPr/>
          <p:nvPr/>
        </p:nvSpPr>
        <p:spPr>
          <a:xfrm>
            <a:off x="704088" y="3347720"/>
            <a:ext cx="5093208" cy="95504"/>
          </a:xfrm>
          <a:prstGeom prst="roundRect">
            <a:avLst>
              <a:gd name="adj" fmla="val 47872"/>
            </a:avLst>
          </a:prstGeom>
          <a:solidFill>
            <a:srgbClr val="E0764F">
              <a:alpha val="22000"/>
            </a:srgbClr>
          </a:solidFill>
          <a:ln w="12700">
            <a:solidFill>
              <a:srgbClr val="E0764F"/>
            </a:solid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0" name="Box 23"/>
          <p:cNvSpPr/>
          <p:nvPr/>
        </p:nvSpPr>
        <p:spPr>
          <a:xfrm>
            <a:off x="5678424" y="3276600"/>
            <a:ext cx="237744" cy="237744"/>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850" b="1" i="0">
                <a:solidFill>
                  <a:srgbClr val="FFFFFF"/>
                </a:solidFill>
                <a:latin typeface="Inter"/>
              </a:rPr>
              <a:t>6</a:t>
            </a:r>
          </a:p>
        </p:txBody>
      </p:sp>
      <p:sp>
        <p:nvSpPr>
          <p:cNvPr id="41" name="Box 24"/>
          <p:cNvSpPr/>
          <p:nvPr/>
        </p:nvSpPr>
        <p:spPr>
          <a:xfrm>
            <a:off x="6062472" y="1499616"/>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1</a:t>
            </a:r>
          </a:p>
        </p:txBody>
      </p:sp>
      <p:sp>
        <p:nvSpPr>
          <p:cNvPr id="42" name="Text 25"/>
          <p:cNvSpPr txBox="1"/>
          <p:nvPr/>
        </p:nvSpPr>
        <p:spPr>
          <a:xfrm>
            <a:off x="6391656" y="1463040"/>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Login: cek hash password, JWT dikirim ke client</a:t>
            </a:r>
          </a:p>
        </p:txBody>
      </p:sp>
      <p:sp>
        <p:nvSpPr>
          <p:cNvPr id="43" name="Box 26"/>
          <p:cNvSpPr/>
          <p:nvPr/>
        </p:nvSpPr>
        <p:spPr>
          <a:xfrm>
            <a:off x="6062472" y="2036064"/>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2</a:t>
            </a:r>
          </a:p>
        </p:txBody>
      </p:sp>
      <p:sp>
        <p:nvSpPr>
          <p:cNvPr id="44" name="Text 27"/>
          <p:cNvSpPr txBox="1"/>
          <p:nvPr/>
        </p:nvSpPr>
        <p:spPr>
          <a:xfrm>
            <a:off x="6391656" y="1999488"/>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Request berikutnya membawa Bearer, dibaca OAuth2PasswordBearer</a:t>
            </a:r>
          </a:p>
        </p:txBody>
      </p:sp>
      <p:sp>
        <p:nvSpPr>
          <p:cNvPr id="45" name="Box 28"/>
          <p:cNvSpPr/>
          <p:nvPr/>
        </p:nvSpPr>
        <p:spPr>
          <a:xfrm>
            <a:off x="6062472" y="2572512"/>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3</a:t>
            </a:r>
          </a:p>
        </p:txBody>
      </p:sp>
      <p:sp>
        <p:nvSpPr>
          <p:cNvPr id="46" name="Text 29"/>
          <p:cNvSpPr txBox="1"/>
          <p:nvPr/>
        </p:nvSpPr>
        <p:spPr>
          <a:xfrm>
            <a:off x="6391656" y="2535936"/>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Signature dan exp dicek. Gagal = 401</a:t>
            </a:r>
          </a:p>
        </p:txBody>
      </p:sp>
      <p:sp>
        <p:nvSpPr>
          <p:cNvPr id="47" name="Box 30"/>
          <p:cNvSpPr/>
          <p:nvPr/>
        </p:nvSpPr>
        <p:spPr>
          <a:xfrm>
            <a:off x="6062472" y="3108960"/>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4</a:t>
            </a:r>
          </a:p>
        </p:txBody>
      </p:sp>
      <p:sp>
        <p:nvSpPr>
          <p:cNvPr id="48" name="Text 31"/>
          <p:cNvSpPr txBox="1"/>
          <p:nvPr/>
        </p:nvSpPr>
        <p:spPr>
          <a:xfrm>
            <a:off x="6391656" y="3072384"/>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Scope endpoint dicek. Kurang = 403</a:t>
            </a:r>
          </a:p>
        </p:txBody>
      </p:sp>
      <p:sp>
        <p:nvSpPr>
          <p:cNvPr id="49" name="Box 32"/>
          <p:cNvSpPr/>
          <p:nvPr/>
        </p:nvSpPr>
        <p:spPr>
          <a:xfrm>
            <a:off x="6062472" y="3645408"/>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5</a:t>
            </a:r>
          </a:p>
        </p:txBody>
      </p:sp>
      <p:sp>
        <p:nvSpPr>
          <p:cNvPr id="50" name="Text 33"/>
          <p:cNvSpPr txBox="1"/>
          <p:nvPr/>
        </p:nvSpPr>
        <p:spPr>
          <a:xfrm>
            <a:off x="6391656" y="3608832"/>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Route meneruskan user yang login ke use case</a:t>
            </a:r>
          </a:p>
        </p:txBody>
      </p:sp>
      <p:sp>
        <p:nvSpPr>
          <p:cNvPr id="51" name="Box 34"/>
          <p:cNvSpPr/>
          <p:nvPr/>
        </p:nvSpPr>
        <p:spPr>
          <a:xfrm>
            <a:off x="6062472" y="4181856"/>
            <a:ext cx="256032" cy="256032"/>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6</a:t>
            </a:r>
          </a:p>
        </p:txBody>
      </p:sp>
      <p:sp>
        <p:nvSpPr>
          <p:cNvPr id="52" name="Text 35"/>
          <p:cNvSpPr txBox="1"/>
          <p:nvPr/>
        </p:nvSpPr>
        <p:spPr>
          <a:xfrm>
            <a:off x="6391656" y="4145280"/>
            <a:ext cx="2093975" cy="536448"/>
          </a:xfrm>
          <a:prstGeom prst="rect">
            <a:avLst/>
          </a:prstGeom>
          <a:noFill/>
        </p:spPr>
        <p:txBody>
          <a:bodyPr wrap="square" lIns="45720" rIns="45720" anchor="t">
            <a:spAutoFit/>
          </a:bodyPr>
          <a:lstStyle/>
          <a:p>
            <a:pPr algn="l">
              <a:lnSpc>
                <a:spcPct val="115000"/>
              </a:lnSpc>
              <a:spcAft>
                <a:spcPts val="400"/>
              </a:spcAft>
            </a:pPr>
            <a:r>
              <a:rPr sz="850" b="0" i="0">
                <a:solidFill>
                  <a:srgbClr val="434343"/>
                </a:solidFill>
                <a:latin typeface="Inter"/>
              </a:rPr>
              <a:t>Use case mengecek pemilik order. Bukan pemilik = 404</a:t>
            </a:r>
          </a:p>
        </p:txBody>
      </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Google Shape;30;p2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79</a:t>
            </a:fld>
            <a:endParaRPr/>
          </a:p>
        </p:txBody>
      </p:sp>
      <p:sp>
        <p:nvSpPr>
          <p:cNvPr id="31" name="Text 1"/>
          <p:cNvSpPr txBox="1"/>
          <p:nvPr/>
        </p:nvSpPr>
        <p:spPr>
          <a:xfrm>
            <a:off x="822960" y="1600200"/>
            <a:ext cx="7315200" cy="365760"/>
          </a:xfrm>
          <a:prstGeom prst="rect">
            <a:avLst/>
          </a:prstGeom>
          <a:noFill/>
        </p:spPr>
        <p:txBody>
          <a:bodyPr wrap="square" lIns="45720" rIns="45720" anchor="t">
            <a:spAutoFit/>
          </a:bodyPr>
          <a:lstStyle/>
          <a:p>
            <a:pPr algn="l">
              <a:lnSpc>
                <a:spcPct val="115000"/>
              </a:lnSpc>
              <a:spcAft>
                <a:spcPts val="400"/>
              </a:spcAft>
            </a:pPr>
            <a:r>
              <a:rPr sz="1400" b="0" i="0">
                <a:solidFill>
                  <a:srgbClr val="CFE0FA"/>
                </a:solidFill>
                <a:latin typeface="Inter"/>
              </a:rPr>
              <a:t>Bagian 05</a:t>
            </a:r>
          </a:p>
        </p:txBody>
      </p:sp>
      <p:sp>
        <p:nvSpPr>
          <p:cNvPr id="32" name="Text 2"/>
          <p:cNvSpPr txBox="1"/>
          <p:nvPr/>
        </p:nvSpPr>
        <p:spPr>
          <a:xfrm>
            <a:off x="822960" y="1920240"/>
            <a:ext cx="7315200" cy="822960"/>
          </a:xfrm>
          <a:prstGeom prst="rect">
            <a:avLst/>
          </a:prstGeom>
          <a:noFill/>
        </p:spPr>
        <p:txBody>
          <a:bodyPr wrap="square" lIns="45720" rIns="45720" anchor="t">
            <a:spAutoFit/>
          </a:bodyPr>
          <a:lstStyle/>
          <a:p>
            <a:pPr algn="l">
              <a:lnSpc>
                <a:spcPct val="115000"/>
              </a:lnSpc>
              <a:spcAft>
                <a:spcPts val="400"/>
              </a:spcAft>
            </a:pPr>
            <a:r>
              <a:rPr sz="3000" b="0" i="0">
                <a:solidFill>
                  <a:srgbClr val="FFFFFF"/>
                </a:solidFill>
                <a:latin typeface="Work Sans ExtraBold"/>
              </a:rPr>
              <a:t>Studi Kasus: Batasi Login Gagal</a:t>
            </a:r>
          </a:p>
        </p:txBody>
      </p:sp>
      <p:sp>
        <p:nvSpPr>
          <p:cNvPr id="33" name="Text 3"/>
          <p:cNvSpPr txBox="1"/>
          <p:nvPr/>
        </p:nvSpPr>
        <p:spPr>
          <a:xfrm>
            <a:off x="822960" y="3246120"/>
            <a:ext cx="6583680" cy="731520"/>
          </a:xfrm>
          <a:prstGeom prst="rect">
            <a:avLst/>
          </a:prstGeom>
          <a:noFill/>
        </p:spPr>
        <p:txBody>
          <a:bodyPr wrap="square" lIns="45720" rIns="45720" anchor="t">
            <a:spAutoFit/>
          </a:bodyPr>
          <a:lstStyle/>
          <a:p>
            <a:pPr algn="l">
              <a:lnSpc>
                <a:spcPct val="115000"/>
              </a:lnSpc>
              <a:spcAft>
                <a:spcPts val="400"/>
              </a:spcAft>
            </a:pPr>
            <a:r>
              <a:rPr sz="1200" b="0" i="0">
                <a:solidFill>
                  <a:srgbClr val="E3ECFA"/>
                </a:solidFill>
                <a:latin typeface="Inter"/>
              </a:rPr>
              <a:t>Dikerjakan mandiri. Menggabungkan materi Sesi 6, 9, dan 10.</a:t>
            </a:r>
          </a:p>
        </p:txBody>
      </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80</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Studi Kasus  ·  mulai dari 10-studi-kasus-login-limit/before/</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Instruksi &amp; Requirement</a:t>
            </a:r>
          </a:p>
        </p:txBody>
      </p:sp>
      <p:sp>
        <p:nvSpPr>
          <p:cNvPr id="22" name="Text 3"/>
          <p:cNvSpPr txBox="1"/>
          <p:nvPr/>
        </p:nvSpPr>
        <p:spPr>
          <a:xfrm>
            <a:off x="621792" y="1481328"/>
            <a:ext cx="4434840" cy="3200400"/>
          </a:xfrm>
          <a:prstGeom prst="rect">
            <a:avLst/>
          </a:prstGeom>
          <a:noFill/>
        </p:spPr>
        <p:txBody>
          <a:bodyPr wrap="square" lIns="45720" rIns="45720" anchor="t">
            <a:spAutoFit/>
          </a:bodyPr>
          <a:lstStyle/>
          <a:p>
            <a:pPr algn="l">
              <a:lnSpc>
                <a:spcPct val="115000"/>
              </a:lnSpc>
              <a:spcAft>
                <a:spcPts val="400"/>
              </a:spcAft>
            </a:pPr>
            <a:r>
              <a:rPr sz="950" b="1" i="0">
                <a:solidFill>
                  <a:srgbClr val="1C4587"/>
                </a:solidFill>
                <a:latin typeface="Inter"/>
              </a:rPr>
              <a:t>Latar belakang</a:t>
            </a:r>
          </a:p>
          <a:p>
            <a:pPr algn="l">
              <a:lnSpc>
                <a:spcPct val="115000"/>
              </a:lnSpc>
              <a:spcAft>
                <a:spcPts val="400"/>
              </a:spcAft>
            </a:pPr>
            <a:r>
              <a:rPr sz="850" b="0" i="0">
                <a:solidFill>
                  <a:srgbClr val="B5482A"/>
                </a:solidFill>
                <a:latin typeface="Inconsolata"/>
              </a:rPr>
              <a:t>POST /auth/token</a:t>
            </a:r>
            <a:r>
              <a:rPr sz="850" b="0" i="0">
                <a:solidFill>
                  <a:srgbClr val="434343"/>
                </a:solidFill>
                <a:latin typeface="Inter"/>
              </a:rPr>
              <a:t> bisa dipanggil tanpa batas. Penyerang bisa mencoba ribuan password untuk satu email (</a:t>
            </a:r>
            <a:r>
              <a:rPr sz="850" b="1" i="0">
                <a:solidFill>
                  <a:srgbClr val="434343"/>
                </a:solidFill>
                <a:latin typeface="Inter"/>
              </a:rPr>
              <a:t>brute force</a:t>
            </a:r>
            <a:r>
              <a:rPr sz="850" b="0" i="0">
                <a:solidFill>
                  <a:srgbClr val="434343"/>
                </a:solidFill>
                <a:latin typeface="Inter"/>
              </a:rPr>
              <a:t>), dan tim tidak tahu sedang diserang.</a:t>
            </a:r>
          </a:p>
          <a:p>
            <a:pPr algn="l">
              <a:lnSpc>
                <a:spcPct val="115000"/>
              </a:lnSpc>
              <a:spcAft>
                <a:spcPts val="400"/>
              </a:spcAft>
            </a:pPr>
            <a:r>
              <a:rPr sz="950" b="1" i="0">
                <a:solidFill>
                  <a:srgbClr val="1C4587"/>
                </a:solidFill>
                <a:latin typeface="Inter"/>
              </a:rPr>
              <a:t>Requirement</a:t>
            </a:r>
          </a:p>
          <a:p>
            <a:pPr marL="182880" indent="-182880" algn="l">
              <a:lnSpc>
                <a:spcPct val="115000"/>
              </a:lnSpc>
              <a:spcAft>
                <a:spcPts val="400"/>
              </a:spcAft>
              <a:buClr>
                <a:srgbClr val="E0764F"/>
              </a:buClr>
              <a:buSzPct val="100000"/>
              <a:buFont typeface="Arial"/>
              <a:buChar char="•"/>
            </a:pPr>
            <a:r>
              <a:rPr sz="850" b="0" i="0">
                <a:solidFill>
                  <a:srgbClr val="434343"/>
                </a:solidFill>
                <a:latin typeface="Inter"/>
              </a:rPr>
              <a:t>Login gagal dihitung per email di Redis</a:t>
            </a:r>
          </a:p>
          <a:p>
            <a:pPr marL="182880" indent="-182880" algn="l">
              <a:lnSpc>
                <a:spcPct val="115000"/>
              </a:lnSpc>
              <a:spcAft>
                <a:spcPts val="400"/>
              </a:spcAft>
              <a:buClr>
                <a:srgbClr val="E0764F"/>
              </a:buClr>
              <a:buSzPct val="100000"/>
              <a:buFont typeface="Arial"/>
              <a:buChar char="•"/>
            </a:pPr>
            <a:r>
              <a:rPr sz="850" b="0" i="0">
                <a:solidFill>
                  <a:srgbClr val="434343"/>
                </a:solidFill>
                <a:latin typeface="Inter"/>
              </a:rPr>
              <a:t>Gagal ke-5 dalam 15 menit: login berikutnya 429 </a:t>
            </a:r>
            <a:r>
              <a:rPr sz="850" b="0" i="0">
                <a:solidFill>
                  <a:srgbClr val="B5482A"/>
                </a:solidFill>
                <a:latin typeface="Inconsolata"/>
              </a:rPr>
              <a:t>too_many_login_attempts</a:t>
            </a:r>
            <a:r>
              <a:rPr sz="850" b="0" i="0">
                <a:solidFill>
                  <a:srgbClr val="434343"/>
                </a:solidFill>
                <a:latin typeface="Inter"/>
              </a:rPr>
              <a:t> + </a:t>
            </a:r>
            <a:r>
              <a:rPr sz="850" b="0" i="0">
                <a:solidFill>
                  <a:srgbClr val="B5482A"/>
                </a:solidFill>
                <a:latin typeface="Inconsolata"/>
              </a:rPr>
              <a:t>Retry-After</a:t>
            </a:r>
            <a:r>
              <a:rPr sz="850" b="0" i="0">
                <a:solidFill>
                  <a:srgbClr val="434343"/>
                </a:solidFill>
                <a:latin typeface="Inter"/>
              </a:rPr>
              <a:t>, walaupun password benar</a:t>
            </a:r>
          </a:p>
          <a:p>
            <a:pPr marL="182880" indent="-182880" algn="l">
              <a:lnSpc>
                <a:spcPct val="115000"/>
              </a:lnSpc>
              <a:spcAft>
                <a:spcPts val="400"/>
              </a:spcAft>
              <a:buClr>
                <a:srgbClr val="E0764F"/>
              </a:buClr>
              <a:buSzPct val="100000"/>
              <a:buFont typeface="Arial"/>
              <a:buChar char="•"/>
            </a:pPr>
            <a:r>
              <a:rPr sz="850" b="0" i="0">
                <a:solidFill>
                  <a:srgbClr val="434343"/>
                </a:solidFill>
                <a:latin typeface="Inter"/>
              </a:rPr>
              <a:t>Login berhasil mereset hitungan</a:t>
            </a:r>
          </a:p>
          <a:p>
            <a:pPr marL="182880" indent="-182880" algn="l">
              <a:lnSpc>
                <a:spcPct val="115000"/>
              </a:lnSpc>
              <a:spcAft>
                <a:spcPts val="400"/>
              </a:spcAft>
              <a:buClr>
                <a:srgbClr val="E0764F"/>
              </a:buClr>
              <a:buSzPct val="100000"/>
              <a:buFont typeface="Arial"/>
              <a:buChar char="•"/>
            </a:pPr>
            <a:r>
              <a:rPr sz="850" b="0" i="0">
                <a:solidFill>
                  <a:srgbClr val="434343"/>
                </a:solidFill>
                <a:latin typeface="Inter"/>
              </a:rPr>
              <a:t>Email tidak terdaftar juga dihitung</a:t>
            </a:r>
          </a:p>
          <a:p>
            <a:pPr marL="182880" indent="-182880" algn="l">
              <a:lnSpc>
                <a:spcPct val="115000"/>
              </a:lnSpc>
              <a:spcAft>
                <a:spcPts val="400"/>
              </a:spcAft>
              <a:buClr>
                <a:srgbClr val="E0764F"/>
              </a:buClr>
              <a:buSzPct val="100000"/>
              <a:buFont typeface="Arial"/>
              <a:buChar char="•"/>
            </a:pPr>
            <a:r>
              <a:rPr sz="850" b="0" i="0">
                <a:solidFill>
                  <a:srgbClr val="434343"/>
                </a:solidFill>
                <a:latin typeface="Inter"/>
              </a:rPr>
              <a:t>Log </a:t>
            </a:r>
            <a:r>
              <a:rPr sz="850" b="0" i="0">
                <a:solidFill>
                  <a:srgbClr val="B5482A"/>
                </a:solidFill>
                <a:latin typeface="Inconsolata"/>
              </a:rPr>
              <a:t>login gagal</a:t>
            </a:r>
            <a:r>
              <a:rPr sz="850" b="0" i="0">
                <a:solidFill>
                  <a:srgbClr val="434343"/>
                </a:solidFill>
                <a:latin typeface="Inter"/>
              </a:rPr>
              <a:t> tanpa password, metric </a:t>
            </a:r>
            <a:r>
              <a:rPr sz="850" b="0" i="0">
                <a:solidFill>
                  <a:srgbClr val="B5482A"/>
                </a:solidFill>
                <a:latin typeface="Inconsolata"/>
              </a:rPr>
              <a:t>login_failures_total</a:t>
            </a:r>
          </a:p>
        </p:txBody>
      </p:sp>
      <p:sp>
        <p:nvSpPr>
          <p:cNvPr id="23" name="Box 4"/>
          <p:cNvSpPr/>
          <p:nvPr/>
        </p:nvSpPr>
        <p:spPr>
          <a:xfrm>
            <a:off x="5212080" y="1481328"/>
            <a:ext cx="3273552" cy="1600200"/>
          </a:xfrm>
          <a:prstGeom prst="roundRect">
            <a:avLst>
              <a:gd name="adj" fmla="val 6857"/>
            </a:avLst>
          </a:prstGeom>
          <a:solidFill>
            <a:srgbClr val="FDEEE7"/>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4" name="Text 5"/>
          <p:cNvSpPr txBox="1"/>
          <p:nvPr/>
        </p:nvSpPr>
        <p:spPr>
          <a:xfrm>
            <a:off x="5349240" y="1572768"/>
            <a:ext cx="2999232" cy="310896"/>
          </a:xfrm>
          <a:prstGeom prst="rect">
            <a:avLst/>
          </a:prstGeom>
          <a:noFill/>
        </p:spPr>
        <p:txBody>
          <a:bodyPr wrap="square" lIns="45720" rIns="45720" anchor="t">
            <a:spAutoFit/>
          </a:bodyPr>
          <a:lstStyle/>
          <a:p>
            <a:pPr algn="l">
              <a:lnSpc>
                <a:spcPct val="115000"/>
              </a:lnSpc>
              <a:spcAft>
                <a:spcPts val="400"/>
              </a:spcAft>
            </a:pPr>
            <a:r>
              <a:rPr sz="1050" b="1" i="0">
                <a:solidFill>
                  <a:srgbClr val="E0764F"/>
                </a:solidFill>
                <a:latin typeface="Inter"/>
              </a:rPr>
              <a:t>Aturan arsitektur</a:t>
            </a:r>
          </a:p>
        </p:txBody>
      </p:sp>
      <p:sp>
        <p:nvSpPr>
          <p:cNvPr id="25" name="Text 6"/>
          <p:cNvSpPr txBox="1"/>
          <p:nvPr/>
        </p:nvSpPr>
        <p:spPr>
          <a:xfrm>
            <a:off x="5349240" y="1892808"/>
            <a:ext cx="2999232" cy="1097280"/>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Arial"/>
              <a:buChar char="•"/>
            </a:pPr>
            <a:r>
              <a:rPr sz="900" b="0" i="0">
                <a:solidFill>
                  <a:srgbClr val="434343"/>
                </a:solidFill>
                <a:latin typeface="Inter"/>
              </a:rPr>
              <a:t>Port </a:t>
            </a:r>
            <a:r>
              <a:rPr sz="900" b="0" i="0">
                <a:solidFill>
                  <a:srgbClr val="B5482A"/>
                </a:solidFill>
                <a:latin typeface="Inconsolata"/>
              </a:rPr>
              <a:t>LoginAttemptLimiter</a:t>
            </a:r>
            <a:r>
              <a:rPr sz="900" b="0" i="0">
                <a:solidFill>
                  <a:srgbClr val="434343"/>
                </a:solidFill>
                <a:latin typeface="Inter"/>
              </a:rPr>
              <a:t> di application</a:t>
            </a:r>
          </a:p>
          <a:p>
            <a:pPr marL="182880" indent="-182880" algn="l">
              <a:lnSpc>
                <a:spcPct val="115000"/>
              </a:lnSpc>
              <a:spcAft>
                <a:spcPts val="400"/>
              </a:spcAft>
              <a:buClr>
                <a:srgbClr val="E0764F"/>
              </a:buClr>
              <a:buSzPct val="100000"/>
              <a:buFont typeface="Arial"/>
              <a:buChar char="•"/>
            </a:pPr>
            <a:r>
              <a:rPr sz="900" b="0" i="0">
                <a:solidFill>
                  <a:srgbClr val="B5482A"/>
                </a:solidFill>
                <a:latin typeface="Inconsolata"/>
              </a:rPr>
              <a:t>domain/</a:t>
            </a:r>
            <a:r>
              <a:rPr sz="900" b="0" i="0">
                <a:solidFill>
                  <a:srgbClr val="434343"/>
                </a:solidFill>
                <a:latin typeface="Inter"/>
              </a:rPr>
              <a:t> dan </a:t>
            </a:r>
            <a:r>
              <a:rPr sz="900" b="0" i="0">
                <a:solidFill>
                  <a:srgbClr val="B5482A"/>
                </a:solidFill>
                <a:latin typeface="Inconsolata"/>
              </a:rPr>
              <a:t>application/</a:t>
            </a:r>
            <a:r>
              <a:rPr sz="900" b="0" i="0">
                <a:solidFill>
                  <a:srgbClr val="434343"/>
                </a:solidFill>
                <a:latin typeface="Inter"/>
              </a:rPr>
              <a:t> tetap tanpa </a:t>
            </a:r>
            <a:r>
              <a:rPr sz="900" b="0" i="0">
                <a:solidFill>
                  <a:srgbClr val="B5482A"/>
                </a:solidFill>
                <a:latin typeface="Inconsolata"/>
              </a:rPr>
              <a:t>redis</a:t>
            </a:r>
            <a:r>
              <a:rPr sz="900" b="0" i="0">
                <a:solidFill>
                  <a:srgbClr val="434343"/>
                </a:solidFill>
                <a:latin typeface="Inter"/>
              </a:rPr>
              <a:t> dan </a:t>
            </a:r>
            <a:r>
              <a:rPr sz="900" b="0" i="0">
                <a:solidFill>
                  <a:srgbClr val="B5482A"/>
                </a:solidFill>
                <a:latin typeface="Inconsolata"/>
              </a:rPr>
              <a:t>prometheus_client</a:t>
            </a:r>
          </a:p>
        </p:txBody>
      </p:sp>
      <p:sp>
        <p:nvSpPr>
          <p:cNvPr id="26" name="CodeTab 8"/>
          <p:cNvSpPr/>
          <p:nvPr/>
        </p:nvSpPr>
        <p:spPr>
          <a:xfrm>
            <a:off x="5212080" y="3200400"/>
            <a:ext cx="327355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7" name="Dot 9"/>
          <p:cNvSpPr/>
          <p:nvPr/>
        </p:nvSpPr>
        <p:spPr>
          <a:xfrm>
            <a:off x="5321808" y="3278124"/>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Dot 10"/>
          <p:cNvSpPr/>
          <p:nvPr/>
        </p:nvSpPr>
        <p:spPr>
          <a:xfrm>
            <a:off x="5458968" y="3278124"/>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Dot 11"/>
          <p:cNvSpPr/>
          <p:nvPr/>
        </p:nvSpPr>
        <p:spPr>
          <a:xfrm>
            <a:off x="5596128" y="3278124"/>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Text 12"/>
          <p:cNvSpPr txBox="1"/>
          <p:nvPr/>
        </p:nvSpPr>
        <p:spPr>
          <a:xfrm>
            <a:off x="5760720" y="3209544"/>
            <a:ext cx="2633472"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contoh response</a:t>
            </a:r>
          </a:p>
        </p:txBody>
      </p:sp>
      <p:sp>
        <p:nvSpPr>
          <p:cNvPr id="31" name="CodeBg 14"/>
          <p:cNvSpPr/>
          <p:nvPr/>
        </p:nvSpPr>
        <p:spPr>
          <a:xfrm>
            <a:off x="5212080" y="3438144"/>
            <a:ext cx="3273552" cy="1261872"/>
          </a:xfrm>
          <a:prstGeom prst="roundRect">
            <a:avLst>
              <a:gd name="adj" fmla="val 1449"/>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Code 15"/>
          <p:cNvSpPr txBox="1"/>
          <p:nvPr/>
        </p:nvSpPr>
        <p:spPr>
          <a:xfrm>
            <a:off x="5212080" y="3438144"/>
            <a:ext cx="3273552" cy="1261872"/>
          </a:xfrm>
          <a:prstGeom prst="rect">
            <a:avLst/>
          </a:prstGeom>
          <a:noFill/>
        </p:spPr>
        <p:txBody>
          <a:bodyPr wrap="none" lIns="146304" tIns="91440" rIns="146304" bIns="54864">
            <a:spAutoFit/>
          </a:bodyPr>
          <a:lstStyle/>
          <a:p>
            <a:pPr>
              <a:lnSpc>
                <a:spcPct val="104167"/>
              </a:lnSpc>
              <a:spcAft>
                <a:spcPts val="0"/>
              </a:spcAft>
            </a:pPr>
            <a:r>
              <a:rPr sz="800" i="0">
                <a:solidFill>
                  <a:srgbClr val="E6EDF3"/>
                </a:solidFill>
                <a:latin typeface="Inconsolata"/>
              </a:rPr>
              <a:t>HTTP/1.1 429 Too Many Requests</a:t>
            </a:r>
          </a:p>
          <a:p>
            <a:pPr>
              <a:lnSpc>
                <a:spcPct val="104167"/>
              </a:lnSpc>
              <a:spcAft>
                <a:spcPts val="0"/>
              </a:spcAft>
            </a:pPr>
            <a:r>
              <a:rPr sz="800" i="0">
                <a:solidFill>
                  <a:srgbClr val="E6EDF3"/>
                </a:solidFill>
                <a:latin typeface="Inconsolata"/>
              </a:rPr>
              <a:t>Retry-After: 900</a:t>
            </a:r>
          </a:p>
          <a:p>
            <a:pPr>
              <a:lnSpc>
                <a:spcPct val="104167"/>
              </a:lnSpc>
              <a:spcAft>
                <a:spcPts val="0"/>
              </a:spcAft>
            </a:pPr>
            <a:endParaRPr sz="800" i="0">
              <a:solidFill>
                <a:srgbClr val="E6EDF3"/>
              </a:solidFill>
              <a:latin typeface="Inconsolata"/>
            </a:endParaRPr>
          </a:p>
          <a:p>
            <a:pPr>
              <a:lnSpc>
                <a:spcPct val="104167"/>
              </a:lnSpc>
              <a:spcAft>
                <a:spcPts val="0"/>
              </a:spcAft>
            </a:pPr>
            <a:r>
              <a:rPr sz="800" i="0">
                <a:solidFill>
                  <a:srgbClr val="E6EDF3"/>
                </a:solidFill>
                <a:latin typeface="Inconsolata"/>
              </a:rPr>
              <a:t>{"error": {"code":</a:t>
            </a:r>
          </a:p>
          <a:p>
            <a:pPr>
              <a:lnSpc>
                <a:spcPct val="104167"/>
              </a:lnSpc>
              <a:spcAft>
                <a:spcPts val="0"/>
              </a:spcAft>
            </a:pPr>
            <a:r>
              <a:rPr sz="800" i="0">
                <a:solidFill>
                  <a:srgbClr val="E6EDF3"/>
                </a:solidFill>
                <a:latin typeface="Inconsolata"/>
              </a:rPr>
              <a:t>  "too_many_login_attempts", ...}}</a:t>
            </a:r>
          </a:p>
        </p:txBody>
      </p:sp>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81</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Studi Kasus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Langkah Singkat</a:t>
            </a:r>
          </a:p>
        </p:txBody>
      </p:sp>
      <p:sp>
        <p:nvSpPr>
          <p:cNvPr id="22" name="Box 3"/>
          <p:cNvSpPr/>
          <p:nvPr/>
        </p:nvSpPr>
        <p:spPr>
          <a:xfrm>
            <a:off x="621792" y="1481328"/>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1</a:t>
            </a:r>
          </a:p>
        </p:txBody>
      </p:sp>
      <p:sp>
        <p:nvSpPr>
          <p:cNvPr id="23" name="Text 4"/>
          <p:cNvSpPr txBox="1"/>
          <p:nvPr/>
        </p:nvSpPr>
        <p:spPr>
          <a:xfrm>
            <a:off x="987552" y="1453896"/>
            <a:ext cx="4206240" cy="530352"/>
          </a:xfrm>
          <a:prstGeom prst="rect">
            <a:avLst/>
          </a:prstGeom>
          <a:noFill/>
        </p:spPr>
        <p:txBody>
          <a:bodyPr wrap="square" lIns="45720" rIns="45720" anchor="t">
            <a:spAutoFit/>
          </a:bodyPr>
          <a:lstStyle/>
          <a:p>
            <a:pPr algn="l">
              <a:lnSpc>
                <a:spcPct val="115000"/>
              </a:lnSpc>
              <a:spcAft>
                <a:spcPts val="400"/>
              </a:spcAft>
            </a:pPr>
            <a:r>
              <a:rPr sz="950" b="0" i="0">
                <a:solidFill>
                  <a:srgbClr val="434343"/>
                </a:solidFill>
                <a:latin typeface="Inter"/>
              </a:rPr>
              <a:t>Port </a:t>
            </a:r>
            <a:r>
              <a:rPr sz="950" b="0" i="0">
                <a:solidFill>
                  <a:srgbClr val="B5482A"/>
                </a:solidFill>
                <a:latin typeface="Inconsolata"/>
              </a:rPr>
              <a:t>LoginAttemptLimiter</a:t>
            </a:r>
            <a:r>
              <a:rPr sz="950" b="0" i="0">
                <a:solidFill>
                  <a:srgbClr val="434343"/>
                </a:solidFill>
                <a:latin typeface="Inter"/>
              </a:rPr>
              <a:t> dan error </a:t>
            </a:r>
            <a:r>
              <a:rPr sz="950" b="0" i="0">
                <a:solidFill>
                  <a:srgbClr val="B5482A"/>
                </a:solidFill>
                <a:latin typeface="Inconsolata"/>
              </a:rPr>
              <a:t>TooManyLoginAttempts</a:t>
            </a:r>
          </a:p>
        </p:txBody>
      </p:sp>
      <p:sp>
        <p:nvSpPr>
          <p:cNvPr id="24" name="Box 5"/>
          <p:cNvSpPr/>
          <p:nvPr/>
        </p:nvSpPr>
        <p:spPr>
          <a:xfrm>
            <a:off x="621792" y="2011680"/>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2</a:t>
            </a:r>
          </a:p>
        </p:txBody>
      </p:sp>
      <p:sp>
        <p:nvSpPr>
          <p:cNvPr id="25" name="Text 6"/>
          <p:cNvSpPr txBox="1"/>
          <p:nvPr/>
        </p:nvSpPr>
        <p:spPr>
          <a:xfrm>
            <a:off x="987552" y="1984248"/>
            <a:ext cx="4206240" cy="530352"/>
          </a:xfrm>
          <a:prstGeom prst="rect">
            <a:avLst/>
          </a:prstGeom>
          <a:noFill/>
        </p:spPr>
        <p:txBody>
          <a:bodyPr wrap="square" lIns="45720" rIns="45720" anchor="t">
            <a:spAutoFit/>
          </a:bodyPr>
          <a:lstStyle/>
          <a:p>
            <a:pPr algn="l">
              <a:lnSpc>
                <a:spcPct val="115000"/>
              </a:lnSpc>
              <a:spcAft>
                <a:spcPts val="400"/>
              </a:spcAft>
            </a:pPr>
            <a:r>
              <a:rPr sz="950" b="0" i="0">
                <a:solidFill>
                  <a:srgbClr val="B5482A"/>
                </a:solidFill>
                <a:latin typeface="Inconsolata"/>
              </a:rPr>
              <a:t>AuthService.login</a:t>
            </a:r>
            <a:r>
              <a:rPr sz="950" b="0" i="0">
                <a:solidFill>
                  <a:srgbClr val="434343"/>
                </a:solidFill>
                <a:latin typeface="Inter"/>
              </a:rPr>
              <a:t>: cek blokir, catat gagal, reset setelah berhasil</a:t>
            </a:r>
          </a:p>
        </p:txBody>
      </p:sp>
      <p:sp>
        <p:nvSpPr>
          <p:cNvPr id="26" name="Box 7"/>
          <p:cNvSpPr/>
          <p:nvPr/>
        </p:nvSpPr>
        <p:spPr>
          <a:xfrm>
            <a:off x="621792" y="2542032"/>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3</a:t>
            </a:r>
          </a:p>
        </p:txBody>
      </p:sp>
      <p:sp>
        <p:nvSpPr>
          <p:cNvPr id="27" name="Text 8"/>
          <p:cNvSpPr txBox="1"/>
          <p:nvPr/>
        </p:nvSpPr>
        <p:spPr>
          <a:xfrm>
            <a:off x="987552" y="2514600"/>
            <a:ext cx="4206240" cy="530352"/>
          </a:xfrm>
          <a:prstGeom prst="rect">
            <a:avLst/>
          </a:prstGeom>
          <a:noFill/>
        </p:spPr>
        <p:txBody>
          <a:bodyPr wrap="square" lIns="45720" rIns="45720" anchor="t">
            <a:spAutoFit/>
          </a:bodyPr>
          <a:lstStyle/>
          <a:p>
            <a:pPr algn="l">
              <a:lnSpc>
                <a:spcPct val="115000"/>
              </a:lnSpc>
              <a:spcAft>
                <a:spcPts val="400"/>
              </a:spcAft>
            </a:pPr>
            <a:r>
              <a:rPr sz="950" b="0" i="0">
                <a:solidFill>
                  <a:srgbClr val="B5482A"/>
                </a:solidFill>
                <a:latin typeface="Inconsolata"/>
              </a:rPr>
              <a:t>RedisLoginAttemptLimiter</a:t>
            </a:r>
            <a:r>
              <a:rPr sz="950" b="0" i="0">
                <a:solidFill>
                  <a:srgbClr val="434343"/>
                </a:solidFill>
                <a:latin typeface="Inter"/>
              </a:rPr>
              <a:t>: INCR + EXPIRE, log, dan metric</a:t>
            </a:r>
          </a:p>
        </p:txBody>
      </p:sp>
      <p:sp>
        <p:nvSpPr>
          <p:cNvPr id="28" name="Box 9"/>
          <p:cNvSpPr/>
          <p:nvPr/>
        </p:nvSpPr>
        <p:spPr>
          <a:xfrm>
            <a:off x="621792" y="3072384"/>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4</a:t>
            </a:r>
          </a:p>
        </p:txBody>
      </p:sp>
      <p:sp>
        <p:nvSpPr>
          <p:cNvPr id="29" name="Text 10"/>
          <p:cNvSpPr txBox="1"/>
          <p:nvPr/>
        </p:nvSpPr>
        <p:spPr>
          <a:xfrm>
            <a:off x="987552" y="3044952"/>
            <a:ext cx="4206240" cy="530352"/>
          </a:xfrm>
          <a:prstGeom prst="rect">
            <a:avLst/>
          </a:prstGeom>
          <a:noFill/>
        </p:spPr>
        <p:txBody>
          <a:bodyPr wrap="square" lIns="45720" rIns="45720" anchor="t">
            <a:spAutoFit/>
          </a:bodyPr>
          <a:lstStyle/>
          <a:p>
            <a:pPr algn="l">
              <a:lnSpc>
                <a:spcPct val="115000"/>
              </a:lnSpc>
              <a:spcAft>
                <a:spcPts val="400"/>
              </a:spcAft>
            </a:pPr>
            <a:r>
              <a:rPr sz="950" b="0" i="0">
                <a:solidFill>
                  <a:srgbClr val="434343"/>
                </a:solidFill>
                <a:latin typeface="Inter"/>
              </a:rPr>
              <a:t>Metric dan setting </a:t>
            </a:r>
            <a:r>
              <a:rPr sz="950" b="0" i="0">
                <a:solidFill>
                  <a:srgbClr val="B5482A"/>
                </a:solidFill>
                <a:latin typeface="Inconsolata"/>
              </a:rPr>
              <a:t>LOGIN_MAX_ATTEMPTS</a:t>
            </a:r>
            <a:r>
              <a:rPr sz="950" b="0" i="0">
                <a:solidFill>
                  <a:srgbClr val="434343"/>
                </a:solidFill>
                <a:latin typeface="Inter"/>
              </a:rPr>
              <a:t>, </a:t>
            </a:r>
            <a:r>
              <a:rPr sz="950" b="0" i="0">
                <a:solidFill>
                  <a:srgbClr val="B5482A"/>
                </a:solidFill>
                <a:latin typeface="Inconsolata"/>
              </a:rPr>
              <a:t>LOGIN_BLOCK_SECONDS</a:t>
            </a:r>
          </a:p>
        </p:txBody>
      </p:sp>
      <p:sp>
        <p:nvSpPr>
          <p:cNvPr id="30" name="Box 11"/>
          <p:cNvSpPr/>
          <p:nvPr/>
        </p:nvSpPr>
        <p:spPr>
          <a:xfrm>
            <a:off x="621792" y="3602736"/>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5</a:t>
            </a:r>
          </a:p>
        </p:txBody>
      </p:sp>
      <p:sp>
        <p:nvSpPr>
          <p:cNvPr id="31" name="Text 12"/>
          <p:cNvSpPr txBox="1"/>
          <p:nvPr/>
        </p:nvSpPr>
        <p:spPr>
          <a:xfrm>
            <a:off x="987552" y="3575304"/>
            <a:ext cx="4206240" cy="530352"/>
          </a:xfrm>
          <a:prstGeom prst="rect">
            <a:avLst/>
          </a:prstGeom>
          <a:noFill/>
        </p:spPr>
        <p:txBody>
          <a:bodyPr wrap="square" lIns="45720" rIns="45720" anchor="t">
            <a:spAutoFit/>
          </a:bodyPr>
          <a:lstStyle/>
          <a:p>
            <a:pPr algn="l">
              <a:lnSpc>
                <a:spcPct val="115000"/>
              </a:lnSpc>
              <a:spcAft>
                <a:spcPts val="400"/>
              </a:spcAft>
            </a:pPr>
            <a:r>
              <a:rPr sz="950" b="0" i="0">
                <a:solidFill>
                  <a:srgbClr val="434343"/>
                </a:solidFill>
                <a:latin typeface="Inter"/>
              </a:rPr>
              <a:t>Pasang di </a:t>
            </a:r>
            <a:r>
              <a:rPr sz="950" b="0" i="0">
                <a:solidFill>
                  <a:srgbClr val="B5482A"/>
                </a:solidFill>
                <a:latin typeface="Inconsolata"/>
              </a:rPr>
              <a:t>get_auth_service</a:t>
            </a:r>
            <a:r>
              <a:rPr sz="950" b="0" i="0">
                <a:solidFill>
                  <a:srgbClr val="434343"/>
                </a:solidFill>
                <a:latin typeface="Inter"/>
              </a:rPr>
              <a:t>, handler 429 di </a:t>
            </a:r>
            <a:r>
              <a:rPr sz="950" b="0" i="0">
                <a:solidFill>
                  <a:srgbClr val="B5482A"/>
                </a:solidFill>
                <a:latin typeface="Inconsolata"/>
              </a:rPr>
              <a:t>errors.py</a:t>
            </a:r>
          </a:p>
        </p:txBody>
      </p:sp>
      <p:sp>
        <p:nvSpPr>
          <p:cNvPr id="32" name="Box 13"/>
          <p:cNvSpPr/>
          <p:nvPr/>
        </p:nvSpPr>
        <p:spPr>
          <a:xfrm>
            <a:off x="621792" y="4133087"/>
            <a:ext cx="274320" cy="274320"/>
          </a:xfrm>
          <a:prstGeom prst="ellipse">
            <a:avLst/>
          </a:prstGeom>
          <a:solidFill>
            <a:srgbClr val="E0764F"/>
          </a:solidFill>
          <a:ln>
            <a:noFill/>
          </a:ln>
          <a:effectLst/>
        </p:spPr>
        <p:style>
          <a:lnRef idx="1">
            <a:schemeClr val="accent1"/>
          </a:lnRef>
          <a:fillRef idx="3">
            <a:schemeClr val="accent1"/>
          </a:fillRef>
          <a:effectRef idx="2">
            <a:schemeClr val="accent1"/>
          </a:effectRef>
          <a:fontRef idx="minor">
            <a:schemeClr val="lt1"/>
          </a:fontRef>
        </p:style>
        <p:txBody>
          <a:bodyPr wrap="square" lIns="0" tIns="0" rIns="0" bIns="0" rtlCol="0" anchor="ctr"/>
          <a:lstStyle/>
          <a:p>
            <a:pPr algn="ctr">
              <a:lnSpc>
                <a:spcPct val="105000"/>
              </a:lnSpc>
              <a:spcAft>
                <a:spcPts val="200"/>
              </a:spcAft>
            </a:pPr>
            <a:r>
              <a:rPr sz="900" b="1" i="0">
                <a:solidFill>
                  <a:srgbClr val="FFFFFF"/>
                </a:solidFill>
                <a:latin typeface="Inter"/>
              </a:rPr>
              <a:t>6</a:t>
            </a:r>
          </a:p>
        </p:txBody>
      </p:sp>
      <p:sp>
        <p:nvSpPr>
          <p:cNvPr id="33" name="Text 14"/>
          <p:cNvSpPr txBox="1"/>
          <p:nvPr/>
        </p:nvSpPr>
        <p:spPr>
          <a:xfrm>
            <a:off x="987552" y="4105655"/>
            <a:ext cx="4206240" cy="530352"/>
          </a:xfrm>
          <a:prstGeom prst="rect">
            <a:avLst/>
          </a:prstGeom>
          <a:noFill/>
        </p:spPr>
        <p:txBody>
          <a:bodyPr wrap="square" lIns="45720" rIns="45720" anchor="t">
            <a:spAutoFit/>
          </a:bodyPr>
          <a:lstStyle/>
          <a:p>
            <a:pPr algn="l">
              <a:lnSpc>
                <a:spcPct val="115000"/>
              </a:lnSpc>
              <a:spcAft>
                <a:spcPts val="400"/>
              </a:spcAft>
            </a:pPr>
            <a:r>
              <a:rPr sz="950" b="0" i="0">
                <a:solidFill>
                  <a:srgbClr val="434343"/>
                </a:solidFill>
                <a:latin typeface="Inter"/>
              </a:rPr>
              <a:t>Test: blokir, reset, email tidak terdaftar, log tanpa password</a:t>
            </a:r>
          </a:p>
        </p:txBody>
      </p:sp>
      <p:sp>
        <p:nvSpPr>
          <p:cNvPr id="34" name="CodeTab 16"/>
          <p:cNvSpPr/>
          <p:nvPr/>
        </p:nvSpPr>
        <p:spPr>
          <a:xfrm>
            <a:off x="5349240" y="1481328"/>
            <a:ext cx="3136392" cy="237744"/>
          </a:xfrm>
          <a:prstGeom prst="roundRect">
            <a:avLst>
              <a:gd name="adj" fmla="val 30769"/>
            </a:avLst>
          </a:prstGeom>
          <a:solidFill>
            <a:srgbClr val="141A2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Dot 17"/>
          <p:cNvSpPr/>
          <p:nvPr/>
        </p:nvSpPr>
        <p:spPr>
          <a:xfrm>
            <a:off x="5458968" y="1559052"/>
            <a:ext cx="82296" cy="82296"/>
          </a:xfrm>
          <a:prstGeom prst="ellipse">
            <a:avLst/>
          </a:prstGeom>
          <a:solidFill>
            <a:srgbClr val="FF5F5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Dot 18"/>
          <p:cNvSpPr/>
          <p:nvPr/>
        </p:nvSpPr>
        <p:spPr>
          <a:xfrm>
            <a:off x="5596128" y="1559052"/>
            <a:ext cx="82296" cy="82296"/>
          </a:xfrm>
          <a:prstGeom prst="ellipse">
            <a:avLst/>
          </a:prstGeom>
          <a:solidFill>
            <a:srgbClr val="FFBD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Dot 19"/>
          <p:cNvSpPr/>
          <p:nvPr/>
        </p:nvSpPr>
        <p:spPr>
          <a:xfrm>
            <a:off x="5733288" y="1559052"/>
            <a:ext cx="82296" cy="82296"/>
          </a:xfrm>
          <a:prstGeom prst="ellipse">
            <a:avLst/>
          </a:prstGeom>
          <a:solidFill>
            <a:srgbClr val="27C93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 20"/>
          <p:cNvSpPr txBox="1"/>
          <p:nvPr/>
        </p:nvSpPr>
        <p:spPr>
          <a:xfrm>
            <a:off x="5897879" y="1490472"/>
            <a:ext cx="2496312" cy="219456"/>
          </a:xfrm>
          <a:prstGeom prst="rect">
            <a:avLst/>
          </a:prstGeom>
          <a:noFill/>
        </p:spPr>
        <p:txBody>
          <a:bodyPr wrap="square" lIns="18288" tIns="18288" rIns="18288" bIns="18288" anchor="ctr">
            <a:spAutoFit/>
          </a:bodyPr>
          <a:lstStyle/>
          <a:p>
            <a:pPr algn="l">
              <a:lnSpc>
                <a:spcPct val="115000"/>
              </a:lnSpc>
              <a:spcAft>
                <a:spcPts val="400"/>
              </a:spcAft>
            </a:pPr>
            <a:r>
              <a:rPr sz="800" b="0" i="0">
                <a:solidFill>
                  <a:srgbClr val="AEB8C4"/>
                </a:solidFill>
                <a:latin typeface="Inconsolata"/>
              </a:rPr>
              <a:t>file yang disentuh</a:t>
            </a:r>
          </a:p>
        </p:txBody>
      </p:sp>
      <p:sp>
        <p:nvSpPr>
          <p:cNvPr id="39" name="CodeBg 22"/>
          <p:cNvSpPr/>
          <p:nvPr/>
        </p:nvSpPr>
        <p:spPr>
          <a:xfrm>
            <a:off x="5349240" y="1719072"/>
            <a:ext cx="3136392" cy="2980944"/>
          </a:xfrm>
          <a:prstGeom prst="roundRect">
            <a:avLst>
              <a:gd name="adj" fmla="val 613"/>
            </a:avLst>
          </a:prstGeom>
          <a:solidFill>
            <a:srgbClr val="1E2633"/>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40" name="Code 23"/>
          <p:cNvSpPr txBox="1"/>
          <p:nvPr/>
        </p:nvSpPr>
        <p:spPr>
          <a:xfrm>
            <a:off x="5349240" y="1719072"/>
            <a:ext cx="3136392" cy="2980944"/>
          </a:xfrm>
          <a:prstGeom prst="rect">
            <a:avLst/>
          </a:prstGeom>
          <a:noFill/>
        </p:spPr>
        <p:txBody>
          <a:bodyPr wrap="none" lIns="146304" tIns="91440" rIns="146304" bIns="54864">
            <a:spAutoFit/>
          </a:bodyPr>
          <a:lstStyle/>
          <a:p>
            <a:pPr>
              <a:lnSpc>
                <a:spcPct val="104167"/>
              </a:lnSpc>
              <a:spcAft>
                <a:spcPts val="0"/>
              </a:spcAft>
            </a:pPr>
            <a:r>
              <a:rPr sz="800" i="0">
                <a:solidFill>
                  <a:srgbClr val="E6EDF3"/>
                </a:solidFill>
                <a:latin typeface="Inconsolata"/>
              </a:rPr>
              <a:t>app/</a:t>
            </a:r>
          </a:p>
          <a:p>
            <a:pPr>
              <a:lnSpc>
                <a:spcPct val="104167"/>
              </a:lnSpc>
              <a:spcAft>
                <a:spcPts val="0"/>
              </a:spcAft>
            </a:pPr>
            <a:r>
              <a:rPr sz="800" i="0">
                <a:solidFill>
                  <a:srgbClr val="E6EDF3"/>
                </a:solidFill>
                <a:latin typeface="Inconsolata"/>
              </a:rPr>
              <a:t>  application/</a:t>
            </a:r>
          </a:p>
          <a:p>
            <a:pPr>
              <a:lnSpc>
                <a:spcPct val="104167"/>
              </a:lnSpc>
              <a:spcAft>
                <a:spcPts val="0"/>
              </a:spcAft>
            </a:pPr>
            <a:r>
              <a:rPr sz="800" i="0">
                <a:solidFill>
                  <a:srgbClr val="E6EDF3"/>
                </a:solidFill>
                <a:latin typeface="Inconsolata"/>
              </a:rPr>
              <a:t>    ports.py</a:t>
            </a:r>
          </a:p>
          <a:p>
            <a:pPr>
              <a:lnSpc>
                <a:spcPct val="104167"/>
              </a:lnSpc>
              <a:spcAft>
                <a:spcPts val="0"/>
              </a:spcAft>
            </a:pPr>
            <a:r>
              <a:rPr sz="800" i="0">
                <a:solidFill>
                  <a:srgbClr val="E6EDF3"/>
                </a:solidFill>
                <a:latin typeface="Inconsolata"/>
              </a:rPr>
              <a:t>    errors.py</a:t>
            </a:r>
          </a:p>
          <a:p>
            <a:pPr>
              <a:lnSpc>
                <a:spcPct val="104167"/>
              </a:lnSpc>
              <a:spcAft>
                <a:spcPts val="0"/>
              </a:spcAft>
            </a:pPr>
            <a:r>
              <a:rPr sz="800" i="0">
                <a:solidFill>
                  <a:srgbClr val="E6EDF3"/>
                </a:solidFill>
                <a:latin typeface="Inconsolata"/>
              </a:rPr>
              <a:t>    auth_service.py</a:t>
            </a:r>
          </a:p>
          <a:p>
            <a:pPr>
              <a:lnSpc>
                <a:spcPct val="104167"/>
              </a:lnSpc>
              <a:spcAft>
                <a:spcPts val="0"/>
              </a:spcAft>
            </a:pPr>
            <a:r>
              <a:rPr sz="800" i="0">
                <a:solidFill>
                  <a:srgbClr val="E6EDF3"/>
                </a:solidFill>
                <a:latin typeface="Inconsolata"/>
              </a:rPr>
              <a:t>  infrastructure/</a:t>
            </a:r>
          </a:p>
          <a:p>
            <a:pPr>
              <a:lnSpc>
                <a:spcPct val="104167"/>
              </a:lnSpc>
              <a:spcAft>
                <a:spcPts val="0"/>
              </a:spcAft>
            </a:pPr>
            <a:r>
              <a:rPr sz="800" i="0">
                <a:solidFill>
                  <a:srgbClr val="E6EDF3"/>
                </a:solidFill>
                <a:latin typeface="Inconsolata"/>
              </a:rPr>
              <a:t>    login_limiter.py    # baru</a:t>
            </a:r>
          </a:p>
          <a:p>
            <a:pPr>
              <a:lnSpc>
                <a:spcPct val="104167"/>
              </a:lnSpc>
              <a:spcAft>
                <a:spcPts val="0"/>
              </a:spcAft>
            </a:pPr>
            <a:r>
              <a:rPr sz="800" i="0">
                <a:solidFill>
                  <a:srgbClr val="E6EDF3"/>
                </a:solidFill>
                <a:latin typeface="Inconsolata"/>
              </a:rPr>
              <a:t>    metrics.py</a:t>
            </a:r>
          </a:p>
          <a:p>
            <a:pPr>
              <a:lnSpc>
                <a:spcPct val="104167"/>
              </a:lnSpc>
              <a:spcAft>
                <a:spcPts val="0"/>
              </a:spcAft>
            </a:pPr>
            <a:r>
              <a:rPr sz="800" i="0">
                <a:solidFill>
                  <a:srgbClr val="E6EDF3"/>
                </a:solidFill>
                <a:latin typeface="Inconsolata"/>
              </a:rPr>
              <a:t>    config.py</a:t>
            </a:r>
          </a:p>
          <a:p>
            <a:pPr>
              <a:lnSpc>
                <a:spcPct val="104167"/>
              </a:lnSpc>
              <a:spcAft>
                <a:spcPts val="0"/>
              </a:spcAft>
            </a:pPr>
            <a:r>
              <a:rPr sz="800" i="0">
                <a:solidFill>
                  <a:srgbClr val="E6EDF3"/>
                </a:solidFill>
                <a:latin typeface="Inconsolata"/>
              </a:rPr>
              <a:t>  api/</a:t>
            </a:r>
          </a:p>
          <a:p>
            <a:pPr>
              <a:lnSpc>
                <a:spcPct val="104167"/>
              </a:lnSpc>
              <a:spcAft>
                <a:spcPts val="0"/>
              </a:spcAft>
            </a:pPr>
            <a:r>
              <a:rPr sz="800" i="0">
                <a:solidFill>
                  <a:srgbClr val="E6EDF3"/>
                </a:solidFill>
                <a:latin typeface="Inconsolata"/>
              </a:rPr>
              <a:t>    dependencies.py</a:t>
            </a:r>
          </a:p>
          <a:p>
            <a:pPr>
              <a:lnSpc>
                <a:spcPct val="104167"/>
              </a:lnSpc>
              <a:spcAft>
                <a:spcPts val="0"/>
              </a:spcAft>
            </a:pPr>
            <a:r>
              <a:rPr sz="800" i="0">
                <a:solidFill>
                  <a:srgbClr val="E6EDF3"/>
                </a:solidFill>
                <a:latin typeface="Inconsolata"/>
              </a:rPr>
              <a:t>    errors.py</a:t>
            </a:r>
          </a:p>
          <a:p>
            <a:pPr>
              <a:lnSpc>
                <a:spcPct val="104167"/>
              </a:lnSpc>
              <a:spcAft>
                <a:spcPts val="0"/>
              </a:spcAft>
            </a:pPr>
            <a:r>
              <a:rPr sz="800" i="0">
                <a:solidFill>
                  <a:srgbClr val="E6EDF3"/>
                </a:solidFill>
                <a:latin typeface="Inconsolata"/>
              </a:rPr>
              <a:t>tests/</a:t>
            </a:r>
          </a:p>
          <a:p>
            <a:pPr>
              <a:lnSpc>
                <a:spcPct val="104167"/>
              </a:lnSpc>
              <a:spcAft>
                <a:spcPts val="0"/>
              </a:spcAft>
            </a:pPr>
            <a:r>
              <a:rPr sz="800" i="0">
                <a:solidFill>
                  <a:srgbClr val="E6EDF3"/>
                </a:solidFill>
                <a:latin typeface="Inconsolata"/>
              </a:rPr>
              <a:t>  test_login_limit.py   # baru</a:t>
            </a: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82</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Studi Kasus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Contoh Hasil yang Diharapkan</a:t>
            </a:r>
          </a:p>
        </p:txBody>
      </p:sp>
      <p:pic>
        <p:nvPicPr>
          <p:cNvPr id="22" name="Image 3" descr="s10-case-login.png"/>
          <p:cNvPicPr>
            <a:picLocks noChangeAspect="1"/>
          </p:cNvPicPr>
          <p:nvPr/>
        </p:nvPicPr>
        <p:blipFill>
          <a:blip r:embed="rId2"/>
          <a:stretch>
            <a:fillRect/>
          </a:stretch>
        </p:blipFill>
        <p:spPr>
          <a:xfrm>
            <a:off x="621792" y="1481328"/>
            <a:ext cx="5120640" cy="1196801"/>
          </a:xfrm>
          <a:prstGeom prst="rect">
            <a:avLst/>
          </a:prstGeom>
          <a:ln w="9525">
            <a:solidFill>
              <a:srgbClr val="D0D5DD"/>
            </a:solidFill>
          </a:ln>
        </p:spPr>
      </p:pic>
      <p:pic>
        <p:nvPicPr>
          <p:cNvPr id="23" name="Image 4" descr="s10-case-log.png"/>
          <p:cNvPicPr>
            <a:picLocks noChangeAspect="1"/>
          </p:cNvPicPr>
          <p:nvPr/>
        </p:nvPicPr>
        <p:blipFill>
          <a:blip r:embed="rId3"/>
          <a:stretch>
            <a:fillRect/>
          </a:stretch>
        </p:blipFill>
        <p:spPr>
          <a:xfrm>
            <a:off x="621792" y="2787856"/>
            <a:ext cx="7863840" cy="1286810"/>
          </a:xfrm>
          <a:prstGeom prst="rect">
            <a:avLst/>
          </a:prstGeom>
          <a:ln w="9525">
            <a:solidFill>
              <a:srgbClr val="D0D5DD"/>
            </a:solidFill>
          </a:ln>
        </p:spPr>
      </p:pic>
      <p:sp>
        <p:nvSpPr>
          <p:cNvPr id="24" name="Text 5"/>
          <p:cNvSpPr txBox="1"/>
          <p:nvPr/>
        </p:nvSpPr>
        <p:spPr>
          <a:xfrm>
            <a:off x="5897880" y="1481328"/>
            <a:ext cx="2587752" cy="1463040"/>
          </a:xfrm>
          <a:prstGeom prst="rect">
            <a:avLst/>
          </a:prstGeom>
          <a:noFill/>
        </p:spPr>
        <p:txBody>
          <a:bodyPr wrap="square" lIns="45720" rIns="45720" anchor="t">
            <a:spAutoFit/>
          </a:bodyPr>
          <a:lstStyle/>
          <a:p>
            <a:pPr algn="l">
              <a:lnSpc>
                <a:spcPct val="115000"/>
              </a:lnSpc>
              <a:spcAft>
                <a:spcPts val="400"/>
              </a:spcAft>
            </a:pPr>
            <a:r>
              <a:rPr sz="1000" b="1" i="0">
                <a:solidFill>
                  <a:srgbClr val="1C4587"/>
                </a:solidFill>
                <a:latin typeface="Inter"/>
              </a:rPr>
              <a:t>Yang terlihat</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Gagal ke-6 ditolak 429, walaupun password benar</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Email lain tidak ikut diblokir</a:t>
            </a:r>
          </a:p>
          <a:p>
            <a:pPr marL="182880" indent="-182880" algn="l">
              <a:lnSpc>
                <a:spcPct val="115000"/>
              </a:lnSpc>
              <a:spcAft>
                <a:spcPts val="400"/>
              </a:spcAft>
              <a:buClr>
                <a:srgbClr val="E0764F"/>
              </a:buClr>
              <a:buSzPct val="100000"/>
              <a:buFont typeface="+mj-lt"/>
              <a:buAutoNum type="arabicPeriod"/>
            </a:pPr>
            <a:r>
              <a:rPr sz="900" b="0" i="0">
                <a:solidFill>
                  <a:srgbClr val="434343"/>
                </a:solidFill>
                <a:latin typeface="Inter"/>
              </a:rPr>
              <a:t>Log berisi email dan jumlah gagal, tanpa password</a:t>
            </a:r>
          </a:p>
        </p:txBody>
      </p:sp>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83</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Studi Kasus</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Kriteria Selesai</a:t>
            </a:r>
          </a:p>
        </p:txBody>
      </p:sp>
      <p:sp>
        <p:nvSpPr>
          <p:cNvPr id="22" name="Box 3"/>
          <p:cNvSpPr/>
          <p:nvPr/>
        </p:nvSpPr>
        <p:spPr>
          <a:xfrm>
            <a:off x="621792" y="1481328"/>
            <a:ext cx="2834640" cy="3218688"/>
          </a:xfrm>
          <a:prstGeom prst="roundRect">
            <a:avLst>
              <a:gd name="adj" fmla="val 3870"/>
            </a:avLst>
          </a:prstGeom>
          <a:solidFill>
            <a:srgbClr val="E6F4EC"/>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Text 4"/>
          <p:cNvSpPr txBox="1"/>
          <p:nvPr/>
        </p:nvSpPr>
        <p:spPr>
          <a:xfrm>
            <a:off x="758952" y="1572768"/>
            <a:ext cx="2560320" cy="310896"/>
          </a:xfrm>
          <a:prstGeom prst="rect">
            <a:avLst/>
          </a:prstGeom>
          <a:noFill/>
        </p:spPr>
        <p:txBody>
          <a:bodyPr wrap="square" lIns="45720" rIns="45720" anchor="t">
            <a:spAutoFit/>
          </a:bodyPr>
          <a:lstStyle/>
          <a:p>
            <a:pPr algn="l">
              <a:lnSpc>
                <a:spcPct val="115000"/>
              </a:lnSpc>
              <a:spcAft>
                <a:spcPts val="400"/>
              </a:spcAft>
            </a:pPr>
            <a:r>
              <a:rPr sz="1100" b="1" i="0">
                <a:solidFill>
                  <a:srgbClr val="2E7D5B"/>
                </a:solidFill>
                <a:latin typeface="Inter"/>
              </a:rPr>
              <a:t>Checklist</a:t>
            </a:r>
          </a:p>
        </p:txBody>
      </p:sp>
      <p:sp>
        <p:nvSpPr>
          <p:cNvPr id="24" name="Text 5"/>
          <p:cNvSpPr txBox="1"/>
          <p:nvPr/>
        </p:nvSpPr>
        <p:spPr>
          <a:xfrm>
            <a:off x="758952" y="1892808"/>
            <a:ext cx="2560320" cy="2715768"/>
          </a:xfrm>
          <a:prstGeom prst="rect">
            <a:avLst/>
          </a:prstGeom>
          <a:noFill/>
        </p:spPr>
        <p:txBody>
          <a:bodyPr wrap="square" lIns="45720" rIns="45720" anchor="t">
            <a:spAutoFit/>
          </a:bodyPr>
          <a:lstStyle/>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Gagal 5 kali = login ke-6 dijawab 429 + </a:t>
            </a:r>
            <a:r>
              <a:rPr sz="950" b="0" i="0">
                <a:solidFill>
                  <a:srgbClr val="B5482A"/>
                </a:solidFill>
                <a:latin typeface="Inconsolata"/>
              </a:rPr>
              <a:t>Retry-After</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Login berhasil mereset hitungan</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Email tidak terdaftar ikut dihitung, email lain tidak ikut diblokir</a:t>
            </a:r>
          </a:p>
          <a:p>
            <a:pPr marL="182880" indent="-182880" algn="l">
              <a:lnSpc>
                <a:spcPct val="115000"/>
              </a:lnSpc>
              <a:spcAft>
                <a:spcPts val="400"/>
              </a:spcAft>
              <a:buClr>
                <a:srgbClr val="E0764F"/>
              </a:buClr>
              <a:buSzPct val="100000"/>
              <a:buFont typeface="Arial"/>
              <a:buChar char="•"/>
            </a:pPr>
            <a:r>
              <a:rPr sz="950" b="0" i="0">
                <a:solidFill>
                  <a:srgbClr val="434343"/>
                </a:solidFill>
                <a:latin typeface="Inter"/>
              </a:rPr>
              <a:t>Log </a:t>
            </a:r>
            <a:r>
              <a:rPr sz="950" b="0" i="0">
                <a:solidFill>
                  <a:srgbClr val="B5482A"/>
                </a:solidFill>
                <a:latin typeface="Inconsolata"/>
              </a:rPr>
              <a:t>login gagal</a:t>
            </a:r>
            <a:r>
              <a:rPr sz="950" b="0" i="0">
                <a:solidFill>
                  <a:srgbClr val="434343"/>
                </a:solidFill>
                <a:latin typeface="Inter"/>
              </a:rPr>
              <a:t> tanpa password</a:t>
            </a:r>
          </a:p>
          <a:p>
            <a:pPr marL="182880" indent="-182880" algn="l">
              <a:lnSpc>
                <a:spcPct val="115000"/>
              </a:lnSpc>
              <a:spcAft>
                <a:spcPts val="400"/>
              </a:spcAft>
              <a:buClr>
                <a:srgbClr val="E0764F"/>
              </a:buClr>
              <a:buSzPct val="100000"/>
              <a:buFont typeface="Arial"/>
              <a:buChar char="•"/>
            </a:pPr>
            <a:r>
              <a:rPr sz="950" b="0" i="0">
                <a:solidFill>
                  <a:srgbClr val="B5482A"/>
                </a:solidFill>
                <a:latin typeface="Inconsolata"/>
              </a:rPr>
              <a:t>login_failures_total</a:t>
            </a:r>
            <a:r>
              <a:rPr sz="950" b="0" i="0">
                <a:solidFill>
                  <a:srgbClr val="434343"/>
                </a:solidFill>
                <a:latin typeface="Inter"/>
              </a:rPr>
              <a:t> muncul di </a:t>
            </a:r>
            <a:r>
              <a:rPr sz="950" b="0" i="0">
                <a:solidFill>
                  <a:srgbClr val="B5482A"/>
                </a:solidFill>
                <a:latin typeface="Inconsolata"/>
              </a:rPr>
              <a:t>/metrics</a:t>
            </a:r>
          </a:p>
          <a:p>
            <a:pPr marL="182880" indent="-182880" algn="l">
              <a:lnSpc>
                <a:spcPct val="115000"/>
              </a:lnSpc>
              <a:spcAft>
                <a:spcPts val="400"/>
              </a:spcAft>
              <a:buClr>
                <a:srgbClr val="E0764F"/>
              </a:buClr>
              <a:buSzPct val="100000"/>
              <a:buFont typeface="Arial"/>
              <a:buChar char="•"/>
            </a:pPr>
            <a:r>
              <a:rPr sz="950" b="0" i="0">
                <a:solidFill>
                  <a:srgbClr val="B5482A"/>
                </a:solidFill>
                <a:latin typeface="Inconsolata"/>
              </a:rPr>
              <a:t>pytest</a:t>
            </a:r>
            <a:r>
              <a:rPr sz="950" b="0" i="0">
                <a:solidFill>
                  <a:srgbClr val="434343"/>
                </a:solidFill>
                <a:latin typeface="Inter"/>
              </a:rPr>
              <a:t> hijau</a:t>
            </a:r>
          </a:p>
        </p:txBody>
      </p:sp>
      <p:pic>
        <p:nvPicPr>
          <p:cNvPr id="25" name="Image 6" descr="s10-case-pytest.png"/>
          <p:cNvPicPr>
            <a:picLocks noChangeAspect="1"/>
          </p:cNvPicPr>
          <p:nvPr/>
        </p:nvPicPr>
        <p:blipFill>
          <a:blip r:embed="rId2"/>
          <a:stretch>
            <a:fillRect/>
          </a:stretch>
        </p:blipFill>
        <p:spPr>
          <a:xfrm>
            <a:off x="3639311" y="1481328"/>
            <a:ext cx="4846320" cy="1846986"/>
          </a:xfrm>
          <a:prstGeom prst="rect">
            <a:avLst/>
          </a:prstGeom>
          <a:ln w="9525">
            <a:solidFill>
              <a:srgbClr val="D0D5DD"/>
            </a:solidFill>
          </a:ln>
        </p:spPr>
      </p:pic>
      <p:sp>
        <p:nvSpPr>
          <p:cNvPr id="26" name="Text 7"/>
          <p:cNvSpPr txBox="1"/>
          <p:nvPr/>
        </p:nvSpPr>
        <p:spPr>
          <a:xfrm>
            <a:off x="3639311" y="3401466"/>
            <a:ext cx="4846320" cy="274320"/>
          </a:xfrm>
          <a:prstGeom prst="rect">
            <a:avLst/>
          </a:prstGeom>
          <a:noFill/>
        </p:spPr>
        <p:txBody>
          <a:bodyPr wrap="square" lIns="45720" rIns="45720" anchor="t">
            <a:spAutoFit/>
          </a:bodyPr>
          <a:lstStyle/>
          <a:p>
            <a:pPr algn="l">
              <a:lnSpc>
                <a:spcPct val="115000"/>
              </a:lnSpc>
              <a:spcAft>
                <a:spcPts val="400"/>
              </a:spcAft>
            </a:pPr>
            <a:r>
              <a:rPr sz="900" b="0" i="0">
                <a:solidFill>
                  <a:srgbClr val="7A7A7A"/>
                </a:solidFill>
                <a:latin typeface="Inter"/>
              </a:rPr>
              <a:t>Output </a:t>
            </a:r>
            <a:r>
              <a:rPr sz="900" b="0" i="0">
                <a:solidFill>
                  <a:srgbClr val="B5482A"/>
                </a:solidFill>
                <a:latin typeface="Inconsolata"/>
              </a:rPr>
              <a:t>pytest</a:t>
            </a:r>
            <a:r>
              <a:rPr sz="900" b="0" i="0">
                <a:solidFill>
                  <a:srgbClr val="7A7A7A"/>
                </a:solidFill>
                <a:latin typeface="Inter"/>
              </a:rPr>
              <a:t>: 75 passed.</a:t>
            </a:r>
          </a:p>
        </p:txBody>
      </p:sp>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 name="Google Shape;19;p6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84</a:t>
            </a:fld>
            <a:endParaRPr/>
          </a:p>
        </p:txBody>
      </p:sp>
      <p:sp>
        <p:nvSpPr>
          <p:cNvPr id="20" name="Text 1"/>
          <p:cNvSpPr txBox="1"/>
          <p:nvPr/>
        </p:nvSpPr>
        <p:spPr>
          <a:xfrm>
            <a:off x="621792" y="731520"/>
            <a:ext cx="7863840" cy="292608"/>
          </a:xfrm>
          <a:prstGeom prst="rect">
            <a:avLst/>
          </a:prstGeom>
          <a:noFill/>
        </p:spPr>
        <p:txBody>
          <a:bodyPr wrap="square" tIns="91440" bIns="91440" anchor="t">
            <a:spAutoFit/>
          </a:bodyPr>
          <a:lstStyle/>
          <a:p>
            <a:pPr algn="l">
              <a:lnSpc>
                <a:spcPct val="115000"/>
              </a:lnSpc>
              <a:spcAft>
                <a:spcPts val="400"/>
              </a:spcAft>
            </a:pPr>
            <a:r>
              <a:rPr sz="1300" b="0" i="1">
                <a:solidFill>
                  <a:srgbClr val="E0764F"/>
                </a:solidFill>
                <a:latin typeface="Inter"/>
              </a:rPr>
              <a:t>Penutup</a:t>
            </a:r>
          </a:p>
        </p:txBody>
      </p:sp>
      <p:sp>
        <p:nvSpPr>
          <p:cNvPr id="21" name="Text 2"/>
          <p:cNvSpPr txBox="1"/>
          <p:nvPr/>
        </p:nvSpPr>
        <p:spPr>
          <a:xfrm>
            <a:off x="621792" y="969264"/>
            <a:ext cx="7863840" cy="457200"/>
          </a:xfrm>
          <a:prstGeom prst="rect">
            <a:avLst/>
          </a:prstGeom>
          <a:noFill/>
        </p:spPr>
        <p:txBody>
          <a:bodyPr wrap="square" tIns="91440" bIns="91440" anchor="t">
            <a:spAutoFit/>
          </a:bodyPr>
          <a:lstStyle/>
          <a:p>
            <a:pPr algn="l">
              <a:lnSpc>
                <a:spcPct val="115000"/>
              </a:lnSpc>
              <a:spcAft>
                <a:spcPts val="400"/>
              </a:spcAft>
            </a:pPr>
            <a:r>
              <a:rPr sz="2100" b="0" i="0">
                <a:solidFill>
                  <a:srgbClr val="1C4587"/>
                </a:solidFill>
                <a:latin typeface="Work Sans ExtraBold"/>
              </a:rPr>
              <a:t>Rangkuman</a:t>
            </a:r>
          </a:p>
        </p:txBody>
      </p:sp>
      <p:sp>
        <p:nvSpPr>
          <p:cNvPr id="22" name="Box 3"/>
          <p:cNvSpPr/>
          <p:nvPr/>
        </p:nvSpPr>
        <p:spPr>
          <a:xfrm>
            <a:off x="621792"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3" name="Text 4"/>
          <p:cNvSpPr txBox="1"/>
          <p:nvPr/>
        </p:nvSpPr>
        <p:spPr>
          <a:xfrm>
            <a:off x="758952"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Access Control</a:t>
            </a:r>
          </a:p>
        </p:txBody>
      </p:sp>
      <p:sp>
        <p:nvSpPr>
          <p:cNvPr id="24" name="Text 5"/>
          <p:cNvSpPr txBox="1"/>
          <p:nvPr/>
        </p:nvSpPr>
        <p:spPr>
          <a:xfrm>
            <a:off x="758952"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Cek pemilik data di use case, bukan hanya cek login</a:t>
            </a:r>
          </a:p>
        </p:txBody>
      </p:sp>
      <p:sp>
        <p:nvSpPr>
          <p:cNvPr id="25" name="Box 6"/>
          <p:cNvSpPr/>
          <p:nvPr/>
        </p:nvSpPr>
        <p:spPr>
          <a:xfrm>
            <a:off x="3291840"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6" name="Text 7"/>
          <p:cNvSpPr txBox="1"/>
          <p:nvPr/>
        </p:nvSpPr>
        <p:spPr>
          <a:xfrm>
            <a:off x="3429000"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Injection</a:t>
            </a:r>
          </a:p>
        </p:txBody>
      </p:sp>
      <p:sp>
        <p:nvSpPr>
          <p:cNvPr id="27" name="Text 8"/>
          <p:cNvSpPr txBox="1"/>
          <p:nvPr/>
        </p:nvSpPr>
        <p:spPr>
          <a:xfrm>
            <a:off x="3429000"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Selalu parameter query, tidak pernah f-string</a:t>
            </a:r>
          </a:p>
        </p:txBody>
      </p:sp>
      <p:sp>
        <p:nvSpPr>
          <p:cNvPr id="28" name="Box 9"/>
          <p:cNvSpPr/>
          <p:nvPr/>
        </p:nvSpPr>
        <p:spPr>
          <a:xfrm>
            <a:off x="5961888" y="155448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29" name="Text 10"/>
          <p:cNvSpPr txBox="1"/>
          <p:nvPr/>
        </p:nvSpPr>
        <p:spPr>
          <a:xfrm>
            <a:off x="6099048" y="164592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Misconfiguration</a:t>
            </a:r>
          </a:p>
        </p:txBody>
      </p:sp>
      <p:sp>
        <p:nvSpPr>
          <p:cNvPr id="30" name="Text 11"/>
          <p:cNvSpPr txBox="1"/>
          <p:nvPr/>
        </p:nvSpPr>
        <p:spPr>
          <a:xfrm>
            <a:off x="6099048" y="196596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Setting production dari environment: tanpa debug, /docs, CORS *</a:t>
            </a:r>
          </a:p>
        </p:txBody>
      </p:sp>
      <p:sp>
        <p:nvSpPr>
          <p:cNvPr id="31" name="Box 12"/>
          <p:cNvSpPr/>
          <p:nvPr/>
        </p:nvSpPr>
        <p:spPr>
          <a:xfrm>
            <a:off x="621792"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2" name="Text 13"/>
          <p:cNvSpPr txBox="1"/>
          <p:nvPr/>
        </p:nvSpPr>
        <p:spPr>
          <a:xfrm>
            <a:off x="758952"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OAuth2 &amp; JWT</a:t>
            </a:r>
          </a:p>
        </p:txBody>
      </p:sp>
      <p:sp>
        <p:nvSpPr>
          <p:cNvPr id="33" name="Text 14"/>
          <p:cNvSpPr txBox="1"/>
          <p:nvPr/>
        </p:nvSpPr>
        <p:spPr>
          <a:xfrm>
            <a:off x="758952"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Login dengan hash Argon2, token bertanda tangan dengan exp</a:t>
            </a:r>
          </a:p>
        </p:txBody>
      </p:sp>
      <p:sp>
        <p:nvSpPr>
          <p:cNvPr id="34" name="Box 15"/>
          <p:cNvSpPr/>
          <p:nvPr/>
        </p:nvSpPr>
        <p:spPr>
          <a:xfrm>
            <a:off x="3291840"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5" name="Text 16"/>
          <p:cNvSpPr txBox="1"/>
          <p:nvPr/>
        </p:nvSpPr>
        <p:spPr>
          <a:xfrm>
            <a:off x="3429000"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RBAC &amp; Scope</a:t>
            </a:r>
          </a:p>
        </p:txBody>
      </p:sp>
      <p:sp>
        <p:nvSpPr>
          <p:cNvPr id="36" name="Text 17"/>
          <p:cNvSpPr txBox="1"/>
          <p:nvPr/>
        </p:nvSpPr>
        <p:spPr>
          <a:xfrm>
            <a:off x="3429000"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Endpoint menyatakan scope, dicek di satu dependency</a:t>
            </a:r>
          </a:p>
        </p:txBody>
      </p:sp>
      <p:sp>
        <p:nvSpPr>
          <p:cNvPr id="37" name="Box 18"/>
          <p:cNvSpPr/>
          <p:nvPr/>
        </p:nvSpPr>
        <p:spPr>
          <a:xfrm>
            <a:off x="5961888" y="3108960"/>
            <a:ext cx="2523744" cy="1371600"/>
          </a:xfrm>
          <a:prstGeom prst="roundRect">
            <a:avLst>
              <a:gd name="adj" fmla="val 8000"/>
            </a:avLst>
          </a:prstGeom>
          <a:solidFill>
            <a:srgbClr val="E8F0FB"/>
          </a:solidFill>
          <a:ln>
            <a:noFill/>
          </a:ln>
          <a:effectLst/>
        </p:spPr>
        <p:style>
          <a:lnRef idx="1">
            <a:schemeClr val="accent1"/>
          </a:lnRef>
          <a:fillRef idx="3">
            <a:schemeClr val="accent1"/>
          </a:fillRef>
          <a:effectRef idx="2">
            <a:schemeClr val="accent1"/>
          </a:effectRef>
          <a:fontRef idx="minor">
            <a:schemeClr val="lt1"/>
          </a:fontRef>
        </p:style>
        <p:txBody>
          <a:bodyPr lIns="73152" tIns="73152" rIns="73152" bIns="73152" rtlCol="0" anchor="ctr"/>
          <a:lstStyle/>
          <a:p>
            <a:pPr algn="ctr"/>
            <a:endParaRPr/>
          </a:p>
        </p:txBody>
      </p:sp>
      <p:sp>
        <p:nvSpPr>
          <p:cNvPr id="38" name="Text 19"/>
          <p:cNvSpPr txBox="1"/>
          <p:nvPr/>
        </p:nvSpPr>
        <p:spPr>
          <a:xfrm>
            <a:off x="6099048" y="3200400"/>
            <a:ext cx="2249424" cy="310896"/>
          </a:xfrm>
          <a:prstGeom prst="rect">
            <a:avLst/>
          </a:prstGeom>
          <a:noFill/>
        </p:spPr>
        <p:txBody>
          <a:bodyPr wrap="square" lIns="45720" rIns="45720" anchor="t">
            <a:spAutoFit/>
          </a:bodyPr>
          <a:lstStyle/>
          <a:p>
            <a:pPr algn="l">
              <a:lnSpc>
                <a:spcPct val="115000"/>
              </a:lnSpc>
              <a:spcAft>
                <a:spcPts val="400"/>
              </a:spcAft>
            </a:pPr>
            <a:r>
              <a:rPr sz="1150" b="1" i="0">
                <a:solidFill>
                  <a:srgbClr val="1C4587"/>
                </a:solidFill>
                <a:latin typeface="Inter"/>
              </a:rPr>
              <a:t>Secrets &amp; Validasi</a:t>
            </a:r>
          </a:p>
        </p:txBody>
      </p:sp>
      <p:sp>
        <p:nvSpPr>
          <p:cNvPr id="39" name="Text 20"/>
          <p:cNvSpPr txBox="1"/>
          <p:nvPr/>
        </p:nvSpPr>
        <p:spPr>
          <a:xfrm>
            <a:off x="6099048" y="3520440"/>
            <a:ext cx="2249424" cy="868680"/>
          </a:xfrm>
          <a:prstGeom prst="rect">
            <a:avLst/>
          </a:prstGeom>
          <a:noFill/>
        </p:spPr>
        <p:txBody>
          <a:bodyPr wrap="square" lIns="45720" rIns="45720" anchor="t">
            <a:spAutoFit/>
          </a:bodyPr>
          <a:lstStyle/>
          <a:p>
            <a:pPr algn="l">
              <a:lnSpc>
                <a:spcPct val="115000"/>
              </a:lnSpc>
              <a:spcAft>
                <a:spcPts val="400"/>
              </a:spcAft>
            </a:pPr>
            <a:r>
              <a:rPr sz="1000" b="0" i="0">
                <a:solidFill>
                  <a:srgbClr val="434343"/>
                </a:solidFill>
                <a:latin typeface="Inter"/>
              </a:rPr>
              <a:t>Secret dari environment, schema ketat, least privilege</a:t>
            </a:r>
          </a:p>
        </p:txBody>
      </p:sp>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252"/>
        <p:cNvGrpSpPr/>
        <p:nvPr/>
      </p:nvGrpSpPr>
      <p:grpSpPr>
        <a:xfrm>
          <a:off x="0" y="0"/>
          <a:ext cx="0" cy="0"/>
          <a:chOff x="0" y="0"/>
          <a:chExt cx="0" cy="0"/>
        </a:xfrm>
      </p:grpSpPr>
      <p:pic>
        <p:nvPicPr>
          <p:cNvPr id="253" name="Google Shape;253;g2907dbd8723_0_0"/>
          <p:cNvPicPr preferRelativeResize="0"/>
          <p:nvPr/>
        </p:nvPicPr>
        <p:blipFill rotWithShape="1">
          <a:blip r:embed="rId3">
            <a:alphaModFix/>
          </a:blip>
          <a:srcRect/>
          <a:stretch/>
        </p:blipFill>
        <p:spPr>
          <a:xfrm>
            <a:off x="2843401" y="4399825"/>
            <a:ext cx="244986" cy="201168"/>
          </a:xfrm>
          <a:prstGeom prst="rect">
            <a:avLst/>
          </a:prstGeom>
          <a:noFill/>
          <a:ln>
            <a:noFill/>
          </a:ln>
        </p:spPr>
      </p:pic>
      <p:sp>
        <p:nvSpPr>
          <p:cNvPr id="254" name="Google Shape;254;g2907dbd8723_0_0"/>
          <p:cNvSpPr txBox="1"/>
          <p:nvPr/>
        </p:nvSpPr>
        <p:spPr>
          <a:xfrm>
            <a:off x="843350" y="1097280"/>
            <a:ext cx="4977000" cy="634800"/>
          </a:xfrm>
          <a:prstGeom prst="rect">
            <a:avLst/>
          </a:prstGeom>
          <a:noFill/>
          <a:ln>
            <a:noFill/>
          </a:ln>
        </p:spPr>
        <p:txBody>
          <a:bodyPr spcFirstLastPara="1" wrap="square" lIns="91425" tIns="91425" rIns="91425" bIns="91425" anchor="t" anchorCtr="0">
            <a:noAutofit/>
          </a:bodyPr>
          <a:lstStyle/>
          <a:p>
            <a:pPr marL="0" marR="0" lvl="0" indent="0" algn="l" rtl="0">
              <a:lnSpc>
                <a:spcPct val="90000"/>
              </a:lnSpc>
              <a:spcBef>
                <a:spcPts val="0"/>
              </a:spcBef>
              <a:spcAft>
                <a:spcPts val="0"/>
              </a:spcAft>
              <a:buClr>
                <a:srgbClr val="000000"/>
              </a:buClr>
              <a:buSzPts val="7200"/>
              <a:buFont typeface="Arial"/>
              <a:buNone/>
            </a:pPr>
            <a:r>
              <a:rPr lang="en" sz="3000" b="0" i="0" u="none" strike="noStrike" cap="none">
                <a:solidFill>
                  <a:srgbClr val="FFFFFF"/>
                </a:solidFill>
                <a:latin typeface="Work Sans ExtraBold"/>
                <a:ea typeface="Work Sans ExtraBold"/>
                <a:cs typeface="Work Sans ExtraBold"/>
                <a:sym typeface="Work Sans ExtraBold"/>
              </a:rPr>
              <a:t>Source Code</a:t>
            </a:r>
            <a:endParaRPr sz="3000" b="0" i="0" u="none" strike="noStrike" cap="none">
              <a:solidFill>
                <a:srgbClr val="FFFFFF"/>
              </a:solidFill>
              <a:latin typeface="Work Sans ExtraBold"/>
              <a:ea typeface="Work Sans ExtraBold"/>
              <a:cs typeface="Work Sans ExtraBold"/>
              <a:sym typeface="Work Sans ExtraBold"/>
            </a:endParaRPr>
          </a:p>
        </p:txBody>
      </p:sp>
      <p:sp>
        <p:nvSpPr>
          <p:cNvPr id="255" name="Google Shape;255;g2907dbd8723_0_0"/>
          <p:cNvSpPr txBox="1"/>
          <p:nvPr/>
        </p:nvSpPr>
        <p:spPr>
          <a:xfrm>
            <a:off x="1230650" y="1934520"/>
            <a:ext cx="1920240" cy="451500"/>
          </a:xfrm>
          <a:prstGeom prst="rect">
            <a:avLst/>
          </a:prstGeom>
          <a:noFill/>
          <a:ln>
            <a:noFill/>
          </a:ln>
        </p:spPr>
        <p:txBody>
          <a:bodyPr spcFirstLastPara="1" wrap="non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300" b="1" i="0" u="none" strike="noStrike" cap="none">
                <a:solidFill>
                  <a:srgbClr val="FFFFFF"/>
                </a:solidFill>
                <a:latin typeface="Inter"/>
                <a:ea typeface="Inter"/>
                <a:cs typeface="Inter"/>
                <a:sym typeface="Inter"/>
              </a:rPr>
              <a:t>Sesi 10</a:t>
            </a:r>
            <a:endParaRPr sz="1500" b="0" i="1" u="none" strike="noStrike" cap="none">
              <a:solidFill>
                <a:srgbClr val="000000"/>
              </a:solidFill>
              <a:latin typeface="Inter"/>
              <a:ea typeface="Inter"/>
              <a:cs typeface="Inter"/>
              <a:sym typeface="Inter"/>
            </a:endParaRPr>
          </a:p>
        </p:txBody>
      </p:sp>
      <p:sp>
        <p:nvSpPr>
          <p:cNvPr id="256" name="Google Shape;256;g2907dbd8723_0_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Autofit/>
          </a:bodyPr>
          <a:lstStyle/>
          <a:p>
            <a:pPr marL="0" lvl="0" indent="0" algn="r" rtl="0">
              <a:spcBef>
                <a:spcPts val="0"/>
              </a:spcBef>
              <a:spcAft>
                <a:spcPts val="0"/>
              </a:spcAft>
              <a:buClr>
                <a:srgbClr val="000000"/>
              </a:buClr>
              <a:buSzPts val="1000"/>
              <a:buFont typeface="Arial"/>
              <a:buNone/>
            </a:pPr>
            <a:fld id="{00000000-1234-1234-1234-123412341234}" type="slidenum">
              <a:rPr lang="en"/>
              <a:t>85</a:t>
            </a:fld>
            <a:endParaRPr/>
          </a:p>
        </p:txBody>
      </p:sp>
      <p:pic>
        <p:nvPicPr>
          <p:cNvPr id="257" name="Google Shape;257;g2907dbd8723_0_0"/>
          <p:cNvPicPr preferRelativeResize="0"/>
          <p:nvPr/>
        </p:nvPicPr>
        <p:blipFill rotWithShape="1">
          <a:blip r:embed="rId4">
            <a:alphaModFix/>
          </a:blip>
          <a:srcRect/>
          <a:stretch/>
        </p:blipFill>
        <p:spPr>
          <a:xfrm>
            <a:off x="4654775" y="4399825"/>
            <a:ext cx="284713" cy="201168"/>
          </a:xfrm>
          <a:prstGeom prst="rect">
            <a:avLst/>
          </a:prstGeom>
          <a:noFill/>
          <a:ln>
            <a:noFill/>
          </a:ln>
        </p:spPr>
      </p:pic>
      <p:pic>
        <p:nvPicPr>
          <p:cNvPr id="258" name="Google Shape;258;g2907dbd8723_0_0"/>
          <p:cNvPicPr preferRelativeResize="0"/>
          <p:nvPr/>
        </p:nvPicPr>
        <p:blipFill rotWithShape="1">
          <a:blip r:embed="rId5">
            <a:alphaModFix/>
          </a:blip>
          <a:srcRect/>
          <a:stretch/>
        </p:blipFill>
        <p:spPr>
          <a:xfrm>
            <a:off x="6505899" y="4399825"/>
            <a:ext cx="198637" cy="201168"/>
          </a:xfrm>
          <a:prstGeom prst="rect">
            <a:avLst/>
          </a:prstGeom>
          <a:noFill/>
          <a:ln>
            <a:noFill/>
          </a:ln>
        </p:spPr>
      </p:pic>
      <p:pic>
        <p:nvPicPr>
          <p:cNvPr id="259" name="Google Shape;259;g2907dbd8723_0_0"/>
          <p:cNvPicPr preferRelativeResize="0"/>
          <p:nvPr/>
        </p:nvPicPr>
        <p:blipFill rotWithShape="1">
          <a:blip r:embed="rId6">
            <a:alphaModFix/>
          </a:blip>
          <a:srcRect/>
          <a:stretch/>
        </p:blipFill>
        <p:spPr>
          <a:xfrm>
            <a:off x="1028695" y="4399825"/>
            <a:ext cx="201948" cy="201168"/>
          </a:xfrm>
          <a:prstGeom prst="rect">
            <a:avLst/>
          </a:prstGeom>
          <a:noFill/>
          <a:ln>
            <a:noFill/>
          </a:ln>
        </p:spPr>
      </p:pic>
      <p:sp>
        <p:nvSpPr>
          <p:cNvPr id="260" name="Google Shape;260;g2907dbd8723_0_0"/>
          <p:cNvSpPr txBox="1"/>
          <p:nvPr/>
        </p:nvSpPr>
        <p:spPr>
          <a:xfrm>
            <a:off x="1230650"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Hacktiv8id</a:t>
            </a:r>
            <a:endParaRPr sz="900" b="0" i="0" u="none" strike="noStrike" cap="none">
              <a:solidFill>
                <a:srgbClr val="000000"/>
              </a:solidFill>
              <a:latin typeface="Arial"/>
              <a:ea typeface="Arial"/>
              <a:cs typeface="Arial"/>
              <a:sym typeface="Arial"/>
            </a:endParaRPr>
          </a:p>
        </p:txBody>
      </p:sp>
      <p:sp>
        <p:nvSpPr>
          <p:cNvPr id="261" name="Google Shape;261;g2907dbd8723_0_0"/>
          <p:cNvSpPr txBox="1"/>
          <p:nvPr/>
        </p:nvSpPr>
        <p:spPr>
          <a:xfrm>
            <a:off x="3088375"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Hacktiv8id</a:t>
            </a:r>
            <a:endParaRPr sz="900" b="0" i="0" u="none" strike="noStrike" cap="none">
              <a:solidFill>
                <a:srgbClr val="000000"/>
              </a:solidFill>
              <a:latin typeface="Arial"/>
              <a:ea typeface="Arial"/>
              <a:cs typeface="Arial"/>
              <a:sym typeface="Arial"/>
            </a:endParaRPr>
          </a:p>
        </p:txBody>
      </p:sp>
      <p:sp>
        <p:nvSpPr>
          <p:cNvPr id="262" name="Google Shape;262;g2907dbd8723_0_0"/>
          <p:cNvSpPr txBox="1"/>
          <p:nvPr/>
        </p:nvSpPr>
        <p:spPr>
          <a:xfrm>
            <a:off x="4946100" y="4338863"/>
            <a:ext cx="8889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a:t>
            </a:r>
            <a:endParaRPr sz="900" b="0" i="0" u="none" strike="noStrike" cap="none">
              <a:solidFill>
                <a:srgbClr val="000000"/>
              </a:solidFill>
              <a:latin typeface="Arial"/>
              <a:ea typeface="Arial"/>
              <a:cs typeface="Arial"/>
              <a:sym typeface="Arial"/>
            </a:endParaRPr>
          </a:p>
        </p:txBody>
      </p:sp>
      <p:sp>
        <p:nvSpPr>
          <p:cNvPr id="263" name="Google Shape;263;g2907dbd8723_0_0"/>
          <p:cNvSpPr txBox="1"/>
          <p:nvPr/>
        </p:nvSpPr>
        <p:spPr>
          <a:xfrm>
            <a:off x="6704525" y="4338875"/>
            <a:ext cx="1423500" cy="3231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900"/>
              <a:buFont typeface="Arial"/>
              <a:buNone/>
            </a:pPr>
            <a:r>
              <a:rPr lang="en" sz="900" b="0" i="0" u="none" strike="noStrike" cap="none">
                <a:solidFill>
                  <a:schemeClr val="lt1"/>
                </a:solidFill>
                <a:latin typeface="Inter"/>
                <a:ea typeface="Inter"/>
                <a:cs typeface="Inter"/>
                <a:sym typeface="Inter"/>
              </a:rPr>
              <a:t>Hacktiv8 Indonesia</a:t>
            </a:r>
            <a:endParaRPr sz="900" b="0" i="0" u="none" strike="noStrike" cap="none">
              <a:solidFill>
                <a:srgbClr val="000000"/>
              </a:solidFill>
              <a:latin typeface="Arial"/>
              <a:ea typeface="Arial"/>
              <a:cs typeface="Arial"/>
              <a:sym typeface="Arial"/>
            </a:endParaRPr>
          </a:p>
        </p:txBody>
      </p:sp>
      <p:cxnSp>
        <p:nvCxnSpPr>
          <p:cNvPr id="264" name="Google Shape;264;g2907dbd8723_0_0"/>
          <p:cNvCxnSpPr/>
          <p:nvPr/>
        </p:nvCxnSpPr>
        <p:spPr>
          <a:xfrm>
            <a:off x="3063240" y="2160270"/>
            <a:ext cx="914400" cy="9600"/>
          </a:xfrm>
          <a:prstGeom prst="straightConnector1">
            <a:avLst/>
          </a:prstGeom>
          <a:noFill/>
          <a:ln w="19050" cap="flat" cmpd="sng">
            <a:solidFill>
              <a:srgbClr val="FFF5D8"/>
            </a:solidFill>
            <a:prstDash val="solid"/>
            <a:round/>
            <a:headEnd type="none" w="sm" len="sm"/>
            <a:tailEnd type="none" w="sm" len="sm"/>
          </a:ln>
        </p:spPr>
      </p:cxnSp>
      <p:sp>
        <p:nvSpPr>
          <p:cNvPr id="265" name="Google Shape;265;g2907dbd8723_0_0">
            <a:hlinkClick r:id="rId7"/>
          </p:cNvPr>
          <p:cNvSpPr txBox="1"/>
          <p:nvPr/>
        </p:nvSpPr>
        <p:spPr>
          <a:xfrm>
            <a:off x="4206240" y="1934520"/>
            <a:ext cx="4023360" cy="451500"/>
          </a:xfrm>
          <a:prstGeom prst="rect">
            <a:avLst/>
          </a:prstGeom>
          <a:noFill/>
          <a:ln>
            <a:noFill/>
          </a:ln>
        </p:spPr>
        <p:txBody>
          <a:bodyPr spcFirstLastPara="1" wrap="none" lIns="91425" tIns="91425" rIns="91425" bIns="91425" anchor="t" anchorCtr="0">
            <a:noAutofit/>
          </a:bodyPr>
          <a:lstStyle/>
          <a:p>
            <a:pPr marL="0" marR="0" lvl="0" indent="0" algn="l" rtl="0">
              <a:lnSpc>
                <a:spcPct val="100000"/>
              </a:lnSpc>
              <a:spcBef>
                <a:spcPts val="0"/>
              </a:spcBef>
              <a:spcAft>
                <a:spcPts val="0"/>
              </a:spcAft>
              <a:buClr>
                <a:srgbClr val="000000"/>
              </a:buClr>
              <a:buSzPts val="2000"/>
              <a:buFont typeface="Arial"/>
              <a:buNone/>
            </a:pPr>
            <a:r>
              <a:rPr lang="en" sz="1200" b="0" i="1" u="sng" strike="noStrike" cap="none">
                <a:solidFill>
                  <a:schemeClr val="hlink"/>
                </a:solidFill>
                <a:latin typeface="Inter"/>
                <a:ea typeface="Inter"/>
                <a:cs typeface="Inter"/>
                <a:sym typeface="Inter"/>
                <a:hlinkClick r:id="rId8"/>
              </a:rPr>
              <a:t>github.com/bagusedghar/fastapi-intermediate</a:t>
            </a:r>
            <a:endParaRPr sz="1500" b="0" i="1" u="sng" strike="noStrike" cap="none">
              <a:solidFill>
                <a:schemeClr val="lt1"/>
              </a:solidFill>
              <a:latin typeface="Inter"/>
              <a:ea typeface="Inter"/>
              <a:cs typeface="Inter"/>
              <a:sym typeface="Inter"/>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13409</Words>
  <Application>Microsoft Office PowerPoint</Application>
  <PresentationFormat>On-screen Show (16:9)</PresentationFormat>
  <Paragraphs>1834</Paragraphs>
  <Slides>85</Slides>
  <Notes>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85</vt:i4>
      </vt:variant>
    </vt:vector>
  </HeadingPairs>
  <TitlesOfParts>
    <vt:vector size="91" baseType="lpstr">
      <vt:lpstr>Work Sans ExtraBold</vt:lpstr>
      <vt:lpstr>Inconsolata</vt:lpstr>
      <vt:lpstr>Inter</vt:lpstr>
      <vt:lpstr>Work Sans Medium</vt:lpstr>
      <vt:lpstr>Arial</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Bagus Edghar</cp:lastModifiedBy>
  <cp:revision>1</cp:revision>
  <dcterms:modified xsi:type="dcterms:W3CDTF">2026-10-28T21:03:18Z</dcterms:modified>
</cp:coreProperties>
</file>