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99"/>
  </p:notesMasterIdLst>
  <p:sldIdLst>
    <p:sldId id="256" r:id="rId2"/>
    <p:sldId id="257" r:id="rId3"/>
    <p:sldId id="277" r:id="rId4"/>
    <p:sldId id="278" r:id="rId5"/>
    <p:sldId id="279" r:id="rId6"/>
    <p:sldId id="280" r:id="rId7"/>
    <p:sldId id="281" r:id="rId8"/>
    <p:sldId id="282" r:id="rId9"/>
    <p:sldId id="283"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96" r:id="rId23"/>
    <p:sldId id="297" r:id="rId24"/>
    <p:sldId id="298" r:id="rId25"/>
    <p:sldId id="299" r:id="rId26"/>
    <p:sldId id="300" r:id="rId27"/>
    <p:sldId id="301" r:id="rId28"/>
    <p:sldId id="302" r:id="rId29"/>
    <p:sldId id="303" r:id="rId30"/>
    <p:sldId id="304" r:id="rId31"/>
    <p:sldId id="305" r:id="rId32"/>
    <p:sldId id="306" r:id="rId33"/>
    <p:sldId id="307" r:id="rId34"/>
    <p:sldId id="308" r:id="rId35"/>
    <p:sldId id="309" r:id="rId36"/>
    <p:sldId id="310" r:id="rId37"/>
    <p:sldId id="311" r:id="rId38"/>
    <p:sldId id="312" r:id="rId39"/>
    <p:sldId id="313" r:id="rId40"/>
    <p:sldId id="314" r:id="rId41"/>
    <p:sldId id="315" r:id="rId42"/>
    <p:sldId id="316" r:id="rId43"/>
    <p:sldId id="317" r:id="rId44"/>
    <p:sldId id="318" r:id="rId45"/>
    <p:sldId id="319" r:id="rId46"/>
    <p:sldId id="320" r:id="rId47"/>
    <p:sldId id="321" r:id="rId48"/>
    <p:sldId id="322" r:id="rId49"/>
    <p:sldId id="323" r:id="rId50"/>
    <p:sldId id="324" r:id="rId51"/>
    <p:sldId id="325" r:id="rId52"/>
    <p:sldId id="326" r:id="rId53"/>
    <p:sldId id="327" r:id="rId54"/>
    <p:sldId id="328" r:id="rId55"/>
    <p:sldId id="329" r:id="rId56"/>
    <p:sldId id="330" r:id="rId57"/>
    <p:sldId id="331" r:id="rId58"/>
    <p:sldId id="332" r:id="rId59"/>
    <p:sldId id="333" r:id="rId60"/>
    <p:sldId id="334" r:id="rId61"/>
    <p:sldId id="335" r:id="rId62"/>
    <p:sldId id="336" r:id="rId63"/>
    <p:sldId id="337" r:id="rId64"/>
    <p:sldId id="338" r:id="rId65"/>
    <p:sldId id="339" r:id="rId66"/>
    <p:sldId id="340" r:id="rId67"/>
    <p:sldId id="341" r:id="rId68"/>
    <p:sldId id="342" r:id="rId69"/>
    <p:sldId id="343" r:id="rId70"/>
    <p:sldId id="344" r:id="rId71"/>
    <p:sldId id="345" r:id="rId72"/>
    <p:sldId id="346" r:id="rId73"/>
    <p:sldId id="347" r:id="rId74"/>
    <p:sldId id="348" r:id="rId75"/>
    <p:sldId id="349" r:id="rId76"/>
    <p:sldId id="350" r:id="rId77"/>
    <p:sldId id="351" r:id="rId78"/>
    <p:sldId id="352" r:id="rId79"/>
    <p:sldId id="353" r:id="rId80"/>
    <p:sldId id="354" r:id="rId81"/>
    <p:sldId id="355" r:id="rId82"/>
    <p:sldId id="356" r:id="rId83"/>
    <p:sldId id="357" r:id="rId84"/>
    <p:sldId id="358" r:id="rId85"/>
    <p:sldId id="359" r:id="rId86"/>
    <p:sldId id="360" r:id="rId87"/>
    <p:sldId id="361" r:id="rId88"/>
    <p:sldId id="362" r:id="rId89"/>
    <p:sldId id="363" r:id="rId90"/>
    <p:sldId id="364" r:id="rId91"/>
    <p:sldId id="365" r:id="rId92"/>
    <p:sldId id="366" r:id="rId93"/>
    <p:sldId id="367" r:id="rId94"/>
    <p:sldId id="368" r:id="rId95"/>
    <p:sldId id="369" r:id="rId96"/>
    <p:sldId id="370" r:id="rId97"/>
    <p:sldId id="276" r:id="rId98"/>
  </p:sldIdLst>
  <p:sldSz cx="9144000" cy="5143500" type="screen16x9"/>
  <p:notesSz cx="6858000" cy="9144000"/>
  <p:embeddedFontLst>
    <p:embeddedFont>
      <p:font typeface="Inconsolata" pitchFamily="1" charset="0"/>
      <p:regular r:id="rId100"/>
      <p:bold r:id="rId101"/>
    </p:embeddedFont>
    <p:embeddedFont>
      <p:font typeface="Inter" panose="02000503000000020004" pitchFamily="2" charset="0"/>
      <p:regular r:id="rId102"/>
      <p:bold r:id="rId103"/>
      <p:italic r:id="rId104"/>
      <p:boldItalic r:id="rId105"/>
    </p:embeddedFont>
    <p:embeddedFont>
      <p:font typeface="Work Sans ExtraBold" pitchFamily="2" charset="0"/>
      <p:bold r:id="rId106"/>
      <p:boldItalic r:id="rId107"/>
    </p:embeddedFont>
    <p:embeddedFont>
      <p:font typeface="Work Sans Medium" pitchFamily="2" charset="0"/>
      <p:regular r:id="rId108"/>
      <p:italic r:id="rId10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0" roundtripDataSignature="AMtx7misuxx245f/qKiEmR3PX6YRe0tIP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0" y="0"/>
      </p:cViewPr>
      <p:guideLst>
        <p:guide orient="horz" pos="1620"/>
        <p:guide pos="2880"/>
      </p:guideLst>
    </p:cSldViewPr>
  </p:slide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font" Target="fonts/font8.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3.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4.fntdata"/><Relationship Id="rId108" Type="http://schemas.openxmlformats.org/officeDocument/2006/relationships/font" Target="fonts/font9.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font" Target="fonts/font7.fntdata"/><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10.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font" Target="fonts/font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customschemas.google.com/relationships/presentationmetadata" Target="meta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1.fntdata"/><Relationship Id="rId105" Type="http://schemas.openxmlformats.org/officeDocument/2006/relationships/font" Target="fonts/font6.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442ffe4c8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 name="Google Shape;89;g2442ffe4c8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Peserta mengerjakan hands-on bersama mentor.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907dbd87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2907dbd872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pic>
        <p:nvPicPr>
          <p:cNvPr id="10" name="Google Shape;10;p19"/>
          <p:cNvPicPr preferRelativeResize="0"/>
          <p:nvPr/>
        </p:nvPicPr>
        <p:blipFill rotWithShape="1">
          <a:blip r:embed="rId2">
            <a:alphaModFix/>
          </a:blip>
          <a:srcRect/>
          <a:stretch/>
        </p:blipFill>
        <p:spPr>
          <a:xfrm>
            <a:off x="-7200" y="-15150"/>
            <a:ext cx="9190446" cy="5169626"/>
          </a:xfrm>
          <a:prstGeom prst="rect">
            <a:avLst/>
          </a:prstGeom>
          <a:noFill/>
          <a:ln>
            <a:noFill/>
          </a:ln>
        </p:spPr>
      </p:pic>
      <p:sp>
        <p:nvSpPr>
          <p:cNvPr id="11" name="Google Shape;11;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 name="Google Shape;12;p19"/>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23"/>
          <p:cNvPicPr preferRelativeResize="0"/>
          <p:nvPr/>
        </p:nvPicPr>
        <p:blipFill rotWithShape="1">
          <a:blip r:embed="rId2">
            <a:alphaModFix/>
          </a:blip>
          <a:srcRect/>
          <a:stretch/>
        </p:blipFill>
        <p:spPr>
          <a:xfrm>
            <a:off x="0" y="-1"/>
            <a:ext cx="9144003" cy="5143504"/>
          </a:xfrm>
          <a:prstGeom prst="rect">
            <a:avLst/>
          </a:prstGeom>
          <a:noFill/>
          <a:ln>
            <a:noFill/>
          </a:ln>
        </p:spPr>
      </p:pic>
      <p:sp>
        <p:nvSpPr>
          <p:cNvPr id="15" name="Google Shape;15;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6" name="Google Shape;16;p23"/>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1">
  <p:cSld name="SECTION_HEADER_3">
    <p:spTree>
      <p:nvGrpSpPr>
        <p:cNvPr id="1" name="Shape 17"/>
        <p:cNvGrpSpPr/>
        <p:nvPr/>
      </p:nvGrpSpPr>
      <p:grpSpPr>
        <a:xfrm>
          <a:off x="0" y="0"/>
          <a:ext cx="0" cy="0"/>
          <a:chOff x="0" y="0"/>
          <a:chExt cx="0" cy="0"/>
        </a:xfrm>
      </p:grpSpPr>
      <p:pic>
        <p:nvPicPr>
          <p:cNvPr id="18" name="Google Shape;18;p62"/>
          <p:cNvPicPr preferRelativeResize="0"/>
          <p:nvPr/>
        </p:nvPicPr>
        <p:blipFill rotWithShape="1">
          <a:blip r:embed="rId2">
            <a:alphaModFix/>
          </a:blip>
          <a:srcRect/>
          <a:stretch/>
        </p:blipFill>
        <p:spPr>
          <a:xfrm>
            <a:off x="0" y="-1"/>
            <a:ext cx="9206026" cy="5178401"/>
          </a:xfrm>
          <a:prstGeom prst="rect">
            <a:avLst/>
          </a:prstGeom>
          <a:noFill/>
          <a:ln>
            <a:noFill/>
          </a:ln>
        </p:spPr>
      </p:pic>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0" name="Google Shape;20;p62"/>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2 1 1">
  <p:cSld name="TITLE_2_1_1">
    <p:spTree>
      <p:nvGrpSpPr>
        <p:cNvPr id="1" name="Shape 21"/>
        <p:cNvGrpSpPr/>
        <p:nvPr/>
      </p:nvGrpSpPr>
      <p:grpSpPr>
        <a:xfrm>
          <a:off x="0" y="0"/>
          <a:ext cx="0" cy="0"/>
          <a:chOff x="0" y="0"/>
          <a:chExt cx="0" cy="0"/>
        </a:xfrm>
      </p:grpSpPr>
      <p:sp>
        <p:nvSpPr>
          <p:cNvPr id="22" name="Google Shape;22;p4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3" name="Google Shape;23;p49"/>
          <p:cNvPicPr preferRelativeResize="0"/>
          <p:nvPr/>
        </p:nvPicPr>
        <p:blipFill rotWithShape="1">
          <a:blip r:embed="rId2">
            <a:alphaModFix/>
          </a:blip>
          <a:srcRect l="-11869" r="-10498"/>
          <a:stretch/>
        </p:blipFill>
        <p:spPr>
          <a:xfrm>
            <a:off x="7614450" y="286450"/>
            <a:ext cx="1372051" cy="247350"/>
          </a:xfrm>
          <a:prstGeom prst="rect">
            <a:avLst/>
          </a:prstGeom>
          <a:noFill/>
          <a:ln>
            <a:noFill/>
          </a:ln>
        </p:spPr>
      </p:pic>
      <p:pic>
        <p:nvPicPr>
          <p:cNvPr id="24" name="Google Shape;24;p49"/>
          <p:cNvPicPr preferRelativeResize="0"/>
          <p:nvPr/>
        </p:nvPicPr>
        <p:blipFill rotWithShape="1">
          <a:blip r:embed="rId3">
            <a:alphaModFix/>
          </a:blip>
          <a:srcRect/>
          <a:stretch/>
        </p:blipFill>
        <p:spPr>
          <a:xfrm>
            <a:off x="0" y="0"/>
            <a:ext cx="9143992" cy="514350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3">
  <p:cSld name="SECTION_HEADER_4">
    <p:spTree>
      <p:nvGrpSpPr>
        <p:cNvPr id="1" name="Shape 25"/>
        <p:cNvGrpSpPr/>
        <p:nvPr/>
      </p:nvGrpSpPr>
      <p:grpSpPr>
        <a:xfrm>
          <a:off x="0" y="0"/>
          <a:ext cx="0" cy="0"/>
          <a:chOff x="0" y="0"/>
          <a:chExt cx="0" cy="0"/>
        </a:xfrm>
      </p:grpSpPr>
      <p:pic>
        <p:nvPicPr>
          <p:cNvPr id="26" name="Google Shape;26;p20"/>
          <p:cNvPicPr preferRelativeResize="0"/>
          <p:nvPr/>
        </p:nvPicPr>
        <p:blipFill rotWithShape="1">
          <a:blip r:embed="rId2">
            <a:alphaModFix/>
          </a:blip>
          <a:srcRect/>
          <a:stretch/>
        </p:blipFill>
        <p:spPr>
          <a:xfrm>
            <a:off x="0" y="-1"/>
            <a:ext cx="9143992" cy="5143501"/>
          </a:xfrm>
          <a:prstGeom prst="rect">
            <a:avLst/>
          </a:prstGeom>
          <a:noFill/>
          <a:ln>
            <a:noFill/>
          </a:ln>
        </p:spPr>
      </p:pic>
      <p:sp>
        <p:nvSpPr>
          <p:cNvPr id="27" name="Google Shape;27;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8" name="Google Shape;28;p20"/>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2 1">
  <p:cSld name="TITLE_2_1">
    <p:spTree>
      <p:nvGrpSpPr>
        <p:cNvPr id="1" name="Shape 29"/>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1" name="Google Shape;31;p21"/>
          <p:cNvPicPr preferRelativeResize="0"/>
          <p:nvPr/>
        </p:nvPicPr>
        <p:blipFill rotWithShape="1">
          <a:blip r:embed="rId2">
            <a:alphaModFix/>
          </a:blip>
          <a:srcRect/>
          <a:stretch/>
        </p:blipFill>
        <p:spPr>
          <a:xfrm>
            <a:off x="-7200" y="-7175"/>
            <a:ext cx="9204623" cy="5177601"/>
          </a:xfrm>
          <a:prstGeom prst="rect">
            <a:avLst/>
          </a:prstGeom>
          <a:noFill/>
          <a:ln>
            <a:noFill/>
          </a:ln>
        </p:spPr>
      </p:pic>
      <p:pic>
        <p:nvPicPr>
          <p:cNvPr id="32" name="Google Shape;32;p21"/>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2">
  <p:cSld name="TITLE_2">
    <p:spTree>
      <p:nvGrpSpPr>
        <p:cNvPr id="1" name="Shape 33"/>
        <p:cNvGrpSpPr/>
        <p:nvPr/>
      </p:nvGrpSpPr>
      <p:grpSpPr>
        <a:xfrm>
          <a:off x="0" y="0"/>
          <a:ext cx="0" cy="0"/>
          <a:chOff x="0" y="0"/>
          <a:chExt cx="0" cy="0"/>
        </a:xfrm>
      </p:grpSpPr>
      <p:pic>
        <p:nvPicPr>
          <p:cNvPr id="34" name="Google Shape;34;p22"/>
          <p:cNvPicPr preferRelativeResize="0"/>
          <p:nvPr/>
        </p:nvPicPr>
        <p:blipFill rotWithShape="1">
          <a:blip r:embed="rId2">
            <a:alphaModFix/>
          </a:blip>
          <a:srcRect/>
          <a:stretch/>
        </p:blipFill>
        <p:spPr>
          <a:xfrm>
            <a:off x="-14350" y="-6375"/>
            <a:ext cx="9160668" cy="5152876"/>
          </a:xfrm>
          <a:prstGeom prst="rect">
            <a:avLst/>
          </a:prstGeom>
          <a:noFill/>
          <a:ln>
            <a:noFill/>
          </a:ln>
        </p:spPr>
      </p:pic>
      <p:sp>
        <p:nvSpPr>
          <p:cNvPr id="35" name="Google Shape;35;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6" name="Google Shape;36;p22"/>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7"/>
        <p:cNvGrpSpPr/>
        <p:nvPr/>
      </p:nvGrpSpPr>
      <p:grpSpPr>
        <a:xfrm>
          <a:off x="0" y="0"/>
          <a:ext cx="0" cy="0"/>
          <a:chOff x="0" y="0"/>
          <a:chExt cx="0" cy="0"/>
        </a:xfrm>
      </p:grpSpPr>
      <p:sp>
        <p:nvSpPr>
          <p:cNvPr id="38" name="Google Shape;38;p5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5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5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1"/>
        <p:cNvGrpSpPr/>
        <p:nvPr/>
      </p:nvGrpSpPr>
      <p:grpSpPr>
        <a:xfrm>
          <a:off x="0" y="0"/>
          <a:ext cx="0" cy="0"/>
          <a:chOff x="0" y="0"/>
          <a:chExt cx="0" cy="0"/>
        </a:xfrm>
      </p:grpSpPr>
      <p:sp>
        <p:nvSpPr>
          <p:cNvPr id="42" name="Google Shape;42;p5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3" name="Google Shape;43;p5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4" name="Google Shape;44;p5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5" name="Google Shape;45;p5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
        <p:cNvGrpSpPr/>
        <p:nvPr/>
      </p:nvGrpSpPr>
      <p:grpSpPr>
        <a:xfrm>
          <a:off x="0" y="0"/>
          <a:ext cx="0" cy="0"/>
          <a:chOff x="0" y="0"/>
          <a:chExt cx="0" cy="0"/>
        </a:xfrm>
      </p:grpSpPr>
      <p:sp>
        <p:nvSpPr>
          <p:cNvPr id="47" name="Google Shape;47;p5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8" name="Google Shape;48;p5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5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51" name="Google Shape;51;p5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52" name="Google Shape;52;p5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3"/>
        <p:cNvGrpSpPr/>
        <p:nvPr/>
      </p:nvGrpSpPr>
      <p:grpSpPr>
        <a:xfrm>
          <a:off x="0" y="0"/>
          <a:ext cx="0" cy="0"/>
          <a:chOff x="0" y="0"/>
          <a:chExt cx="0" cy="0"/>
        </a:xfrm>
      </p:grpSpPr>
      <p:sp>
        <p:nvSpPr>
          <p:cNvPr id="54" name="Google Shape;54;p5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55" name="Google Shape;55;p5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6"/>
        <p:cNvGrpSpPr/>
        <p:nvPr/>
      </p:nvGrpSpPr>
      <p:grpSpPr>
        <a:xfrm>
          <a:off x="0" y="0"/>
          <a:ext cx="0" cy="0"/>
          <a:chOff x="0" y="0"/>
          <a:chExt cx="0" cy="0"/>
        </a:xfrm>
      </p:grpSpPr>
      <p:sp>
        <p:nvSpPr>
          <p:cNvPr id="57" name="Google Shape;57;p5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5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59" name="Google Shape;59;p5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0" name="Google Shape;60;p5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5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2"/>
        <p:cNvGrpSpPr/>
        <p:nvPr/>
      </p:nvGrpSpPr>
      <p:grpSpPr>
        <a:xfrm>
          <a:off x="0" y="0"/>
          <a:ext cx="0" cy="0"/>
          <a:chOff x="0" y="0"/>
          <a:chExt cx="0" cy="0"/>
        </a:xfrm>
      </p:grpSpPr>
      <p:sp>
        <p:nvSpPr>
          <p:cNvPr id="63" name="Google Shape;63;p5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64" name="Google Shape;64;p5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5"/>
        <p:cNvGrpSpPr/>
        <p:nvPr/>
      </p:nvGrpSpPr>
      <p:grpSpPr>
        <a:xfrm>
          <a:off x="0" y="0"/>
          <a:ext cx="0" cy="0"/>
          <a:chOff x="0" y="0"/>
          <a:chExt cx="0" cy="0"/>
        </a:xfrm>
      </p:grpSpPr>
      <p:sp>
        <p:nvSpPr>
          <p:cNvPr id="66" name="Google Shape;66;p5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7" name="Google Shape;67;p5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68" name="Google Shape;68;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9"/>
        <p:cNvGrpSpPr/>
        <p:nvPr/>
      </p:nvGrpSpPr>
      <p:grpSpPr>
        <a:xfrm>
          <a:off x="0" y="0"/>
          <a:ext cx="0" cy="0"/>
          <a:chOff x="0" y="0"/>
          <a:chExt cx="0" cy="0"/>
        </a:xfrm>
      </p:grpSpPr>
      <p:sp>
        <p:nvSpPr>
          <p:cNvPr id="70" name="Google Shape;70;p5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71"/>
        <p:cNvGrpSpPr/>
        <p:nvPr/>
      </p:nvGrpSpPr>
      <p:grpSpPr>
        <a:xfrm>
          <a:off x="0" y="0"/>
          <a:ext cx="0" cy="0"/>
          <a:chOff x="0" y="0"/>
          <a:chExt cx="0" cy="0"/>
        </a:xfrm>
      </p:grpSpPr>
      <p:sp>
        <p:nvSpPr>
          <p:cNvPr id="72" name="Google Shape;72;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3" name="Google Shape;73;p59"/>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1 1">
  <p:cSld name="TITLE_1_1">
    <p:spTree>
      <p:nvGrpSpPr>
        <p:cNvPr id="1" name="Shape 74"/>
        <p:cNvGrpSpPr/>
        <p:nvPr/>
      </p:nvGrpSpPr>
      <p:grpSpPr>
        <a:xfrm>
          <a:off x="0" y="0"/>
          <a:ext cx="0" cy="0"/>
          <a:chOff x="0" y="0"/>
          <a:chExt cx="0" cy="0"/>
        </a:xfrm>
      </p:grpSpPr>
      <p:sp>
        <p:nvSpPr>
          <p:cNvPr id="75" name="Google Shape;75;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6" name="Google Shape;76;p60"/>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2">
  <p:cSld name="SECTION_HEADER_2">
    <p:spTree>
      <p:nvGrpSpPr>
        <p:cNvPr id="1" name="Shape 77"/>
        <p:cNvGrpSpPr/>
        <p:nvPr/>
      </p:nvGrpSpPr>
      <p:grpSpPr>
        <a:xfrm>
          <a:off x="0" y="0"/>
          <a:ext cx="0" cy="0"/>
          <a:chOff x="0" y="0"/>
          <a:chExt cx="0" cy="0"/>
        </a:xfrm>
      </p:grpSpPr>
      <p:sp>
        <p:nvSpPr>
          <p:cNvPr id="78" name="Google Shape;78;p61"/>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pic>
        <p:nvPicPr>
          <p:cNvPr id="79" name="Google Shape;79;p61"/>
          <p:cNvPicPr preferRelativeResize="0"/>
          <p:nvPr/>
        </p:nvPicPr>
        <p:blipFill rotWithShape="1">
          <a:blip r:embed="rId2">
            <a:alphaModFix/>
          </a:blip>
          <a:srcRect t="31469" b="34000"/>
          <a:stretch/>
        </p:blipFill>
        <p:spPr>
          <a:xfrm>
            <a:off x="134750" y="4589275"/>
            <a:ext cx="1410576" cy="344348"/>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9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8" Type="http://schemas.openxmlformats.org/officeDocument/2006/relationships/hyperlink" Target="https://github.com/bagusedghar/fastapi-intermediate/tree/main/sesi-04-modular-fastapi-orm-transactions" TargetMode="External"/><Relationship Id="rId3" Type="http://schemas.openxmlformats.org/officeDocument/2006/relationships/image" Target="../media/image38.png"/><Relationship Id="rId7" Type="http://schemas.openxmlformats.org/officeDocument/2006/relationships/hyperlink" Target="https://colab.research.google.com/github/FTDS-learning-materials/phase-2/blob/master/w2/P2W2D1PM%20-%20Data%20Ethics%20&amp;%20Data%20Validation.ipynb" TargetMode="Externa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SzPts val="1000"/>
              <a:buNone/>
            </a:pPr>
            <a:fld id="{00000000-1234-1234-1234-123412341234}" type="slidenum">
              <a:rPr lang="en"/>
              <a:t>1</a:t>
            </a:fld>
            <a:endParaRPr/>
          </a:p>
        </p:txBody>
      </p:sp>
      <p:sp>
        <p:nvSpPr>
          <p:cNvPr id="85" name="Google Shape;85;p5"/>
          <p:cNvSpPr txBox="1"/>
          <p:nvPr/>
        </p:nvSpPr>
        <p:spPr>
          <a:xfrm>
            <a:off x="763050" y="2010750"/>
            <a:ext cx="8258100" cy="11034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3500"/>
              <a:buFont typeface="Arial"/>
              <a:buNone/>
            </a:pPr>
            <a:r>
              <a:rPr lang="en" sz="3500">
                <a:solidFill>
                  <a:srgbClr val="F06634"/>
                </a:solidFill>
                <a:latin typeface="Work Sans ExtraBold"/>
                <a:ea typeface="Work Sans ExtraBold"/>
                <a:cs typeface="Work Sans ExtraBold"/>
                <a:sym typeface="Work Sans ExtraBold"/>
              </a:rPr>
              <a:t>Advanced FastAPI Architecture &amp; ORM Transactions</a:t>
            </a:r>
            <a:endParaRPr sz="3500" b="0" i="0" u="none" strike="noStrike" cap="none">
              <a:solidFill>
                <a:srgbClr val="F06634"/>
              </a:solidFill>
              <a:latin typeface="Work Sans ExtraBold"/>
              <a:ea typeface="Work Sans ExtraBold"/>
              <a:cs typeface="Work Sans ExtraBold"/>
              <a:sym typeface="Work Sans ExtraBold"/>
            </a:endParaRPr>
          </a:p>
        </p:txBody>
      </p:sp>
      <p:sp>
        <p:nvSpPr>
          <p:cNvPr id="86" name="Google Shape;86;p5"/>
          <p:cNvSpPr txBox="1"/>
          <p:nvPr/>
        </p:nvSpPr>
        <p:spPr>
          <a:xfrm>
            <a:off x="763050" y="3157225"/>
            <a:ext cx="7315200" cy="531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1500"/>
              <a:buFont typeface="Arial"/>
              <a:buNone/>
            </a:pPr>
            <a:r>
              <a:rPr lang="en" sz="1500" b="0" i="0" u="none" strike="noStrike" cap="none">
                <a:solidFill>
                  <a:schemeClr val="dk2"/>
                </a:solidFill>
                <a:latin typeface="Work Sans Medium"/>
                <a:ea typeface="Work Sans Medium"/>
                <a:cs typeface="Work Sans Medium"/>
                <a:sym typeface="Work Sans Medium"/>
              </a:rPr>
              <a:t>Intermediate Backend Developer with FastAPI  -  Sesi 4</a:t>
            </a:r>
            <a:endParaRPr sz="1500" b="0" i="0" u="none" strike="noStrike" cap="none">
              <a:solidFill>
                <a:schemeClr val="dk2"/>
              </a:solidFill>
              <a:latin typeface="Work Sans Medium"/>
              <a:ea typeface="Work Sans Medium"/>
              <a:cs typeface="Work Sans Medium"/>
              <a:sym typeface="Work Sans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g2442ffe4c8e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
              <a:t>2</a:t>
            </a:fld>
            <a:endParaRPr/>
          </a:p>
        </p:txBody>
      </p:sp>
      <p:sp>
        <p:nvSpPr>
          <p:cNvPr id="92" name="Google Shape;92;g2442ffe4c8e_0_0"/>
          <p:cNvSpPr txBox="1"/>
          <p:nvPr/>
        </p:nvSpPr>
        <p:spPr>
          <a:xfrm>
            <a:off x="310675" y="249275"/>
            <a:ext cx="4456800" cy="484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0" i="0" u="none" strike="noStrike" cap="none">
                <a:solidFill>
                  <a:srgbClr val="1D3D70"/>
                </a:solidFill>
                <a:latin typeface="Work Sans ExtraBold"/>
                <a:ea typeface="Work Sans ExtraBold"/>
                <a:cs typeface="Work Sans ExtraBold"/>
                <a:sym typeface="Work Sans ExtraBold"/>
              </a:rPr>
              <a:t>Contents</a:t>
            </a:r>
            <a:endParaRPr sz="2300" b="0" i="0" u="none" strike="noStrike" cap="none">
              <a:solidFill>
                <a:srgbClr val="1D3D70"/>
              </a:solidFill>
              <a:latin typeface="Work Sans ExtraBold"/>
              <a:ea typeface="Work Sans ExtraBold"/>
              <a:cs typeface="Work Sans ExtraBold"/>
              <a:sym typeface="Work Sans ExtraBold"/>
            </a:endParaRPr>
          </a:p>
        </p:txBody>
      </p:sp>
      <p:sp>
        <p:nvSpPr>
          <p:cNvPr id="93" name="Text 1"/>
          <p:cNvSpPr txBox="1"/>
          <p:nvPr/>
        </p:nvSpPr>
        <p:spPr>
          <a:xfrm>
            <a:off x="548640" y="1143000"/>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Modular FastAPI Project</a:t>
            </a:r>
          </a:p>
        </p:txBody>
      </p:sp>
      <p:cxnSp>
        <p:nvCxnSpPr>
          <p:cNvPr id="94" name="Arrow 2"/>
          <p:cNvCxnSpPr/>
          <p:nvPr/>
        </p:nvCxnSpPr>
        <p:spPr>
          <a:xfrm>
            <a:off x="6318504" y="1325880"/>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5" name="Text 3"/>
          <p:cNvSpPr txBox="1"/>
          <p:nvPr/>
        </p:nvSpPr>
        <p:spPr>
          <a:xfrm>
            <a:off x="8266175" y="1143000"/>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08</a:t>
            </a:r>
          </a:p>
        </p:txBody>
      </p:sp>
      <p:sp>
        <p:nvSpPr>
          <p:cNvPr id="96" name="Text 4"/>
          <p:cNvSpPr txBox="1"/>
          <p:nvPr/>
        </p:nvSpPr>
        <p:spPr>
          <a:xfrm>
            <a:off x="548640" y="1527048"/>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Request Lifecycle, Middleware &amp; Error Handling</a:t>
            </a:r>
          </a:p>
        </p:txBody>
      </p:sp>
      <p:cxnSp>
        <p:nvCxnSpPr>
          <p:cNvPr id="97" name="Arrow 5"/>
          <p:cNvCxnSpPr/>
          <p:nvPr/>
        </p:nvCxnSpPr>
        <p:spPr>
          <a:xfrm>
            <a:off x="6318504" y="1709928"/>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8" name="Text 6"/>
          <p:cNvSpPr txBox="1"/>
          <p:nvPr/>
        </p:nvSpPr>
        <p:spPr>
          <a:xfrm>
            <a:off x="8266175" y="1527048"/>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30</a:t>
            </a:r>
          </a:p>
        </p:txBody>
      </p:sp>
      <p:sp>
        <p:nvSpPr>
          <p:cNvPr id="99" name="Text 7"/>
          <p:cNvSpPr txBox="1"/>
          <p:nvPr/>
        </p:nvSpPr>
        <p:spPr>
          <a:xfrm>
            <a:off x="548640" y="1911095"/>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Transaction &amp; Unit of Work</a:t>
            </a:r>
          </a:p>
        </p:txBody>
      </p:sp>
      <p:cxnSp>
        <p:nvCxnSpPr>
          <p:cNvPr id="100" name="Arrow 8"/>
          <p:cNvCxnSpPr/>
          <p:nvPr/>
        </p:nvCxnSpPr>
        <p:spPr>
          <a:xfrm>
            <a:off x="6318504" y="2093976"/>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1" name="Text 9"/>
          <p:cNvSpPr txBox="1"/>
          <p:nvPr/>
        </p:nvSpPr>
        <p:spPr>
          <a:xfrm>
            <a:off x="8266175" y="1911095"/>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51</a:t>
            </a:r>
          </a:p>
        </p:txBody>
      </p:sp>
      <p:sp>
        <p:nvSpPr>
          <p:cNvPr id="102" name="Text 10"/>
          <p:cNvSpPr txBox="1"/>
          <p:nvPr/>
        </p:nvSpPr>
        <p:spPr>
          <a:xfrm>
            <a:off x="548640" y="2295144"/>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Hands-on: API Modular dengan Transaksi</a:t>
            </a:r>
          </a:p>
        </p:txBody>
      </p:sp>
      <p:cxnSp>
        <p:nvCxnSpPr>
          <p:cNvPr id="103" name="Arrow 11"/>
          <p:cNvCxnSpPr/>
          <p:nvPr/>
        </p:nvCxnSpPr>
        <p:spPr>
          <a:xfrm>
            <a:off x="6318504" y="2478024"/>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4" name="Text 12"/>
          <p:cNvSpPr txBox="1"/>
          <p:nvPr/>
        </p:nvSpPr>
        <p:spPr>
          <a:xfrm>
            <a:off x="8266175" y="2295144"/>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71</a:t>
            </a:r>
          </a:p>
        </p:txBody>
      </p:sp>
      <p:sp>
        <p:nvSpPr>
          <p:cNvPr id="105" name="Text 13"/>
          <p:cNvSpPr txBox="1"/>
          <p:nvPr/>
        </p:nvSpPr>
        <p:spPr>
          <a:xfrm>
            <a:off x="548640" y="2679191"/>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Studi Kasus: Voucher Belanja</a:t>
            </a:r>
          </a:p>
        </p:txBody>
      </p:sp>
      <p:cxnSp>
        <p:nvCxnSpPr>
          <p:cNvPr id="106" name="Arrow 14"/>
          <p:cNvCxnSpPr/>
          <p:nvPr/>
        </p:nvCxnSpPr>
        <p:spPr>
          <a:xfrm>
            <a:off x="6318504" y="2862072"/>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7" name="Text 15"/>
          <p:cNvSpPr txBox="1"/>
          <p:nvPr/>
        </p:nvSpPr>
        <p:spPr>
          <a:xfrm>
            <a:off x="8266175" y="2679191"/>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92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Sesi 4</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Learning Outcome</a:t>
            </a:r>
          </a:p>
        </p:txBody>
      </p:sp>
      <p:sp>
        <p:nvSpPr>
          <p:cNvPr id="22" name="Box 3"/>
          <p:cNvSpPr/>
          <p:nvPr/>
        </p:nvSpPr>
        <p:spPr>
          <a:xfrm>
            <a:off x="621792" y="1600200"/>
            <a:ext cx="2523744" cy="2011680"/>
          </a:xfrm>
          <a:prstGeom prst="roundRect">
            <a:avLst>
              <a:gd name="adj" fmla="val 5454"/>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Box 4"/>
          <p:cNvSpPr/>
          <p:nvPr/>
        </p:nvSpPr>
        <p:spPr>
          <a:xfrm>
            <a:off x="758952"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1</a:t>
            </a:r>
          </a:p>
        </p:txBody>
      </p:sp>
      <p:sp>
        <p:nvSpPr>
          <p:cNvPr id="24" name="Text 5"/>
          <p:cNvSpPr txBox="1"/>
          <p:nvPr/>
        </p:nvSpPr>
        <p:spPr>
          <a:xfrm>
            <a:off x="1170432"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FastAPI modular</a:t>
            </a:r>
          </a:p>
        </p:txBody>
      </p:sp>
      <p:sp>
        <p:nvSpPr>
          <p:cNvPr id="25" name="Text 6"/>
          <p:cNvSpPr txBox="1"/>
          <p:nvPr/>
        </p:nvSpPr>
        <p:spPr>
          <a:xfrm>
            <a:off x="758952"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Mendesain FastAPI dengan routing, dependency injection, service, dan data access terpisah.</a:t>
            </a:r>
          </a:p>
        </p:txBody>
      </p:sp>
      <p:sp>
        <p:nvSpPr>
          <p:cNvPr id="26" name="Box 7"/>
          <p:cNvSpPr/>
          <p:nvPr/>
        </p:nvSpPr>
        <p:spPr>
          <a:xfrm>
            <a:off x="3291840" y="1600200"/>
            <a:ext cx="2523744" cy="2011680"/>
          </a:xfrm>
          <a:prstGeom prst="roundRect">
            <a:avLst>
              <a:gd name="adj" fmla="val 5454"/>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7" name="Box 8"/>
          <p:cNvSpPr/>
          <p:nvPr/>
        </p:nvSpPr>
        <p:spPr>
          <a:xfrm>
            <a:off x="3429000"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2</a:t>
            </a:r>
          </a:p>
        </p:txBody>
      </p:sp>
      <p:sp>
        <p:nvSpPr>
          <p:cNvPr id="28" name="Text 9"/>
          <p:cNvSpPr txBox="1"/>
          <p:nvPr/>
        </p:nvSpPr>
        <p:spPr>
          <a:xfrm>
            <a:off x="3840480"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Transaksi ORM</a:t>
            </a:r>
          </a:p>
        </p:txBody>
      </p:sp>
      <p:sp>
        <p:nvSpPr>
          <p:cNvPr id="29" name="Text 10"/>
          <p:cNvSpPr txBox="1"/>
          <p:nvPr/>
        </p:nvSpPr>
        <p:spPr>
          <a:xfrm>
            <a:off x="3429000"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Mengelola sesi ORM dan transaksi yang atomic, termasuk rollback ketika terjadi error.</a:t>
            </a:r>
          </a:p>
        </p:txBody>
      </p:sp>
      <p:sp>
        <p:nvSpPr>
          <p:cNvPr id="30" name="Box 11"/>
          <p:cNvSpPr/>
          <p:nvPr/>
        </p:nvSpPr>
        <p:spPr>
          <a:xfrm>
            <a:off x="5961888" y="1600200"/>
            <a:ext cx="2523744" cy="2011680"/>
          </a:xfrm>
          <a:prstGeom prst="roundRect">
            <a:avLst>
              <a:gd name="adj" fmla="val 545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2"/>
          <p:cNvSpPr/>
          <p:nvPr/>
        </p:nvSpPr>
        <p:spPr>
          <a:xfrm>
            <a:off x="6099048"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3</a:t>
            </a:r>
          </a:p>
        </p:txBody>
      </p:sp>
      <p:sp>
        <p:nvSpPr>
          <p:cNvPr id="32" name="Text 13"/>
          <p:cNvSpPr txBox="1"/>
          <p:nvPr/>
        </p:nvSpPr>
        <p:spPr>
          <a:xfrm>
            <a:off x="6510527" y="1709928"/>
            <a:ext cx="1883664"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Error &amp; OpenAPI</a:t>
            </a:r>
          </a:p>
        </p:txBody>
      </p:sp>
      <p:sp>
        <p:nvSpPr>
          <p:cNvPr id="33" name="Text 14"/>
          <p:cNvSpPr txBox="1"/>
          <p:nvPr/>
        </p:nvSpPr>
        <p:spPr>
          <a:xfrm>
            <a:off x="6099048"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Menerapkan penanganan error API yang konsisten dan dokumentasi OpenAPI yang terstruktur.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Order Management API</a:t>
            </a:r>
          </a:p>
        </p:txBody>
      </p:sp>
      <p:sp>
        <p:nvSpPr>
          <p:cNvPr id="22" name="Text 3"/>
          <p:cNvSpPr txBox="1"/>
          <p:nvPr/>
        </p:nvSpPr>
        <p:spPr>
          <a:xfrm>
            <a:off x="621792" y="1481328"/>
            <a:ext cx="4297680" cy="324612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Pada training ini, kita akan memakai satu tema yang sama dari awal sampai akhir, yaitu </a:t>
            </a:r>
            <a:r>
              <a:rPr sz="1000" b="1" i="0">
                <a:solidFill>
                  <a:srgbClr val="434343"/>
                </a:solidFill>
                <a:latin typeface="Inter"/>
              </a:rPr>
              <a:t>Order Management API</a:t>
            </a:r>
            <a:r>
              <a:rPr sz="1000" b="0" i="0">
                <a:solidFill>
                  <a:srgbClr val="434343"/>
                </a:solidFill>
                <a:latin typeface="Inter"/>
              </a:rPr>
              <a:t>: API sederhana untuk menerima order, menghitung diskon, menyimpan data order, dan mengirim notifikasi ke customer.</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Aplikasi ini kita kembangkan sedikit demi sedikit di setiap sesi. Di Sesi 1 kita mulai dari kode yang masih ditulis di satu file, lalu merapikannya. Hasil akhir setiap sesi menjadi titik awal sesi berikutnya, sampai di Sesi 12 menjadi Order API yang siap production.</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Di Sesi 4 (Modular FastAPI &amp; ORM): router per modul, SQLAlchemy, Unit of Work, format error.</a:t>
            </a:r>
          </a:p>
        </p:txBody>
      </p:sp>
      <p:sp>
        <p:nvSpPr>
          <p:cNvPr id="23" name="Box 4"/>
          <p:cNvSpPr/>
          <p:nvPr/>
        </p:nvSpPr>
        <p:spPr>
          <a:xfrm>
            <a:off x="5120640" y="1600200"/>
            <a:ext cx="1828800" cy="402336"/>
          </a:xfrm>
          <a:prstGeom prst="roundRect">
            <a:avLst>
              <a:gd name="adj" fmla="val 27272"/>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Terima order</a:t>
            </a:r>
          </a:p>
        </p:txBody>
      </p:sp>
      <p:sp>
        <p:nvSpPr>
          <p:cNvPr id="24" name="Box 5"/>
          <p:cNvSpPr/>
          <p:nvPr/>
        </p:nvSpPr>
        <p:spPr>
          <a:xfrm>
            <a:off x="5120640" y="2167128"/>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Hitung diskon</a:t>
            </a:r>
          </a:p>
        </p:txBody>
      </p:sp>
      <p:cxnSp>
        <p:nvCxnSpPr>
          <p:cNvPr id="25" name="Arrow 6"/>
          <p:cNvCxnSpPr/>
          <p:nvPr/>
        </p:nvCxnSpPr>
        <p:spPr>
          <a:xfrm>
            <a:off x="6035040" y="2002536"/>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5120640" y="2734056"/>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Simpan ke database</a:t>
            </a:r>
          </a:p>
        </p:txBody>
      </p:sp>
      <p:cxnSp>
        <p:nvCxnSpPr>
          <p:cNvPr id="27" name="Arrow 8"/>
          <p:cNvCxnSpPr/>
          <p:nvPr/>
        </p:nvCxnSpPr>
        <p:spPr>
          <a:xfrm>
            <a:off x="6035040" y="2569464"/>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5120640" y="3300984"/>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Kirim notifikasi</a:t>
            </a:r>
          </a:p>
        </p:txBody>
      </p:sp>
      <p:cxnSp>
        <p:nvCxnSpPr>
          <p:cNvPr id="29" name="Arrow 10"/>
          <p:cNvCxnSpPr/>
          <p:nvPr/>
        </p:nvCxnSpPr>
        <p:spPr>
          <a:xfrm>
            <a:off x="6035040" y="3136391"/>
            <a:ext cx="0" cy="164593"/>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 11"/>
          <p:cNvSpPr txBox="1"/>
          <p:nvPr/>
        </p:nvSpPr>
        <p:spPr>
          <a:xfrm>
            <a:off x="7086600" y="1600200"/>
            <a:ext cx="1417320" cy="2103120"/>
          </a:xfrm>
          <a:prstGeom prst="rect">
            <a:avLst/>
          </a:prstGeom>
          <a:noFill/>
        </p:spPr>
        <p:txBody>
          <a:bodyPr wrap="square" lIns="45720" rIns="45720" anchor="t">
            <a:spAutoFit/>
          </a:bodyPr>
          <a:lstStyle/>
          <a:p>
            <a:pPr algn="l">
              <a:lnSpc>
                <a:spcPct val="115000"/>
              </a:lnSpc>
              <a:spcAft>
                <a:spcPts val="400"/>
              </a:spcAft>
            </a:pPr>
            <a:r>
              <a:rPr sz="900" b="1" i="0">
                <a:solidFill>
                  <a:srgbClr val="7A7A7A"/>
                </a:solidFill>
                <a:latin typeface="Inter"/>
              </a:rPr>
              <a:t>Aturan diskon</a:t>
            </a:r>
          </a:p>
          <a:p>
            <a:pPr algn="l">
              <a:lnSpc>
                <a:spcPct val="115000"/>
              </a:lnSpc>
              <a:spcAft>
                <a:spcPts val="400"/>
              </a:spcAft>
            </a:pPr>
            <a:r>
              <a:rPr sz="900" b="0" i="0">
                <a:solidFill>
                  <a:srgbClr val="7A7A7A"/>
                </a:solidFill>
                <a:latin typeface="Inter"/>
              </a:rPr>
              <a:t>regular: 0%</a:t>
            </a:r>
          </a:p>
          <a:p>
            <a:pPr algn="l">
              <a:lnSpc>
                <a:spcPct val="115000"/>
              </a:lnSpc>
              <a:spcAft>
                <a:spcPts val="400"/>
              </a:spcAft>
            </a:pPr>
            <a:r>
              <a:rPr sz="900" b="0" i="0">
                <a:solidFill>
                  <a:srgbClr val="7A7A7A"/>
                </a:solidFill>
                <a:latin typeface="Inter"/>
              </a:rPr>
              <a:t>member: 5%</a:t>
            </a:r>
          </a:p>
          <a:p>
            <a:pPr algn="l">
              <a:lnSpc>
                <a:spcPct val="115000"/>
              </a:lnSpc>
              <a:spcAft>
                <a:spcPts val="400"/>
              </a:spcAft>
            </a:pPr>
            <a:r>
              <a:rPr sz="900" b="0" i="0">
                <a:solidFill>
                  <a:srgbClr val="7A7A7A"/>
                </a:solidFill>
                <a:latin typeface="Inter"/>
              </a:rPr>
              <a:t>vip: 10%</a:t>
            </a:r>
          </a:p>
          <a:p>
            <a:pPr algn="l">
              <a:lnSpc>
                <a:spcPct val="115000"/>
              </a:lnSpc>
              <a:spcAft>
                <a:spcPts val="0"/>
              </a:spcAft>
            </a:pPr>
            <a:endParaRPr sz="900" b="0" i="0">
              <a:solidFill>
                <a:srgbClr val="7A7A7A"/>
              </a:solidFill>
              <a:latin typeface="Inter"/>
            </a:endParaRPr>
          </a:p>
          <a:p>
            <a:pPr algn="l">
              <a:lnSpc>
                <a:spcPct val="115000"/>
              </a:lnSpc>
              <a:spcAft>
                <a:spcPts val="400"/>
              </a:spcAft>
            </a:pPr>
            <a:r>
              <a:rPr sz="900" b="1" i="0">
                <a:solidFill>
                  <a:srgbClr val="7A7A7A"/>
                </a:solidFill>
                <a:latin typeface="Inter"/>
              </a:rPr>
              <a:t>Notifikasi</a:t>
            </a:r>
          </a:p>
          <a:p>
            <a:pPr algn="l">
              <a:lnSpc>
                <a:spcPct val="115000"/>
              </a:lnSpc>
              <a:spcAft>
                <a:spcPts val="400"/>
              </a:spcAft>
            </a:pPr>
            <a:r>
              <a:rPr sz="900" b="0" i="0">
                <a:solidFill>
                  <a:srgbClr val="7A7A7A"/>
                </a:solidFill>
                <a:latin typeface="Inter"/>
              </a:rPr>
              <a:t>email atau SMS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Tahapan Pengembangan Order API</a:t>
            </a:r>
          </a:p>
        </p:txBody>
      </p:sp>
      <p:graphicFrame>
        <p:nvGraphicFramePr>
          <p:cNvPr id="22" name="Table 3"/>
          <p:cNvGraphicFramePr>
            <a:graphicFrameLocks noGrp="1"/>
          </p:cNvGraphicFramePr>
          <p:nvPr/>
        </p:nvGraphicFramePr>
        <p:xfrm>
          <a:off x="621792" y="1463040"/>
          <a:ext cx="7863840" cy="3031236"/>
        </p:xfrm>
        <a:graphic>
          <a:graphicData uri="http://schemas.openxmlformats.org/drawingml/2006/table">
            <a:tbl>
              <a:tblPr firstRow="1" bandRow="1"/>
              <a:tblGrid>
                <a:gridCol w="9601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233172">
                <a:tc>
                  <a:txBody>
                    <a:bodyPr/>
                    <a:lstStyle/>
                    <a:p>
                      <a:pPr algn="l">
                        <a:lnSpc>
                          <a:spcPct val="100000"/>
                        </a:lnSpc>
                        <a:spcAft>
                          <a:spcPts val="0"/>
                        </a:spcAft>
                      </a:pPr>
                      <a:r>
                        <a:rPr sz="800" b="1" i="0">
                          <a:solidFill>
                            <a:srgbClr val="FFFFFF"/>
                          </a:solidFill>
                          <a:latin typeface="Inter"/>
                        </a:rPr>
                        <a:t>Sesi</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Yang ditambahkan ke Order API</a:t>
                      </a:r>
                    </a:p>
                  </a:txBody>
                  <a:tcPr marL="73152" marR="73152" marT="36576" marB="36576" anchor="ctr">
                    <a:solidFill>
                      <a:srgbClr val="1C4587"/>
                    </a:solidFill>
                  </a:tcPr>
                </a:tc>
                <a:extLst>
                  <a:ext uri="{0D108BD9-81ED-4DB2-BD59-A6C34878D82A}">
                    <a16:rowId xmlns:a16="http://schemas.microsoft.com/office/drawing/2014/main" val="10000"/>
                  </a:ext>
                </a:extLst>
              </a:tr>
              <a:tr h="233172">
                <a:tc>
                  <a:txBody>
                    <a:bodyPr/>
                    <a:lstStyle/>
                    <a:p>
                      <a:pPr algn="l">
                        <a:lnSpc>
                          <a:spcPct val="100000"/>
                        </a:lnSpc>
                        <a:spcAft>
                          <a:spcPts val="0"/>
                        </a:spcAft>
                      </a:pPr>
                      <a:r>
                        <a:rPr sz="800" b="1" i="0">
                          <a:solidFill>
                            <a:srgbClr val="1C4587"/>
                          </a:solidFill>
                          <a:latin typeface="Inter"/>
                        </a:rPr>
                        <a:t>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Design Patterns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Kode didalam satu file diperbaiki: Factory, Singleton, Strategy, Repository, Service Layer</a:t>
                      </a:r>
                    </a:p>
                  </a:txBody>
                  <a:tcPr marL="73152" marR="73152" marT="36576" marB="36576" anchor="ctr">
                    <a:solidFill>
                      <a:srgbClr val="FFFFFF"/>
                    </a:solidFill>
                  </a:tcPr>
                </a:tc>
                <a:extLst>
                  <a:ext uri="{0D108BD9-81ED-4DB2-BD59-A6C34878D82A}">
                    <a16:rowId xmlns:a16="http://schemas.microsoft.com/office/drawing/2014/main" val="10001"/>
                  </a:ext>
                </a:extLst>
              </a:tr>
              <a:tr h="233172">
                <a:tc>
                  <a:txBody>
                    <a:bodyPr/>
                    <a:lstStyle/>
                    <a:p>
                      <a:pPr algn="l">
                        <a:lnSpc>
                          <a:spcPct val="100000"/>
                        </a:lnSpc>
                        <a:spcAft>
                          <a:spcPts val="0"/>
                        </a:spcAft>
                      </a:pPr>
                      <a:r>
                        <a:rPr sz="800" b="1" i="0">
                          <a:solidFill>
                            <a:srgbClr val="1C4587"/>
                          </a:solidFill>
                          <a:latin typeface="Inter"/>
                        </a:rPr>
                        <a:t>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SOLID &amp; Clean Architecture</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Dipisah per layer: domain, application, infrastructure, api</a:t>
                      </a:r>
                    </a:p>
                  </a:txBody>
                  <a:tcPr marL="73152" marR="73152" marT="36576" marB="36576" anchor="ctr">
                    <a:solidFill>
                      <a:srgbClr val="F3F4F6"/>
                    </a:solidFill>
                  </a:tcPr>
                </a:tc>
                <a:extLst>
                  <a:ext uri="{0D108BD9-81ED-4DB2-BD59-A6C34878D82A}">
                    <a16:rowId xmlns:a16="http://schemas.microsoft.com/office/drawing/2014/main" val="10002"/>
                  </a:ext>
                </a:extLst>
              </a:tr>
              <a:tr h="233172">
                <a:tc>
                  <a:txBody>
                    <a:bodyPr/>
                    <a:lstStyle/>
                    <a:p>
                      <a:pPr algn="l">
                        <a:lnSpc>
                          <a:spcPct val="100000"/>
                        </a:lnSpc>
                        <a:spcAft>
                          <a:spcPts val="0"/>
                        </a:spcAft>
                      </a:pPr>
                      <a:r>
                        <a:rPr sz="800" b="1" i="0">
                          <a:solidFill>
                            <a:srgbClr val="1C4587"/>
                          </a:solidFill>
                          <a:latin typeface="Inter"/>
                        </a:rPr>
                        <a:t>3</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Domain-Driven Design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Order jadi aggregate, Money value object, aturan bayar &amp; batal</a:t>
                      </a:r>
                    </a:p>
                  </a:txBody>
                  <a:tcPr marL="73152" marR="73152" marT="36576" marB="36576" anchor="ctr">
                    <a:solidFill>
                      <a:srgbClr val="FFFFFF"/>
                    </a:solidFill>
                  </a:tcPr>
                </a:tc>
                <a:extLst>
                  <a:ext uri="{0D108BD9-81ED-4DB2-BD59-A6C34878D82A}">
                    <a16:rowId xmlns:a16="http://schemas.microsoft.com/office/drawing/2014/main" val="10003"/>
                  </a:ext>
                </a:extLst>
              </a:tr>
              <a:tr h="233172">
                <a:tc>
                  <a:txBody>
                    <a:bodyPr/>
                    <a:lstStyle/>
                    <a:p>
                      <a:pPr algn="l">
                        <a:lnSpc>
                          <a:spcPct val="100000"/>
                        </a:lnSpc>
                        <a:spcAft>
                          <a:spcPts val="0"/>
                        </a:spcAft>
                      </a:pPr>
                      <a:r>
                        <a:rPr sz="800" b="1" i="0">
                          <a:solidFill>
                            <a:srgbClr val="1C4587"/>
                          </a:solidFill>
                          <a:latin typeface="Inter"/>
                        </a:rPr>
                        <a:t>4  (sesi ini)</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Modular FastAPI &amp; ORM</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Router per modul, SQLAlchemy, Unit of Work, format error</a:t>
                      </a:r>
                    </a:p>
                  </a:txBody>
                  <a:tcPr marL="73152" marR="73152" marT="36576" marB="36576" anchor="ctr">
                    <a:solidFill>
                      <a:srgbClr val="F3F4F6"/>
                    </a:solidFill>
                  </a:tcPr>
                </a:tc>
                <a:extLst>
                  <a:ext uri="{0D108BD9-81ED-4DB2-BD59-A6C34878D82A}">
                    <a16:rowId xmlns:a16="http://schemas.microsoft.com/office/drawing/2014/main" val="10004"/>
                  </a:ext>
                </a:extLst>
              </a:tr>
              <a:tr h="233172">
                <a:tc>
                  <a:txBody>
                    <a:bodyPr/>
                    <a:lstStyle/>
                    <a:p>
                      <a:pPr algn="l">
                        <a:lnSpc>
                          <a:spcPct val="100000"/>
                        </a:lnSpc>
                        <a:spcAft>
                          <a:spcPts val="0"/>
                        </a:spcAft>
                      </a:pPr>
                      <a:r>
                        <a:rPr sz="800" b="1" i="0">
                          <a:solidFill>
                            <a:srgbClr val="1C4587"/>
                          </a:solidFill>
                          <a:latin typeface="Inter"/>
                        </a:rPr>
                        <a:t>5</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Celery &amp; Redis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Notifikasi dan report dikerjakan di background job</a:t>
                      </a:r>
                    </a:p>
                  </a:txBody>
                  <a:tcPr marL="73152" marR="73152" marT="36576" marB="36576" anchor="ctr">
                    <a:solidFill>
                      <a:srgbClr val="FFFFFF"/>
                    </a:solidFill>
                  </a:tcPr>
                </a:tc>
                <a:extLst>
                  <a:ext uri="{0D108BD9-81ED-4DB2-BD59-A6C34878D82A}">
                    <a16:rowId xmlns:a16="http://schemas.microsoft.com/office/drawing/2014/main" val="10005"/>
                  </a:ext>
                </a:extLst>
              </a:tr>
              <a:tr h="233172">
                <a:tc>
                  <a:txBody>
                    <a:bodyPr/>
                    <a:lstStyle/>
                    <a:p>
                      <a:pPr algn="l">
                        <a:lnSpc>
                          <a:spcPct val="100000"/>
                        </a:lnSpc>
                        <a:spcAft>
                          <a:spcPts val="0"/>
                        </a:spcAft>
                      </a:pPr>
                      <a:r>
                        <a:rPr sz="800" b="1" i="0">
                          <a:solidFill>
                            <a:srgbClr val="1C4587"/>
                          </a:solidFill>
                          <a:latin typeface="Inter"/>
                        </a:rPr>
                        <a:t>6</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Caching &amp; Rate Limiting</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Data produk di-cache di Redis, request dibatasi</a:t>
                      </a:r>
                    </a:p>
                  </a:txBody>
                  <a:tcPr marL="73152" marR="73152" marT="36576" marB="36576" anchor="ctr">
                    <a:solidFill>
                      <a:srgbClr val="F3F4F6"/>
                    </a:solidFill>
                  </a:tcPr>
                </a:tc>
                <a:extLst>
                  <a:ext uri="{0D108BD9-81ED-4DB2-BD59-A6C34878D82A}">
                    <a16:rowId xmlns:a16="http://schemas.microsoft.com/office/drawing/2014/main" val="10006"/>
                  </a:ext>
                </a:extLst>
              </a:tr>
              <a:tr h="233172">
                <a:tc>
                  <a:txBody>
                    <a:bodyPr/>
                    <a:lstStyle/>
                    <a:p>
                      <a:pPr algn="l">
                        <a:lnSpc>
                          <a:spcPct val="100000"/>
                        </a:lnSpc>
                        <a:spcAft>
                          <a:spcPts val="0"/>
                        </a:spcAft>
                      </a:pPr>
                      <a:r>
                        <a:rPr sz="800" b="1" i="0">
                          <a:solidFill>
                            <a:srgbClr val="1C4587"/>
                          </a:solidFill>
                          <a:latin typeface="Inter"/>
                        </a:rPr>
                        <a:t>7</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Database Optimization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PostgreSQL, index, tanpa N+1, pagination</a:t>
                      </a:r>
                    </a:p>
                  </a:txBody>
                  <a:tcPr marL="73152" marR="73152" marT="36576" marB="36576" anchor="ctr">
                    <a:solidFill>
                      <a:srgbClr val="FFFFFF"/>
                    </a:solidFill>
                  </a:tcPr>
                </a:tc>
                <a:extLst>
                  <a:ext uri="{0D108BD9-81ED-4DB2-BD59-A6C34878D82A}">
                    <a16:rowId xmlns:a16="http://schemas.microsoft.com/office/drawing/2014/main" val="10007"/>
                  </a:ext>
                </a:extLst>
              </a:tr>
              <a:tr h="233172">
                <a:tc>
                  <a:txBody>
                    <a:bodyPr/>
                    <a:lstStyle/>
                    <a:p>
                      <a:pPr algn="l">
                        <a:lnSpc>
                          <a:spcPct val="100000"/>
                        </a:lnSpc>
                        <a:spcAft>
                          <a:spcPts val="0"/>
                        </a:spcAft>
                      </a:pPr>
                      <a:r>
                        <a:rPr sz="800" b="1" i="0">
                          <a:solidFill>
                            <a:srgbClr val="1C4587"/>
                          </a:solidFill>
                          <a:latin typeface="Inter"/>
                        </a:rPr>
                        <a:t>8</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RabbitMQ &amp; Kafka</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Event order, consumer notifikasi yang retry-safe</a:t>
                      </a:r>
                    </a:p>
                  </a:txBody>
                  <a:tcPr marL="73152" marR="73152" marT="36576" marB="36576" anchor="ctr">
                    <a:solidFill>
                      <a:srgbClr val="F3F4F6"/>
                    </a:solidFill>
                  </a:tcPr>
                </a:tc>
                <a:extLst>
                  <a:ext uri="{0D108BD9-81ED-4DB2-BD59-A6C34878D82A}">
                    <a16:rowId xmlns:a16="http://schemas.microsoft.com/office/drawing/2014/main" val="10008"/>
                  </a:ext>
                </a:extLst>
              </a:tr>
              <a:tr h="233172">
                <a:tc>
                  <a:txBody>
                    <a:bodyPr/>
                    <a:lstStyle/>
                    <a:p>
                      <a:pPr algn="l">
                        <a:lnSpc>
                          <a:spcPct val="100000"/>
                        </a:lnSpc>
                        <a:spcAft>
                          <a:spcPts val="0"/>
                        </a:spcAft>
                      </a:pPr>
                      <a:r>
                        <a:rPr sz="800" b="1" i="0">
                          <a:solidFill>
                            <a:srgbClr val="1C4587"/>
                          </a:solidFill>
                          <a:latin typeface="Inter"/>
                        </a:rPr>
                        <a:t>9</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Observability</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Log terstruktur, metrics, dan tracing</a:t>
                      </a:r>
                    </a:p>
                  </a:txBody>
                  <a:tcPr marL="73152" marR="73152" marT="36576" marB="36576" anchor="ctr">
                    <a:solidFill>
                      <a:srgbClr val="FFFFFF"/>
                    </a:solidFill>
                  </a:tcPr>
                </a:tc>
                <a:extLst>
                  <a:ext uri="{0D108BD9-81ED-4DB2-BD59-A6C34878D82A}">
                    <a16:rowId xmlns:a16="http://schemas.microsoft.com/office/drawing/2014/main" val="10009"/>
                  </a:ext>
                </a:extLst>
              </a:tr>
              <a:tr h="233172">
                <a:tc>
                  <a:txBody>
                    <a:bodyPr/>
                    <a:lstStyle/>
                    <a:p>
                      <a:pPr algn="l">
                        <a:lnSpc>
                          <a:spcPct val="100000"/>
                        </a:lnSpc>
                        <a:spcAft>
                          <a:spcPts val="0"/>
                        </a:spcAft>
                      </a:pPr>
                      <a:r>
                        <a:rPr sz="800" b="1" i="0">
                          <a:solidFill>
                            <a:srgbClr val="1C4587"/>
                          </a:solidFill>
                          <a:latin typeface="Inter"/>
                        </a:rPr>
                        <a:t>10</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API Security</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Login OAuth2/JWT, hak akses per role</a:t>
                      </a:r>
                    </a:p>
                  </a:txBody>
                  <a:tcPr marL="73152" marR="73152" marT="36576" marB="36576" anchor="ctr">
                    <a:solidFill>
                      <a:srgbClr val="F3F4F6"/>
                    </a:solidFill>
                  </a:tcPr>
                </a:tc>
                <a:extLst>
                  <a:ext uri="{0D108BD9-81ED-4DB2-BD59-A6C34878D82A}">
                    <a16:rowId xmlns:a16="http://schemas.microsoft.com/office/drawing/2014/main" val="10010"/>
                  </a:ext>
                </a:extLst>
              </a:tr>
              <a:tr h="233172">
                <a:tc>
                  <a:txBody>
                    <a:bodyPr/>
                    <a:lstStyle/>
                    <a:p>
                      <a:pPr algn="l">
                        <a:lnSpc>
                          <a:spcPct val="100000"/>
                        </a:lnSpc>
                        <a:spcAft>
                          <a:spcPts val="0"/>
                        </a:spcAft>
                      </a:pPr>
                      <a:r>
                        <a:rPr sz="800" b="1" i="0">
                          <a:solidFill>
                            <a:srgbClr val="1C4587"/>
                          </a:solidFill>
                          <a:latin typeface="Inter"/>
                        </a:rPr>
                        <a:t>11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&amp; CI/CD</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image, Compose, dan pipeline otomatis</a:t>
                      </a:r>
                    </a:p>
                  </a:txBody>
                  <a:tcPr marL="73152" marR="73152" marT="36576" marB="36576" anchor="ctr">
                    <a:solidFill>
                      <a:srgbClr val="FFFFFF"/>
                    </a:solidFill>
                  </a:tcPr>
                </a:tc>
                <a:extLst>
                  <a:ext uri="{0D108BD9-81ED-4DB2-BD59-A6C34878D82A}">
                    <a16:rowId xmlns:a16="http://schemas.microsoft.com/office/drawing/2014/main" val="10011"/>
                  </a:ext>
                </a:extLst>
              </a:tr>
              <a:tr h="233172">
                <a:tc>
                  <a:txBody>
                    <a:bodyPr/>
                    <a:lstStyle/>
                    <a:p>
                      <a:pPr algn="l">
                        <a:lnSpc>
                          <a:spcPct val="100000"/>
                        </a:lnSpc>
                        <a:spcAft>
                          <a:spcPts val="0"/>
                        </a:spcAft>
                      </a:pPr>
                      <a:r>
                        <a:rPr sz="800" b="1" i="0">
                          <a:solidFill>
                            <a:srgbClr val="1C4587"/>
                          </a:solidFill>
                          <a:latin typeface="Inter"/>
                        </a:rPr>
                        <a:t>12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Final Project</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Order API yang siap production</a:t>
                      </a:r>
                    </a:p>
                  </a:txBody>
                  <a:tcPr marL="73152" marR="73152" marT="36576" marB="36576" anchor="ctr">
                    <a:solidFill>
                      <a:srgbClr val="F3F4F6"/>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Pengantar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Fitur FastAPI, Library, dan Design Pattern di Sesi Ini</a:t>
            </a:r>
          </a:p>
        </p:txBody>
      </p:sp>
      <p:graphicFrame>
        <p:nvGraphicFramePr>
          <p:cNvPr id="22" name="Table 3"/>
          <p:cNvGraphicFramePr>
            <a:graphicFrameLocks noGrp="1"/>
          </p:cNvGraphicFramePr>
          <p:nvPr/>
        </p:nvGraphicFramePr>
        <p:xfrm>
          <a:off x="621792" y="1481328"/>
          <a:ext cx="7863840" cy="292608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65760">
                <a:tc>
                  <a:txBody>
                    <a:bodyPr/>
                    <a:lstStyle/>
                    <a:p>
                      <a:pPr algn="l">
                        <a:lnSpc>
                          <a:spcPct val="100000"/>
                        </a:lnSpc>
                        <a:spcAft>
                          <a:spcPts val="0"/>
                        </a:spcAft>
                      </a:pPr>
                      <a:r>
                        <a:rPr sz="95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Jenisnya</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Disediakan oleh</a:t>
                      </a:r>
                    </a:p>
                  </a:txBody>
                  <a:tcPr marL="73152" marR="73152" marT="36576" marB="36576" anchor="ctr">
                    <a:solidFill>
                      <a:srgbClr val="1C4587"/>
                    </a:solidFill>
                  </a:tcPr>
                </a:tc>
                <a:extLst>
                  <a:ext uri="{0D108BD9-81ED-4DB2-BD59-A6C34878D82A}">
                    <a16:rowId xmlns:a16="http://schemas.microsoft.com/office/drawing/2014/main" val="10000"/>
                  </a:ext>
                </a:extLst>
              </a:tr>
              <a:tr h="365760">
                <a:tc>
                  <a:txBody>
                    <a:bodyPr/>
                    <a:lstStyle/>
                    <a:p>
                      <a:pPr algn="l">
                        <a:lnSpc>
                          <a:spcPct val="100000"/>
                        </a:lnSpc>
                        <a:spcAft>
                          <a:spcPts val="0"/>
                        </a:spcAft>
                      </a:pPr>
                      <a:r>
                        <a:rPr sz="950" b="1" i="0">
                          <a:solidFill>
                            <a:srgbClr val="1C4587"/>
                          </a:solidFill>
                          <a:latin typeface="Inter"/>
                        </a:rPr>
                        <a:t>APIRouter</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bawaan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FastAPI</a:t>
                      </a:r>
                    </a:p>
                  </a:txBody>
                  <a:tcPr marL="73152" marR="73152" marT="36576" marB="36576" anchor="ctr">
                    <a:solidFill>
                      <a:srgbClr val="FFFFFF"/>
                    </a:solidFill>
                  </a:tcPr>
                </a:tc>
                <a:extLst>
                  <a:ext uri="{0D108BD9-81ED-4DB2-BD59-A6C34878D82A}">
                    <a16:rowId xmlns:a16="http://schemas.microsoft.com/office/drawing/2014/main" val="10001"/>
                  </a:ext>
                </a:extLst>
              </a:tr>
              <a:tr h="365760">
                <a:tc>
                  <a:txBody>
                    <a:bodyPr/>
                    <a:lstStyle/>
                    <a:p>
                      <a:pPr algn="l">
                        <a:lnSpc>
                          <a:spcPct val="100000"/>
                        </a:lnSpc>
                        <a:spcAft>
                          <a:spcPts val="0"/>
                        </a:spcAft>
                      </a:pPr>
                      <a:r>
                        <a:rPr sz="950" b="1" i="0">
                          <a:solidFill>
                            <a:srgbClr val="1C4587"/>
                          </a:solidFill>
                          <a:latin typeface="Inter"/>
                        </a:rPr>
                        <a:t>Schema request &amp; response</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Fitur bawaan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Pydantic, library validasi yang dipakai FastAPI</a:t>
                      </a:r>
                    </a:p>
                  </a:txBody>
                  <a:tcPr marL="73152" marR="73152" marT="36576" marB="36576" anchor="ctr">
                    <a:solidFill>
                      <a:srgbClr val="F3F4F6"/>
                    </a:solidFill>
                  </a:tcPr>
                </a:tc>
                <a:extLst>
                  <a:ext uri="{0D108BD9-81ED-4DB2-BD59-A6C34878D82A}">
                    <a16:rowId xmlns:a16="http://schemas.microsoft.com/office/drawing/2014/main" val="10002"/>
                  </a:ext>
                </a:extLst>
              </a:tr>
              <a:tr h="365760">
                <a:tc>
                  <a:txBody>
                    <a:bodyPr/>
                    <a:lstStyle/>
                    <a:p>
                      <a:pPr algn="l">
                        <a:lnSpc>
                          <a:spcPct val="100000"/>
                        </a:lnSpc>
                        <a:spcAft>
                          <a:spcPts val="0"/>
                        </a:spcAft>
                      </a:pPr>
                      <a:r>
                        <a:rPr sz="950" b="1" i="0">
                          <a:solidFill>
                            <a:srgbClr val="1C4587"/>
                          </a:solidFill>
                          <a:latin typeface="Inter"/>
                        </a:rPr>
                        <a:t>Depends dengan yield</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Fitur bawaan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FastAPI</a:t>
                      </a:r>
                    </a:p>
                  </a:txBody>
                  <a:tcPr marL="73152" marR="73152" marT="36576" marB="36576" anchor="ctr">
                    <a:solidFill>
                      <a:srgbClr val="FFFFFF"/>
                    </a:solidFill>
                  </a:tcPr>
                </a:tc>
                <a:extLst>
                  <a:ext uri="{0D108BD9-81ED-4DB2-BD59-A6C34878D82A}">
                    <a16:rowId xmlns:a16="http://schemas.microsoft.com/office/drawing/2014/main" val="10003"/>
                  </a:ext>
                </a:extLst>
              </a:tr>
              <a:tr h="365760">
                <a:tc>
                  <a:txBody>
                    <a:bodyPr/>
                    <a:lstStyle/>
                    <a:p>
                      <a:pPr algn="l">
                        <a:lnSpc>
                          <a:spcPct val="100000"/>
                        </a:lnSpc>
                        <a:spcAft>
                          <a:spcPts val="0"/>
                        </a:spcAft>
                      </a:pPr>
                      <a:r>
                        <a:rPr sz="950" b="1" i="0">
                          <a:solidFill>
                            <a:srgbClr val="1C4587"/>
                          </a:solidFill>
                          <a:latin typeface="Inter"/>
                        </a:rPr>
                        <a:t>Middleware &amp; exception handler</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Fitur bawaan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FastAPI (middleware berasal dari Starlette)</a:t>
                      </a:r>
                    </a:p>
                  </a:txBody>
                  <a:tcPr marL="73152" marR="73152" marT="36576" marB="36576" anchor="ctr">
                    <a:solidFill>
                      <a:srgbClr val="F3F4F6"/>
                    </a:solidFill>
                  </a:tcPr>
                </a:tc>
                <a:extLst>
                  <a:ext uri="{0D108BD9-81ED-4DB2-BD59-A6C34878D82A}">
                    <a16:rowId xmlns:a16="http://schemas.microsoft.com/office/drawing/2014/main" val="10004"/>
                  </a:ext>
                </a:extLst>
              </a:tr>
              <a:tr h="365760">
                <a:tc>
                  <a:txBody>
                    <a:bodyPr/>
                    <a:lstStyle/>
                    <a:p>
                      <a:pPr algn="l">
                        <a:lnSpc>
                          <a:spcPct val="100000"/>
                        </a:lnSpc>
                        <a:spcAft>
                          <a:spcPts val="0"/>
                        </a:spcAft>
                      </a:pPr>
                      <a:r>
                        <a:rPr sz="950" b="1" i="0">
                          <a:solidFill>
                            <a:srgbClr val="1C4587"/>
                          </a:solidFill>
                          <a:latin typeface="Inter"/>
                        </a:rPr>
                        <a:t>OpenAPI &amp; Swagger UI</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Dibuat otomatis</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FastAPI, dari route dan schema yang kita tulis</a:t>
                      </a:r>
                    </a:p>
                  </a:txBody>
                  <a:tcPr marL="73152" marR="73152" marT="36576" marB="36576" anchor="ctr">
                    <a:solidFill>
                      <a:srgbClr val="FFFFFF"/>
                    </a:solidFill>
                  </a:tcPr>
                </a:tc>
                <a:extLst>
                  <a:ext uri="{0D108BD9-81ED-4DB2-BD59-A6C34878D82A}">
                    <a16:rowId xmlns:a16="http://schemas.microsoft.com/office/drawing/2014/main" val="10005"/>
                  </a:ext>
                </a:extLst>
              </a:tr>
              <a:tr h="365760">
                <a:tc>
                  <a:txBody>
                    <a:bodyPr/>
                    <a:lstStyle/>
                    <a:p>
                      <a:pPr algn="l">
                        <a:lnSpc>
                          <a:spcPct val="100000"/>
                        </a:lnSpc>
                        <a:spcAft>
                          <a:spcPts val="0"/>
                        </a:spcAft>
                      </a:pPr>
                      <a:r>
                        <a:rPr sz="950" b="1" i="0">
                          <a:solidFill>
                            <a:srgbClr val="1C4587"/>
                          </a:solidFill>
                          <a:latin typeface="Inter"/>
                        </a:rPr>
                        <a:t>Transaction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Fitur library</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SQLAlchemy: session, commit, rollback</a:t>
                      </a:r>
                    </a:p>
                  </a:txBody>
                  <a:tcPr marL="73152" marR="73152" marT="36576" marB="36576" anchor="ctr">
                    <a:solidFill>
                      <a:srgbClr val="F3F4F6"/>
                    </a:solidFill>
                  </a:tcPr>
                </a:tc>
                <a:extLst>
                  <a:ext uri="{0D108BD9-81ED-4DB2-BD59-A6C34878D82A}">
                    <a16:rowId xmlns:a16="http://schemas.microsoft.com/office/drawing/2014/main" val="10006"/>
                  </a:ext>
                </a:extLst>
              </a:tr>
              <a:tr h="365760">
                <a:tc>
                  <a:txBody>
                    <a:bodyPr/>
                    <a:lstStyle/>
                    <a:p>
                      <a:pPr algn="l">
                        <a:lnSpc>
                          <a:spcPct val="100000"/>
                        </a:lnSpc>
                        <a:spcAft>
                          <a:spcPts val="0"/>
                        </a:spcAft>
                      </a:pPr>
                      <a:r>
                        <a:rPr sz="950" b="1" i="0">
                          <a:solidFill>
                            <a:srgbClr val="1C4587"/>
                          </a:solidFill>
                          <a:latin typeface="Inter"/>
                        </a:rPr>
                        <a:t>Unit of Work</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Design pattern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Ditulis sendiri, dipopulerkan Martin Fowler</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23" name="Text 4"/>
          <p:cNvSpPr txBox="1"/>
          <p:nvPr/>
        </p:nvSpPr>
        <p:spPr>
          <a:xfrm>
            <a:off x="621792" y="4526280"/>
            <a:ext cx="7863840" cy="274320"/>
          </a:xfrm>
          <a:prstGeom prst="rect">
            <a:avLst/>
          </a:prstGeom>
          <a:noFill/>
        </p:spPr>
        <p:txBody>
          <a:bodyPr wrap="square" lIns="45720" rIns="45720" anchor="t">
            <a:spAutoFit/>
          </a:bodyPr>
          <a:lstStyle/>
          <a:p>
            <a:pPr algn="l">
              <a:lnSpc>
                <a:spcPct val="115000"/>
              </a:lnSpc>
              <a:spcAft>
                <a:spcPts val="400"/>
              </a:spcAft>
            </a:pPr>
            <a:r>
              <a:rPr sz="950" b="0" i="0">
                <a:solidFill>
                  <a:srgbClr val="1C4587"/>
                </a:solidFill>
                <a:latin typeface="Inter"/>
              </a:rPr>
              <a:t>Bagian 1 dan 2 memakai fitur FastAPI dengan rapi. Bagian 3 menjaga data tetap konsisten saat satu proses terdiri dari beberapa langkah.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01</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Modular FastAPI Project</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APIRouter, schema request &amp; response, dan dependency graph.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APIRouter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APIRouter?</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APIRouter adalah</a:t>
            </a:r>
          </a:p>
          <a:p>
            <a:pPr algn="l">
              <a:lnSpc>
                <a:spcPct val="115000"/>
              </a:lnSpc>
              <a:spcAft>
                <a:spcPts val="400"/>
              </a:spcAft>
            </a:pPr>
            <a:r>
              <a:rPr sz="900" b="0" i="0">
                <a:solidFill>
                  <a:srgbClr val="434343"/>
                </a:solidFill>
                <a:latin typeface="Inter"/>
              </a:rPr>
              <a:t>Fitur bawaan FastAPI untuk </a:t>
            </a:r>
            <a:r>
              <a:rPr sz="900" b="1" i="0">
                <a:solidFill>
                  <a:srgbClr val="434343"/>
                </a:solidFill>
                <a:latin typeface="Inter"/>
              </a:rPr>
              <a:t>mengelompokkan endpoint berdasarkan fitur</a:t>
            </a:r>
            <a:r>
              <a:rPr sz="900" b="0" i="0">
                <a:solidFill>
                  <a:srgbClr val="434343"/>
                </a:solidFill>
                <a:latin typeface="Inter"/>
              </a:rPr>
              <a:t>, misalnya semua endpoint product di satu router dan endpoint order di router lain. Setiap router punya </a:t>
            </a:r>
            <a:r>
              <a:rPr sz="900" b="0" i="0">
                <a:solidFill>
                  <a:srgbClr val="B5482A"/>
                </a:solidFill>
                <a:latin typeface="Inconsolata"/>
              </a:rPr>
              <a:t>prefix</a:t>
            </a:r>
            <a:r>
              <a:rPr sz="900" b="0" i="0">
                <a:solidFill>
                  <a:srgbClr val="434343"/>
                </a:solidFill>
                <a:latin typeface="Inter"/>
              </a:rPr>
              <a:t> dan </a:t>
            </a:r>
            <a:r>
              <a:rPr sz="900" b="0" i="0">
                <a:solidFill>
                  <a:srgbClr val="B5482A"/>
                </a:solidFill>
                <a:latin typeface="Inconsolata"/>
              </a:rPr>
              <a:t>tags</a:t>
            </a:r>
            <a:r>
              <a:rPr sz="900" b="0" i="0">
                <a:solidFill>
                  <a:srgbClr val="434343"/>
                </a:solidFill>
                <a:latin typeface="Inter"/>
              </a:rPr>
              <a:t> sendiri, lalu dipasang ke aplikasi dengan </a:t>
            </a:r>
            <a:r>
              <a:rPr sz="900" b="0" i="0">
                <a:solidFill>
                  <a:srgbClr val="B5482A"/>
                </a:solidFill>
                <a:latin typeface="Inconsolata"/>
              </a:rPr>
              <a:t>app.include_router()</a:t>
            </a:r>
            <a:r>
              <a:rPr sz="900" b="0" i="0">
                <a:solidFill>
                  <a:srgbClr val="434343"/>
                </a:solidFill>
                <a:latin typeface="Inter"/>
              </a:rPr>
              <a:t>.</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Memisahkan endpoint ke satu file router per fitur</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Menulis prefix cukup sekali di router</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Mengelompokkan endpoint di </a:t>
            </a:r>
            <a:r>
              <a:rPr sz="900" b="0" i="0">
                <a:solidFill>
                  <a:srgbClr val="B5482A"/>
                </a:solidFill>
                <a:latin typeface="Inconsolata"/>
              </a:rPr>
              <a:t>/docs</a:t>
            </a:r>
            <a:r>
              <a:rPr sz="900" b="0" i="0">
                <a:solidFill>
                  <a:srgbClr val="434343"/>
                </a:solidFill>
                <a:latin typeface="Inter"/>
              </a:rPr>
              <a:t> agar mudah dicari</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APIRouter: 01-apirouter/before.py</a:t>
            </a:r>
          </a:p>
        </p:txBody>
      </p:sp>
      <p:sp>
        <p:nvSpPr>
          <p:cNvPr id="28" name="CodeBg 11"/>
          <p:cNvSpPr/>
          <p:nvPr/>
        </p:nvSpPr>
        <p:spPr>
          <a:xfrm>
            <a:off x="4297680" y="1719072"/>
            <a:ext cx="4187951" cy="1152144"/>
          </a:xfrm>
          <a:prstGeom prst="roundRect">
            <a:avLst>
              <a:gd name="adj" fmla="val 158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152144"/>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@app.get</a:t>
            </a:r>
            <a:r>
              <a:rPr sz="850" i="0">
                <a:solidFill>
                  <a:srgbClr val="E6EDF3"/>
                </a:solidFill>
                <a:latin typeface="Inconsolata"/>
              </a:rPr>
              <a:t>(</a:t>
            </a:r>
            <a:r>
              <a:rPr sz="850" i="0">
                <a:solidFill>
                  <a:srgbClr val="A5D6A7"/>
                </a:solidFill>
                <a:latin typeface="Inconsolata"/>
              </a:rPr>
              <a:t>"/products/{product_id}"</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get_product</a:t>
            </a:r>
            <a:r>
              <a:rPr sz="850" i="0">
                <a:solidFill>
                  <a:srgbClr val="E6EDF3"/>
                </a:solidFill>
                <a:latin typeface="Inconsolata"/>
              </a:rPr>
              <a:t>(product_id: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7FDBCA"/>
                </a:solidFill>
                <a:latin typeface="Inconsolata"/>
              </a:rPr>
              <a:t>PRODUCTS</a:t>
            </a:r>
            <a:r>
              <a:rPr sz="850" i="0">
                <a:solidFill>
                  <a:srgbClr val="E6EDF3"/>
                </a:solidFill>
                <a:latin typeface="Inconsolata"/>
              </a:rPr>
              <a:t>[product_id]</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"/orders"</a:t>
            </a:r>
            <a:r>
              <a:rPr sz="850" i="0">
                <a:solidFill>
                  <a:srgbClr val="E6EDF3"/>
                </a:solidFill>
                <a:latin typeface="Inconsolata"/>
              </a:rPr>
              <a:t>, status_code=</a:t>
            </a:r>
            <a:r>
              <a:rPr sz="850" i="0">
                <a:solidFill>
                  <a:srgbClr val="F9C97A"/>
                </a:solidFill>
                <a:latin typeface="Inconsolata"/>
              </a:rPr>
              <a:t>201</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create_order</a:t>
            </a:r>
            <a:r>
              <a:rPr sz="850" i="0">
                <a:solidFill>
                  <a:srgbClr val="E6EDF3"/>
                </a:solidFill>
                <a:latin typeface="Inconsolata"/>
              </a:rPr>
              <a:t>(customer: </a:t>
            </a:r>
            <a:r>
              <a:rPr sz="850" i="0">
                <a:solidFill>
                  <a:srgbClr val="C3A6FF"/>
                </a:solidFill>
                <a:latin typeface="Inconsolata"/>
              </a:rPr>
              <a:t>str</a:t>
            </a:r>
            <a:r>
              <a:rPr sz="850" i="0">
                <a:solidFill>
                  <a:srgbClr val="E6EDF3"/>
                </a:solidFill>
                <a:latin typeface="Inconsolata"/>
              </a:rPr>
              <a:t>):</a:t>
            </a:r>
          </a:p>
        </p:txBody>
      </p:sp>
      <p:sp>
        <p:nvSpPr>
          <p:cNvPr id="30" name="Box 13"/>
          <p:cNvSpPr/>
          <p:nvPr/>
        </p:nvSpPr>
        <p:spPr>
          <a:xfrm>
            <a:off x="4379976" y="18286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5271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2962656"/>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3040380"/>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3040380"/>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3040380"/>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2971800"/>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APIRouter: 01-apirouter/after.py</a:t>
            </a:r>
          </a:p>
        </p:txBody>
      </p:sp>
      <p:sp>
        <p:nvSpPr>
          <p:cNvPr id="37" name="CodeBg 22"/>
          <p:cNvSpPr/>
          <p:nvPr/>
        </p:nvSpPr>
        <p:spPr>
          <a:xfrm>
            <a:off x="4297680" y="3200400"/>
            <a:ext cx="4187951" cy="1499616"/>
          </a:xfrm>
          <a:prstGeom prst="roundRect">
            <a:avLst>
              <a:gd name="adj" fmla="val 121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3200400"/>
            <a:ext cx="4187951" cy="1499616"/>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products_router = </a:t>
            </a:r>
            <a:r>
              <a:rPr sz="850" i="0">
                <a:solidFill>
                  <a:srgbClr val="7FDBCA"/>
                </a:solidFill>
                <a:latin typeface="Inconsolata"/>
              </a:rPr>
              <a:t>APIRouter</a:t>
            </a:r>
            <a:r>
              <a:rPr sz="850" i="0">
                <a:solidFill>
                  <a:srgbClr val="E6EDF3"/>
                </a:solidFill>
                <a:latin typeface="Inconsolata"/>
              </a:rPr>
              <a:t>(prefix=</a:t>
            </a:r>
            <a:r>
              <a:rPr sz="850" i="0">
                <a:solidFill>
                  <a:srgbClr val="A5D6A7"/>
                </a:solidFill>
                <a:latin typeface="Inconsolata"/>
              </a:rPr>
              <a:t>"/products"</a:t>
            </a:r>
            <a:r>
              <a:rPr sz="850" i="0">
                <a:solidFill>
                  <a:srgbClr val="E6EDF3"/>
                </a:solidFill>
                <a:latin typeface="Inconsolata"/>
              </a:rPr>
              <a:t>, tags=[</a:t>
            </a:r>
            <a:r>
              <a:rPr sz="850" i="0">
                <a:solidFill>
                  <a:srgbClr val="A5D6A7"/>
                </a:solidFill>
                <a:latin typeface="Inconsolata"/>
              </a:rPr>
              <a:t>"products"</a:t>
            </a:r>
            <a:r>
              <a:rPr sz="850" i="0">
                <a:solidFill>
                  <a:srgbClr val="E6EDF3"/>
                </a:solidFill>
                <a:latin typeface="Inconsolata"/>
              </a:rPr>
              <a:t>])</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F9C97A"/>
                </a:solidFill>
                <a:latin typeface="Inconsolata"/>
              </a:rPr>
              <a:t>@products_router.get</a:t>
            </a:r>
            <a:r>
              <a:rPr sz="850" i="0">
                <a:solidFill>
                  <a:srgbClr val="E6EDF3"/>
                </a:solidFill>
                <a:latin typeface="Inconsolata"/>
              </a:rPr>
              <a:t>(</a:t>
            </a:r>
            <a:r>
              <a:rPr sz="850" i="0">
                <a:solidFill>
                  <a:srgbClr val="A5D6A7"/>
                </a:solidFill>
                <a:latin typeface="Inconsolata"/>
              </a:rPr>
              <a:t>"/{product_id}"</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get_product</a:t>
            </a:r>
            <a:r>
              <a:rPr sz="850" i="0">
                <a:solidFill>
                  <a:srgbClr val="E6EDF3"/>
                </a:solidFill>
                <a:latin typeface="Inconsolata"/>
              </a:rPr>
              <a:t>(product_id: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7FDBCA"/>
                </a:solidFill>
                <a:latin typeface="Inconsolata"/>
              </a:rPr>
              <a:t>PRODUCTS</a:t>
            </a:r>
            <a:r>
              <a:rPr sz="850" i="0">
                <a:solidFill>
                  <a:srgbClr val="E6EDF3"/>
                </a:solidFill>
                <a:latin typeface="Inconsolata"/>
              </a:rPr>
              <a:t>[product_id]</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E6EDF3"/>
                </a:solidFill>
                <a:latin typeface="Inconsolata"/>
              </a:rPr>
              <a:t>app = </a:t>
            </a:r>
            <a:r>
              <a:rPr sz="850" i="0">
                <a:solidFill>
                  <a:srgbClr val="7FDBCA"/>
                </a:solidFill>
                <a:latin typeface="Inconsolata"/>
              </a:rPr>
              <a:t>FastAPI</a:t>
            </a:r>
            <a:r>
              <a:rPr sz="850" i="0">
                <a:solidFill>
                  <a:srgbClr val="E6EDF3"/>
                </a:solidFill>
                <a:latin typeface="Inconsolata"/>
              </a:rPr>
              <a:t>()</a:t>
            </a:r>
          </a:p>
          <a:p>
            <a:pPr>
              <a:lnSpc>
                <a:spcPct val="107843"/>
              </a:lnSpc>
              <a:spcAft>
                <a:spcPts val="0"/>
              </a:spcAft>
            </a:pPr>
            <a:r>
              <a:rPr sz="850" i="0">
                <a:solidFill>
                  <a:srgbClr val="E6EDF3"/>
                </a:solidFill>
                <a:latin typeface="Inconsolata"/>
              </a:rPr>
              <a:t>app.include_router(products_router)</a:t>
            </a:r>
          </a:p>
          <a:p>
            <a:pPr>
              <a:lnSpc>
                <a:spcPct val="107843"/>
              </a:lnSpc>
              <a:spcAft>
                <a:spcPts val="0"/>
              </a:spcAft>
            </a:pPr>
            <a:r>
              <a:rPr sz="850" i="0">
                <a:solidFill>
                  <a:srgbClr val="E6EDF3"/>
                </a:solidFill>
                <a:latin typeface="Inconsolata"/>
              </a:rPr>
              <a:t>app.include_router(orders_router)</a:t>
            </a:r>
          </a:p>
        </p:txBody>
      </p:sp>
      <p:sp>
        <p:nvSpPr>
          <p:cNvPr id="39" name="Box 24"/>
          <p:cNvSpPr/>
          <p:nvPr/>
        </p:nvSpPr>
        <p:spPr>
          <a:xfrm>
            <a:off x="4379976" y="3310001"/>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4287901"/>
            <a:ext cx="4023359" cy="271018"/>
          </a:xfrm>
          <a:prstGeom prst="roundRect">
            <a:avLst>
              <a:gd name="adj" fmla="val 16869"/>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APIRouter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APIRouter?</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APIRouter</a:t>
            </a:r>
          </a:p>
          <a:p>
            <a:pPr algn="l">
              <a:lnSpc>
                <a:spcPct val="115000"/>
              </a:lnSpc>
              <a:spcAft>
                <a:spcPts val="400"/>
              </a:spcAft>
            </a:pPr>
            <a:r>
              <a:rPr sz="950" b="0" i="0">
                <a:solidFill>
                  <a:srgbClr val="434343"/>
                </a:solidFill>
                <a:latin typeface="Inter"/>
              </a:rPr>
              <a:t>Semua endpoint ditulis di </a:t>
            </a:r>
            <a:r>
              <a:rPr sz="950" b="0" i="0">
                <a:solidFill>
                  <a:srgbClr val="B5482A"/>
                </a:solidFill>
                <a:latin typeface="Inconsolata"/>
              </a:rPr>
              <a:t>main.py</a:t>
            </a:r>
            <a:r>
              <a:rPr sz="950" b="0" i="0">
                <a:solidFill>
                  <a:srgbClr val="434343"/>
                </a:solidFill>
                <a:latin typeface="Inter"/>
              </a:rPr>
              <a:t> dengan </a:t>
            </a:r>
            <a:r>
              <a:rPr sz="950" b="0" i="0">
                <a:solidFill>
                  <a:srgbClr val="B5482A"/>
                </a:solidFill>
                <a:latin typeface="Inconsolata"/>
              </a:rPr>
              <a:t>@app.get(...)</a:t>
            </a:r>
            <a:r>
              <a:rPr sz="950" b="0" i="0">
                <a:solidFill>
                  <a:srgbClr val="434343"/>
                </a:solidFill>
                <a:latin typeface="Inter"/>
              </a:rPr>
              <a:t> dan </a:t>
            </a:r>
            <a:r>
              <a:rPr sz="950" b="0" i="0">
                <a:solidFill>
                  <a:srgbClr val="B5482A"/>
                </a:solidFill>
                <a:latin typeface="Inconsolata"/>
              </a:rPr>
              <a:t>@app.post(...)</a:t>
            </a:r>
            <a:r>
              <a:rPr sz="950" b="0" i="0">
                <a:solidFill>
                  <a:srgbClr val="434343"/>
                </a:solidFill>
                <a:latin typeface="Inter"/>
              </a:rPr>
              <a:t>. Prefix </a:t>
            </a:r>
            <a:r>
              <a:rPr sz="950" b="0" i="0">
                <a:solidFill>
                  <a:srgbClr val="B5482A"/>
                </a:solidFill>
                <a:latin typeface="Inconsolata"/>
              </a:rPr>
              <a:t>/products</a:t>
            </a:r>
            <a:r>
              <a:rPr sz="950" b="0" i="0">
                <a:solidFill>
                  <a:srgbClr val="434343"/>
                </a:solidFill>
                <a:latin typeface="Inter"/>
              </a:rPr>
              <a:t> dan </a:t>
            </a:r>
            <a:r>
              <a:rPr sz="950" b="0" i="0">
                <a:solidFill>
                  <a:srgbClr val="B5482A"/>
                </a:solidFill>
                <a:latin typeface="Inconsolata"/>
              </a:rPr>
              <a:t>/orders</a:t>
            </a:r>
            <a:r>
              <a:rPr sz="950" b="0" i="0">
                <a:solidFill>
                  <a:srgbClr val="434343"/>
                </a:solidFill>
                <a:latin typeface="Inter"/>
              </a:rPr>
              <a:t> juga ditulis ulang di setiap route.</a:t>
            </a:r>
          </a:p>
          <a:p>
            <a:pPr algn="l">
              <a:lnSpc>
                <a:spcPct val="115000"/>
              </a:lnSpc>
              <a:spcAft>
                <a:spcPts val="400"/>
              </a:spcAft>
            </a:pPr>
            <a:r>
              <a:rPr sz="1050" b="1" i="0">
                <a:solidFill>
                  <a:srgbClr val="1C4587"/>
                </a:solidFill>
                <a:latin typeface="Inter"/>
              </a:rPr>
              <a:t>Jika endpointnya makin banyak</a:t>
            </a:r>
          </a:p>
          <a:p>
            <a:pPr algn="l">
              <a:lnSpc>
                <a:spcPct val="115000"/>
              </a:lnSpc>
              <a:spcAft>
                <a:spcPts val="400"/>
              </a:spcAft>
            </a:pPr>
            <a:r>
              <a:rPr sz="950" b="0" i="0">
                <a:solidFill>
                  <a:srgbClr val="B5482A"/>
                </a:solidFill>
                <a:latin typeface="Inconsolata"/>
              </a:rPr>
              <a:t>main.py</a:t>
            </a:r>
            <a:r>
              <a:rPr sz="950" b="0" i="0">
                <a:solidFill>
                  <a:srgbClr val="434343"/>
                </a:solidFill>
                <a:latin typeface="Inter"/>
              </a:rPr>
              <a:t> bisa mencapai ratusan baris karena berisi endpoint product, order, user, payment, dan report sekaligus.</a:t>
            </a:r>
          </a:p>
          <a:p>
            <a:pPr algn="l">
              <a:lnSpc>
                <a:spcPct val="115000"/>
              </a:lnSpc>
              <a:spcAft>
                <a:spcPts val="400"/>
              </a:spcAft>
            </a:pPr>
            <a:r>
              <a:rPr sz="950" b="0" i="0">
                <a:solidFill>
                  <a:srgbClr val="434343"/>
                </a:solidFill>
                <a:latin typeface="Inter"/>
              </a:rPr>
              <a:t>Hal ini membuat dua developer yang mengerjakan fitur berbeda sering bentrok (conflict) di file yang sama.</a:t>
            </a:r>
          </a:p>
          <a:p>
            <a:pPr algn="l">
              <a:lnSpc>
                <a:spcPct val="115000"/>
              </a:lnSpc>
              <a:spcAft>
                <a:spcPts val="400"/>
              </a:spcAft>
            </a:pPr>
            <a:r>
              <a:rPr sz="1050" b="1" i="0">
                <a:solidFill>
                  <a:srgbClr val="1C4587"/>
                </a:solidFill>
                <a:latin typeface="Inter"/>
              </a:rPr>
              <a:t>Yang dipakai dari FastAPI: APIRouter</a:t>
            </a:r>
          </a:p>
          <a:p>
            <a:pPr algn="l">
              <a:lnSpc>
                <a:spcPct val="115000"/>
              </a:lnSpc>
              <a:spcAft>
                <a:spcPts val="400"/>
              </a:spcAft>
            </a:pPr>
            <a:r>
              <a:rPr sz="950" b="0" i="0">
                <a:solidFill>
                  <a:srgbClr val="B5482A"/>
                </a:solidFill>
                <a:latin typeface="Inconsolata"/>
              </a:rPr>
              <a:t>APIRouter</a:t>
            </a:r>
            <a:r>
              <a:rPr sz="950" b="0" i="0">
                <a:solidFill>
                  <a:srgbClr val="434343"/>
                </a:solidFill>
                <a:latin typeface="Inter"/>
              </a:rPr>
              <a:t> bentuknya mirip </a:t>
            </a:r>
            <a:r>
              <a:rPr sz="950" b="0" i="0">
                <a:solidFill>
                  <a:srgbClr val="B5482A"/>
                </a:solidFill>
                <a:latin typeface="Inconsolata"/>
              </a:rPr>
              <a:t>FastAPI()</a:t>
            </a:r>
            <a:r>
              <a:rPr sz="950" b="0" i="0">
                <a:solidFill>
                  <a:srgbClr val="434343"/>
                </a:solidFill>
                <a:latin typeface="Inter"/>
              </a:rPr>
              <a:t>, tapi hanya berisi sekelompok endpoint. Router baru aktif setelah dipasang dengan </a:t>
            </a:r>
            <a:r>
              <a:rPr sz="950" b="0" i="0">
                <a:solidFill>
                  <a:srgbClr val="B5482A"/>
                </a:solidFill>
                <a:latin typeface="Inconsolata"/>
              </a:rPr>
              <a:t>include_router()</a:t>
            </a:r>
            <a:r>
              <a:rPr sz="950" b="0" i="0">
                <a:solidFill>
                  <a:srgbClr val="434343"/>
                </a:solidFill>
                <a:latin typeface="Inter"/>
              </a:rPr>
              <a:t>.</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1947672">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APIRouter(prefix="/products")</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Semua route di router ini diawali /products</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tags=["products"]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Endpoint dikelompokkan di /docs</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app.include_router(router)</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Router dipasang ke aplikasi</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APIRouter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Semua endpoint ditulis di main.py</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01-apirouter/before.py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4903"/>
              </a:lnSpc>
              <a:spcAft>
                <a:spcPts val="0"/>
              </a:spcAft>
            </a:pPr>
            <a:r>
              <a:rPr sz="794" i="0">
                <a:solidFill>
                  <a:srgbClr val="5C6773"/>
                </a:solidFill>
                <a:latin typeface="Inconsolata"/>
              </a:rPr>
              <a:t> 9  </a:t>
            </a:r>
            <a:r>
              <a:rPr sz="794" i="0">
                <a:solidFill>
                  <a:srgbClr val="FF8E6E"/>
                </a:solidFill>
                <a:latin typeface="Inconsolata"/>
              </a:rPr>
              <a:t>from</a:t>
            </a:r>
            <a:r>
              <a:rPr sz="794" i="0">
                <a:solidFill>
                  <a:srgbClr val="E6EDF3"/>
                </a:solidFill>
                <a:latin typeface="Inconsolata"/>
              </a:rPr>
              <a:t> fastapi </a:t>
            </a:r>
            <a:r>
              <a:rPr sz="794" i="0">
                <a:solidFill>
                  <a:srgbClr val="FF8E6E"/>
                </a:solidFill>
                <a:latin typeface="Inconsolata"/>
              </a:rPr>
              <a:t>import</a:t>
            </a:r>
            <a:r>
              <a:rPr sz="794" i="0">
                <a:solidFill>
                  <a:srgbClr val="E6EDF3"/>
                </a:solidFill>
                <a:latin typeface="Inconsolata"/>
              </a:rPr>
              <a:t> </a:t>
            </a:r>
            <a:r>
              <a:rPr sz="794" i="0">
                <a:solidFill>
                  <a:srgbClr val="7FDBCA"/>
                </a:solidFill>
                <a:latin typeface="Inconsolata"/>
              </a:rPr>
              <a:t>FastAPI</a:t>
            </a:r>
          </a:p>
          <a:p>
            <a:pPr>
              <a:lnSpc>
                <a:spcPct val="104903"/>
              </a:lnSpc>
              <a:spcAft>
                <a:spcPts val="0"/>
              </a:spcAft>
            </a:pPr>
            <a:r>
              <a:rPr sz="794" i="0">
                <a:solidFill>
                  <a:srgbClr val="5C6773"/>
                </a:solidFill>
                <a:latin typeface="Inconsolata"/>
              </a:rPr>
              <a:t>10  </a:t>
            </a:r>
            <a:r>
              <a:rPr sz="794" i="0">
                <a:solidFill>
                  <a:srgbClr val="E6EDF3"/>
                </a:solidFill>
                <a:latin typeface="Inconsolata"/>
              </a:rPr>
              <a:t> </a:t>
            </a:r>
          </a:p>
          <a:p>
            <a:pPr>
              <a:lnSpc>
                <a:spcPct val="104903"/>
              </a:lnSpc>
              <a:spcAft>
                <a:spcPts val="0"/>
              </a:spcAft>
            </a:pPr>
            <a:r>
              <a:rPr sz="794" i="0">
                <a:solidFill>
                  <a:srgbClr val="5C6773"/>
                </a:solidFill>
                <a:latin typeface="Inconsolata"/>
              </a:rPr>
              <a:t>11  </a:t>
            </a:r>
            <a:r>
              <a:rPr sz="794" i="0">
                <a:solidFill>
                  <a:srgbClr val="E6EDF3"/>
                </a:solidFill>
                <a:latin typeface="Inconsolata"/>
              </a:rPr>
              <a:t>app = </a:t>
            </a:r>
            <a:r>
              <a:rPr sz="794" i="0">
                <a:solidFill>
                  <a:srgbClr val="7FDBCA"/>
                </a:solidFill>
                <a:latin typeface="Inconsolata"/>
              </a:rPr>
              <a:t>FastAPI</a:t>
            </a:r>
            <a:r>
              <a:rPr sz="794" i="0">
                <a:solidFill>
                  <a:srgbClr val="E6EDF3"/>
                </a:solidFill>
                <a:latin typeface="Inconsolata"/>
              </a:rPr>
              <a:t>()</a:t>
            </a:r>
          </a:p>
          <a:p>
            <a:pPr>
              <a:lnSpc>
                <a:spcPct val="104903"/>
              </a:lnSpc>
              <a:spcAft>
                <a:spcPts val="0"/>
              </a:spcAft>
            </a:pPr>
            <a:r>
              <a:rPr sz="794" i="0">
                <a:solidFill>
                  <a:srgbClr val="5C6773"/>
                </a:solidFill>
                <a:latin typeface="Inconsolata"/>
              </a:rPr>
              <a:t>12  </a:t>
            </a:r>
            <a:r>
              <a:rPr sz="794" i="0">
                <a:solidFill>
                  <a:srgbClr val="7FDBCA"/>
                </a:solidFill>
                <a:latin typeface="Inconsolata"/>
              </a:rPr>
              <a:t>PRODUCTS</a:t>
            </a:r>
            <a:r>
              <a:rPr sz="794" i="0">
                <a:solidFill>
                  <a:srgbClr val="E6EDF3"/>
                </a:solidFill>
                <a:latin typeface="Inconsolata"/>
              </a:rPr>
              <a:t> = {</a:t>
            </a:r>
            <a:r>
              <a:rPr sz="794" i="0">
                <a:solidFill>
                  <a:srgbClr val="F9C97A"/>
                </a:solidFill>
                <a:latin typeface="Inconsolata"/>
              </a:rPr>
              <a:t>1</a:t>
            </a:r>
            <a:r>
              <a:rPr sz="794" i="0">
                <a:solidFill>
                  <a:srgbClr val="E6EDF3"/>
                </a:solidFill>
                <a:latin typeface="Inconsolata"/>
              </a:rPr>
              <a:t>: {</a:t>
            </a:r>
            <a:r>
              <a:rPr sz="794" i="0">
                <a:solidFill>
                  <a:srgbClr val="A5D6A7"/>
                </a:solidFill>
                <a:latin typeface="Inconsolata"/>
              </a:rPr>
              <a:t>"id"</a:t>
            </a:r>
            <a:r>
              <a:rPr sz="794" i="0">
                <a:solidFill>
                  <a:srgbClr val="E6EDF3"/>
                </a:solidFill>
                <a:latin typeface="Inconsolata"/>
              </a:rPr>
              <a:t>: </a:t>
            </a:r>
            <a:r>
              <a:rPr sz="794" i="0">
                <a:solidFill>
                  <a:srgbClr val="F9C97A"/>
                </a:solidFill>
                <a:latin typeface="Inconsolata"/>
              </a:rPr>
              <a:t>1</a:t>
            </a:r>
            <a:r>
              <a:rPr sz="794" i="0">
                <a:solidFill>
                  <a:srgbClr val="E6EDF3"/>
                </a:solidFill>
                <a:latin typeface="Inconsolata"/>
              </a:rPr>
              <a:t>, </a:t>
            </a:r>
            <a:r>
              <a:rPr sz="794" i="0">
                <a:solidFill>
                  <a:srgbClr val="A5D6A7"/>
                </a:solidFill>
                <a:latin typeface="Inconsolata"/>
              </a:rPr>
              <a:t>"name"</a:t>
            </a:r>
            <a:r>
              <a:rPr sz="794" i="0">
                <a:solidFill>
                  <a:srgbClr val="E6EDF3"/>
                </a:solidFill>
                <a:latin typeface="Inconsolata"/>
              </a:rPr>
              <a:t>: </a:t>
            </a:r>
            <a:r>
              <a:rPr sz="794" i="0">
                <a:solidFill>
                  <a:srgbClr val="A5D6A7"/>
                </a:solidFill>
                <a:latin typeface="Inconsolata"/>
              </a:rPr>
              <a:t>"Keyboard"</a:t>
            </a:r>
            <a:r>
              <a:rPr sz="794" i="0">
                <a:solidFill>
                  <a:srgbClr val="E6EDF3"/>
                </a:solidFill>
                <a:latin typeface="Inconsolata"/>
              </a:rPr>
              <a:t>, </a:t>
            </a:r>
            <a:r>
              <a:rPr sz="794" i="0">
                <a:solidFill>
                  <a:srgbClr val="A5D6A7"/>
                </a:solidFill>
                <a:latin typeface="Inconsolata"/>
              </a:rPr>
              <a:t>"price"</a:t>
            </a:r>
            <a:r>
              <a:rPr sz="794" i="0">
                <a:solidFill>
                  <a:srgbClr val="E6EDF3"/>
                </a:solidFill>
                <a:latin typeface="Inconsolata"/>
              </a:rPr>
              <a:t>: </a:t>
            </a:r>
            <a:r>
              <a:rPr sz="794" i="0">
                <a:solidFill>
                  <a:srgbClr val="F9C97A"/>
                </a:solidFill>
                <a:latin typeface="Inconsolata"/>
              </a:rPr>
              <a:t>500_000</a:t>
            </a:r>
            <a:r>
              <a:rPr sz="794" i="0">
                <a:solidFill>
                  <a:srgbClr val="E6EDF3"/>
                </a:solidFill>
                <a:latin typeface="Inconsolata"/>
              </a:rPr>
              <a:t>}}</a:t>
            </a:r>
          </a:p>
          <a:p>
            <a:pPr>
              <a:lnSpc>
                <a:spcPct val="104903"/>
              </a:lnSpc>
              <a:spcAft>
                <a:spcPts val="0"/>
              </a:spcAft>
            </a:pPr>
            <a:r>
              <a:rPr sz="794" i="0">
                <a:solidFill>
                  <a:srgbClr val="5C6773"/>
                </a:solidFill>
                <a:latin typeface="Inconsolata"/>
              </a:rPr>
              <a:t>13  </a:t>
            </a:r>
            <a:r>
              <a:rPr sz="794" i="0">
                <a:solidFill>
                  <a:srgbClr val="7FDBCA"/>
                </a:solidFill>
                <a:latin typeface="Inconsolata"/>
              </a:rPr>
              <a:t>ORDERS</a:t>
            </a:r>
            <a:r>
              <a:rPr sz="794" i="0">
                <a:solidFill>
                  <a:srgbClr val="E6EDF3"/>
                </a:solidFill>
                <a:latin typeface="Inconsolata"/>
              </a:rPr>
              <a:t>: </a:t>
            </a:r>
            <a:r>
              <a:rPr sz="794" i="0">
                <a:solidFill>
                  <a:srgbClr val="C3A6FF"/>
                </a:solidFill>
                <a:latin typeface="Inconsolata"/>
              </a:rPr>
              <a:t>dict</a:t>
            </a:r>
            <a:r>
              <a:rPr sz="794" i="0">
                <a:solidFill>
                  <a:srgbClr val="E6EDF3"/>
                </a:solidFill>
                <a:latin typeface="Inconsolata"/>
              </a:rPr>
              <a:t>[</a:t>
            </a:r>
            <a:r>
              <a:rPr sz="794" i="0">
                <a:solidFill>
                  <a:srgbClr val="C3A6FF"/>
                </a:solidFill>
                <a:latin typeface="Inconsolata"/>
              </a:rPr>
              <a:t>int</a:t>
            </a:r>
            <a:r>
              <a:rPr sz="794" i="0">
                <a:solidFill>
                  <a:srgbClr val="E6EDF3"/>
                </a:solidFill>
                <a:latin typeface="Inconsolata"/>
              </a:rPr>
              <a:t>, </a:t>
            </a:r>
            <a:r>
              <a:rPr sz="794" i="0">
                <a:solidFill>
                  <a:srgbClr val="C3A6FF"/>
                </a:solidFill>
                <a:latin typeface="Inconsolata"/>
              </a:rPr>
              <a:t>dict</a:t>
            </a:r>
            <a:r>
              <a:rPr sz="794" i="0">
                <a:solidFill>
                  <a:srgbClr val="E6EDF3"/>
                </a:solidFill>
                <a:latin typeface="Inconsolata"/>
              </a:rPr>
              <a:t>] = {}</a:t>
            </a:r>
          </a:p>
          <a:p>
            <a:pPr>
              <a:lnSpc>
                <a:spcPct val="104903"/>
              </a:lnSpc>
              <a:spcAft>
                <a:spcPts val="0"/>
              </a:spcAft>
            </a:pPr>
            <a:r>
              <a:rPr sz="794" i="0">
                <a:solidFill>
                  <a:srgbClr val="5C6773"/>
                </a:solidFill>
                <a:latin typeface="Inconsolata"/>
              </a:rPr>
              <a:t>14  </a:t>
            </a:r>
            <a:r>
              <a:rPr sz="794" i="0">
                <a:solidFill>
                  <a:srgbClr val="E6EDF3"/>
                </a:solidFill>
                <a:latin typeface="Inconsolata"/>
              </a:rPr>
              <a:t> </a:t>
            </a:r>
          </a:p>
          <a:p>
            <a:pPr>
              <a:lnSpc>
                <a:spcPct val="104903"/>
              </a:lnSpc>
              <a:spcAft>
                <a:spcPts val="0"/>
              </a:spcAft>
            </a:pPr>
            <a:r>
              <a:rPr sz="794" i="0">
                <a:solidFill>
                  <a:srgbClr val="5C6773"/>
                </a:solidFill>
                <a:latin typeface="Inconsolata"/>
              </a:rPr>
              <a:t>15  </a:t>
            </a:r>
            <a:r>
              <a:rPr sz="794" i="0">
                <a:solidFill>
                  <a:srgbClr val="E6EDF3"/>
                </a:solidFill>
                <a:latin typeface="Inconsolata"/>
              </a:rPr>
              <a:t> </a:t>
            </a:r>
          </a:p>
          <a:p>
            <a:pPr>
              <a:lnSpc>
                <a:spcPct val="104903"/>
              </a:lnSpc>
              <a:spcAft>
                <a:spcPts val="0"/>
              </a:spcAft>
            </a:pPr>
            <a:r>
              <a:rPr sz="794" i="0">
                <a:solidFill>
                  <a:srgbClr val="5C6773"/>
                </a:solidFill>
                <a:latin typeface="Inconsolata"/>
              </a:rPr>
              <a:t>16  </a:t>
            </a:r>
            <a:r>
              <a:rPr sz="794" i="0">
                <a:solidFill>
                  <a:srgbClr val="F9C97A"/>
                </a:solidFill>
                <a:latin typeface="Inconsolata"/>
              </a:rPr>
              <a:t>@app.get</a:t>
            </a:r>
            <a:r>
              <a:rPr sz="794" i="0">
                <a:solidFill>
                  <a:srgbClr val="E6EDF3"/>
                </a:solidFill>
                <a:latin typeface="Inconsolata"/>
              </a:rPr>
              <a:t>(</a:t>
            </a:r>
            <a:r>
              <a:rPr sz="794" i="0">
                <a:solidFill>
                  <a:srgbClr val="A5D6A7"/>
                </a:solidFill>
                <a:latin typeface="Inconsolata"/>
              </a:rPr>
              <a:t>"/products"</a:t>
            </a:r>
            <a:r>
              <a:rPr sz="794" i="0">
                <a:solidFill>
                  <a:srgbClr val="E6EDF3"/>
                </a:solidFill>
                <a:latin typeface="Inconsolata"/>
              </a:rPr>
              <a:t>)</a:t>
            </a:r>
          </a:p>
          <a:p>
            <a:pPr>
              <a:lnSpc>
                <a:spcPct val="104903"/>
              </a:lnSpc>
              <a:spcAft>
                <a:spcPts val="0"/>
              </a:spcAft>
            </a:pPr>
            <a:r>
              <a:rPr sz="794" i="0">
                <a:solidFill>
                  <a:srgbClr val="5C6773"/>
                </a:solidFill>
                <a:latin typeface="Inconsolata"/>
              </a:rPr>
              <a:t>17  </a:t>
            </a:r>
            <a:r>
              <a:rPr sz="794" i="0">
                <a:solidFill>
                  <a:srgbClr val="FF8E6E"/>
                </a:solidFill>
                <a:latin typeface="Inconsolata"/>
              </a:rPr>
              <a:t>def</a:t>
            </a:r>
            <a:r>
              <a:rPr sz="794" i="0">
                <a:solidFill>
                  <a:srgbClr val="E6EDF3"/>
                </a:solidFill>
                <a:latin typeface="Inconsolata"/>
              </a:rPr>
              <a:t> </a:t>
            </a:r>
            <a:r>
              <a:rPr sz="794" i="0">
                <a:solidFill>
                  <a:srgbClr val="82B1FF"/>
                </a:solidFill>
                <a:latin typeface="Inconsolata"/>
              </a:rPr>
              <a:t>list_products</a:t>
            </a:r>
            <a:r>
              <a:rPr sz="794" i="0">
                <a:solidFill>
                  <a:srgbClr val="E6EDF3"/>
                </a:solidFill>
                <a:latin typeface="Inconsolata"/>
              </a:rPr>
              <a:t>():</a:t>
            </a:r>
          </a:p>
          <a:p>
            <a:pPr>
              <a:lnSpc>
                <a:spcPct val="104903"/>
              </a:lnSpc>
              <a:spcAft>
                <a:spcPts val="0"/>
              </a:spcAft>
            </a:pPr>
            <a:r>
              <a:rPr sz="794" i="0">
                <a:solidFill>
                  <a:srgbClr val="5C6773"/>
                </a:solidFill>
                <a:latin typeface="Inconsolata"/>
              </a:rPr>
              <a:t>18  </a:t>
            </a:r>
            <a:r>
              <a:rPr sz="794" i="0">
                <a:solidFill>
                  <a:srgbClr val="E6EDF3"/>
                </a:solidFill>
                <a:latin typeface="Inconsolata"/>
              </a:rPr>
              <a:t>    </a:t>
            </a:r>
            <a:r>
              <a:rPr sz="794" i="0">
                <a:solidFill>
                  <a:srgbClr val="FF8E6E"/>
                </a:solidFill>
                <a:latin typeface="Inconsolata"/>
              </a:rPr>
              <a:t>return</a:t>
            </a:r>
            <a:r>
              <a:rPr sz="794" i="0">
                <a:solidFill>
                  <a:srgbClr val="E6EDF3"/>
                </a:solidFill>
                <a:latin typeface="Inconsolata"/>
              </a:rPr>
              <a:t> </a:t>
            </a:r>
            <a:r>
              <a:rPr sz="794" i="0">
                <a:solidFill>
                  <a:srgbClr val="C3A6FF"/>
                </a:solidFill>
                <a:latin typeface="Inconsolata"/>
              </a:rPr>
              <a:t>list</a:t>
            </a:r>
            <a:r>
              <a:rPr sz="794" i="0">
                <a:solidFill>
                  <a:srgbClr val="E6EDF3"/>
                </a:solidFill>
                <a:latin typeface="Inconsolata"/>
              </a:rPr>
              <a:t>(</a:t>
            </a:r>
            <a:r>
              <a:rPr sz="794" i="0">
                <a:solidFill>
                  <a:srgbClr val="7FDBCA"/>
                </a:solidFill>
                <a:latin typeface="Inconsolata"/>
              </a:rPr>
              <a:t>PRODUCTS</a:t>
            </a:r>
            <a:r>
              <a:rPr sz="794" i="0">
                <a:solidFill>
                  <a:srgbClr val="E6EDF3"/>
                </a:solidFill>
                <a:latin typeface="Inconsolata"/>
              </a:rPr>
              <a:t>.values())</a:t>
            </a:r>
          </a:p>
          <a:p>
            <a:pPr>
              <a:lnSpc>
                <a:spcPct val="104903"/>
              </a:lnSpc>
              <a:spcAft>
                <a:spcPts val="0"/>
              </a:spcAft>
            </a:pPr>
            <a:r>
              <a:rPr sz="794" i="0">
                <a:solidFill>
                  <a:srgbClr val="5C6773"/>
                </a:solidFill>
                <a:latin typeface="Inconsolata"/>
              </a:rPr>
              <a:t>19  </a:t>
            </a:r>
            <a:r>
              <a:rPr sz="794" i="0">
                <a:solidFill>
                  <a:srgbClr val="E6EDF3"/>
                </a:solidFill>
                <a:latin typeface="Inconsolata"/>
              </a:rPr>
              <a:t> </a:t>
            </a:r>
          </a:p>
          <a:p>
            <a:pPr>
              <a:lnSpc>
                <a:spcPct val="104903"/>
              </a:lnSpc>
              <a:spcAft>
                <a:spcPts val="0"/>
              </a:spcAft>
            </a:pPr>
            <a:r>
              <a:rPr sz="794" i="0">
                <a:solidFill>
                  <a:srgbClr val="5C6773"/>
                </a:solidFill>
                <a:latin typeface="Inconsolata"/>
              </a:rPr>
              <a:t>20  </a:t>
            </a:r>
            <a:r>
              <a:rPr sz="794" i="0">
                <a:solidFill>
                  <a:srgbClr val="E6EDF3"/>
                </a:solidFill>
                <a:latin typeface="Inconsolata"/>
              </a:rPr>
              <a:t> </a:t>
            </a:r>
          </a:p>
          <a:p>
            <a:pPr>
              <a:lnSpc>
                <a:spcPct val="104903"/>
              </a:lnSpc>
              <a:spcAft>
                <a:spcPts val="0"/>
              </a:spcAft>
            </a:pPr>
            <a:r>
              <a:rPr sz="794" i="0">
                <a:solidFill>
                  <a:srgbClr val="5C6773"/>
                </a:solidFill>
                <a:latin typeface="Inconsolata"/>
              </a:rPr>
              <a:t>21  </a:t>
            </a:r>
            <a:r>
              <a:rPr sz="794" i="0">
                <a:solidFill>
                  <a:srgbClr val="F9C97A"/>
                </a:solidFill>
                <a:latin typeface="Inconsolata"/>
              </a:rPr>
              <a:t>@app.get</a:t>
            </a:r>
            <a:r>
              <a:rPr sz="794" i="0">
                <a:solidFill>
                  <a:srgbClr val="E6EDF3"/>
                </a:solidFill>
                <a:latin typeface="Inconsolata"/>
              </a:rPr>
              <a:t>(</a:t>
            </a:r>
            <a:r>
              <a:rPr sz="794" i="0">
                <a:solidFill>
                  <a:srgbClr val="A5D6A7"/>
                </a:solidFill>
                <a:latin typeface="Inconsolata"/>
              </a:rPr>
              <a:t>"/products/{product_id}"</a:t>
            </a:r>
            <a:r>
              <a:rPr sz="794" i="0">
                <a:solidFill>
                  <a:srgbClr val="E6EDF3"/>
                </a:solidFill>
                <a:latin typeface="Inconsolata"/>
              </a:rPr>
              <a:t>)</a:t>
            </a:r>
          </a:p>
          <a:p>
            <a:pPr>
              <a:lnSpc>
                <a:spcPct val="104903"/>
              </a:lnSpc>
              <a:spcAft>
                <a:spcPts val="0"/>
              </a:spcAft>
            </a:pPr>
            <a:r>
              <a:rPr sz="794" i="0">
                <a:solidFill>
                  <a:srgbClr val="5C6773"/>
                </a:solidFill>
                <a:latin typeface="Inconsolata"/>
              </a:rPr>
              <a:t>22  </a:t>
            </a:r>
            <a:r>
              <a:rPr sz="794" i="0">
                <a:solidFill>
                  <a:srgbClr val="FF8E6E"/>
                </a:solidFill>
                <a:latin typeface="Inconsolata"/>
              </a:rPr>
              <a:t>def</a:t>
            </a:r>
            <a:r>
              <a:rPr sz="794" i="0">
                <a:solidFill>
                  <a:srgbClr val="E6EDF3"/>
                </a:solidFill>
                <a:latin typeface="Inconsolata"/>
              </a:rPr>
              <a:t> </a:t>
            </a:r>
            <a:r>
              <a:rPr sz="794" i="0">
                <a:solidFill>
                  <a:srgbClr val="82B1FF"/>
                </a:solidFill>
                <a:latin typeface="Inconsolata"/>
              </a:rPr>
              <a:t>get_product</a:t>
            </a:r>
            <a:r>
              <a:rPr sz="794" i="0">
                <a:solidFill>
                  <a:srgbClr val="E6EDF3"/>
                </a:solidFill>
                <a:latin typeface="Inconsolata"/>
              </a:rPr>
              <a:t>(product_id: </a:t>
            </a:r>
            <a:r>
              <a:rPr sz="794" i="0">
                <a:solidFill>
                  <a:srgbClr val="C3A6FF"/>
                </a:solidFill>
                <a:latin typeface="Inconsolata"/>
              </a:rPr>
              <a:t>int</a:t>
            </a:r>
            <a:r>
              <a:rPr sz="794" i="0">
                <a:solidFill>
                  <a:srgbClr val="E6EDF3"/>
                </a:solidFill>
                <a:latin typeface="Inconsolata"/>
              </a:rPr>
              <a:t>):</a:t>
            </a:r>
          </a:p>
          <a:p>
            <a:pPr>
              <a:lnSpc>
                <a:spcPct val="104903"/>
              </a:lnSpc>
              <a:spcAft>
                <a:spcPts val="0"/>
              </a:spcAft>
            </a:pPr>
            <a:r>
              <a:rPr sz="794" i="0">
                <a:solidFill>
                  <a:srgbClr val="5C6773"/>
                </a:solidFill>
                <a:latin typeface="Inconsolata"/>
              </a:rPr>
              <a:t>23  </a:t>
            </a:r>
            <a:r>
              <a:rPr sz="794" i="0">
                <a:solidFill>
                  <a:srgbClr val="E6EDF3"/>
                </a:solidFill>
                <a:latin typeface="Inconsolata"/>
              </a:rPr>
              <a:t>    </a:t>
            </a:r>
            <a:r>
              <a:rPr sz="794" i="0">
                <a:solidFill>
                  <a:srgbClr val="FF8E6E"/>
                </a:solidFill>
                <a:latin typeface="Inconsolata"/>
              </a:rPr>
              <a:t>return</a:t>
            </a:r>
            <a:r>
              <a:rPr sz="794" i="0">
                <a:solidFill>
                  <a:srgbClr val="E6EDF3"/>
                </a:solidFill>
                <a:latin typeface="Inconsolata"/>
              </a:rPr>
              <a:t> </a:t>
            </a:r>
            <a:r>
              <a:rPr sz="794" i="0">
                <a:solidFill>
                  <a:srgbClr val="7FDBCA"/>
                </a:solidFill>
                <a:latin typeface="Inconsolata"/>
              </a:rPr>
              <a:t>PRODUCTS</a:t>
            </a:r>
            <a:r>
              <a:rPr sz="794" i="0">
                <a:solidFill>
                  <a:srgbClr val="E6EDF3"/>
                </a:solidFill>
                <a:latin typeface="Inconsolata"/>
              </a:rPr>
              <a:t>[product_id]</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01-apirouter/before.py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4903"/>
              </a:lnSpc>
              <a:spcAft>
                <a:spcPts val="0"/>
              </a:spcAft>
            </a:pPr>
            <a:r>
              <a:rPr sz="794" i="0">
                <a:solidFill>
                  <a:srgbClr val="5C6773"/>
                </a:solidFill>
                <a:latin typeface="Inconsolata"/>
              </a:rPr>
              <a:t>26  </a:t>
            </a:r>
            <a:r>
              <a:rPr sz="794" i="0">
                <a:solidFill>
                  <a:srgbClr val="F9C97A"/>
                </a:solidFill>
                <a:latin typeface="Inconsolata"/>
              </a:rPr>
              <a:t>@app.post</a:t>
            </a:r>
            <a:r>
              <a:rPr sz="794" i="0">
                <a:solidFill>
                  <a:srgbClr val="E6EDF3"/>
                </a:solidFill>
                <a:latin typeface="Inconsolata"/>
              </a:rPr>
              <a:t>(</a:t>
            </a:r>
            <a:r>
              <a:rPr sz="794" i="0">
                <a:solidFill>
                  <a:srgbClr val="A5D6A7"/>
                </a:solidFill>
                <a:latin typeface="Inconsolata"/>
              </a:rPr>
              <a:t>"/orders"</a:t>
            </a:r>
            <a:r>
              <a:rPr sz="794" i="0">
                <a:solidFill>
                  <a:srgbClr val="E6EDF3"/>
                </a:solidFill>
                <a:latin typeface="Inconsolata"/>
              </a:rPr>
              <a:t>, status_code=</a:t>
            </a:r>
            <a:r>
              <a:rPr sz="794" i="0">
                <a:solidFill>
                  <a:srgbClr val="F9C97A"/>
                </a:solidFill>
                <a:latin typeface="Inconsolata"/>
              </a:rPr>
              <a:t>201</a:t>
            </a:r>
            <a:r>
              <a:rPr sz="794" i="0">
                <a:solidFill>
                  <a:srgbClr val="E6EDF3"/>
                </a:solidFill>
                <a:latin typeface="Inconsolata"/>
              </a:rPr>
              <a:t>)</a:t>
            </a:r>
          </a:p>
          <a:p>
            <a:pPr>
              <a:lnSpc>
                <a:spcPct val="104903"/>
              </a:lnSpc>
              <a:spcAft>
                <a:spcPts val="0"/>
              </a:spcAft>
            </a:pPr>
            <a:r>
              <a:rPr sz="794" i="0">
                <a:solidFill>
                  <a:srgbClr val="5C6773"/>
                </a:solidFill>
                <a:latin typeface="Inconsolata"/>
              </a:rPr>
              <a:t>27  </a:t>
            </a:r>
            <a:r>
              <a:rPr sz="794" i="0">
                <a:solidFill>
                  <a:srgbClr val="FF8E6E"/>
                </a:solidFill>
                <a:latin typeface="Inconsolata"/>
              </a:rPr>
              <a:t>def</a:t>
            </a:r>
            <a:r>
              <a:rPr sz="794" i="0">
                <a:solidFill>
                  <a:srgbClr val="E6EDF3"/>
                </a:solidFill>
                <a:latin typeface="Inconsolata"/>
              </a:rPr>
              <a:t> </a:t>
            </a:r>
            <a:r>
              <a:rPr sz="794" i="0">
                <a:solidFill>
                  <a:srgbClr val="82B1FF"/>
                </a:solidFill>
                <a:latin typeface="Inconsolata"/>
              </a:rPr>
              <a:t>create_order</a:t>
            </a:r>
            <a:r>
              <a:rPr sz="794" i="0">
                <a:solidFill>
                  <a:srgbClr val="E6EDF3"/>
                </a:solidFill>
                <a:latin typeface="Inconsolata"/>
              </a:rPr>
              <a:t>(customer: </a:t>
            </a:r>
            <a:r>
              <a:rPr sz="794" i="0">
                <a:solidFill>
                  <a:srgbClr val="C3A6FF"/>
                </a:solidFill>
                <a:latin typeface="Inconsolata"/>
              </a:rPr>
              <a:t>str</a:t>
            </a:r>
            <a:r>
              <a:rPr sz="794" i="0">
                <a:solidFill>
                  <a:srgbClr val="E6EDF3"/>
                </a:solidFill>
                <a:latin typeface="Inconsolata"/>
              </a:rPr>
              <a:t>):</a:t>
            </a:r>
          </a:p>
          <a:p>
            <a:pPr>
              <a:lnSpc>
                <a:spcPct val="104903"/>
              </a:lnSpc>
              <a:spcAft>
                <a:spcPts val="0"/>
              </a:spcAft>
            </a:pPr>
            <a:r>
              <a:rPr sz="794" i="0">
                <a:solidFill>
                  <a:srgbClr val="5C6773"/>
                </a:solidFill>
                <a:latin typeface="Inconsolata"/>
              </a:rPr>
              <a:t>28  </a:t>
            </a:r>
            <a:r>
              <a:rPr sz="794" i="0">
                <a:solidFill>
                  <a:srgbClr val="E6EDF3"/>
                </a:solidFill>
                <a:latin typeface="Inconsolata"/>
              </a:rPr>
              <a:t>    order = {</a:t>
            </a:r>
            <a:r>
              <a:rPr sz="794" i="0">
                <a:solidFill>
                  <a:srgbClr val="A5D6A7"/>
                </a:solidFill>
                <a:latin typeface="Inconsolata"/>
              </a:rPr>
              <a:t>"id"</a:t>
            </a:r>
            <a:r>
              <a:rPr sz="794" i="0">
                <a:solidFill>
                  <a:srgbClr val="E6EDF3"/>
                </a:solidFill>
                <a:latin typeface="Inconsolata"/>
              </a:rPr>
              <a:t>: </a:t>
            </a:r>
            <a:r>
              <a:rPr sz="794" i="0">
                <a:solidFill>
                  <a:srgbClr val="C3A6FF"/>
                </a:solidFill>
                <a:latin typeface="Inconsolata"/>
              </a:rPr>
              <a:t>len</a:t>
            </a:r>
            <a:r>
              <a:rPr sz="794" i="0">
                <a:solidFill>
                  <a:srgbClr val="E6EDF3"/>
                </a:solidFill>
                <a:latin typeface="Inconsolata"/>
              </a:rPr>
              <a:t>(</a:t>
            </a:r>
            <a:r>
              <a:rPr sz="794" i="0">
                <a:solidFill>
                  <a:srgbClr val="7FDBCA"/>
                </a:solidFill>
                <a:latin typeface="Inconsolata"/>
              </a:rPr>
              <a:t>ORDERS</a:t>
            </a:r>
            <a:r>
              <a:rPr sz="794" i="0">
                <a:solidFill>
                  <a:srgbClr val="E6EDF3"/>
                </a:solidFill>
                <a:latin typeface="Inconsolata"/>
              </a:rPr>
              <a:t>) + </a:t>
            </a:r>
            <a:r>
              <a:rPr sz="794" i="0">
                <a:solidFill>
                  <a:srgbClr val="F9C97A"/>
                </a:solidFill>
                <a:latin typeface="Inconsolata"/>
              </a:rPr>
              <a:t>1</a:t>
            </a:r>
            <a:r>
              <a:rPr sz="794" i="0">
                <a:solidFill>
                  <a:srgbClr val="E6EDF3"/>
                </a:solidFill>
                <a:latin typeface="Inconsolata"/>
              </a:rPr>
              <a:t>, </a:t>
            </a:r>
            <a:r>
              <a:rPr sz="794" i="0">
                <a:solidFill>
                  <a:srgbClr val="A5D6A7"/>
                </a:solidFill>
                <a:latin typeface="Inconsolata"/>
              </a:rPr>
              <a:t>"customer"</a:t>
            </a:r>
            <a:r>
              <a:rPr sz="794" i="0">
                <a:solidFill>
                  <a:srgbClr val="E6EDF3"/>
                </a:solidFill>
                <a:latin typeface="Inconsolata"/>
              </a:rPr>
              <a:t>: customer}</a:t>
            </a:r>
          </a:p>
          <a:p>
            <a:pPr>
              <a:lnSpc>
                <a:spcPct val="104903"/>
              </a:lnSpc>
              <a:spcAft>
                <a:spcPts val="0"/>
              </a:spcAft>
            </a:pPr>
            <a:r>
              <a:rPr sz="794" i="0">
                <a:solidFill>
                  <a:srgbClr val="5C6773"/>
                </a:solidFill>
                <a:latin typeface="Inconsolata"/>
              </a:rPr>
              <a:t>29  </a:t>
            </a:r>
            <a:r>
              <a:rPr sz="794" i="0">
                <a:solidFill>
                  <a:srgbClr val="E6EDF3"/>
                </a:solidFill>
                <a:latin typeface="Inconsolata"/>
              </a:rPr>
              <a:t>    </a:t>
            </a:r>
            <a:r>
              <a:rPr sz="794" i="0">
                <a:solidFill>
                  <a:srgbClr val="7FDBCA"/>
                </a:solidFill>
                <a:latin typeface="Inconsolata"/>
              </a:rPr>
              <a:t>ORDERS</a:t>
            </a:r>
            <a:r>
              <a:rPr sz="794" i="0">
                <a:solidFill>
                  <a:srgbClr val="E6EDF3"/>
                </a:solidFill>
                <a:latin typeface="Inconsolata"/>
              </a:rPr>
              <a:t>[order[</a:t>
            </a:r>
            <a:r>
              <a:rPr sz="794" i="0">
                <a:solidFill>
                  <a:srgbClr val="A5D6A7"/>
                </a:solidFill>
                <a:latin typeface="Inconsolata"/>
              </a:rPr>
              <a:t>"id"</a:t>
            </a:r>
            <a:r>
              <a:rPr sz="794" i="0">
                <a:solidFill>
                  <a:srgbClr val="E6EDF3"/>
                </a:solidFill>
                <a:latin typeface="Inconsolata"/>
              </a:rPr>
              <a:t>]] = order</a:t>
            </a:r>
          </a:p>
          <a:p>
            <a:pPr>
              <a:lnSpc>
                <a:spcPct val="104903"/>
              </a:lnSpc>
              <a:spcAft>
                <a:spcPts val="0"/>
              </a:spcAft>
            </a:pPr>
            <a:r>
              <a:rPr sz="794" i="0">
                <a:solidFill>
                  <a:srgbClr val="5C6773"/>
                </a:solidFill>
                <a:latin typeface="Inconsolata"/>
              </a:rPr>
              <a:t>30  </a:t>
            </a:r>
            <a:r>
              <a:rPr sz="794" i="0">
                <a:solidFill>
                  <a:srgbClr val="E6EDF3"/>
                </a:solidFill>
                <a:latin typeface="Inconsolata"/>
              </a:rPr>
              <a:t>    </a:t>
            </a:r>
            <a:r>
              <a:rPr sz="794" i="0">
                <a:solidFill>
                  <a:srgbClr val="FF8E6E"/>
                </a:solidFill>
                <a:latin typeface="Inconsolata"/>
              </a:rPr>
              <a:t>return</a:t>
            </a:r>
            <a:r>
              <a:rPr sz="794" i="0">
                <a:solidFill>
                  <a:srgbClr val="E6EDF3"/>
                </a:solidFill>
                <a:latin typeface="Inconsolata"/>
              </a:rPr>
              <a:t> order</a:t>
            </a:r>
          </a:p>
          <a:p>
            <a:pPr>
              <a:lnSpc>
                <a:spcPct val="104903"/>
              </a:lnSpc>
              <a:spcAft>
                <a:spcPts val="0"/>
              </a:spcAft>
            </a:pPr>
            <a:r>
              <a:rPr sz="794" i="0">
                <a:solidFill>
                  <a:srgbClr val="5C6773"/>
                </a:solidFill>
                <a:latin typeface="Inconsolata"/>
              </a:rPr>
              <a:t>31  </a:t>
            </a:r>
            <a:r>
              <a:rPr sz="794" i="0">
                <a:solidFill>
                  <a:srgbClr val="E6EDF3"/>
                </a:solidFill>
                <a:latin typeface="Inconsolata"/>
              </a:rPr>
              <a:t> </a:t>
            </a:r>
          </a:p>
          <a:p>
            <a:pPr>
              <a:lnSpc>
                <a:spcPct val="104903"/>
              </a:lnSpc>
              <a:spcAft>
                <a:spcPts val="0"/>
              </a:spcAft>
            </a:pPr>
            <a:r>
              <a:rPr sz="794" i="0">
                <a:solidFill>
                  <a:srgbClr val="5C6773"/>
                </a:solidFill>
                <a:latin typeface="Inconsolata"/>
              </a:rPr>
              <a:t>32  </a:t>
            </a:r>
            <a:r>
              <a:rPr sz="794" i="0">
                <a:solidFill>
                  <a:srgbClr val="E6EDF3"/>
                </a:solidFill>
                <a:latin typeface="Inconsolata"/>
              </a:rPr>
              <a:t> </a:t>
            </a:r>
          </a:p>
          <a:p>
            <a:pPr>
              <a:lnSpc>
                <a:spcPct val="104903"/>
              </a:lnSpc>
              <a:spcAft>
                <a:spcPts val="0"/>
              </a:spcAft>
            </a:pPr>
            <a:r>
              <a:rPr sz="794" i="0">
                <a:solidFill>
                  <a:srgbClr val="5C6773"/>
                </a:solidFill>
                <a:latin typeface="Inconsolata"/>
              </a:rPr>
              <a:t>33  </a:t>
            </a:r>
            <a:r>
              <a:rPr sz="794" i="0">
                <a:solidFill>
                  <a:srgbClr val="F9C97A"/>
                </a:solidFill>
                <a:latin typeface="Inconsolata"/>
              </a:rPr>
              <a:t>@app.get</a:t>
            </a:r>
            <a:r>
              <a:rPr sz="794" i="0">
                <a:solidFill>
                  <a:srgbClr val="E6EDF3"/>
                </a:solidFill>
                <a:latin typeface="Inconsolata"/>
              </a:rPr>
              <a:t>(</a:t>
            </a:r>
            <a:r>
              <a:rPr sz="794" i="0">
                <a:solidFill>
                  <a:srgbClr val="A5D6A7"/>
                </a:solidFill>
                <a:latin typeface="Inconsolata"/>
              </a:rPr>
              <a:t>"/orders/{order_id}"</a:t>
            </a:r>
            <a:r>
              <a:rPr sz="794" i="0">
                <a:solidFill>
                  <a:srgbClr val="E6EDF3"/>
                </a:solidFill>
                <a:latin typeface="Inconsolata"/>
              </a:rPr>
              <a:t>)</a:t>
            </a:r>
          </a:p>
          <a:p>
            <a:pPr>
              <a:lnSpc>
                <a:spcPct val="104903"/>
              </a:lnSpc>
              <a:spcAft>
                <a:spcPts val="0"/>
              </a:spcAft>
            </a:pPr>
            <a:r>
              <a:rPr sz="794" i="0">
                <a:solidFill>
                  <a:srgbClr val="5C6773"/>
                </a:solidFill>
                <a:latin typeface="Inconsolata"/>
              </a:rPr>
              <a:t>34  </a:t>
            </a:r>
            <a:r>
              <a:rPr sz="794" i="0">
                <a:solidFill>
                  <a:srgbClr val="FF8E6E"/>
                </a:solidFill>
                <a:latin typeface="Inconsolata"/>
              </a:rPr>
              <a:t>def</a:t>
            </a:r>
            <a:r>
              <a:rPr sz="794" i="0">
                <a:solidFill>
                  <a:srgbClr val="E6EDF3"/>
                </a:solidFill>
                <a:latin typeface="Inconsolata"/>
              </a:rPr>
              <a:t> </a:t>
            </a:r>
            <a:r>
              <a:rPr sz="794" i="0">
                <a:solidFill>
                  <a:srgbClr val="82B1FF"/>
                </a:solidFill>
                <a:latin typeface="Inconsolata"/>
              </a:rPr>
              <a:t>get_order</a:t>
            </a:r>
            <a:r>
              <a:rPr sz="794" i="0">
                <a:solidFill>
                  <a:srgbClr val="E6EDF3"/>
                </a:solidFill>
                <a:latin typeface="Inconsolata"/>
              </a:rPr>
              <a:t>(order_id: </a:t>
            </a:r>
            <a:r>
              <a:rPr sz="794" i="0">
                <a:solidFill>
                  <a:srgbClr val="C3A6FF"/>
                </a:solidFill>
                <a:latin typeface="Inconsolata"/>
              </a:rPr>
              <a:t>int</a:t>
            </a:r>
            <a:r>
              <a:rPr sz="794" i="0">
                <a:solidFill>
                  <a:srgbClr val="E6EDF3"/>
                </a:solidFill>
                <a:latin typeface="Inconsolata"/>
              </a:rPr>
              <a:t>):</a:t>
            </a:r>
          </a:p>
          <a:p>
            <a:pPr>
              <a:lnSpc>
                <a:spcPct val="104903"/>
              </a:lnSpc>
              <a:spcAft>
                <a:spcPts val="0"/>
              </a:spcAft>
            </a:pPr>
            <a:r>
              <a:rPr sz="794" i="0">
                <a:solidFill>
                  <a:srgbClr val="5C6773"/>
                </a:solidFill>
                <a:latin typeface="Inconsolata"/>
              </a:rPr>
              <a:t>35  </a:t>
            </a:r>
            <a:r>
              <a:rPr sz="794" i="0">
                <a:solidFill>
                  <a:srgbClr val="E6EDF3"/>
                </a:solidFill>
                <a:latin typeface="Inconsolata"/>
              </a:rPr>
              <a:t>    </a:t>
            </a:r>
            <a:r>
              <a:rPr sz="794" i="0">
                <a:solidFill>
                  <a:srgbClr val="FF8E6E"/>
                </a:solidFill>
                <a:latin typeface="Inconsolata"/>
              </a:rPr>
              <a:t>return</a:t>
            </a:r>
            <a:r>
              <a:rPr sz="794" i="0">
                <a:solidFill>
                  <a:srgbClr val="E6EDF3"/>
                </a:solidFill>
                <a:latin typeface="Inconsolata"/>
              </a:rPr>
              <a:t> </a:t>
            </a:r>
            <a:r>
              <a:rPr sz="794" i="0">
                <a:solidFill>
                  <a:srgbClr val="7FDBCA"/>
                </a:solidFill>
                <a:latin typeface="Inconsolata"/>
              </a:rPr>
              <a:t>ORDERS</a:t>
            </a:r>
            <a:r>
              <a:rPr sz="794" i="0">
                <a:solidFill>
                  <a:srgbClr val="E6EDF3"/>
                </a:solidFill>
                <a:latin typeface="Inconsolata"/>
              </a:rPr>
              <a:t>[order_id]</a:t>
            </a:r>
          </a:p>
        </p:txBody>
      </p:sp>
      <p:sp>
        <p:nvSpPr>
          <p:cNvPr id="36" name="Box 21"/>
          <p:cNvSpPr/>
          <p:nvPr/>
        </p:nvSpPr>
        <p:spPr>
          <a:xfrm>
            <a:off x="704088" y="2716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656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351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709159" y="1827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8284463" y="1767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1" name="Box 26"/>
          <p:cNvSpPr/>
          <p:nvPr/>
        </p:nvSpPr>
        <p:spPr>
          <a:xfrm>
            <a:off x="4709159" y="2716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APIRouter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01-apirouter/before.py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sesi-04-modular-fastapi-orm-transactions/01-apirouter</a:t>
            </a:r>
          </a:p>
          <a:p>
            <a:pPr>
              <a:lnSpc>
                <a:spcPct val="107527"/>
              </a:lnSpc>
              <a:spcAft>
                <a:spcPts val="0"/>
              </a:spcAft>
            </a:pPr>
            <a:r>
              <a:rPr sz="775" i="0">
                <a:solidFill>
                  <a:srgbClr val="82B1FF"/>
                </a:solidFill>
                <a:latin typeface="Inconsolata"/>
              </a:rPr>
              <a:t>$ uvicorn before:app --reload</a:t>
            </a:r>
          </a:p>
        </p:txBody>
      </p:sp>
      <p:pic>
        <p:nvPicPr>
          <p:cNvPr id="29" name="Image 12" descr="s04-01-apirouter-before.png"/>
          <p:cNvPicPr>
            <a:picLocks noChangeAspect="1"/>
          </p:cNvPicPr>
          <p:nvPr/>
        </p:nvPicPr>
        <p:blipFill>
          <a:blip r:embed="rId2"/>
          <a:stretch>
            <a:fillRect/>
          </a:stretch>
        </p:blipFill>
        <p:spPr>
          <a:xfrm>
            <a:off x="621792" y="2240280"/>
            <a:ext cx="4297680" cy="2119670"/>
          </a:xfrm>
          <a:prstGeom prst="rect">
            <a:avLst/>
          </a:prstGeom>
        </p:spPr>
      </p:pic>
      <p:sp>
        <p:nvSpPr>
          <p:cNvPr id="30" name="Text 13"/>
          <p:cNvSpPr txBox="1"/>
          <p:nvPr/>
        </p:nvSpPr>
        <p:spPr>
          <a:xfrm>
            <a:off x="621792" y="4405670"/>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Buka http://127.0.0.1:8000/docs: semua endpoint di kelompok default</a:t>
            </a:r>
          </a:p>
        </p:txBody>
      </p:sp>
      <p:sp>
        <p:nvSpPr>
          <p:cNvPr id="31" name="Box 14"/>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Prefix </a:t>
            </a:r>
            <a:r>
              <a:rPr sz="950" b="0" i="0">
                <a:solidFill>
                  <a:srgbClr val="B5482A"/>
                </a:solidFill>
                <a:latin typeface="Inconsolata"/>
              </a:rPr>
              <a:t>/products</a:t>
            </a:r>
            <a:r>
              <a:rPr sz="950" b="0" i="0">
                <a:solidFill>
                  <a:srgbClr val="434343"/>
                </a:solidFill>
                <a:latin typeface="Inter"/>
              </a:rPr>
              <a:t> ditulis berulang (baris 16, 21)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Prefix </a:t>
            </a:r>
            <a:r>
              <a:rPr sz="950" b="0" i="0">
                <a:solidFill>
                  <a:srgbClr val="B5482A"/>
                </a:solidFill>
                <a:latin typeface="Inconsolata"/>
              </a:rPr>
              <a:t>/orders</a:t>
            </a:r>
            <a:r>
              <a:rPr sz="950" b="0" i="0">
                <a:solidFill>
                  <a:srgbClr val="434343"/>
                </a:solidFill>
                <a:latin typeface="Inter"/>
              </a:rPr>
              <a:t> juga ditulis berulang (baris 26, 33)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Di </a:t>
            </a:r>
            <a:r>
              <a:rPr sz="950" b="0" i="0">
                <a:solidFill>
                  <a:srgbClr val="B5482A"/>
                </a:solidFill>
                <a:latin typeface="Inconsolata"/>
              </a:rPr>
              <a:t>/docs</a:t>
            </a:r>
            <a:r>
              <a:rPr sz="950" b="0" i="0">
                <a:solidFill>
                  <a:srgbClr val="434343"/>
                </a:solidFill>
                <a:latin typeface="Inter"/>
              </a:rPr>
              <a:t>, semua endpoint masuk satu kelompok </a:t>
            </a:r>
            <a:r>
              <a:rPr sz="950" b="1" i="0">
                <a:solidFill>
                  <a:srgbClr val="434343"/>
                </a:solidFill>
                <a:latin typeface="Inter"/>
              </a:rPr>
              <a:t>default</a:t>
            </a:r>
          </a:p>
          <a:p>
            <a:pPr algn="l">
              <a:lnSpc>
                <a:spcPct val="115000"/>
              </a:lnSpc>
              <a:spcAft>
                <a:spcPts val="0"/>
              </a:spcAft>
            </a:pPr>
            <a:endParaRPr sz="950" b="1" i="0">
              <a:solidFill>
                <a:srgbClr val="434343"/>
              </a:solidFill>
              <a:latin typeface="Inter"/>
            </a:endParaRP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Setiap fitur baru (user, payment) membuat </a:t>
            </a:r>
            <a:r>
              <a:rPr sz="950" b="0" i="0">
                <a:solidFill>
                  <a:srgbClr val="B5482A"/>
                </a:solidFill>
                <a:latin typeface="Inconsolata"/>
              </a:rPr>
              <a:t>main.py</a:t>
            </a:r>
            <a:r>
              <a:rPr sz="950" b="0" i="0">
                <a:solidFill>
                  <a:srgbClr val="434343"/>
                </a:solidFill>
                <a:latin typeface="Inter"/>
              </a:rPr>
              <a:t> makin panjang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APIRouter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Satu router untuk setiap fitur</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01-apirouter/after.py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10  </a:t>
            </a:r>
            <a:r>
              <a:rPr sz="760" i="0">
                <a:solidFill>
                  <a:srgbClr val="FF8E6E"/>
                </a:solidFill>
                <a:latin typeface="Inconsolata"/>
              </a:rPr>
              <a:t>from</a:t>
            </a:r>
            <a:r>
              <a:rPr sz="760" i="0">
                <a:solidFill>
                  <a:srgbClr val="E6EDF3"/>
                </a:solidFill>
                <a:latin typeface="Inconsolata"/>
              </a:rPr>
              <a:t> fastapi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APIRouter</a:t>
            </a:r>
            <a:r>
              <a:rPr sz="760" i="0">
                <a:solidFill>
                  <a:srgbClr val="E6EDF3"/>
                </a:solidFill>
                <a:latin typeface="Inconsolata"/>
              </a:rPr>
              <a:t>, </a:t>
            </a:r>
            <a:r>
              <a:rPr sz="760" i="0">
                <a:solidFill>
                  <a:srgbClr val="7FDBCA"/>
                </a:solidFill>
                <a:latin typeface="Inconsolata"/>
              </a:rPr>
              <a:t>FastAPI</a:t>
            </a:r>
          </a:p>
          <a:p>
            <a:pPr>
              <a:lnSpc>
                <a:spcPct val="109601"/>
              </a:lnSpc>
              <a:spcAft>
                <a:spcPts val="0"/>
              </a:spcAft>
            </a:pPr>
            <a:r>
              <a:rPr sz="760" i="0">
                <a:solidFill>
                  <a:srgbClr val="5C6773"/>
                </a:solidFill>
                <a:latin typeface="Inconsolata"/>
              </a:rPr>
              <a:t>11  </a:t>
            </a:r>
            <a:r>
              <a:rPr sz="760" i="0">
                <a:solidFill>
                  <a:srgbClr val="E6EDF3"/>
                </a:solidFill>
                <a:latin typeface="Inconsolata"/>
              </a:rPr>
              <a:t> </a:t>
            </a:r>
          </a:p>
          <a:p>
            <a:pPr>
              <a:lnSpc>
                <a:spcPct val="109601"/>
              </a:lnSpc>
              <a:spcAft>
                <a:spcPts val="0"/>
              </a:spcAft>
            </a:pPr>
            <a:r>
              <a:rPr sz="760" i="0">
                <a:solidFill>
                  <a:srgbClr val="5C6773"/>
                </a:solidFill>
                <a:latin typeface="Inconsolata"/>
              </a:rPr>
              <a:t>12  </a:t>
            </a:r>
            <a:r>
              <a:rPr sz="760" i="0">
                <a:solidFill>
                  <a:srgbClr val="7FDBCA"/>
                </a:solidFill>
                <a:latin typeface="Inconsolata"/>
              </a:rPr>
              <a:t>PRODUCTS</a:t>
            </a:r>
            <a:r>
              <a:rPr sz="760" i="0">
                <a:solidFill>
                  <a:srgbClr val="E6EDF3"/>
                </a:solidFill>
                <a:latin typeface="Inconsolata"/>
              </a:rPr>
              <a:t> = {</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"id"</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"name"</a:t>
            </a:r>
            <a:r>
              <a:rPr sz="760" i="0">
                <a:solidFill>
                  <a:srgbClr val="E6EDF3"/>
                </a:solidFill>
                <a:latin typeface="Inconsolata"/>
              </a:rPr>
              <a:t>: </a:t>
            </a:r>
            <a:r>
              <a:rPr sz="760" i="0">
                <a:solidFill>
                  <a:srgbClr val="A5D6A7"/>
                </a:solidFill>
                <a:latin typeface="Inconsolata"/>
              </a:rPr>
              <a:t>"Keyboard"</a:t>
            </a:r>
            <a:r>
              <a:rPr sz="760" i="0">
                <a:solidFill>
                  <a:srgbClr val="E6EDF3"/>
                </a:solidFill>
                <a:latin typeface="Inconsolata"/>
              </a:rPr>
              <a:t>, </a:t>
            </a:r>
            <a:r>
              <a:rPr sz="760" i="0">
                <a:solidFill>
                  <a:srgbClr val="A5D6A7"/>
                </a:solidFill>
                <a:latin typeface="Inconsolata"/>
              </a:rPr>
              <a:t>"price"</a:t>
            </a:r>
            <a:r>
              <a:rPr sz="760" i="0">
                <a:solidFill>
                  <a:srgbClr val="E6EDF3"/>
                </a:solidFill>
                <a:latin typeface="Inconsolata"/>
              </a:rPr>
              <a:t>: </a:t>
            </a:r>
            <a:r>
              <a:rPr sz="760" i="0">
                <a:solidFill>
                  <a:srgbClr val="F9C97A"/>
                </a:solidFill>
                <a:latin typeface="Inconsolata"/>
              </a:rPr>
              <a:t>500_000</a:t>
            </a:r>
            <a:r>
              <a:rPr sz="760" i="0">
                <a:solidFill>
                  <a:srgbClr val="E6EDF3"/>
                </a:solidFill>
                <a:latin typeface="Inconsolata"/>
              </a:rPr>
              <a:t>}}</a:t>
            </a:r>
          </a:p>
          <a:p>
            <a:pPr>
              <a:lnSpc>
                <a:spcPct val="109601"/>
              </a:lnSpc>
              <a:spcAft>
                <a:spcPts val="0"/>
              </a:spcAft>
            </a:pPr>
            <a:r>
              <a:rPr sz="760" i="0">
                <a:solidFill>
                  <a:srgbClr val="5C6773"/>
                </a:solidFill>
                <a:latin typeface="Inconsolata"/>
              </a:rPr>
              <a:t>13  </a:t>
            </a:r>
            <a:r>
              <a:rPr sz="760" i="0">
                <a:solidFill>
                  <a:srgbClr val="7FDBCA"/>
                </a:solidFill>
                <a:latin typeface="Inconsolata"/>
              </a:rPr>
              <a:t>ORDERS</a:t>
            </a:r>
            <a:r>
              <a:rPr sz="760" i="0">
                <a:solidFill>
                  <a:srgbClr val="E6EDF3"/>
                </a:solidFill>
                <a:latin typeface="Inconsolata"/>
              </a:rPr>
              <a:t>: </a:t>
            </a:r>
            <a:r>
              <a:rPr sz="760" i="0">
                <a:solidFill>
                  <a:srgbClr val="C3A6FF"/>
                </a:solidFill>
                <a:latin typeface="Inconsolata"/>
              </a:rPr>
              <a:t>dict</a:t>
            </a:r>
            <a:r>
              <a:rPr sz="760" i="0">
                <a:solidFill>
                  <a:srgbClr val="E6EDF3"/>
                </a:solidFill>
                <a:latin typeface="Inconsolata"/>
              </a:rPr>
              <a:t>[</a:t>
            </a:r>
            <a:r>
              <a:rPr sz="760" i="0">
                <a:solidFill>
                  <a:srgbClr val="C3A6FF"/>
                </a:solidFill>
                <a:latin typeface="Inconsolata"/>
              </a:rPr>
              <a:t>int</a:t>
            </a:r>
            <a:r>
              <a:rPr sz="760" i="0">
                <a:solidFill>
                  <a:srgbClr val="E6EDF3"/>
                </a:solidFill>
                <a:latin typeface="Inconsolata"/>
              </a:rPr>
              <a:t>, </a:t>
            </a:r>
            <a:r>
              <a:rPr sz="760" i="0">
                <a:solidFill>
                  <a:srgbClr val="C3A6FF"/>
                </a:solidFill>
                <a:latin typeface="Inconsolata"/>
              </a:rPr>
              <a:t>dict</a:t>
            </a:r>
            <a:r>
              <a:rPr sz="760" i="0">
                <a:solidFill>
                  <a:srgbClr val="E6EDF3"/>
                </a:solidFill>
                <a:latin typeface="Inconsolata"/>
              </a:rPr>
              <a:t>] = {}</a:t>
            </a:r>
          </a:p>
          <a:p>
            <a:pPr>
              <a:lnSpc>
                <a:spcPct val="109601"/>
              </a:lnSpc>
              <a:spcAft>
                <a:spcPts val="0"/>
              </a:spcAft>
            </a:pPr>
            <a:r>
              <a:rPr sz="760" i="0">
                <a:solidFill>
                  <a:srgbClr val="5C6773"/>
                </a:solidFill>
                <a:latin typeface="Inconsolata"/>
              </a:rPr>
              <a:t>14  </a:t>
            </a:r>
            <a:r>
              <a:rPr sz="760" i="0">
                <a:solidFill>
                  <a:srgbClr val="E6EDF3"/>
                </a:solidFill>
                <a:latin typeface="Inconsolata"/>
              </a:rPr>
              <a:t> </a:t>
            </a:r>
          </a:p>
          <a:p>
            <a:pPr>
              <a:lnSpc>
                <a:spcPct val="109601"/>
              </a:lnSpc>
              <a:spcAft>
                <a:spcPts val="0"/>
              </a:spcAft>
            </a:pPr>
            <a:r>
              <a:rPr sz="760" i="0">
                <a:solidFill>
                  <a:srgbClr val="5C6773"/>
                </a:solidFill>
                <a:latin typeface="Inconsolata"/>
              </a:rPr>
              <a:t>15  </a:t>
            </a:r>
            <a:r>
              <a:rPr sz="760" i="1">
                <a:solidFill>
                  <a:srgbClr val="8B98A8"/>
                </a:solidFill>
                <a:latin typeface="Inconsolata"/>
              </a:rPr>
              <a:t># ---------- api/routers/products.py ----------</a:t>
            </a:r>
          </a:p>
          <a:p>
            <a:pPr>
              <a:lnSpc>
                <a:spcPct val="109601"/>
              </a:lnSpc>
              <a:spcAft>
                <a:spcPts val="0"/>
              </a:spcAft>
            </a:pPr>
            <a:r>
              <a:rPr sz="760" i="0">
                <a:solidFill>
                  <a:srgbClr val="5C6773"/>
                </a:solidFill>
                <a:latin typeface="Inconsolata"/>
              </a:rPr>
              <a:t>16  </a:t>
            </a:r>
            <a:r>
              <a:rPr sz="760" i="0">
                <a:solidFill>
                  <a:srgbClr val="E6EDF3"/>
                </a:solidFill>
                <a:latin typeface="Inconsolata"/>
              </a:rPr>
              <a:t>products_router = </a:t>
            </a:r>
            <a:r>
              <a:rPr sz="760" i="0">
                <a:solidFill>
                  <a:srgbClr val="7FDBCA"/>
                </a:solidFill>
                <a:latin typeface="Inconsolata"/>
              </a:rPr>
              <a:t>APIRouter</a:t>
            </a:r>
            <a:r>
              <a:rPr sz="760" i="0">
                <a:solidFill>
                  <a:srgbClr val="E6EDF3"/>
                </a:solidFill>
                <a:latin typeface="Inconsolata"/>
              </a:rPr>
              <a:t>(prefix=</a:t>
            </a:r>
            <a:r>
              <a:rPr sz="760" i="0">
                <a:solidFill>
                  <a:srgbClr val="A5D6A7"/>
                </a:solidFill>
                <a:latin typeface="Inconsolata"/>
              </a:rPr>
              <a:t>"/products"</a:t>
            </a:r>
            <a:r>
              <a:rPr sz="760" i="0">
                <a:solidFill>
                  <a:srgbClr val="E6EDF3"/>
                </a:solidFill>
                <a:latin typeface="Inconsolata"/>
              </a:rPr>
              <a:t>, tags=[</a:t>
            </a:r>
            <a:r>
              <a:rPr sz="760" i="0">
                <a:solidFill>
                  <a:srgbClr val="A5D6A7"/>
                </a:solidFill>
                <a:latin typeface="Inconsolata"/>
              </a:rPr>
              <a:t>"products"</a:t>
            </a:r>
            <a:r>
              <a:rPr sz="760" i="0">
                <a:solidFill>
                  <a:srgbClr val="E6EDF3"/>
                </a:solidFill>
                <a:latin typeface="Inconsolata"/>
              </a:rPr>
              <a:t>])</a:t>
            </a:r>
          </a:p>
          <a:p>
            <a:pPr>
              <a:lnSpc>
                <a:spcPct val="109601"/>
              </a:lnSpc>
              <a:spcAft>
                <a:spcPts val="0"/>
              </a:spcAft>
            </a:pPr>
            <a:r>
              <a:rPr sz="760" i="0">
                <a:solidFill>
                  <a:srgbClr val="5C6773"/>
                </a:solidFill>
                <a:latin typeface="Inconsolata"/>
              </a:rPr>
              <a:t>17  </a:t>
            </a:r>
            <a:r>
              <a:rPr sz="760" i="0">
                <a:solidFill>
                  <a:srgbClr val="E6EDF3"/>
                </a:solidFill>
                <a:latin typeface="Inconsolata"/>
              </a:rPr>
              <a:t> </a:t>
            </a:r>
          </a:p>
          <a:p>
            <a:pPr>
              <a:lnSpc>
                <a:spcPct val="109601"/>
              </a:lnSpc>
              <a:spcAft>
                <a:spcPts val="0"/>
              </a:spcAft>
            </a:pPr>
            <a:r>
              <a:rPr sz="760" i="0">
                <a:solidFill>
                  <a:srgbClr val="5C6773"/>
                </a:solidFill>
                <a:latin typeface="Inconsolata"/>
              </a:rPr>
              <a:t>18  </a:t>
            </a:r>
            <a:r>
              <a:rPr sz="760" i="0">
                <a:solidFill>
                  <a:srgbClr val="E6EDF3"/>
                </a:solidFill>
                <a:latin typeface="Inconsolata"/>
              </a:rPr>
              <a:t> </a:t>
            </a:r>
          </a:p>
          <a:p>
            <a:pPr>
              <a:lnSpc>
                <a:spcPct val="109601"/>
              </a:lnSpc>
              <a:spcAft>
                <a:spcPts val="0"/>
              </a:spcAft>
            </a:pPr>
            <a:r>
              <a:rPr sz="760" i="0">
                <a:solidFill>
                  <a:srgbClr val="5C6773"/>
                </a:solidFill>
                <a:latin typeface="Inconsolata"/>
              </a:rPr>
              <a:t>19  </a:t>
            </a:r>
            <a:r>
              <a:rPr sz="760" i="0">
                <a:solidFill>
                  <a:srgbClr val="F9C97A"/>
                </a:solidFill>
                <a:latin typeface="Inconsolata"/>
              </a:rPr>
              <a:t>@products_router.get</a:t>
            </a:r>
            <a:r>
              <a:rPr sz="760" i="0">
                <a:solidFill>
                  <a:srgbClr val="E6EDF3"/>
                </a:solidFill>
                <a:latin typeface="Inconsolata"/>
              </a:rPr>
              <a:t>(</a:t>
            </a:r>
            <a:r>
              <a:rPr sz="760" i="0">
                <a:solidFill>
                  <a:srgbClr val="A5D6A7"/>
                </a:solidFill>
                <a:latin typeface="Inconsolata"/>
              </a:rPr>
              <a:t>""</a:t>
            </a:r>
            <a:r>
              <a:rPr sz="760" i="0">
                <a:solidFill>
                  <a:srgbClr val="E6EDF3"/>
                </a:solidFill>
                <a:latin typeface="Inconsolata"/>
              </a:rPr>
              <a:t>)</a:t>
            </a:r>
          </a:p>
          <a:p>
            <a:pPr>
              <a:lnSpc>
                <a:spcPct val="109601"/>
              </a:lnSpc>
              <a:spcAft>
                <a:spcPts val="0"/>
              </a:spcAft>
            </a:pPr>
            <a:r>
              <a:rPr sz="760" i="0">
                <a:solidFill>
                  <a:srgbClr val="5C6773"/>
                </a:solidFill>
                <a:latin typeface="Inconsolata"/>
              </a:rPr>
              <a:t>20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list_products</a:t>
            </a:r>
            <a:r>
              <a:rPr sz="760" i="0">
                <a:solidFill>
                  <a:srgbClr val="E6EDF3"/>
                </a:solidFill>
                <a:latin typeface="Inconsolata"/>
              </a:rPr>
              <a:t>():</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a:t>
            </a:r>
            <a:r>
              <a:rPr sz="760" i="0">
                <a:solidFill>
                  <a:srgbClr val="C3A6FF"/>
                </a:solidFill>
                <a:latin typeface="Inconsolata"/>
              </a:rPr>
              <a:t>list</a:t>
            </a:r>
            <a:r>
              <a:rPr sz="760" i="0">
                <a:solidFill>
                  <a:srgbClr val="E6EDF3"/>
                </a:solidFill>
                <a:latin typeface="Inconsolata"/>
              </a:rPr>
              <a:t>(</a:t>
            </a:r>
            <a:r>
              <a:rPr sz="760" i="0">
                <a:solidFill>
                  <a:srgbClr val="7FDBCA"/>
                </a:solidFill>
                <a:latin typeface="Inconsolata"/>
              </a:rPr>
              <a:t>PRODUCTS</a:t>
            </a:r>
            <a:r>
              <a:rPr sz="760" i="0">
                <a:solidFill>
                  <a:srgbClr val="E6EDF3"/>
                </a:solidFill>
                <a:latin typeface="Inconsolata"/>
              </a:rPr>
              <a:t>.values())</a:t>
            </a:r>
          </a:p>
          <a:p>
            <a:pPr>
              <a:lnSpc>
                <a:spcPct val="109601"/>
              </a:lnSpc>
              <a:spcAft>
                <a:spcPts val="0"/>
              </a:spcAft>
            </a:pPr>
            <a:r>
              <a:rPr sz="760" i="0">
                <a:solidFill>
                  <a:srgbClr val="5C6773"/>
                </a:solidFill>
                <a:latin typeface="Inconsolata"/>
              </a:rPr>
              <a:t>22  </a:t>
            </a:r>
            <a:r>
              <a:rPr sz="760" i="0">
                <a:solidFill>
                  <a:srgbClr val="E6EDF3"/>
                </a:solidFill>
                <a:latin typeface="Inconsolata"/>
              </a:rPr>
              <a:t> </a:t>
            </a:r>
          </a:p>
          <a:p>
            <a:pPr>
              <a:lnSpc>
                <a:spcPct val="109601"/>
              </a:lnSpc>
              <a:spcAft>
                <a:spcPts val="0"/>
              </a:spcAft>
            </a:pPr>
            <a:r>
              <a:rPr sz="760" i="0">
                <a:solidFill>
                  <a:srgbClr val="5C6773"/>
                </a:solidFill>
                <a:latin typeface="Inconsolata"/>
              </a:rPr>
              <a:t>23  </a:t>
            </a:r>
            <a:r>
              <a:rPr sz="760" i="0">
                <a:solidFill>
                  <a:srgbClr val="E6EDF3"/>
                </a:solidFill>
                <a:latin typeface="Inconsolata"/>
              </a:rPr>
              <a:t> </a:t>
            </a:r>
          </a:p>
          <a:p>
            <a:pPr>
              <a:lnSpc>
                <a:spcPct val="109601"/>
              </a:lnSpc>
              <a:spcAft>
                <a:spcPts val="0"/>
              </a:spcAft>
            </a:pPr>
            <a:r>
              <a:rPr sz="760" i="0">
                <a:solidFill>
                  <a:srgbClr val="5C6773"/>
                </a:solidFill>
                <a:latin typeface="Inconsolata"/>
              </a:rPr>
              <a:t>24  </a:t>
            </a:r>
            <a:r>
              <a:rPr sz="760" i="0">
                <a:solidFill>
                  <a:srgbClr val="F9C97A"/>
                </a:solidFill>
                <a:latin typeface="Inconsolata"/>
              </a:rPr>
              <a:t>@products_router.get</a:t>
            </a:r>
            <a:r>
              <a:rPr sz="760" i="0">
                <a:solidFill>
                  <a:srgbClr val="E6EDF3"/>
                </a:solidFill>
                <a:latin typeface="Inconsolata"/>
              </a:rPr>
              <a:t>(</a:t>
            </a:r>
            <a:r>
              <a:rPr sz="760" i="0">
                <a:solidFill>
                  <a:srgbClr val="A5D6A7"/>
                </a:solidFill>
                <a:latin typeface="Inconsolata"/>
              </a:rPr>
              <a:t>"/{product_id}"</a:t>
            </a:r>
            <a:r>
              <a:rPr sz="760" i="0">
                <a:solidFill>
                  <a:srgbClr val="E6EDF3"/>
                </a:solidFill>
                <a:latin typeface="Inconsolata"/>
              </a:rPr>
              <a:t>)</a:t>
            </a:r>
          </a:p>
          <a:p>
            <a:pPr>
              <a:lnSpc>
                <a:spcPct val="109601"/>
              </a:lnSpc>
              <a:spcAft>
                <a:spcPts val="0"/>
              </a:spcAft>
            </a:pPr>
            <a:r>
              <a:rPr sz="760" i="0">
                <a:solidFill>
                  <a:srgbClr val="5C6773"/>
                </a:solidFill>
                <a:latin typeface="Inconsolata"/>
              </a:rPr>
              <a:t>25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get_product</a:t>
            </a:r>
            <a:r>
              <a:rPr sz="760" i="0">
                <a:solidFill>
                  <a:srgbClr val="E6EDF3"/>
                </a:solidFill>
                <a:latin typeface="Inconsolata"/>
              </a:rPr>
              <a:t>(product_id: </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26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a:t>
            </a:r>
            <a:r>
              <a:rPr sz="760" i="0">
                <a:solidFill>
                  <a:srgbClr val="7FDBCA"/>
                </a:solidFill>
                <a:latin typeface="Inconsolata"/>
              </a:rPr>
              <a:t>PRODUCTS</a:t>
            </a:r>
            <a:r>
              <a:rPr sz="760" i="0">
                <a:solidFill>
                  <a:srgbClr val="E6EDF3"/>
                </a:solidFill>
                <a:latin typeface="Inconsolata"/>
              </a:rPr>
              <a:t>[product_id]</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01-apirouter/after.py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29  </a:t>
            </a:r>
            <a:r>
              <a:rPr sz="760" i="1">
                <a:solidFill>
                  <a:srgbClr val="8B98A8"/>
                </a:solidFill>
                <a:latin typeface="Inconsolata"/>
              </a:rPr>
              <a:t># ---------- api/routers/orders.py ----------</a:t>
            </a:r>
          </a:p>
          <a:p>
            <a:pPr>
              <a:lnSpc>
                <a:spcPct val="109601"/>
              </a:lnSpc>
              <a:spcAft>
                <a:spcPts val="0"/>
              </a:spcAft>
            </a:pPr>
            <a:r>
              <a:rPr sz="760" i="0">
                <a:solidFill>
                  <a:srgbClr val="5C6773"/>
                </a:solidFill>
                <a:latin typeface="Inconsolata"/>
              </a:rPr>
              <a:t>30  </a:t>
            </a:r>
            <a:r>
              <a:rPr sz="760" i="0">
                <a:solidFill>
                  <a:srgbClr val="E6EDF3"/>
                </a:solidFill>
                <a:latin typeface="Inconsolata"/>
              </a:rPr>
              <a:t>orders_router = </a:t>
            </a:r>
            <a:r>
              <a:rPr sz="760" i="0">
                <a:solidFill>
                  <a:srgbClr val="7FDBCA"/>
                </a:solidFill>
                <a:latin typeface="Inconsolata"/>
              </a:rPr>
              <a:t>APIRouter</a:t>
            </a:r>
            <a:r>
              <a:rPr sz="760" i="0">
                <a:solidFill>
                  <a:srgbClr val="E6EDF3"/>
                </a:solidFill>
                <a:latin typeface="Inconsolata"/>
              </a:rPr>
              <a:t>(prefix=</a:t>
            </a:r>
            <a:r>
              <a:rPr sz="760" i="0">
                <a:solidFill>
                  <a:srgbClr val="A5D6A7"/>
                </a:solidFill>
                <a:latin typeface="Inconsolata"/>
              </a:rPr>
              <a:t>"/orders"</a:t>
            </a:r>
            <a:r>
              <a:rPr sz="760" i="0">
                <a:solidFill>
                  <a:srgbClr val="E6EDF3"/>
                </a:solidFill>
                <a:latin typeface="Inconsolata"/>
              </a:rPr>
              <a:t>, tags=[</a:t>
            </a:r>
            <a:r>
              <a:rPr sz="760" i="0">
                <a:solidFill>
                  <a:srgbClr val="A5D6A7"/>
                </a:solidFill>
                <a:latin typeface="Inconsolata"/>
              </a:rPr>
              <a:t>"orders"</a:t>
            </a:r>
            <a:r>
              <a:rPr sz="760" i="0">
                <a:solidFill>
                  <a:srgbClr val="E6EDF3"/>
                </a:solidFill>
                <a:latin typeface="Inconsolata"/>
              </a:rPr>
              <a:t>])</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p>
          <a:p>
            <a:pPr>
              <a:lnSpc>
                <a:spcPct val="109601"/>
              </a:lnSpc>
              <a:spcAft>
                <a:spcPts val="0"/>
              </a:spcAft>
            </a:pPr>
            <a:r>
              <a:rPr sz="760" i="0">
                <a:solidFill>
                  <a:srgbClr val="5C6773"/>
                </a:solidFill>
                <a:latin typeface="Inconsolata"/>
              </a:rPr>
              <a:t>32  </a:t>
            </a:r>
            <a:r>
              <a:rPr sz="760" i="0">
                <a:solidFill>
                  <a:srgbClr val="E6EDF3"/>
                </a:solidFill>
                <a:latin typeface="Inconsolata"/>
              </a:rPr>
              <a:t> </a:t>
            </a:r>
          </a:p>
          <a:p>
            <a:pPr>
              <a:lnSpc>
                <a:spcPct val="109601"/>
              </a:lnSpc>
              <a:spcAft>
                <a:spcPts val="0"/>
              </a:spcAft>
            </a:pPr>
            <a:r>
              <a:rPr sz="760" i="0">
                <a:solidFill>
                  <a:srgbClr val="5C6773"/>
                </a:solidFill>
                <a:latin typeface="Inconsolata"/>
              </a:rPr>
              <a:t>33  </a:t>
            </a:r>
            <a:r>
              <a:rPr sz="760" i="0">
                <a:solidFill>
                  <a:srgbClr val="F9C97A"/>
                </a:solidFill>
                <a:latin typeface="Inconsolata"/>
              </a:rPr>
              <a:t>@orders_router.post</a:t>
            </a:r>
            <a:r>
              <a:rPr sz="760" i="0">
                <a:solidFill>
                  <a:srgbClr val="E6EDF3"/>
                </a:solidFill>
                <a:latin typeface="Inconsolata"/>
              </a:rPr>
              <a:t>(</a:t>
            </a:r>
            <a:r>
              <a:rPr sz="760" i="0">
                <a:solidFill>
                  <a:srgbClr val="A5D6A7"/>
                </a:solidFill>
                <a:latin typeface="Inconsolata"/>
              </a:rPr>
              <a:t>""</a:t>
            </a:r>
            <a:r>
              <a:rPr sz="760" i="0">
                <a:solidFill>
                  <a:srgbClr val="E6EDF3"/>
                </a:solidFill>
                <a:latin typeface="Inconsolata"/>
              </a:rPr>
              <a:t>, status_code=</a:t>
            </a:r>
            <a:r>
              <a:rPr sz="760" i="0">
                <a:solidFill>
                  <a:srgbClr val="F9C97A"/>
                </a:solidFill>
                <a:latin typeface="Inconsolata"/>
              </a:rPr>
              <a:t>201</a:t>
            </a:r>
            <a:r>
              <a:rPr sz="760" i="0">
                <a:solidFill>
                  <a:srgbClr val="E6EDF3"/>
                </a:solidFill>
                <a:latin typeface="Inconsolata"/>
              </a:rPr>
              <a:t>)</a:t>
            </a:r>
          </a:p>
          <a:p>
            <a:pPr>
              <a:lnSpc>
                <a:spcPct val="109601"/>
              </a:lnSpc>
              <a:spcAft>
                <a:spcPts val="0"/>
              </a:spcAft>
            </a:pPr>
            <a:r>
              <a:rPr sz="760" i="0">
                <a:solidFill>
                  <a:srgbClr val="5C6773"/>
                </a:solidFill>
                <a:latin typeface="Inconsolata"/>
              </a:rPr>
              <a:t>34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create_order</a:t>
            </a:r>
            <a:r>
              <a:rPr sz="760" i="0">
                <a:solidFill>
                  <a:srgbClr val="E6EDF3"/>
                </a:solidFill>
                <a:latin typeface="Inconsolata"/>
              </a:rPr>
              <a:t>(customer: </a:t>
            </a:r>
            <a:r>
              <a:rPr sz="760" i="0">
                <a:solidFill>
                  <a:srgbClr val="C3A6FF"/>
                </a:solidFill>
                <a:latin typeface="Inconsolata"/>
              </a:rPr>
              <a:t>str</a:t>
            </a:r>
            <a:r>
              <a:rPr sz="760" i="0">
                <a:solidFill>
                  <a:srgbClr val="E6EDF3"/>
                </a:solidFill>
                <a:latin typeface="Inconsolata"/>
              </a:rPr>
              <a:t>):</a:t>
            </a:r>
          </a:p>
          <a:p>
            <a:pPr>
              <a:lnSpc>
                <a:spcPct val="109601"/>
              </a:lnSpc>
              <a:spcAft>
                <a:spcPts val="0"/>
              </a:spcAft>
            </a:pPr>
            <a:r>
              <a:rPr sz="760" i="0">
                <a:solidFill>
                  <a:srgbClr val="5C6773"/>
                </a:solidFill>
                <a:latin typeface="Inconsolata"/>
              </a:rPr>
              <a:t>35  </a:t>
            </a:r>
            <a:r>
              <a:rPr sz="760" i="0">
                <a:solidFill>
                  <a:srgbClr val="E6EDF3"/>
                </a:solidFill>
                <a:latin typeface="Inconsolata"/>
              </a:rPr>
              <a:t>    order = {</a:t>
            </a:r>
            <a:r>
              <a:rPr sz="760" i="0">
                <a:solidFill>
                  <a:srgbClr val="A5D6A7"/>
                </a:solidFill>
                <a:latin typeface="Inconsolata"/>
              </a:rPr>
              <a:t>"id"</a:t>
            </a:r>
            <a:r>
              <a:rPr sz="760" i="0">
                <a:solidFill>
                  <a:srgbClr val="E6EDF3"/>
                </a:solidFill>
                <a:latin typeface="Inconsolata"/>
              </a:rPr>
              <a:t>: </a:t>
            </a:r>
            <a:r>
              <a:rPr sz="760" i="0">
                <a:solidFill>
                  <a:srgbClr val="C3A6FF"/>
                </a:solidFill>
                <a:latin typeface="Inconsolata"/>
              </a:rPr>
              <a:t>len</a:t>
            </a:r>
            <a:r>
              <a:rPr sz="760" i="0">
                <a:solidFill>
                  <a:srgbClr val="E6EDF3"/>
                </a:solidFill>
                <a:latin typeface="Inconsolata"/>
              </a:rPr>
              <a:t>(</a:t>
            </a:r>
            <a:r>
              <a:rPr sz="760" i="0">
                <a:solidFill>
                  <a:srgbClr val="7FDBCA"/>
                </a:solidFill>
                <a:latin typeface="Inconsolata"/>
              </a:rPr>
              <a:t>ORDERS</a:t>
            </a:r>
            <a:r>
              <a:rPr sz="760" i="0">
                <a:solidFill>
                  <a:srgbClr val="E6EDF3"/>
                </a:solidFill>
                <a:latin typeface="Inconsolata"/>
              </a:rPr>
              <a:t>) + </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"customer"</a:t>
            </a:r>
            <a:r>
              <a:rPr sz="760" i="0">
                <a:solidFill>
                  <a:srgbClr val="E6EDF3"/>
                </a:solidFill>
                <a:latin typeface="Inconsolata"/>
              </a:rPr>
              <a:t>: customer}</a:t>
            </a:r>
          </a:p>
          <a:p>
            <a:pPr>
              <a:lnSpc>
                <a:spcPct val="109601"/>
              </a:lnSpc>
              <a:spcAft>
                <a:spcPts val="0"/>
              </a:spcAft>
            </a:pPr>
            <a:r>
              <a:rPr sz="760" i="0">
                <a:solidFill>
                  <a:srgbClr val="5C6773"/>
                </a:solidFill>
                <a:latin typeface="Inconsolata"/>
              </a:rPr>
              <a:t>36  </a:t>
            </a:r>
            <a:r>
              <a:rPr sz="760" i="0">
                <a:solidFill>
                  <a:srgbClr val="E6EDF3"/>
                </a:solidFill>
                <a:latin typeface="Inconsolata"/>
              </a:rPr>
              <a:t>    </a:t>
            </a:r>
            <a:r>
              <a:rPr sz="760" i="0">
                <a:solidFill>
                  <a:srgbClr val="7FDBCA"/>
                </a:solidFill>
                <a:latin typeface="Inconsolata"/>
              </a:rPr>
              <a:t>ORDERS</a:t>
            </a:r>
            <a:r>
              <a:rPr sz="760" i="0">
                <a:solidFill>
                  <a:srgbClr val="E6EDF3"/>
                </a:solidFill>
                <a:latin typeface="Inconsolata"/>
              </a:rPr>
              <a:t>[order[</a:t>
            </a:r>
            <a:r>
              <a:rPr sz="760" i="0">
                <a:solidFill>
                  <a:srgbClr val="A5D6A7"/>
                </a:solidFill>
                <a:latin typeface="Inconsolata"/>
              </a:rPr>
              <a:t>"id"</a:t>
            </a:r>
            <a:r>
              <a:rPr sz="760" i="0">
                <a:solidFill>
                  <a:srgbClr val="E6EDF3"/>
                </a:solidFill>
                <a:latin typeface="Inconsolata"/>
              </a:rPr>
              <a:t>]] = order</a:t>
            </a:r>
          </a:p>
          <a:p>
            <a:pPr>
              <a:lnSpc>
                <a:spcPct val="109601"/>
              </a:lnSpc>
              <a:spcAft>
                <a:spcPts val="0"/>
              </a:spcAft>
            </a:pPr>
            <a:r>
              <a:rPr sz="760" i="0">
                <a:solidFill>
                  <a:srgbClr val="5C6773"/>
                </a:solidFill>
                <a:latin typeface="Inconsolata"/>
              </a:rPr>
              <a:t>37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order</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p>
          <a:p>
            <a:pPr>
              <a:lnSpc>
                <a:spcPct val="109601"/>
              </a:lnSpc>
              <a:spcAft>
                <a:spcPts val="0"/>
              </a:spcAft>
            </a:pPr>
            <a:r>
              <a:rPr sz="760" i="0">
                <a:solidFill>
                  <a:srgbClr val="5C6773"/>
                </a:solidFill>
                <a:latin typeface="Inconsolata"/>
              </a:rPr>
              <a:t>39  </a:t>
            </a:r>
            <a:r>
              <a:rPr sz="760" i="0">
                <a:solidFill>
                  <a:srgbClr val="E6EDF3"/>
                </a:solidFill>
                <a:latin typeface="Inconsolata"/>
              </a:rPr>
              <a:t> </a:t>
            </a:r>
          </a:p>
          <a:p>
            <a:pPr>
              <a:lnSpc>
                <a:spcPct val="109601"/>
              </a:lnSpc>
              <a:spcAft>
                <a:spcPts val="0"/>
              </a:spcAft>
            </a:pPr>
            <a:r>
              <a:rPr sz="760" i="0">
                <a:solidFill>
                  <a:srgbClr val="5C6773"/>
                </a:solidFill>
                <a:latin typeface="Inconsolata"/>
              </a:rPr>
              <a:t>40  </a:t>
            </a:r>
            <a:r>
              <a:rPr sz="760" i="0">
                <a:solidFill>
                  <a:srgbClr val="F9C97A"/>
                </a:solidFill>
                <a:latin typeface="Inconsolata"/>
              </a:rPr>
              <a:t>@orders_router.get</a:t>
            </a:r>
            <a:r>
              <a:rPr sz="760" i="0">
                <a:solidFill>
                  <a:srgbClr val="E6EDF3"/>
                </a:solidFill>
                <a:latin typeface="Inconsolata"/>
              </a:rPr>
              <a:t>(</a:t>
            </a:r>
            <a:r>
              <a:rPr sz="760" i="0">
                <a:solidFill>
                  <a:srgbClr val="A5D6A7"/>
                </a:solidFill>
                <a:latin typeface="Inconsolata"/>
              </a:rPr>
              <a:t>"/{order_id}"</a:t>
            </a:r>
            <a:r>
              <a:rPr sz="760" i="0">
                <a:solidFill>
                  <a:srgbClr val="E6EDF3"/>
                </a:solidFill>
                <a:latin typeface="Inconsolata"/>
              </a:rPr>
              <a:t>)</a:t>
            </a:r>
          </a:p>
          <a:p>
            <a:pPr>
              <a:lnSpc>
                <a:spcPct val="109601"/>
              </a:lnSpc>
              <a:spcAft>
                <a:spcPts val="0"/>
              </a:spcAft>
            </a:pPr>
            <a:r>
              <a:rPr sz="760" i="0">
                <a:solidFill>
                  <a:srgbClr val="5C6773"/>
                </a:solidFill>
                <a:latin typeface="Inconsolata"/>
              </a:rPr>
              <a:t>41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get_order</a:t>
            </a:r>
            <a:r>
              <a:rPr sz="760" i="0">
                <a:solidFill>
                  <a:srgbClr val="E6EDF3"/>
                </a:solidFill>
                <a:latin typeface="Inconsolata"/>
              </a:rPr>
              <a:t>(order_id: </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42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a:t>
            </a:r>
            <a:r>
              <a:rPr sz="760" i="0">
                <a:solidFill>
                  <a:srgbClr val="7FDBCA"/>
                </a:solidFill>
                <a:latin typeface="Inconsolata"/>
              </a:rPr>
              <a:t>ORDERS</a:t>
            </a:r>
            <a:r>
              <a:rPr sz="760" i="0">
                <a:solidFill>
                  <a:srgbClr val="E6EDF3"/>
                </a:solidFill>
                <a:latin typeface="Inconsolata"/>
              </a:rPr>
              <a:t>[order_id]</a:t>
            </a:r>
          </a:p>
          <a:p>
            <a:pPr>
              <a:lnSpc>
                <a:spcPct val="109601"/>
              </a:lnSpc>
              <a:spcAft>
                <a:spcPts val="0"/>
              </a:spcAft>
            </a:pPr>
            <a:r>
              <a:rPr sz="760" i="0">
                <a:solidFill>
                  <a:srgbClr val="5C6773"/>
                </a:solidFill>
                <a:latin typeface="Inconsolata"/>
              </a:rPr>
              <a:t>43  </a:t>
            </a:r>
            <a:r>
              <a:rPr sz="760" i="0">
                <a:solidFill>
                  <a:srgbClr val="E6EDF3"/>
                </a:solidFill>
                <a:latin typeface="Inconsolata"/>
              </a:rPr>
              <a:t> </a:t>
            </a:r>
          </a:p>
          <a:p>
            <a:pPr>
              <a:lnSpc>
                <a:spcPct val="109601"/>
              </a:lnSpc>
              <a:spcAft>
                <a:spcPts val="0"/>
              </a:spcAft>
            </a:pPr>
            <a:r>
              <a:rPr sz="760" i="0">
                <a:solidFill>
                  <a:srgbClr val="5C6773"/>
                </a:solidFill>
                <a:latin typeface="Inconsolata"/>
              </a:rPr>
              <a:t>44  </a:t>
            </a:r>
            <a:r>
              <a:rPr sz="760" i="0">
                <a:solidFill>
                  <a:srgbClr val="E6EDF3"/>
                </a:solidFill>
                <a:latin typeface="Inconsolata"/>
              </a:rPr>
              <a:t> </a:t>
            </a:r>
          </a:p>
          <a:p>
            <a:pPr>
              <a:lnSpc>
                <a:spcPct val="109601"/>
              </a:lnSpc>
              <a:spcAft>
                <a:spcPts val="0"/>
              </a:spcAft>
            </a:pPr>
            <a:r>
              <a:rPr sz="760" i="0">
                <a:solidFill>
                  <a:srgbClr val="5C6773"/>
                </a:solidFill>
                <a:latin typeface="Inconsolata"/>
              </a:rPr>
              <a:t>45  </a:t>
            </a:r>
            <a:r>
              <a:rPr sz="760" i="1">
                <a:solidFill>
                  <a:srgbClr val="8B98A8"/>
                </a:solidFill>
                <a:latin typeface="Inconsolata"/>
              </a:rPr>
              <a:t># ---------- main.py ----------</a:t>
            </a:r>
          </a:p>
          <a:p>
            <a:pPr>
              <a:lnSpc>
                <a:spcPct val="109601"/>
              </a:lnSpc>
              <a:spcAft>
                <a:spcPts val="0"/>
              </a:spcAft>
            </a:pPr>
            <a:r>
              <a:rPr sz="760" i="0">
                <a:solidFill>
                  <a:srgbClr val="5C6773"/>
                </a:solidFill>
                <a:latin typeface="Inconsolata"/>
              </a:rPr>
              <a:t>46  </a:t>
            </a:r>
            <a:r>
              <a:rPr sz="760" i="0">
                <a:solidFill>
                  <a:srgbClr val="E6EDF3"/>
                </a:solidFill>
                <a:latin typeface="Inconsolata"/>
              </a:rPr>
              <a:t>app = </a:t>
            </a:r>
            <a:r>
              <a:rPr sz="760" i="0">
                <a:solidFill>
                  <a:srgbClr val="7FDBCA"/>
                </a:solidFill>
                <a:latin typeface="Inconsolata"/>
              </a:rPr>
              <a:t>FastAPI</a:t>
            </a:r>
            <a:r>
              <a:rPr sz="760" i="0">
                <a:solidFill>
                  <a:srgbClr val="E6EDF3"/>
                </a:solidFill>
                <a:latin typeface="Inconsolata"/>
              </a:rPr>
              <a:t>()</a:t>
            </a:r>
          </a:p>
          <a:p>
            <a:pPr>
              <a:lnSpc>
                <a:spcPct val="109601"/>
              </a:lnSpc>
              <a:spcAft>
                <a:spcPts val="0"/>
              </a:spcAft>
            </a:pPr>
            <a:r>
              <a:rPr sz="760" i="0">
                <a:solidFill>
                  <a:srgbClr val="5C6773"/>
                </a:solidFill>
                <a:latin typeface="Inconsolata"/>
              </a:rPr>
              <a:t>47  </a:t>
            </a:r>
            <a:r>
              <a:rPr sz="760" i="0">
                <a:solidFill>
                  <a:srgbClr val="E6EDF3"/>
                </a:solidFill>
                <a:latin typeface="Inconsolata"/>
              </a:rPr>
              <a:t>app.include_router(products_router)</a:t>
            </a:r>
          </a:p>
          <a:p>
            <a:pPr>
              <a:lnSpc>
                <a:spcPct val="109601"/>
              </a:lnSpc>
              <a:spcAft>
                <a:spcPts val="0"/>
              </a:spcAft>
            </a:pPr>
            <a:r>
              <a:rPr sz="760" i="0">
                <a:solidFill>
                  <a:srgbClr val="5C6773"/>
                </a:solidFill>
                <a:latin typeface="Inconsolata"/>
              </a:rPr>
              <a:t>48  </a:t>
            </a:r>
            <a:r>
              <a:rPr sz="760" i="0">
                <a:solidFill>
                  <a:srgbClr val="E6EDF3"/>
                </a:solidFill>
                <a:latin typeface="Inconsolata"/>
              </a:rPr>
              <a:t>app.include_router(orders_router)</a:t>
            </a:r>
          </a:p>
        </p:txBody>
      </p:sp>
      <p:sp>
        <p:nvSpPr>
          <p:cNvPr id="36" name="Box 21"/>
          <p:cNvSpPr/>
          <p:nvPr/>
        </p:nvSpPr>
        <p:spPr>
          <a:xfrm>
            <a:off x="704088" y="2589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529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1954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704088" y="3605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279392" y="3545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1" name="Box 26"/>
          <p:cNvSpPr/>
          <p:nvPr/>
        </p:nvSpPr>
        <p:spPr>
          <a:xfrm>
            <a:off x="4709159" y="3986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2" name="Box 27"/>
          <p:cNvSpPr/>
          <p:nvPr/>
        </p:nvSpPr>
        <p:spPr>
          <a:xfrm>
            <a:off x="8284463" y="4053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APIRouter</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01-apirouter/after.py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sesi-04-modular-fastapi-orm-transactions/01-apirouter</a:t>
            </a:r>
          </a:p>
          <a:p>
            <a:pPr>
              <a:lnSpc>
                <a:spcPct val="107527"/>
              </a:lnSpc>
              <a:spcAft>
                <a:spcPts val="0"/>
              </a:spcAft>
            </a:pPr>
            <a:r>
              <a:rPr sz="775" i="0">
                <a:solidFill>
                  <a:srgbClr val="82B1FF"/>
                </a:solidFill>
                <a:latin typeface="Inconsolata"/>
              </a:rPr>
              <a:t>$ uvicorn after:app --reload</a:t>
            </a:r>
          </a:p>
        </p:txBody>
      </p:sp>
      <p:pic>
        <p:nvPicPr>
          <p:cNvPr id="29" name="Image 12" descr="s04-01-apirouter-after.png"/>
          <p:cNvPicPr>
            <a:picLocks noChangeAspect="1"/>
          </p:cNvPicPr>
          <p:nvPr/>
        </p:nvPicPr>
        <p:blipFill>
          <a:blip r:embed="rId2"/>
          <a:stretch>
            <a:fillRect/>
          </a:stretch>
        </p:blipFill>
        <p:spPr>
          <a:xfrm>
            <a:off x="621792" y="2240280"/>
            <a:ext cx="4297680" cy="2391921"/>
          </a:xfrm>
          <a:prstGeom prst="rect">
            <a:avLst/>
          </a:prstGeom>
        </p:spPr>
      </p:pic>
      <p:sp>
        <p:nvSpPr>
          <p:cNvPr id="30" name="Text 13"/>
          <p:cNvSpPr txBox="1"/>
          <p:nvPr/>
        </p:nvSpPr>
        <p:spPr>
          <a:xfrm>
            <a:off x="621792" y="4677921"/>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/docs: endpoint dikelompokkan per tag</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Satu router per fitur, prefix dan tags ditulis sekali (baris 16, 30)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Path di route cukup sisanya, misalnya </a:t>
            </a:r>
            <a:r>
              <a:rPr sz="950" b="0" i="0">
                <a:solidFill>
                  <a:srgbClr val="B5482A"/>
                </a:solidFill>
                <a:latin typeface="Inconsolata"/>
              </a:rPr>
              <a:t>"/{product_id}"</a:t>
            </a:r>
            <a:r>
              <a:rPr sz="950" b="0" i="0">
                <a:solidFill>
                  <a:srgbClr val="434343"/>
                </a:solidFill>
                <a:latin typeface="Inter"/>
              </a:rPr>
              <a:t> (baris 24)</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main.py</a:t>
            </a:r>
            <a:r>
              <a:rPr sz="950" b="0" i="0">
                <a:solidFill>
                  <a:srgbClr val="434343"/>
                </a:solidFill>
                <a:latin typeface="Inter"/>
              </a:rPr>
              <a:t> cukup membuat app dan memasang router (baris 46-48)</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Di </a:t>
            </a:r>
            <a:r>
              <a:rPr sz="950" b="0" i="0">
                <a:solidFill>
                  <a:srgbClr val="B5482A"/>
                </a:solidFill>
                <a:latin typeface="Inconsolata"/>
              </a:rPr>
              <a:t>/docs</a:t>
            </a:r>
            <a:r>
              <a:rPr sz="950" b="0" i="0">
                <a:solidFill>
                  <a:srgbClr val="434343"/>
                </a:solidFill>
                <a:latin typeface="Inter"/>
              </a:rPr>
              <a:t>, endpoint sekarang berkelompok: </a:t>
            </a:r>
            <a:r>
              <a:rPr sz="950" b="1" i="0">
                <a:solidFill>
                  <a:srgbClr val="434343"/>
                </a:solidFill>
                <a:latin typeface="Inter"/>
              </a:rPr>
              <a:t>products</a:t>
            </a:r>
            <a:r>
              <a:rPr sz="950" b="0" i="0">
                <a:solidFill>
                  <a:srgbClr val="434343"/>
                </a:solidFill>
                <a:latin typeface="Inter"/>
              </a:rPr>
              <a:t> dan </a:t>
            </a:r>
            <a:r>
              <a:rPr sz="950" b="1" i="0">
                <a:solidFill>
                  <a:srgbClr val="434343"/>
                </a:solidFill>
                <a:latin typeface="Inter"/>
              </a:rPr>
              <a:t>orders</a:t>
            </a:r>
            <a:r>
              <a:rPr sz="950" b="0" i="0">
                <a:solidFill>
                  <a:srgbClr val="434343"/>
                </a:solidFill>
                <a:latin typeface="Inter"/>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Schemas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Schema Request &amp; Response?</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Schema adalah</a:t>
            </a:r>
          </a:p>
          <a:p>
            <a:pPr algn="l">
              <a:lnSpc>
                <a:spcPct val="115000"/>
              </a:lnSpc>
              <a:spcAft>
                <a:spcPts val="400"/>
              </a:spcAft>
            </a:pPr>
            <a:r>
              <a:rPr sz="900" b="0" i="0">
                <a:solidFill>
                  <a:srgbClr val="434343"/>
                </a:solidFill>
                <a:latin typeface="Inter"/>
              </a:rPr>
              <a:t>Class Pydantic yang menentukan </a:t>
            </a:r>
            <a:r>
              <a:rPr sz="900" b="1" i="0">
                <a:solidFill>
                  <a:srgbClr val="434343"/>
                </a:solidFill>
                <a:latin typeface="Inter"/>
              </a:rPr>
              <a:t>bentuk data</a:t>
            </a:r>
            <a:r>
              <a:rPr sz="900" b="0" i="0">
                <a:solidFill>
                  <a:srgbClr val="434343"/>
                </a:solidFill>
                <a:latin typeface="Inter"/>
              </a:rPr>
              <a:t> yang keluar masuk API. Pydantic adalah library validasi data yang dipakai FastAPI. Request dan response dibuat terpisah, yaitu </a:t>
            </a:r>
            <a:r>
              <a:rPr sz="900" b="0" i="0">
                <a:solidFill>
                  <a:srgbClr val="B5482A"/>
                </a:solidFill>
                <a:latin typeface="Inconsolata"/>
              </a:rPr>
              <a:t>ProductIn</a:t>
            </a:r>
            <a:r>
              <a:rPr sz="900" b="0" i="0">
                <a:solidFill>
                  <a:srgbClr val="434343"/>
                </a:solidFill>
                <a:latin typeface="Inter"/>
              </a:rPr>
              <a:t> untuk data yang boleh dikirim client dan </a:t>
            </a:r>
            <a:r>
              <a:rPr sz="900" b="0" i="0">
                <a:solidFill>
                  <a:srgbClr val="B5482A"/>
                </a:solidFill>
                <a:latin typeface="Inconsolata"/>
              </a:rPr>
              <a:t>ProductOut</a:t>
            </a:r>
            <a:r>
              <a:rPr sz="900" b="0" i="0">
                <a:solidFill>
                  <a:srgbClr val="434343"/>
                </a:solidFill>
                <a:latin typeface="Inter"/>
              </a:rPr>
              <a:t> untuk data yang boleh dilihat client.</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Mencegah data internal bocor ke client</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Menolak field yang bukan hak client, misalnya </a:t>
            </a:r>
            <a:r>
              <a:rPr sz="900" b="0" i="0">
                <a:solidFill>
                  <a:srgbClr val="B5482A"/>
                </a:solidFill>
                <a:latin typeface="Inconsolata"/>
              </a:rPr>
              <a:t>id</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Mencatat aturan validasi di </a:t>
            </a:r>
            <a:r>
              <a:rPr sz="900" b="0" i="0">
                <a:solidFill>
                  <a:srgbClr val="B5482A"/>
                </a:solidFill>
                <a:latin typeface="Inconsolata"/>
              </a:rPr>
              <a:t>/docs</a:t>
            </a:r>
            <a:r>
              <a:rPr sz="900" b="0" i="0">
                <a:solidFill>
                  <a:srgbClr val="434343"/>
                </a:solidFill>
                <a:latin typeface="Inter"/>
              </a:rPr>
              <a:t> secara otomatis</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schema terpisah: 02-schemas/before.py</a:t>
            </a:r>
          </a:p>
        </p:txBody>
      </p:sp>
      <p:sp>
        <p:nvSpPr>
          <p:cNvPr id="28" name="CodeBg 11"/>
          <p:cNvSpPr/>
          <p:nvPr/>
        </p:nvSpPr>
        <p:spPr>
          <a:xfrm>
            <a:off x="4297680" y="1719072"/>
            <a:ext cx="4187951" cy="1216152"/>
          </a:xfrm>
          <a:prstGeom prst="roundRect">
            <a:avLst>
              <a:gd name="adj" fmla="val 150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216152"/>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Product</a:t>
            </a:r>
            <a:r>
              <a:rPr sz="850" i="0">
                <a:solidFill>
                  <a:srgbClr val="E6EDF3"/>
                </a:solidFill>
                <a:latin typeface="Inconsolata"/>
              </a:rPr>
              <a:t>(</a:t>
            </a:r>
            <a:r>
              <a:rPr sz="850" i="0">
                <a:solidFill>
                  <a:srgbClr val="7FDBCA"/>
                </a:solidFill>
                <a:latin typeface="Inconsolata"/>
              </a:rPr>
              <a:t>BaseModel</a:t>
            </a:r>
            <a:r>
              <a:rPr sz="850" i="0">
                <a:solidFill>
                  <a:srgbClr val="E6EDF3"/>
                </a:solidFill>
                <a:latin typeface="Inconsolata"/>
              </a:rPr>
              <a:t>):</a:t>
            </a:r>
          </a:p>
          <a:p>
            <a:pPr>
              <a:lnSpc>
                <a:spcPct val="107843"/>
              </a:lnSpc>
              <a:spcAft>
                <a:spcPts val="0"/>
              </a:spcAft>
            </a:pPr>
            <a:r>
              <a:rPr sz="850" i="0">
                <a:solidFill>
                  <a:srgbClr val="E6EDF3"/>
                </a:solidFill>
                <a:latin typeface="Inconsolata"/>
              </a:rPr>
              <a:t>    id: </a:t>
            </a:r>
            <a:r>
              <a:rPr sz="850" i="0">
                <a:solidFill>
                  <a:srgbClr val="C3A6FF"/>
                </a:solidFill>
                <a:latin typeface="Inconsolata"/>
              </a:rPr>
              <a:t>int</a:t>
            </a:r>
          </a:p>
          <a:p>
            <a:pPr>
              <a:lnSpc>
                <a:spcPct val="107843"/>
              </a:lnSpc>
              <a:spcAft>
                <a:spcPts val="0"/>
              </a:spcAft>
            </a:pPr>
            <a:r>
              <a:rPr sz="850" i="0">
                <a:solidFill>
                  <a:srgbClr val="E6EDF3"/>
                </a:solidFill>
                <a:latin typeface="Inconsolata"/>
              </a:rPr>
              <a:t>    name: </a:t>
            </a:r>
            <a:r>
              <a:rPr sz="850" i="0">
                <a:solidFill>
                  <a:srgbClr val="C3A6FF"/>
                </a:solidFill>
                <a:latin typeface="Inconsolata"/>
              </a:rPr>
              <a:t>str</a:t>
            </a:r>
          </a:p>
          <a:p>
            <a:pPr>
              <a:lnSpc>
                <a:spcPct val="107843"/>
              </a:lnSpc>
              <a:spcAft>
                <a:spcPts val="0"/>
              </a:spcAft>
            </a:pPr>
            <a:r>
              <a:rPr sz="850" i="0">
                <a:solidFill>
                  <a:srgbClr val="E6EDF3"/>
                </a:solidFill>
                <a:latin typeface="Inconsolata"/>
              </a:rPr>
              <a:t>    price: </a:t>
            </a:r>
            <a:r>
              <a:rPr sz="850" i="0">
                <a:solidFill>
                  <a:srgbClr val="C3A6FF"/>
                </a:solidFill>
                <a:latin typeface="Inconsolata"/>
              </a:rPr>
              <a:t>int</a:t>
            </a:r>
          </a:p>
          <a:p>
            <a:pPr>
              <a:lnSpc>
                <a:spcPct val="107843"/>
              </a:lnSpc>
              <a:spcAft>
                <a:spcPts val="0"/>
              </a:spcAft>
            </a:pPr>
            <a:r>
              <a:rPr sz="850" i="0">
                <a:solidFill>
                  <a:srgbClr val="E6EDF3"/>
                </a:solidFill>
                <a:latin typeface="Inconsolata"/>
              </a:rPr>
              <a:t>    cost_price: </a:t>
            </a:r>
            <a:r>
              <a:rPr sz="850" i="0">
                <a:solidFill>
                  <a:srgbClr val="C3A6FF"/>
                </a:solidFill>
                <a:latin typeface="Inconsolata"/>
              </a:rPr>
              <a:t>int</a:t>
            </a:r>
            <a:r>
              <a:rPr sz="850" i="0">
                <a:solidFill>
                  <a:srgbClr val="E6EDF3"/>
                </a:solidFill>
                <a:latin typeface="Inconsolata"/>
              </a:rPr>
              <a:t>      </a:t>
            </a:r>
            <a:r>
              <a:rPr sz="850" i="1">
                <a:solidFill>
                  <a:srgbClr val="8B98A8"/>
                </a:solidFill>
                <a:latin typeface="Inconsolata"/>
              </a:rPr>
              <a:t># harga modal, hanya untuk internal</a:t>
            </a:r>
          </a:p>
          <a:p>
            <a:pPr>
              <a:lnSpc>
                <a:spcPct val="107843"/>
              </a:lnSpc>
              <a:spcAft>
                <a:spcPts val="0"/>
              </a:spcAft>
            </a:pPr>
            <a:r>
              <a:rPr sz="850" i="0">
                <a:solidFill>
                  <a:srgbClr val="E6EDF3"/>
                </a:solidFill>
                <a:latin typeface="Inconsolata"/>
              </a:rPr>
              <a:t>    stock: </a:t>
            </a:r>
            <a:r>
              <a:rPr sz="850" i="0">
                <a:solidFill>
                  <a:srgbClr val="C3A6FF"/>
                </a:solidFill>
                <a:latin typeface="Inconsolata"/>
              </a:rPr>
              <a:t>int</a:t>
            </a:r>
          </a:p>
        </p:txBody>
      </p:sp>
      <p:sp>
        <p:nvSpPr>
          <p:cNvPr id="30" name="Box 13"/>
          <p:cNvSpPr/>
          <p:nvPr/>
        </p:nvSpPr>
        <p:spPr>
          <a:xfrm>
            <a:off x="4379976" y="19683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387473"/>
            <a:ext cx="4023359"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3026664"/>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3104388"/>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3104388"/>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3104388"/>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3035808"/>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schema terpisah: 02-schemas/after.py</a:t>
            </a:r>
          </a:p>
        </p:txBody>
      </p:sp>
      <p:sp>
        <p:nvSpPr>
          <p:cNvPr id="37" name="CodeBg 22"/>
          <p:cNvSpPr/>
          <p:nvPr/>
        </p:nvSpPr>
        <p:spPr>
          <a:xfrm>
            <a:off x="4297680" y="3264408"/>
            <a:ext cx="4187951" cy="1435608"/>
          </a:xfrm>
          <a:prstGeom prst="roundRect">
            <a:avLst>
              <a:gd name="adj" fmla="val 12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3264408"/>
            <a:ext cx="4187951" cy="1435608"/>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ProductIn</a:t>
            </a:r>
            <a:r>
              <a:rPr sz="850" i="0">
                <a:solidFill>
                  <a:srgbClr val="E6EDF3"/>
                </a:solidFill>
                <a:latin typeface="Inconsolata"/>
              </a:rPr>
              <a:t>(</a:t>
            </a:r>
            <a:r>
              <a:rPr sz="850" i="0">
                <a:solidFill>
                  <a:srgbClr val="7FDBCA"/>
                </a:solidFill>
                <a:latin typeface="Inconsolata"/>
              </a:rPr>
              <a:t>BaseModel</a:t>
            </a:r>
            <a:r>
              <a:rPr sz="850" i="0">
                <a:solidFill>
                  <a:srgbClr val="E6EDF3"/>
                </a:solidFill>
                <a:latin typeface="Inconsolata"/>
              </a:rPr>
              <a:t>):</a:t>
            </a:r>
          </a:p>
          <a:p>
            <a:pPr>
              <a:lnSpc>
                <a:spcPct val="107843"/>
              </a:lnSpc>
              <a:spcAft>
                <a:spcPts val="0"/>
              </a:spcAft>
            </a:pPr>
            <a:r>
              <a:rPr sz="850" i="0">
                <a:solidFill>
                  <a:srgbClr val="E6EDF3"/>
                </a:solidFill>
                <a:latin typeface="Inconsolata"/>
              </a:rPr>
              <a:t>    name: </a:t>
            </a:r>
            <a:r>
              <a:rPr sz="850" i="0">
                <a:solidFill>
                  <a:srgbClr val="C3A6FF"/>
                </a:solidFill>
                <a:latin typeface="Inconsolata"/>
              </a:rPr>
              <a:t>str</a:t>
            </a:r>
            <a:r>
              <a:rPr sz="850" i="0">
                <a:solidFill>
                  <a:srgbClr val="E6EDF3"/>
                </a:solidFill>
                <a:latin typeface="Inconsolata"/>
              </a:rPr>
              <a:t> = </a:t>
            </a:r>
            <a:r>
              <a:rPr sz="850" i="0">
                <a:solidFill>
                  <a:srgbClr val="7FDBCA"/>
                </a:solidFill>
                <a:latin typeface="Inconsolata"/>
              </a:rPr>
              <a:t>Field</a:t>
            </a:r>
            <a:r>
              <a:rPr sz="850" i="0">
                <a:solidFill>
                  <a:srgbClr val="E6EDF3"/>
                </a:solidFill>
                <a:latin typeface="Inconsolata"/>
              </a:rPr>
              <a:t>(min_length=</a:t>
            </a:r>
            <a:r>
              <a:rPr sz="850" i="0">
                <a:solidFill>
                  <a:srgbClr val="F9C97A"/>
                </a:solidFill>
                <a:latin typeface="Inconsolata"/>
              </a:rPr>
              <a:t>1</a:t>
            </a:r>
            <a:r>
              <a:rPr sz="850" i="0">
                <a:solidFill>
                  <a:srgbClr val="E6EDF3"/>
                </a:solidFill>
                <a:latin typeface="Inconsolata"/>
              </a:rPr>
              <a:t>)</a:t>
            </a:r>
          </a:p>
          <a:p>
            <a:pPr>
              <a:lnSpc>
                <a:spcPct val="107843"/>
              </a:lnSpc>
              <a:spcAft>
                <a:spcPts val="0"/>
              </a:spcAft>
            </a:pPr>
            <a:r>
              <a:rPr sz="850" i="0">
                <a:solidFill>
                  <a:srgbClr val="E6EDF3"/>
                </a:solidFill>
                <a:latin typeface="Inconsolata"/>
              </a:rPr>
              <a:t>    price: </a:t>
            </a:r>
            <a:r>
              <a:rPr sz="850" i="0">
                <a:solidFill>
                  <a:srgbClr val="C3A6FF"/>
                </a:solidFill>
                <a:latin typeface="Inconsolata"/>
              </a:rPr>
              <a:t>int</a:t>
            </a:r>
            <a:r>
              <a:rPr sz="850" i="0">
                <a:solidFill>
                  <a:srgbClr val="E6EDF3"/>
                </a:solidFill>
                <a:latin typeface="Inconsolata"/>
              </a:rPr>
              <a:t> = </a:t>
            </a:r>
            <a:r>
              <a:rPr sz="850" i="0">
                <a:solidFill>
                  <a:srgbClr val="7FDBCA"/>
                </a:solidFill>
                <a:latin typeface="Inconsolata"/>
              </a:rPr>
              <a:t>Field</a:t>
            </a:r>
            <a:r>
              <a:rPr sz="850" i="0">
                <a:solidFill>
                  <a:srgbClr val="E6EDF3"/>
                </a:solidFill>
                <a:latin typeface="Inconsolata"/>
              </a:rPr>
              <a:t>(gt=</a:t>
            </a:r>
            <a:r>
              <a:rPr sz="850" i="0">
                <a:solidFill>
                  <a:srgbClr val="F9C97A"/>
                </a:solidFill>
                <a:latin typeface="Inconsolata"/>
              </a:rPr>
              <a:t>0</a:t>
            </a:r>
            <a:r>
              <a:rPr sz="850" i="0">
                <a:solidFill>
                  <a:srgbClr val="E6EDF3"/>
                </a:solidFill>
                <a:latin typeface="Inconsolata"/>
              </a:rPr>
              <a:t>)</a:t>
            </a:r>
          </a:p>
          <a:p>
            <a:pPr>
              <a:lnSpc>
                <a:spcPct val="107843"/>
              </a:lnSpc>
              <a:spcAft>
                <a:spcPts val="0"/>
              </a:spcAft>
            </a:pPr>
            <a:r>
              <a:rPr sz="850" i="0">
                <a:solidFill>
                  <a:srgbClr val="E6EDF3"/>
                </a:solidFill>
                <a:latin typeface="Inconsolata"/>
              </a:rPr>
              <a:t>    cost_price: </a:t>
            </a:r>
            <a:r>
              <a:rPr sz="850" i="0">
                <a:solidFill>
                  <a:srgbClr val="C3A6FF"/>
                </a:solidFill>
                <a:latin typeface="Inconsolata"/>
              </a:rPr>
              <a:t>int</a:t>
            </a:r>
            <a:r>
              <a:rPr sz="850" i="0">
                <a:solidFill>
                  <a:srgbClr val="E6EDF3"/>
                </a:solidFill>
                <a:latin typeface="Inconsolata"/>
              </a:rPr>
              <a:t> = </a:t>
            </a:r>
            <a:r>
              <a:rPr sz="850" i="0">
                <a:solidFill>
                  <a:srgbClr val="7FDBCA"/>
                </a:solidFill>
                <a:latin typeface="Inconsolata"/>
              </a:rPr>
              <a:t>Field</a:t>
            </a:r>
            <a:r>
              <a:rPr sz="850" i="0">
                <a:solidFill>
                  <a:srgbClr val="E6EDF3"/>
                </a:solidFill>
                <a:latin typeface="Inconsolata"/>
              </a:rPr>
              <a:t>(gt=</a:t>
            </a:r>
            <a:r>
              <a:rPr sz="850" i="0">
                <a:solidFill>
                  <a:srgbClr val="F9C97A"/>
                </a:solidFill>
                <a:latin typeface="Inconsolata"/>
              </a:rPr>
              <a:t>0</a:t>
            </a:r>
            <a:r>
              <a:rPr sz="850" i="0">
                <a:solidFill>
                  <a:srgbClr val="E6EDF3"/>
                </a:solidFill>
                <a:latin typeface="Inconsolata"/>
              </a:rPr>
              <a:t>)</a:t>
            </a:r>
          </a:p>
          <a:p>
            <a:pPr>
              <a:lnSpc>
                <a:spcPct val="107843"/>
              </a:lnSpc>
              <a:spcAft>
                <a:spcPts val="0"/>
              </a:spcAft>
            </a:pPr>
            <a:r>
              <a:rPr sz="850" i="0">
                <a:solidFill>
                  <a:srgbClr val="E6EDF3"/>
                </a:solidFill>
                <a:latin typeface="Inconsolata"/>
              </a:rPr>
              <a:t>    stock: </a:t>
            </a:r>
            <a:r>
              <a:rPr sz="850" i="0">
                <a:solidFill>
                  <a:srgbClr val="C3A6FF"/>
                </a:solidFill>
                <a:latin typeface="Inconsolata"/>
              </a:rPr>
              <a:t>int</a:t>
            </a:r>
            <a:r>
              <a:rPr sz="850" i="0">
                <a:solidFill>
                  <a:srgbClr val="E6EDF3"/>
                </a:solidFill>
                <a:latin typeface="Inconsolata"/>
              </a:rPr>
              <a:t> = </a:t>
            </a:r>
            <a:r>
              <a:rPr sz="850" i="0">
                <a:solidFill>
                  <a:srgbClr val="7FDBCA"/>
                </a:solidFill>
                <a:latin typeface="Inconsolata"/>
              </a:rPr>
              <a:t>Field</a:t>
            </a:r>
            <a:r>
              <a:rPr sz="850" i="0">
                <a:solidFill>
                  <a:srgbClr val="E6EDF3"/>
                </a:solidFill>
                <a:latin typeface="Inconsolata"/>
              </a:rPr>
              <a:t>(ge=</a:t>
            </a:r>
            <a:r>
              <a:rPr sz="850" i="0">
                <a:solidFill>
                  <a:srgbClr val="F9C97A"/>
                </a:solidFill>
                <a:latin typeface="Inconsolata"/>
              </a:rPr>
              <a:t>0</a:t>
            </a:r>
            <a:r>
              <a:rPr sz="850" i="0">
                <a:solidFill>
                  <a:srgbClr val="E6EDF3"/>
                </a:solidFill>
                <a:latin typeface="Inconsolata"/>
              </a:rPr>
              <a:t>)</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"/products"</a:t>
            </a:r>
            <a:r>
              <a:rPr sz="850" i="0">
                <a:solidFill>
                  <a:srgbClr val="E6EDF3"/>
                </a:solidFill>
                <a:latin typeface="Inconsolata"/>
              </a:rPr>
              <a:t>, status_code=</a:t>
            </a:r>
            <a:r>
              <a:rPr sz="850" i="0">
                <a:solidFill>
                  <a:srgbClr val="F9C97A"/>
                </a:solidFill>
                <a:latin typeface="Inconsolata"/>
              </a:rPr>
              <a:t>201</a:t>
            </a:r>
            <a:r>
              <a:rPr sz="850" i="0">
                <a:solidFill>
                  <a:srgbClr val="E6EDF3"/>
                </a:solidFill>
                <a:latin typeface="Inconsolata"/>
              </a:rPr>
              <a:t>, response_model=</a:t>
            </a:r>
            <a:r>
              <a:rPr sz="850" i="0">
                <a:solidFill>
                  <a:srgbClr val="7FDBCA"/>
                </a:solidFill>
                <a:latin typeface="Inconsolata"/>
              </a:rPr>
              <a:t>ProductOut</a:t>
            </a:r>
            <a:r>
              <a:rPr sz="850" i="0">
                <a:solidFill>
                  <a:srgbClr val="E6EDF3"/>
                </a:solidFill>
                <a:latin typeface="Inconsolata"/>
              </a:rPr>
              <a:t>)</a:t>
            </a:r>
          </a:p>
        </p:txBody>
      </p:sp>
      <p:sp>
        <p:nvSpPr>
          <p:cNvPr id="39" name="Box 24"/>
          <p:cNvSpPr/>
          <p:nvPr/>
        </p:nvSpPr>
        <p:spPr>
          <a:xfrm>
            <a:off x="4379976" y="3374009"/>
            <a:ext cx="4023359" cy="690118"/>
          </a:xfrm>
          <a:prstGeom prst="roundRect">
            <a:avLst>
              <a:gd name="adj" fmla="val 662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4212209"/>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Schemas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Schema Terpisah?</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schema terpisah</a:t>
            </a:r>
          </a:p>
          <a:p>
            <a:pPr algn="l">
              <a:lnSpc>
                <a:spcPct val="115000"/>
              </a:lnSpc>
              <a:spcAft>
                <a:spcPts val="400"/>
              </a:spcAft>
            </a:pPr>
            <a:r>
              <a:rPr sz="950" b="0" i="0">
                <a:solidFill>
                  <a:srgbClr val="434343"/>
                </a:solidFill>
                <a:latin typeface="Inter"/>
              </a:rPr>
              <a:t>Satu model Pydantic </a:t>
            </a:r>
            <a:r>
              <a:rPr sz="950" b="0" i="0">
                <a:solidFill>
                  <a:srgbClr val="B5482A"/>
                </a:solidFill>
                <a:latin typeface="Inconsolata"/>
              </a:rPr>
              <a:t>Product</a:t>
            </a:r>
            <a:r>
              <a:rPr sz="950" b="0" i="0">
                <a:solidFill>
                  <a:srgbClr val="434343"/>
                </a:solidFill>
                <a:latin typeface="Inter"/>
              </a:rPr>
              <a:t> dipakai untuk request </a:t>
            </a:r>
            <a:r>
              <a:rPr sz="950" b="1" i="0">
                <a:solidFill>
                  <a:srgbClr val="434343"/>
                </a:solidFill>
                <a:latin typeface="Inter"/>
              </a:rPr>
              <a:t>dan</a:t>
            </a:r>
            <a:r>
              <a:rPr sz="950" b="0" i="0">
                <a:solidFill>
                  <a:srgbClr val="434343"/>
                </a:solidFill>
                <a:latin typeface="Inter"/>
              </a:rPr>
              <a:t> response, termasuk </a:t>
            </a:r>
            <a:r>
              <a:rPr sz="950" b="0" i="0">
                <a:solidFill>
                  <a:srgbClr val="B5482A"/>
                </a:solidFill>
                <a:latin typeface="Inconsolata"/>
              </a:rPr>
              <a:t>id</a:t>
            </a:r>
            <a:r>
              <a:rPr sz="950" b="0" i="0">
                <a:solidFill>
                  <a:srgbClr val="434343"/>
                </a:solidFill>
                <a:latin typeface="Inter"/>
              </a:rPr>
              <a:t> dan field internal </a:t>
            </a:r>
            <a:r>
              <a:rPr sz="950" b="0" i="0">
                <a:solidFill>
                  <a:srgbClr val="B5482A"/>
                </a:solidFill>
                <a:latin typeface="Inconsolata"/>
              </a:rPr>
              <a:t>cost_price</a:t>
            </a:r>
            <a:r>
              <a:rPr sz="950" b="0" i="0">
                <a:solidFill>
                  <a:srgbClr val="434343"/>
                </a:solidFill>
                <a:latin typeface="Inter"/>
              </a:rPr>
              <a:t> (harga modal).</a:t>
            </a:r>
          </a:p>
          <a:p>
            <a:pPr algn="l">
              <a:lnSpc>
                <a:spcPct val="115000"/>
              </a:lnSpc>
              <a:spcAft>
                <a:spcPts val="400"/>
              </a:spcAft>
            </a:pPr>
            <a:r>
              <a:rPr sz="1050" b="1" i="0">
                <a:solidFill>
                  <a:srgbClr val="1C4587"/>
                </a:solidFill>
                <a:latin typeface="Inter"/>
              </a:rPr>
              <a:t>Jika fieldnya makin banyak</a:t>
            </a:r>
          </a:p>
          <a:p>
            <a:pPr algn="l">
              <a:lnSpc>
                <a:spcPct val="115000"/>
              </a:lnSpc>
              <a:spcAft>
                <a:spcPts val="400"/>
              </a:spcAft>
            </a:pPr>
            <a:r>
              <a:rPr sz="950" b="0" i="0">
                <a:solidFill>
                  <a:srgbClr val="434343"/>
                </a:solidFill>
                <a:latin typeface="Inter"/>
              </a:rPr>
              <a:t>Client bisa mengirim </a:t>
            </a:r>
            <a:r>
              <a:rPr sz="950" b="0" i="0">
                <a:solidFill>
                  <a:srgbClr val="B5482A"/>
                </a:solidFill>
                <a:latin typeface="Inconsolata"/>
              </a:rPr>
              <a:t>id</a:t>
            </a:r>
            <a:r>
              <a:rPr sz="950" b="0" i="0">
                <a:solidFill>
                  <a:srgbClr val="434343"/>
                </a:solidFill>
                <a:latin typeface="Inter"/>
              </a:rPr>
              <a:t> sendiri, dan harga modal ikut terkirim ke client. Setiap ada field baru, developer harus mengecek ulang apakah field itu boleh dikirim dan boleh dilihat client.</a:t>
            </a:r>
          </a:p>
          <a:p>
            <a:pPr algn="l">
              <a:lnSpc>
                <a:spcPct val="115000"/>
              </a:lnSpc>
              <a:spcAft>
                <a:spcPts val="400"/>
              </a:spcAft>
            </a:pPr>
            <a:r>
              <a:rPr sz="950" b="0" i="0">
                <a:solidFill>
                  <a:srgbClr val="434343"/>
                </a:solidFill>
                <a:latin typeface="Inter"/>
              </a:rPr>
              <a:t>Hal ini menimbulkan potensi data internal bocor ke client.</a:t>
            </a:r>
          </a:p>
          <a:p>
            <a:pPr algn="l">
              <a:lnSpc>
                <a:spcPct val="115000"/>
              </a:lnSpc>
              <a:spcAft>
                <a:spcPts val="400"/>
              </a:spcAft>
            </a:pPr>
            <a:r>
              <a:rPr sz="1050" b="1" i="0">
                <a:solidFill>
                  <a:srgbClr val="1C4587"/>
                </a:solidFill>
                <a:latin typeface="Inter"/>
              </a:rPr>
              <a:t>Yang dipakai: Pydantic dan response_model</a:t>
            </a:r>
          </a:p>
          <a:p>
            <a:pPr algn="l">
              <a:lnSpc>
                <a:spcPct val="115000"/>
              </a:lnSpc>
              <a:spcAft>
                <a:spcPts val="400"/>
              </a:spcAft>
            </a:pPr>
            <a:r>
              <a:rPr sz="950" b="0" i="0">
                <a:solidFill>
                  <a:srgbClr val="B5482A"/>
                </a:solidFill>
                <a:latin typeface="Inconsolata"/>
              </a:rPr>
              <a:t>Field(...)</a:t>
            </a:r>
            <a:r>
              <a:rPr sz="950" b="0" i="0">
                <a:solidFill>
                  <a:srgbClr val="434343"/>
                </a:solidFill>
                <a:latin typeface="Inter"/>
              </a:rPr>
              <a:t> dari Pydantic menambahkan aturan validasi. </a:t>
            </a:r>
            <a:r>
              <a:rPr sz="950" b="0" i="0">
                <a:solidFill>
                  <a:srgbClr val="B5482A"/>
                </a:solidFill>
                <a:latin typeface="Inconsolata"/>
              </a:rPr>
              <a:t>response_model</a:t>
            </a:r>
            <a:r>
              <a:rPr sz="950" b="0" i="0">
                <a:solidFill>
                  <a:srgbClr val="434343"/>
                </a:solidFill>
                <a:latin typeface="Inter"/>
              </a:rPr>
              <a:t> dari FastAPI menyaring response, sehingga hanya field di </a:t>
            </a:r>
            <a:r>
              <a:rPr sz="950" b="0" i="0">
                <a:solidFill>
                  <a:srgbClr val="B5482A"/>
                </a:solidFill>
                <a:latin typeface="Inconsolata"/>
              </a:rPr>
              <a:t>ProductOut</a:t>
            </a:r>
            <a:r>
              <a:rPr sz="950" b="0" i="0">
                <a:solidFill>
                  <a:srgbClr val="434343"/>
                </a:solidFill>
                <a:latin typeface="Inter"/>
              </a:rPr>
              <a:t> yang dikirim.</a:t>
            </a:r>
          </a:p>
        </p:txBody>
      </p:sp>
      <p:graphicFrame>
        <p:nvGraphicFramePr>
          <p:cNvPr id="23" name="Table 4"/>
          <p:cNvGraphicFramePr>
            <a:graphicFrameLocks noGrp="1"/>
          </p:cNvGraphicFramePr>
          <p:nvPr/>
        </p:nvGraphicFramePr>
        <p:xfrm>
          <a:off x="4800600" y="1481328"/>
          <a:ext cx="3685032" cy="2057400"/>
        </p:xfrm>
        <a:graphic>
          <a:graphicData uri="http://schemas.openxmlformats.org/drawingml/2006/table">
            <a:tbl>
              <a:tblPr firstRow="1" bandRow="1"/>
              <a:tblGrid>
                <a:gridCol w="1764792">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850" b="1" i="0">
                          <a:solidFill>
                            <a:srgbClr val="1C4587"/>
                          </a:solidFill>
                          <a:latin typeface="Inter"/>
                        </a:rPr>
                        <a:t>Field(gt=0)</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Harus lebih dari 0</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850" b="1" i="0">
                          <a:solidFill>
                            <a:srgbClr val="1C4587"/>
                          </a:solidFill>
                          <a:latin typeface="Inter"/>
                        </a:rPr>
                        <a:t>Field(ge=0)</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Minimal 0</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850" b="1" i="0">
                          <a:solidFill>
                            <a:srgbClr val="1C4587"/>
                          </a:solidFill>
                          <a:latin typeface="Inter"/>
                        </a:rPr>
                        <a:t>Field(min_length=1)</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Tidak boleh kosong</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850" b="1" i="0">
                          <a:solidFill>
                            <a:srgbClr val="1C4587"/>
                          </a:solidFill>
                          <a:latin typeface="Inter"/>
                        </a:rPr>
                        <a:t>response_model=ProductOut</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Response disaring sesuai ProductOut</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Schemas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Satu model untuk request dan response</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02-schemas/before.py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10227"/>
              </a:lnSpc>
              <a:spcAft>
                <a:spcPts val="0"/>
              </a:spcAft>
            </a:pPr>
            <a:r>
              <a:rPr sz="831" i="0">
                <a:solidFill>
                  <a:srgbClr val="5C6773"/>
                </a:solidFill>
                <a:latin typeface="Inconsolata"/>
              </a:rPr>
              <a:t> 9  </a:t>
            </a:r>
            <a:r>
              <a:rPr sz="831" i="0">
                <a:solidFill>
                  <a:srgbClr val="FF8E6E"/>
                </a:solidFill>
                <a:latin typeface="Inconsolata"/>
              </a:rPr>
              <a:t>from</a:t>
            </a:r>
            <a:r>
              <a:rPr sz="831" i="0">
                <a:solidFill>
                  <a:srgbClr val="E6EDF3"/>
                </a:solidFill>
                <a:latin typeface="Inconsolata"/>
              </a:rPr>
              <a:t> fastapi </a:t>
            </a:r>
            <a:r>
              <a:rPr sz="831" i="0">
                <a:solidFill>
                  <a:srgbClr val="FF8E6E"/>
                </a:solidFill>
                <a:latin typeface="Inconsolata"/>
              </a:rPr>
              <a:t>import</a:t>
            </a:r>
            <a:r>
              <a:rPr sz="831" i="0">
                <a:solidFill>
                  <a:srgbClr val="E6EDF3"/>
                </a:solidFill>
                <a:latin typeface="Inconsolata"/>
              </a:rPr>
              <a:t> </a:t>
            </a:r>
            <a:r>
              <a:rPr sz="831" i="0">
                <a:solidFill>
                  <a:srgbClr val="7FDBCA"/>
                </a:solidFill>
                <a:latin typeface="Inconsolata"/>
              </a:rPr>
              <a:t>FastAPI</a:t>
            </a:r>
          </a:p>
          <a:p>
            <a:pPr>
              <a:lnSpc>
                <a:spcPct val="110227"/>
              </a:lnSpc>
              <a:spcAft>
                <a:spcPts val="0"/>
              </a:spcAft>
            </a:pPr>
            <a:r>
              <a:rPr sz="831" i="0">
                <a:solidFill>
                  <a:srgbClr val="5C6773"/>
                </a:solidFill>
                <a:latin typeface="Inconsolata"/>
              </a:rPr>
              <a:t>10  </a:t>
            </a:r>
            <a:r>
              <a:rPr sz="831" i="0">
                <a:solidFill>
                  <a:srgbClr val="FF8E6E"/>
                </a:solidFill>
                <a:latin typeface="Inconsolata"/>
              </a:rPr>
              <a:t>from</a:t>
            </a:r>
            <a:r>
              <a:rPr sz="831" i="0">
                <a:solidFill>
                  <a:srgbClr val="E6EDF3"/>
                </a:solidFill>
                <a:latin typeface="Inconsolata"/>
              </a:rPr>
              <a:t> pydantic </a:t>
            </a:r>
            <a:r>
              <a:rPr sz="831" i="0">
                <a:solidFill>
                  <a:srgbClr val="FF8E6E"/>
                </a:solidFill>
                <a:latin typeface="Inconsolata"/>
              </a:rPr>
              <a:t>import</a:t>
            </a:r>
            <a:r>
              <a:rPr sz="831" i="0">
                <a:solidFill>
                  <a:srgbClr val="E6EDF3"/>
                </a:solidFill>
                <a:latin typeface="Inconsolata"/>
              </a:rPr>
              <a:t> </a:t>
            </a:r>
            <a:r>
              <a:rPr sz="831" i="0">
                <a:solidFill>
                  <a:srgbClr val="7FDBCA"/>
                </a:solidFill>
                <a:latin typeface="Inconsolata"/>
              </a:rPr>
              <a:t>BaseModel</a:t>
            </a:r>
          </a:p>
          <a:p>
            <a:pPr>
              <a:lnSpc>
                <a:spcPct val="110227"/>
              </a:lnSpc>
              <a:spcAft>
                <a:spcPts val="0"/>
              </a:spcAft>
            </a:pPr>
            <a:r>
              <a:rPr sz="831" i="0">
                <a:solidFill>
                  <a:srgbClr val="5C6773"/>
                </a:solidFill>
                <a:latin typeface="Inconsolata"/>
              </a:rPr>
              <a:t>11  </a:t>
            </a:r>
            <a:r>
              <a:rPr sz="831" i="0">
                <a:solidFill>
                  <a:srgbClr val="E6EDF3"/>
                </a:solidFill>
                <a:latin typeface="Inconsolata"/>
              </a:rPr>
              <a:t> </a:t>
            </a:r>
          </a:p>
          <a:p>
            <a:pPr>
              <a:lnSpc>
                <a:spcPct val="110227"/>
              </a:lnSpc>
              <a:spcAft>
                <a:spcPts val="0"/>
              </a:spcAft>
            </a:pPr>
            <a:r>
              <a:rPr sz="831" i="0">
                <a:solidFill>
                  <a:srgbClr val="5C6773"/>
                </a:solidFill>
                <a:latin typeface="Inconsolata"/>
              </a:rPr>
              <a:t>12  </a:t>
            </a:r>
            <a:r>
              <a:rPr sz="831" i="0">
                <a:solidFill>
                  <a:srgbClr val="E6EDF3"/>
                </a:solidFill>
                <a:latin typeface="Inconsolata"/>
              </a:rPr>
              <a:t>app = </a:t>
            </a:r>
            <a:r>
              <a:rPr sz="831" i="0">
                <a:solidFill>
                  <a:srgbClr val="7FDBCA"/>
                </a:solidFill>
                <a:latin typeface="Inconsolata"/>
              </a:rPr>
              <a:t>FastAPI</a:t>
            </a:r>
            <a:r>
              <a:rPr sz="831" i="0">
                <a:solidFill>
                  <a:srgbClr val="E6EDF3"/>
                </a:solidFill>
                <a:latin typeface="Inconsolata"/>
              </a:rPr>
              <a:t>()</a:t>
            </a:r>
          </a:p>
          <a:p>
            <a:pPr>
              <a:lnSpc>
                <a:spcPct val="110227"/>
              </a:lnSpc>
              <a:spcAft>
                <a:spcPts val="0"/>
              </a:spcAft>
            </a:pPr>
            <a:r>
              <a:rPr sz="831" i="0">
                <a:solidFill>
                  <a:srgbClr val="5C6773"/>
                </a:solidFill>
                <a:latin typeface="Inconsolata"/>
              </a:rPr>
              <a:t>13  </a:t>
            </a:r>
            <a:r>
              <a:rPr sz="831" i="0">
                <a:solidFill>
                  <a:srgbClr val="7FDBCA"/>
                </a:solidFill>
                <a:latin typeface="Inconsolata"/>
              </a:rPr>
              <a:t>PRODUCTS</a:t>
            </a:r>
            <a:r>
              <a:rPr sz="831" i="0">
                <a:solidFill>
                  <a:srgbClr val="E6EDF3"/>
                </a:solidFill>
                <a:latin typeface="Inconsolata"/>
              </a:rPr>
              <a:t>: </a:t>
            </a:r>
            <a:r>
              <a:rPr sz="831" i="0">
                <a:solidFill>
                  <a:srgbClr val="C3A6FF"/>
                </a:solidFill>
                <a:latin typeface="Inconsolata"/>
              </a:rPr>
              <a:t>dict</a:t>
            </a:r>
            <a:r>
              <a:rPr sz="831" i="0">
                <a:solidFill>
                  <a:srgbClr val="E6EDF3"/>
                </a:solidFill>
                <a:latin typeface="Inconsolata"/>
              </a:rPr>
              <a:t>[</a:t>
            </a:r>
            <a:r>
              <a:rPr sz="831" i="0">
                <a:solidFill>
                  <a:srgbClr val="C3A6FF"/>
                </a:solidFill>
                <a:latin typeface="Inconsolata"/>
              </a:rPr>
              <a:t>int</a:t>
            </a:r>
            <a:r>
              <a:rPr sz="831" i="0">
                <a:solidFill>
                  <a:srgbClr val="E6EDF3"/>
                </a:solidFill>
                <a:latin typeface="Inconsolata"/>
              </a:rPr>
              <a:t>, </a:t>
            </a:r>
            <a:r>
              <a:rPr sz="831" i="0">
                <a:solidFill>
                  <a:srgbClr val="C3A6FF"/>
                </a:solidFill>
                <a:latin typeface="Inconsolata"/>
              </a:rPr>
              <a:t>dict</a:t>
            </a:r>
            <a:r>
              <a:rPr sz="831" i="0">
                <a:solidFill>
                  <a:srgbClr val="E6EDF3"/>
                </a:solidFill>
                <a:latin typeface="Inconsolata"/>
              </a:rPr>
              <a:t>] = {}</a:t>
            </a:r>
          </a:p>
          <a:p>
            <a:pPr>
              <a:lnSpc>
                <a:spcPct val="110227"/>
              </a:lnSpc>
              <a:spcAft>
                <a:spcPts val="0"/>
              </a:spcAft>
            </a:pPr>
            <a:r>
              <a:rPr sz="831" i="0">
                <a:solidFill>
                  <a:srgbClr val="5C6773"/>
                </a:solidFill>
                <a:latin typeface="Inconsolata"/>
              </a:rPr>
              <a:t>14  </a:t>
            </a:r>
            <a:r>
              <a:rPr sz="831" i="0">
                <a:solidFill>
                  <a:srgbClr val="E6EDF3"/>
                </a:solidFill>
                <a:latin typeface="Inconsolata"/>
              </a:rPr>
              <a:t> </a:t>
            </a:r>
          </a:p>
          <a:p>
            <a:pPr>
              <a:lnSpc>
                <a:spcPct val="110227"/>
              </a:lnSpc>
              <a:spcAft>
                <a:spcPts val="0"/>
              </a:spcAft>
            </a:pPr>
            <a:r>
              <a:rPr sz="831" i="0">
                <a:solidFill>
                  <a:srgbClr val="5C6773"/>
                </a:solidFill>
                <a:latin typeface="Inconsolata"/>
              </a:rPr>
              <a:t>15  </a:t>
            </a:r>
            <a:r>
              <a:rPr sz="831" i="0">
                <a:solidFill>
                  <a:srgbClr val="E6EDF3"/>
                </a:solidFill>
                <a:latin typeface="Inconsolata"/>
              </a:rPr>
              <a:t> </a:t>
            </a:r>
          </a:p>
          <a:p>
            <a:pPr>
              <a:lnSpc>
                <a:spcPct val="110227"/>
              </a:lnSpc>
              <a:spcAft>
                <a:spcPts val="0"/>
              </a:spcAft>
            </a:pPr>
            <a:r>
              <a:rPr sz="831" i="0">
                <a:solidFill>
                  <a:srgbClr val="5C6773"/>
                </a:solidFill>
                <a:latin typeface="Inconsolata"/>
              </a:rPr>
              <a:t>16  </a:t>
            </a:r>
            <a:r>
              <a:rPr sz="831" i="0">
                <a:solidFill>
                  <a:srgbClr val="FF8E6E"/>
                </a:solidFill>
                <a:latin typeface="Inconsolata"/>
              </a:rPr>
              <a:t>class</a:t>
            </a:r>
            <a:r>
              <a:rPr sz="831" i="0">
                <a:solidFill>
                  <a:srgbClr val="E6EDF3"/>
                </a:solidFill>
                <a:latin typeface="Inconsolata"/>
              </a:rPr>
              <a:t> </a:t>
            </a:r>
            <a:r>
              <a:rPr sz="831" i="0">
                <a:solidFill>
                  <a:srgbClr val="7FDBCA"/>
                </a:solidFill>
                <a:latin typeface="Inconsolata"/>
              </a:rPr>
              <a:t>Product</a:t>
            </a:r>
            <a:r>
              <a:rPr sz="831" i="0">
                <a:solidFill>
                  <a:srgbClr val="E6EDF3"/>
                </a:solidFill>
                <a:latin typeface="Inconsolata"/>
              </a:rPr>
              <a:t>(</a:t>
            </a:r>
            <a:r>
              <a:rPr sz="831" i="0">
                <a:solidFill>
                  <a:srgbClr val="7FDBCA"/>
                </a:solidFill>
                <a:latin typeface="Inconsolata"/>
              </a:rPr>
              <a:t>BaseModel</a:t>
            </a:r>
            <a:r>
              <a:rPr sz="831" i="0">
                <a:solidFill>
                  <a:srgbClr val="E6EDF3"/>
                </a:solidFill>
                <a:latin typeface="Inconsolata"/>
              </a:rPr>
              <a:t>):</a:t>
            </a:r>
          </a:p>
          <a:p>
            <a:pPr>
              <a:lnSpc>
                <a:spcPct val="110227"/>
              </a:lnSpc>
              <a:spcAft>
                <a:spcPts val="0"/>
              </a:spcAft>
            </a:pPr>
            <a:r>
              <a:rPr sz="831" i="0">
                <a:solidFill>
                  <a:srgbClr val="5C6773"/>
                </a:solidFill>
                <a:latin typeface="Inconsolata"/>
              </a:rPr>
              <a:t>17  </a:t>
            </a:r>
            <a:r>
              <a:rPr sz="831" i="0">
                <a:solidFill>
                  <a:srgbClr val="E6EDF3"/>
                </a:solidFill>
                <a:latin typeface="Inconsolata"/>
              </a:rPr>
              <a:t>    id: </a:t>
            </a:r>
            <a:r>
              <a:rPr sz="831" i="0">
                <a:solidFill>
                  <a:srgbClr val="C3A6FF"/>
                </a:solidFill>
                <a:latin typeface="Inconsolata"/>
              </a:rPr>
              <a:t>int</a:t>
            </a:r>
          </a:p>
          <a:p>
            <a:pPr>
              <a:lnSpc>
                <a:spcPct val="110227"/>
              </a:lnSpc>
              <a:spcAft>
                <a:spcPts val="0"/>
              </a:spcAft>
            </a:pPr>
            <a:r>
              <a:rPr sz="831" i="0">
                <a:solidFill>
                  <a:srgbClr val="5C6773"/>
                </a:solidFill>
                <a:latin typeface="Inconsolata"/>
              </a:rPr>
              <a:t>18  </a:t>
            </a:r>
            <a:r>
              <a:rPr sz="831" i="0">
                <a:solidFill>
                  <a:srgbClr val="E6EDF3"/>
                </a:solidFill>
                <a:latin typeface="Inconsolata"/>
              </a:rPr>
              <a:t>    name: </a:t>
            </a:r>
            <a:r>
              <a:rPr sz="831" i="0">
                <a:solidFill>
                  <a:srgbClr val="C3A6FF"/>
                </a:solidFill>
                <a:latin typeface="Inconsolata"/>
              </a:rPr>
              <a:t>str</a:t>
            </a:r>
          </a:p>
          <a:p>
            <a:pPr>
              <a:lnSpc>
                <a:spcPct val="110227"/>
              </a:lnSpc>
              <a:spcAft>
                <a:spcPts val="0"/>
              </a:spcAft>
            </a:pPr>
            <a:r>
              <a:rPr sz="831" i="0">
                <a:solidFill>
                  <a:srgbClr val="5C6773"/>
                </a:solidFill>
                <a:latin typeface="Inconsolata"/>
              </a:rPr>
              <a:t>19  </a:t>
            </a:r>
            <a:r>
              <a:rPr sz="831" i="0">
                <a:solidFill>
                  <a:srgbClr val="E6EDF3"/>
                </a:solidFill>
                <a:latin typeface="Inconsolata"/>
              </a:rPr>
              <a:t>    price: </a:t>
            </a:r>
            <a:r>
              <a:rPr sz="831" i="0">
                <a:solidFill>
                  <a:srgbClr val="C3A6FF"/>
                </a:solidFill>
                <a:latin typeface="Inconsolata"/>
              </a:rPr>
              <a:t>int</a:t>
            </a:r>
          </a:p>
          <a:p>
            <a:pPr>
              <a:lnSpc>
                <a:spcPct val="110227"/>
              </a:lnSpc>
              <a:spcAft>
                <a:spcPts val="0"/>
              </a:spcAft>
            </a:pPr>
            <a:r>
              <a:rPr sz="831" i="0">
                <a:solidFill>
                  <a:srgbClr val="5C6773"/>
                </a:solidFill>
                <a:latin typeface="Inconsolata"/>
              </a:rPr>
              <a:t>20  </a:t>
            </a:r>
            <a:r>
              <a:rPr sz="831" i="0">
                <a:solidFill>
                  <a:srgbClr val="E6EDF3"/>
                </a:solidFill>
                <a:latin typeface="Inconsolata"/>
              </a:rPr>
              <a:t>    cost_price: </a:t>
            </a:r>
            <a:r>
              <a:rPr sz="831" i="0">
                <a:solidFill>
                  <a:srgbClr val="C3A6FF"/>
                </a:solidFill>
                <a:latin typeface="Inconsolata"/>
              </a:rPr>
              <a:t>int</a:t>
            </a:r>
            <a:r>
              <a:rPr sz="831" i="0">
                <a:solidFill>
                  <a:srgbClr val="E6EDF3"/>
                </a:solidFill>
                <a:latin typeface="Inconsolata"/>
              </a:rPr>
              <a:t>      </a:t>
            </a:r>
            <a:r>
              <a:rPr sz="831" i="1">
                <a:solidFill>
                  <a:srgbClr val="8B98A8"/>
                </a:solidFill>
                <a:latin typeface="Inconsolata"/>
              </a:rPr>
              <a:t># harga modal, hanya untuk internal</a:t>
            </a:r>
          </a:p>
          <a:p>
            <a:pPr>
              <a:lnSpc>
                <a:spcPct val="110227"/>
              </a:lnSpc>
              <a:spcAft>
                <a:spcPts val="0"/>
              </a:spcAft>
            </a:pPr>
            <a:r>
              <a:rPr sz="831" i="0">
                <a:solidFill>
                  <a:srgbClr val="5C6773"/>
                </a:solidFill>
                <a:latin typeface="Inconsolata"/>
              </a:rPr>
              <a:t>21  </a:t>
            </a:r>
            <a:r>
              <a:rPr sz="831" i="0">
                <a:solidFill>
                  <a:srgbClr val="E6EDF3"/>
                </a:solidFill>
                <a:latin typeface="Inconsolata"/>
              </a:rPr>
              <a:t>    stock: </a:t>
            </a:r>
            <a:r>
              <a:rPr sz="831" i="0">
                <a:solidFill>
                  <a:srgbClr val="C3A6FF"/>
                </a:solidFill>
                <a:latin typeface="Inconsolata"/>
              </a:rPr>
              <a:t>int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02-schemas/before.py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10227"/>
              </a:lnSpc>
              <a:spcAft>
                <a:spcPts val="0"/>
              </a:spcAft>
            </a:pPr>
            <a:r>
              <a:rPr sz="831" i="0">
                <a:solidFill>
                  <a:srgbClr val="5C6773"/>
                </a:solidFill>
                <a:latin typeface="Inconsolata"/>
              </a:rPr>
              <a:t>24  </a:t>
            </a:r>
            <a:r>
              <a:rPr sz="831" i="0">
                <a:solidFill>
                  <a:srgbClr val="F9C97A"/>
                </a:solidFill>
                <a:latin typeface="Inconsolata"/>
              </a:rPr>
              <a:t>@app.post</a:t>
            </a:r>
            <a:r>
              <a:rPr sz="831" i="0">
                <a:solidFill>
                  <a:srgbClr val="E6EDF3"/>
                </a:solidFill>
                <a:latin typeface="Inconsolata"/>
              </a:rPr>
              <a:t>(</a:t>
            </a:r>
            <a:r>
              <a:rPr sz="831" i="0">
                <a:solidFill>
                  <a:srgbClr val="A5D6A7"/>
                </a:solidFill>
                <a:latin typeface="Inconsolata"/>
              </a:rPr>
              <a:t>"/products"</a:t>
            </a:r>
            <a:r>
              <a:rPr sz="831" i="0">
                <a:solidFill>
                  <a:srgbClr val="E6EDF3"/>
                </a:solidFill>
                <a:latin typeface="Inconsolata"/>
              </a:rPr>
              <a:t>, status_code=</a:t>
            </a:r>
            <a:r>
              <a:rPr sz="831" i="0">
                <a:solidFill>
                  <a:srgbClr val="F9C97A"/>
                </a:solidFill>
                <a:latin typeface="Inconsolata"/>
              </a:rPr>
              <a:t>201</a:t>
            </a:r>
            <a:r>
              <a:rPr sz="831" i="0">
                <a:solidFill>
                  <a:srgbClr val="E6EDF3"/>
                </a:solidFill>
                <a:latin typeface="Inconsolata"/>
              </a:rPr>
              <a:t>)</a:t>
            </a:r>
          </a:p>
          <a:p>
            <a:pPr>
              <a:lnSpc>
                <a:spcPct val="110227"/>
              </a:lnSpc>
              <a:spcAft>
                <a:spcPts val="0"/>
              </a:spcAft>
            </a:pPr>
            <a:r>
              <a:rPr sz="831" i="0">
                <a:solidFill>
                  <a:srgbClr val="5C6773"/>
                </a:solidFill>
                <a:latin typeface="Inconsolata"/>
              </a:rPr>
              <a:t>25  </a:t>
            </a:r>
            <a:r>
              <a:rPr sz="831" i="0">
                <a:solidFill>
                  <a:srgbClr val="FF8E6E"/>
                </a:solidFill>
                <a:latin typeface="Inconsolata"/>
              </a:rPr>
              <a:t>def</a:t>
            </a:r>
            <a:r>
              <a:rPr sz="831" i="0">
                <a:solidFill>
                  <a:srgbClr val="E6EDF3"/>
                </a:solidFill>
                <a:latin typeface="Inconsolata"/>
              </a:rPr>
              <a:t> </a:t>
            </a:r>
            <a:r>
              <a:rPr sz="831" i="0">
                <a:solidFill>
                  <a:srgbClr val="82B1FF"/>
                </a:solidFill>
                <a:latin typeface="Inconsolata"/>
              </a:rPr>
              <a:t>create_product</a:t>
            </a:r>
            <a:r>
              <a:rPr sz="831" i="0">
                <a:solidFill>
                  <a:srgbClr val="E6EDF3"/>
                </a:solidFill>
                <a:latin typeface="Inconsolata"/>
              </a:rPr>
              <a:t>(product: </a:t>
            </a:r>
            <a:r>
              <a:rPr sz="831" i="0">
                <a:solidFill>
                  <a:srgbClr val="7FDBCA"/>
                </a:solidFill>
                <a:latin typeface="Inconsolata"/>
              </a:rPr>
              <a:t>Product</a:t>
            </a:r>
            <a:r>
              <a:rPr sz="831" i="0">
                <a:solidFill>
                  <a:srgbClr val="E6EDF3"/>
                </a:solidFill>
                <a:latin typeface="Inconsolata"/>
              </a:rPr>
              <a:t>):</a:t>
            </a:r>
          </a:p>
          <a:p>
            <a:pPr>
              <a:lnSpc>
                <a:spcPct val="110227"/>
              </a:lnSpc>
              <a:spcAft>
                <a:spcPts val="0"/>
              </a:spcAft>
            </a:pPr>
            <a:r>
              <a:rPr sz="831" i="0">
                <a:solidFill>
                  <a:srgbClr val="5C6773"/>
                </a:solidFill>
                <a:latin typeface="Inconsolata"/>
              </a:rPr>
              <a:t>26  </a:t>
            </a:r>
            <a:r>
              <a:rPr sz="831" i="0">
                <a:solidFill>
                  <a:srgbClr val="E6EDF3"/>
                </a:solidFill>
                <a:latin typeface="Inconsolata"/>
              </a:rPr>
              <a:t>    </a:t>
            </a:r>
            <a:r>
              <a:rPr sz="831" i="0">
                <a:solidFill>
                  <a:srgbClr val="7FDBCA"/>
                </a:solidFill>
                <a:latin typeface="Inconsolata"/>
              </a:rPr>
              <a:t>PRODUCTS</a:t>
            </a:r>
            <a:r>
              <a:rPr sz="831" i="0">
                <a:solidFill>
                  <a:srgbClr val="E6EDF3"/>
                </a:solidFill>
                <a:latin typeface="Inconsolata"/>
              </a:rPr>
              <a:t>[product.id] = product.model_dump()</a:t>
            </a:r>
          </a:p>
          <a:p>
            <a:pPr>
              <a:lnSpc>
                <a:spcPct val="110227"/>
              </a:lnSpc>
              <a:spcAft>
                <a:spcPts val="0"/>
              </a:spcAft>
            </a:pPr>
            <a:r>
              <a:rPr sz="831" i="0">
                <a:solidFill>
                  <a:srgbClr val="5C6773"/>
                </a:solidFill>
                <a:latin typeface="Inconsolata"/>
              </a:rPr>
              <a:t>27  </a:t>
            </a:r>
            <a:r>
              <a:rPr sz="831" i="0">
                <a:solidFill>
                  <a:srgbClr val="E6EDF3"/>
                </a:solidFill>
                <a:latin typeface="Inconsolata"/>
              </a:rPr>
              <a:t>    </a:t>
            </a:r>
            <a:r>
              <a:rPr sz="831" i="0">
                <a:solidFill>
                  <a:srgbClr val="FF8E6E"/>
                </a:solidFill>
                <a:latin typeface="Inconsolata"/>
              </a:rPr>
              <a:t>return</a:t>
            </a:r>
            <a:r>
              <a:rPr sz="831" i="0">
                <a:solidFill>
                  <a:srgbClr val="E6EDF3"/>
                </a:solidFill>
                <a:latin typeface="Inconsolata"/>
              </a:rPr>
              <a:t> </a:t>
            </a:r>
            <a:r>
              <a:rPr sz="831" i="0">
                <a:solidFill>
                  <a:srgbClr val="7FDBCA"/>
                </a:solidFill>
                <a:latin typeface="Inconsolata"/>
              </a:rPr>
              <a:t>PRODUCTS</a:t>
            </a:r>
            <a:r>
              <a:rPr sz="831" i="0">
                <a:solidFill>
                  <a:srgbClr val="E6EDF3"/>
                </a:solidFill>
                <a:latin typeface="Inconsolata"/>
              </a:rPr>
              <a:t>[product.id]  </a:t>
            </a:r>
            <a:r>
              <a:rPr sz="831" i="1">
                <a:solidFill>
                  <a:srgbClr val="8B98A8"/>
                </a:solidFill>
                <a:latin typeface="Inconsolata"/>
              </a:rPr>
              <a:t># cost_price ikut terkirim</a:t>
            </a:r>
          </a:p>
          <a:p>
            <a:pPr>
              <a:lnSpc>
                <a:spcPct val="110227"/>
              </a:lnSpc>
              <a:spcAft>
                <a:spcPts val="0"/>
              </a:spcAft>
            </a:pPr>
            <a:r>
              <a:rPr sz="831" i="0">
                <a:solidFill>
                  <a:srgbClr val="5C6773"/>
                </a:solidFill>
                <a:latin typeface="Inconsolata"/>
              </a:rPr>
              <a:t>28  </a:t>
            </a:r>
            <a:r>
              <a:rPr sz="831" i="0">
                <a:solidFill>
                  <a:srgbClr val="E6EDF3"/>
                </a:solidFill>
                <a:latin typeface="Inconsolata"/>
              </a:rPr>
              <a:t> </a:t>
            </a:r>
          </a:p>
          <a:p>
            <a:pPr>
              <a:lnSpc>
                <a:spcPct val="110227"/>
              </a:lnSpc>
              <a:spcAft>
                <a:spcPts val="0"/>
              </a:spcAft>
            </a:pPr>
            <a:r>
              <a:rPr sz="831" i="0">
                <a:solidFill>
                  <a:srgbClr val="5C6773"/>
                </a:solidFill>
                <a:latin typeface="Inconsolata"/>
              </a:rPr>
              <a:t>29  </a:t>
            </a:r>
            <a:r>
              <a:rPr sz="831" i="0">
                <a:solidFill>
                  <a:srgbClr val="E6EDF3"/>
                </a:solidFill>
                <a:latin typeface="Inconsolata"/>
              </a:rPr>
              <a:t> </a:t>
            </a:r>
          </a:p>
          <a:p>
            <a:pPr>
              <a:lnSpc>
                <a:spcPct val="110227"/>
              </a:lnSpc>
              <a:spcAft>
                <a:spcPts val="0"/>
              </a:spcAft>
            </a:pPr>
            <a:r>
              <a:rPr sz="831" i="0">
                <a:solidFill>
                  <a:srgbClr val="5C6773"/>
                </a:solidFill>
                <a:latin typeface="Inconsolata"/>
              </a:rPr>
              <a:t>30  </a:t>
            </a:r>
            <a:r>
              <a:rPr sz="831" i="0">
                <a:solidFill>
                  <a:srgbClr val="F9C97A"/>
                </a:solidFill>
                <a:latin typeface="Inconsolata"/>
              </a:rPr>
              <a:t>@app.get</a:t>
            </a:r>
            <a:r>
              <a:rPr sz="831" i="0">
                <a:solidFill>
                  <a:srgbClr val="E6EDF3"/>
                </a:solidFill>
                <a:latin typeface="Inconsolata"/>
              </a:rPr>
              <a:t>(</a:t>
            </a:r>
            <a:r>
              <a:rPr sz="831" i="0">
                <a:solidFill>
                  <a:srgbClr val="A5D6A7"/>
                </a:solidFill>
                <a:latin typeface="Inconsolata"/>
              </a:rPr>
              <a:t>"/products/{product_id}"</a:t>
            </a:r>
            <a:r>
              <a:rPr sz="831" i="0">
                <a:solidFill>
                  <a:srgbClr val="E6EDF3"/>
                </a:solidFill>
                <a:latin typeface="Inconsolata"/>
              </a:rPr>
              <a:t>)</a:t>
            </a:r>
          </a:p>
          <a:p>
            <a:pPr>
              <a:lnSpc>
                <a:spcPct val="110227"/>
              </a:lnSpc>
              <a:spcAft>
                <a:spcPts val="0"/>
              </a:spcAft>
            </a:pPr>
            <a:r>
              <a:rPr sz="831" i="0">
                <a:solidFill>
                  <a:srgbClr val="5C6773"/>
                </a:solidFill>
                <a:latin typeface="Inconsolata"/>
              </a:rPr>
              <a:t>31  </a:t>
            </a:r>
            <a:r>
              <a:rPr sz="831" i="0">
                <a:solidFill>
                  <a:srgbClr val="FF8E6E"/>
                </a:solidFill>
                <a:latin typeface="Inconsolata"/>
              </a:rPr>
              <a:t>def</a:t>
            </a:r>
            <a:r>
              <a:rPr sz="831" i="0">
                <a:solidFill>
                  <a:srgbClr val="E6EDF3"/>
                </a:solidFill>
                <a:latin typeface="Inconsolata"/>
              </a:rPr>
              <a:t> </a:t>
            </a:r>
            <a:r>
              <a:rPr sz="831" i="0">
                <a:solidFill>
                  <a:srgbClr val="82B1FF"/>
                </a:solidFill>
                <a:latin typeface="Inconsolata"/>
              </a:rPr>
              <a:t>get_product</a:t>
            </a:r>
            <a:r>
              <a:rPr sz="831" i="0">
                <a:solidFill>
                  <a:srgbClr val="E6EDF3"/>
                </a:solidFill>
                <a:latin typeface="Inconsolata"/>
              </a:rPr>
              <a:t>(product_id: </a:t>
            </a:r>
            <a:r>
              <a:rPr sz="831" i="0">
                <a:solidFill>
                  <a:srgbClr val="C3A6FF"/>
                </a:solidFill>
                <a:latin typeface="Inconsolata"/>
              </a:rPr>
              <a:t>int</a:t>
            </a:r>
            <a:r>
              <a:rPr sz="831" i="0">
                <a:solidFill>
                  <a:srgbClr val="E6EDF3"/>
                </a:solidFill>
                <a:latin typeface="Inconsolata"/>
              </a:rPr>
              <a:t>):</a:t>
            </a:r>
          </a:p>
          <a:p>
            <a:pPr>
              <a:lnSpc>
                <a:spcPct val="110227"/>
              </a:lnSpc>
              <a:spcAft>
                <a:spcPts val="0"/>
              </a:spcAft>
            </a:pPr>
            <a:r>
              <a:rPr sz="831" i="0">
                <a:solidFill>
                  <a:srgbClr val="5C6773"/>
                </a:solidFill>
                <a:latin typeface="Inconsolata"/>
              </a:rPr>
              <a:t>32  </a:t>
            </a:r>
            <a:r>
              <a:rPr sz="831" i="0">
                <a:solidFill>
                  <a:srgbClr val="E6EDF3"/>
                </a:solidFill>
                <a:latin typeface="Inconsolata"/>
              </a:rPr>
              <a:t>    </a:t>
            </a:r>
            <a:r>
              <a:rPr sz="831" i="0">
                <a:solidFill>
                  <a:srgbClr val="FF8E6E"/>
                </a:solidFill>
                <a:latin typeface="Inconsolata"/>
              </a:rPr>
              <a:t>return</a:t>
            </a:r>
            <a:r>
              <a:rPr sz="831" i="0">
                <a:solidFill>
                  <a:srgbClr val="E6EDF3"/>
                </a:solidFill>
                <a:latin typeface="Inconsolata"/>
              </a:rPr>
              <a:t> </a:t>
            </a:r>
            <a:r>
              <a:rPr sz="831" i="0">
                <a:solidFill>
                  <a:srgbClr val="7FDBCA"/>
                </a:solidFill>
                <a:latin typeface="Inconsolata"/>
              </a:rPr>
              <a:t>PRODUCTS</a:t>
            </a:r>
            <a:r>
              <a:rPr sz="831" i="0">
                <a:solidFill>
                  <a:srgbClr val="E6EDF3"/>
                </a:solidFill>
                <a:latin typeface="Inconsolata"/>
              </a:rPr>
              <a:t>[product_id]</a:t>
            </a:r>
          </a:p>
        </p:txBody>
      </p:sp>
      <p:sp>
        <p:nvSpPr>
          <p:cNvPr id="36" name="Box 21"/>
          <p:cNvSpPr/>
          <p:nvPr/>
        </p:nvSpPr>
        <p:spPr>
          <a:xfrm>
            <a:off x="704088" y="2946273"/>
            <a:ext cx="3694176"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8930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365373"/>
            <a:ext cx="3694176"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3121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247773"/>
            <a:ext cx="3694176"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1945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Schemas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02-schemas/before.py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sesi-04-modular-fastapi-orm-transactions/02-schemas</a:t>
            </a:r>
          </a:p>
          <a:p>
            <a:pPr>
              <a:lnSpc>
                <a:spcPct val="107527"/>
              </a:lnSpc>
              <a:spcAft>
                <a:spcPts val="0"/>
              </a:spcAft>
            </a:pPr>
            <a:r>
              <a:rPr sz="775" i="0">
                <a:solidFill>
                  <a:srgbClr val="82B1FF"/>
                </a:solidFill>
                <a:latin typeface="Inconsolata"/>
              </a:rPr>
              <a:t>$ uvicorn before:app --reload</a:t>
            </a:r>
          </a:p>
        </p:txBody>
      </p:sp>
      <p:pic>
        <p:nvPicPr>
          <p:cNvPr id="29" name="Image 12" descr="s04-02-schemas-before.png"/>
          <p:cNvPicPr>
            <a:picLocks noChangeAspect="1"/>
          </p:cNvPicPr>
          <p:nvPr/>
        </p:nvPicPr>
        <p:blipFill>
          <a:blip r:embed="rId2"/>
          <a:stretch>
            <a:fillRect/>
          </a:stretch>
        </p:blipFill>
        <p:spPr>
          <a:xfrm>
            <a:off x="621792" y="2240280"/>
            <a:ext cx="4297680" cy="1239965"/>
          </a:xfrm>
          <a:prstGeom prst="rect">
            <a:avLst/>
          </a:prstGeom>
        </p:spPr>
      </p:pic>
      <p:sp>
        <p:nvSpPr>
          <p:cNvPr id="30" name="Text 13"/>
          <p:cNvSpPr txBox="1"/>
          <p:nvPr/>
        </p:nvSpPr>
        <p:spPr>
          <a:xfrm>
            <a:off x="621792" y="3525965"/>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/products di Swagger: cost_price ikut terkirim ke client</a:t>
            </a:r>
          </a:p>
        </p:txBody>
      </p:sp>
      <p:sp>
        <p:nvSpPr>
          <p:cNvPr id="31" name="Box 14"/>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Client mengirim </a:t>
            </a:r>
            <a:r>
              <a:rPr sz="950" b="0" i="0">
                <a:solidFill>
                  <a:srgbClr val="B5482A"/>
                </a:solidFill>
                <a:latin typeface="Inconsolata"/>
              </a:rPr>
              <a:t>id</a:t>
            </a:r>
            <a:r>
              <a:rPr sz="950" b="0" i="0">
                <a:solidFill>
                  <a:srgbClr val="434343"/>
                </a:solidFill>
                <a:latin typeface="Inter"/>
              </a:rPr>
              <a:t> sendiri, bisa bentrok dengan data lain (baris 17)</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cost_price</a:t>
            </a:r>
            <a:r>
              <a:rPr sz="950" b="0" i="0">
                <a:solidFill>
                  <a:srgbClr val="434343"/>
                </a:solidFill>
                <a:latin typeface="Inter"/>
              </a:rPr>
              <a:t> (harga modal) ada di model yang sama dengan response (baris 20)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Response mengembalikan semua field, termasuk </a:t>
            </a:r>
            <a:r>
              <a:rPr sz="950" b="0" i="0">
                <a:solidFill>
                  <a:srgbClr val="B5482A"/>
                </a:solidFill>
                <a:latin typeface="Inconsolata"/>
              </a:rPr>
              <a:t>cost_price</a:t>
            </a:r>
            <a:r>
              <a:rPr sz="950" b="0" i="0">
                <a:solidFill>
                  <a:srgbClr val="434343"/>
                </a:solidFill>
                <a:latin typeface="Inter"/>
              </a:rPr>
              <a:t> (baris 27])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Schemas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Schema request dan response dipisah</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02-schemas/after.py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11  </a:t>
            </a:r>
            <a:r>
              <a:rPr sz="760" i="0">
                <a:solidFill>
                  <a:srgbClr val="FF8E6E"/>
                </a:solidFill>
                <a:latin typeface="Inconsolata"/>
              </a:rPr>
              <a:t>from</a:t>
            </a:r>
            <a:r>
              <a:rPr sz="760" i="0">
                <a:solidFill>
                  <a:srgbClr val="E6EDF3"/>
                </a:solidFill>
                <a:latin typeface="Inconsolata"/>
              </a:rPr>
              <a:t> fastapi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FastAPI</a:t>
            </a:r>
          </a:p>
          <a:p>
            <a:pPr>
              <a:lnSpc>
                <a:spcPct val="109601"/>
              </a:lnSpc>
              <a:spcAft>
                <a:spcPts val="0"/>
              </a:spcAft>
            </a:pPr>
            <a:r>
              <a:rPr sz="760" i="0">
                <a:solidFill>
                  <a:srgbClr val="5C6773"/>
                </a:solidFill>
                <a:latin typeface="Inconsolata"/>
              </a:rPr>
              <a:t>12  </a:t>
            </a:r>
            <a:r>
              <a:rPr sz="760" i="0">
                <a:solidFill>
                  <a:srgbClr val="FF8E6E"/>
                </a:solidFill>
                <a:latin typeface="Inconsolata"/>
              </a:rPr>
              <a:t>from</a:t>
            </a:r>
            <a:r>
              <a:rPr sz="760" i="0">
                <a:solidFill>
                  <a:srgbClr val="E6EDF3"/>
                </a:solidFill>
                <a:latin typeface="Inconsolata"/>
              </a:rPr>
              <a:t> pydantic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BaseModel</a:t>
            </a:r>
            <a:r>
              <a:rPr sz="760" i="0">
                <a:solidFill>
                  <a:srgbClr val="E6EDF3"/>
                </a:solidFill>
                <a:latin typeface="Inconsolata"/>
              </a:rPr>
              <a:t>, </a:t>
            </a:r>
            <a:r>
              <a:rPr sz="760" i="0">
                <a:solidFill>
                  <a:srgbClr val="7FDBCA"/>
                </a:solidFill>
                <a:latin typeface="Inconsolata"/>
              </a:rPr>
              <a:t>Field</a:t>
            </a:r>
          </a:p>
          <a:p>
            <a:pPr>
              <a:lnSpc>
                <a:spcPct val="109601"/>
              </a:lnSpc>
              <a:spcAft>
                <a:spcPts val="0"/>
              </a:spcAft>
            </a:pPr>
            <a:r>
              <a:rPr sz="760" i="0">
                <a:solidFill>
                  <a:srgbClr val="5C6773"/>
                </a:solidFill>
                <a:latin typeface="Inconsolata"/>
              </a:rPr>
              <a:t>13  </a:t>
            </a:r>
            <a:r>
              <a:rPr sz="760" i="0">
                <a:solidFill>
                  <a:srgbClr val="E6EDF3"/>
                </a:solidFill>
                <a:latin typeface="Inconsolata"/>
              </a:rPr>
              <a:t> </a:t>
            </a:r>
          </a:p>
          <a:p>
            <a:pPr>
              <a:lnSpc>
                <a:spcPct val="109601"/>
              </a:lnSpc>
              <a:spcAft>
                <a:spcPts val="0"/>
              </a:spcAft>
            </a:pPr>
            <a:r>
              <a:rPr sz="760" i="0">
                <a:solidFill>
                  <a:srgbClr val="5C6773"/>
                </a:solidFill>
                <a:latin typeface="Inconsolata"/>
              </a:rPr>
              <a:t>14  </a:t>
            </a:r>
            <a:r>
              <a:rPr sz="760" i="0">
                <a:solidFill>
                  <a:srgbClr val="E6EDF3"/>
                </a:solidFill>
                <a:latin typeface="Inconsolata"/>
              </a:rPr>
              <a:t>app = </a:t>
            </a:r>
            <a:r>
              <a:rPr sz="760" i="0">
                <a:solidFill>
                  <a:srgbClr val="7FDBCA"/>
                </a:solidFill>
                <a:latin typeface="Inconsolata"/>
              </a:rPr>
              <a:t>FastAPI</a:t>
            </a:r>
            <a:r>
              <a:rPr sz="760" i="0">
                <a:solidFill>
                  <a:srgbClr val="E6EDF3"/>
                </a:solidFill>
                <a:latin typeface="Inconsolata"/>
              </a:rPr>
              <a:t>()</a:t>
            </a:r>
          </a:p>
          <a:p>
            <a:pPr>
              <a:lnSpc>
                <a:spcPct val="109601"/>
              </a:lnSpc>
              <a:spcAft>
                <a:spcPts val="0"/>
              </a:spcAft>
            </a:pPr>
            <a:r>
              <a:rPr sz="760" i="0">
                <a:solidFill>
                  <a:srgbClr val="5C6773"/>
                </a:solidFill>
                <a:latin typeface="Inconsolata"/>
              </a:rPr>
              <a:t>15  </a:t>
            </a:r>
            <a:r>
              <a:rPr sz="760" i="0">
                <a:solidFill>
                  <a:srgbClr val="7FDBCA"/>
                </a:solidFill>
                <a:latin typeface="Inconsolata"/>
              </a:rPr>
              <a:t>PRODUCTS</a:t>
            </a:r>
            <a:r>
              <a:rPr sz="760" i="0">
                <a:solidFill>
                  <a:srgbClr val="E6EDF3"/>
                </a:solidFill>
                <a:latin typeface="Inconsolata"/>
              </a:rPr>
              <a:t>: </a:t>
            </a:r>
            <a:r>
              <a:rPr sz="760" i="0">
                <a:solidFill>
                  <a:srgbClr val="C3A6FF"/>
                </a:solidFill>
                <a:latin typeface="Inconsolata"/>
              </a:rPr>
              <a:t>dict</a:t>
            </a:r>
            <a:r>
              <a:rPr sz="760" i="0">
                <a:solidFill>
                  <a:srgbClr val="E6EDF3"/>
                </a:solidFill>
                <a:latin typeface="Inconsolata"/>
              </a:rPr>
              <a:t>[</a:t>
            </a:r>
            <a:r>
              <a:rPr sz="760" i="0">
                <a:solidFill>
                  <a:srgbClr val="C3A6FF"/>
                </a:solidFill>
                <a:latin typeface="Inconsolata"/>
              </a:rPr>
              <a:t>int</a:t>
            </a:r>
            <a:r>
              <a:rPr sz="760" i="0">
                <a:solidFill>
                  <a:srgbClr val="E6EDF3"/>
                </a:solidFill>
                <a:latin typeface="Inconsolata"/>
              </a:rPr>
              <a:t>, </a:t>
            </a:r>
            <a:r>
              <a:rPr sz="760" i="0">
                <a:solidFill>
                  <a:srgbClr val="C3A6FF"/>
                </a:solidFill>
                <a:latin typeface="Inconsolata"/>
              </a:rPr>
              <a:t>dict</a:t>
            </a:r>
            <a:r>
              <a:rPr sz="760" i="0">
                <a:solidFill>
                  <a:srgbClr val="E6EDF3"/>
                </a:solidFill>
                <a:latin typeface="Inconsolata"/>
              </a:rPr>
              <a:t>] = {}</a:t>
            </a:r>
          </a:p>
          <a:p>
            <a:pPr>
              <a:lnSpc>
                <a:spcPct val="109601"/>
              </a:lnSpc>
              <a:spcAft>
                <a:spcPts val="0"/>
              </a:spcAft>
            </a:pPr>
            <a:r>
              <a:rPr sz="760" i="0">
                <a:solidFill>
                  <a:srgbClr val="5C6773"/>
                </a:solidFill>
                <a:latin typeface="Inconsolata"/>
              </a:rPr>
              <a:t>16  </a:t>
            </a:r>
            <a:r>
              <a:rPr sz="760" i="0">
                <a:solidFill>
                  <a:srgbClr val="E6EDF3"/>
                </a:solidFill>
                <a:latin typeface="Inconsolata"/>
              </a:rPr>
              <a:t> </a:t>
            </a:r>
          </a:p>
          <a:p>
            <a:pPr>
              <a:lnSpc>
                <a:spcPct val="109601"/>
              </a:lnSpc>
              <a:spcAft>
                <a:spcPts val="0"/>
              </a:spcAft>
            </a:pPr>
            <a:r>
              <a:rPr sz="760" i="0">
                <a:solidFill>
                  <a:srgbClr val="5C6773"/>
                </a:solidFill>
                <a:latin typeface="Inconsolata"/>
              </a:rPr>
              <a:t>17  </a:t>
            </a:r>
            <a:r>
              <a:rPr sz="760" i="0">
                <a:solidFill>
                  <a:srgbClr val="E6EDF3"/>
                </a:solidFill>
                <a:latin typeface="Inconsolata"/>
              </a:rPr>
              <a:t> </a:t>
            </a:r>
          </a:p>
          <a:p>
            <a:pPr>
              <a:lnSpc>
                <a:spcPct val="109601"/>
              </a:lnSpc>
              <a:spcAft>
                <a:spcPts val="0"/>
              </a:spcAft>
            </a:pPr>
            <a:r>
              <a:rPr sz="760" i="0">
                <a:solidFill>
                  <a:srgbClr val="5C6773"/>
                </a:solidFill>
                <a:latin typeface="Inconsolata"/>
              </a:rPr>
              <a:t>18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ProductIn</a:t>
            </a:r>
            <a:r>
              <a:rPr sz="760" i="0">
                <a:solidFill>
                  <a:srgbClr val="E6EDF3"/>
                </a:solidFill>
                <a:latin typeface="Inconsolata"/>
              </a:rPr>
              <a:t>(</a:t>
            </a:r>
            <a:r>
              <a:rPr sz="760" i="0">
                <a:solidFill>
                  <a:srgbClr val="7FDBCA"/>
                </a:solidFill>
                <a:latin typeface="Inconsolata"/>
              </a:rPr>
              <a:t>BaseModel</a:t>
            </a:r>
            <a:r>
              <a:rPr sz="760" i="0">
                <a:solidFill>
                  <a:srgbClr val="E6EDF3"/>
                </a:solidFill>
                <a:latin typeface="Inconsolata"/>
              </a:rPr>
              <a:t>):</a:t>
            </a:r>
          </a:p>
          <a:p>
            <a:pPr>
              <a:lnSpc>
                <a:spcPct val="109601"/>
              </a:lnSpc>
              <a:spcAft>
                <a:spcPts val="0"/>
              </a:spcAft>
            </a:pPr>
            <a:r>
              <a:rPr sz="760" i="0">
                <a:solidFill>
                  <a:srgbClr val="5C6773"/>
                </a:solidFill>
                <a:latin typeface="Inconsolata"/>
              </a:rPr>
              <a:t>19  </a:t>
            </a:r>
            <a:r>
              <a:rPr sz="760" i="0">
                <a:solidFill>
                  <a:srgbClr val="E6EDF3"/>
                </a:solidFill>
                <a:latin typeface="Inconsolata"/>
              </a:rPr>
              <a:t>    name: </a:t>
            </a:r>
            <a:r>
              <a:rPr sz="760" i="0">
                <a:solidFill>
                  <a:srgbClr val="C3A6FF"/>
                </a:solidFill>
                <a:latin typeface="Inconsolata"/>
              </a:rPr>
              <a:t>str</a:t>
            </a:r>
            <a:r>
              <a:rPr sz="760" i="0">
                <a:solidFill>
                  <a:srgbClr val="E6EDF3"/>
                </a:solidFill>
                <a:latin typeface="Inconsolata"/>
              </a:rPr>
              <a:t> = </a:t>
            </a:r>
            <a:r>
              <a:rPr sz="760" i="0">
                <a:solidFill>
                  <a:srgbClr val="7FDBCA"/>
                </a:solidFill>
                <a:latin typeface="Inconsolata"/>
              </a:rPr>
              <a:t>Field</a:t>
            </a:r>
            <a:r>
              <a:rPr sz="760" i="0">
                <a:solidFill>
                  <a:srgbClr val="E6EDF3"/>
                </a:solidFill>
                <a:latin typeface="Inconsolata"/>
              </a:rPr>
              <a:t>(min_length=</a:t>
            </a:r>
            <a:r>
              <a:rPr sz="760" i="0">
                <a:solidFill>
                  <a:srgbClr val="F9C97A"/>
                </a:solidFill>
                <a:latin typeface="Inconsolata"/>
              </a:rPr>
              <a:t>1</a:t>
            </a:r>
            <a:r>
              <a:rPr sz="760" i="0">
                <a:solidFill>
                  <a:srgbClr val="E6EDF3"/>
                </a:solidFill>
                <a:latin typeface="Inconsolata"/>
              </a:rPr>
              <a:t>)</a:t>
            </a:r>
          </a:p>
          <a:p>
            <a:pPr>
              <a:lnSpc>
                <a:spcPct val="109601"/>
              </a:lnSpc>
              <a:spcAft>
                <a:spcPts val="0"/>
              </a:spcAft>
            </a:pPr>
            <a:r>
              <a:rPr sz="760" i="0">
                <a:solidFill>
                  <a:srgbClr val="5C6773"/>
                </a:solidFill>
                <a:latin typeface="Inconsolata"/>
              </a:rPr>
              <a:t>20  </a:t>
            </a:r>
            <a:r>
              <a:rPr sz="760" i="0">
                <a:solidFill>
                  <a:srgbClr val="E6EDF3"/>
                </a:solidFill>
                <a:latin typeface="Inconsolata"/>
              </a:rPr>
              <a:t>    price: </a:t>
            </a:r>
            <a:r>
              <a:rPr sz="760" i="0">
                <a:solidFill>
                  <a:srgbClr val="C3A6FF"/>
                </a:solidFill>
                <a:latin typeface="Inconsolata"/>
              </a:rPr>
              <a:t>int</a:t>
            </a:r>
            <a:r>
              <a:rPr sz="760" i="0">
                <a:solidFill>
                  <a:srgbClr val="E6EDF3"/>
                </a:solidFill>
                <a:latin typeface="Inconsolata"/>
              </a:rPr>
              <a:t> = </a:t>
            </a:r>
            <a:r>
              <a:rPr sz="760" i="0">
                <a:solidFill>
                  <a:srgbClr val="7FDBCA"/>
                </a:solidFill>
                <a:latin typeface="Inconsolata"/>
              </a:rPr>
              <a:t>Field</a:t>
            </a:r>
            <a:r>
              <a:rPr sz="760" i="0">
                <a:solidFill>
                  <a:srgbClr val="E6EDF3"/>
                </a:solidFill>
                <a:latin typeface="Inconsolata"/>
              </a:rPr>
              <a:t>(gt=</a:t>
            </a:r>
            <a:r>
              <a:rPr sz="760" i="0">
                <a:solidFill>
                  <a:srgbClr val="F9C97A"/>
                </a:solidFill>
                <a:latin typeface="Inconsolata"/>
              </a:rPr>
              <a:t>0</a:t>
            </a:r>
            <a:r>
              <a:rPr sz="760" i="0">
                <a:solidFill>
                  <a:srgbClr val="E6EDF3"/>
                </a:solidFill>
                <a:latin typeface="Inconsolata"/>
              </a:rPr>
              <a:t>)</a:t>
            </a:r>
          </a:p>
          <a:p>
            <a:pPr>
              <a:lnSpc>
                <a:spcPct val="109601"/>
              </a:lnSpc>
              <a:spcAft>
                <a:spcPts val="0"/>
              </a:spcAft>
            </a:pPr>
            <a:r>
              <a:rPr sz="760" i="0">
                <a:solidFill>
                  <a:srgbClr val="5C6773"/>
                </a:solidFill>
                <a:latin typeface="Inconsolata"/>
              </a:rPr>
              <a:t>21  </a:t>
            </a:r>
            <a:r>
              <a:rPr sz="760" i="0">
                <a:solidFill>
                  <a:srgbClr val="E6EDF3"/>
                </a:solidFill>
                <a:latin typeface="Inconsolata"/>
              </a:rPr>
              <a:t>    cost_price: </a:t>
            </a:r>
            <a:r>
              <a:rPr sz="760" i="0">
                <a:solidFill>
                  <a:srgbClr val="C3A6FF"/>
                </a:solidFill>
                <a:latin typeface="Inconsolata"/>
              </a:rPr>
              <a:t>int</a:t>
            </a:r>
            <a:r>
              <a:rPr sz="760" i="0">
                <a:solidFill>
                  <a:srgbClr val="E6EDF3"/>
                </a:solidFill>
                <a:latin typeface="Inconsolata"/>
              </a:rPr>
              <a:t> = </a:t>
            </a:r>
            <a:r>
              <a:rPr sz="760" i="0">
                <a:solidFill>
                  <a:srgbClr val="7FDBCA"/>
                </a:solidFill>
                <a:latin typeface="Inconsolata"/>
              </a:rPr>
              <a:t>Field</a:t>
            </a:r>
            <a:r>
              <a:rPr sz="760" i="0">
                <a:solidFill>
                  <a:srgbClr val="E6EDF3"/>
                </a:solidFill>
                <a:latin typeface="Inconsolata"/>
              </a:rPr>
              <a:t>(gt=</a:t>
            </a:r>
            <a:r>
              <a:rPr sz="760" i="0">
                <a:solidFill>
                  <a:srgbClr val="F9C97A"/>
                </a:solidFill>
                <a:latin typeface="Inconsolata"/>
              </a:rPr>
              <a:t>0</a:t>
            </a:r>
            <a:r>
              <a:rPr sz="760" i="0">
                <a:solidFill>
                  <a:srgbClr val="E6EDF3"/>
                </a:solidFill>
                <a:latin typeface="Inconsolata"/>
              </a:rPr>
              <a:t>)</a:t>
            </a:r>
          </a:p>
          <a:p>
            <a:pPr>
              <a:lnSpc>
                <a:spcPct val="109601"/>
              </a:lnSpc>
              <a:spcAft>
                <a:spcPts val="0"/>
              </a:spcAft>
            </a:pPr>
            <a:r>
              <a:rPr sz="760" i="0">
                <a:solidFill>
                  <a:srgbClr val="5C6773"/>
                </a:solidFill>
                <a:latin typeface="Inconsolata"/>
              </a:rPr>
              <a:t>22  </a:t>
            </a:r>
            <a:r>
              <a:rPr sz="760" i="0">
                <a:solidFill>
                  <a:srgbClr val="E6EDF3"/>
                </a:solidFill>
                <a:latin typeface="Inconsolata"/>
              </a:rPr>
              <a:t>    stock: </a:t>
            </a:r>
            <a:r>
              <a:rPr sz="760" i="0">
                <a:solidFill>
                  <a:srgbClr val="C3A6FF"/>
                </a:solidFill>
                <a:latin typeface="Inconsolata"/>
              </a:rPr>
              <a:t>int</a:t>
            </a:r>
            <a:r>
              <a:rPr sz="760" i="0">
                <a:solidFill>
                  <a:srgbClr val="E6EDF3"/>
                </a:solidFill>
                <a:latin typeface="Inconsolata"/>
              </a:rPr>
              <a:t> = </a:t>
            </a:r>
            <a:r>
              <a:rPr sz="760" i="0">
                <a:solidFill>
                  <a:srgbClr val="7FDBCA"/>
                </a:solidFill>
                <a:latin typeface="Inconsolata"/>
              </a:rPr>
              <a:t>Field</a:t>
            </a:r>
            <a:r>
              <a:rPr sz="760" i="0">
                <a:solidFill>
                  <a:srgbClr val="E6EDF3"/>
                </a:solidFill>
                <a:latin typeface="Inconsolata"/>
              </a:rPr>
              <a:t>(ge=</a:t>
            </a:r>
            <a:r>
              <a:rPr sz="760" i="0">
                <a:solidFill>
                  <a:srgbClr val="F9C97A"/>
                </a:solidFill>
                <a:latin typeface="Inconsolata"/>
              </a:rPr>
              <a:t>0</a:t>
            </a:r>
            <a:r>
              <a:rPr sz="760"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02-schemas/after.py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25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ProductOut</a:t>
            </a:r>
            <a:r>
              <a:rPr sz="760" i="0">
                <a:solidFill>
                  <a:srgbClr val="E6EDF3"/>
                </a:solidFill>
                <a:latin typeface="Inconsolata"/>
              </a:rPr>
              <a:t>(</a:t>
            </a:r>
            <a:r>
              <a:rPr sz="760" i="0">
                <a:solidFill>
                  <a:srgbClr val="7FDBCA"/>
                </a:solidFill>
                <a:latin typeface="Inconsolata"/>
              </a:rPr>
              <a:t>BaseModel</a:t>
            </a:r>
            <a:r>
              <a:rPr sz="760" i="0">
                <a:solidFill>
                  <a:srgbClr val="E6EDF3"/>
                </a:solidFill>
                <a:latin typeface="Inconsolata"/>
              </a:rPr>
              <a:t>):</a:t>
            </a:r>
          </a:p>
          <a:p>
            <a:pPr>
              <a:lnSpc>
                <a:spcPct val="109601"/>
              </a:lnSpc>
              <a:spcAft>
                <a:spcPts val="0"/>
              </a:spcAft>
            </a:pPr>
            <a:r>
              <a:rPr sz="760" i="0">
                <a:solidFill>
                  <a:srgbClr val="5C6773"/>
                </a:solidFill>
                <a:latin typeface="Inconsolata"/>
              </a:rPr>
              <a:t>26  </a:t>
            </a:r>
            <a:r>
              <a:rPr sz="760" i="0">
                <a:solidFill>
                  <a:srgbClr val="E6EDF3"/>
                </a:solidFill>
                <a:latin typeface="Inconsolata"/>
              </a:rPr>
              <a:t>    id: </a:t>
            </a:r>
            <a:r>
              <a:rPr sz="760" i="0">
                <a:solidFill>
                  <a:srgbClr val="C3A6FF"/>
                </a:solidFill>
                <a:latin typeface="Inconsolata"/>
              </a:rPr>
              <a:t>int</a:t>
            </a:r>
          </a:p>
          <a:p>
            <a:pPr>
              <a:lnSpc>
                <a:spcPct val="109601"/>
              </a:lnSpc>
              <a:spcAft>
                <a:spcPts val="0"/>
              </a:spcAft>
            </a:pPr>
            <a:r>
              <a:rPr sz="760" i="0">
                <a:solidFill>
                  <a:srgbClr val="5C6773"/>
                </a:solidFill>
                <a:latin typeface="Inconsolata"/>
              </a:rPr>
              <a:t>27  </a:t>
            </a:r>
            <a:r>
              <a:rPr sz="760" i="0">
                <a:solidFill>
                  <a:srgbClr val="E6EDF3"/>
                </a:solidFill>
                <a:latin typeface="Inconsolata"/>
              </a:rPr>
              <a:t>    name: </a:t>
            </a:r>
            <a:r>
              <a:rPr sz="760" i="0">
                <a:solidFill>
                  <a:srgbClr val="C3A6FF"/>
                </a:solidFill>
                <a:latin typeface="Inconsolata"/>
              </a:rPr>
              <a:t>str</a:t>
            </a:r>
          </a:p>
          <a:p>
            <a:pPr>
              <a:lnSpc>
                <a:spcPct val="109601"/>
              </a:lnSpc>
              <a:spcAft>
                <a:spcPts val="0"/>
              </a:spcAft>
            </a:pPr>
            <a:r>
              <a:rPr sz="760" i="0">
                <a:solidFill>
                  <a:srgbClr val="5C6773"/>
                </a:solidFill>
                <a:latin typeface="Inconsolata"/>
              </a:rPr>
              <a:t>28  </a:t>
            </a:r>
            <a:r>
              <a:rPr sz="760" i="0">
                <a:solidFill>
                  <a:srgbClr val="E6EDF3"/>
                </a:solidFill>
                <a:latin typeface="Inconsolata"/>
              </a:rPr>
              <a:t>    price: </a:t>
            </a:r>
            <a:r>
              <a:rPr sz="760" i="0">
                <a:solidFill>
                  <a:srgbClr val="C3A6FF"/>
                </a:solidFill>
                <a:latin typeface="Inconsolata"/>
              </a:rPr>
              <a:t>int</a:t>
            </a:r>
          </a:p>
          <a:p>
            <a:pPr>
              <a:lnSpc>
                <a:spcPct val="109601"/>
              </a:lnSpc>
              <a:spcAft>
                <a:spcPts val="0"/>
              </a:spcAft>
            </a:pPr>
            <a:r>
              <a:rPr sz="760" i="0">
                <a:solidFill>
                  <a:srgbClr val="5C6773"/>
                </a:solidFill>
                <a:latin typeface="Inconsolata"/>
              </a:rPr>
              <a:t>29  </a:t>
            </a:r>
            <a:r>
              <a:rPr sz="760" i="0">
                <a:solidFill>
                  <a:srgbClr val="E6EDF3"/>
                </a:solidFill>
                <a:latin typeface="Inconsolata"/>
              </a:rPr>
              <a:t>    stock: </a:t>
            </a:r>
            <a:r>
              <a:rPr sz="760" i="0">
                <a:solidFill>
                  <a:srgbClr val="C3A6FF"/>
                </a:solidFill>
                <a:latin typeface="Inconsolata"/>
              </a:rPr>
              <a:t>int</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p>
          <a:p>
            <a:pPr>
              <a:lnSpc>
                <a:spcPct val="109601"/>
              </a:lnSpc>
              <a:spcAft>
                <a:spcPts val="0"/>
              </a:spcAft>
            </a:pPr>
            <a:r>
              <a:rPr sz="760" i="0">
                <a:solidFill>
                  <a:srgbClr val="5C6773"/>
                </a:solidFill>
                <a:latin typeface="Inconsolata"/>
              </a:rPr>
              <a:t>32  </a:t>
            </a:r>
            <a:r>
              <a:rPr sz="760" i="0">
                <a:solidFill>
                  <a:srgbClr val="F9C97A"/>
                </a:solidFill>
                <a:latin typeface="Inconsolata"/>
              </a:rPr>
              <a:t>@app.post</a:t>
            </a:r>
            <a:r>
              <a:rPr sz="760" i="0">
                <a:solidFill>
                  <a:srgbClr val="E6EDF3"/>
                </a:solidFill>
                <a:latin typeface="Inconsolata"/>
              </a:rPr>
              <a:t>(</a:t>
            </a:r>
            <a:r>
              <a:rPr sz="760" i="0">
                <a:solidFill>
                  <a:srgbClr val="A5D6A7"/>
                </a:solidFill>
                <a:latin typeface="Inconsolata"/>
              </a:rPr>
              <a:t>"/products"</a:t>
            </a:r>
            <a:r>
              <a:rPr sz="760" i="0">
                <a:solidFill>
                  <a:srgbClr val="E6EDF3"/>
                </a:solidFill>
                <a:latin typeface="Inconsolata"/>
              </a:rPr>
              <a:t>, status_code=</a:t>
            </a:r>
            <a:r>
              <a:rPr sz="760" i="0">
                <a:solidFill>
                  <a:srgbClr val="F9C97A"/>
                </a:solidFill>
                <a:latin typeface="Inconsolata"/>
              </a:rPr>
              <a:t>201</a:t>
            </a:r>
            <a:r>
              <a:rPr sz="760" i="0">
                <a:solidFill>
                  <a:srgbClr val="E6EDF3"/>
                </a:solidFill>
                <a:latin typeface="Inconsolata"/>
              </a:rPr>
              <a:t>, response_model=</a:t>
            </a:r>
            <a:r>
              <a:rPr sz="760" i="0">
                <a:solidFill>
                  <a:srgbClr val="7FDBCA"/>
                </a:solidFill>
                <a:latin typeface="Inconsolata"/>
              </a:rPr>
              <a:t>ProductOut</a:t>
            </a:r>
            <a:r>
              <a:rPr sz="760" i="0">
                <a:solidFill>
                  <a:srgbClr val="E6EDF3"/>
                </a:solidFill>
                <a:latin typeface="Inconsolata"/>
              </a:rPr>
              <a:t>)</a:t>
            </a:r>
          </a:p>
          <a:p>
            <a:pPr>
              <a:lnSpc>
                <a:spcPct val="109601"/>
              </a:lnSpc>
              <a:spcAft>
                <a:spcPts val="0"/>
              </a:spcAft>
            </a:pPr>
            <a:r>
              <a:rPr sz="760" i="0">
                <a:solidFill>
                  <a:srgbClr val="5C6773"/>
                </a:solidFill>
                <a:latin typeface="Inconsolata"/>
              </a:rPr>
              <a:t>33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create_product</a:t>
            </a:r>
            <a:r>
              <a:rPr sz="760" i="0">
                <a:solidFill>
                  <a:srgbClr val="E6EDF3"/>
                </a:solidFill>
                <a:latin typeface="Inconsolata"/>
              </a:rPr>
              <a:t>(payload: </a:t>
            </a:r>
            <a:r>
              <a:rPr sz="760" i="0">
                <a:solidFill>
                  <a:srgbClr val="7FDBCA"/>
                </a:solidFill>
                <a:latin typeface="Inconsolata"/>
              </a:rPr>
              <a:t>ProductIn</a:t>
            </a:r>
            <a:r>
              <a:rPr sz="760" i="0">
                <a:solidFill>
                  <a:srgbClr val="E6EDF3"/>
                </a:solidFill>
                <a:latin typeface="Inconsolata"/>
              </a:rPr>
              <a:t>):</a:t>
            </a:r>
          </a:p>
          <a:p>
            <a:pPr>
              <a:lnSpc>
                <a:spcPct val="109601"/>
              </a:lnSpc>
              <a:spcAft>
                <a:spcPts val="0"/>
              </a:spcAft>
            </a:pPr>
            <a:r>
              <a:rPr sz="760" i="0">
                <a:solidFill>
                  <a:srgbClr val="5C6773"/>
                </a:solidFill>
                <a:latin typeface="Inconsolata"/>
              </a:rPr>
              <a:t>34  </a:t>
            </a:r>
            <a:r>
              <a:rPr sz="760" i="0">
                <a:solidFill>
                  <a:srgbClr val="E6EDF3"/>
                </a:solidFill>
                <a:latin typeface="Inconsolata"/>
              </a:rPr>
              <a:t>    product = {</a:t>
            </a:r>
            <a:r>
              <a:rPr sz="760" i="0">
                <a:solidFill>
                  <a:srgbClr val="A5D6A7"/>
                </a:solidFill>
                <a:latin typeface="Inconsolata"/>
              </a:rPr>
              <a:t>"id"</a:t>
            </a:r>
            <a:r>
              <a:rPr sz="760" i="0">
                <a:solidFill>
                  <a:srgbClr val="E6EDF3"/>
                </a:solidFill>
                <a:latin typeface="Inconsolata"/>
              </a:rPr>
              <a:t>: </a:t>
            </a:r>
            <a:r>
              <a:rPr sz="760" i="0">
                <a:solidFill>
                  <a:srgbClr val="C3A6FF"/>
                </a:solidFill>
                <a:latin typeface="Inconsolata"/>
              </a:rPr>
              <a:t>len</a:t>
            </a:r>
            <a:r>
              <a:rPr sz="760" i="0">
                <a:solidFill>
                  <a:srgbClr val="E6EDF3"/>
                </a:solidFill>
                <a:latin typeface="Inconsolata"/>
              </a:rPr>
              <a:t>(</a:t>
            </a:r>
            <a:r>
              <a:rPr sz="760" i="0">
                <a:solidFill>
                  <a:srgbClr val="7FDBCA"/>
                </a:solidFill>
                <a:latin typeface="Inconsolata"/>
              </a:rPr>
              <a:t>PRODUCTS</a:t>
            </a:r>
            <a:r>
              <a:rPr sz="760" i="0">
                <a:solidFill>
                  <a:srgbClr val="E6EDF3"/>
                </a:solidFill>
                <a:latin typeface="Inconsolata"/>
              </a:rPr>
              <a:t>) + </a:t>
            </a:r>
            <a:r>
              <a:rPr sz="760" i="0">
                <a:solidFill>
                  <a:srgbClr val="F9C97A"/>
                </a:solidFill>
                <a:latin typeface="Inconsolata"/>
              </a:rPr>
              <a:t>1</a:t>
            </a:r>
            <a:r>
              <a:rPr sz="760" i="0">
                <a:solidFill>
                  <a:srgbClr val="E6EDF3"/>
                </a:solidFill>
                <a:latin typeface="Inconsolata"/>
              </a:rPr>
              <a:t>, **payload.model_dump()}</a:t>
            </a:r>
          </a:p>
          <a:p>
            <a:pPr>
              <a:lnSpc>
                <a:spcPct val="109601"/>
              </a:lnSpc>
              <a:spcAft>
                <a:spcPts val="0"/>
              </a:spcAft>
            </a:pPr>
            <a:r>
              <a:rPr sz="760" i="0">
                <a:solidFill>
                  <a:srgbClr val="5C6773"/>
                </a:solidFill>
                <a:latin typeface="Inconsolata"/>
              </a:rPr>
              <a:t>35  </a:t>
            </a:r>
            <a:r>
              <a:rPr sz="760" i="0">
                <a:solidFill>
                  <a:srgbClr val="E6EDF3"/>
                </a:solidFill>
                <a:latin typeface="Inconsolata"/>
              </a:rPr>
              <a:t>    </a:t>
            </a:r>
            <a:r>
              <a:rPr sz="760" i="0">
                <a:solidFill>
                  <a:srgbClr val="7FDBCA"/>
                </a:solidFill>
                <a:latin typeface="Inconsolata"/>
              </a:rPr>
              <a:t>PRODUCTS</a:t>
            </a:r>
            <a:r>
              <a:rPr sz="760" i="0">
                <a:solidFill>
                  <a:srgbClr val="E6EDF3"/>
                </a:solidFill>
                <a:latin typeface="Inconsolata"/>
              </a:rPr>
              <a:t>[product[</a:t>
            </a:r>
            <a:r>
              <a:rPr sz="760" i="0">
                <a:solidFill>
                  <a:srgbClr val="A5D6A7"/>
                </a:solidFill>
                <a:latin typeface="Inconsolata"/>
              </a:rPr>
              <a:t>"id"</a:t>
            </a:r>
            <a:r>
              <a:rPr sz="760" i="0">
                <a:solidFill>
                  <a:srgbClr val="E6EDF3"/>
                </a:solidFill>
                <a:latin typeface="Inconsolata"/>
              </a:rPr>
              <a:t>]] = product</a:t>
            </a:r>
          </a:p>
          <a:p>
            <a:pPr>
              <a:lnSpc>
                <a:spcPct val="109601"/>
              </a:lnSpc>
              <a:spcAft>
                <a:spcPts val="0"/>
              </a:spcAft>
            </a:pPr>
            <a:r>
              <a:rPr sz="760" i="0">
                <a:solidFill>
                  <a:srgbClr val="5C6773"/>
                </a:solidFill>
                <a:latin typeface="Inconsolata"/>
              </a:rPr>
              <a:t>36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product  </a:t>
            </a:r>
            <a:r>
              <a:rPr sz="760" i="1">
                <a:solidFill>
                  <a:srgbClr val="8B98A8"/>
                </a:solidFill>
                <a:latin typeface="Inconsolata"/>
              </a:rPr>
              <a:t># cost_price disaring oleh response_model</a:t>
            </a:r>
          </a:p>
          <a:p>
            <a:pPr>
              <a:lnSpc>
                <a:spcPct val="109601"/>
              </a:lnSpc>
              <a:spcAft>
                <a:spcPts val="0"/>
              </a:spcAft>
            </a:pPr>
            <a:r>
              <a:rPr sz="760" i="0">
                <a:solidFill>
                  <a:srgbClr val="5C6773"/>
                </a:solidFill>
                <a:latin typeface="Inconsolata"/>
              </a:rPr>
              <a:t>37  </a:t>
            </a:r>
            <a:r>
              <a:rPr sz="760" i="0">
                <a:solidFill>
                  <a:srgbClr val="E6EDF3"/>
                </a:solidFill>
                <a:latin typeface="Inconsolata"/>
              </a:rPr>
              <a:t> </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p>
          <a:p>
            <a:pPr>
              <a:lnSpc>
                <a:spcPct val="109601"/>
              </a:lnSpc>
              <a:spcAft>
                <a:spcPts val="0"/>
              </a:spcAft>
            </a:pPr>
            <a:r>
              <a:rPr sz="760" i="0">
                <a:solidFill>
                  <a:srgbClr val="5C6773"/>
                </a:solidFill>
                <a:latin typeface="Inconsolata"/>
              </a:rPr>
              <a:t>39  </a:t>
            </a:r>
            <a:r>
              <a:rPr sz="760" i="0">
                <a:solidFill>
                  <a:srgbClr val="F9C97A"/>
                </a:solidFill>
                <a:latin typeface="Inconsolata"/>
              </a:rPr>
              <a:t>@app.get</a:t>
            </a:r>
            <a:r>
              <a:rPr sz="760" i="0">
                <a:solidFill>
                  <a:srgbClr val="E6EDF3"/>
                </a:solidFill>
                <a:latin typeface="Inconsolata"/>
              </a:rPr>
              <a:t>(</a:t>
            </a:r>
            <a:r>
              <a:rPr sz="760" i="0">
                <a:solidFill>
                  <a:srgbClr val="A5D6A7"/>
                </a:solidFill>
                <a:latin typeface="Inconsolata"/>
              </a:rPr>
              <a:t>"/products/{product_id}"</a:t>
            </a:r>
            <a:r>
              <a:rPr sz="760" i="0">
                <a:solidFill>
                  <a:srgbClr val="E6EDF3"/>
                </a:solidFill>
                <a:latin typeface="Inconsolata"/>
              </a:rPr>
              <a:t>, response_model=</a:t>
            </a:r>
            <a:r>
              <a:rPr sz="760" i="0">
                <a:solidFill>
                  <a:srgbClr val="7FDBCA"/>
                </a:solidFill>
                <a:latin typeface="Inconsolata"/>
              </a:rPr>
              <a:t>ProductOut</a:t>
            </a:r>
            <a:r>
              <a:rPr sz="760" i="0">
                <a:solidFill>
                  <a:srgbClr val="E6EDF3"/>
                </a:solidFill>
                <a:latin typeface="Inconsolata"/>
              </a:rPr>
              <a:t>)</a:t>
            </a:r>
          </a:p>
          <a:p>
            <a:pPr>
              <a:lnSpc>
                <a:spcPct val="109601"/>
              </a:lnSpc>
              <a:spcAft>
                <a:spcPts val="0"/>
              </a:spcAft>
            </a:pPr>
            <a:r>
              <a:rPr sz="760" i="0">
                <a:solidFill>
                  <a:srgbClr val="5C6773"/>
                </a:solidFill>
                <a:latin typeface="Inconsolata"/>
              </a:rPr>
              <a:t>40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get_product</a:t>
            </a:r>
            <a:r>
              <a:rPr sz="760" i="0">
                <a:solidFill>
                  <a:srgbClr val="E6EDF3"/>
                </a:solidFill>
                <a:latin typeface="Inconsolata"/>
              </a:rPr>
              <a:t>(product_id: </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41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a:t>
            </a:r>
            <a:r>
              <a:rPr sz="760" i="0">
                <a:solidFill>
                  <a:srgbClr val="7FDBCA"/>
                </a:solidFill>
                <a:latin typeface="Inconsolata"/>
              </a:rPr>
              <a:t>PRODUCTS</a:t>
            </a:r>
            <a:r>
              <a:rPr sz="760" i="0">
                <a:solidFill>
                  <a:srgbClr val="E6EDF3"/>
                </a:solidFill>
                <a:latin typeface="Inconsolata"/>
              </a:rPr>
              <a:t>[product_id]</a:t>
            </a:r>
          </a:p>
        </p:txBody>
      </p:sp>
      <p:sp>
        <p:nvSpPr>
          <p:cNvPr id="36" name="Box 21"/>
          <p:cNvSpPr/>
          <p:nvPr/>
        </p:nvSpPr>
        <p:spPr>
          <a:xfrm>
            <a:off x="704088" y="2716022"/>
            <a:ext cx="3694176" cy="627380"/>
          </a:xfrm>
          <a:prstGeom prst="roundRect">
            <a:avLst>
              <a:gd name="adj" fmla="val 728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910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1827022"/>
            <a:ext cx="3694176" cy="627380"/>
          </a:xfrm>
          <a:prstGeom prst="roundRect">
            <a:avLst>
              <a:gd name="adj" fmla="val 728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021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716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656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42" name="Box 27"/>
          <p:cNvSpPr/>
          <p:nvPr/>
        </p:nvSpPr>
        <p:spPr>
          <a:xfrm>
            <a:off x="4709159" y="3605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Schemas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02-schemas/after.py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sesi-04-modular-fastapi-orm-transactions/02-schemas</a:t>
            </a:r>
          </a:p>
          <a:p>
            <a:pPr>
              <a:lnSpc>
                <a:spcPct val="107527"/>
              </a:lnSpc>
              <a:spcAft>
                <a:spcPts val="0"/>
              </a:spcAft>
            </a:pPr>
            <a:r>
              <a:rPr sz="775" i="0">
                <a:solidFill>
                  <a:srgbClr val="82B1FF"/>
                </a:solidFill>
                <a:latin typeface="Inconsolata"/>
              </a:rPr>
              <a:t>$ uvicorn after:app --reload</a:t>
            </a:r>
          </a:p>
        </p:txBody>
      </p:sp>
      <p:pic>
        <p:nvPicPr>
          <p:cNvPr id="29" name="Image 12" descr="s04-02-schemas-after.png"/>
          <p:cNvPicPr>
            <a:picLocks noChangeAspect="1"/>
          </p:cNvPicPr>
          <p:nvPr/>
        </p:nvPicPr>
        <p:blipFill>
          <a:blip r:embed="rId2"/>
          <a:stretch>
            <a:fillRect/>
          </a:stretch>
        </p:blipFill>
        <p:spPr>
          <a:xfrm>
            <a:off x="621792" y="2240280"/>
            <a:ext cx="4297680" cy="1149078"/>
          </a:xfrm>
          <a:prstGeom prst="rect">
            <a:avLst/>
          </a:prstGeom>
        </p:spPr>
      </p:pic>
      <p:sp>
        <p:nvSpPr>
          <p:cNvPr id="30" name="Text 13"/>
          <p:cNvSpPr txBox="1"/>
          <p:nvPr/>
        </p:nvSpPr>
        <p:spPr>
          <a:xfrm>
            <a:off x="621792" y="3435077"/>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/products dengan cost_price: response tanpa cost_price</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ProductIn</a:t>
            </a:r>
            <a:r>
              <a:rPr sz="950" b="0" i="0">
                <a:solidFill>
                  <a:srgbClr val="434343"/>
                </a:solidFill>
                <a:latin typeface="Inter"/>
              </a:rPr>
              <a:t>: yang boleh dikirim client, lengkap dengan validasi (baris 18-22)</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ProductOut</a:t>
            </a:r>
            <a:r>
              <a:rPr sz="950" b="0" i="0">
                <a:solidFill>
                  <a:srgbClr val="434343"/>
                </a:solidFill>
                <a:latin typeface="Inter"/>
              </a:rPr>
              <a:t>: yang boleh dilihat client, tanpa </a:t>
            </a:r>
            <a:r>
              <a:rPr sz="950" b="0" i="0">
                <a:solidFill>
                  <a:srgbClr val="B5482A"/>
                </a:solidFill>
                <a:latin typeface="Inconsolata"/>
              </a:rPr>
              <a:t>cost_price</a:t>
            </a:r>
            <a:r>
              <a:rPr sz="950" b="0" i="0">
                <a:solidFill>
                  <a:srgbClr val="434343"/>
                </a:solidFill>
                <a:latin typeface="Inter"/>
              </a:rPr>
              <a:t> (baris 25-29)</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response_model=ProductOut</a:t>
            </a:r>
            <a:r>
              <a:rPr sz="950" b="0" i="0">
                <a:solidFill>
                  <a:srgbClr val="434343"/>
                </a:solidFill>
                <a:latin typeface="Inter"/>
              </a:rPr>
              <a:t> menyaring response (baris 32, 39)</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Request yang sama, </a:t>
            </a:r>
            <a:r>
              <a:rPr sz="950" b="0" i="0">
                <a:solidFill>
                  <a:srgbClr val="B5482A"/>
                </a:solidFill>
                <a:latin typeface="Inconsolata"/>
              </a:rPr>
              <a:t>cost_price</a:t>
            </a:r>
            <a:r>
              <a:rPr sz="950" b="0" i="0">
                <a:solidFill>
                  <a:srgbClr val="434343"/>
                </a:solidFill>
                <a:latin typeface="Inter"/>
              </a:rPr>
              <a:t> tidak ikut di response.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Graph</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Dependency Graph?</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Dependency graph adalah</a:t>
            </a:r>
          </a:p>
          <a:p>
            <a:pPr algn="l">
              <a:lnSpc>
                <a:spcPct val="115000"/>
              </a:lnSpc>
              <a:spcAft>
                <a:spcPts val="400"/>
              </a:spcAft>
            </a:pPr>
            <a:r>
              <a:rPr sz="900" b="0" i="0">
                <a:solidFill>
                  <a:srgbClr val="434343"/>
                </a:solidFill>
                <a:latin typeface="Inter"/>
              </a:rPr>
              <a:t>Rangkaian dependency yang </a:t>
            </a:r>
            <a:r>
              <a:rPr sz="900" b="1" i="0">
                <a:solidFill>
                  <a:srgbClr val="434343"/>
                </a:solidFill>
                <a:latin typeface="Inter"/>
              </a:rPr>
              <a:t>saling bergantung</a:t>
            </a:r>
            <a:r>
              <a:rPr sz="900" b="0" i="0">
                <a:solidFill>
                  <a:srgbClr val="434343"/>
                </a:solidFill>
                <a:latin typeface="Inter"/>
              </a:rPr>
              <a:t>, misalnya route butuh repository dan repository butuh session. FastAPI menyiapkannya secara berurutan lewat </a:t>
            </a:r>
            <a:r>
              <a:rPr sz="900" b="0" i="0">
                <a:solidFill>
                  <a:srgbClr val="B5482A"/>
                </a:solidFill>
                <a:latin typeface="Inconsolata"/>
              </a:rPr>
              <a:t>Depends()</a:t>
            </a:r>
            <a:r>
              <a:rPr sz="900" b="0" i="0">
                <a:solidFill>
                  <a:srgbClr val="434343"/>
                </a:solidFill>
                <a:latin typeface="Inter"/>
              </a:rPr>
              <a:t>. Dependency dengan </a:t>
            </a:r>
            <a:r>
              <a:rPr sz="900" b="0" i="0">
                <a:solidFill>
                  <a:srgbClr val="B5482A"/>
                </a:solidFill>
                <a:latin typeface="Inconsolata"/>
              </a:rPr>
              <a:t>yield</a:t>
            </a:r>
            <a:r>
              <a:rPr sz="900" b="0" i="0">
                <a:solidFill>
                  <a:srgbClr val="434343"/>
                </a:solidFill>
                <a:latin typeface="Inter"/>
              </a:rPr>
              <a:t> juga bisa menjalankan kode </a:t>
            </a:r>
            <a:r>
              <a:rPr sz="900" b="1" i="0">
                <a:solidFill>
                  <a:srgbClr val="434343"/>
                </a:solidFill>
                <a:latin typeface="Inter"/>
              </a:rPr>
              <a:t>setelah</a:t>
            </a:r>
            <a:r>
              <a:rPr sz="900" b="0" i="0">
                <a:solidFill>
                  <a:srgbClr val="434343"/>
                </a:solidFill>
                <a:latin typeface="Inter"/>
              </a:rPr>
              <a:t> response dikirim, misalnya untuk menutup session.</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Menyederhanakan route, cukup meminta repository</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Memastikan session selalu ditutup, walaupun terjadi error</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dependency graph: 03-dependency-graph/before.py</a:t>
            </a:r>
          </a:p>
        </p:txBody>
      </p:sp>
      <p:sp>
        <p:nvSpPr>
          <p:cNvPr id="28" name="CodeBg 11"/>
          <p:cNvSpPr/>
          <p:nvPr/>
        </p:nvSpPr>
        <p:spPr>
          <a:xfrm>
            <a:off x="4297680" y="1719072"/>
            <a:ext cx="4187951" cy="923544"/>
          </a:xfrm>
          <a:prstGeom prst="roundRect">
            <a:avLst>
              <a:gd name="adj" fmla="val 198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923544"/>
          </a:xfrm>
          <a:prstGeom prst="rect">
            <a:avLst/>
          </a:prstGeom>
          <a:noFill/>
        </p:spPr>
        <p:txBody>
          <a:bodyPr wrap="none" lIns="146304" tIns="91440" rIns="146304" bIns="54864">
            <a:spAutoFit/>
          </a:bodyPr>
          <a:lstStyle/>
          <a:p>
            <a:pPr>
              <a:lnSpc>
                <a:spcPct val="107527"/>
              </a:lnSpc>
              <a:spcAft>
                <a:spcPts val="0"/>
              </a:spcAft>
            </a:pP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create_product</a:t>
            </a:r>
            <a:r>
              <a:rPr sz="775" i="0">
                <a:solidFill>
                  <a:srgbClr val="E6EDF3"/>
                </a:solidFill>
                <a:latin typeface="Inconsolata"/>
              </a:rPr>
              <a:t>(name: </a:t>
            </a:r>
            <a:r>
              <a:rPr sz="775" i="0">
                <a:solidFill>
                  <a:srgbClr val="C3A6FF"/>
                </a:solidFill>
                <a:latin typeface="Inconsolata"/>
              </a:rPr>
              <a:t>str</a:t>
            </a:r>
            <a:r>
              <a:rPr sz="775" i="0">
                <a:solidFill>
                  <a:srgbClr val="E6EDF3"/>
                </a:solidFill>
                <a:latin typeface="Inconsolata"/>
              </a:rPr>
              <a:t>, price: </a:t>
            </a:r>
            <a:r>
              <a:rPr sz="775" i="0">
                <a:solidFill>
                  <a:srgbClr val="C3A6FF"/>
                </a:solidFill>
                <a:latin typeface="Inconsolata"/>
              </a:rPr>
              <a:t>int</a:t>
            </a:r>
            <a:r>
              <a:rPr sz="775" i="0">
                <a:solidFill>
                  <a:srgbClr val="E6EDF3"/>
                </a:solidFill>
                <a:latin typeface="Inconsolata"/>
              </a:rPr>
              <a:t>):</a:t>
            </a:r>
          </a:p>
          <a:p>
            <a:pPr>
              <a:lnSpc>
                <a:spcPct val="107527"/>
              </a:lnSpc>
              <a:spcAft>
                <a:spcPts val="0"/>
              </a:spcAft>
            </a:pPr>
            <a:r>
              <a:rPr sz="775" i="0">
                <a:solidFill>
                  <a:srgbClr val="E6EDF3"/>
                </a:solidFill>
                <a:latin typeface="Inconsolata"/>
              </a:rPr>
              <a:t>    session = </a:t>
            </a:r>
            <a:r>
              <a:rPr sz="775" i="0">
                <a:solidFill>
                  <a:srgbClr val="7FDBCA"/>
                </a:solidFill>
                <a:latin typeface="Inconsolata"/>
              </a:rPr>
              <a:t>SessionLocal</a:t>
            </a:r>
            <a:r>
              <a:rPr sz="775" i="0">
                <a:solidFill>
                  <a:srgbClr val="E6EDF3"/>
                </a:solidFill>
                <a:latin typeface="Inconsolata"/>
              </a:rPr>
              <a:t>()  </a:t>
            </a:r>
            <a:r>
              <a:rPr sz="775" i="1">
                <a:solidFill>
                  <a:srgbClr val="8B98A8"/>
                </a:solidFill>
                <a:latin typeface="Inconsolata"/>
              </a:rPr>
              <a:t># dibuat manual...</a:t>
            </a:r>
          </a:p>
          <a:p>
            <a:pPr>
              <a:lnSpc>
                <a:spcPct val="107527"/>
              </a:lnSpc>
              <a:spcAft>
                <a:spcPts val="0"/>
              </a:spcAft>
            </a:pPr>
            <a:r>
              <a:rPr sz="775" i="0">
                <a:solidFill>
                  <a:srgbClr val="E6EDF3"/>
                </a:solidFill>
                <a:latin typeface="Inconsolata"/>
              </a:rPr>
              <a:t>    repo = </a:t>
            </a:r>
            <a:r>
              <a:rPr sz="775" i="0">
                <a:solidFill>
                  <a:srgbClr val="7FDBCA"/>
                </a:solidFill>
                <a:latin typeface="Inconsolata"/>
              </a:rPr>
              <a:t>ProductRepository</a:t>
            </a:r>
            <a:r>
              <a:rPr sz="775" i="0">
                <a:solidFill>
                  <a:srgbClr val="E6EDF3"/>
                </a:solidFill>
                <a:latin typeface="Inconsolata"/>
              </a:rPr>
              <a:t>(session)</a:t>
            </a:r>
          </a:p>
          <a:p>
            <a:pPr>
              <a:lnSpc>
                <a:spcPct val="107527"/>
              </a:lnSpc>
              <a:spcAft>
                <a:spcPts val="0"/>
              </a:spcAft>
            </a:pPr>
            <a:r>
              <a:rPr sz="775" i="0">
                <a:solidFill>
                  <a:srgbClr val="E6EDF3"/>
                </a:solidFill>
                <a:latin typeface="Inconsolata"/>
              </a:rPr>
              <a:t>    record = repo.add(name, price)</a:t>
            </a:r>
          </a:p>
          <a:p>
            <a:pPr>
              <a:lnSpc>
                <a:spcPct val="107527"/>
              </a:lnSpc>
              <a:spcAft>
                <a:spcPts val="0"/>
              </a:spcAft>
            </a:pPr>
            <a:r>
              <a:rPr sz="775" i="0">
                <a:solidFill>
                  <a:srgbClr val="E6EDF3"/>
                </a:solidFill>
                <a:latin typeface="Inconsolata"/>
              </a:rPr>
              <a:t>    result = to_dict(record)</a:t>
            </a:r>
          </a:p>
          <a:p>
            <a:pPr>
              <a:lnSpc>
                <a:spcPct val="107527"/>
              </a:lnSpc>
              <a:spcAft>
                <a:spcPts val="0"/>
              </a:spcAft>
            </a:pPr>
            <a:r>
              <a:rPr sz="775" i="0">
                <a:solidFill>
                  <a:srgbClr val="E6EDF3"/>
                </a:solidFill>
                <a:latin typeface="Inconsolata"/>
              </a:rPr>
              <a:t>    session.close()  </a:t>
            </a:r>
            <a:r>
              <a:rPr sz="775" i="1">
                <a:solidFill>
                  <a:srgbClr val="8B98A8"/>
                </a:solidFill>
                <a:latin typeface="Inconsolata"/>
              </a:rPr>
              <a:t># tidak jalan kalau ada error di atas</a:t>
            </a:r>
          </a:p>
        </p:txBody>
      </p:sp>
      <p:sp>
        <p:nvSpPr>
          <p:cNvPr id="30" name="Box 13"/>
          <p:cNvSpPr/>
          <p:nvPr/>
        </p:nvSpPr>
        <p:spPr>
          <a:xfrm>
            <a:off x="4379976" y="1954022"/>
            <a:ext cx="4023359"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462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2734056"/>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2811780"/>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2811780"/>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2811780"/>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2743200"/>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dependency graph: 03-dependency-graph/after.py</a:t>
            </a:r>
          </a:p>
        </p:txBody>
      </p:sp>
      <p:sp>
        <p:nvSpPr>
          <p:cNvPr id="37" name="CodeBg 22"/>
          <p:cNvSpPr/>
          <p:nvPr/>
        </p:nvSpPr>
        <p:spPr>
          <a:xfrm>
            <a:off x="4297680" y="2971800"/>
            <a:ext cx="4187951" cy="1728216"/>
          </a:xfrm>
          <a:prstGeom prst="roundRect">
            <a:avLst>
              <a:gd name="adj" fmla="val 1058"/>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2971800"/>
            <a:ext cx="4187951" cy="1728216"/>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get_session</a:t>
            </a:r>
            <a:r>
              <a:rPr sz="850" i="0">
                <a:solidFill>
                  <a:srgbClr val="E6EDF3"/>
                </a:solidFill>
                <a:latin typeface="Inconsolata"/>
              </a:rPr>
              <a:t>() -&gt; </a:t>
            </a:r>
            <a:r>
              <a:rPr sz="850" i="0">
                <a:solidFill>
                  <a:srgbClr val="7FDBCA"/>
                </a:solidFill>
                <a:latin typeface="Inconsolata"/>
              </a:rPr>
              <a:t>Iterator</a:t>
            </a:r>
            <a:r>
              <a:rPr sz="850" i="0">
                <a:solidFill>
                  <a:srgbClr val="E6EDF3"/>
                </a:solidFill>
                <a:latin typeface="Inconsolata"/>
              </a:rPr>
              <a:t>[</a:t>
            </a:r>
            <a:r>
              <a:rPr sz="850" i="0">
                <a:solidFill>
                  <a:srgbClr val="7FDBCA"/>
                </a:solidFill>
                <a:latin typeface="Inconsolata"/>
              </a:rPr>
              <a:t>Session</a:t>
            </a:r>
            <a:r>
              <a:rPr sz="850" i="0">
                <a:solidFill>
                  <a:srgbClr val="E6EDF3"/>
                </a:solidFill>
                <a:latin typeface="Inconsolata"/>
              </a:rPr>
              <a:t>]:</a:t>
            </a:r>
          </a:p>
          <a:p>
            <a:pPr>
              <a:lnSpc>
                <a:spcPct val="107843"/>
              </a:lnSpc>
              <a:spcAft>
                <a:spcPts val="0"/>
              </a:spcAft>
            </a:pPr>
            <a:r>
              <a:rPr sz="850" i="0">
                <a:solidFill>
                  <a:srgbClr val="E6EDF3"/>
                </a:solidFill>
                <a:latin typeface="Inconsolata"/>
              </a:rPr>
              <a:t>    session = </a:t>
            </a:r>
            <a:r>
              <a:rPr sz="850" i="0">
                <a:solidFill>
                  <a:srgbClr val="7FDBCA"/>
                </a:solidFill>
                <a:latin typeface="Inconsolata"/>
              </a:rPr>
              <a:t>SessionLocal</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try</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yield</a:t>
            </a:r>
            <a:r>
              <a:rPr sz="850" i="0">
                <a:solidFill>
                  <a:srgbClr val="E6EDF3"/>
                </a:solidFill>
                <a:latin typeface="Inconsolata"/>
              </a:rPr>
              <a:t> session</a:t>
            </a:r>
          </a:p>
          <a:p>
            <a:pPr>
              <a:lnSpc>
                <a:spcPct val="107843"/>
              </a:lnSpc>
              <a:spcAft>
                <a:spcPts val="0"/>
              </a:spcAft>
            </a:pPr>
            <a:r>
              <a:rPr sz="850" i="0">
                <a:solidFill>
                  <a:srgbClr val="E6EDF3"/>
                </a:solidFill>
                <a:latin typeface="Inconsolata"/>
              </a:rPr>
              <a:t>    </a:t>
            </a:r>
            <a:r>
              <a:rPr sz="850" i="0">
                <a:solidFill>
                  <a:srgbClr val="FF8E6E"/>
                </a:solidFill>
                <a:latin typeface="Inconsolata"/>
              </a:rPr>
              <a:t>finally</a:t>
            </a:r>
            <a:r>
              <a:rPr sz="850" i="0">
                <a:solidFill>
                  <a:srgbClr val="E6EDF3"/>
                </a:solidFill>
                <a:latin typeface="Inconsolata"/>
              </a:rPr>
              <a:t>:</a:t>
            </a:r>
          </a:p>
          <a:p>
            <a:pPr>
              <a:lnSpc>
                <a:spcPct val="107843"/>
              </a:lnSpc>
              <a:spcAft>
                <a:spcPts val="0"/>
              </a:spcAft>
            </a:pPr>
            <a:r>
              <a:rPr sz="850" i="0">
                <a:solidFill>
                  <a:srgbClr val="E6EDF3"/>
                </a:solidFill>
                <a:latin typeface="Inconsolata"/>
              </a:rPr>
              <a:t>        session.close()  </a:t>
            </a:r>
            <a:r>
              <a:rPr sz="850" i="1">
                <a:solidFill>
                  <a:srgbClr val="8B98A8"/>
                </a:solidFill>
                <a:latin typeface="Inconsolata"/>
              </a:rPr>
              <a:t># selalu jalan, error atau tidak</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get_repository</a:t>
            </a:r>
            <a:r>
              <a:rPr sz="850" i="0">
                <a:solidFill>
                  <a:srgbClr val="E6EDF3"/>
                </a:solidFill>
                <a:latin typeface="Inconsolata"/>
              </a:rPr>
              <a:t>(</a:t>
            </a:r>
          </a:p>
          <a:p>
            <a:pPr>
              <a:lnSpc>
                <a:spcPct val="107843"/>
              </a:lnSpc>
              <a:spcAft>
                <a:spcPts val="0"/>
              </a:spcAft>
            </a:pPr>
            <a:r>
              <a:rPr sz="850" i="0">
                <a:solidFill>
                  <a:srgbClr val="E6EDF3"/>
                </a:solidFill>
                <a:latin typeface="Inconsolata"/>
              </a:rPr>
              <a:t>    session: </a:t>
            </a:r>
            <a:r>
              <a:rPr sz="850" i="0">
                <a:solidFill>
                  <a:srgbClr val="7FDBCA"/>
                </a:solidFill>
                <a:latin typeface="Inconsolata"/>
              </a:rPr>
              <a:t>Session</a:t>
            </a:r>
            <a:r>
              <a:rPr sz="850" i="0">
                <a:solidFill>
                  <a:srgbClr val="E6EDF3"/>
                </a:solidFill>
                <a:latin typeface="Inconsolata"/>
              </a:rPr>
              <a:t> = </a:t>
            </a:r>
            <a:r>
              <a:rPr sz="850" i="0">
                <a:solidFill>
                  <a:srgbClr val="7FDBCA"/>
                </a:solidFill>
                <a:latin typeface="Inconsolata"/>
              </a:rPr>
              <a:t>Depends</a:t>
            </a:r>
            <a:r>
              <a:rPr sz="850" i="0">
                <a:solidFill>
                  <a:srgbClr val="E6EDF3"/>
                </a:solidFill>
                <a:latin typeface="Inconsolata"/>
              </a:rPr>
              <a:t>(get_session),</a:t>
            </a:r>
          </a:p>
          <a:p>
            <a:pPr>
              <a:lnSpc>
                <a:spcPct val="107843"/>
              </a:lnSpc>
              <a:spcAft>
                <a:spcPts val="0"/>
              </a:spcAft>
            </a:pPr>
            <a:r>
              <a:rPr sz="850" i="0">
                <a:solidFill>
                  <a:srgbClr val="E6EDF3"/>
                </a:solidFill>
                <a:latin typeface="Inconsolata"/>
              </a:rPr>
              <a:t>) -&gt; </a:t>
            </a:r>
            <a:r>
              <a:rPr sz="850" i="0">
                <a:solidFill>
                  <a:srgbClr val="7FDBCA"/>
                </a:solidFill>
                <a:latin typeface="Inconsolata"/>
              </a:rPr>
              <a:t>ProductRepository</a:t>
            </a:r>
            <a:r>
              <a:rPr sz="850" i="0">
                <a:solidFill>
                  <a:srgbClr val="E6EDF3"/>
                </a:solidFill>
                <a:latin typeface="Inconsolata"/>
              </a:rPr>
              <a:t>:</a:t>
            </a:r>
          </a:p>
        </p:txBody>
      </p:sp>
      <p:sp>
        <p:nvSpPr>
          <p:cNvPr id="39" name="Box 24"/>
          <p:cNvSpPr/>
          <p:nvPr/>
        </p:nvSpPr>
        <p:spPr>
          <a:xfrm>
            <a:off x="4379976" y="3500501"/>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4338701"/>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Graph</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Dependency Graph?</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dependency graph</a:t>
            </a:r>
          </a:p>
          <a:p>
            <a:pPr algn="l">
              <a:lnSpc>
                <a:spcPct val="115000"/>
              </a:lnSpc>
              <a:spcAft>
                <a:spcPts val="400"/>
              </a:spcAft>
            </a:pPr>
            <a:r>
              <a:rPr sz="950" b="0" i="0">
                <a:solidFill>
                  <a:srgbClr val="434343"/>
                </a:solidFill>
                <a:latin typeface="Inter"/>
              </a:rPr>
              <a:t>Setiap route membuat sendiri </a:t>
            </a:r>
            <a:r>
              <a:rPr sz="950" b="1" i="0">
                <a:solidFill>
                  <a:srgbClr val="434343"/>
                </a:solidFill>
                <a:latin typeface="Inter"/>
              </a:rPr>
              <a:t>session</a:t>
            </a:r>
            <a:r>
              <a:rPr sz="950" b="0" i="0">
                <a:solidFill>
                  <a:srgbClr val="434343"/>
                </a:solidFill>
                <a:latin typeface="Inter"/>
              </a:rPr>
              <a:t> database (koneksi kerja ke database) dan repository, lalu menutup session di akhir dengan </a:t>
            </a:r>
            <a:r>
              <a:rPr sz="950" b="0" i="0">
                <a:solidFill>
                  <a:srgbClr val="B5482A"/>
                </a:solidFill>
                <a:latin typeface="Inconsolata"/>
              </a:rPr>
              <a:t>session.close()</a:t>
            </a:r>
            <a:r>
              <a:rPr sz="950" b="0" i="0">
                <a:solidFill>
                  <a:srgbClr val="434343"/>
                </a:solidFill>
                <a:latin typeface="Inter"/>
              </a:rPr>
              <a:t>.</a:t>
            </a:r>
          </a:p>
          <a:p>
            <a:pPr algn="l">
              <a:lnSpc>
                <a:spcPct val="115000"/>
              </a:lnSpc>
              <a:spcAft>
                <a:spcPts val="400"/>
              </a:spcAft>
            </a:pPr>
            <a:r>
              <a:rPr sz="1050" b="1" i="0">
                <a:solidFill>
                  <a:srgbClr val="1C4587"/>
                </a:solidFill>
                <a:latin typeface="Inter"/>
              </a:rPr>
              <a:t>Jika routenya makin banyak</a:t>
            </a:r>
          </a:p>
          <a:p>
            <a:pPr algn="l">
              <a:lnSpc>
                <a:spcPct val="115000"/>
              </a:lnSpc>
              <a:spcAft>
                <a:spcPts val="400"/>
              </a:spcAft>
            </a:pPr>
            <a:r>
              <a:rPr sz="950" b="0" i="0">
                <a:solidFill>
                  <a:srgbClr val="434343"/>
                </a:solidFill>
                <a:latin typeface="Inter"/>
              </a:rPr>
              <a:t>Kode yang sama di-copy ke semua route. Jika terjadi error sebelum </a:t>
            </a:r>
            <a:r>
              <a:rPr sz="950" b="0" i="0">
                <a:solidFill>
                  <a:srgbClr val="B5482A"/>
                </a:solidFill>
                <a:latin typeface="Inconsolata"/>
              </a:rPr>
              <a:t>close()</a:t>
            </a:r>
            <a:r>
              <a:rPr sz="950" b="0" i="0">
                <a:solidFill>
                  <a:srgbClr val="434343"/>
                </a:solidFill>
                <a:latin typeface="Inter"/>
              </a:rPr>
              <a:t>, session tidak pernah ditutup.</a:t>
            </a:r>
          </a:p>
          <a:p>
            <a:pPr algn="l">
              <a:lnSpc>
                <a:spcPct val="115000"/>
              </a:lnSpc>
              <a:spcAft>
                <a:spcPts val="400"/>
              </a:spcAft>
            </a:pPr>
            <a:r>
              <a:rPr sz="950" b="0" i="0">
                <a:solidFill>
                  <a:srgbClr val="434343"/>
                </a:solidFill>
                <a:latin typeface="Inter"/>
              </a:rPr>
              <a:t>Hal ini membuat koneksi database lama-lama habis dan aplikasi tidak bisa melayani request baru.</a:t>
            </a:r>
          </a:p>
          <a:p>
            <a:pPr algn="l">
              <a:lnSpc>
                <a:spcPct val="115000"/>
              </a:lnSpc>
              <a:spcAft>
                <a:spcPts val="400"/>
              </a:spcAft>
            </a:pPr>
            <a:r>
              <a:rPr sz="1050" b="1" i="0">
                <a:solidFill>
                  <a:srgbClr val="1C4587"/>
                </a:solidFill>
                <a:latin typeface="Inter"/>
              </a:rPr>
              <a:t>Yang dipakai dari FastAPI: Depends dengan yield</a:t>
            </a:r>
          </a:p>
          <a:p>
            <a:pPr algn="l">
              <a:lnSpc>
                <a:spcPct val="115000"/>
              </a:lnSpc>
              <a:spcAft>
                <a:spcPts val="400"/>
              </a:spcAft>
            </a:pPr>
            <a:r>
              <a:rPr sz="950" b="0" i="0">
                <a:solidFill>
                  <a:srgbClr val="434343"/>
                </a:solidFill>
                <a:latin typeface="Inter"/>
              </a:rPr>
              <a:t>Function dependency boleh memakai </a:t>
            </a:r>
            <a:r>
              <a:rPr sz="950" b="0" i="0">
                <a:solidFill>
                  <a:srgbClr val="B5482A"/>
                </a:solidFill>
                <a:latin typeface="Inconsolata"/>
              </a:rPr>
              <a:t>yield</a:t>
            </a:r>
            <a:r>
              <a:rPr sz="950" b="0" i="0">
                <a:solidFill>
                  <a:srgbClr val="434343"/>
                </a:solidFill>
                <a:latin typeface="Inter"/>
              </a:rPr>
              <a:t>. Kode sebelum </a:t>
            </a:r>
            <a:r>
              <a:rPr sz="950" b="0" i="0">
                <a:solidFill>
                  <a:srgbClr val="B5482A"/>
                </a:solidFill>
                <a:latin typeface="Inconsolata"/>
              </a:rPr>
              <a:t>yield</a:t>
            </a:r>
            <a:r>
              <a:rPr sz="950" b="0" i="0">
                <a:solidFill>
                  <a:srgbClr val="434343"/>
                </a:solidFill>
                <a:latin typeface="Inter"/>
              </a:rPr>
              <a:t> jalan sebelum route, dan kode setelah </a:t>
            </a:r>
            <a:r>
              <a:rPr sz="950" b="0" i="0">
                <a:solidFill>
                  <a:srgbClr val="B5482A"/>
                </a:solidFill>
                <a:latin typeface="Inconsolata"/>
              </a:rPr>
              <a:t>yield</a:t>
            </a:r>
            <a:r>
              <a:rPr sz="950" b="0" i="0">
                <a:solidFill>
                  <a:srgbClr val="434343"/>
                </a:solidFill>
                <a:latin typeface="Inter"/>
              </a:rPr>
              <a:t> jalan setelah response dikirim.</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1673352">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Depends(get_session)</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FastAPI memanggil get_session() untuk kita</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yield session</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Session diberikan ke yang membutuhkan</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finally: session.close()</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Session ditutup setelah response, error atau tidak</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Graph</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Session dibuat manual di setiap route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03-dependency-graph/before.py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 9  </a:t>
            </a:r>
            <a:r>
              <a:rPr sz="760" i="0">
                <a:solidFill>
                  <a:srgbClr val="FF8E6E"/>
                </a:solidFill>
                <a:latin typeface="Inconsolata"/>
              </a:rPr>
              <a:t>from</a:t>
            </a:r>
            <a:r>
              <a:rPr sz="760" i="0">
                <a:solidFill>
                  <a:srgbClr val="E6EDF3"/>
                </a:solidFill>
                <a:latin typeface="Inconsolata"/>
              </a:rPr>
              <a:t> fastapi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FastAPI</a:t>
            </a:r>
          </a:p>
          <a:p>
            <a:pPr>
              <a:lnSpc>
                <a:spcPct val="109601"/>
              </a:lnSpc>
              <a:spcAft>
                <a:spcPts val="0"/>
              </a:spcAft>
            </a:pPr>
            <a:r>
              <a:rPr sz="760" i="0">
                <a:solidFill>
                  <a:srgbClr val="5C6773"/>
                </a:solidFill>
                <a:latin typeface="Inconsolata"/>
              </a:rPr>
              <a:t>10  </a:t>
            </a:r>
            <a:r>
              <a:rPr sz="760" i="0">
                <a:solidFill>
                  <a:srgbClr val="FF8E6E"/>
                </a:solidFill>
                <a:latin typeface="Inconsolata"/>
              </a:rPr>
              <a:t>from</a:t>
            </a:r>
            <a:r>
              <a:rPr sz="760" i="0">
                <a:solidFill>
                  <a:srgbClr val="E6EDF3"/>
                </a:solidFill>
                <a:latin typeface="Inconsolata"/>
              </a:rPr>
              <a:t> sqlalchemy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String</a:t>
            </a:r>
            <a:r>
              <a:rPr sz="760" i="0">
                <a:solidFill>
                  <a:srgbClr val="E6EDF3"/>
                </a:solidFill>
                <a:latin typeface="Inconsolata"/>
              </a:rPr>
              <a:t>, create_engine</a:t>
            </a:r>
          </a:p>
          <a:p>
            <a:pPr>
              <a:lnSpc>
                <a:spcPct val="109601"/>
              </a:lnSpc>
              <a:spcAft>
                <a:spcPts val="0"/>
              </a:spcAft>
            </a:pPr>
            <a:r>
              <a:rPr sz="760" i="0">
                <a:solidFill>
                  <a:srgbClr val="5C6773"/>
                </a:solidFill>
                <a:latin typeface="Inconsolata"/>
              </a:rPr>
              <a:t>11  </a:t>
            </a:r>
            <a:r>
              <a:rPr sz="760" i="0">
                <a:solidFill>
                  <a:srgbClr val="FF8E6E"/>
                </a:solidFill>
                <a:latin typeface="Inconsolata"/>
              </a:rPr>
              <a:t>from</a:t>
            </a:r>
            <a:r>
              <a:rPr sz="760" i="0">
                <a:solidFill>
                  <a:srgbClr val="E6EDF3"/>
                </a:solidFill>
                <a:latin typeface="Inconsolata"/>
              </a:rPr>
              <a:t> sqlalchemy.orm </a:t>
            </a:r>
            <a:r>
              <a:rPr sz="760" i="0">
                <a:solidFill>
                  <a:srgbClr val="FF8E6E"/>
                </a:solidFill>
                <a:latin typeface="Inconsolata"/>
              </a:rPr>
              <a:t>import</a:t>
            </a:r>
            <a:r>
              <a:rPr sz="760" i="0">
                <a:solidFill>
                  <a:srgbClr val="E6EDF3"/>
                </a:solidFill>
                <a:latin typeface="Inconsolata"/>
              </a:rPr>
              <a:t> (</a:t>
            </a:r>
          </a:p>
          <a:p>
            <a:pPr>
              <a:lnSpc>
                <a:spcPct val="109601"/>
              </a:lnSpc>
              <a:spcAft>
                <a:spcPts val="0"/>
              </a:spcAft>
            </a:pPr>
            <a:r>
              <a:rPr sz="760" i="0">
                <a:solidFill>
                  <a:srgbClr val="5C6773"/>
                </a:solidFill>
                <a:latin typeface="Inconsolata"/>
              </a:rPr>
              <a:t>12  </a:t>
            </a:r>
            <a:r>
              <a:rPr sz="760" i="0">
                <a:solidFill>
                  <a:srgbClr val="E6EDF3"/>
                </a:solidFill>
                <a:latin typeface="Inconsolata"/>
              </a:rPr>
              <a:t>    </a:t>
            </a:r>
            <a:r>
              <a:rPr sz="760" i="0">
                <a:solidFill>
                  <a:srgbClr val="7FDBCA"/>
                </a:solidFill>
                <a:latin typeface="Inconsolata"/>
              </a:rPr>
              <a:t>DeclarativeBase</a:t>
            </a:r>
            <a:r>
              <a:rPr sz="760" i="0">
                <a:solidFill>
                  <a:srgbClr val="E6EDF3"/>
                </a:solidFill>
                <a:latin typeface="Inconsolata"/>
              </a:rPr>
              <a:t>, </a:t>
            </a:r>
            <a:r>
              <a:rPr sz="760" i="0">
                <a:solidFill>
                  <a:srgbClr val="7FDBCA"/>
                </a:solidFill>
                <a:latin typeface="Inconsolata"/>
              </a:rPr>
              <a:t>Mapped</a:t>
            </a:r>
            <a:r>
              <a:rPr sz="760" i="0">
                <a:solidFill>
                  <a:srgbClr val="E6EDF3"/>
                </a:solidFill>
                <a:latin typeface="Inconsolata"/>
              </a:rPr>
              <a:t>, </a:t>
            </a:r>
            <a:r>
              <a:rPr sz="760" i="0">
                <a:solidFill>
                  <a:srgbClr val="7FDBCA"/>
                </a:solidFill>
                <a:latin typeface="Inconsolata"/>
              </a:rPr>
              <a:t>Session</a:t>
            </a:r>
            <a:r>
              <a:rPr sz="760" i="0">
                <a:solidFill>
                  <a:srgbClr val="E6EDF3"/>
                </a:solidFill>
                <a:latin typeface="Inconsolata"/>
              </a:rPr>
              <a:t>, mapped_column, sessionmaker,</a:t>
            </a:r>
          </a:p>
          <a:p>
            <a:pPr>
              <a:lnSpc>
                <a:spcPct val="109601"/>
              </a:lnSpc>
              <a:spcAft>
                <a:spcPts val="0"/>
              </a:spcAft>
            </a:pPr>
            <a:r>
              <a:rPr sz="760" i="0">
                <a:solidFill>
                  <a:srgbClr val="5C6773"/>
                </a:solidFill>
                <a:latin typeface="Inconsolata"/>
              </a:rPr>
              <a:t>13  </a:t>
            </a:r>
            <a:r>
              <a:rPr sz="760" i="0">
                <a:solidFill>
                  <a:srgbClr val="E6EDF3"/>
                </a:solidFill>
                <a:latin typeface="Inconsolata"/>
              </a:rPr>
              <a:t>)</a:t>
            </a:r>
          </a:p>
          <a:p>
            <a:pPr>
              <a:lnSpc>
                <a:spcPct val="109601"/>
              </a:lnSpc>
              <a:spcAft>
                <a:spcPts val="0"/>
              </a:spcAft>
            </a:pPr>
            <a:r>
              <a:rPr sz="760" i="0">
                <a:solidFill>
                  <a:srgbClr val="5C6773"/>
                </a:solidFill>
                <a:latin typeface="Inconsolata"/>
              </a:rPr>
              <a:t>14  </a:t>
            </a:r>
            <a:r>
              <a:rPr sz="760" i="0">
                <a:solidFill>
                  <a:srgbClr val="FF8E6E"/>
                </a:solidFill>
                <a:latin typeface="Inconsolata"/>
              </a:rPr>
              <a:t>from</a:t>
            </a:r>
            <a:r>
              <a:rPr sz="760" i="0">
                <a:solidFill>
                  <a:srgbClr val="E6EDF3"/>
                </a:solidFill>
                <a:latin typeface="Inconsolata"/>
              </a:rPr>
              <a:t> sqlalchemy.pool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StaticPool</a:t>
            </a:r>
          </a:p>
          <a:p>
            <a:pPr>
              <a:lnSpc>
                <a:spcPct val="109601"/>
              </a:lnSpc>
              <a:spcAft>
                <a:spcPts val="0"/>
              </a:spcAft>
            </a:pPr>
            <a:r>
              <a:rPr sz="760" i="0">
                <a:solidFill>
                  <a:srgbClr val="5C6773"/>
                </a:solidFill>
                <a:latin typeface="Inconsolata"/>
              </a:rPr>
              <a:t>15  </a:t>
            </a:r>
            <a:r>
              <a:rPr sz="760" i="0">
                <a:solidFill>
                  <a:srgbClr val="E6EDF3"/>
                </a:solidFill>
                <a:latin typeface="Inconsolata"/>
              </a:rPr>
              <a:t> </a:t>
            </a:r>
          </a:p>
          <a:p>
            <a:pPr>
              <a:lnSpc>
                <a:spcPct val="109601"/>
              </a:lnSpc>
              <a:spcAft>
                <a:spcPts val="0"/>
              </a:spcAft>
            </a:pPr>
            <a:r>
              <a:rPr sz="760" i="0">
                <a:solidFill>
                  <a:srgbClr val="5C6773"/>
                </a:solidFill>
                <a:latin typeface="Inconsolata"/>
              </a:rPr>
              <a:t>16  </a:t>
            </a:r>
            <a:r>
              <a:rPr sz="760" i="0">
                <a:solidFill>
                  <a:srgbClr val="E6EDF3"/>
                </a:solidFill>
                <a:latin typeface="Inconsolata"/>
              </a:rPr>
              <a:t>engine = create_engine(</a:t>
            </a:r>
          </a:p>
          <a:p>
            <a:pPr>
              <a:lnSpc>
                <a:spcPct val="109601"/>
              </a:lnSpc>
              <a:spcAft>
                <a:spcPts val="0"/>
              </a:spcAft>
            </a:pPr>
            <a:r>
              <a:rPr sz="760" i="0">
                <a:solidFill>
                  <a:srgbClr val="5C6773"/>
                </a:solidFill>
                <a:latin typeface="Inconsolata"/>
              </a:rPr>
              <a:t>17  </a:t>
            </a:r>
            <a:r>
              <a:rPr sz="760" i="0">
                <a:solidFill>
                  <a:srgbClr val="E6EDF3"/>
                </a:solidFill>
                <a:latin typeface="Inconsolata"/>
              </a:rPr>
              <a:t>    </a:t>
            </a:r>
            <a:r>
              <a:rPr sz="760" i="0">
                <a:solidFill>
                  <a:srgbClr val="A5D6A7"/>
                </a:solidFill>
                <a:latin typeface="Inconsolata"/>
              </a:rPr>
              <a:t>"sqlite://"</a:t>
            </a:r>
            <a:r>
              <a:rPr sz="760" i="0">
                <a:solidFill>
                  <a:srgbClr val="E6EDF3"/>
                </a:solidFill>
                <a:latin typeface="Inconsolata"/>
              </a:rPr>
              <a:t>,</a:t>
            </a:r>
          </a:p>
          <a:p>
            <a:pPr>
              <a:lnSpc>
                <a:spcPct val="109601"/>
              </a:lnSpc>
              <a:spcAft>
                <a:spcPts val="0"/>
              </a:spcAft>
            </a:pPr>
            <a:r>
              <a:rPr sz="760" i="0">
                <a:solidFill>
                  <a:srgbClr val="5C6773"/>
                </a:solidFill>
                <a:latin typeface="Inconsolata"/>
              </a:rPr>
              <a:t>18  </a:t>
            </a:r>
            <a:r>
              <a:rPr sz="760" i="0">
                <a:solidFill>
                  <a:srgbClr val="E6EDF3"/>
                </a:solidFill>
                <a:latin typeface="Inconsolata"/>
              </a:rPr>
              <a:t>    connect_args={</a:t>
            </a:r>
            <a:r>
              <a:rPr sz="760" i="0">
                <a:solidFill>
                  <a:srgbClr val="A5D6A7"/>
                </a:solidFill>
                <a:latin typeface="Inconsolata"/>
              </a:rPr>
              <a:t>"check_same_thread"</a:t>
            </a:r>
            <a:r>
              <a:rPr sz="760" i="0">
                <a:solidFill>
                  <a:srgbClr val="E6EDF3"/>
                </a:solidFill>
                <a:latin typeface="Inconsolata"/>
              </a:rPr>
              <a:t>: </a:t>
            </a:r>
            <a:r>
              <a:rPr sz="760" i="0">
                <a:solidFill>
                  <a:srgbClr val="FF8E6E"/>
                </a:solidFill>
                <a:latin typeface="Inconsolata"/>
              </a:rPr>
              <a:t>False</a:t>
            </a:r>
            <a:r>
              <a:rPr sz="760" i="0">
                <a:solidFill>
                  <a:srgbClr val="E6EDF3"/>
                </a:solidFill>
                <a:latin typeface="Inconsolata"/>
              </a:rPr>
              <a:t>},</a:t>
            </a:r>
          </a:p>
          <a:p>
            <a:pPr>
              <a:lnSpc>
                <a:spcPct val="109601"/>
              </a:lnSpc>
              <a:spcAft>
                <a:spcPts val="0"/>
              </a:spcAft>
            </a:pPr>
            <a:r>
              <a:rPr sz="760" i="0">
                <a:solidFill>
                  <a:srgbClr val="5C6773"/>
                </a:solidFill>
                <a:latin typeface="Inconsolata"/>
              </a:rPr>
              <a:t>19  </a:t>
            </a:r>
            <a:r>
              <a:rPr sz="760" i="0">
                <a:solidFill>
                  <a:srgbClr val="E6EDF3"/>
                </a:solidFill>
                <a:latin typeface="Inconsolata"/>
              </a:rPr>
              <a:t>    poolclass=</a:t>
            </a:r>
            <a:r>
              <a:rPr sz="760" i="0">
                <a:solidFill>
                  <a:srgbClr val="7FDBCA"/>
                </a:solidFill>
                <a:latin typeface="Inconsolata"/>
              </a:rPr>
              <a:t>StaticPool</a:t>
            </a:r>
            <a:r>
              <a:rPr sz="760" i="0">
                <a:solidFill>
                  <a:srgbClr val="E6EDF3"/>
                </a:solidFill>
                <a:latin typeface="Inconsolata"/>
              </a:rPr>
              <a:t>,</a:t>
            </a:r>
          </a:p>
          <a:p>
            <a:pPr>
              <a:lnSpc>
                <a:spcPct val="109601"/>
              </a:lnSpc>
              <a:spcAft>
                <a:spcPts val="0"/>
              </a:spcAft>
            </a:pPr>
            <a:r>
              <a:rPr sz="760" i="0">
                <a:solidFill>
                  <a:srgbClr val="5C6773"/>
                </a:solidFill>
                <a:latin typeface="Inconsolata"/>
              </a:rPr>
              <a:t>20  </a:t>
            </a:r>
            <a:r>
              <a:rPr sz="760" i="0">
                <a:solidFill>
                  <a:srgbClr val="E6EDF3"/>
                </a:solidFill>
                <a:latin typeface="Inconsolata"/>
              </a:rPr>
              <a:t>)</a:t>
            </a:r>
          </a:p>
          <a:p>
            <a:pPr>
              <a:lnSpc>
                <a:spcPct val="109601"/>
              </a:lnSpc>
              <a:spcAft>
                <a:spcPts val="0"/>
              </a:spcAft>
            </a:pPr>
            <a:r>
              <a:rPr sz="760" i="0">
                <a:solidFill>
                  <a:srgbClr val="5C6773"/>
                </a:solidFill>
                <a:latin typeface="Inconsolata"/>
              </a:rPr>
              <a:t>21  </a:t>
            </a:r>
            <a:r>
              <a:rPr sz="760" i="0">
                <a:solidFill>
                  <a:srgbClr val="7FDBCA"/>
                </a:solidFill>
                <a:latin typeface="Inconsolata"/>
              </a:rPr>
              <a:t>SessionLocal</a:t>
            </a:r>
            <a:r>
              <a:rPr sz="760" i="0">
                <a:solidFill>
                  <a:srgbClr val="E6EDF3"/>
                </a:solidFill>
                <a:latin typeface="Inconsolata"/>
              </a:rPr>
              <a:t> = sessionmaker(engine)</a:t>
            </a:r>
          </a:p>
          <a:p>
            <a:pPr>
              <a:lnSpc>
                <a:spcPct val="109601"/>
              </a:lnSpc>
              <a:spcAft>
                <a:spcPts val="0"/>
              </a:spcAft>
            </a:pPr>
            <a:r>
              <a:rPr sz="760" i="0">
                <a:solidFill>
                  <a:srgbClr val="5C6773"/>
                </a:solidFill>
                <a:latin typeface="Inconsolata"/>
              </a:rPr>
              <a:t>22  </a:t>
            </a:r>
            <a:r>
              <a:rPr sz="760" i="0">
                <a:solidFill>
                  <a:srgbClr val="E6EDF3"/>
                </a:solidFill>
                <a:latin typeface="Inconsolata"/>
              </a:rPr>
              <a:t> </a:t>
            </a:r>
          </a:p>
          <a:p>
            <a:pPr>
              <a:lnSpc>
                <a:spcPct val="109601"/>
              </a:lnSpc>
              <a:spcAft>
                <a:spcPts val="0"/>
              </a:spcAft>
            </a:pPr>
            <a:r>
              <a:rPr sz="760" i="0">
                <a:solidFill>
                  <a:srgbClr val="5C6773"/>
                </a:solidFill>
                <a:latin typeface="Inconsolata"/>
              </a:rPr>
              <a:t>23  </a:t>
            </a:r>
            <a:r>
              <a:rPr sz="760" i="0">
                <a:solidFill>
                  <a:srgbClr val="E6EDF3"/>
                </a:solidFill>
                <a:latin typeface="Inconsolata"/>
              </a:rPr>
              <a:t> </a:t>
            </a:r>
          </a:p>
          <a:p>
            <a:pPr>
              <a:lnSpc>
                <a:spcPct val="109601"/>
              </a:lnSpc>
              <a:spcAft>
                <a:spcPts val="0"/>
              </a:spcAft>
            </a:pPr>
            <a:r>
              <a:rPr sz="760" i="0">
                <a:solidFill>
                  <a:srgbClr val="5C6773"/>
                </a:solidFill>
                <a:latin typeface="Inconsolata"/>
              </a:rPr>
              <a:t>24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Base</a:t>
            </a:r>
            <a:r>
              <a:rPr sz="760" i="0">
                <a:solidFill>
                  <a:srgbClr val="E6EDF3"/>
                </a:solidFill>
                <a:latin typeface="Inconsolata"/>
              </a:rPr>
              <a:t>(</a:t>
            </a:r>
            <a:r>
              <a:rPr sz="760" i="0">
                <a:solidFill>
                  <a:srgbClr val="7FDBCA"/>
                </a:solidFill>
                <a:latin typeface="Inconsolata"/>
              </a:rPr>
              <a:t>DeclarativeBase</a:t>
            </a:r>
            <a:r>
              <a:rPr sz="760" i="0">
                <a:solidFill>
                  <a:srgbClr val="E6EDF3"/>
                </a:solidFill>
                <a:latin typeface="Inconsolata"/>
              </a:rPr>
              <a:t>):</a:t>
            </a:r>
          </a:p>
          <a:p>
            <a:pPr>
              <a:lnSpc>
                <a:spcPct val="109601"/>
              </a:lnSpc>
              <a:spcAft>
                <a:spcPts val="0"/>
              </a:spcAft>
            </a:pPr>
            <a:r>
              <a:rPr sz="760" i="0">
                <a:solidFill>
                  <a:srgbClr val="5C6773"/>
                </a:solidFill>
                <a:latin typeface="Inconsolata"/>
              </a:rPr>
              <a:t>25  </a:t>
            </a:r>
            <a:r>
              <a:rPr sz="760" i="0">
                <a:solidFill>
                  <a:srgbClr val="E6EDF3"/>
                </a:solidFill>
                <a:latin typeface="Inconsolata"/>
              </a:rPr>
              <a:t>    </a:t>
            </a:r>
            <a:r>
              <a:rPr sz="760" i="0">
                <a:solidFill>
                  <a:srgbClr val="FF8E6E"/>
                </a:solidFill>
                <a:latin typeface="Inconsolata"/>
              </a:rPr>
              <a:t>pass</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03-dependency-graph/before.py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28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ProductRecord</a:t>
            </a:r>
            <a:r>
              <a:rPr sz="760" i="0">
                <a:solidFill>
                  <a:srgbClr val="E6EDF3"/>
                </a:solidFill>
                <a:latin typeface="Inconsolata"/>
              </a:rPr>
              <a:t>(</a:t>
            </a:r>
            <a:r>
              <a:rPr sz="760" i="0">
                <a:solidFill>
                  <a:srgbClr val="7FDBCA"/>
                </a:solidFill>
                <a:latin typeface="Inconsolata"/>
              </a:rPr>
              <a:t>Base</a:t>
            </a:r>
            <a:r>
              <a:rPr sz="760" i="0">
                <a:solidFill>
                  <a:srgbClr val="E6EDF3"/>
                </a:solidFill>
                <a:latin typeface="Inconsolata"/>
              </a:rPr>
              <a:t>):</a:t>
            </a:r>
          </a:p>
          <a:p>
            <a:pPr>
              <a:lnSpc>
                <a:spcPct val="109601"/>
              </a:lnSpc>
              <a:spcAft>
                <a:spcPts val="0"/>
              </a:spcAft>
            </a:pPr>
            <a:r>
              <a:rPr sz="760" i="0">
                <a:solidFill>
                  <a:srgbClr val="5C6773"/>
                </a:solidFill>
                <a:latin typeface="Inconsolata"/>
              </a:rPr>
              <a:t>29  </a:t>
            </a:r>
            <a:r>
              <a:rPr sz="760" i="0">
                <a:solidFill>
                  <a:srgbClr val="E6EDF3"/>
                </a:solidFill>
                <a:latin typeface="Inconsolata"/>
              </a:rPr>
              <a:t>    __tablename__ = </a:t>
            </a:r>
            <a:r>
              <a:rPr sz="760" i="0">
                <a:solidFill>
                  <a:srgbClr val="A5D6A7"/>
                </a:solidFill>
                <a:latin typeface="Inconsolata"/>
              </a:rPr>
              <a:t>"products"</a:t>
            </a:r>
          </a:p>
          <a:p>
            <a:pPr>
              <a:lnSpc>
                <a:spcPct val="109601"/>
              </a:lnSpc>
              <a:spcAft>
                <a:spcPts val="0"/>
              </a:spcAft>
            </a:pPr>
            <a:r>
              <a:rPr sz="760" i="0">
                <a:solidFill>
                  <a:srgbClr val="5C6773"/>
                </a:solidFill>
                <a:latin typeface="Inconsolata"/>
              </a:rPr>
              <a:t>30  </a:t>
            </a:r>
            <a:r>
              <a:rPr sz="760" i="0">
                <a:solidFill>
                  <a:srgbClr val="E6EDF3"/>
                </a:solidFill>
                <a:latin typeface="Inconsolata"/>
              </a:rPr>
              <a:t>    id: </a:t>
            </a:r>
            <a:r>
              <a:rPr sz="760" i="0">
                <a:solidFill>
                  <a:srgbClr val="7FDBCA"/>
                </a:solidFill>
                <a:latin typeface="Inconsolata"/>
              </a:rPr>
              <a:t>Mapped</a:t>
            </a:r>
            <a:r>
              <a:rPr sz="760" i="0">
                <a:solidFill>
                  <a:srgbClr val="E6EDF3"/>
                </a:solidFill>
                <a:latin typeface="Inconsolata"/>
              </a:rPr>
              <a:t>[</a:t>
            </a:r>
            <a:r>
              <a:rPr sz="760" i="0">
                <a:solidFill>
                  <a:srgbClr val="C3A6FF"/>
                </a:solidFill>
                <a:latin typeface="Inconsolata"/>
              </a:rPr>
              <a:t>int</a:t>
            </a:r>
            <a:r>
              <a:rPr sz="760" i="0">
                <a:solidFill>
                  <a:srgbClr val="E6EDF3"/>
                </a:solidFill>
                <a:latin typeface="Inconsolata"/>
              </a:rPr>
              <a:t>] = mapped_column(primary_key=</a:t>
            </a:r>
            <a:r>
              <a:rPr sz="760" i="0">
                <a:solidFill>
                  <a:srgbClr val="FF8E6E"/>
                </a:solidFill>
                <a:latin typeface="Inconsolata"/>
              </a:rPr>
              <a:t>True</a:t>
            </a:r>
            <a:r>
              <a:rPr sz="760" i="0">
                <a:solidFill>
                  <a:srgbClr val="E6EDF3"/>
                </a:solidFill>
                <a:latin typeface="Inconsolata"/>
              </a:rPr>
              <a:t>)</a:t>
            </a:r>
          </a:p>
          <a:p>
            <a:pPr>
              <a:lnSpc>
                <a:spcPct val="109601"/>
              </a:lnSpc>
              <a:spcAft>
                <a:spcPts val="0"/>
              </a:spcAft>
            </a:pPr>
            <a:r>
              <a:rPr sz="760" i="0">
                <a:solidFill>
                  <a:srgbClr val="5C6773"/>
                </a:solidFill>
                <a:latin typeface="Inconsolata"/>
              </a:rPr>
              <a:t>31  </a:t>
            </a:r>
            <a:r>
              <a:rPr sz="760" i="0">
                <a:solidFill>
                  <a:srgbClr val="E6EDF3"/>
                </a:solidFill>
                <a:latin typeface="Inconsolata"/>
              </a:rPr>
              <a:t>    name: </a:t>
            </a:r>
            <a:r>
              <a:rPr sz="760" i="0">
                <a:solidFill>
                  <a:srgbClr val="7FDBCA"/>
                </a:solidFill>
                <a:latin typeface="Inconsolata"/>
              </a:rPr>
              <a:t>Mapped</a:t>
            </a:r>
            <a:r>
              <a:rPr sz="760" i="0">
                <a:solidFill>
                  <a:srgbClr val="E6EDF3"/>
                </a:solidFill>
                <a:latin typeface="Inconsolata"/>
              </a:rPr>
              <a:t>[</a:t>
            </a:r>
            <a:r>
              <a:rPr sz="760" i="0">
                <a:solidFill>
                  <a:srgbClr val="C3A6FF"/>
                </a:solidFill>
                <a:latin typeface="Inconsolata"/>
              </a:rPr>
              <a:t>str</a:t>
            </a:r>
            <a:r>
              <a:rPr sz="760" i="0">
                <a:solidFill>
                  <a:srgbClr val="E6EDF3"/>
                </a:solidFill>
                <a:latin typeface="Inconsolata"/>
              </a:rPr>
              <a:t>] = mapped_column(</a:t>
            </a:r>
            <a:r>
              <a:rPr sz="760" i="0">
                <a:solidFill>
                  <a:srgbClr val="7FDBCA"/>
                </a:solidFill>
                <a:latin typeface="Inconsolata"/>
              </a:rPr>
              <a:t>String</a:t>
            </a:r>
            <a:r>
              <a:rPr sz="760" i="0">
                <a:solidFill>
                  <a:srgbClr val="E6EDF3"/>
                </a:solidFill>
                <a:latin typeface="Inconsolata"/>
              </a:rPr>
              <a:t>(</a:t>
            </a:r>
            <a:r>
              <a:rPr sz="760" i="0">
                <a:solidFill>
                  <a:srgbClr val="F9C97A"/>
                </a:solidFill>
                <a:latin typeface="Inconsolata"/>
              </a:rPr>
              <a:t>100</a:t>
            </a:r>
            <a:r>
              <a:rPr sz="760" i="0">
                <a:solidFill>
                  <a:srgbClr val="E6EDF3"/>
                </a:solidFill>
                <a:latin typeface="Inconsolata"/>
              </a:rPr>
              <a:t>))</a:t>
            </a:r>
          </a:p>
          <a:p>
            <a:pPr>
              <a:lnSpc>
                <a:spcPct val="109601"/>
              </a:lnSpc>
              <a:spcAft>
                <a:spcPts val="0"/>
              </a:spcAft>
            </a:pPr>
            <a:r>
              <a:rPr sz="760" i="0">
                <a:solidFill>
                  <a:srgbClr val="5C6773"/>
                </a:solidFill>
                <a:latin typeface="Inconsolata"/>
              </a:rPr>
              <a:t>32  </a:t>
            </a:r>
            <a:r>
              <a:rPr sz="760" i="0">
                <a:solidFill>
                  <a:srgbClr val="E6EDF3"/>
                </a:solidFill>
                <a:latin typeface="Inconsolata"/>
              </a:rPr>
              <a:t>    price: </a:t>
            </a:r>
            <a:r>
              <a:rPr sz="760" i="0">
                <a:solidFill>
                  <a:srgbClr val="7FDBCA"/>
                </a:solidFill>
                <a:latin typeface="Inconsolata"/>
              </a:rPr>
              <a:t>Mapped</a:t>
            </a:r>
            <a:r>
              <a:rPr sz="760" i="0">
                <a:solidFill>
                  <a:srgbClr val="E6EDF3"/>
                </a:solidFill>
                <a:latin typeface="Inconsolata"/>
              </a:rPr>
              <a:t>[</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33  </a:t>
            </a:r>
            <a:r>
              <a:rPr sz="760" i="0">
                <a:solidFill>
                  <a:srgbClr val="E6EDF3"/>
                </a:solidFill>
                <a:latin typeface="Inconsolata"/>
              </a:rPr>
              <a:t> </a:t>
            </a:r>
          </a:p>
          <a:p>
            <a:pPr>
              <a:lnSpc>
                <a:spcPct val="109601"/>
              </a:lnSpc>
              <a:spcAft>
                <a:spcPts val="0"/>
              </a:spcAft>
            </a:pPr>
            <a:r>
              <a:rPr sz="760" i="0">
                <a:solidFill>
                  <a:srgbClr val="5C6773"/>
                </a:solidFill>
                <a:latin typeface="Inconsolata"/>
              </a:rPr>
              <a:t>34  </a:t>
            </a:r>
            <a:r>
              <a:rPr sz="760" i="0">
                <a:solidFill>
                  <a:srgbClr val="E6EDF3"/>
                </a:solidFill>
                <a:latin typeface="Inconsolata"/>
              </a:rPr>
              <a:t> </a:t>
            </a:r>
          </a:p>
          <a:p>
            <a:pPr>
              <a:lnSpc>
                <a:spcPct val="109601"/>
              </a:lnSpc>
              <a:spcAft>
                <a:spcPts val="0"/>
              </a:spcAft>
            </a:pPr>
            <a:r>
              <a:rPr sz="760" i="0">
                <a:solidFill>
                  <a:srgbClr val="5C6773"/>
                </a:solidFill>
                <a:latin typeface="Inconsolata"/>
              </a:rPr>
              <a:t>35  </a:t>
            </a:r>
            <a:r>
              <a:rPr sz="760" i="0">
                <a:solidFill>
                  <a:srgbClr val="7FDBCA"/>
                </a:solidFill>
                <a:latin typeface="Inconsolata"/>
              </a:rPr>
              <a:t>Base</a:t>
            </a:r>
            <a:r>
              <a:rPr sz="760" i="0">
                <a:solidFill>
                  <a:srgbClr val="E6EDF3"/>
                </a:solidFill>
                <a:latin typeface="Inconsolata"/>
              </a:rPr>
              <a:t>.metadata.create_all(engine)</a:t>
            </a:r>
          </a:p>
          <a:p>
            <a:pPr>
              <a:lnSpc>
                <a:spcPct val="109601"/>
              </a:lnSpc>
              <a:spcAft>
                <a:spcPts val="0"/>
              </a:spcAft>
            </a:pPr>
            <a:r>
              <a:rPr sz="760" i="0">
                <a:solidFill>
                  <a:srgbClr val="5C6773"/>
                </a:solidFill>
                <a:latin typeface="Inconsolata"/>
              </a:rPr>
              <a:t>36  </a:t>
            </a:r>
            <a:r>
              <a:rPr sz="760" i="0">
                <a:solidFill>
                  <a:srgbClr val="E6EDF3"/>
                </a:solidFill>
                <a:latin typeface="Inconsolata"/>
              </a:rPr>
              <a:t> </a:t>
            </a:r>
          </a:p>
          <a:p>
            <a:pPr>
              <a:lnSpc>
                <a:spcPct val="109601"/>
              </a:lnSpc>
              <a:spcAft>
                <a:spcPts val="0"/>
              </a:spcAft>
            </a:pPr>
            <a:r>
              <a:rPr sz="760" i="0">
                <a:solidFill>
                  <a:srgbClr val="5C6773"/>
                </a:solidFill>
                <a:latin typeface="Inconsolata"/>
              </a:rPr>
              <a:t>37  </a:t>
            </a:r>
            <a:r>
              <a:rPr sz="760" i="0">
                <a:solidFill>
                  <a:srgbClr val="E6EDF3"/>
                </a:solidFill>
                <a:latin typeface="Inconsolata"/>
              </a:rPr>
              <a:t> </a:t>
            </a:r>
          </a:p>
          <a:p>
            <a:pPr>
              <a:lnSpc>
                <a:spcPct val="109601"/>
              </a:lnSpc>
              <a:spcAft>
                <a:spcPts val="0"/>
              </a:spcAft>
            </a:pPr>
            <a:r>
              <a:rPr sz="760" i="0">
                <a:solidFill>
                  <a:srgbClr val="5C6773"/>
                </a:solidFill>
                <a:latin typeface="Inconsolata"/>
              </a:rPr>
              <a:t>38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ProductRepository</a:t>
            </a:r>
            <a:r>
              <a:rPr sz="760" i="0">
                <a:solidFill>
                  <a:srgbClr val="E6EDF3"/>
                </a:solidFill>
                <a:latin typeface="Inconsolata"/>
              </a:rPr>
              <a:t>:</a:t>
            </a:r>
          </a:p>
          <a:p>
            <a:pPr>
              <a:lnSpc>
                <a:spcPct val="109601"/>
              </a:lnSpc>
              <a:spcAft>
                <a:spcPts val="0"/>
              </a:spcAft>
            </a:pPr>
            <a:r>
              <a:rPr sz="760" i="0">
                <a:solidFill>
                  <a:srgbClr val="5C6773"/>
                </a:solidFill>
                <a:latin typeface="Inconsolata"/>
              </a:rPr>
              <a:t>39  </a:t>
            </a:r>
            <a:r>
              <a:rPr sz="760" i="0">
                <a:solidFill>
                  <a:srgbClr val="E6EDF3"/>
                </a:solidFill>
                <a:latin typeface="Inconsolata"/>
              </a:rPr>
              <a:t>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__init__</a:t>
            </a:r>
            <a:r>
              <a:rPr sz="760" i="0">
                <a:solidFill>
                  <a:srgbClr val="E6EDF3"/>
                </a:solidFill>
                <a:latin typeface="Inconsolata"/>
              </a:rPr>
              <a:t>(</a:t>
            </a:r>
            <a:r>
              <a:rPr sz="760" i="0">
                <a:solidFill>
                  <a:srgbClr val="C3A6FF"/>
                </a:solidFill>
                <a:latin typeface="Inconsolata"/>
              </a:rPr>
              <a:t>self</a:t>
            </a:r>
            <a:r>
              <a:rPr sz="760" i="0">
                <a:solidFill>
                  <a:srgbClr val="E6EDF3"/>
                </a:solidFill>
                <a:latin typeface="Inconsolata"/>
              </a:rPr>
              <a:t>, session: </a:t>
            </a:r>
            <a:r>
              <a:rPr sz="760" i="0">
                <a:solidFill>
                  <a:srgbClr val="7FDBCA"/>
                </a:solidFill>
                <a:latin typeface="Inconsolata"/>
              </a:rPr>
              <a:t>Session</a:t>
            </a:r>
            <a:r>
              <a:rPr sz="760" i="0">
                <a:solidFill>
                  <a:srgbClr val="E6EDF3"/>
                </a:solidFill>
                <a:latin typeface="Inconsolata"/>
              </a:rPr>
              <a:t>):</a:t>
            </a:r>
          </a:p>
          <a:p>
            <a:pPr>
              <a:lnSpc>
                <a:spcPct val="109601"/>
              </a:lnSpc>
              <a:spcAft>
                <a:spcPts val="0"/>
              </a:spcAft>
            </a:pPr>
            <a:r>
              <a:rPr sz="760" i="0">
                <a:solidFill>
                  <a:srgbClr val="5C6773"/>
                </a:solidFill>
                <a:latin typeface="Inconsolata"/>
              </a:rPr>
              <a:t>40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.session = session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Graph</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Session dibuat manual di setiap route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03-dependency-graph/before.py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3338"/>
              </a:lnSpc>
              <a:spcAft>
                <a:spcPts val="0"/>
              </a:spcAft>
            </a:pPr>
            <a:r>
              <a:rPr sz="806" i="0">
                <a:solidFill>
                  <a:srgbClr val="5C6773"/>
                </a:solidFill>
                <a:latin typeface="Inconsolata"/>
              </a:rPr>
              <a:t>42  </a:t>
            </a:r>
            <a:r>
              <a:rPr sz="806" i="0">
                <a:solidFill>
                  <a:srgbClr val="E6EDF3"/>
                </a:solidFill>
                <a:latin typeface="Inconsolata"/>
              </a:rPr>
              <a:t>    </a:t>
            </a:r>
            <a:r>
              <a:rPr sz="806" i="0">
                <a:solidFill>
                  <a:srgbClr val="FF8E6E"/>
                </a:solidFill>
                <a:latin typeface="Inconsolata"/>
              </a:rPr>
              <a:t>def</a:t>
            </a:r>
            <a:r>
              <a:rPr sz="806" i="0">
                <a:solidFill>
                  <a:srgbClr val="E6EDF3"/>
                </a:solidFill>
                <a:latin typeface="Inconsolata"/>
              </a:rPr>
              <a:t> </a:t>
            </a:r>
            <a:r>
              <a:rPr sz="806" i="0">
                <a:solidFill>
                  <a:srgbClr val="82B1FF"/>
                </a:solidFill>
                <a:latin typeface="Inconsolata"/>
              </a:rPr>
              <a:t>add</a:t>
            </a:r>
            <a:r>
              <a:rPr sz="806" i="0">
                <a:solidFill>
                  <a:srgbClr val="E6EDF3"/>
                </a:solidFill>
                <a:latin typeface="Inconsolata"/>
              </a:rPr>
              <a:t>(</a:t>
            </a:r>
            <a:r>
              <a:rPr sz="806" i="0">
                <a:solidFill>
                  <a:srgbClr val="C3A6FF"/>
                </a:solidFill>
                <a:latin typeface="Inconsolata"/>
              </a:rPr>
              <a:t>self</a:t>
            </a:r>
            <a:r>
              <a:rPr sz="806" i="0">
                <a:solidFill>
                  <a:srgbClr val="E6EDF3"/>
                </a:solidFill>
                <a:latin typeface="Inconsolata"/>
              </a:rPr>
              <a:t>, name: </a:t>
            </a:r>
            <a:r>
              <a:rPr sz="806" i="0">
                <a:solidFill>
                  <a:srgbClr val="C3A6FF"/>
                </a:solidFill>
                <a:latin typeface="Inconsolata"/>
              </a:rPr>
              <a:t>str</a:t>
            </a:r>
            <a:r>
              <a:rPr sz="806" i="0">
                <a:solidFill>
                  <a:srgbClr val="E6EDF3"/>
                </a:solidFill>
                <a:latin typeface="Inconsolata"/>
              </a:rPr>
              <a:t>, price: </a:t>
            </a:r>
            <a:r>
              <a:rPr sz="806" i="0">
                <a:solidFill>
                  <a:srgbClr val="C3A6FF"/>
                </a:solidFill>
                <a:latin typeface="Inconsolata"/>
              </a:rPr>
              <a:t>int</a:t>
            </a:r>
            <a:r>
              <a:rPr sz="806" i="0">
                <a:solidFill>
                  <a:srgbClr val="E6EDF3"/>
                </a:solidFill>
                <a:latin typeface="Inconsolata"/>
              </a:rPr>
              <a:t>) -&gt; </a:t>
            </a:r>
            <a:r>
              <a:rPr sz="806" i="0">
                <a:solidFill>
                  <a:srgbClr val="7FDBCA"/>
                </a:solidFill>
                <a:latin typeface="Inconsolata"/>
              </a:rPr>
              <a:t>ProductRecord</a:t>
            </a:r>
            <a:r>
              <a:rPr sz="806" i="0">
                <a:solidFill>
                  <a:srgbClr val="E6EDF3"/>
                </a:solidFill>
                <a:latin typeface="Inconsolata"/>
              </a:rPr>
              <a:t>:</a:t>
            </a:r>
          </a:p>
          <a:p>
            <a:pPr>
              <a:lnSpc>
                <a:spcPct val="103338"/>
              </a:lnSpc>
              <a:spcAft>
                <a:spcPts val="0"/>
              </a:spcAft>
            </a:pPr>
            <a:r>
              <a:rPr sz="806" i="0">
                <a:solidFill>
                  <a:srgbClr val="5C6773"/>
                </a:solidFill>
                <a:latin typeface="Inconsolata"/>
              </a:rPr>
              <a:t>43  </a:t>
            </a:r>
            <a:r>
              <a:rPr sz="806" i="0">
                <a:solidFill>
                  <a:srgbClr val="E6EDF3"/>
                </a:solidFill>
                <a:latin typeface="Inconsolata"/>
              </a:rPr>
              <a:t>        record = </a:t>
            </a:r>
            <a:r>
              <a:rPr sz="806" i="0">
                <a:solidFill>
                  <a:srgbClr val="7FDBCA"/>
                </a:solidFill>
                <a:latin typeface="Inconsolata"/>
              </a:rPr>
              <a:t>ProductRecord</a:t>
            </a:r>
            <a:r>
              <a:rPr sz="806" i="0">
                <a:solidFill>
                  <a:srgbClr val="E6EDF3"/>
                </a:solidFill>
                <a:latin typeface="Inconsolata"/>
              </a:rPr>
              <a:t>(name=name, price=price)</a:t>
            </a:r>
          </a:p>
          <a:p>
            <a:pPr>
              <a:lnSpc>
                <a:spcPct val="103338"/>
              </a:lnSpc>
              <a:spcAft>
                <a:spcPts val="0"/>
              </a:spcAft>
            </a:pPr>
            <a:r>
              <a:rPr sz="806" i="0">
                <a:solidFill>
                  <a:srgbClr val="5C6773"/>
                </a:solidFill>
                <a:latin typeface="Inconsolata"/>
              </a:rPr>
              <a:t>44  </a:t>
            </a:r>
            <a:r>
              <a:rPr sz="806" i="0">
                <a:solidFill>
                  <a:srgbClr val="E6EDF3"/>
                </a:solidFill>
                <a:latin typeface="Inconsolata"/>
              </a:rPr>
              <a:t>        </a:t>
            </a:r>
            <a:r>
              <a:rPr sz="806" i="0">
                <a:solidFill>
                  <a:srgbClr val="C3A6FF"/>
                </a:solidFill>
                <a:latin typeface="Inconsolata"/>
              </a:rPr>
              <a:t>self</a:t>
            </a:r>
            <a:r>
              <a:rPr sz="806" i="0">
                <a:solidFill>
                  <a:srgbClr val="E6EDF3"/>
                </a:solidFill>
                <a:latin typeface="Inconsolata"/>
              </a:rPr>
              <a:t>.session.add(record)</a:t>
            </a:r>
          </a:p>
          <a:p>
            <a:pPr>
              <a:lnSpc>
                <a:spcPct val="103338"/>
              </a:lnSpc>
              <a:spcAft>
                <a:spcPts val="0"/>
              </a:spcAft>
            </a:pPr>
            <a:r>
              <a:rPr sz="806" i="0">
                <a:solidFill>
                  <a:srgbClr val="5C6773"/>
                </a:solidFill>
                <a:latin typeface="Inconsolata"/>
              </a:rPr>
              <a:t>45  </a:t>
            </a:r>
            <a:r>
              <a:rPr sz="806" i="0">
                <a:solidFill>
                  <a:srgbClr val="E6EDF3"/>
                </a:solidFill>
                <a:latin typeface="Inconsolata"/>
              </a:rPr>
              <a:t>        </a:t>
            </a:r>
            <a:r>
              <a:rPr sz="806" i="0">
                <a:solidFill>
                  <a:srgbClr val="C3A6FF"/>
                </a:solidFill>
                <a:latin typeface="Inconsolata"/>
              </a:rPr>
              <a:t>self</a:t>
            </a:r>
            <a:r>
              <a:rPr sz="806" i="0">
                <a:solidFill>
                  <a:srgbClr val="E6EDF3"/>
                </a:solidFill>
                <a:latin typeface="Inconsolata"/>
              </a:rPr>
              <a:t>.session.commit()</a:t>
            </a:r>
          </a:p>
          <a:p>
            <a:pPr>
              <a:lnSpc>
                <a:spcPct val="103338"/>
              </a:lnSpc>
              <a:spcAft>
                <a:spcPts val="0"/>
              </a:spcAft>
            </a:pPr>
            <a:r>
              <a:rPr sz="806" i="0">
                <a:solidFill>
                  <a:srgbClr val="5C6773"/>
                </a:solidFill>
                <a:latin typeface="Inconsolata"/>
              </a:rPr>
              <a:t>46  </a:t>
            </a:r>
            <a:r>
              <a:rPr sz="806" i="0">
                <a:solidFill>
                  <a:srgbClr val="E6EDF3"/>
                </a:solidFill>
                <a:latin typeface="Inconsolata"/>
              </a:rPr>
              <a:t>        </a:t>
            </a:r>
            <a:r>
              <a:rPr sz="806" i="0">
                <a:solidFill>
                  <a:srgbClr val="FF8E6E"/>
                </a:solidFill>
                <a:latin typeface="Inconsolata"/>
              </a:rPr>
              <a:t>return</a:t>
            </a:r>
            <a:r>
              <a:rPr sz="806" i="0">
                <a:solidFill>
                  <a:srgbClr val="E6EDF3"/>
                </a:solidFill>
                <a:latin typeface="Inconsolata"/>
              </a:rPr>
              <a:t> record</a:t>
            </a:r>
          </a:p>
          <a:p>
            <a:pPr>
              <a:lnSpc>
                <a:spcPct val="103338"/>
              </a:lnSpc>
              <a:spcAft>
                <a:spcPts val="0"/>
              </a:spcAft>
            </a:pPr>
            <a:r>
              <a:rPr sz="806" i="0">
                <a:solidFill>
                  <a:srgbClr val="5C6773"/>
                </a:solidFill>
                <a:latin typeface="Inconsolata"/>
              </a:rPr>
              <a:t>47  </a:t>
            </a:r>
            <a:r>
              <a:rPr sz="806" i="0">
                <a:solidFill>
                  <a:srgbClr val="E6EDF3"/>
                </a:solidFill>
                <a:latin typeface="Inconsolata"/>
              </a:rPr>
              <a:t> </a:t>
            </a:r>
          </a:p>
          <a:p>
            <a:pPr>
              <a:lnSpc>
                <a:spcPct val="103338"/>
              </a:lnSpc>
              <a:spcAft>
                <a:spcPts val="0"/>
              </a:spcAft>
            </a:pPr>
            <a:r>
              <a:rPr sz="806" i="0">
                <a:solidFill>
                  <a:srgbClr val="5C6773"/>
                </a:solidFill>
                <a:latin typeface="Inconsolata"/>
              </a:rPr>
              <a:t>48  </a:t>
            </a:r>
            <a:r>
              <a:rPr sz="806" i="0">
                <a:solidFill>
                  <a:srgbClr val="E6EDF3"/>
                </a:solidFill>
                <a:latin typeface="Inconsolata"/>
              </a:rPr>
              <a:t>    </a:t>
            </a:r>
            <a:r>
              <a:rPr sz="806" i="0">
                <a:solidFill>
                  <a:srgbClr val="FF8E6E"/>
                </a:solidFill>
                <a:latin typeface="Inconsolata"/>
              </a:rPr>
              <a:t>def</a:t>
            </a:r>
            <a:r>
              <a:rPr sz="806" i="0">
                <a:solidFill>
                  <a:srgbClr val="E6EDF3"/>
                </a:solidFill>
                <a:latin typeface="Inconsolata"/>
              </a:rPr>
              <a:t> </a:t>
            </a:r>
            <a:r>
              <a:rPr sz="806" i="0">
                <a:solidFill>
                  <a:srgbClr val="82B1FF"/>
                </a:solidFill>
                <a:latin typeface="Inconsolata"/>
              </a:rPr>
              <a:t>list</a:t>
            </a:r>
            <a:r>
              <a:rPr sz="806" i="0">
                <a:solidFill>
                  <a:srgbClr val="E6EDF3"/>
                </a:solidFill>
                <a:latin typeface="Inconsolata"/>
              </a:rPr>
              <a:t>(</a:t>
            </a:r>
            <a:r>
              <a:rPr sz="806" i="0">
                <a:solidFill>
                  <a:srgbClr val="C3A6FF"/>
                </a:solidFill>
                <a:latin typeface="Inconsolata"/>
              </a:rPr>
              <a:t>self</a:t>
            </a:r>
            <a:r>
              <a:rPr sz="806" i="0">
                <a:solidFill>
                  <a:srgbClr val="E6EDF3"/>
                </a:solidFill>
                <a:latin typeface="Inconsolata"/>
              </a:rPr>
              <a:t>) -&gt; </a:t>
            </a:r>
            <a:r>
              <a:rPr sz="806" i="0">
                <a:solidFill>
                  <a:srgbClr val="C3A6FF"/>
                </a:solidFill>
                <a:latin typeface="Inconsolata"/>
              </a:rPr>
              <a:t>list</a:t>
            </a:r>
            <a:r>
              <a:rPr sz="806" i="0">
                <a:solidFill>
                  <a:srgbClr val="E6EDF3"/>
                </a:solidFill>
                <a:latin typeface="Inconsolata"/>
              </a:rPr>
              <a:t>[</a:t>
            </a:r>
            <a:r>
              <a:rPr sz="806" i="0">
                <a:solidFill>
                  <a:srgbClr val="7FDBCA"/>
                </a:solidFill>
                <a:latin typeface="Inconsolata"/>
              </a:rPr>
              <a:t>ProductRecord</a:t>
            </a:r>
            <a:r>
              <a:rPr sz="806" i="0">
                <a:solidFill>
                  <a:srgbClr val="E6EDF3"/>
                </a:solidFill>
                <a:latin typeface="Inconsolata"/>
              </a:rPr>
              <a:t>]:</a:t>
            </a:r>
          </a:p>
          <a:p>
            <a:pPr>
              <a:lnSpc>
                <a:spcPct val="103338"/>
              </a:lnSpc>
              <a:spcAft>
                <a:spcPts val="0"/>
              </a:spcAft>
            </a:pPr>
            <a:r>
              <a:rPr sz="806" i="0">
                <a:solidFill>
                  <a:srgbClr val="5C6773"/>
                </a:solidFill>
                <a:latin typeface="Inconsolata"/>
              </a:rPr>
              <a:t>49  </a:t>
            </a:r>
            <a:r>
              <a:rPr sz="806" i="0">
                <a:solidFill>
                  <a:srgbClr val="E6EDF3"/>
                </a:solidFill>
                <a:latin typeface="Inconsolata"/>
              </a:rPr>
              <a:t>        </a:t>
            </a:r>
            <a:r>
              <a:rPr sz="806" i="0">
                <a:solidFill>
                  <a:srgbClr val="FF8E6E"/>
                </a:solidFill>
                <a:latin typeface="Inconsolata"/>
              </a:rPr>
              <a:t>return</a:t>
            </a:r>
            <a:r>
              <a:rPr sz="806" i="0">
                <a:solidFill>
                  <a:srgbClr val="E6EDF3"/>
                </a:solidFill>
                <a:latin typeface="Inconsolata"/>
              </a:rPr>
              <a:t> </a:t>
            </a:r>
            <a:r>
              <a:rPr sz="806" i="0">
                <a:solidFill>
                  <a:srgbClr val="C3A6FF"/>
                </a:solidFill>
                <a:latin typeface="Inconsolata"/>
              </a:rPr>
              <a:t>list</a:t>
            </a:r>
            <a:r>
              <a:rPr sz="806" i="0">
                <a:solidFill>
                  <a:srgbClr val="E6EDF3"/>
                </a:solidFill>
                <a:latin typeface="Inconsolata"/>
              </a:rPr>
              <a:t>(</a:t>
            </a:r>
            <a:r>
              <a:rPr sz="806" i="0">
                <a:solidFill>
                  <a:srgbClr val="C3A6FF"/>
                </a:solidFill>
                <a:latin typeface="Inconsolata"/>
              </a:rPr>
              <a:t>self</a:t>
            </a:r>
            <a:r>
              <a:rPr sz="806" i="0">
                <a:solidFill>
                  <a:srgbClr val="E6EDF3"/>
                </a:solidFill>
                <a:latin typeface="Inconsolata"/>
              </a:rPr>
              <a:t>.session.query(</a:t>
            </a:r>
            <a:r>
              <a:rPr sz="806" i="0">
                <a:solidFill>
                  <a:srgbClr val="7FDBCA"/>
                </a:solidFill>
                <a:latin typeface="Inconsolata"/>
              </a:rPr>
              <a:t>ProductRecord</a:t>
            </a:r>
            <a:r>
              <a:rPr sz="806" i="0">
                <a:solidFill>
                  <a:srgbClr val="E6EDF3"/>
                </a:solidFill>
                <a:latin typeface="Inconsolata"/>
              </a:rPr>
              <a:t>))</a:t>
            </a:r>
          </a:p>
          <a:p>
            <a:pPr>
              <a:lnSpc>
                <a:spcPct val="103338"/>
              </a:lnSpc>
              <a:spcAft>
                <a:spcPts val="0"/>
              </a:spcAft>
            </a:pPr>
            <a:r>
              <a:rPr sz="806" i="0">
                <a:solidFill>
                  <a:srgbClr val="5C6773"/>
                </a:solidFill>
                <a:latin typeface="Inconsolata"/>
              </a:rPr>
              <a:t>50  </a:t>
            </a:r>
            <a:r>
              <a:rPr sz="806" i="0">
                <a:solidFill>
                  <a:srgbClr val="E6EDF3"/>
                </a:solidFill>
                <a:latin typeface="Inconsolata"/>
              </a:rPr>
              <a:t> </a:t>
            </a:r>
          </a:p>
          <a:p>
            <a:pPr>
              <a:lnSpc>
                <a:spcPct val="103338"/>
              </a:lnSpc>
              <a:spcAft>
                <a:spcPts val="0"/>
              </a:spcAft>
            </a:pPr>
            <a:r>
              <a:rPr sz="806" i="0">
                <a:solidFill>
                  <a:srgbClr val="5C6773"/>
                </a:solidFill>
                <a:latin typeface="Inconsolata"/>
              </a:rPr>
              <a:t>51  </a:t>
            </a:r>
            <a:r>
              <a:rPr sz="806" i="0">
                <a:solidFill>
                  <a:srgbClr val="E6EDF3"/>
                </a:solidFill>
                <a:latin typeface="Inconsolata"/>
              </a:rPr>
              <a:t> </a:t>
            </a:r>
          </a:p>
          <a:p>
            <a:pPr>
              <a:lnSpc>
                <a:spcPct val="103338"/>
              </a:lnSpc>
              <a:spcAft>
                <a:spcPts val="0"/>
              </a:spcAft>
            </a:pPr>
            <a:r>
              <a:rPr sz="806" i="0">
                <a:solidFill>
                  <a:srgbClr val="5C6773"/>
                </a:solidFill>
                <a:latin typeface="Inconsolata"/>
              </a:rPr>
              <a:t>52  </a:t>
            </a:r>
            <a:r>
              <a:rPr sz="806" i="0">
                <a:solidFill>
                  <a:srgbClr val="FF8E6E"/>
                </a:solidFill>
                <a:latin typeface="Inconsolata"/>
              </a:rPr>
              <a:t>def</a:t>
            </a:r>
            <a:r>
              <a:rPr sz="806" i="0">
                <a:solidFill>
                  <a:srgbClr val="E6EDF3"/>
                </a:solidFill>
                <a:latin typeface="Inconsolata"/>
              </a:rPr>
              <a:t> </a:t>
            </a:r>
            <a:r>
              <a:rPr sz="806" i="0">
                <a:solidFill>
                  <a:srgbClr val="82B1FF"/>
                </a:solidFill>
                <a:latin typeface="Inconsolata"/>
              </a:rPr>
              <a:t>to_dict</a:t>
            </a:r>
            <a:r>
              <a:rPr sz="806" i="0">
                <a:solidFill>
                  <a:srgbClr val="E6EDF3"/>
                </a:solidFill>
                <a:latin typeface="Inconsolata"/>
              </a:rPr>
              <a:t>(r: </a:t>
            </a:r>
            <a:r>
              <a:rPr sz="806" i="0">
                <a:solidFill>
                  <a:srgbClr val="7FDBCA"/>
                </a:solidFill>
                <a:latin typeface="Inconsolata"/>
              </a:rPr>
              <a:t>ProductRecord</a:t>
            </a:r>
            <a:r>
              <a:rPr sz="806" i="0">
                <a:solidFill>
                  <a:srgbClr val="E6EDF3"/>
                </a:solidFill>
                <a:latin typeface="Inconsolata"/>
              </a:rPr>
              <a:t>) -&gt; </a:t>
            </a:r>
            <a:r>
              <a:rPr sz="806" i="0">
                <a:solidFill>
                  <a:srgbClr val="C3A6FF"/>
                </a:solidFill>
                <a:latin typeface="Inconsolata"/>
              </a:rPr>
              <a:t>dict</a:t>
            </a:r>
            <a:r>
              <a:rPr sz="806" i="0">
                <a:solidFill>
                  <a:srgbClr val="E6EDF3"/>
                </a:solidFill>
                <a:latin typeface="Inconsolata"/>
              </a:rPr>
              <a:t>:</a:t>
            </a:r>
          </a:p>
          <a:p>
            <a:pPr>
              <a:lnSpc>
                <a:spcPct val="103338"/>
              </a:lnSpc>
              <a:spcAft>
                <a:spcPts val="0"/>
              </a:spcAft>
            </a:pPr>
            <a:r>
              <a:rPr sz="806" i="0">
                <a:solidFill>
                  <a:srgbClr val="5C6773"/>
                </a:solidFill>
                <a:latin typeface="Inconsolata"/>
              </a:rPr>
              <a:t>53  </a:t>
            </a:r>
            <a:r>
              <a:rPr sz="806" i="0">
                <a:solidFill>
                  <a:srgbClr val="E6EDF3"/>
                </a:solidFill>
                <a:latin typeface="Inconsolata"/>
              </a:rPr>
              <a:t>    </a:t>
            </a:r>
            <a:r>
              <a:rPr sz="806" i="0">
                <a:solidFill>
                  <a:srgbClr val="FF8E6E"/>
                </a:solidFill>
                <a:latin typeface="Inconsolata"/>
              </a:rPr>
              <a:t>return</a:t>
            </a:r>
            <a:r>
              <a:rPr sz="806" i="0">
                <a:solidFill>
                  <a:srgbClr val="E6EDF3"/>
                </a:solidFill>
                <a:latin typeface="Inconsolata"/>
              </a:rPr>
              <a:t> {</a:t>
            </a:r>
            <a:r>
              <a:rPr sz="806" i="0">
                <a:solidFill>
                  <a:srgbClr val="A5D6A7"/>
                </a:solidFill>
                <a:latin typeface="Inconsolata"/>
              </a:rPr>
              <a:t>"id"</a:t>
            </a:r>
            <a:r>
              <a:rPr sz="806" i="0">
                <a:solidFill>
                  <a:srgbClr val="E6EDF3"/>
                </a:solidFill>
                <a:latin typeface="Inconsolata"/>
              </a:rPr>
              <a:t>: r.id, </a:t>
            </a:r>
            <a:r>
              <a:rPr sz="806" i="0">
                <a:solidFill>
                  <a:srgbClr val="A5D6A7"/>
                </a:solidFill>
                <a:latin typeface="Inconsolata"/>
              </a:rPr>
              <a:t>"name"</a:t>
            </a:r>
            <a:r>
              <a:rPr sz="806" i="0">
                <a:solidFill>
                  <a:srgbClr val="E6EDF3"/>
                </a:solidFill>
                <a:latin typeface="Inconsolata"/>
              </a:rPr>
              <a:t>: r.name, </a:t>
            </a:r>
            <a:r>
              <a:rPr sz="806" i="0">
                <a:solidFill>
                  <a:srgbClr val="A5D6A7"/>
                </a:solidFill>
                <a:latin typeface="Inconsolata"/>
              </a:rPr>
              <a:t>"price"</a:t>
            </a:r>
            <a:r>
              <a:rPr sz="806" i="0">
                <a:solidFill>
                  <a:srgbClr val="E6EDF3"/>
                </a:solidFill>
                <a:latin typeface="Inconsolata"/>
              </a:rPr>
              <a:t>: r.price}</a:t>
            </a:r>
          </a:p>
          <a:p>
            <a:pPr>
              <a:lnSpc>
                <a:spcPct val="103338"/>
              </a:lnSpc>
              <a:spcAft>
                <a:spcPts val="0"/>
              </a:spcAft>
            </a:pPr>
            <a:r>
              <a:rPr sz="806" i="0">
                <a:solidFill>
                  <a:srgbClr val="5C6773"/>
                </a:solidFill>
                <a:latin typeface="Inconsolata"/>
              </a:rPr>
              <a:t>54  </a:t>
            </a:r>
            <a:r>
              <a:rPr sz="806" i="0">
                <a:solidFill>
                  <a:srgbClr val="E6EDF3"/>
                </a:solidFill>
                <a:latin typeface="Inconsolata"/>
              </a:rPr>
              <a:t> </a:t>
            </a:r>
          </a:p>
          <a:p>
            <a:pPr>
              <a:lnSpc>
                <a:spcPct val="103338"/>
              </a:lnSpc>
              <a:spcAft>
                <a:spcPts val="0"/>
              </a:spcAft>
            </a:pPr>
            <a:r>
              <a:rPr sz="806" i="0">
                <a:solidFill>
                  <a:srgbClr val="5C6773"/>
                </a:solidFill>
                <a:latin typeface="Inconsolata"/>
              </a:rPr>
              <a:t>55  </a:t>
            </a:r>
            <a:r>
              <a:rPr sz="806" i="0">
                <a:solidFill>
                  <a:srgbClr val="E6EDF3"/>
                </a:solidFill>
                <a:latin typeface="Inconsolata"/>
              </a:rPr>
              <a:t> </a:t>
            </a:r>
          </a:p>
          <a:p>
            <a:pPr>
              <a:lnSpc>
                <a:spcPct val="103338"/>
              </a:lnSpc>
              <a:spcAft>
                <a:spcPts val="0"/>
              </a:spcAft>
            </a:pPr>
            <a:r>
              <a:rPr sz="806" i="0">
                <a:solidFill>
                  <a:srgbClr val="5C6773"/>
                </a:solidFill>
                <a:latin typeface="Inconsolata"/>
              </a:rPr>
              <a:t>56  </a:t>
            </a:r>
            <a:r>
              <a:rPr sz="806" i="0">
                <a:solidFill>
                  <a:srgbClr val="E6EDF3"/>
                </a:solidFill>
                <a:latin typeface="Inconsolata"/>
              </a:rPr>
              <a:t>app = </a:t>
            </a:r>
            <a:r>
              <a:rPr sz="806" i="0">
                <a:solidFill>
                  <a:srgbClr val="7FDBCA"/>
                </a:solidFill>
                <a:latin typeface="Inconsolata"/>
              </a:rPr>
              <a:t>FastAPI</a:t>
            </a:r>
            <a:r>
              <a:rPr sz="806"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03-dependency-graph/before.py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3338"/>
              </a:lnSpc>
              <a:spcAft>
                <a:spcPts val="0"/>
              </a:spcAft>
            </a:pPr>
            <a:r>
              <a:rPr sz="806" i="0">
                <a:solidFill>
                  <a:srgbClr val="5C6773"/>
                </a:solidFill>
                <a:latin typeface="Inconsolata"/>
              </a:rPr>
              <a:t>59  </a:t>
            </a:r>
            <a:r>
              <a:rPr sz="806" i="0">
                <a:solidFill>
                  <a:srgbClr val="F9C97A"/>
                </a:solidFill>
                <a:latin typeface="Inconsolata"/>
              </a:rPr>
              <a:t>@app.post</a:t>
            </a:r>
            <a:r>
              <a:rPr sz="806" i="0">
                <a:solidFill>
                  <a:srgbClr val="E6EDF3"/>
                </a:solidFill>
                <a:latin typeface="Inconsolata"/>
              </a:rPr>
              <a:t>(</a:t>
            </a:r>
            <a:r>
              <a:rPr sz="806" i="0">
                <a:solidFill>
                  <a:srgbClr val="A5D6A7"/>
                </a:solidFill>
                <a:latin typeface="Inconsolata"/>
              </a:rPr>
              <a:t>"/products"</a:t>
            </a:r>
            <a:r>
              <a:rPr sz="806" i="0">
                <a:solidFill>
                  <a:srgbClr val="E6EDF3"/>
                </a:solidFill>
                <a:latin typeface="Inconsolata"/>
              </a:rPr>
              <a:t>, status_code=</a:t>
            </a:r>
            <a:r>
              <a:rPr sz="806" i="0">
                <a:solidFill>
                  <a:srgbClr val="F9C97A"/>
                </a:solidFill>
                <a:latin typeface="Inconsolata"/>
              </a:rPr>
              <a:t>201</a:t>
            </a:r>
            <a:r>
              <a:rPr sz="806" i="0">
                <a:solidFill>
                  <a:srgbClr val="E6EDF3"/>
                </a:solidFill>
                <a:latin typeface="Inconsolata"/>
              </a:rPr>
              <a:t>)</a:t>
            </a:r>
          </a:p>
          <a:p>
            <a:pPr>
              <a:lnSpc>
                <a:spcPct val="103338"/>
              </a:lnSpc>
              <a:spcAft>
                <a:spcPts val="0"/>
              </a:spcAft>
            </a:pPr>
            <a:r>
              <a:rPr sz="806" i="0">
                <a:solidFill>
                  <a:srgbClr val="5C6773"/>
                </a:solidFill>
                <a:latin typeface="Inconsolata"/>
              </a:rPr>
              <a:t>60  </a:t>
            </a:r>
            <a:r>
              <a:rPr sz="806" i="0">
                <a:solidFill>
                  <a:srgbClr val="FF8E6E"/>
                </a:solidFill>
                <a:latin typeface="Inconsolata"/>
              </a:rPr>
              <a:t>def</a:t>
            </a:r>
            <a:r>
              <a:rPr sz="806" i="0">
                <a:solidFill>
                  <a:srgbClr val="E6EDF3"/>
                </a:solidFill>
                <a:latin typeface="Inconsolata"/>
              </a:rPr>
              <a:t> </a:t>
            </a:r>
            <a:r>
              <a:rPr sz="806" i="0">
                <a:solidFill>
                  <a:srgbClr val="82B1FF"/>
                </a:solidFill>
                <a:latin typeface="Inconsolata"/>
              </a:rPr>
              <a:t>create_product</a:t>
            </a:r>
            <a:r>
              <a:rPr sz="806" i="0">
                <a:solidFill>
                  <a:srgbClr val="E6EDF3"/>
                </a:solidFill>
                <a:latin typeface="Inconsolata"/>
              </a:rPr>
              <a:t>(name: </a:t>
            </a:r>
            <a:r>
              <a:rPr sz="806" i="0">
                <a:solidFill>
                  <a:srgbClr val="C3A6FF"/>
                </a:solidFill>
                <a:latin typeface="Inconsolata"/>
              </a:rPr>
              <a:t>str</a:t>
            </a:r>
            <a:r>
              <a:rPr sz="806" i="0">
                <a:solidFill>
                  <a:srgbClr val="E6EDF3"/>
                </a:solidFill>
                <a:latin typeface="Inconsolata"/>
              </a:rPr>
              <a:t>, price: </a:t>
            </a:r>
            <a:r>
              <a:rPr sz="806" i="0">
                <a:solidFill>
                  <a:srgbClr val="C3A6FF"/>
                </a:solidFill>
                <a:latin typeface="Inconsolata"/>
              </a:rPr>
              <a:t>int</a:t>
            </a:r>
            <a:r>
              <a:rPr sz="806" i="0">
                <a:solidFill>
                  <a:srgbClr val="E6EDF3"/>
                </a:solidFill>
                <a:latin typeface="Inconsolata"/>
              </a:rPr>
              <a:t>):</a:t>
            </a:r>
          </a:p>
          <a:p>
            <a:pPr>
              <a:lnSpc>
                <a:spcPct val="103338"/>
              </a:lnSpc>
              <a:spcAft>
                <a:spcPts val="0"/>
              </a:spcAft>
            </a:pPr>
            <a:r>
              <a:rPr sz="806" i="0">
                <a:solidFill>
                  <a:srgbClr val="5C6773"/>
                </a:solidFill>
                <a:latin typeface="Inconsolata"/>
              </a:rPr>
              <a:t>61  </a:t>
            </a:r>
            <a:r>
              <a:rPr sz="806" i="0">
                <a:solidFill>
                  <a:srgbClr val="E6EDF3"/>
                </a:solidFill>
                <a:latin typeface="Inconsolata"/>
              </a:rPr>
              <a:t>    session = </a:t>
            </a:r>
            <a:r>
              <a:rPr sz="806" i="0">
                <a:solidFill>
                  <a:srgbClr val="7FDBCA"/>
                </a:solidFill>
                <a:latin typeface="Inconsolata"/>
              </a:rPr>
              <a:t>SessionLocal</a:t>
            </a:r>
            <a:r>
              <a:rPr sz="806" i="0">
                <a:solidFill>
                  <a:srgbClr val="E6EDF3"/>
                </a:solidFill>
                <a:latin typeface="Inconsolata"/>
              </a:rPr>
              <a:t>()  </a:t>
            </a:r>
            <a:r>
              <a:rPr sz="806" i="1">
                <a:solidFill>
                  <a:srgbClr val="8B98A8"/>
                </a:solidFill>
                <a:latin typeface="Inconsolata"/>
              </a:rPr>
              <a:t># dibuat manual...</a:t>
            </a:r>
          </a:p>
          <a:p>
            <a:pPr>
              <a:lnSpc>
                <a:spcPct val="103338"/>
              </a:lnSpc>
              <a:spcAft>
                <a:spcPts val="0"/>
              </a:spcAft>
            </a:pPr>
            <a:r>
              <a:rPr sz="806" i="0">
                <a:solidFill>
                  <a:srgbClr val="5C6773"/>
                </a:solidFill>
                <a:latin typeface="Inconsolata"/>
              </a:rPr>
              <a:t>62  </a:t>
            </a:r>
            <a:r>
              <a:rPr sz="806" i="0">
                <a:solidFill>
                  <a:srgbClr val="E6EDF3"/>
                </a:solidFill>
                <a:latin typeface="Inconsolata"/>
              </a:rPr>
              <a:t>    repo = </a:t>
            </a:r>
            <a:r>
              <a:rPr sz="806" i="0">
                <a:solidFill>
                  <a:srgbClr val="7FDBCA"/>
                </a:solidFill>
                <a:latin typeface="Inconsolata"/>
              </a:rPr>
              <a:t>ProductRepository</a:t>
            </a:r>
            <a:r>
              <a:rPr sz="806" i="0">
                <a:solidFill>
                  <a:srgbClr val="E6EDF3"/>
                </a:solidFill>
                <a:latin typeface="Inconsolata"/>
              </a:rPr>
              <a:t>(session)</a:t>
            </a:r>
          </a:p>
          <a:p>
            <a:pPr>
              <a:lnSpc>
                <a:spcPct val="103338"/>
              </a:lnSpc>
              <a:spcAft>
                <a:spcPts val="0"/>
              </a:spcAft>
            </a:pPr>
            <a:r>
              <a:rPr sz="806" i="0">
                <a:solidFill>
                  <a:srgbClr val="5C6773"/>
                </a:solidFill>
                <a:latin typeface="Inconsolata"/>
              </a:rPr>
              <a:t>63  </a:t>
            </a:r>
            <a:r>
              <a:rPr sz="806" i="0">
                <a:solidFill>
                  <a:srgbClr val="E6EDF3"/>
                </a:solidFill>
                <a:latin typeface="Inconsolata"/>
              </a:rPr>
              <a:t>    record = repo.add(name, price)</a:t>
            </a:r>
          </a:p>
          <a:p>
            <a:pPr>
              <a:lnSpc>
                <a:spcPct val="103338"/>
              </a:lnSpc>
              <a:spcAft>
                <a:spcPts val="0"/>
              </a:spcAft>
            </a:pPr>
            <a:r>
              <a:rPr sz="806" i="0">
                <a:solidFill>
                  <a:srgbClr val="5C6773"/>
                </a:solidFill>
                <a:latin typeface="Inconsolata"/>
              </a:rPr>
              <a:t>64  </a:t>
            </a:r>
            <a:r>
              <a:rPr sz="806" i="0">
                <a:solidFill>
                  <a:srgbClr val="E6EDF3"/>
                </a:solidFill>
                <a:latin typeface="Inconsolata"/>
              </a:rPr>
              <a:t>    result = to_dict(record)</a:t>
            </a:r>
          </a:p>
          <a:p>
            <a:pPr>
              <a:lnSpc>
                <a:spcPct val="103338"/>
              </a:lnSpc>
              <a:spcAft>
                <a:spcPts val="0"/>
              </a:spcAft>
            </a:pPr>
            <a:r>
              <a:rPr sz="806" i="0">
                <a:solidFill>
                  <a:srgbClr val="5C6773"/>
                </a:solidFill>
                <a:latin typeface="Inconsolata"/>
              </a:rPr>
              <a:t>65  </a:t>
            </a:r>
            <a:r>
              <a:rPr sz="806" i="0">
                <a:solidFill>
                  <a:srgbClr val="E6EDF3"/>
                </a:solidFill>
                <a:latin typeface="Inconsolata"/>
              </a:rPr>
              <a:t>    session.close()  </a:t>
            </a:r>
            <a:r>
              <a:rPr sz="806" i="1">
                <a:solidFill>
                  <a:srgbClr val="8B98A8"/>
                </a:solidFill>
                <a:latin typeface="Inconsolata"/>
              </a:rPr>
              <a:t># tidak jalan kalau ada error di atas</a:t>
            </a:r>
          </a:p>
          <a:p>
            <a:pPr>
              <a:lnSpc>
                <a:spcPct val="103338"/>
              </a:lnSpc>
              <a:spcAft>
                <a:spcPts val="0"/>
              </a:spcAft>
            </a:pPr>
            <a:r>
              <a:rPr sz="806" i="0">
                <a:solidFill>
                  <a:srgbClr val="5C6773"/>
                </a:solidFill>
                <a:latin typeface="Inconsolata"/>
              </a:rPr>
              <a:t>66  </a:t>
            </a:r>
            <a:r>
              <a:rPr sz="806" i="0">
                <a:solidFill>
                  <a:srgbClr val="E6EDF3"/>
                </a:solidFill>
                <a:latin typeface="Inconsolata"/>
              </a:rPr>
              <a:t>    </a:t>
            </a:r>
            <a:r>
              <a:rPr sz="806" i="0">
                <a:solidFill>
                  <a:srgbClr val="FF8E6E"/>
                </a:solidFill>
                <a:latin typeface="Inconsolata"/>
              </a:rPr>
              <a:t>return</a:t>
            </a:r>
            <a:r>
              <a:rPr sz="806" i="0">
                <a:solidFill>
                  <a:srgbClr val="E6EDF3"/>
                </a:solidFill>
                <a:latin typeface="Inconsolata"/>
              </a:rPr>
              <a:t> result</a:t>
            </a:r>
          </a:p>
          <a:p>
            <a:pPr>
              <a:lnSpc>
                <a:spcPct val="103338"/>
              </a:lnSpc>
              <a:spcAft>
                <a:spcPts val="0"/>
              </a:spcAft>
            </a:pPr>
            <a:r>
              <a:rPr sz="806" i="0">
                <a:solidFill>
                  <a:srgbClr val="5C6773"/>
                </a:solidFill>
                <a:latin typeface="Inconsolata"/>
              </a:rPr>
              <a:t>67  </a:t>
            </a:r>
            <a:r>
              <a:rPr sz="806" i="0">
                <a:solidFill>
                  <a:srgbClr val="E6EDF3"/>
                </a:solidFill>
                <a:latin typeface="Inconsolata"/>
              </a:rPr>
              <a:t> </a:t>
            </a:r>
          </a:p>
          <a:p>
            <a:pPr>
              <a:lnSpc>
                <a:spcPct val="103338"/>
              </a:lnSpc>
              <a:spcAft>
                <a:spcPts val="0"/>
              </a:spcAft>
            </a:pPr>
            <a:r>
              <a:rPr sz="806" i="0">
                <a:solidFill>
                  <a:srgbClr val="5C6773"/>
                </a:solidFill>
                <a:latin typeface="Inconsolata"/>
              </a:rPr>
              <a:t>68  </a:t>
            </a:r>
            <a:r>
              <a:rPr sz="806" i="0">
                <a:solidFill>
                  <a:srgbClr val="E6EDF3"/>
                </a:solidFill>
                <a:latin typeface="Inconsolata"/>
              </a:rPr>
              <a:t> </a:t>
            </a:r>
          </a:p>
          <a:p>
            <a:pPr>
              <a:lnSpc>
                <a:spcPct val="103338"/>
              </a:lnSpc>
              <a:spcAft>
                <a:spcPts val="0"/>
              </a:spcAft>
            </a:pPr>
            <a:r>
              <a:rPr sz="806" i="0">
                <a:solidFill>
                  <a:srgbClr val="5C6773"/>
                </a:solidFill>
                <a:latin typeface="Inconsolata"/>
              </a:rPr>
              <a:t>69  </a:t>
            </a:r>
            <a:r>
              <a:rPr sz="806" i="0">
                <a:solidFill>
                  <a:srgbClr val="F9C97A"/>
                </a:solidFill>
                <a:latin typeface="Inconsolata"/>
              </a:rPr>
              <a:t>@app.get</a:t>
            </a:r>
            <a:r>
              <a:rPr sz="806" i="0">
                <a:solidFill>
                  <a:srgbClr val="E6EDF3"/>
                </a:solidFill>
                <a:latin typeface="Inconsolata"/>
              </a:rPr>
              <a:t>(</a:t>
            </a:r>
            <a:r>
              <a:rPr sz="806" i="0">
                <a:solidFill>
                  <a:srgbClr val="A5D6A7"/>
                </a:solidFill>
                <a:latin typeface="Inconsolata"/>
              </a:rPr>
              <a:t>"/products"</a:t>
            </a:r>
            <a:r>
              <a:rPr sz="806" i="0">
                <a:solidFill>
                  <a:srgbClr val="E6EDF3"/>
                </a:solidFill>
                <a:latin typeface="Inconsolata"/>
              </a:rPr>
              <a:t>)</a:t>
            </a:r>
          </a:p>
          <a:p>
            <a:pPr>
              <a:lnSpc>
                <a:spcPct val="103338"/>
              </a:lnSpc>
              <a:spcAft>
                <a:spcPts val="0"/>
              </a:spcAft>
            </a:pPr>
            <a:r>
              <a:rPr sz="806" i="0">
                <a:solidFill>
                  <a:srgbClr val="5C6773"/>
                </a:solidFill>
                <a:latin typeface="Inconsolata"/>
              </a:rPr>
              <a:t>70  </a:t>
            </a:r>
            <a:r>
              <a:rPr sz="806" i="0">
                <a:solidFill>
                  <a:srgbClr val="FF8E6E"/>
                </a:solidFill>
                <a:latin typeface="Inconsolata"/>
              </a:rPr>
              <a:t>def</a:t>
            </a:r>
            <a:r>
              <a:rPr sz="806" i="0">
                <a:solidFill>
                  <a:srgbClr val="E6EDF3"/>
                </a:solidFill>
                <a:latin typeface="Inconsolata"/>
              </a:rPr>
              <a:t> </a:t>
            </a:r>
            <a:r>
              <a:rPr sz="806" i="0">
                <a:solidFill>
                  <a:srgbClr val="82B1FF"/>
                </a:solidFill>
                <a:latin typeface="Inconsolata"/>
              </a:rPr>
              <a:t>list_products</a:t>
            </a:r>
            <a:r>
              <a:rPr sz="806" i="0">
                <a:solidFill>
                  <a:srgbClr val="E6EDF3"/>
                </a:solidFill>
                <a:latin typeface="Inconsolata"/>
              </a:rPr>
              <a:t>():</a:t>
            </a:r>
          </a:p>
          <a:p>
            <a:pPr>
              <a:lnSpc>
                <a:spcPct val="103338"/>
              </a:lnSpc>
              <a:spcAft>
                <a:spcPts val="0"/>
              </a:spcAft>
            </a:pPr>
            <a:r>
              <a:rPr sz="806" i="0">
                <a:solidFill>
                  <a:srgbClr val="5C6773"/>
                </a:solidFill>
                <a:latin typeface="Inconsolata"/>
              </a:rPr>
              <a:t>71  </a:t>
            </a:r>
            <a:r>
              <a:rPr sz="806" i="0">
                <a:solidFill>
                  <a:srgbClr val="E6EDF3"/>
                </a:solidFill>
                <a:latin typeface="Inconsolata"/>
              </a:rPr>
              <a:t>    session = </a:t>
            </a:r>
            <a:r>
              <a:rPr sz="806" i="0">
                <a:solidFill>
                  <a:srgbClr val="7FDBCA"/>
                </a:solidFill>
                <a:latin typeface="Inconsolata"/>
              </a:rPr>
              <a:t>SessionLocal</a:t>
            </a:r>
            <a:r>
              <a:rPr sz="806" i="0">
                <a:solidFill>
                  <a:srgbClr val="E6EDF3"/>
                </a:solidFill>
                <a:latin typeface="Inconsolata"/>
              </a:rPr>
              <a:t>()  </a:t>
            </a:r>
            <a:r>
              <a:rPr sz="806" i="1">
                <a:solidFill>
                  <a:srgbClr val="8B98A8"/>
                </a:solidFill>
                <a:latin typeface="Inconsolata"/>
              </a:rPr>
              <a:t># ...dan diulang di setiap route</a:t>
            </a:r>
          </a:p>
          <a:p>
            <a:pPr>
              <a:lnSpc>
                <a:spcPct val="103338"/>
              </a:lnSpc>
              <a:spcAft>
                <a:spcPts val="0"/>
              </a:spcAft>
            </a:pPr>
            <a:r>
              <a:rPr sz="806" i="0">
                <a:solidFill>
                  <a:srgbClr val="5C6773"/>
                </a:solidFill>
                <a:latin typeface="Inconsolata"/>
              </a:rPr>
              <a:t>72  </a:t>
            </a:r>
            <a:r>
              <a:rPr sz="806" i="0">
                <a:solidFill>
                  <a:srgbClr val="E6EDF3"/>
                </a:solidFill>
                <a:latin typeface="Inconsolata"/>
              </a:rPr>
              <a:t>    repo = </a:t>
            </a:r>
            <a:r>
              <a:rPr sz="806" i="0">
                <a:solidFill>
                  <a:srgbClr val="7FDBCA"/>
                </a:solidFill>
                <a:latin typeface="Inconsolata"/>
              </a:rPr>
              <a:t>ProductRepository</a:t>
            </a:r>
            <a:r>
              <a:rPr sz="806" i="0">
                <a:solidFill>
                  <a:srgbClr val="E6EDF3"/>
                </a:solidFill>
                <a:latin typeface="Inconsolata"/>
              </a:rPr>
              <a:t>(session)</a:t>
            </a:r>
          </a:p>
          <a:p>
            <a:pPr>
              <a:lnSpc>
                <a:spcPct val="103338"/>
              </a:lnSpc>
              <a:spcAft>
                <a:spcPts val="0"/>
              </a:spcAft>
            </a:pPr>
            <a:r>
              <a:rPr sz="806" i="0">
                <a:solidFill>
                  <a:srgbClr val="5C6773"/>
                </a:solidFill>
                <a:latin typeface="Inconsolata"/>
              </a:rPr>
              <a:t>73  </a:t>
            </a:r>
            <a:r>
              <a:rPr sz="806" i="0">
                <a:solidFill>
                  <a:srgbClr val="E6EDF3"/>
                </a:solidFill>
                <a:latin typeface="Inconsolata"/>
              </a:rPr>
              <a:t>    result = [to_dict(r) </a:t>
            </a:r>
            <a:r>
              <a:rPr sz="806" i="0">
                <a:solidFill>
                  <a:srgbClr val="FF8E6E"/>
                </a:solidFill>
                <a:latin typeface="Inconsolata"/>
              </a:rPr>
              <a:t>for</a:t>
            </a:r>
            <a:r>
              <a:rPr sz="806" i="0">
                <a:solidFill>
                  <a:srgbClr val="E6EDF3"/>
                </a:solidFill>
                <a:latin typeface="Inconsolata"/>
              </a:rPr>
              <a:t> r </a:t>
            </a:r>
            <a:r>
              <a:rPr sz="806" i="0">
                <a:solidFill>
                  <a:srgbClr val="FF8E6E"/>
                </a:solidFill>
                <a:latin typeface="Inconsolata"/>
              </a:rPr>
              <a:t>in</a:t>
            </a:r>
            <a:r>
              <a:rPr sz="806" i="0">
                <a:solidFill>
                  <a:srgbClr val="E6EDF3"/>
                </a:solidFill>
                <a:latin typeface="Inconsolata"/>
              </a:rPr>
              <a:t> repo.</a:t>
            </a:r>
            <a:r>
              <a:rPr sz="806" i="0">
                <a:solidFill>
                  <a:srgbClr val="C3A6FF"/>
                </a:solidFill>
                <a:latin typeface="Inconsolata"/>
              </a:rPr>
              <a:t>list</a:t>
            </a:r>
            <a:r>
              <a:rPr sz="806" i="0">
                <a:solidFill>
                  <a:srgbClr val="E6EDF3"/>
                </a:solidFill>
                <a:latin typeface="Inconsolata"/>
              </a:rPr>
              <a:t>()]</a:t>
            </a:r>
          </a:p>
          <a:p>
            <a:pPr>
              <a:lnSpc>
                <a:spcPct val="103338"/>
              </a:lnSpc>
              <a:spcAft>
                <a:spcPts val="0"/>
              </a:spcAft>
            </a:pPr>
            <a:r>
              <a:rPr sz="806" i="0">
                <a:solidFill>
                  <a:srgbClr val="5C6773"/>
                </a:solidFill>
                <a:latin typeface="Inconsolata"/>
              </a:rPr>
              <a:t>74  </a:t>
            </a:r>
            <a:r>
              <a:rPr sz="806" i="0">
                <a:solidFill>
                  <a:srgbClr val="E6EDF3"/>
                </a:solidFill>
                <a:latin typeface="Inconsolata"/>
              </a:rPr>
              <a:t>    session.close()</a:t>
            </a:r>
          </a:p>
          <a:p>
            <a:pPr>
              <a:lnSpc>
                <a:spcPct val="103338"/>
              </a:lnSpc>
              <a:spcAft>
                <a:spcPts val="0"/>
              </a:spcAft>
            </a:pPr>
            <a:r>
              <a:rPr sz="806" i="0">
                <a:solidFill>
                  <a:srgbClr val="5C6773"/>
                </a:solidFill>
                <a:latin typeface="Inconsolata"/>
              </a:rPr>
              <a:t>75  </a:t>
            </a:r>
            <a:r>
              <a:rPr sz="806" i="0">
                <a:solidFill>
                  <a:srgbClr val="E6EDF3"/>
                </a:solidFill>
                <a:latin typeface="Inconsolata"/>
              </a:rPr>
              <a:t>    </a:t>
            </a:r>
            <a:r>
              <a:rPr sz="806" i="0">
                <a:solidFill>
                  <a:srgbClr val="FF8E6E"/>
                </a:solidFill>
                <a:latin typeface="Inconsolata"/>
              </a:rPr>
              <a:t>return</a:t>
            </a:r>
            <a:r>
              <a:rPr sz="806" i="0">
                <a:solidFill>
                  <a:srgbClr val="E6EDF3"/>
                </a:solidFill>
                <a:latin typeface="Inconsolata"/>
              </a:rPr>
              <a:t> result</a:t>
            </a:r>
          </a:p>
        </p:txBody>
      </p:sp>
      <p:sp>
        <p:nvSpPr>
          <p:cNvPr id="36" name="Box 21"/>
          <p:cNvSpPr/>
          <p:nvPr/>
        </p:nvSpPr>
        <p:spPr>
          <a:xfrm>
            <a:off x="4709159" y="2081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085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3351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3355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589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529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Graph</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03-dependency-graph/before.py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sesi-04-modular-fastapi-orm-transactions/03-dependency-graph</a:t>
            </a:r>
          </a:p>
          <a:p>
            <a:pPr>
              <a:lnSpc>
                <a:spcPct val="107527"/>
              </a:lnSpc>
              <a:spcAft>
                <a:spcPts val="0"/>
              </a:spcAft>
            </a:pPr>
            <a:r>
              <a:rPr sz="775" i="0">
                <a:solidFill>
                  <a:srgbClr val="82B1FF"/>
                </a:solidFill>
                <a:latin typeface="Inconsolata"/>
              </a:rPr>
              <a:t>$ uvicorn before:app --reload</a:t>
            </a:r>
          </a:p>
        </p:txBody>
      </p:sp>
      <p:pic>
        <p:nvPicPr>
          <p:cNvPr id="29" name="Image 12" descr="s04-03-dependency-graph-before.png"/>
          <p:cNvPicPr>
            <a:picLocks noChangeAspect="1"/>
          </p:cNvPicPr>
          <p:nvPr/>
        </p:nvPicPr>
        <p:blipFill>
          <a:blip r:embed="rId2"/>
          <a:stretch>
            <a:fillRect/>
          </a:stretch>
        </p:blipFill>
        <p:spPr>
          <a:xfrm>
            <a:off x="621792" y="2240280"/>
            <a:ext cx="4297680" cy="1058190"/>
          </a:xfrm>
          <a:prstGeom prst="rect">
            <a:avLst/>
          </a:prstGeom>
        </p:spPr>
      </p:pic>
      <p:sp>
        <p:nvSpPr>
          <p:cNvPr id="30" name="Text 13"/>
          <p:cNvSpPr txBox="1"/>
          <p:nvPr/>
        </p:nvSpPr>
        <p:spPr>
          <a:xfrm>
            <a:off x="621792" y="3344190"/>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/products?name=Keyboard&amp;price=500000</a:t>
            </a:r>
          </a:p>
        </p:txBody>
      </p:sp>
      <p:sp>
        <p:nvSpPr>
          <p:cNvPr id="31" name="Box 14"/>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Route membuat session dan repository sendiri (baris 61-62)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Kode yang sama diulang di route lain (baris 71-72)</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close()</a:t>
            </a:r>
            <a:r>
              <a:rPr sz="950" b="0" i="0">
                <a:solidFill>
                  <a:srgbClr val="434343"/>
                </a:solidFill>
                <a:latin typeface="Inter"/>
              </a:rPr>
              <a:t> tidak jalan jika ada error di baris sebelumnya (baris 65)</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Responsenya normal, masalahnya baru terasa saat error dan traffic tinggi.</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Graph</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Session lewat Depends dengan yield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03-dependency-graph/after.py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11  </a:t>
            </a:r>
            <a:r>
              <a:rPr sz="760" i="0">
                <a:solidFill>
                  <a:srgbClr val="FF8E6E"/>
                </a:solidFill>
                <a:latin typeface="Inconsolata"/>
              </a:rPr>
              <a:t>from</a:t>
            </a:r>
            <a:r>
              <a:rPr sz="760" i="0">
                <a:solidFill>
                  <a:srgbClr val="E6EDF3"/>
                </a:solidFill>
                <a:latin typeface="Inconsolata"/>
              </a:rPr>
              <a:t> collections.abc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Iterator</a:t>
            </a:r>
          </a:p>
          <a:p>
            <a:pPr>
              <a:lnSpc>
                <a:spcPct val="109601"/>
              </a:lnSpc>
              <a:spcAft>
                <a:spcPts val="0"/>
              </a:spcAft>
            </a:pPr>
            <a:r>
              <a:rPr sz="760" i="0">
                <a:solidFill>
                  <a:srgbClr val="5C6773"/>
                </a:solidFill>
                <a:latin typeface="Inconsolata"/>
              </a:rPr>
              <a:t>12  </a:t>
            </a:r>
            <a:r>
              <a:rPr sz="760" i="0">
                <a:solidFill>
                  <a:srgbClr val="E6EDF3"/>
                </a:solidFill>
                <a:latin typeface="Inconsolata"/>
              </a:rPr>
              <a:t> </a:t>
            </a:r>
          </a:p>
          <a:p>
            <a:pPr>
              <a:lnSpc>
                <a:spcPct val="109601"/>
              </a:lnSpc>
              <a:spcAft>
                <a:spcPts val="0"/>
              </a:spcAft>
            </a:pPr>
            <a:r>
              <a:rPr sz="760" i="0">
                <a:solidFill>
                  <a:srgbClr val="5C6773"/>
                </a:solidFill>
                <a:latin typeface="Inconsolata"/>
              </a:rPr>
              <a:t>13  </a:t>
            </a:r>
            <a:r>
              <a:rPr sz="760" i="0">
                <a:solidFill>
                  <a:srgbClr val="FF8E6E"/>
                </a:solidFill>
                <a:latin typeface="Inconsolata"/>
              </a:rPr>
              <a:t>from</a:t>
            </a:r>
            <a:r>
              <a:rPr sz="760" i="0">
                <a:solidFill>
                  <a:srgbClr val="E6EDF3"/>
                </a:solidFill>
                <a:latin typeface="Inconsolata"/>
              </a:rPr>
              <a:t> fastapi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Depends</a:t>
            </a:r>
            <a:r>
              <a:rPr sz="760" i="0">
                <a:solidFill>
                  <a:srgbClr val="E6EDF3"/>
                </a:solidFill>
                <a:latin typeface="Inconsolata"/>
              </a:rPr>
              <a:t>, </a:t>
            </a:r>
            <a:r>
              <a:rPr sz="760" i="0">
                <a:solidFill>
                  <a:srgbClr val="7FDBCA"/>
                </a:solidFill>
                <a:latin typeface="Inconsolata"/>
              </a:rPr>
              <a:t>FastAPI</a:t>
            </a:r>
          </a:p>
          <a:p>
            <a:pPr>
              <a:lnSpc>
                <a:spcPct val="109601"/>
              </a:lnSpc>
              <a:spcAft>
                <a:spcPts val="0"/>
              </a:spcAft>
            </a:pPr>
            <a:r>
              <a:rPr sz="760" i="0">
                <a:solidFill>
                  <a:srgbClr val="5C6773"/>
                </a:solidFill>
                <a:latin typeface="Inconsolata"/>
              </a:rPr>
              <a:t>14  </a:t>
            </a:r>
            <a:r>
              <a:rPr sz="760" i="0">
                <a:solidFill>
                  <a:srgbClr val="FF8E6E"/>
                </a:solidFill>
                <a:latin typeface="Inconsolata"/>
              </a:rPr>
              <a:t>from</a:t>
            </a:r>
            <a:r>
              <a:rPr sz="760" i="0">
                <a:solidFill>
                  <a:srgbClr val="E6EDF3"/>
                </a:solidFill>
                <a:latin typeface="Inconsolata"/>
              </a:rPr>
              <a:t> sqlalchemy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String</a:t>
            </a:r>
            <a:r>
              <a:rPr sz="760" i="0">
                <a:solidFill>
                  <a:srgbClr val="E6EDF3"/>
                </a:solidFill>
                <a:latin typeface="Inconsolata"/>
              </a:rPr>
              <a:t>, create_engine</a:t>
            </a:r>
          </a:p>
          <a:p>
            <a:pPr>
              <a:lnSpc>
                <a:spcPct val="109601"/>
              </a:lnSpc>
              <a:spcAft>
                <a:spcPts val="0"/>
              </a:spcAft>
            </a:pPr>
            <a:r>
              <a:rPr sz="760" i="0">
                <a:solidFill>
                  <a:srgbClr val="5C6773"/>
                </a:solidFill>
                <a:latin typeface="Inconsolata"/>
              </a:rPr>
              <a:t>15  </a:t>
            </a:r>
            <a:r>
              <a:rPr sz="760" i="0">
                <a:solidFill>
                  <a:srgbClr val="FF8E6E"/>
                </a:solidFill>
                <a:latin typeface="Inconsolata"/>
              </a:rPr>
              <a:t>from</a:t>
            </a:r>
            <a:r>
              <a:rPr sz="760" i="0">
                <a:solidFill>
                  <a:srgbClr val="E6EDF3"/>
                </a:solidFill>
                <a:latin typeface="Inconsolata"/>
              </a:rPr>
              <a:t> sqlalchemy.orm </a:t>
            </a:r>
            <a:r>
              <a:rPr sz="760" i="0">
                <a:solidFill>
                  <a:srgbClr val="FF8E6E"/>
                </a:solidFill>
                <a:latin typeface="Inconsolata"/>
              </a:rPr>
              <a:t>import</a:t>
            </a:r>
            <a:r>
              <a:rPr sz="760" i="0">
                <a:solidFill>
                  <a:srgbClr val="E6EDF3"/>
                </a:solidFill>
                <a:latin typeface="Inconsolata"/>
              </a:rPr>
              <a:t> (</a:t>
            </a:r>
          </a:p>
          <a:p>
            <a:pPr>
              <a:lnSpc>
                <a:spcPct val="109601"/>
              </a:lnSpc>
              <a:spcAft>
                <a:spcPts val="0"/>
              </a:spcAft>
            </a:pPr>
            <a:r>
              <a:rPr sz="760" i="0">
                <a:solidFill>
                  <a:srgbClr val="5C6773"/>
                </a:solidFill>
                <a:latin typeface="Inconsolata"/>
              </a:rPr>
              <a:t>16  </a:t>
            </a:r>
            <a:r>
              <a:rPr sz="760" i="0">
                <a:solidFill>
                  <a:srgbClr val="E6EDF3"/>
                </a:solidFill>
                <a:latin typeface="Inconsolata"/>
              </a:rPr>
              <a:t>    </a:t>
            </a:r>
            <a:r>
              <a:rPr sz="760" i="0">
                <a:solidFill>
                  <a:srgbClr val="7FDBCA"/>
                </a:solidFill>
                <a:latin typeface="Inconsolata"/>
              </a:rPr>
              <a:t>DeclarativeBase</a:t>
            </a:r>
            <a:r>
              <a:rPr sz="760" i="0">
                <a:solidFill>
                  <a:srgbClr val="E6EDF3"/>
                </a:solidFill>
                <a:latin typeface="Inconsolata"/>
              </a:rPr>
              <a:t>, </a:t>
            </a:r>
            <a:r>
              <a:rPr sz="760" i="0">
                <a:solidFill>
                  <a:srgbClr val="7FDBCA"/>
                </a:solidFill>
                <a:latin typeface="Inconsolata"/>
              </a:rPr>
              <a:t>Mapped</a:t>
            </a:r>
            <a:r>
              <a:rPr sz="760" i="0">
                <a:solidFill>
                  <a:srgbClr val="E6EDF3"/>
                </a:solidFill>
                <a:latin typeface="Inconsolata"/>
              </a:rPr>
              <a:t>, </a:t>
            </a:r>
            <a:r>
              <a:rPr sz="760" i="0">
                <a:solidFill>
                  <a:srgbClr val="7FDBCA"/>
                </a:solidFill>
                <a:latin typeface="Inconsolata"/>
              </a:rPr>
              <a:t>Session</a:t>
            </a:r>
            <a:r>
              <a:rPr sz="760" i="0">
                <a:solidFill>
                  <a:srgbClr val="E6EDF3"/>
                </a:solidFill>
                <a:latin typeface="Inconsolata"/>
              </a:rPr>
              <a:t>, mapped_column, sessionmaker,</a:t>
            </a:r>
          </a:p>
          <a:p>
            <a:pPr>
              <a:lnSpc>
                <a:spcPct val="109601"/>
              </a:lnSpc>
              <a:spcAft>
                <a:spcPts val="0"/>
              </a:spcAft>
            </a:pPr>
            <a:r>
              <a:rPr sz="760" i="0">
                <a:solidFill>
                  <a:srgbClr val="5C6773"/>
                </a:solidFill>
                <a:latin typeface="Inconsolata"/>
              </a:rPr>
              <a:t>17  </a:t>
            </a:r>
            <a:r>
              <a:rPr sz="760" i="0">
                <a:solidFill>
                  <a:srgbClr val="E6EDF3"/>
                </a:solidFill>
                <a:latin typeface="Inconsolata"/>
              </a:rPr>
              <a:t>)</a:t>
            </a:r>
          </a:p>
          <a:p>
            <a:pPr>
              <a:lnSpc>
                <a:spcPct val="109601"/>
              </a:lnSpc>
              <a:spcAft>
                <a:spcPts val="0"/>
              </a:spcAft>
            </a:pPr>
            <a:r>
              <a:rPr sz="760" i="0">
                <a:solidFill>
                  <a:srgbClr val="5C6773"/>
                </a:solidFill>
                <a:latin typeface="Inconsolata"/>
              </a:rPr>
              <a:t>18  </a:t>
            </a:r>
            <a:r>
              <a:rPr sz="760" i="0">
                <a:solidFill>
                  <a:srgbClr val="FF8E6E"/>
                </a:solidFill>
                <a:latin typeface="Inconsolata"/>
              </a:rPr>
              <a:t>from</a:t>
            </a:r>
            <a:r>
              <a:rPr sz="760" i="0">
                <a:solidFill>
                  <a:srgbClr val="E6EDF3"/>
                </a:solidFill>
                <a:latin typeface="Inconsolata"/>
              </a:rPr>
              <a:t> sqlalchemy.pool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StaticPool</a:t>
            </a:r>
          </a:p>
          <a:p>
            <a:pPr>
              <a:lnSpc>
                <a:spcPct val="109601"/>
              </a:lnSpc>
              <a:spcAft>
                <a:spcPts val="0"/>
              </a:spcAft>
            </a:pPr>
            <a:r>
              <a:rPr sz="760" i="0">
                <a:solidFill>
                  <a:srgbClr val="5C6773"/>
                </a:solidFill>
                <a:latin typeface="Inconsolata"/>
              </a:rPr>
              <a:t>19  </a:t>
            </a:r>
            <a:r>
              <a:rPr sz="760" i="0">
                <a:solidFill>
                  <a:srgbClr val="E6EDF3"/>
                </a:solidFill>
                <a:latin typeface="Inconsolata"/>
              </a:rPr>
              <a:t> </a:t>
            </a:r>
          </a:p>
          <a:p>
            <a:pPr>
              <a:lnSpc>
                <a:spcPct val="109601"/>
              </a:lnSpc>
              <a:spcAft>
                <a:spcPts val="0"/>
              </a:spcAft>
            </a:pPr>
            <a:r>
              <a:rPr sz="760" i="0">
                <a:solidFill>
                  <a:srgbClr val="5C6773"/>
                </a:solidFill>
                <a:latin typeface="Inconsolata"/>
              </a:rPr>
              <a:t>20  </a:t>
            </a:r>
            <a:r>
              <a:rPr sz="760" i="0">
                <a:solidFill>
                  <a:srgbClr val="E6EDF3"/>
                </a:solidFill>
                <a:latin typeface="Inconsolata"/>
              </a:rPr>
              <a:t>engine = create_engine(</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r>
              <a:rPr sz="760" i="0">
                <a:solidFill>
                  <a:srgbClr val="A5D6A7"/>
                </a:solidFill>
                <a:latin typeface="Inconsolata"/>
              </a:rPr>
              <a:t>"sqlite://"</a:t>
            </a:r>
            <a:r>
              <a:rPr sz="760" i="0">
                <a:solidFill>
                  <a:srgbClr val="E6EDF3"/>
                </a:solidFill>
                <a:latin typeface="Inconsolata"/>
              </a:rPr>
              <a:t>,</a:t>
            </a:r>
          </a:p>
          <a:p>
            <a:pPr>
              <a:lnSpc>
                <a:spcPct val="109601"/>
              </a:lnSpc>
              <a:spcAft>
                <a:spcPts val="0"/>
              </a:spcAft>
            </a:pPr>
            <a:r>
              <a:rPr sz="760" i="0">
                <a:solidFill>
                  <a:srgbClr val="5C6773"/>
                </a:solidFill>
                <a:latin typeface="Inconsolata"/>
              </a:rPr>
              <a:t>22  </a:t>
            </a:r>
            <a:r>
              <a:rPr sz="760" i="0">
                <a:solidFill>
                  <a:srgbClr val="E6EDF3"/>
                </a:solidFill>
                <a:latin typeface="Inconsolata"/>
              </a:rPr>
              <a:t>    connect_args={</a:t>
            </a:r>
            <a:r>
              <a:rPr sz="760" i="0">
                <a:solidFill>
                  <a:srgbClr val="A5D6A7"/>
                </a:solidFill>
                <a:latin typeface="Inconsolata"/>
              </a:rPr>
              <a:t>"check_same_thread"</a:t>
            </a:r>
            <a:r>
              <a:rPr sz="760" i="0">
                <a:solidFill>
                  <a:srgbClr val="E6EDF3"/>
                </a:solidFill>
                <a:latin typeface="Inconsolata"/>
              </a:rPr>
              <a:t>: </a:t>
            </a:r>
            <a:r>
              <a:rPr sz="760" i="0">
                <a:solidFill>
                  <a:srgbClr val="FF8E6E"/>
                </a:solidFill>
                <a:latin typeface="Inconsolata"/>
              </a:rPr>
              <a:t>False</a:t>
            </a:r>
            <a:r>
              <a:rPr sz="760" i="0">
                <a:solidFill>
                  <a:srgbClr val="E6EDF3"/>
                </a:solidFill>
                <a:latin typeface="Inconsolata"/>
              </a:rPr>
              <a:t>},</a:t>
            </a:r>
          </a:p>
          <a:p>
            <a:pPr>
              <a:lnSpc>
                <a:spcPct val="109601"/>
              </a:lnSpc>
              <a:spcAft>
                <a:spcPts val="0"/>
              </a:spcAft>
            </a:pPr>
            <a:r>
              <a:rPr sz="760" i="0">
                <a:solidFill>
                  <a:srgbClr val="5C6773"/>
                </a:solidFill>
                <a:latin typeface="Inconsolata"/>
              </a:rPr>
              <a:t>23  </a:t>
            </a:r>
            <a:r>
              <a:rPr sz="760" i="0">
                <a:solidFill>
                  <a:srgbClr val="E6EDF3"/>
                </a:solidFill>
                <a:latin typeface="Inconsolata"/>
              </a:rPr>
              <a:t>    poolclass=</a:t>
            </a:r>
            <a:r>
              <a:rPr sz="760" i="0">
                <a:solidFill>
                  <a:srgbClr val="7FDBCA"/>
                </a:solidFill>
                <a:latin typeface="Inconsolata"/>
              </a:rPr>
              <a:t>StaticPool</a:t>
            </a:r>
            <a:r>
              <a:rPr sz="760" i="0">
                <a:solidFill>
                  <a:srgbClr val="E6EDF3"/>
                </a:solidFill>
                <a:latin typeface="Inconsolata"/>
              </a:rPr>
              <a:t>,</a:t>
            </a:r>
          </a:p>
          <a:p>
            <a:pPr>
              <a:lnSpc>
                <a:spcPct val="109601"/>
              </a:lnSpc>
              <a:spcAft>
                <a:spcPts val="0"/>
              </a:spcAft>
            </a:pPr>
            <a:r>
              <a:rPr sz="760" i="0">
                <a:solidFill>
                  <a:srgbClr val="5C6773"/>
                </a:solidFill>
                <a:latin typeface="Inconsolata"/>
              </a:rPr>
              <a:t>24  </a:t>
            </a:r>
            <a:r>
              <a:rPr sz="760" i="0">
                <a:solidFill>
                  <a:srgbClr val="E6EDF3"/>
                </a:solidFill>
                <a:latin typeface="Inconsolata"/>
              </a:rPr>
              <a:t>)</a:t>
            </a:r>
          </a:p>
          <a:p>
            <a:pPr>
              <a:lnSpc>
                <a:spcPct val="109601"/>
              </a:lnSpc>
              <a:spcAft>
                <a:spcPts val="0"/>
              </a:spcAft>
            </a:pPr>
            <a:r>
              <a:rPr sz="760" i="0">
                <a:solidFill>
                  <a:srgbClr val="5C6773"/>
                </a:solidFill>
                <a:latin typeface="Inconsolata"/>
              </a:rPr>
              <a:t>25  </a:t>
            </a:r>
            <a:r>
              <a:rPr sz="760" i="0">
                <a:solidFill>
                  <a:srgbClr val="7FDBCA"/>
                </a:solidFill>
                <a:latin typeface="Inconsolata"/>
              </a:rPr>
              <a:t>SessionLocal</a:t>
            </a:r>
            <a:r>
              <a:rPr sz="760" i="0">
                <a:solidFill>
                  <a:srgbClr val="E6EDF3"/>
                </a:solidFill>
                <a:latin typeface="Inconsolata"/>
              </a:rPr>
              <a:t> = sessionmaker(engine)</a:t>
            </a:r>
          </a:p>
          <a:p>
            <a:pPr>
              <a:lnSpc>
                <a:spcPct val="109601"/>
              </a:lnSpc>
              <a:spcAft>
                <a:spcPts val="0"/>
              </a:spcAft>
            </a:pPr>
            <a:r>
              <a:rPr sz="760" i="0">
                <a:solidFill>
                  <a:srgbClr val="5C6773"/>
                </a:solidFill>
                <a:latin typeface="Inconsolata"/>
              </a:rPr>
              <a:t>26  </a:t>
            </a:r>
            <a:r>
              <a:rPr sz="760" i="0">
                <a:solidFill>
                  <a:srgbClr val="E6EDF3"/>
                </a:solidFill>
                <a:latin typeface="Inconsolata"/>
              </a:rPr>
              <a:t> </a:t>
            </a:r>
          </a:p>
          <a:p>
            <a:pPr>
              <a:lnSpc>
                <a:spcPct val="109601"/>
              </a:lnSpc>
              <a:spcAft>
                <a:spcPts val="0"/>
              </a:spcAft>
            </a:pPr>
            <a:r>
              <a:rPr sz="760" i="0">
                <a:solidFill>
                  <a:srgbClr val="5C6773"/>
                </a:solidFill>
                <a:latin typeface="Inconsolata"/>
              </a:rPr>
              <a:t>27  </a:t>
            </a:r>
            <a:r>
              <a:rPr sz="760" i="0">
                <a:solidFill>
                  <a:srgbClr val="E6EDF3"/>
                </a:solidFill>
                <a:latin typeface="Inconsolata"/>
              </a:rPr>
              <a:t> </a:t>
            </a:r>
          </a:p>
          <a:p>
            <a:pPr>
              <a:lnSpc>
                <a:spcPct val="109601"/>
              </a:lnSpc>
              <a:spcAft>
                <a:spcPts val="0"/>
              </a:spcAft>
            </a:pPr>
            <a:r>
              <a:rPr sz="760" i="0">
                <a:solidFill>
                  <a:srgbClr val="5C6773"/>
                </a:solidFill>
                <a:latin typeface="Inconsolata"/>
              </a:rPr>
              <a:t>28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Base</a:t>
            </a:r>
            <a:r>
              <a:rPr sz="760" i="0">
                <a:solidFill>
                  <a:srgbClr val="E6EDF3"/>
                </a:solidFill>
                <a:latin typeface="Inconsolata"/>
              </a:rPr>
              <a:t>(</a:t>
            </a:r>
            <a:r>
              <a:rPr sz="760" i="0">
                <a:solidFill>
                  <a:srgbClr val="7FDBCA"/>
                </a:solidFill>
                <a:latin typeface="Inconsolata"/>
              </a:rPr>
              <a:t>DeclarativeBase</a:t>
            </a:r>
            <a:r>
              <a:rPr sz="760" i="0">
                <a:solidFill>
                  <a:srgbClr val="E6EDF3"/>
                </a:solidFill>
                <a:latin typeface="Inconsolata"/>
              </a:rPr>
              <a:t>):</a:t>
            </a:r>
          </a:p>
          <a:p>
            <a:pPr>
              <a:lnSpc>
                <a:spcPct val="109601"/>
              </a:lnSpc>
              <a:spcAft>
                <a:spcPts val="0"/>
              </a:spcAft>
            </a:pPr>
            <a:r>
              <a:rPr sz="760" i="0">
                <a:solidFill>
                  <a:srgbClr val="5C6773"/>
                </a:solidFill>
                <a:latin typeface="Inconsolata"/>
              </a:rPr>
              <a:t>29  </a:t>
            </a:r>
            <a:r>
              <a:rPr sz="760" i="0">
                <a:solidFill>
                  <a:srgbClr val="E6EDF3"/>
                </a:solidFill>
                <a:latin typeface="Inconsolata"/>
              </a:rPr>
              <a:t>    </a:t>
            </a:r>
            <a:r>
              <a:rPr sz="760" i="0">
                <a:solidFill>
                  <a:srgbClr val="FF8E6E"/>
                </a:solidFill>
                <a:latin typeface="Inconsolata"/>
              </a:rPr>
              <a:t>pass</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03-dependency-graph/after.py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32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ProductRecord</a:t>
            </a:r>
            <a:r>
              <a:rPr sz="760" i="0">
                <a:solidFill>
                  <a:srgbClr val="E6EDF3"/>
                </a:solidFill>
                <a:latin typeface="Inconsolata"/>
              </a:rPr>
              <a:t>(</a:t>
            </a:r>
            <a:r>
              <a:rPr sz="760" i="0">
                <a:solidFill>
                  <a:srgbClr val="7FDBCA"/>
                </a:solidFill>
                <a:latin typeface="Inconsolata"/>
              </a:rPr>
              <a:t>Base</a:t>
            </a:r>
            <a:r>
              <a:rPr sz="760" i="0">
                <a:solidFill>
                  <a:srgbClr val="E6EDF3"/>
                </a:solidFill>
                <a:latin typeface="Inconsolata"/>
              </a:rPr>
              <a:t>):</a:t>
            </a:r>
          </a:p>
          <a:p>
            <a:pPr>
              <a:lnSpc>
                <a:spcPct val="109601"/>
              </a:lnSpc>
              <a:spcAft>
                <a:spcPts val="0"/>
              </a:spcAft>
            </a:pPr>
            <a:r>
              <a:rPr sz="760" i="0">
                <a:solidFill>
                  <a:srgbClr val="5C6773"/>
                </a:solidFill>
                <a:latin typeface="Inconsolata"/>
              </a:rPr>
              <a:t>33  </a:t>
            </a:r>
            <a:r>
              <a:rPr sz="760" i="0">
                <a:solidFill>
                  <a:srgbClr val="E6EDF3"/>
                </a:solidFill>
                <a:latin typeface="Inconsolata"/>
              </a:rPr>
              <a:t>    __tablename__ = </a:t>
            </a:r>
            <a:r>
              <a:rPr sz="760" i="0">
                <a:solidFill>
                  <a:srgbClr val="A5D6A7"/>
                </a:solidFill>
                <a:latin typeface="Inconsolata"/>
              </a:rPr>
              <a:t>"products"</a:t>
            </a:r>
          </a:p>
          <a:p>
            <a:pPr>
              <a:lnSpc>
                <a:spcPct val="109601"/>
              </a:lnSpc>
              <a:spcAft>
                <a:spcPts val="0"/>
              </a:spcAft>
            </a:pPr>
            <a:r>
              <a:rPr sz="760" i="0">
                <a:solidFill>
                  <a:srgbClr val="5C6773"/>
                </a:solidFill>
                <a:latin typeface="Inconsolata"/>
              </a:rPr>
              <a:t>34  </a:t>
            </a:r>
            <a:r>
              <a:rPr sz="760" i="0">
                <a:solidFill>
                  <a:srgbClr val="E6EDF3"/>
                </a:solidFill>
                <a:latin typeface="Inconsolata"/>
              </a:rPr>
              <a:t>    id: </a:t>
            </a:r>
            <a:r>
              <a:rPr sz="760" i="0">
                <a:solidFill>
                  <a:srgbClr val="7FDBCA"/>
                </a:solidFill>
                <a:latin typeface="Inconsolata"/>
              </a:rPr>
              <a:t>Mapped</a:t>
            </a:r>
            <a:r>
              <a:rPr sz="760" i="0">
                <a:solidFill>
                  <a:srgbClr val="E6EDF3"/>
                </a:solidFill>
                <a:latin typeface="Inconsolata"/>
              </a:rPr>
              <a:t>[</a:t>
            </a:r>
            <a:r>
              <a:rPr sz="760" i="0">
                <a:solidFill>
                  <a:srgbClr val="C3A6FF"/>
                </a:solidFill>
                <a:latin typeface="Inconsolata"/>
              </a:rPr>
              <a:t>int</a:t>
            </a:r>
            <a:r>
              <a:rPr sz="760" i="0">
                <a:solidFill>
                  <a:srgbClr val="E6EDF3"/>
                </a:solidFill>
                <a:latin typeface="Inconsolata"/>
              </a:rPr>
              <a:t>] = mapped_column(primary_key=</a:t>
            </a:r>
            <a:r>
              <a:rPr sz="760" i="0">
                <a:solidFill>
                  <a:srgbClr val="FF8E6E"/>
                </a:solidFill>
                <a:latin typeface="Inconsolata"/>
              </a:rPr>
              <a:t>True</a:t>
            </a:r>
            <a:r>
              <a:rPr sz="760" i="0">
                <a:solidFill>
                  <a:srgbClr val="E6EDF3"/>
                </a:solidFill>
                <a:latin typeface="Inconsolata"/>
              </a:rPr>
              <a:t>)</a:t>
            </a:r>
          </a:p>
          <a:p>
            <a:pPr>
              <a:lnSpc>
                <a:spcPct val="109601"/>
              </a:lnSpc>
              <a:spcAft>
                <a:spcPts val="0"/>
              </a:spcAft>
            </a:pPr>
            <a:r>
              <a:rPr sz="760" i="0">
                <a:solidFill>
                  <a:srgbClr val="5C6773"/>
                </a:solidFill>
                <a:latin typeface="Inconsolata"/>
              </a:rPr>
              <a:t>35  </a:t>
            </a:r>
            <a:r>
              <a:rPr sz="760" i="0">
                <a:solidFill>
                  <a:srgbClr val="E6EDF3"/>
                </a:solidFill>
                <a:latin typeface="Inconsolata"/>
              </a:rPr>
              <a:t>    name: </a:t>
            </a:r>
            <a:r>
              <a:rPr sz="760" i="0">
                <a:solidFill>
                  <a:srgbClr val="7FDBCA"/>
                </a:solidFill>
                <a:latin typeface="Inconsolata"/>
              </a:rPr>
              <a:t>Mapped</a:t>
            </a:r>
            <a:r>
              <a:rPr sz="760" i="0">
                <a:solidFill>
                  <a:srgbClr val="E6EDF3"/>
                </a:solidFill>
                <a:latin typeface="Inconsolata"/>
              </a:rPr>
              <a:t>[</a:t>
            </a:r>
            <a:r>
              <a:rPr sz="760" i="0">
                <a:solidFill>
                  <a:srgbClr val="C3A6FF"/>
                </a:solidFill>
                <a:latin typeface="Inconsolata"/>
              </a:rPr>
              <a:t>str</a:t>
            </a:r>
            <a:r>
              <a:rPr sz="760" i="0">
                <a:solidFill>
                  <a:srgbClr val="E6EDF3"/>
                </a:solidFill>
                <a:latin typeface="Inconsolata"/>
              </a:rPr>
              <a:t>] = mapped_column(</a:t>
            </a:r>
            <a:r>
              <a:rPr sz="760" i="0">
                <a:solidFill>
                  <a:srgbClr val="7FDBCA"/>
                </a:solidFill>
                <a:latin typeface="Inconsolata"/>
              </a:rPr>
              <a:t>String</a:t>
            </a:r>
            <a:r>
              <a:rPr sz="760" i="0">
                <a:solidFill>
                  <a:srgbClr val="E6EDF3"/>
                </a:solidFill>
                <a:latin typeface="Inconsolata"/>
              </a:rPr>
              <a:t>(</a:t>
            </a:r>
            <a:r>
              <a:rPr sz="760" i="0">
                <a:solidFill>
                  <a:srgbClr val="F9C97A"/>
                </a:solidFill>
                <a:latin typeface="Inconsolata"/>
              </a:rPr>
              <a:t>100</a:t>
            </a:r>
            <a:r>
              <a:rPr sz="760" i="0">
                <a:solidFill>
                  <a:srgbClr val="E6EDF3"/>
                </a:solidFill>
                <a:latin typeface="Inconsolata"/>
              </a:rPr>
              <a:t>))</a:t>
            </a:r>
          </a:p>
          <a:p>
            <a:pPr>
              <a:lnSpc>
                <a:spcPct val="109601"/>
              </a:lnSpc>
              <a:spcAft>
                <a:spcPts val="0"/>
              </a:spcAft>
            </a:pPr>
            <a:r>
              <a:rPr sz="760" i="0">
                <a:solidFill>
                  <a:srgbClr val="5C6773"/>
                </a:solidFill>
                <a:latin typeface="Inconsolata"/>
              </a:rPr>
              <a:t>36  </a:t>
            </a:r>
            <a:r>
              <a:rPr sz="760" i="0">
                <a:solidFill>
                  <a:srgbClr val="E6EDF3"/>
                </a:solidFill>
                <a:latin typeface="Inconsolata"/>
              </a:rPr>
              <a:t>    price: </a:t>
            </a:r>
            <a:r>
              <a:rPr sz="760" i="0">
                <a:solidFill>
                  <a:srgbClr val="7FDBCA"/>
                </a:solidFill>
                <a:latin typeface="Inconsolata"/>
              </a:rPr>
              <a:t>Mapped</a:t>
            </a:r>
            <a:r>
              <a:rPr sz="760" i="0">
                <a:solidFill>
                  <a:srgbClr val="E6EDF3"/>
                </a:solidFill>
                <a:latin typeface="Inconsolata"/>
              </a:rPr>
              <a:t>[</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37  </a:t>
            </a:r>
            <a:r>
              <a:rPr sz="760" i="0">
                <a:solidFill>
                  <a:srgbClr val="E6EDF3"/>
                </a:solidFill>
                <a:latin typeface="Inconsolata"/>
              </a:rPr>
              <a:t> </a:t>
            </a:r>
          </a:p>
          <a:p>
            <a:pPr>
              <a:lnSpc>
                <a:spcPct val="109601"/>
              </a:lnSpc>
              <a:spcAft>
                <a:spcPts val="0"/>
              </a:spcAft>
            </a:pPr>
            <a:r>
              <a:rPr sz="760" i="0">
                <a:solidFill>
                  <a:srgbClr val="5C6773"/>
                </a:solidFill>
                <a:latin typeface="Inconsolata"/>
              </a:rPr>
              <a:t>38  </a:t>
            </a:r>
            <a:r>
              <a:rPr sz="760" i="0">
                <a:solidFill>
                  <a:srgbClr val="E6EDF3"/>
                </a:solidFill>
                <a:latin typeface="Inconsolata"/>
              </a:rPr>
              <a:t> </a:t>
            </a:r>
          </a:p>
          <a:p>
            <a:pPr>
              <a:lnSpc>
                <a:spcPct val="109601"/>
              </a:lnSpc>
              <a:spcAft>
                <a:spcPts val="0"/>
              </a:spcAft>
            </a:pPr>
            <a:r>
              <a:rPr sz="760" i="0">
                <a:solidFill>
                  <a:srgbClr val="5C6773"/>
                </a:solidFill>
                <a:latin typeface="Inconsolata"/>
              </a:rPr>
              <a:t>39  </a:t>
            </a:r>
            <a:r>
              <a:rPr sz="760" i="0">
                <a:solidFill>
                  <a:srgbClr val="7FDBCA"/>
                </a:solidFill>
                <a:latin typeface="Inconsolata"/>
              </a:rPr>
              <a:t>Base</a:t>
            </a:r>
            <a:r>
              <a:rPr sz="760" i="0">
                <a:solidFill>
                  <a:srgbClr val="E6EDF3"/>
                </a:solidFill>
                <a:latin typeface="Inconsolata"/>
              </a:rPr>
              <a:t>.metadata.create_all(engine)</a:t>
            </a:r>
          </a:p>
          <a:p>
            <a:pPr>
              <a:lnSpc>
                <a:spcPct val="109601"/>
              </a:lnSpc>
              <a:spcAft>
                <a:spcPts val="0"/>
              </a:spcAft>
            </a:pPr>
            <a:r>
              <a:rPr sz="760" i="0">
                <a:solidFill>
                  <a:srgbClr val="5C6773"/>
                </a:solidFill>
                <a:latin typeface="Inconsolata"/>
              </a:rPr>
              <a:t>40  </a:t>
            </a:r>
            <a:r>
              <a:rPr sz="760" i="0">
                <a:solidFill>
                  <a:srgbClr val="E6EDF3"/>
                </a:solidFill>
                <a:latin typeface="Inconsolata"/>
              </a:rPr>
              <a:t> </a:t>
            </a:r>
          </a:p>
          <a:p>
            <a:pPr>
              <a:lnSpc>
                <a:spcPct val="109601"/>
              </a:lnSpc>
              <a:spcAft>
                <a:spcPts val="0"/>
              </a:spcAft>
            </a:pPr>
            <a:r>
              <a:rPr sz="760" i="0">
                <a:solidFill>
                  <a:srgbClr val="5C6773"/>
                </a:solidFill>
                <a:latin typeface="Inconsolata"/>
              </a:rPr>
              <a:t>41  </a:t>
            </a:r>
            <a:r>
              <a:rPr sz="760" i="0">
                <a:solidFill>
                  <a:srgbClr val="E6EDF3"/>
                </a:solidFill>
                <a:latin typeface="Inconsolata"/>
              </a:rPr>
              <a:t> </a:t>
            </a:r>
          </a:p>
          <a:p>
            <a:pPr>
              <a:lnSpc>
                <a:spcPct val="109601"/>
              </a:lnSpc>
              <a:spcAft>
                <a:spcPts val="0"/>
              </a:spcAft>
            </a:pPr>
            <a:r>
              <a:rPr sz="760" i="0">
                <a:solidFill>
                  <a:srgbClr val="5C6773"/>
                </a:solidFill>
                <a:latin typeface="Inconsolata"/>
              </a:rPr>
              <a:t>42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ProductRepository</a:t>
            </a:r>
            <a:r>
              <a:rPr sz="760" i="0">
                <a:solidFill>
                  <a:srgbClr val="E6EDF3"/>
                </a:solidFill>
                <a:latin typeface="Inconsolata"/>
              </a:rPr>
              <a:t>:</a:t>
            </a:r>
          </a:p>
          <a:p>
            <a:pPr>
              <a:lnSpc>
                <a:spcPct val="109601"/>
              </a:lnSpc>
              <a:spcAft>
                <a:spcPts val="0"/>
              </a:spcAft>
            </a:pPr>
            <a:r>
              <a:rPr sz="760" i="0">
                <a:solidFill>
                  <a:srgbClr val="5C6773"/>
                </a:solidFill>
                <a:latin typeface="Inconsolata"/>
              </a:rPr>
              <a:t>43  </a:t>
            </a:r>
            <a:r>
              <a:rPr sz="760" i="0">
                <a:solidFill>
                  <a:srgbClr val="E6EDF3"/>
                </a:solidFill>
                <a:latin typeface="Inconsolata"/>
              </a:rPr>
              <a:t>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__init__</a:t>
            </a:r>
            <a:r>
              <a:rPr sz="760" i="0">
                <a:solidFill>
                  <a:srgbClr val="E6EDF3"/>
                </a:solidFill>
                <a:latin typeface="Inconsolata"/>
              </a:rPr>
              <a:t>(</a:t>
            </a:r>
            <a:r>
              <a:rPr sz="760" i="0">
                <a:solidFill>
                  <a:srgbClr val="C3A6FF"/>
                </a:solidFill>
                <a:latin typeface="Inconsolata"/>
              </a:rPr>
              <a:t>self</a:t>
            </a:r>
            <a:r>
              <a:rPr sz="760" i="0">
                <a:solidFill>
                  <a:srgbClr val="E6EDF3"/>
                </a:solidFill>
                <a:latin typeface="Inconsolata"/>
              </a:rPr>
              <a:t>, session: </a:t>
            </a:r>
            <a:r>
              <a:rPr sz="760" i="0">
                <a:solidFill>
                  <a:srgbClr val="7FDBCA"/>
                </a:solidFill>
                <a:latin typeface="Inconsolata"/>
              </a:rPr>
              <a:t>Session</a:t>
            </a:r>
            <a:r>
              <a:rPr sz="760" i="0">
                <a:solidFill>
                  <a:srgbClr val="E6EDF3"/>
                </a:solidFill>
                <a:latin typeface="Inconsolata"/>
              </a:rPr>
              <a:t>):</a:t>
            </a:r>
          </a:p>
          <a:p>
            <a:pPr>
              <a:lnSpc>
                <a:spcPct val="109601"/>
              </a:lnSpc>
              <a:spcAft>
                <a:spcPts val="0"/>
              </a:spcAft>
            </a:pPr>
            <a:r>
              <a:rPr sz="760" i="0">
                <a:solidFill>
                  <a:srgbClr val="5C6773"/>
                </a:solidFill>
                <a:latin typeface="Inconsolata"/>
              </a:rPr>
              <a:t>44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.session = session</a:t>
            </a:r>
          </a:p>
          <a:p>
            <a:pPr>
              <a:lnSpc>
                <a:spcPct val="109601"/>
              </a:lnSpc>
              <a:spcAft>
                <a:spcPts val="0"/>
              </a:spcAft>
            </a:pPr>
            <a:r>
              <a:rPr sz="760" i="0">
                <a:solidFill>
                  <a:srgbClr val="5C6773"/>
                </a:solidFill>
                <a:latin typeface="Inconsolata"/>
              </a:rPr>
              <a:t>45  </a:t>
            </a:r>
            <a:r>
              <a:rPr sz="760" i="0">
                <a:solidFill>
                  <a:srgbClr val="E6EDF3"/>
                </a:solidFill>
                <a:latin typeface="Inconsolata"/>
              </a:rPr>
              <a:t> </a:t>
            </a:r>
          </a:p>
          <a:p>
            <a:pPr>
              <a:lnSpc>
                <a:spcPct val="109601"/>
              </a:lnSpc>
              <a:spcAft>
                <a:spcPts val="0"/>
              </a:spcAft>
            </a:pPr>
            <a:r>
              <a:rPr sz="760" i="0">
                <a:solidFill>
                  <a:srgbClr val="5C6773"/>
                </a:solidFill>
                <a:latin typeface="Inconsolata"/>
              </a:rPr>
              <a:t>46  </a:t>
            </a:r>
            <a:r>
              <a:rPr sz="760" i="0">
                <a:solidFill>
                  <a:srgbClr val="E6EDF3"/>
                </a:solidFill>
                <a:latin typeface="Inconsolata"/>
              </a:rPr>
              <a:t>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add</a:t>
            </a:r>
            <a:r>
              <a:rPr sz="760" i="0">
                <a:solidFill>
                  <a:srgbClr val="E6EDF3"/>
                </a:solidFill>
                <a:latin typeface="Inconsolata"/>
              </a:rPr>
              <a:t>(</a:t>
            </a:r>
            <a:r>
              <a:rPr sz="760" i="0">
                <a:solidFill>
                  <a:srgbClr val="C3A6FF"/>
                </a:solidFill>
                <a:latin typeface="Inconsolata"/>
              </a:rPr>
              <a:t>self</a:t>
            </a:r>
            <a:r>
              <a:rPr sz="760" i="0">
                <a:solidFill>
                  <a:srgbClr val="E6EDF3"/>
                </a:solidFill>
                <a:latin typeface="Inconsolata"/>
              </a:rPr>
              <a:t>, name: </a:t>
            </a:r>
            <a:r>
              <a:rPr sz="760" i="0">
                <a:solidFill>
                  <a:srgbClr val="C3A6FF"/>
                </a:solidFill>
                <a:latin typeface="Inconsolata"/>
              </a:rPr>
              <a:t>str</a:t>
            </a:r>
            <a:r>
              <a:rPr sz="760" i="0">
                <a:solidFill>
                  <a:srgbClr val="E6EDF3"/>
                </a:solidFill>
                <a:latin typeface="Inconsolata"/>
              </a:rPr>
              <a:t>, price: </a:t>
            </a:r>
            <a:r>
              <a:rPr sz="760" i="0">
                <a:solidFill>
                  <a:srgbClr val="C3A6FF"/>
                </a:solidFill>
                <a:latin typeface="Inconsolata"/>
              </a:rPr>
              <a:t>int</a:t>
            </a:r>
            <a:r>
              <a:rPr sz="760" i="0">
                <a:solidFill>
                  <a:srgbClr val="E6EDF3"/>
                </a:solidFill>
                <a:latin typeface="Inconsolata"/>
              </a:rPr>
              <a:t>) -&gt; </a:t>
            </a:r>
            <a:r>
              <a:rPr sz="760" i="0">
                <a:solidFill>
                  <a:srgbClr val="7FDBCA"/>
                </a:solidFill>
                <a:latin typeface="Inconsolata"/>
              </a:rPr>
              <a:t>ProductRecord</a:t>
            </a:r>
            <a:r>
              <a:rPr sz="760" i="0">
                <a:solidFill>
                  <a:srgbClr val="E6EDF3"/>
                </a:solidFill>
                <a:latin typeface="Inconsolata"/>
              </a:rPr>
              <a:t>:</a:t>
            </a:r>
          </a:p>
          <a:p>
            <a:pPr>
              <a:lnSpc>
                <a:spcPct val="109601"/>
              </a:lnSpc>
              <a:spcAft>
                <a:spcPts val="0"/>
              </a:spcAft>
            </a:pPr>
            <a:r>
              <a:rPr sz="760" i="0">
                <a:solidFill>
                  <a:srgbClr val="5C6773"/>
                </a:solidFill>
                <a:latin typeface="Inconsolata"/>
              </a:rPr>
              <a:t>47  </a:t>
            </a:r>
            <a:r>
              <a:rPr sz="760" i="0">
                <a:solidFill>
                  <a:srgbClr val="E6EDF3"/>
                </a:solidFill>
                <a:latin typeface="Inconsolata"/>
              </a:rPr>
              <a:t>        record = </a:t>
            </a:r>
            <a:r>
              <a:rPr sz="760" i="0">
                <a:solidFill>
                  <a:srgbClr val="7FDBCA"/>
                </a:solidFill>
                <a:latin typeface="Inconsolata"/>
              </a:rPr>
              <a:t>ProductRecord</a:t>
            </a:r>
            <a:r>
              <a:rPr sz="760" i="0">
                <a:solidFill>
                  <a:srgbClr val="E6EDF3"/>
                </a:solidFill>
                <a:latin typeface="Inconsolata"/>
              </a:rPr>
              <a:t>(name=name, price=price)</a:t>
            </a:r>
          </a:p>
          <a:p>
            <a:pPr>
              <a:lnSpc>
                <a:spcPct val="109601"/>
              </a:lnSpc>
              <a:spcAft>
                <a:spcPts val="0"/>
              </a:spcAft>
            </a:pPr>
            <a:r>
              <a:rPr sz="760" i="0">
                <a:solidFill>
                  <a:srgbClr val="5C6773"/>
                </a:solidFill>
                <a:latin typeface="Inconsolata"/>
              </a:rPr>
              <a:t>48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.session.add(record)</a:t>
            </a:r>
          </a:p>
          <a:p>
            <a:pPr>
              <a:lnSpc>
                <a:spcPct val="109601"/>
              </a:lnSpc>
              <a:spcAft>
                <a:spcPts val="0"/>
              </a:spcAft>
            </a:pPr>
            <a:r>
              <a:rPr sz="760" i="0">
                <a:solidFill>
                  <a:srgbClr val="5C6773"/>
                </a:solidFill>
                <a:latin typeface="Inconsolata"/>
              </a:rPr>
              <a:t>49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.session.commit()</a:t>
            </a:r>
          </a:p>
          <a:p>
            <a:pPr>
              <a:lnSpc>
                <a:spcPct val="109601"/>
              </a:lnSpc>
              <a:spcAft>
                <a:spcPts val="0"/>
              </a:spcAft>
            </a:pPr>
            <a:r>
              <a:rPr sz="760" i="0">
                <a:solidFill>
                  <a:srgbClr val="5C6773"/>
                </a:solidFill>
                <a:latin typeface="Inconsolata"/>
              </a:rPr>
              <a:t>50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record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Graph</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Session lewat Depends dengan yield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03-dependency-graph/after.py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3474"/>
              </a:lnSpc>
              <a:spcAft>
                <a:spcPts val="0"/>
              </a:spcAft>
            </a:pPr>
            <a:r>
              <a:rPr sz="805" i="0">
                <a:solidFill>
                  <a:srgbClr val="5C6773"/>
                </a:solidFill>
                <a:latin typeface="Inconsolata"/>
              </a:rPr>
              <a:t>52  </a:t>
            </a:r>
            <a:r>
              <a:rPr sz="805" i="0">
                <a:solidFill>
                  <a:srgbClr val="E6EDF3"/>
                </a:solidFill>
                <a:latin typeface="Inconsolata"/>
              </a:rPr>
              <a:t>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list</a:t>
            </a:r>
            <a:r>
              <a:rPr sz="805" i="0">
                <a:solidFill>
                  <a:srgbClr val="E6EDF3"/>
                </a:solidFill>
                <a:latin typeface="Inconsolata"/>
              </a:rPr>
              <a:t>(</a:t>
            </a:r>
            <a:r>
              <a:rPr sz="805" i="0">
                <a:solidFill>
                  <a:srgbClr val="C3A6FF"/>
                </a:solidFill>
                <a:latin typeface="Inconsolata"/>
              </a:rPr>
              <a:t>self</a:t>
            </a:r>
            <a:r>
              <a:rPr sz="805" i="0">
                <a:solidFill>
                  <a:srgbClr val="E6EDF3"/>
                </a:solidFill>
                <a:latin typeface="Inconsolata"/>
              </a:rPr>
              <a:t>) -&gt; </a:t>
            </a:r>
            <a:r>
              <a:rPr sz="805" i="0">
                <a:solidFill>
                  <a:srgbClr val="C3A6FF"/>
                </a:solidFill>
                <a:latin typeface="Inconsolata"/>
              </a:rPr>
              <a:t>list</a:t>
            </a:r>
            <a:r>
              <a:rPr sz="805" i="0">
                <a:solidFill>
                  <a:srgbClr val="E6EDF3"/>
                </a:solidFill>
                <a:latin typeface="Inconsolata"/>
              </a:rPr>
              <a:t>[</a:t>
            </a:r>
            <a:r>
              <a:rPr sz="805" i="0">
                <a:solidFill>
                  <a:srgbClr val="7FDBCA"/>
                </a:solidFill>
                <a:latin typeface="Inconsolata"/>
              </a:rPr>
              <a:t>ProductRecord</a:t>
            </a:r>
            <a:r>
              <a:rPr sz="805" i="0">
                <a:solidFill>
                  <a:srgbClr val="E6EDF3"/>
                </a:solidFill>
                <a:latin typeface="Inconsolata"/>
              </a:rPr>
              <a:t>]:</a:t>
            </a:r>
          </a:p>
          <a:p>
            <a:pPr>
              <a:lnSpc>
                <a:spcPct val="103474"/>
              </a:lnSpc>
              <a:spcAft>
                <a:spcPts val="0"/>
              </a:spcAft>
            </a:pPr>
            <a:r>
              <a:rPr sz="805" i="0">
                <a:solidFill>
                  <a:srgbClr val="5C6773"/>
                </a:solidFill>
                <a:latin typeface="Inconsolata"/>
              </a:rPr>
              <a:t>53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a:t>
            </a:r>
            <a:r>
              <a:rPr sz="805" i="0">
                <a:solidFill>
                  <a:srgbClr val="C3A6FF"/>
                </a:solidFill>
                <a:latin typeface="Inconsolata"/>
              </a:rPr>
              <a:t>list</a:t>
            </a:r>
            <a:r>
              <a:rPr sz="805" i="0">
                <a:solidFill>
                  <a:srgbClr val="E6EDF3"/>
                </a:solidFill>
                <a:latin typeface="Inconsolata"/>
              </a:rPr>
              <a:t>(</a:t>
            </a:r>
            <a:r>
              <a:rPr sz="805" i="0">
                <a:solidFill>
                  <a:srgbClr val="C3A6FF"/>
                </a:solidFill>
                <a:latin typeface="Inconsolata"/>
              </a:rPr>
              <a:t>self</a:t>
            </a:r>
            <a:r>
              <a:rPr sz="805" i="0">
                <a:solidFill>
                  <a:srgbClr val="E6EDF3"/>
                </a:solidFill>
                <a:latin typeface="Inconsolata"/>
              </a:rPr>
              <a:t>.session.query(</a:t>
            </a:r>
            <a:r>
              <a:rPr sz="805" i="0">
                <a:solidFill>
                  <a:srgbClr val="7FDBCA"/>
                </a:solidFill>
                <a:latin typeface="Inconsolata"/>
              </a:rPr>
              <a:t>ProductRecord</a:t>
            </a:r>
            <a:r>
              <a:rPr sz="805" i="0">
                <a:solidFill>
                  <a:srgbClr val="E6EDF3"/>
                </a:solidFill>
                <a:latin typeface="Inconsolata"/>
              </a:rPr>
              <a:t>))</a:t>
            </a:r>
          </a:p>
          <a:p>
            <a:pPr>
              <a:lnSpc>
                <a:spcPct val="103474"/>
              </a:lnSpc>
              <a:spcAft>
                <a:spcPts val="0"/>
              </a:spcAft>
            </a:pPr>
            <a:r>
              <a:rPr sz="805" i="0">
                <a:solidFill>
                  <a:srgbClr val="5C6773"/>
                </a:solidFill>
                <a:latin typeface="Inconsolata"/>
              </a:rPr>
              <a:t>54  </a:t>
            </a:r>
            <a:r>
              <a:rPr sz="805" i="0">
                <a:solidFill>
                  <a:srgbClr val="E6EDF3"/>
                </a:solidFill>
                <a:latin typeface="Inconsolata"/>
              </a:rPr>
              <a:t> </a:t>
            </a:r>
          </a:p>
          <a:p>
            <a:pPr>
              <a:lnSpc>
                <a:spcPct val="103474"/>
              </a:lnSpc>
              <a:spcAft>
                <a:spcPts val="0"/>
              </a:spcAft>
            </a:pPr>
            <a:r>
              <a:rPr sz="805" i="0">
                <a:solidFill>
                  <a:srgbClr val="5C6773"/>
                </a:solidFill>
                <a:latin typeface="Inconsolata"/>
              </a:rPr>
              <a:t>55  </a:t>
            </a:r>
            <a:r>
              <a:rPr sz="805" i="0">
                <a:solidFill>
                  <a:srgbClr val="E6EDF3"/>
                </a:solidFill>
                <a:latin typeface="Inconsolata"/>
              </a:rPr>
              <a:t> </a:t>
            </a:r>
          </a:p>
          <a:p>
            <a:pPr>
              <a:lnSpc>
                <a:spcPct val="103474"/>
              </a:lnSpc>
              <a:spcAft>
                <a:spcPts val="0"/>
              </a:spcAft>
            </a:pPr>
            <a:r>
              <a:rPr sz="805" i="0">
                <a:solidFill>
                  <a:srgbClr val="5C6773"/>
                </a:solidFill>
                <a:latin typeface="Inconsolata"/>
              </a:rPr>
              <a:t>56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to_dict</a:t>
            </a:r>
            <a:r>
              <a:rPr sz="805" i="0">
                <a:solidFill>
                  <a:srgbClr val="E6EDF3"/>
                </a:solidFill>
                <a:latin typeface="Inconsolata"/>
              </a:rPr>
              <a:t>(r: </a:t>
            </a:r>
            <a:r>
              <a:rPr sz="805" i="0">
                <a:solidFill>
                  <a:srgbClr val="7FDBCA"/>
                </a:solidFill>
                <a:latin typeface="Inconsolata"/>
              </a:rPr>
              <a:t>ProductRecord</a:t>
            </a:r>
            <a:r>
              <a:rPr sz="805" i="0">
                <a:solidFill>
                  <a:srgbClr val="E6EDF3"/>
                </a:solidFill>
                <a:latin typeface="Inconsolata"/>
              </a:rPr>
              <a:t>) -&gt; </a:t>
            </a:r>
            <a:r>
              <a:rPr sz="805" i="0">
                <a:solidFill>
                  <a:srgbClr val="C3A6FF"/>
                </a:solidFill>
                <a:latin typeface="Inconsolata"/>
              </a:rPr>
              <a:t>dict</a:t>
            </a:r>
            <a:r>
              <a:rPr sz="805" i="0">
                <a:solidFill>
                  <a:srgbClr val="E6EDF3"/>
                </a:solidFill>
                <a:latin typeface="Inconsolata"/>
              </a:rPr>
              <a:t>:</a:t>
            </a:r>
          </a:p>
          <a:p>
            <a:pPr>
              <a:lnSpc>
                <a:spcPct val="103474"/>
              </a:lnSpc>
              <a:spcAft>
                <a:spcPts val="0"/>
              </a:spcAft>
            </a:pPr>
            <a:r>
              <a:rPr sz="805" i="0">
                <a:solidFill>
                  <a:srgbClr val="5C6773"/>
                </a:solidFill>
                <a:latin typeface="Inconsolata"/>
              </a:rPr>
              <a:t>57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a:t>
            </a:r>
            <a:r>
              <a:rPr sz="805" i="0">
                <a:solidFill>
                  <a:srgbClr val="A5D6A7"/>
                </a:solidFill>
                <a:latin typeface="Inconsolata"/>
              </a:rPr>
              <a:t>"id"</a:t>
            </a:r>
            <a:r>
              <a:rPr sz="805" i="0">
                <a:solidFill>
                  <a:srgbClr val="E6EDF3"/>
                </a:solidFill>
                <a:latin typeface="Inconsolata"/>
              </a:rPr>
              <a:t>: r.id, </a:t>
            </a:r>
            <a:r>
              <a:rPr sz="805" i="0">
                <a:solidFill>
                  <a:srgbClr val="A5D6A7"/>
                </a:solidFill>
                <a:latin typeface="Inconsolata"/>
              </a:rPr>
              <a:t>"name"</a:t>
            </a:r>
            <a:r>
              <a:rPr sz="805" i="0">
                <a:solidFill>
                  <a:srgbClr val="E6EDF3"/>
                </a:solidFill>
                <a:latin typeface="Inconsolata"/>
              </a:rPr>
              <a:t>: r.name, </a:t>
            </a:r>
            <a:r>
              <a:rPr sz="805" i="0">
                <a:solidFill>
                  <a:srgbClr val="A5D6A7"/>
                </a:solidFill>
                <a:latin typeface="Inconsolata"/>
              </a:rPr>
              <a:t>"price"</a:t>
            </a:r>
            <a:r>
              <a:rPr sz="805" i="0">
                <a:solidFill>
                  <a:srgbClr val="E6EDF3"/>
                </a:solidFill>
                <a:latin typeface="Inconsolata"/>
              </a:rPr>
              <a:t>: r.price}</a:t>
            </a:r>
          </a:p>
          <a:p>
            <a:pPr>
              <a:lnSpc>
                <a:spcPct val="103474"/>
              </a:lnSpc>
              <a:spcAft>
                <a:spcPts val="0"/>
              </a:spcAft>
            </a:pPr>
            <a:r>
              <a:rPr sz="805" i="0">
                <a:solidFill>
                  <a:srgbClr val="5C6773"/>
                </a:solidFill>
                <a:latin typeface="Inconsolata"/>
              </a:rPr>
              <a:t>58  </a:t>
            </a:r>
            <a:r>
              <a:rPr sz="805" i="0">
                <a:solidFill>
                  <a:srgbClr val="E6EDF3"/>
                </a:solidFill>
                <a:latin typeface="Inconsolata"/>
              </a:rPr>
              <a:t> </a:t>
            </a:r>
          </a:p>
          <a:p>
            <a:pPr>
              <a:lnSpc>
                <a:spcPct val="103474"/>
              </a:lnSpc>
              <a:spcAft>
                <a:spcPts val="0"/>
              </a:spcAft>
            </a:pPr>
            <a:r>
              <a:rPr sz="805" i="0">
                <a:solidFill>
                  <a:srgbClr val="5C6773"/>
                </a:solidFill>
                <a:latin typeface="Inconsolata"/>
              </a:rPr>
              <a:t>59  </a:t>
            </a:r>
            <a:r>
              <a:rPr sz="805" i="0">
                <a:solidFill>
                  <a:srgbClr val="E6EDF3"/>
                </a:solidFill>
                <a:latin typeface="Inconsolata"/>
              </a:rPr>
              <a:t> </a:t>
            </a:r>
          </a:p>
          <a:p>
            <a:pPr>
              <a:lnSpc>
                <a:spcPct val="103474"/>
              </a:lnSpc>
              <a:spcAft>
                <a:spcPts val="0"/>
              </a:spcAft>
            </a:pPr>
            <a:r>
              <a:rPr sz="805" i="0">
                <a:solidFill>
                  <a:srgbClr val="5C6773"/>
                </a:solidFill>
                <a:latin typeface="Inconsolata"/>
              </a:rPr>
              <a:t>60  </a:t>
            </a:r>
            <a:r>
              <a:rPr sz="805" i="1">
                <a:solidFill>
                  <a:srgbClr val="8B98A8"/>
                </a:solidFill>
                <a:latin typeface="Inconsolata"/>
              </a:rPr>
              <a:t># ---------- dependencies ----------</a:t>
            </a:r>
          </a:p>
          <a:p>
            <a:pPr>
              <a:lnSpc>
                <a:spcPct val="103474"/>
              </a:lnSpc>
              <a:spcAft>
                <a:spcPts val="0"/>
              </a:spcAft>
            </a:pPr>
            <a:r>
              <a:rPr sz="805" i="0">
                <a:solidFill>
                  <a:srgbClr val="5C6773"/>
                </a:solidFill>
                <a:latin typeface="Inconsolata"/>
              </a:rPr>
              <a:t>61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get_session</a:t>
            </a:r>
            <a:r>
              <a:rPr sz="805" i="0">
                <a:solidFill>
                  <a:srgbClr val="E6EDF3"/>
                </a:solidFill>
                <a:latin typeface="Inconsolata"/>
              </a:rPr>
              <a:t>() -&gt; </a:t>
            </a:r>
            <a:r>
              <a:rPr sz="805" i="0">
                <a:solidFill>
                  <a:srgbClr val="7FDBCA"/>
                </a:solidFill>
                <a:latin typeface="Inconsolata"/>
              </a:rPr>
              <a:t>Iterator</a:t>
            </a:r>
            <a:r>
              <a:rPr sz="805" i="0">
                <a:solidFill>
                  <a:srgbClr val="E6EDF3"/>
                </a:solidFill>
                <a:latin typeface="Inconsolata"/>
              </a:rPr>
              <a:t>[</a:t>
            </a:r>
            <a:r>
              <a:rPr sz="805" i="0">
                <a:solidFill>
                  <a:srgbClr val="7FDBCA"/>
                </a:solidFill>
                <a:latin typeface="Inconsolata"/>
              </a:rPr>
              <a:t>Session</a:t>
            </a:r>
            <a:r>
              <a:rPr sz="805" i="0">
                <a:solidFill>
                  <a:srgbClr val="E6EDF3"/>
                </a:solidFill>
                <a:latin typeface="Inconsolata"/>
              </a:rPr>
              <a:t>]:</a:t>
            </a:r>
          </a:p>
          <a:p>
            <a:pPr>
              <a:lnSpc>
                <a:spcPct val="103474"/>
              </a:lnSpc>
              <a:spcAft>
                <a:spcPts val="0"/>
              </a:spcAft>
            </a:pPr>
            <a:r>
              <a:rPr sz="805" i="0">
                <a:solidFill>
                  <a:srgbClr val="5C6773"/>
                </a:solidFill>
                <a:latin typeface="Inconsolata"/>
              </a:rPr>
              <a:t>62  </a:t>
            </a:r>
            <a:r>
              <a:rPr sz="805" i="0">
                <a:solidFill>
                  <a:srgbClr val="E6EDF3"/>
                </a:solidFill>
                <a:latin typeface="Inconsolata"/>
              </a:rPr>
              <a:t>    session = </a:t>
            </a:r>
            <a:r>
              <a:rPr sz="805" i="0">
                <a:solidFill>
                  <a:srgbClr val="7FDBCA"/>
                </a:solidFill>
                <a:latin typeface="Inconsolata"/>
              </a:rPr>
              <a:t>SessionLocal</a:t>
            </a:r>
            <a:r>
              <a:rPr sz="805" i="0">
                <a:solidFill>
                  <a:srgbClr val="E6EDF3"/>
                </a:solidFill>
                <a:latin typeface="Inconsolata"/>
              </a:rPr>
              <a:t>()</a:t>
            </a:r>
          </a:p>
          <a:p>
            <a:pPr>
              <a:lnSpc>
                <a:spcPct val="103474"/>
              </a:lnSpc>
              <a:spcAft>
                <a:spcPts val="0"/>
              </a:spcAft>
            </a:pPr>
            <a:r>
              <a:rPr sz="805" i="0">
                <a:solidFill>
                  <a:srgbClr val="5C6773"/>
                </a:solidFill>
                <a:latin typeface="Inconsolata"/>
              </a:rPr>
              <a:t>63  </a:t>
            </a:r>
            <a:r>
              <a:rPr sz="805" i="0">
                <a:solidFill>
                  <a:srgbClr val="E6EDF3"/>
                </a:solidFill>
                <a:latin typeface="Inconsolata"/>
              </a:rPr>
              <a:t>    </a:t>
            </a:r>
            <a:r>
              <a:rPr sz="805" i="0">
                <a:solidFill>
                  <a:srgbClr val="FF8E6E"/>
                </a:solidFill>
                <a:latin typeface="Inconsolata"/>
              </a:rPr>
              <a:t>try</a:t>
            </a:r>
            <a:r>
              <a:rPr sz="805" i="0">
                <a:solidFill>
                  <a:srgbClr val="E6EDF3"/>
                </a:solidFill>
                <a:latin typeface="Inconsolata"/>
              </a:rPr>
              <a:t>:</a:t>
            </a:r>
          </a:p>
          <a:p>
            <a:pPr>
              <a:lnSpc>
                <a:spcPct val="103474"/>
              </a:lnSpc>
              <a:spcAft>
                <a:spcPts val="0"/>
              </a:spcAft>
            </a:pPr>
            <a:r>
              <a:rPr sz="805" i="0">
                <a:solidFill>
                  <a:srgbClr val="5C6773"/>
                </a:solidFill>
                <a:latin typeface="Inconsolata"/>
              </a:rPr>
              <a:t>64  </a:t>
            </a:r>
            <a:r>
              <a:rPr sz="805" i="0">
                <a:solidFill>
                  <a:srgbClr val="E6EDF3"/>
                </a:solidFill>
                <a:latin typeface="Inconsolata"/>
              </a:rPr>
              <a:t>        </a:t>
            </a:r>
            <a:r>
              <a:rPr sz="805" i="0">
                <a:solidFill>
                  <a:srgbClr val="FF8E6E"/>
                </a:solidFill>
                <a:latin typeface="Inconsolata"/>
              </a:rPr>
              <a:t>yield</a:t>
            </a:r>
            <a:r>
              <a:rPr sz="805" i="0">
                <a:solidFill>
                  <a:srgbClr val="E6EDF3"/>
                </a:solidFill>
                <a:latin typeface="Inconsolata"/>
              </a:rPr>
              <a:t> session</a:t>
            </a:r>
          </a:p>
          <a:p>
            <a:pPr>
              <a:lnSpc>
                <a:spcPct val="103474"/>
              </a:lnSpc>
              <a:spcAft>
                <a:spcPts val="0"/>
              </a:spcAft>
            </a:pPr>
            <a:r>
              <a:rPr sz="805" i="0">
                <a:solidFill>
                  <a:srgbClr val="5C6773"/>
                </a:solidFill>
                <a:latin typeface="Inconsolata"/>
              </a:rPr>
              <a:t>65  </a:t>
            </a:r>
            <a:r>
              <a:rPr sz="805" i="0">
                <a:solidFill>
                  <a:srgbClr val="E6EDF3"/>
                </a:solidFill>
                <a:latin typeface="Inconsolata"/>
              </a:rPr>
              <a:t>    </a:t>
            </a:r>
            <a:r>
              <a:rPr sz="805" i="0">
                <a:solidFill>
                  <a:srgbClr val="FF8E6E"/>
                </a:solidFill>
                <a:latin typeface="Inconsolata"/>
              </a:rPr>
              <a:t>finally</a:t>
            </a:r>
            <a:r>
              <a:rPr sz="805" i="0">
                <a:solidFill>
                  <a:srgbClr val="E6EDF3"/>
                </a:solidFill>
                <a:latin typeface="Inconsolata"/>
              </a:rPr>
              <a:t>:</a:t>
            </a:r>
          </a:p>
          <a:p>
            <a:pPr>
              <a:lnSpc>
                <a:spcPct val="103474"/>
              </a:lnSpc>
              <a:spcAft>
                <a:spcPts val="0"/>
              </a:spcAft>
            </a:pPr>
            <a:r>
              <a:rPr sz="805" i="0">
                <a:solidFill>
                  <a:srgbClr val="5C6773"/>
                </a:solidFill>
                <a:latin typeface="Inconsolata"/>
              </a:rPr>
              <a:t>66  </a:t>
            </a:r>
            <a:r>
              <a:rPr sz="805" i="0">
                <a:solidFill>
                  <a:srgbClr val="E6EDF3"/>
                </a:solidFill>
                <a:latin typeface="Inconsolata"/>
              </a:rPr>
              <a:t>        session.close()  </a:t>
            </a:r>
            <a:r>
              <a:rPr sz="805" i="1">
                <a:solidFill>
                  <a:srgbClr val="8B98A8"/>
                </a:solidFill>
                <a:latin typeface="Inconsolata"/>
              </a:rPr>
              <a:t># selalu jalan, error atau tidak</a:t>
            </a:r>
          </a:p>
          <a:p>
            <a:pPr>
              <a:lnSpc>
                <a:spcPct val="103474"/>
              </a:lnSpc>
              <a:spcAft>
                <a:spcPts val="0"/>
              </a:spcAft>
            </a:pPr>
            <a:r>
              <a:rPr sz="805" i="0">
                <a:solidFill>
                  <a:srgbClr val="5C6773"/>
                </a:solidFill>
                <a:latin typeface="Inconsolata"/>
              </a:rPr>
              <a:t>67  </a:t>
            </a:r>
            <a:r>
              <a:rPr sz="805" i="0">
                <a:solidFill>
                  <a:srgbClr val="E6EDF3"/>
                </a:solidFill>
                <a:latin typeface="Inconsolata"/>
              </a:rPr>
              <a:t> </a:t>
            </a:r>
          </a:p>
          <a:p>
            <a:pPr>
              <a:lnSpc>
                <a:spcPct val="103474"/>
              </a:lnSpc>
              <a:spcAft>
                <a:spcPts val="0"/>
              </a:spcAft>
            </a:pPr>
            <a:r>
              <a:rPr sz="805" i="0">
                <a:solidFill>
                  <a:srgbClr val="5C6773"/>
                </a:solidFill>
                <a:latin typeface="Inconsolata"/>
              </a:rPr>
              <a:t>68  </a:t>
            </a:r>
            <a:r>
              <a:rPr sz="805" i="0">
                <a:solidFill>
                  <a:srgbClr val="E6EDF3"/>
                </a:solidFill>
                <a:latin typeface="Inconsolata"/>
              </a:rPr>
              <a:t> </a:t>
            </a:r>
          </a:p>
          <a:p>
            <a:pPr>
              <a:lnSpc>
                <a:spcPct val="103474"/>
              </a:lnSpc>
              <a:spcAft>
                <a:spcPts val="0"/>
              </a:spcAft>
            </a:pPr>
            <a:r>
              <a:rPr sz="805" i="0">
                <a:solidFill>
                  <a:srgbClr val="5C6773"/>
                </a:solidFill>
                <a:latin typeface="Inconsolata"/>
              </a:rPr>
              <a:t>69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get_repository</a:t>
            </a:r>
            <a:r>
              <a:rPr sz="805" i="0">
                <a:solidFill>
                  <a:srgbClr val="E6EDF3"/>
                </a:solidFill>
                <a:latin typeface="Inconsolata"/>
              </a:rPr>
              <a:t>(</a:t>
            </a:r>
          </a:p>
          <a:p>
            <a:pPr>
              <a:lnSpc>
                <a:spcPct val="103474"/>
              </a:lnSpc>
              <a:spcAft>
                <a:spcPts val="0"/>
              </a:spcAft>
            </a:pPr>
            <a:r>
              <a:rPr sz="805" i="0">
                <a:solidFill>
                  <a:srgbClr val="5C6773"/>
                </a:solidFill>
                <a:latin typeface="Inconsolata"/>
              </a:rPr>
              <a:t>70  </a:t>
            </a:r>
            <a:r>
              <a:rPr sz="805" i="0">
                <a:solidFill>
                  <a:srgbClr val="E6EDF3"/>
                </a:solidFill>
                <a:latin typeface="Inconsolata"/>
              </a:rPr>
              <a:t>    session: </a:t>
            </a:r>
            <a:r>
              <a:rPr sz="805" i="0">
                <a:solidFill>
                  <a:srgbClr val="7FDBCA"/>
                </a:solidFill>
                <a:latin typeface="Inconsolata"/>
              </a:rPr>
              <a:t>Session</a:t>
            </a:r>
            <a:r>
              <a:rPr sz="805" i="0">
                <a:solidFill>
                  <a:srgbClr val="E6EDF3"/>
                </a:solidFill>
                <a:latin typeface="Inconsolata"/>
              </a:rPr>
              <a:t> = </a:t>
            </a:r>
            <a:r>
              <a:rPr sz="805" i="0">
                <a:solidFill>
                  <a:srgbClr val="7FDBCA"/>
                </a:solidFill>
                <a:latin typeface="Inconsolata"/>
              </a:rPr>
              <a:t>Depends</a:t>
            </a:r>
            <a:r>
              <a:rPr sz="805" i="0">
                <a:solidFill>
                  <a:srgbClr val="E6EDF3"/>
                </a:solidFill>
                <a:latin typeface="Inconsolata"/>
              </a:rPr>
              <a:t>(get_session),</a:t>
            </a:r>
          </a:p>
          <a:p>
            <a:pPr>
              <a:lnSpc>
                <a:spcPct val="103474"/>
              </a:lnSpc>
              <a:spcAft>
                <a:spcPts val="0"/>
              </a:spcAft>
            </a:pPr>
            <a:r>
              <a:rPr sz="805" i="0">
                <a:solidFill>
                  <a:srgbClr val="5C6773"/>
                </a:solidFill>
                <a:latin typeface="Inconsolata"/>
              </a:rPr>
              <a:t>71  </a:t>
            </a:r>
            <a:r>
              <a:rPr sz="805" i="0">
                <a:solidFill>
                  <a:srgbClr val="E6EDF3"/>
                </a:solidFill>
                <a:latin typeface="Inconsolata"/>
              </a:rPr>
              <a:t>) -&gt; </a:t>
            </a:r>
            <a:r>
              <a:rPr sz="805" i="0">
                <a:solidFill>
                  <a:srgbClr val="7FDBCA"/>
                </a:solidFill>
                <a:latin typeface="Inconsolata"/>
              </a:rPr>
              <a:t>ProductRepository</a:t>
            </a:r>
            <a:r>
              <a:rPr sz="805" i="0">
                <a:solidFill>
                  <a:srgbClr val="E6EDF3"/>
                </a:solidFill>
                <a:latin typeface="Inconsolata"/>
              </a:rPr>
              <a:t>:</a:t>
            </a:r>
          </a:p>
          <a:p>
            <a:pPr>
              <a:lnSpc>
                <a:spcPct val="103474"/>
              </a:lnSpc>
              <a:spcAft>
                <a:spcPts val="0"/>
              </a:spcAft>
            </a:pPr>
            <a:r>
              <a:rPr sz="805" i="0">
                <a:solidFill>
                  <a:srgbClr val="5C6773"/>
                </a:solidFill>
                <a:latin typeface="Inconsolata"/>
              </a:rPr>
              <a:t>72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a:t>
            </a:r>
            <a:r>
              <a:rPr sz="805" i="0">
                <a:solidFill>
                  <a:srgbClr val="7FDBCA"/>
                </a:solidFill>
                <a:latin typeface="Inconsolata"/>
              </a:rPr>
              <a:t>ProductRepository</a:t>
            </a:r>
            <a:r>
              <a:rPr sz="805" i="0">
                <a:solidFill>
                  <a:srgbClr val="E6EDF3"/>
                </a:solidFill>
                <a:latin typeface="Inconsolata"/>
              </a:rPr>
              <a:t>(session)</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03-dependency-graph/after.py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3474"/>
              </a:lnSpc>
              <a:spcAft>
                <a:spcPts val="0"/>
              </a:spcAft>
            </a:pPr>
            <a:r>
              <a:rPr sz="805" i="0">
                <a:solidFill>
                  <a:srgbClr val="5C6773"/>
                </a:solidFill>
                <a:latin typeface="Inconsolata"/>
              </a:rPr>
              <a:t>75  </a:t>
            </a:r>
            <a:r>
              <a:rPr sz="805" i="1">
                <a:solidFill>
                  <a:srgbClr val="8B98A8"/>
                </a:solidFill>
                <a:latin typeface="Inconsolata"/>
              </a:rPr>
              <a:t># ---------- routes ----------</a:t>
            </a:r>
          </a:p>
          <a:p>
            <a:pPr>
              <a:lnSpc>
                <a:spcPct val="103474"/>
              </a:lnSpc>
              <a:spcAft>
                <a:spcPts val="0"/>
              </a:spcAft>
            </a:pPr>
            <a:r>
              <a:rPr sz="805" i="0">
                <a:solidFill>
                  <a:srgbClr val="5C6773"/>
                </a:solidFill>
                <a:latin typeface="Inconsolata"/>
              </a:rPr>
              <a:t>76  </a:t>
            </a:r>
            <a:r>
              <a:rPr sz="805" i="0">
                <a:solidFill>
                  <a:srgbClr val="E6EDF3"/>
                </a:solidFill>
                <a:latin typeface="Inconsolata"/>
              </a:rPr>
              <a:t>app = </a:t>
            </a:r>
            <a:r>
              <a:rPr sz="805" i="0">
                <a:solidFill>
                  <a:srgbClr val="7FDBCA"/>
                </a:solidFill>
                <a:latin typeface="Inconsolata"/>
              </a:rPr>
              <a:t>FastAPI</a:t>
            </a:r>
            <a:r>
              <a:rPr sz="805" i="0">
                <a:solidFill>
                  <a:srgbClr val="E6EDF3"/>
                </a:solidFill>
                <a:latin typeface="Inconsolata"/>
              </a:rPr>
              <a:t>()</a:t>
            </a:r>
          </a:p>
          <a:p>
            <a:pPr>
              <a:lnSpc>
                <a:spcPct val="103474"/>
              </a:lnSpc>
              <a:spcAft>
                <a:spcPts val="0"/>
              </a:spcAft>
            </a:pPr>
            <a:r>
              <a:rPr sz="805" i="0">
                <a:solidFill>
                  <a:srgbClr val="5C6773"/>
                </a:solidFill>
                <a:latin typeface="Inconsolata"/>
              </a:rPr>
              <a:t>77  </a:t>
            </a:r>
            <a:r>
              <a:rPr sz="805" i="0">
                <a:solidFill>
                  <a:srgbClr val="E6EDF3"/>
                </a:solidFill>
                <a:latin typeface="Inconsolata"/>
              </a:rPr>
              <a:t> </a:t>
            </a:r>
          </a:p>
          <a:p>
            <a:pPr>
              <a:lnSpc>
                <a:spcPct val="103474"/>
              </a:lnSpc>
              <a:spcAft>
                <a:spcPts val="0"/>
              </a:spcAft>
            </a:pPr>
            <a:r>
              <a:rPr sz="805" i="0">
                <a:solidFill>
                  <a:srgbClr val="5C6773"/>
                </a:solidFill>
                <a:latin typeface="Inconsolata"/>
              </a:rPr>
              <a:t>78  </a:t>
            </a:r>
            <a:r>
              <a:rPr sz="805" i="0">
                <a:solidFill>
                  <a:srgbClr val="E6EDF3"/>
                </a:solidFill>
                <a:latin typeface="Inconsolata"/>
              </a:rPr>
              <a:t> </a:t>
            </a:r>
          </a:p>
          <a:p>
            <a:pPr>
              <a:lnSpc>
                <a:spcPct val="103474"/>
              </a:lnSpc>
              <a:spcAft>
                <a:spcPts val="0"/>
              </a:spcAft>
            </a:pPr>
            <a:r>
              <a:rPr sz="805" i="0">
                <a:solidFill>
                  <a:srgbClr val="5C6773"/>
                </a:solidFill>
                <a:latin typeface="Inconsolata"/>
              </a:rPr>
              <a:t>79  </a:t>
            </a:r>
            <a:r>
              <a:rPr sz="805" i="0">
                <a:solidFill>
                  <a:srgbClr val="F9C97A"/>
                </a:solidFill>
                <a:latin typeface="Inconsolata"/>
              </a:rPr>
              <a:t>@app.post</a:t>
            </a:r>
            <a:r>
              <a:rPr sz="805" i="0">
                <a:solidFill>
                  <a:srgbClr val="E6EDF3"/>
                </a:solidFill>
                <a:latin typeface="Inconsolata"/>
              </a:rPr>
              <a:t>(</a:t>
            </a:r>
            <a:r>
              <a:rPr sz="805" i="0">
                <a:solidFill>
                  <a:srgbClr val="A5D6A7"/>
                </a:solidFill>
                <a:latin typeface="Inconsolata"/>
              </a:rPr>
              <a:t>"/products"</a:t>
            </a:r>
            <a:r>
              <a:rPr sz="805" i="0">
                <a:solidFill>
                  <a:srgbClr val="E6EDF3"/>
                </a:solidFill>
                <a:latin typeface="Inconsolata"/>
              </a:rPr>
              <a:t>, status_code=</a:t>
            </a:r>
            <a:r>
              <a:rPr sz="805" i="0">
                <a:solidFill>
                  <a:srgbClr val="F9C97A"/>
                </a:solidFill>
                <a:latin typeface="Inconsolata"/>
              </a:rPr>
              <a:t>201</a:t>
            </a:r>
            <a:r>
              <a:rPr sz="805" i="0">
                <a:solidFill>
                  <a:srgbClr val="E6EDF3"/>
                </a:solidFill>
                <a:latin typeface="Inconsolata"/>
              </a:rPr>
              <a:t>)</a:t>
            </a:r>
          </a:p>
          <a:p>
            <a:pPr>
              <a:lnSpc>
                <a:spcPct val="103474"/>
              </a:lnSpc>
              <a:spcAft>
                <a:spcPts val="0"/>
              </a:spcAft>
            </a:pPr>
            <a:r>
              <a:rPr sz="805" i="0">
                <a:solidFill>
                  <a:srgbClr val="5C6773"/>
                </a:solidFill>
                <a:latin typeface="Inconsolata"/>
              </a:rPr>
              <a:t>80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create_product</a:t>
            </a:r>
            <a:r>
              <a:rPr sz="805" i="0">
                <a:solidFill>
                  <a:srgbClr val="E6EDF3"/>
                </a:solidFill>
                <a:latin typeface="Inconsolata"/>
              </a:rPr>
              <a:t>(</a:t>
            </a:r>
          </a:p>
          <a:p>
            <a:pPr>
              <a:lnSpc>
                <a:spcPct val="103474"/>
              </a:lnSpc>
              <a:spcAft>
                <a:spcPts val="0"/>
              </a:spcAft>
            </a:pPr>
            <a:r>
              <a:rPr sz="805" i="0">
                <a:solidFill>
                  <a:srgbClr val="5C6773"/>
                </a:solidFill>
                <a:latin typeface="Inconsolata"/>
              </a:rPr>
              <a:t>81  </a:t>
            </a:r>
            <a:r>
              <a:rPr sz="805" i="0">
                <a:solidFill>
                  <a:srgbClr val="E6EDF3"/>
                </a:solidFill>
                <a:latin typeface="Inconsolata"/>
              </a:rPr>
              <a:t>    name: </a:t>
            </a:r>
            <a:r>
              <a:rPr sz="805" i="0">
                <a:solidFill>
                  <a:srgbClr val="C3A6FF"/>
                </a:solidFill>
                <a:latin typeface="Inconsolata"/>
              </a:rPr>
              <a:t>str</a:t>
            </a:r>
            <a:r>
              <a:rPr sz="805" i="0">
                <a:solidFill>
                  <a:srgbClr val="E6EDF3"/>
                </a:solidFill>
                <a:latin typeface="Inconsolata"/>
              </a:rPr>
              <a:t>, price: </a:t>
            </a:r>
            <a:r>
              <a:rPr sz="805" i="0">
                <a:solidFill>
                  <a:srgbClr val="C3A6FF"/>
                </a:solidFill>
                <a:latin typeface="Inconsolata"/>
              </a:rPr>
              <a:t>int</a:t>
            </a:r>
            <a:r>
              <a:rPr sz="805" i="0">
                <a:solidFill>
                  <a:srgbClr val="E6EDF3"/>
                </a:solidFill>
                <a:latin typeface="Inconsolata"/>
              </a:rPr>
              <a:t>,</a:t>
            </a:r>
          </a:p>
          <a:p>
            <a:pPr>
              <a:lnSpc>
                <a:spcPct val="103474"/>
              </a:lnSpc>
              <a:spcAft>
                <a:spcPts val="0"/>
              </a:spcAft>
            </a:pPr>
            <a:r>
              <a:rPr sz="805" i="0">
                <a:solidFill>
                  <a:srgbClr val="5C6773"/>
                </a:solidFill>
                <a:latin typeface="Inconsolata"/>
              </a:rPr>
              <a:t>82  </a:t>
            </a:r>
            <a:r>
              <a:rPr sz="805" i="0">
                <a:solidFill>
                  <a:srgbClr val="E6EDF3"/>
                </a:solidFill>
                <a:latin typeface="Inconsolata"/>
              </a:rPr>
              <a:t>    repo: </a:t>
            </a:r>
            <a:r>
              <a:rPr sz="805" i="0">
                <a:solidFill>
                  <a:srgbClr val="7FDBCA"/>
                </a:solidFill>
                <a:latin typeface="Inconsolata"/>
              </a:rPr>
              <a:t>ProductRepository</a:t>
            </a:r>
            <a:r>
              <a:rPr sz="805" i="0">
                <a:solidFill>
                  <a:srgbClr val="E6EDF3"/>
                </a:solidFill>
                <a:latin typeface="Inconsolata"/>
              </a:rPr>
              <a:t> = </a:t>
            </a:r>
            <a:r>
              <a:rPr sz="805" i="0">
                <a:solidFill>
                  <a:srgbClr val="7FDBCA"/>
                </a:solidFill>
                <a:latin typeface="Inconsolata"/>
              </a:rPr>
              <a:t>Depends</a:t>
            </a:r>
            <a:r>
              <a:rPr sz="805" i="0">
                <a:solidFill>
                  <a:srgbClr val="E6EDF3"/>
                </a:solidFill>
                <a:latin typeface="Inconsolata"/>
              </a:rPr>
              <a:t>(get_repository),</a:t>
            </a:r>
          </a:p>
          <a:p>
            <a:pPr>
              <a:lnSpc>
                <a:spcPct val="103474"/>
              </a:lnSpc>
              <a:spcAft>
                <a:spcPts val="0"/>
              </a:spcAft>
            </a:pPr>
            <a:r>
              <a:rPr sz="805" i="0">
                <a:solidFill>
                  <a:srgbClr val="5C6773"/>
                </a:solidFill>
                <a:latin typeface="Inconsolata"/>
              </a:rPr>
              <a:t>83  </a:t>
            </a:r>
            <a:r>
              <a:rPr sz="805" i="0">
                <a:solidFill>
                  <a:srgbClr val="E6EDF3"/>
                </a:solidFill>
                <a:latin typeface="Inconsolata"/>
              </a:rPr>
              <a:t>):</a:t>
            </a:r>
          </a:p>
          <a:p>
            <a:pPr>
              <a:lnSpc>
                <a:spcPct val="103474"/>
              </a:lnSpc>
              <a:spcAft>
                <a:spcPts val="0"/>
              </a:spcAft>
            </a:pPr>
            <a:r>
              <a:rPr sz="805" i="0">
                <a:solidFill>
                  <a:srgbClr val="5C6773"/>
                </a:solidFill>
                <a:latin typeface="Inconsolata"/>
              </a:rPr>
              <a:t>84  </a:t>
            </a:r>
            <a:r>
              <a:rPr sz="805" i="0">
                <a:solidFill>
                  <a:srgbClr val="E6EDF3"/>
                </a:solidFill>
                <a:latin typeface="Inconsolata"/>
              </a:rPr>
              <a:t>    record = repo.add(name, price)</a:t>
            </a:r>
          </a:p>
          <a:p>
            <a:pPr>
              <a:lnSpc>
                <a:spcPct val="103474"/>
              </a:lnSpc>
              <a:spcAft>
                <a:spcPts val="0"/>
              </a:spcAft>
            </a:pPr>
            <a:r>
              <a:rPr sz="805" i="0">
                <a:solidFill>
                  <a:srgbClr val="5C6773"/>
                </a:solidFill>
                <a:latin typeface="Inconsolata"/>
              </a:rPr>
              <a:t>85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to_dict(record)</a:t>
            </a:r>
          </a:p>
          <a:p>
            <a:pPr>
              <a:lnSpc>
                <a:spcPct val="103474"/>
              </a:lnSpc>
              <a:spcAft>
                <a:spcPts val="0"/>
              </a:spcAft>
            </a:pPr>
            <a:r>
              <a:rPr sz="805" i="0">
                <a:solidFill>
                  <a:srgbClr val="5C6773"/>
                </a:solidFill>
                <a:latin typeface="Inconsolata"/>
              </a:rPr>
              <a:t>86  </a:t>
            </a:r>
            <a:r>
              <a:rPr sz="805" i="0">
                <a:solidFill>
                  <a:srgbClr val="E6EDF3"/>
                </a:solidFill>
                <a:latin typeface="Inconsolata"/>
              </a:rPr>
              <a:t> </a:t>
            </a:r>
          </a:p>
          <a:p>
            <a:pPr>
              <a:lnSpc>
                <a:spcPct val="103474"/>
              </a:lnSpc>
              <a:spcAft>
                <a:spcPts val="0"/>
              </a:spcAft>
            </a:pPr>
            <a:r>
              <a:rPr sz="805" i="0">
                <a:solidFill>
                  <a:srgbClr val="5C6773"/>
                </a:solidFill>
                <a:latin typeface="Inconsolata"/>
              </a:rPr>
              <a:t>87  </a:t>
            </a:r>
            <a:r>
              <a:rPr sz="805" i="0">
                <a:solidFill>
                  <a:srgbClr val="E6EDF3"/>
                </a:solidFill>
                <a:latin typeface="Inconsolata"/>
              </a:rPr>
              <a:t> </a:t>
            </a:r>
          </a:p>
          <a:p>
            <a:pPr>
              <a:lnSpc>
                <a:spcPct val="103474"/>
              </a:lnSpc>
              <a:spcAft>
                <a:spcPts val="0"/>
              </a:spcAft>
            </a:pPr>
            <a:r>
              <a:rPr sz="805" i="0">
                <a:solidFill>
                  <a:srgbClr val="5C6773"/>
                </a:solidFill>
                <a:latin typeface="Inconsolata"/>
              </a:rPr>
              <a:t>88  </a:t>
            </a:r>
            <a:r>
              <a:rPr sz="805" i="0">
                <a:solidFill>
                  <a:srgbClr val="F9C97A"/>
                </a:solidFill>
                <a:latin typeface="Inconsolata"/>
              </a:rPr>
              <a:t>@app.get</a:t>
            </a:r>
            <a:r>
              <a:rPr sz="805" i="0">
                <a:solidFill>
                  <a:srgbClr val="E6EDF3"/>
                </a:solidFill>
                <a:latin typeface="Inconsolata"/>
              </a:rPr>
              <a:t>(</a:t>
            </a:r>
            <a:r>
              <a:rPr sz="805" i="0">
                <a:solidFill>
                  <a:srgbClr val="A5D6A7"/>
                </a:solidFill>
                <a:latin typeface="Inconsolata"/>
              </a:rPr>
              <a:t>"/products"</a:t>
            </a:r>
            <a:r>
              <a:rPr sz="805" i="0">
                <a:solidFill>
                  <a:srgbClr val="E6EDF3"/>
                </a:solidFill>
                <a:latin typeface="Inconsolata"/>
              </a:rPr>
              <a:t>)</a:t>
            </a:r>
          </a:p>
          <a:p>
            <a:pPr>
              <a:lnSpc>
                <a:spcPct val="103474"/>
              </a:lnSpc>
              <a:spcAft>
                <a:spcPts val="0"/>
              </a:spcAft>
            </a:pPr>
            <a:r>
              <a:rPr sz="805" i="0">
                <a:solidFill>
                  <a:srgbClr val="5C6773"/>
                </a:solidFill>
                <a:latin typeface="Inconsolata"/>
              </a:rPr>
              <a:t>89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list_products</a:t>
            </a:r>
            <a:r>
              <a:rPr sz="805" i="0">
                <a:solidFill>
                  <a:srgbClr val="E6EDF3"/>
                </a:solidFill>
                <a:latin typeface="Inconsolata"/>
              </a:rPr>
              <a:t>(</a:t>
            </a:r>
          </a:p>
          <a:p>
            <a:pPr>
              <a:lnSpc>
                <a:spcPct val="103474"/>
              </a:lnSpc>
              <a:spcAft>
                <a:spcPts val="0"/>
              </a:spcAft>
            </a:pPr>
            <a:r>
              <a:rPr sz="805" i="0">
                <a:solidFill>
                  <a:srgbClr val="5C6773"/>
                </a:solidFill>
                <a:latin typeface="Inconsolata"/>
              </a:rPr>
              <a:t>90  </a:t>
            </a:r>
            <a:r>
              <a:rPr sz="805" i="0">
                <a:solidFill>
                  <a:srgbClr val="E6EDF3"/>
                </a:solidFill>
                <a:latin typeface="Inconsolata"/>
              </a:rPr>
              <a:t>    repo: </a:t>
            </a:r>
            <a:r>
              <a:rPr sz="805" i="0">
                <a:solidFill>
                  <a:srgbClr val="7FDBCA"/>
                </a:solidFill>
                <a:latin typeface="Inconsolata"/>
              </a:rPr>
              <a:t>ProductRepository</a:t>
            </a:r>
            <a:r>
              <a:rPr sz="805" i="0">
                <a:solidFill>
                  <a:srgbClr val="E6EDF3"/>
                </a:solidFill>
                <a:latin typeface="Inconsolata"/>
              </a:rPr>
              <a:t> = </a:t>
            </a:r>
            <a:r>
              <a:rPr sz="805" i="0">
                <a:solidFill>
                  <a:srgbClr val="7FDBCA"/>
                </a:solidFill>
                <a:latin typeface="Inconsolata"/>
              </a:rPr>
              <a:t>Depends</a:t>
            </a:r>
            <a:r>
              <a:rPr sz="805" i="0">
                <a:solidFill>
                  <a:srgbClr val="E6EDF3"/>
                </a:solidFill>
                <a:latin typeface="Inconsolata"/>
              </a:rPr>
              <a:t>(get_repository),</a:t>
            </a:r>
          </a:p>
          <a:p>
            <a:pPr>
              <a:lnSpc>
                <a:spcPct val="103474"/>
              </a:lnSpc>
              <a:spcAft>
                <a:spcPts val="0"/>
              </a:spcAft>
            </a:pPr>
            <a:r>
              <a:rPr sz="805" i="0">
                <a:solidFill>
                  <a:srgbClr val="5C6773"/>
                </a:solidFill>
                <a:latin typeface="Inconsolata"/>
              </a:rPr>
              <a:t>91  </a:t>
            </a:r>
            <a:r>
              <a:rPr sz="805" i="0">
                <a:solidFill>
                  <a:srgbClr val="E6EDF3"/>
                </a:solidFill>
                <a:latin typeface="Inconsolata"/>
              </a:rPr>
              <a:t>):</a:t>
            </a:r>
          </a:p>
          <a:p>
            <a:pPr>
              <a:lnSpc>
                <a:spcPct val="103474"/>
              </a:lnSpc>
              <a:spcAft>
                <a:spcPts val="0"/>
              </a:spcAft>
            </a:pPr>
            <a:r>
              <a:rPr sz="805" i="0">
                <a:solidFill>
                  <a:srgbClr val="5C6773"/>
                </a:solidFill>
                <a:latin typeface="Inconsolata"/>
              </a:rPr>
              <a:t>92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[to_dict(r) </a:t>
            </a:r>
            <a:r>
              <a:rPr sz="805" i="0">
                <a:solidFill>
                  <a:srgbClr val="FF8E6E"/>
                </a:solidFill>
                <a:latin typeface="Inconsolata"/>
              </a:rPr>
              <a:t>for</a:t>
            </a:r>
            <a:r>
              <a:rPr sz="805" i="0">
                <a:solidFill>
                  <a:srgbClr val="E6EDF3"/>
                </a:solidFill>
                <a:latin typeface="Inconsolata"/>
              </a:rPr>
              <a:t> r </a:t>
            </a:r>
            <a:r>
              <a:rPr sz="805" i="0">
                <a:solidFill>
                  <a:srgbClr val="FF8E6E"/>
                </a:solidFill>
                <a:latin typeface="Inconsolata"/>
              </a:rPr>
              <a:t>in</a:t>
            </a:r>
            <a:r>
              <a:rPr sz="805" i="0">
                <a:solidFill>
                  <a:srgbClr val="E6EDF3"/>
                </a:solidFill>
                <a:latin typeface="Inconsolata"/>
              </a:rPr>
              <a:t> repo.</a:t>
            </a:r>
            <a:r>
              <a:rPr sz="805" i="0">
                <a:solidFill>
                  <a:srgbClr val="C3A6FF"/>
                </a:solidFill>
                <a:latin typeface="Inconsolata"/>
              </a:rPr>
              <a:t>list</a:t>
            </a:r>
            <a:r>
              <a:rPr sz="805" i="0">
                <a:solidFill>
                  <a:srgbClr val="E6EDF3"/>
                </a:solidFill>
                <a:latin typeface="Inconsolata"/>
              </a:rPr>
              <a:t>()]</a:t>
            </a:r>
          </a:p>
        </p:txBody>
      </p:sp>
      <p:sp>
        <p:nvSpPr>
          <p:cNvPr id="36" name="Box 21"/>
          <p:cNvSpPr/>
          <p:nvPr/>
        </p:nvSpPr>
        <p:spPr>
          <a:xfrm>
            <a:off x="704088" y="2970022"/>
            <a:ext cx="3694176"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101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478022"/>
            <a:ext cx="3694176" cy="246380"/>
          </a:xfrm>
          <a:prstGeom prst="roundRect">
            <a:avLst>
              <a:gd name="adj" fmla="val 1855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482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704088" y="3986022"/>
            <a:ext cx="3694176"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4279392" y="4117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42" name="Box 27"/>
          <p:cNvSpPr/>
          <p:nvPr/>
        </p:nvSpPr>
        <p:spPr>
          <a:xfrm>
            <a:off x="4709159" y="2462022"/>
            <a:ext cx="3694176"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3" name="Box 28"/>
          <p:cNvSpPr/>
          <p:nvPr/>
        </p:nvSpPr>
        <p:spPr>
          <a:xfrm>
            <a:off x="8284463" y="2593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44" name="Box 29"/>
          <p:cNvSpPr/>
          <p:nvPr/>
        </p:nvSpPr>
        <p:spPr>
          <a:xfrm>
            <a:off x="4709159" y="3605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Graph</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03-dependency-graph/after.py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sesi-04-modular-fastapi-orm-transactions/03-dependency-graph</a:t>
            </a:r>
          </a:p>
          <a:p>
            <a:pPr>
              <a:lnSpc>
                <a:spcPct val="107527"/>
              </a:lnSpc>
              <a:spcAft>
                <a:spcPts val="0"/>
              </a:spcAft>
            </a:pPr>
            <a:r>
              <a:rPr sz="775" i="0">
                <a:solidFill>
                  <a:srgbClr val="82B1FF"/>
                </a:solidFill>
                <a:latin typeface="Inconsolata"/>
              </a:rPr>
              <a:t>$ uvicorn after:app --reload</a:t>
            </a:r>
          </a:p>
        </p:txBody>
      </p:sp>
      <p:pic>
        <p:nvPicPr>
          <p:cNvPr id="29" name="Image 12" descr="s04-03-dependency-graph-before.png"/>
          <p:cNvPicPr>
            <a:picLocks noChangeAspect="1"/>
          </p:cNvPicPr>
          <p:nvPr/>
        </p:nvPicPr>
        <p:blipFill>
          <a:blip r:embed="rId2"/>
          <a:stretch>
            <a:fillRect/>
          </a:stretch>
        </p:blipFill>
        <p:spPr>
          <a:xfrm>
            <a:off x="621792" y="2240280"/>
            <a:ext cx="4297680" cy="1058190"/>
          </a:xfrm>
          <a:prstGeom prst="rect">
            <a:avLst/>
          </a:prstGeom>
        </p:spPr>
      </p:pic>
      <p:sp>
        <p:nvSpPr>
          <p:cNvPr id="30" name="Text 13"/>
          <p:cNvSpPr txBox="1"/>
          <p:nvPr/>
        </p:nvSpPr>
        <p:spPr>
          <a:xfrm>
            <a:off x="621792" y="3344190"/>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Request yang sama, response yang sama</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get_session</a:t>
            </a:r>
            <a:r>
              <a:rPr sz="950" b="0" i="0">
                <a:solidFill>
                  <a:srgbClr val="434343"/>
                </a:solidFill>
                <a:latin typeface="Inter"/>
              </a:rPr>
              <a:t> membuat session, lalu </a:t>
            </a:r>
            <a:r>
              <a:rPr sz="950" b="0" i="0">
                <a:solidFill>
                  <a:srgbClr val="B5482A"/>
                </a:solidFill>
                <a:latin typeface="Inconsolata"/>
              </a:rPr>
              <a:t>yield</a:t>
            </a:r>
            <a:r>
              <a:rPr sz="950" b="0" i="0">
                <a:solidFill>
                  <a:srgbClr val="434343"/>
                </a:solidFill>
                <a:latin typeface="Inter"/>
              </a:rPr>
              <a:t> memberikannya (baris 61-64)</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finally</a:t>
            </a:r>
            <a:r>
              <a:rPr sz="950" b="0" i="0">
                <a:solidFill>
                  <a:srgbClr val="434343"/>
                </a:solidFill>
                <a:latin typeface="Inter"/>
              </a:rPr>
              <a:t>: session ditutup setelah response, error atau tidak (baris 65-66)</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get_repository</a:t>
            </a:r>
            <a:r>
              <a:rPr sz="950" b="0" i="0">
                <a:solidFill>
                  <a:srgbClr val="434343"/>
                </a:solidFill>
                <a:latin typeface="Inter"/>
              </a:rPr>
              <a:t> minta session lewat </a:t>
            </a:r>
            <a:r>
              <a:rPr sz="950" b="0" i="0">
                <a:solidFill>
                  <a:srgbClr val="B5482A"/>
                </a:solidFill>
                <a:latin typeface="Inconsolata"/>
              </a:rPr>
              <a:t>Depends</a:t>
            </a:r>
            <a:r>
              <a:rPr sz="950" b="0" i="0">
                <a:solidFill>
                  <a:srgbClr val="434343"/>
                </a:solidFill>
                <a:latin typeface="Inter"/>
              </a:rPr>
              <a:t> (baris 69-72)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Route cukup minta repository (baris 80-83, 89-91)</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sama dengan before.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Graph</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Cara Membaca Flow</a:t>
            </a:r>
          </a:p>
        </p:txBody>
      </p:sp>
      <p:sp>
        <p:nvSpPr>
          <p:cNvPr id="22" name="CodeTab 4"/>
          <p:cNvSpPr/>
          <p:nvPr/>
        </p:nvSpPr>
        <p:spPr>
          <a:xfrm>
            <a:off x="621792" y="1481328"/>
            <a:ext cx="49377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976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03-dependency-graph/after.py</a:t>
            </a:r>
          </a:p>
        </p:txBody>
      </p:sp>
      <p:sp>
        <p:nvSpPr>
          <p:cNvPr id="27" name="CodeBg 10"/>
          <p:cNvSpPr/>
          <p:nvPr/>
        </p:nvSpPr>
        <p:spPr>
          <a:xfrm>
            <a:off x="621792" y="1719072"/>
            <a:ext cx="49377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937760" cy="2980944"/>
          </a:xfrm>
          <a:prstGeom prst="rect">
            <a:avLst/>
          </a:prstGeom>
          <a:noFill/>
        </p:spPr>
        <p:txBody>
          <a:bodyPr wrap="none" lIns="146304" tIns="91440" rIns="146304" bIns="54864">
            <a:spAutoFit/>
          </a:bodyPr>
          <a:lstStyle/>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get_session</a:t>
            </a:r>
            <a:r>
              <a:rPr sz="750" i="0">
                <a:solidFill>
                  <a:srgbClr val="E6EDF3"/>
                </a:solidFill>
                <a:latin typeface="Inconsolata"/>
              </a:rPr>
              <a:t>() -&gt; </a:t>
            </a:r>
            <a:r>
              <a:rPr sz="750" i="0">
                <a:solidFill>
                  <a:srgbClr val="7FDBCA"/>
                </a:solidFill>
                <a:latin typeface="Inconsolata"/>
              </a:rPr>
              <a:t>Iterator</a:t>
            </a:r>
            <a:r>
              <a:rPr sz="750" i="0">
                <a:solidFill>
                  <a:srgbClr val="E6EDF3"/>
                </a:solidFill>
                <a:latin typeface="Inconsolata"/>
              </a:rPr>
              <a:t>[</a:t>
            </a:r>
            <a:r>
              <a:rPr sz="750" i="0">
                <a:solidFill>
                  <a:srgbClr val="7FDBCA"/>
                </a:solidFill>
                <a:latin typeface="Inconsolata"/>
              </a:rPr>
              <a:t>Session</a:t>
            </a:r>
            <a:r>
              <a:rPr sz="750" i="0">
                <a:solidFill>
                  <a:srgbClr val="E6EDF3"/>
                </a:solidFill>
                <a:latin typeface="Inconsolata"/>
              </a:rPr>
              <a:t>]:</a:t>
            </a:r>
          </a:p>
          <a:p>
            <a:pPr>
              <a:lnSpc>
                <a:spcPct val="111111"/>
              </a:lnSpc>
              <a:spcAft>
                <a:spcPts val="0"/>
              </a:spcAft>
            </a:pPr>
            <a:r>
              <a:rPr sz="750" i="0">
                <a:solidFill>
                  <a:srgbClr val="E6EDF3"/>
                </a:solidFill>
                <a:latin typeface="Inconsolata"/>
              </a:rPr>
              <a:t>    session = </a:t>
            </a:r>
            <a:r>
              <a:rPr sz="750" i="0">
                <a:solidFill>
                  <a:srgbClr val="7FDBCA"/>
                </a:solidFill>
                <a:latin typeface="Inconsolata"/>
              </a:rPr>
              <a:t>SessionLocal</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try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yield</a:t>
            </a:r>
            <a:r>
              <a:rPr sz="750" i="0">
                <a:solidFill>
                  <a:srgbClr val="E6EDF3"/>
                </a:solidFill>
                <a:latin typeface="Inconsolata"/>
              </a:rPr>
              <a:t> session</a:t>
            </a:r>
          </a:p>
          <a:p>
            <a:pPr>
              <a:lnSpc>
                <a:spcPct val="111111"/>
              </a:lnSpc>
              <a:spcAft>
                <a:spcPts val="0"/>
              </a:spcAft>
            </a:pPr>
            <a:r>
              <a:rPr sz="750" i="0">
                <a:solidFill>
                  <a:srgbClr val="E6EDF3"/>
                </a:solidFill>
                <a:latin typeface="Inconsolata"/>
              </a:rPr>
              <a:t>    </a:t>
            </a:r>
            <a:r>
              <a:rPr sz="750" i="0">
                <a:solidFill>
                  <a:srgbClr val="FF8E6E"/>
                </a:solidFill>
                <a:latin typeface="Inconsolata"/>
              </a:rPr>
              <a:t>finally</a:t>
            </a:r>
            <a:r>
              <a:rPr sz="750" i="0">
                <a:solidFill>
                  <a:srgbClr val="E6EDF3"/>
                </a:solidFill>
                <a:latin typeface="Inconsolata"/>
              </a:rPr>
              <a:t>:</a:t>
            </a:r>
          </a:p>
          <a:p>
            <a:pPr>
              <a:lnSpc>
                <a:spcPct val="111111"/>
              </a:lnSpc>
              <a:spcAft>
                <a:spcPts val="0"/>
              </a:spcAft>
            </a:pPr>
            <a:r>
              <a:rPr sz="750" i="0">
                <a:solidFill>
                  <a:srgbClr val="E6EDF3"/>
                </a:solidFill>
                <a:latin typeface="Inconsolata"/>
              </a:rPr>
              <a:t>        session.close()  </a:t>
            </a:r>
            <a:r>
              <a:rPr sz="750" i="1">
                <a:solidFill>
                  <a:srgbClr val="8B98A8"/>
                </a:solidFill>
                <a:latin typeface="Inconsolata"/>
              </a:rPr>
              <a:t># selalu jalan, error atau tidak</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get_repository</a:t>
            </a:r>
            <a:r>
              <a:rPr sz="750" i="0">
                <a:solidFill>
                  <a:srgbClr val="E6EDF3"/>
                </a:solidFill>
                <a:latin typeface="Inconsolata"/>
              </a:rPr>
              <a:t>(</a:t>
            </a:r>
          </a:p>
          <a:p>
            <a:pPr>
              <a:lnSpc>
                <a:spcPct val="111111"/>
              </a:lnSpc>
              <a:spcAft>
                <a:spcPts val="0"/>
              </a:spcAft>
            </a:pPr>
            <a:r>
              <a:rPr sz="750" i="0">
                <a:solidFill>
                  <a:srgbClr val="E6EDF3"/>
                </a:solidFill>
                <a:latin typeface="Inconsolata"/>
              </a:rPr>
              <a:t>    session: </a:t>
            </a:r>
            <a:r>
              <a:rPr sz="750" i="0">
                <a:solidFill>
                  <a:srgbClr val="7FDBCA"/>
                </a:solidFill>
                <a:latin typeface="Inconsolata"/>
              </a:rPr>
              <a:t>Session</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(get_session),</a:t>
            </a:r>
          </a:p>
          <a:p>
            <a:pPr>
              <a:lnSpc>
                <a:spcPct val="111111"/>
              </a:lnSpc>
              <a:spcAft>
                <a:spcPts val="0"/>
              </a:spcAft>
            </a:pPr>
            <a:r>
              <a:rPr sz="750" i="0">
                <a:solidFill>
                  <a:srgbClr val="E6EDF3"/>
                </a:solidFill>
                <a:latin typeface="Inconsolata"/>
              </a:rPr>
              <a:t>) -&gt; </a:t>
            </a:r>
            <a:r>
              <a:rPr sz="750" i="0">
                <a:solidFill>
                  <a:srgbClr val="7FDBCA"/>
                </a:solidFill>
                <a:latin typeface="Inconsolata"/>
              </a:rPr>
              <a:t>ProductRepository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ProductRepository</a:t>
            </a:r>
            <a:r>
              <a:rPr sz="750" i="0">
                <a:solidFill>
                  <a:srgbClr val="E6EDF3"/>
                </a:solidFill>
                <a:latin typeface="Inconsolata"/>
              </a:rPr>
              <a:t>(session)</a:t>
            </a:r>
          </a:p>
          <a:p>
            <a:pPr>
              <a:lnSpc>
                <a:spcPct val="111111"/>
              </a:lnSpc>
              <a:spcAft>
                <a:spcPts val="0"/>
              </a:spcAft>
            </a:pPr>
            <a:r>
              <a:rPr sz="750" i="0">
                <a:solidFill>
                  <a:srgbClr val="E6EDF3"/>
                </a:solidFill>
                <a:latin typeface="Inconsolata"/>
              </a:rPr>
              <a:t>...</a:t>
            </a:r>
          </a:p>
          <a:p>
            <a:pPr>
              <a:lnSpc>
                <a:spcPct val="111111"/>
              </a:lnSpc>
              <a:spcAft>
                <a:spcPts val="0"/>
              </a:spcAft>
            </a:pPr>
            <a:r>
              <a:rPr sz="750" i="0">
                <a:solidFill>
                  <a:srgbClr val="F9C97A"/>
                </a:solidFill>
                <a:latin typeface="Inconsolata"/>
              </a:rPr>
              <a:t>@app.post</a:t>
            </a:r>
            <a:r>
              <a:rPr sz="750" i="0">
                <a:solidFill>
                  <a:srgbClr val="E6EDF3"/>
                </a:solidFill>
                <a:latin typeface="Inconsolata"/>
              </a:rPr>
              <a:t>(</a:t>
            </a:r>
            <a:r>
              <a:rPr sz="750" i="0">
                <a:solidFill>
                  <a:srgbClr val="A5D6A7"/>
                </a:solidFill>
                <a:latin typeface="Inconsolata"/>
              </a:rPr>
              <a:t>"/products"</a:t>
            </a:r>
            <a:r>
              <a:rPr sz="750" i="0">
                <a:solidFill>
                  <a:srgbClr val="E6EDF3"/>
                </a:solidFill>
                <a:latin typeface="Inconsolata"/>
              </a:rPr>
              <a:t>, status_code=</a:t>
            </a:r>
            <a:r>
              <a:rPr sz="750" i="0">
                <a:solidFill>
                  <a:srgbClr val="F9C97A"/>
                </a:solidFill>
                <a:latin typeface="Inconsolata"/>
              </a:rPr>
              <a:t>201</a:t>
            </a: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create_product</a:t>
            </a:r>
            <a:r>
              <a:rPr sz="750" i="0">
                <a:solidFill>
                  <a:srgbClr val="E6EDF3"/>
                </a:solidFill>
                <a:latin typeface="Inconsolata"/>
              </a:rPr>
              <a:t>(</a:t>
            </a:r>
          </a:p>
          <a:p>
            <a:pPr>
              <a:lnSpc>
                <a:spcPct val="111111"/>
              </a:lnSpc>
              <a:spcAft>
                <a:spcPts val="0"/>
              </a:spcAft>
            </a:pPr>
            <a:r>
              <a:rPr sz="750" i="0">
                <a:solidFill>
                  <a:srgbClr val="E6EDF3"/>
                </a:solidFill>
                <a:latin typeface="Inconsolata"/>
              </a:rPr>
              <a:t>    name: </a:t>
            </a:r>
            <a:r>
              <a:rPr sz="750" i="0">
                <a:solidFill>
                  <a:srgbClr val="C3A6FF"/>
                </a:solidFill>
                <a:latin typeface="Inconsolata"/>
              </a:rPr>
              <a:t>str</a:t>
            </a:r>
            <a:r>
              <a:rPr sz="750" i="0">
                <a:solidFill>
                  <a:srgbClr val="E6EDF3"/>
                </a:solidFill>
                <a:latin typeface="Inconsolata"/>
              </a:rPr>
              <a:t>, price: </a:t>
            </a:r>
            <a:r>
              <a:rPr sz="750" i="0">
                <a:solidFill>
                  <a:srgbClr val="C3A6FF"/>
                </a:solidFill>
                <a:latin typeface="Inconsolata"/>
              </a:rPr>
              <a:t>int</a:t>
            </a:r>
            <a:r>
              <a:rPr sz="750" i="0">
                <a:solidFill>
                  <a:srgbClr val="E6EDF3"/>
                </a:solidFill>
                <a:latin typeface="Inconsolata"/>
              </a:rPr>
              <a:t>,</a:t>
            </a:r>
          </a:p>
          <a:p>
            <a:pPr>
              <a:lnSpc>
                <a:spcPct val="111111"/>
              </a:lnSpc>
              <a:spcAft>
                <a:spcPts val="0"/>
              </a:spcAft>
            </a:pPr>
            <a:r>
              <a:rPr sz="750" i="0">
                <a:solidFill>
                  <a:srgbClr val="E6EDF3"/>
                </a:solidFill>
                <a:latin typeface="Inconsolata"/>
              </a:rPr>
              <a:t>    repo: </a:t>
            </a:r>
            <a:r>
              <a:rPr sz="750" i="0">
                <a:solidFill>
                  <a:srgbClr val="7FDBCA"/>
                </a:solidFill>
                <a:latin typeface="Inconsolata"/>
              </a:rPr>
              <a:t>ProductRepository</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(get_repository),</a:t>
            </a:r>
          </a:p>
          <a:p>
            <a:pPr>
              <a:lnSpc>
                <a:spcPct val="111111"/>
              </a:lnSpc>
              <a:spcAft>
                <a:spcPts val="0"/>
              </a:spcAft>
            </a:pPr>
            <a:r>
              <a:rPr sz="750" i="0">
                <a:solidFill>
                  <a:srgbClr val="E6EDF3"/>
                </a:solidFill>
                <a:latin typeface="Inconsolata"/>
              </a:rPr>
              <a:t>):</a:t>
            </a:r>
          </a:p>
          <a:p>
            <a:pPr>
              <a:lnSpc>
                <a:spcPct val="111111"/>
              </a:lnSpc>
              <a:spcAft>
                <a:spcPts val="0"/>
              </a:spcAft>
            </a:pPr>
            <a:r>
              <a:rPr sz="750" i="0">
                <a:solidFill>
                  <a:srgbClr val="E6EDF3"/>
                </a:solidFill>
                <a:latin typeface="Inconsolata"/>
              </a:rPr>
              <a:t>    record = repo.add(name, price)</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to_dict(record)</a:t>
            </a:r>
          </a:p>
        </p:txBody>
      </p:sp>
      <p:sp>
        <p:nvSpPr>
          <p:cNvPr id="29" name="Box 12"/>
          <p:cNvSpPr/>
          <p:nvPr/>
        </p:nvSpPr>
        <p:spPr>
          <a:xfrm>
            <a:off x="704088" y="3478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58384" y="341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1954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58384" y="1894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208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358384" y="214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3986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358384" y="3926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2462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358384" y="2402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574243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071616" y="1463040"/>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Request </a:t>
            </a:r>
            <a:r>
              <a:rPr sz="850" b="0" i="0">
                <a:solidFill>
                  <a:srgbClr val="B5482A"/>
                </a:solidFill>
                <a:latin typeface="Inconsolata"/>
              </a:rPr>
              <a:t>POST /products</a:t>
            </a:r>
            <a:r>
              <a:rPr sz="850" b="0" i="0">
                <a:solidFill>
                  <a:srgbClr val="434343"/>
                </a:solidFill>
                <a:latin typeface="Inter"/>
              </a:rPr>
              <a:t> masuk. Route butuh </a:t>
            </a:r>
            <a:r>
              <a:rPr sz="850" b="0" i="0">
                <a:solidFill>
                  <a:srgbClr val="B5482A"/>
                </a:solidFill>
                <a:latin typeface="Inconsolata"/>
              </a:rPr>
              <a:t>get_repository</a:t>
            </a:r>
            <a:r>
              <a:rPr sz="850" b="0" i="0">
                <a:solidFill>
                  <a:srgbClr val="434343"/>
                </a:solidFill>
                <a:latin typeface="Inter"/>
              </a:rPr>
              <a:t>, yang butuh </a:t>
            </a:r>
            <a:r>
              <a:rPr sz="850" b="0" i="0">
                <a:solidFill>
                  <a:srgbClr val="B5482A"/>
                </a:solidFill>
                <a:latin typeface="Inconsolata"/>
              </a:rPr>
              <a:t>get_session</a:t>
            </a:r>
          </a:p>
        </p:txBody>
      </p:sp>
      <p:sp>
        <p:nvSpPr>
          <p:cNvPr id="41" name="Box 24"/>
          <p:cNvSpPr/>
          <p:nvPr/>
        </p:nvSpPr>
        <p:spPr>
          <a:xfrm>
            <a:off x="574243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071616" y="2106777"/>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get_session</a:t>
            </a:r>
            <a:r>
              <a:rPr sz="850" b="0" i="0">
                <a:solidFill>
                  <a:srgbClr val="434343"/>
                </a:solidFill>
                <a:latin typeface="Inter"/>
              </a:rPr>
              <a:t> dijalankan duluan: membuat session</a:t>
            </a:r>
          </a:p>
        </p:txBody>
      </p:sp>
      <p:sp>
        <p:nvSpPr>
          <p:cNvPr id="43" name="Box 26"/>
          <p:cNvSpPr/>
          <p:nvPr/>
        </p:nvSpPr>
        <p:spPr>
          <a:xfrm>
            <a:off x="574243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071616" y="2750515"/>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yield</a:t>
            </a:r>
            <a:r>
              <a:rPr sz="850" b="0" i="0">
                <a:solidFill>
                  <a:srgbClr val="434343"/>
                </a:solidFill>
                <a:latin typeface="Inter"/>
              </a:rPr>
              <a:t> memberikan session ke </a:t>
            </a:r>
            <a:r>
              <a:rPr sz="850" b="0" i="0">
                <a:solidFill>
                  <a:srgbClr val="B5482A"/>
                </a:solidFill>
                <a:latin typeface="Inconsolata"/>
              </a:rPr>
              <a:t>get_repository</a:t>
            </a:r>
            <a:r>
              <a:rPr sz="850" b="0" i="0">
                <a:solidFill>
                  <a:srgbClr val="434343"/>
                </a:solidFill>
                <a:latin typeface="Inter"/>
              </a:rPr>
              <a:t>. </a:t>
            </a:r>
            <a:r>
              <a:rPr sz="850" b="0" i="0">
                <a:solidFill>
                  <a:srgbClr val="B5482A"/>
                </a:solidFill>
                <a:latin typeface="Inconsolata"/>
              </a:rPr>
              <a:t>get_session</a:t>
            </a:r>
            <a:r>
              <a:rPr sz="850" b="0" i="0">
                <a:solidFill>
                  <a:srgbClr val="434343"/>
                </a:solidFill>
                <a:latin typeface="Inter"/>
              </a:rPr>
              <a:t> berhenti sementara di sini</a:t>
            </a:r>
          </a:p>
        </p:txBody>
      </p:sp>
      <p:sp>
        <p:nvSpPr>
          <p:cNvPr id="45" name="Box 28"/>
          <p:cNvSpPr/>
          <p:nvPr/>
        </p:nvSpPr>
        <p:spPr>
          <a:xfrm>
            <a:off x="574243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071616" y="3394252"/>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Route jalan dengan repository yang sudah siap, response dikirim</a:t>
            </a:r>
          </a:p>
        </p:txBody>
      </p:sp>
      <p:sp>
        <p:nvSpPr>
          <p:cNvPr id="47" name="Box 30"/>
          <p:cNvSpPr/>
          <p:nvPr/>
        </p:nvSpPr>
        <p:spPr>
          <a:xfrm>
            <a:off x="574243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071616" y="4037990"/>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Setelah response, kode setelah </a:t>
            </a:r>
            <a:r>
              <a:rPr sz="850" b="0" i="0">
                <a:solidFill>
                  <a:srgbClr val="B5482A"/>
                </a:solidFill>
                <a:latin typeface="Inconsolata"/>
              </a:rPr>
              <a:t>yield</a:t>
            </a:r>
            <a:r>
              <a:rPr sz="850" b="0" i="0">
                <a:solidFill>
                  <a:srgbClr val="434343"/>
                </a:solidFill>
                <a:latin typeface="Inter"/>
              </a:rPr>
              <a:t> dilanjutkan: session ditutup, termasuk saat ada error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29</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02</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Request Lifecycle, Middleware &amp; Error Handling</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Apa yang terjadi dari request masuk sampai response keluar.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Request Lifecycle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Request Flow di FastAPI</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Urutan yang dilewati setiap request</a:t>
            </a:r>
          </a:p>
          <a:p>
            <a:pPr algn="l">
              <a:lnSpc>
                <a:spcPct val="115000"/>
              </a:lnSpc>
              <a:spcAft>
                <a:spcPts val="400"/>
              </a:spcAft>
            </a:pPr>
            <a:r>
              <a:rPr sz="950" b="0" i="0">
                <a:solidFill>
                  <a:srgbClr val="434343"/>
                </a:solidFill>
                <a:latin typeface="Inter"/>
              </a:rPr>
              <a:t>Dari request masuk sampai response dikirim, FastAPI selalu melewati urutan di samping.</a:t>
            </a:r>
          </a:p>
          <a:p>
            <a:pPr algn="l">
              <a:lnSpc>
                <a:spcPct val="115000"/>
              </a:lnSpc>
              <a:spcAft>
                <a:spcPts val="400"/>
              </a:spcAft>
            </a:pPr>
            <a:r>
              <a:rPr sz="1050" b="1" i="0">
                <a:solidFill>
                  <a:srgbClr val="1C4587"/>
                </a:solidFill>
                <a:latin typeface="Inter"/>
              </a:rPr>
              <a:t>Kenapa perlu tahu urutannya?</a:t>
            </a:r>
          </a:p>
          <a:p>
            <a:pPr algn="l">
              <a:lnSpc>
                <a:spcPct val="115000"/>
              </a:lnSpc>
              <a:spcAft>
                <a:spcPts val="400"/>
              </a:spcAft>
            </a:pPr>
            <a:r>
              <a:rPr sz="950" b="0" i="0">
                <a:solidFill>
                  <a:srgbClr val="434343"/>
                </a:solidFill>
                <a:latin typeface="Inter"/>
              </a:rPr>
              <a:t>Supaya tahu kode harus ditaruh di mana: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Kode untuk </a:t>
            </a:r>
            <a:r>
              <a:rPr sz="950" b="1" i="0">
                <a:solidFill>
                  <a:srgbClr val="434343"/>
                </a:solidFill>
                <a:latin typeface="Inter"/>
              </a:rPr>
              <a:t>semua</a:t>
            </a:r>
            <a:r>
              <a:rPr sz="950" b="0" i="0">
                <a:solidFill>
                  <a:srgbClr val="434343"/>
                </a:solidFill>
                <a:latin typeface="Inter"/>
              </a:rPr>
              <a:t> request (logging, header) ditaruh di </a:t>
            </a:r>
            <a:r>
              <a:rPr sz="950" b="1" i="0">
                <a:solidFill>
                  <a:srgbClr val="434343"/>
                </a:solidFill>
                <a:latin typeface="Inter"/>
              </a:rPr>
              <a:t>middleware</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Yang disiapkan per request (session, service) ditaruh di </a:t>
            </a:r>
            <a:r>
              <a:rPr sz="950" b="1" i="0">
                <a:solidFill>
                  <a:srgbClr val="434343"/>
                </a:solidFill>
                <a:latin typeface="Inter"/>
              </a:rPr>
              <a:t>dependency</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Business logic ditaruh di </a:t>
            </a:r>
            <a:r>
              <a:rPr sz="950" b="1" i="0">
                <a:solidFill>
                  <a:srgbClr val="434343"/>
                </a:solidFill>
                <a:latin typeface="Inter"/>
              </a:rPr>
              <a:t>service</a:t>
            </a:r>
            <a:r>
              <a:rPr sz="950" b="0" i="0">
                <a:solidFill>
                  <a:srgbClr val="434343"/>
                </a:solidFill>
                <a:latin typeface="Inter"/>
              </a:rPr>
              <a:t>, dipanggil dari route</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Error yang tidak ditangkap route ditangani </a:t>
            </a:r>
            <a:r>
              <a:rPr sz="950" b="1" i="0">
                <a:solidFill>
                  <a:srgbClr val="434343"/>
                </a:solidFill>
                <a:latin typeface="Inter"/>
              </a:rPr>
              <a:t>exception handler</a:t>
            </a:r>
          </a:p>
        </p:txBody>
      </p:sp>
      <p:sp>
        <p:nvSpPr>
          <p:cNvPr id="23" name="Box 4"/>
          <p:cNvSpPr/>
          <p:nvPr/>
        </p:nvSpPr>
        <p:spPr>
          <a:xfrm>
            <a:off x="4937760" y="1508760"/>
            <a:ext cx="3547872" cy="365760"/>
          </a:xfrm>
          <a:prstGeom prst="roundRect">
            <a:avLst>
              <a:gd name="adj" fmla="val 3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Middleware  ·  sebelum route</a:t>
            </a:r>
          </a:p>
        </p:txBody>
      </p:sp>
      <p:sp>
        <p:nvSpPr>
          <p:cNvPr id="24" name="Box 5"/>
          <p:cNvSpPr/>
          <p:nvPr/>
        </p:nvSpPr>
        <p:spPr>
          <a:xfrm>
            <a:off x="4937760" y="2029967"/>
            <a:ext cx="3547872" cy="365760"/>
          </a:xfrm>
          <a:prstGeom prst="roundRect">
            <a:avLst>
              <a:gd name="adj" fmla="val 30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Validasi request  ·  schema</a:t>
            </a:r>
          </a:p>
        </p:txBody>
      </p:sp>
      <p:cxnSp>
        <p:nvCxnSpPr>
          <p:cNvPr id="25" name="Arrow 6"/>
          <p:cNvCxnSpPr/>
          <p:nvPr/>
        </p:nvCxnSpPr>
        <p:spPr>
          <a:xfrm>
            <a:off x="6711696" y="1874519"/>
            <a:ext cx="0" cy="155448"/>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4937760" y="2551176"/>
            <a:ext cx="3547872" cy="365760"/>
          </a:xfrm>
          <a:prstGeom prst="roundRect">
            <a:avLst>
              <a:gd name="adj" fmla="val 30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Dependencies  ·  Depends()</a:t>
            </a:r>
          </a:p>
        </p:txBody>
      </p:sp>
      <p:cxnSp>
        <p:nvCxnSpPr>
          <p:cNvPr id="27" name="Arrow 8"/>
          <p:cNvCxnSpPr/>
          <p:nvPr/>
        </p:nvCxnSpPr>
        <p:spPr>
          <a:xfrm>
            <a:off x="6711696" y="2395728"/>
            <a:ext cx="0" cy="155448"/>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4937760" y="3072384"/>
            <a:ext cx="3547872" cy="365760"/>
          </a:xfrm>
          <a:prstGeom prst="roundRect">
            <a:avLst>
              <a:gd name="adj" fmla="val 30000"/>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FFFFFF"/>
                </a:solidFill>
                <a:latin typeface="Inter"/>
              </a:rPr>
              <a:t>Route  ·  panggil service</a:t>
            </a:r>
          </a:p>
        </p:txBody>
      </p:sp>
      <p:cxnSp>
        <p:nvCxnSpPr>
          <p:cNvPr id="29" name="Arrow 10"/>
          <p:cNvCxnSpPr/>
          <p:nvPr/>
        </p:nvCxnSpPr>
        <p:spPr>
          <a:xfrm>
            <a:off x="6711696" y="2916936"/>
            <a:ext cx="0" cy="155448"/>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Box 11"/>
          <p:cNvSpPr/>
          <p:nvPr/>
        </p:nvSpPr>
        <p:spPr>
          <a:xfrm>
            <a:off x="4937760" y="3593592"/>
            <a:ext cx="3547872" cy="365760"/>
          </a:xfrm>
          <a:prstGeom prst="roundRect">
            <a:avLst>
              <a:gd name="adj" fmla="val 3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Exception handler  ·  jika ada error</a:t>
            </a:r>
          </a:p>
        </p:txBody>
      </p:sp>
      <p:cxnSp>
        <p:nvCxnSpPr>
          <p:cNvPr id="31" name="Arrow 12"/>
          <p:cNvCxnSpPr/>
          <p:nvPr/>
        </p:nvCxnSpPr>
        <p:spPr>
          <a:xfrm>
            <a:off x="6711696" y="3438144"/>
            <a:ext cx="0" cy="155448"/>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Box 13"/>
          <p:cNvSpPr/>
          <p:nvPr/>
        </p:nvSpPr>
        <p:spPr>
          <a:xfrm>
            <a:off x="4937760" y="4114800"/>
            <a:ext cx="3547872" cy="365760"/>
          </a:xfrm>
          <a:prstGeom prst="roundRect">
            <a:avLst>
              <a:gd name="adj" fmla="val 3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1C4587"/>
                </a:solidFill>
                <a:latin typeface="Inter"/>
              </a:rPr>
              <a:t>Middleware  ·  setelah route</a:t>
            </a:r>
          </a:p>
        </p:txBody>
      </p:sp>
      <p:cxnSp>
        <p:nvCxnSpPr>
          <p:cNvPr id="33" name="Arrow 14"/>
          <p:cNvCxnSpPr/>
          <p:nvPr/>
        </p:nvCxnSpPr>
        <p:spPr>
          <a:xfrm>
            <a:off x="6711696" y="3959352"/>
            <a:ext cx="0" cy="155448"/>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Middleware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Middleware?</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Middleware adalah</a:t>
            </a:r>
          </a:p>
          <a:p>
            <a:pPr algn="l">
              <a:lnSpc>
                <a:spcPct val="115000"/>
              </a:lnSpc>
              <a:spcAft>
                <a:spcPts val="400"/>
              </a:spcAft>
            </a:pPr>
            <a:r>
              <a:rPr sz="900" b="0" i="0">
                <a:solidFill>
                  <a:srgbClr val="434343"/>
                </a:solidFill>
                <a:latin typeface="Inter"/>
              </a:rPr>
              <a:t>Function yang </a:t>
            </a:r>
            <a:r>
              <a:rPr sz="900" b="1" i="0">
                <a:solidFill>
                  <a:srgbClr val="434343"/>
                </a:solidFill>
                <a:latin typeface="Inter"/>
              </a:rPr>
              <a:t>membungkus semua request</a:t>
            </a:r>
            <a:r>
              <a:rPr sz="900" b="0" i="0">
                <a:solidFill>
                  <a:srgbClr val="434343"/>
                </a:solidFill>
                <a:latin typeface="Inter"/>
              </a:rPr>
              <a:t> yang masuk ke aplikasi. Middleware jalan sebelum request diteruskan ke route, dan jalan lagi setelah response keluar. Ditulis dengan </a:t>
            </a:r>
            <a:r>
              <a:rPr sz="900" b="0" i="0">
                <a:solidFill>
                  <a:srgbClr val="B5482A"/>
                </a:solidFill>
                <a:latin typeface="Inconsolata"/>
              </a:rPr>
              <a:t>@app.middleware("http")</a:t>
            </a:r>
            <a:r>
              <a:rPr sz="900" b="0" i="0">
                <a:solidFill>
                  <a:srgbClr val="434343"/>
                </a:solidFill>
                <a:latin typeface="Inter"/>
              </a:rPr>
              <a:t>, fitur bawaan FastAPI yang berasal dari Starlette (library dasar FastAPI).</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Menulis logging, header tambahan, dan request id cukup sekali</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Menjaga route tetap simple</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middleware: 04-middleware/before.py</a:t>
            </a:r>
          </a:p>
        </p:txBody>
      </p:sp>
      <p:sp>
        <p:nvSpPr>
          <p:cNvPr id="28" name="CodeBg 11"/>
          <p:cNvSpPr/>
          <p:nvPr/>
        </p:nvSpPr>
        <p:spPr>
          <a:xfrm>
            <a:off x="4297680" y="1719072"/>
            <a:ext cx="4187951" cy="1435608"/>
          </a:xfrm>
          <a:prstGeom prst="roundRect">
            <a:avLst>
              <a:gd name="adj" fmla="val 127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435608"/>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@app.get</a:t>
            </a:r>
            <a:r>
              <a:rPr sz="850" i="0">
                <a:solidFill>
                  <a:srgbClr val="E6EDF3"/>
                </a:solidFill>
                <a:latin typeface="Inconsolata"/>
              </a:rPr>
              <a:t>(</a:t>
            </a:r>
            <a:r>
              <a:rPr sz="850" i="0">
                <a:solidFill>
                  <a:srgbClr val="A5D6A7"/>
                </a:solidFill>
                <a:latin typeface="Inconsolata"/>
              </a:rPr>
              <a:t>"/products"</a:t>
            </a:r>
            <a:r>
              <a:rPr sz="850" i="0">
                <a:solidFill>
                  <a:srgbClr val="E6EDF3"/>
                </a:solidFill>
                <a:latin typeface="Inconsolata"/>
              </a:rPr>
              <a:t>)</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list_products</a:t>
            </a:r>
            <a:r>
              <a:rPr sz="850" i="0">
                <a:solidFill>
                  <a:srgbClr val="E6EDF3"/>
                </a:solidFill>
                <a:latin typeface="Inconsolata"/>
              </a:rPr>
              <a:t>():</a:t>
            </a:r>
          </a:p>
          <a:p>
            <a:pPr>
              <a:lnSpc>
                <a:spcPct val="107843"/>
              </a:lnSpc>
              <a:spcAft>
                <a:spcPts val="0"/>
              </a:spcAft>
            </a:pPr>
            <a:r>
              <a:rPr sz="850" i="0">
                <a:solidFill>
                  <a:srgbClr val="E6EDF3"/>
                </a:solidFill>
                <a:latin typeface="Inconsolata"/>
              </a:rPr>
              <a:t>    start = time.perf_counter()</a:t>
            </a:r>
          </a:p>
          <a:p>
            <a:pPr>
              <a:lnSpc>
                <a:spcPct val="107843"/>
              </a:lnSpc>
              <a:spcAft>
                <a:spcPts val="0"/>
              </a:spcAft>
            </a:pPr>
            <a:r>
              <a:rPr sz="850" i="0">
                <a:solidFill>
                  <a:srgbClr val="E6EDF3"/>
                </a:solidFill>
                <a:latin typeface="Inconsolata"/>
              </a:rPr>
              <a:t>    result = [{</a:t>
            </a:r>
            <a:r>
              <a:rPr sz="850" i="0">
                <a:solidFill>
                  <a:srgbClr val="A5D6A7"/>
                </a:solidFill>
                <a:latin typeface="Inconsolata"/>
              </a:rPr>
              <a:t>"id"</a:t>
            </a:r>
            <a:r>
              <a:rPr sz="850" i="0">
                <a:solidFill>
                  <a:srgbClr val="E6EDF3"/>
                </a:solidFill>
                <a:latin typeface="Inconsolata"/>
              </a:rPr>
              <a:t>: </a:t>
            </a:r>
            <a:r>
              <a:rPr sz="850" i="0">
                <a:solidFill>
                  <a:srgbClr val="F9C97A"/>
                </a:solidFill>
                <a:latin typeface="Inconsolata"/>
              </a:rPr>
              <a:t>1</a:t>
            </a:r>
            <a:r>
              <a:rPr sz="850" i="0">
                <a:solidFill>
                  <a:srgbClr val="E6EDF3"/>
                </a:solidFill>
                <a:latin typeface="Inconsolata"/>
              </a:rPr>
              <a:t>, </a:t>
            </a:r>
            <a:r>
              <a:rPr sz="850" i="0">
                <a:solidFill>
                  <a:srgbClr val="A5D6A7"/>
                </a:solidFill>
                <a:latin typeface="Inconsolata"/>
              </a:rPr>
              <a:t>"name"</a:t>
            </a:r>
            <a:r>
              <a:rPr sz="850" i="0">
                <a:solidFill>
                  <a:srgbClr val="E6EDF3"/>
                </a:solidFill>
                <a:latin typeface="Inconsolata"/>
              </a:rPr>
              <a:t>: </a:t>
            </a:r>
            <a:r>
              <a:rPr sz="850" i="0">
                <a:solidFill>
                  <a:srgbClr val="A5D6A7"/>
                </a:solidFill>
                <a:latin typeface="Inconsolata"/>
              </a:rPr>
              <a:t>"Keyboard"</a:t>
            </a:r>
            <a:r>
              <a:rPr sz="850" i="0">
                <a:solidFill>
                  <a:srgbClr val="E6EDF3"/>
                </a:solidFill>
                <a:latin typeface="Inconsolata"/>
              </a:rPr>
              <a:t>}]</a:t>
            </a:r>
          </a:p>
          <a:p>
            <a:pPr>
              <a:lnSpc>
                <a:spcPct val="107843"/>
              </a:lnSpc>
              <a:spcAft>
                <a:spcPts val="0"/>
              </a:spcAft>
            </a:pPr>
            <a:r>
              <a:rPr sz="850" i="0">
                <a:solidFill>
                  <a:srgbClr val="E6EDF3"/>
                </a:solidFill>
                <a:latin typeface="Inconsolata"/>
              </a:rPr>
              <a:t>    ms = (time.perf_counter() - start) * </a:t>
            </a:r>
            <a:r>
              <a:rPr sz="850" i="0">
                <a:solidFill>
                  <a:srgbClr val="F9C97A"/>
                </a:solidFill>
                <a:latin typeface="Inconsolata"/>
              </a:rPr>
              <a:t>1000</a:t>
            </a:r>
          </a:p>
          <a:p>
            <a:pPr>
              <a:lnSpc>
                <a:spcPct val="107843"/>
              </a:lnSpc>
              <a:spcAft>
                <a:spcPts val="0"/>
              </a:spcAft>
            </a:pP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f"GET /products 200 {ms:.1f}ms"</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result</a:t>
            </a:r>
          </a:p>
        </p:txBody>
      </p:sp>
      <p:sp>
        <p:nvSpPr>
          <p:cNvPr id="30" name="Box 13"/>
          <p:cNvSpPr/>
          <p:nvPr/>
        </p:nvSpPr>
        <p:spPr>
          <a:xfrm>
            <a:off x="4379976" y="2108073"/>
            <a:ext cx="4023359" cy="550418"/>
          </a:xfrm>
          <a:prstGeom prst="roundRect">
            <a:avLst>
              <a:gd name="adj" fmla="val 830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3246120"/>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332384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332384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332384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3255264"/>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middleware: 04-middleware/after.py</a:t>
            </a:r>
          </a:p>
        </p:txBody>
      </p:sp>
      <p:sp>
        <p:nvSpPr>
          <p:cNvPr id="36" name="CodeBg 21"/>
          <p:cNvSpPr/>
          <p:nvPr/>
        </p:nvSpPr>
        <p:spPr>
          <a:xfrm>
            <a:off x="4297680" y="3483864"/>
            <a:ext cx="4187951" cy="1216151"/>
          </a:xfrm>
          <a:prstGeom prst="roundRect">
            <a:avLst>
              <a:gd name="adj" fmla="val 150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483864"/>
            <a:ext cx="4187951" cy="1216151"/>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@app.middleware</a:t>
            </a:r>
            <a:r>
              <a:rPr sz="850" i="0">
                <a:solidFill>
                  <a:srgbClr val="E6EDF3"/>
                </a:solidFill>
                <a:latin typeface="Inconsolata"/>
              </a:rPr>
              <a:t>(</a:t>
            </a:r>
            <a:r>
              <a:rPr sz="850" i="0">
                <a:solidFill>
                  <a:srgbClr val="A5D6A7"/>
                </a:solidFill>
                <a:latin typeface="Inconsolata"/>
              </a:rPr>
              <a:t>"http"</a:t>
            </a:r>
            <a:r>
              <a:rPr sz="850" i="0">
                <a:solidFill>
                  <a:srgbClr val="E6EDF3"/>
                </a:solidFill>
                <a:latin typeface="Inconsolata"/>
              </a:rPr>
              <a:t>)</a:t>
            </a:r>
          </a:p>
          <a:p>
            <a:pPr>
              <a:lnSpc>
                <a:spcPct val="107843"/>
              </a:lnSpc>
              <a:spcAft>
                <a:spcPts val="0"/>
              </a:spcAft>
            </a:pPr>
            <a:r>
              <a:rPr sz="850" i="0">
                <a:solidFill>
                  <a:srgbClr val="FF8E6E"/>
                </a:solidFill>
                <a:latin typeface="Inconsolata"/>
              </a:rPr>
              <a:t>async</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log_requests</a:t>
            </a:r>
            <a:r>
              <a:rPr sz="850" i="0">
                <a:solidFill>
                  <a:srgbClr val="E6EDF3"/>
                </a:solidFill>
                <a:latin typeface="Inconsolata"/>
              </a:rPr>
              <a:t>(request: </a:t>
            </a:r>
            <a:r>
              <a:rPr sz="850" i="0">
                <a:solidFill>
                  <a:srgbClr val="7FDBCA"/>
                </a:solidFill>
                <a:latin typeface="Inconsolata"/>
              </a:rPr>
              <a:t>Request</a:t>
            </a:r>
            <a:r>
              <a:rPr sz="850" i="0">
                <a:solidFill>
                  <a:srgbClr val="E6EDF3"/>
                </a:solidFill>
                <a:latin typeface="Inconsolata"/>
              </a:rPr>
              <a:t>, call_next):</a:t>
            </a:r>
          </a:p>
          <a:p>
            <a:pPr>
              <a:lnSpc>
                <a:spcPct val="107843"/>
              </a:lnSpc>
              <a:spcAft>
                <a:spcPts val="0"/>
              </a:spcAft>
            </a:pPr>
            <a:r>
              <a:rPr sz="850" i="0">
                <a:solidFill>
                  <a:srgbClr val="E6EDF3"/>
                </a:solidFill>
                <a:latin typeface="Inconsolata"/>
              </a:rPr>
              <a:t>    start = time.perf_counter()</a:t>
            </a:r>
          </a:p>
          <a:p>
            <a:pPr>
              <a:lnSpc>
                <a:spcPct val="107843"/>
              </a:lnSpc>
              <a:spcAft>
                <a:spcPts val="0"/>
              </a:spcAft>
            </a:pPr>
            <a:r>
              <a:rPr sz="850" i="0">
                <a:solidFill>
                  <a:srgbClr val="E6EDF3"/>
                </a:solidFill>
                <a:latin typeface="Inconsolata"/>
              </a:rPr>
              <a:t>    response = </a:t>
            </a:r>
            <a:r>
              <a:rPr sz="850" i="0">
                <a:solidFill>
                  <a:srgbClr val="FF8E6E"/>
                </a:solidFill>
                <a:latin typeface="Inconsolata"/>
              </a:rPr>
              <a:t>await</a:t>
            </a:r>
            <a:r>
              <a:rPr sz="850" i="0">
                <a:solidFill>
                  <a:srgbClr val="E6EDF3"/>
                </a:solidFill>
                <a:latin typeface="Inconsolata"/>
              </a:rPr>
              <a:t> call_next(request)          </a:t>
            </a:r>
            <a:r>
              <a:rPr sz="850" i="1">
                <a:solidFill>
                  <a:srgbClr val="8B98A8"/>
                </a:solidFill>
                <a:latin typeface="Inconsolata"/>
              </a:rPr>
              <a:t># lanjut ke route</a:t>
            </a:r>
          </a:p>
          <a:p>
            <a:pPr>
              <a:lnSpc>
                <a:spcPct val="107843"/>
              </a:lnSpc>
              <a:spcAft>
                <a:spcPts val="0"/>
              </a:spcAft>
            </a:pPr>
            <a:r>
              <a:rPr sz="850" i="0">
                <a:solidFill>
                  <a:srgbClr val="E6EDF3"/>
                </a:solidFill>
                <a:latin typeface="Inconsolata"/>
              </a:rPr>
              <a:t>    ms = (time.perf_counter() - start) * </a:t>
            </a:r>
            <a:r>
              <a:rPr sz="850" i="0">
                <a:solidFill>
                  <a:srgbClr val="F9C97A"/>
                </a:solidFill>
                <a:latin typeface="Inconsolata"/>
              </a:rPr>
              <a:t>1000</a:t>
            </a:r>
          </a:p>
          <a:p>
            <a:pPr>
              <a:lnSpc>
                <a:spcPct val="107843"/>
              </a:lnSpc>
              <a:spcAft>
                <a:spcPts val="0"/>
              </a:spcAft>
            </a:pPr>
            <a:r>
              <a:rPr sz="850" i="0">
                <a:solidFill>
                  <a:srgbClr val="E6EDF3"/>
                </a:solidFill>
                <a:latin typeface="Inconsolata"/>
              </a:rPr>
              <a:t>    response.headers[</a:t>
            </a:r>
            <a:r>
              <a:rPr sz="850" i="0">
                <a:solidFill>
                  <a:srgbClr val="A5D6A7"/>
                </a:solidFill>
                <a:latin typeface="Inconsolata"/>
              </a:rPr>
              <a:t>"X-Process-Time"</a:t>
            </a:r>
            <a:r>
              <a:rPr sz="850" i="0">
                <a:solidFill>
                  <a:srgbClr val="E6EDF3"/>
                </a:solidFill>
                <a:latin typeface="Inconsolata"/>
              </a:rPr>
              <a:t>] = </a:t>
            </a:r>
            <a:r>
              <a:rPr sz="850" i="0">
                <a:solidFill>
                  <a:srgbClr val="A5D6A7"/>
                </a:solidFill>
                <a:latin typeface="Inconsolata"/>
              </a:rPr>
              <a:t>f"{ms:.1f}ms"</a:t>
            </a:r>
          </a:p>
        </p:txBody>
      </p:sp>
      <p:sp>
        <p:nvSpPr>
          <p:cNvPr id="38" name="Box 23"/>
          <p:cNvSpPr/>
          <p:nvPr/>
        </p:nvSpPr>
        <p:spPr>
          <a:xfrm>
            <a:off x="4379976" y="3593465"/>
            <a:ext cx="4023359" cy="271018"/>
          </a:xfrm>
          <a:prstGeom prst="roundRect">
            <a:avLst>
              <a:gd name="adj" fmla="val 16869"/>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Middleware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Middleware?</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middleware</a:t>
            </a:r>
          </a:p>
          <a:p>
            <a:pPr algn="l">
              <a:lnSpc>
                <a:spcPct val="115000"/>
              </a:lnSpc>
              <a:spcAft>
                <a:spcPts val="400"/>
              </a:spcAft>
            </a:pPr>
            <a:r>
              <a:rPr sz="950" b="0" i="0">
                <a:solidFill>
                  <a:srgbClr val="434343"/>
                </a:solidFill>
                <a:latin typeface="Inter"/>
              </a:rPr>
              <a:t>Kita ingin mencatat setiap request, yaitu method, path, status, dan lama prosesnya. Kode pencatatnya ditempel di setiap route.</a:t>
            </a:r>
          </a:p>
          <a:p>
            <a:pPr algn="l">
              <a:lnSpc>
                <a:spcPct val="115000"/>
              </a:lnSpc>
              <a:spcAft>
                <a:spcPts val="400"/>
              </a:spcAft>
            </a:pPr>
            <a:r>
              <a:rPr sz="1050" b="1" i="0">
                <a:solidFill>
                  <a:srgbClr val="1C4587"/>
                </a:solidFill>
                <a:latin typeface="Inter"/>
              </a:rPr>
              <a:t>Jika routenya makin banyak</a:t>
            </a:r>
          </a:p>
          <a:p>
            <a:pPr algn="l">
              <a:lnSpc>
                <a:spcPct val="115000"/>
              </a:lnSpc>
              <a:spcAft>
                <a:spcPts val="400"/>
              </a:spcAft>
            </a:pPr>
            <a:r>
              <a:rPr sz="950" b="0" i="0">
                <a:solidFill>
                  <a:srgbClr val="434343"/>
                </a:solidFill>
                <a:latin typeface="Inter"/>
              </a:rPr>
              <a:t>Route baru mudah terlewat sehingga tidak tercatat. Request yang error juga tidak tercatat, karena kode pencatatnya tidak sempat jalan.</a:t>
            </a:r>
          </a:p>
          <a:p>
            <a:pPr algn="l">
              <a:lnSpc>
                <a:spcPct val="115000"/>
              </a:lnSpc>
              <a:spcAft>
                <a:spcPts val="400"/>
              </a:spcAft>
            </a:pPr>
            <a:r>
              <a:rPr sz="950" b="0" i="0">
                <a:solidFill>
                  <a:srgbClr val="434343"/>
                </a:solidFill>
                <a:latin typeface="Inter"/>
              </a:rPr>
              <a:t>Hal ini menyulitkan tim saat mencari penyebab masalah di production.</a:t>
            </a:r>
          </a:p>
          <a:p>
            <a:pPr algn="l">
              <a:lnSpc>
                <a:spcPct val="115000"/>
              </a:lnSpc>
              <a:spcAft>
                <a:spcPts val="400"/>
              </a:spcAft>
            </a:pPr>
            <a:r>
              <a:rPr sz="1050" b="1" i="0">
                <a:solidFill>
                  <a:srgbClr val="1C4587"/>
                </a:solidFill>
                <a:latin typeface="Inter"/>
              </a:rPr>
              <a:t>Yang dipakai dari FastAPI: @app.middleware</a:t>
            </a:r>
          </a:p>
          <a:p>
            <a:pPr algn="l">
              <a:lnSpc>
                <a:spcPct val="115000"/>
              </a:lnSpc>
              <a:spcAft>
                <a:spcPts val="400"/>
              </a:spcAft>
            </a:pPr>
            <a:r>
              <a:rPr sz="950" b="0" i="0">
                <a:solidFill>
                  <a:srgbClr val="434343"/>
                </a:solidFill>
                <a:latin typeface="Inter"/>
              </a:rPr>
              <a:t>Middleware menerima </a:t>
            </a:r>
            <a:r>
              <a:rPr sz="950" b="0" i="0">
                <a:solidFill>
                  <a:srgbClr val="B5482A"/>
                </a:solidFill>
                <a:latin typeface="Inconsolata"/>
              </a:rPr>
              <a:t>request</a:t>
            </a:r>
            <a:r>
              <a:rPr sz="950" b="0" i="0">
                <a:solidFill>
                  <a:srgbClr val="434343"/>
                </a:solidFill>
                <a:latin typeface="Inter"/>
              </a:rPr>
              <a:t> dan </a:t>
            </a:r>
            <a:r>
              <a:rPr sz="950" b="0" i="0">
                <a:solidFill>
                  <a:srgbClr val="B5482A"/>
                </a:solidFill>
                <a:latin typeface="Inconsolata"/>
              </a:rPr>
              <a:t>call_next</a:t>
            </a:r>
            <a:r>
              <a:rPr sz="950" b="0" i="0">
                <a:solidFill>
                  <a:srgbClr val="434343"/>
                </a:solidFill>
                <a:latin typeface="Inter"/>
              </a:rPr>
              <a:t>. Semua kode sebelum </a:t>
            </a:r>
            <a:r>
              <a:rPr sz="950" b="0" i="0">
                <a:solidFill>
                  <a:srgbClr val="B5482A"/>
                </a:solidFill>
                <a:latin typeface="Inconsolata"/>
              </a:rPr>
              <a:t>call_next</a:t>
            </a:r>
            <a:r>
              <a:rPr sz="950" b="0" i="0">
                <a:solidFill>
                  <a:srgbClr val="434343"/>
                </a:solidFill>
                <a:latin typeface="Inter"/>
              </a:rPr>
              <a:t> jalan sebelum route, dan semua kode setelahnya jalan setelah route selesai.</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1764792">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@app.middleware("http")</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Mendaftarkan middleware untuk semua request</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await call_next(request)</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Meneruskan request ke route, hasilnya response</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response.headers["X-..."]</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Menambah header ke semua response</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Middleware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Logging ditempel di setiap route</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04-middleware/before.py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 9  </a:t>
            </a:r>
            <a:r>
              <a:rPr sz="760" i="0">
                <a:solidFill>
                  <a:srgbClr val="FF8E6E"/>
                </a:solidFill>
                <a:latin typeface="Inconsolata"/>
              </a:rPr>
              <a:t>import</a:t>
            </a:r>
            <a:r>
              <a:rPr sz="760" i="0">
                <a:solidFill>
                  <a:srgbClr val="E6EDF3"/>
                </a:solidFill>
                <a:latin typeface="Inconsolata"/>
              </a:rPr>
              <a:t> time</a:t>
            </a:r>
          </a:p>
          <a:p>
            <a:pPr>
              <a:lnSpc>
                <a:spcPct val="109601"/>
              </a:lnSpc>
              <a:spcAft>
                <a:spcPts val="0"/>
              </a:spcAft>
            </a:pPr>
            <a:r>
              <a:rPr sz="760" i="0">
                <a:solidFill>
                  <a:srgbClr val="5C6773"/>
                </a:solidFill>
                <a:latin typeface="Inconsolata"/>
              </a:rPr>
              <a:t>10  </a:t>
            </a:r>
            <a:r>
              <a:rPr sz="760" i="0">
                <a:solidFill>
                  <a:srgbClr val="E6EDF3"/>
                </a:solidFill>
                <a:latin typeface="Inconsolata"/>
              </a:rPr>
              <a:t> </a:t>
            </a:r>
          </a:p>
          <a:p>
            <a:pPr>
              <a:lnSpc>
                <a:spcPct val="109601"/>
              </a:lnSpc>
              <a:spcAft>
                <a:spcPts val="0"/>
              </a:spcAft>
            </a:pPr>
            <a:r>
              <a:rPr sz="760" i="0">
                <a:solidFill>
                  <a:srgbClr val="5C6773"/>
                </a:solidFill>
                <a:latin typeface="Inconsolata"/>
              </a:rPr>
              <a:t>11  </a:t>
            </a:r>
            <a:r>
              <a:rPr sz="760" i="0">
                <a:solidFill>
                  <a:srgbClr val="FF8E6E"/>
                </a:solidFill>
                <a:latin typeface="Inconsolata"/>
              </a:rPr>
              <a:t>from</a:t>
            </a:r>
            <a:r>
              <a:rPr sz="760" i="0">
                <a:solidFill>
                  <a:srgbClr val="E6EDF3"/>
                </a:solidFill>
                <a:latin typeface="Inconsolata"/>
              </a:rPr>
              <a:t> fastapi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FastAPI</a:t>
            </a:r>
          </a:p>
          <a:p>
            <a:pPr>
              <a:lnSpc>
                <a:spcPct val="109601"/>
              </a:lnSpc>
              <a:spcAft>
                <a:spcPts val="0"/>
              </a:spcAft>
            </a:pPr>
            <a:r>
              <a:rPr sz="760" i="0">
                <a:solidFill>
                  <a:srgbClr val="5C6773"/>
                </a:solidFill>
                <a:latin typeface="Inconsolata"/>
              </a:rPr>
              <a:t>12  </a:t>
            </a:r>
            <a:r>
              <a:rPr sz="760" i="0">
                <a:solidFill>
                  <a:srgbClr val="E6EDF3"/>
                </a:solidFill>
                <a:latin typeface="Inconsolata"/>
              </a:rPr>
              <a:t> </a:t>
            </a:r>
          </a:p>
          <a:p>
            <a:pPr>
              <a:lnSpc>
                <a:spcPct val="109601"/>
              </a:lnSpc>
              <a:spcAft>
                <a:spcPts val="0"/>
              </a:spcAft>
            </a:pPr>
            <a:r>
              <a:rPr sz="760" i="0">
                <a:solidFill>
                  <a:srgbClr val="5C6773"/>
                </a:solidFill>
                <a:latin typeface="Inconsolata"/>
              </a:rPr>
              <a:t>13  </a:t>
            </a:r>
            <a:r>
              <a:rPr sz="760" i="0">
                <a:solidFill>
                  <a:srgbClr val="E6EDF3"/>
                </a:solidFill>
                <a:latin typeface="Inconsolata"/>
              </a:rPr>
              <a:t>app = </a:t>
            </a:r>
            <a:r>
              <a:rPr sz="760" i="0">
                <a:solidFill>
                  <a:srgbClr val="7FDBCA"/>
                </a:solidFill>
                <a:latin typeface="Inconsolata"/>
              </a:rPr>
              <a:t>FastAPI</a:t>
            </a:r>
            <a:r>
              <a:rPr sz="760" i="0">
                <a:solidFill>
                  <a:srgbClr val="E6EDF3"/>
                </a:solidFill>
                <a:latin typeface="Inconsolata"/>
              </a:rPr>
              <a:t>()</a:t>
            </a:r>
          </a:p>
          <a:p>
            <a:pPr>
              <a:lnSpc>
                <a:spcPct val="109601"/>
              </a:lnSpc>
              <a:spcAft>
                <a:spcPts val="0"/>
              </a:spcAft>
            </a:pPr>
            <a:r>
              <a:rPr sz="760" i="0">
                <a:solidFill>
                  <a:srgbClr val="5C6773"/>
                </a:solidFill>
                <a:latin typeface="Inconsolata"/>
              </a:rPr>
              <a:t>14  </a:t>
            </a:r>
            <a:r>
              <a:rPr sz="760" i="0">
                <a:solidFill>
                  <a:srgbClr val="E6EDF3"/>
                </a:solidFill>
                <a:latin typeface="Inconsolata"/>
              </a:rPr>
              <a:t> </a:t>
            </a:r>
          </a:p>
          <a:p>
            <a:pPr>
              <a:lnSpc>
                <a:spcPct val="109601"/>
              </a:lnSpc>
              <a:spcAft>
                <a:spcPts val="0"/>
              </a:spcAft>
            </a:pPr>
            <a:r>
              <a:rPr sz="760" i="0">
                <a:solidFill>
                  <a:srgbClr val="5C6773"/>
                </a:solidFill>
                <a:latin typeface="Inconsolata"/>
              </a:rPr>
              <a:t>15  </a:t>
            </a:r>
            <a:r>
              <a:rPr sz="760" i="0">
                <a:solidFill>
                  <a:srgbClr val="E6EDF3"/>
                </a:solidFill>
                <a:latin typeface="Inconsolata"/>
              </a:rPr>
              <a:t> </a:t>
            </a:r>
          </a:p>
          <a:p>
            <a:pPr>
              <a:lnSpc>
                <a:spcPct val="109601"/>
              </a:lnSpc>
              <a:spcAft>
                <a:spcPts val="0"/>
              </a:spcAft>
            </a:pPr>
            <a:r>
              <a:rPr sz="760" i="0">
                <a:solidFill>
                  <a:srgbClr val="5C6773"/>
                </a:solidFill>
                <a:latin typeface="Inconsolata"/>
              </a:rPr>
              <a:t>16  </a:t>
            </a:r>
            <a:r>
              <a:rPr sz="760" i="0">
                <a:solidFill>
                  <a:srgbClr val="F9C97A"/>
                </a:solidFill>
                <a:latin typeface="Inconsolata"/>
              </a:rPr>
              <a:t>@app.get</a:t>
            </a:r>
            <a:r>
              <a:rPr sz="760" i="0">
                <a:solidFill>
                  <a:srgbClr val="E6EDF3"/>
                </a:solidFill>
                <a:latin typeface="Inconsolata"/>
              </a:rPr>
              <a:t>(</a:t>
            </a:r>
            <a:r>
              <a:rPr sz="760" i="0">
                <a:solidFill>
                  <a:srgbClr val="A5D6A7"/>
                </a:solidFill>
                <a:latin typeface="Inconsolata"/>
              </a:rPr>
              <a:t>"/products"</a:t>
            </a:r>
            <a:r>
              <a:rPr sz="760" i="0">
                <a:solidFill>
                  <a:srgbClr val="E6EDF3"/>
                </a:solidFill>
                <a:latin typeface="Inconsolata"/>
              </a:rPr>
              <a:t>)</a:t>
            </a:r>
          </a:p>
          <a:p>
            <a:pPr>
              <a:lnSpc>
                <a:spcPct val="109601"/>
              </a:lnSpc>
              <a:spcAft>
                <a:spcPts val="0"/>
              </a:spcAft>
            </a:pPr>
            <a:r>
              <a:rPr sz="760" i="0">
                <a:solidFill>
                  <a:srgbClr val="5C6773"/>
                </a:solidFill>
                <a:latin typeface="Inconsolata"/>
              </a:rPr>
              <a:t>17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list_products</a:t>
            </a:r>
            <a:r>
              <a:rPr sz="760" i="0">
                <a:solidFill>
                  <a:srgbClr val="E6EDF3"/>
                </a:solidFill>
                <a:latin typeface="Inconsolata"/>
              </a:rPr>
              <a:t>():</a:t>
            </a:r>
          </a:p>
          <a:p>
            <a:pPr>
              <a:lnSpc>
                <a:spcPct val="109601"/>
              </a:lnSpc>
              <a:spcAft>
                <a:spcPts val="0"/>
              </a:spcAft>
            </a:pPr>
            <a:r>
              <a:rPr sz="760" i="0">
                <a:solidFill>
                  <a:srgbClr val="5C6773"/>
                </a:solidFill>
                <a:latin typeface="Inconsolata"/>
              </a:rPr>
              <a:t>18  </a:t>
            </a:r>
            <a:r>
              <a:rPr sz="760" i="0">
                <a:solidFill>
                  <a:srgbClr val="E6EDF3"/>
                </a:solidFill>
                <a:latin typeface="Inconsolata"/>
              </a:rPr>
              <a:t>    start = time.perf_counter()</a:t>
            </a:r>
          </a:p>
          <a:p>
            <a:pPr>
              <a:lnSpc>
                <a:spcPct val="109601"/>
              </a:lnSpc>
              <a:spcAft>
                <a:spcPts val="0"/>
              </a:spcAft>
            </a:pPr>
            <a:r>
              <a:rPr sz="760" i="0">
                <a:solidFill>
                  <a:srgbClr val="5C6773"/>
                </a:solidFill>
                <a:latin typeface="Inconsolata"/>
              </a:rPr>
              <a:t>19  </a:t>
            </a:r>
            <a:r>
              <a:rPr sz="760" i="0">
                <a:solidFill>
                  <a:srgbClr val="E6EDF3"/>
                </a:solidFill>
                <a:latin typeface="Inconsolata"/>
              </a:rPr>
              <a:t>    result = [{</a:t>
            </a:r>
            <a:r>
              <a:rPr sz="760" i="0">
                <a:solidFill>
                  <a:srgbClr val="A5D6A7"/>
                </a:solidFill>
                <a:latin typeface="Inconsolata"/>
              </a:rPr>
              <a:t>"id"</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"name"</a:t>
            </a:r>
            <a:r>
              <a:rPr sz="760" i="0">
                <a:solidFill>
                  <a:srgbClr val="E6EDF3"/>
                </a:solidFill>
                <a:latin typeface="Inconsolata"/>
              </a:rPr>
              <a:t>: </a:t>
            </a:r>
            <a:r>
              <a:rPr sz="760" i="0">
                <a:solidFill>
                  <a:srgbClr val="A5D6A7"/>
                </a:solidFill>
                <a:latin typeface="Inconsolata"/>
              </a:rPr>
              <a:t>"Keyboard"</a:t>
            </a:r>
            <a:r>
              <a:rPr sz="760" i="0">
                <a:solidFill>
                  <a:srgbClr val="E6EDF3"/>
                </a:solidFill>
                <a:latin typeface="Inconsolata"/>
              </a:rPr>
              <a:t>}]</a:t>
            </a:r>
          </a:p>
          <a:p>
            <a:pPr>
              <a:lnSpc>
                <a:spcPct val="109601"/>
              </a:lnSpc>
              <a:spcAft>
                <a:spcPts val="0"/>
              </a:spcAft>
            </a:pPr>
            <a:r>
              <a:rPr sz="760" i="0">
                <a:solidFill>
                  <a:srgbClr val="5C6773"/>
                </a:solidFill>
                <a:latin typeface="Inconsolata"/>
              </a:rPr>
              <a:t>20  </a:t>
            </a:r>
            <a:r>
              <a:rPr sz="760" i="0">
                <a:solidFill>
                  <a:srgbClr val="E6EDF3"/>
                </a:solidFill>
                <a:latin typeface="Inconsolata"/>
              </a:rPr>
              <a:t>    ms = (time.perf_counter() - start) * </a:t>
            </a:r>
            <a:r>
              <a:rPr sz="760" i="0">
                <a:solidFill>
                  <a:srgbClr val="F9C97A"/>
                </a:solidFill>
                <a:latin typeface="Inconsolata"/>
              </a:rPr>
              <a:t>1000</a:t>
            </a:r>
          </a:p>
          <a:p>
            <a:pPr>
              <a:lnSpc>
                <a:spcPct val="109601"/>
              </a:lnSpc>
              <a:spcAft>
                <a:spcPts val="0"/>
              </a:spcAft>
            </a:pPr>
            <a:r>
              <a:rPr sz="760" i="0">
                <a:solidFill>
                  <a:srgbClr val="5C6773"/>
                </a:solidFill>
                <a:latin typeface="Inconsolata"/>
              </a:rPr>
              <a:t>21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f"GET /products 200 {ms:.1f}ms"</a:t>
            </a:r>
            <a:r>
              <a:rPr sz="760" i="0">
                <a:solidFill>
                  <a:srgbClr val="E6EDF3"/>
                </a:solidFill>
                <a:latin typeface="Inconsolata"/>
              </a:rPr>
              <a:t>)</a:t>
            </a:r>
          </a:p>
          <a:p>
            <a:pPr>
              <a:lnSpc>
                <a:spcPct val="109601"/>
              </a:lnSpc>
              <a:spcAft>
                <a:spcPts val="0"/>
              </a:spcAft>
            </a:pPr>
            <a:r>
              <a:rPr sz="760" i="0">
                <a:solidFill>
                  <a:srgbClr val="5C6773"/>
                </a:solidFill>
                <a:latin typeface="Inconsolata"/>
              </a:rPr>
              <a:t>22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result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04-middleware/before.py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25  </a:t>
            </a:r>
            <a:r>
              <a:rPr sz="760" i="0">
                <a:solidFill>
                  <a:srgbClr val="F9C97A"/>
                </a:solidFill>
                <a:latin typeface="Inconsolata"/>
              </a:rPr>
              <a:t>@app.get</a:t>
            </a:r>
            <a:r>
              <a:rPr sz="760" i="0">
                <a:solidFill>
                  <a:srgbClr val="E6EDF3"/>
                </a:solidFill>
                <a:latin typeface="Inconsolata"/>
              </a:rPr>
              <a:t>(</a:t>
            </a:r>
            <a:r>
              <a:rPr sz="760" i="0">
                <a:solidFill>
                  <a:srgbClr val="A5D6A7"/>
                </a:solidFill>
                <a:latin typeface="Inconsolata"/>
              </a:rPr>
              <a:t>"/orders"</a:t>
            </a:r>
            <a:r>
              <a:rPr sz="760" i="0">
                <a:solidFill>
                  <a:srgbClr val="E6EDF3"/>
                </a:solidFill>
                <a:latin typeface="Inconsolata"/>
              </a:rPr>
              <a:t>)</a:t>
            </a:r>
          </a:p>
          <a:p>
            <a:pPr>
              <a:lnSpc>
                <a:spcPct val="109601"/>
              </a:lnSpc>
              <a:spcAft>
                <a:spcPts val="0"/>
              </a:spcAft>
            </a:pPr>
            <a:r>
              <a:rPr sz="760" i="0">
                <a:solidFill>
                  <a:srgbClr val="5C6773"/>
                </a:solidFill>
                <a:latin typeface="Inconsolata"/>
              </a:rPr>
              <a:t>26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list_orders</a:t>
            </a:r>
            <a:r>
              <a:rPr sz="760" i="0">
                <a:solidFill>
                  <a:srgbClr val="E6EDF3"/>
                </a:solidFill>
                <a:latin typeface="Inconsolata"/>
              </a:rPr>
              <a:t>():</a:t>
            </a:r>
          </a:p>
          <a:p>
            <a:pPr>
              <a:lnSpc>
                <a:spcPct val="109601"/>
              </a:lnSpc>
              <a:spcAft>
                <a:spcPts val="0"/>
              </a:spcAft>
            </a:pPr>
            <a:r>
              <a:rPr sz="760" i="0">
                <a:solidFill>
                  <a:srgbClr val="5C6773"/>
                </a:solidFill>
                <a:latin typeface="Inconsolata"/>
              </a:rPr>
              <a:t>27  </a:t>
            </a:r>
            <a:r>
              <a:rPr sz="760" i="0">
                <a:solidFill>
                  <a:srgbClr val="E6EDF3"/>
                </a:solidFill>
                <a:latin typeface="Inconsolata"/>
              </a:rPr>
              <a:t>    start = time.perf_counter()</a:t>
            </a:r>
          </a:p>
          <a:p>
            <a:pPr>
              <a:lnSpc>
                <a:spcPct val="109601"/>
              </a:lnSpc>
              <a:spcAft>
                <a:spcPts val="0"/>
              </a:spcAft>
            </a:pPr>
            <a:r>
              <a:rPr sz="760" i="0">
                <a:solidFill>
                  <a:srgbClr val="5C6773"/>
                </a:solidFill>
                <a:latin typeface="Inconsolata"/>
              </a:rPr>
              <a:t>28  </a:t>
            </a:r>
            <a:r>
              <a:rPr sz="760" i="0">
                <a:solidFill>
                  <a:srgbClr val="E6EDF3"/>
                </a:solidFill>
                <a:latin typeface="Inconsolata"/>
              </a:rPr>
              <a:t>    result = [{</a:t>
            </a:r>
            <a:r>
              <a:rPr sz="760" i="0">
                <a:solidFill>
                  <a:srgbClr val="A5D6A7"/>
                </a:solidFill>
                <a:latin typeface="Inconsolata"/>
              </a:rPr>
              <a:t>"id"</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"customer"</a:t>
            </a:r>
            <a:r>
              <a:rPr sz="760" i="0">
                <a:solidFill>
                  <a:srgbClr val="E6EDF3"/>
                </a:solidFill>
                <a:latin typeface="Inconsolata"/>
              </a:rPr>
              <a:t>: </a:t>
            </a:r>
            <a:r>
              <a:rPr sz="760" i="0">
                <a:solidFill>
                  <a:srgbClr val="A5D6A7"/>
                </a:solidFill>
                <a:latin typeface="Inconsolata"/>
              </a:rPr>
              <a:t>"budi@mail.com"</a:t>
            </a:r>
            <a:r>
              <a:rPr sz="760" i="0">
                <a:solidFill>
                  <a:srgbClr val="E6EDF3"/>
                </a:solidFill>
                <a:latin typeface="Inconsolata"/>
              </a:rPr>
              <a:t>}]</a:t>
            </a:r>
          </a:p>
          <a:p>
            <a:pPr>
              <a:lnSpc>
                <a:spcPct val="109601"/>
              </a:lnSpc>
              <a:spcAft>
                <a:spcPts val="0"/>
              </a:spcAft>
            </a:pPr>
            <a:r>
              <a:rPr sz="760" i="0">
                <a:solidFill>
                  <a:srgbClr val="5C6773"/>
                </a:solidFill>
                <a:latin typeface="Inconsolata"/>
              </a:rPr>
              <a:t>29  </a:t>
            </a:r>
            <a:r>
              <a:rPr sz="760" i="0">
                <a:solidFill>
                  <a:srgbClr val="E6EDF3"/>
                </a:solidFill>
                <a:latin typeface="Inconsolata"/>
              </a:rPr>
              <a:t>    ms = (time.perf_counter() - start) * </a:t>
            </a:r>
            <a:r>
              <a:rPr sz="760" i="0">
                <a:solidFill>
                  <a:srgbClr val="F9C97A"/>
                </a:solidFill>
                <a:latin typeface="Inconsolata"/>
              </a:rPr>
              <a:t>1000</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f"GET /orders 200 {ms:.1f}ms"</a:t>
            </a:r>
            <a:r>
              <a:rPr sz="760" i="0">
                <a:solidFill>
                  <a:srgbClr val="E6EDF3"/>
                </a:solidFill>
                <a:latin typeface="Inconsolata"/>
              </a:rPr>
              <a:t>)</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result</a:t>
            </a:r>
          </a:p>
          <a:p>
            <a:pPr>
              <a:lnSpc>
                <a:spcPct val="109601"/>
              </a:lnSpc>
              <a:spcAft>
                <a:spcPts val="0"/>
              </a:spcAft>
            </a:pPr>
            <a:r>
              <a:rPr sz="760" i="0">
                <a:solidFill>
                  <a:srgbClr val="5C6773"/>
                </a:solidFill>
                <a:latin typeface="Inconsolata"/>
              </a:rPr>
              <a:t>32  </a:t>
            </a:r>
            <a:r>
              <a:rPr sz="760" i="0">
                <a:solidFill>
                  <a:srgbClr val="E6EDF3"/>
                </a:solidFill>
                <a:latin typeface="Inconsolata"/>
              </a:rPr>
              <a:t> </a:t>
            </a:r>
          </a:p>
          <a:p>
            <a:pPr>
              <a:lnSpc>
                <a:spcPct val="109601"/>
              </a:lnSpc>
              <a:spcAft>
                <a:spcPts val="0"/>
              </a:spcAft>
            </a:pPr>
            <a:r>
              <a:rPr sz="760" i="0">
                <a:solidFill>
                  <a:srgbClr val="5C6773"/>
                </a:solidFill>
                <a:latin typeface="Inconsolata"/>
              </a:rPr>
              <a:t>33  </a:t>
            </a:r>
            <a:r>
              <a:rPr sz="760" i="0">
                <a:solidFill>
                  <a:srgbClr val="E6EDF3"/>
                </a:solidFill>
                <a:latin typeface="Inconsolata"/>
              </a:rPr>
              <a:t> </a:t>
            </a:r>
          </a:p>
          <a:p>
            <a:pPr>
              <a:lnSpc>
                <a:spcPct val="109601"/>
              </a:lnSpc>
              <a:spcAft>
                <a:spcPts val="0"/>
              </a:spcAft>
            </a:pPr>
            <a:r>
              <a:rPr sz="760" i="0">
                <a:solidFill>
                  <a:srgbClr val="5C6773"/>
                </a:solidFill>
                <a:latin typeface="Inconsolata"/>
              </a:rPr>
              <a:t>34  </a:t>
            </a:r>
            <a:r>
              <a:rPr sz="760" i="0">
                <a:solidFill>
                  <a:srgbClr val="F9C97A"/>
                </a:solidFill>
                <a:latin typeface="Inconsolata"/>
              </a:rPr>
              <a:t>@app.get</a:t>
            </a:r>
            <a:r>
              <a:rPr sz="760" i="0">
                <a:solidFill>
                  <a:srgbClr val="E6EDF3"/>
                </a:solidFill>
                <a:latin typeface="Inconsolata"/>
              </a:rPr>
              <a:t>(</a:t>
            </a:r>
            <a:r>
              <a:rPr sz="760" i="0">
                <a:solidFill>
                  <a:srgbClr val="A5D6A7"/>
                </a:solidFill>
                <a:latin typeface="Inconsolata"/>
              </a:rPr>
              <a:t>"/health"</a:t>
            </a:r>
            <a:r>
              <a:rPr sz="760" i="0">
                <a:solidFill>
                  <a:srgbClr val="E6EDF3"/>
                </a:solidFill>
                <a:latin typeface="Inconsolata"/>
              </a:rPr>
              <a:t>)</a:t>
            </a:r>
          </a:p>
          <a:p>
            <a:pPr>
              <a:lnSpc>
                <a:spcPct val="109601"/>
              </a:lnSpc>
              <a:spcAft>
                <a:spcPts val="0"/>
              </a:spcAft>
            </a:pPr>
            <a:r>
              <a:rPr sz="760" i="0">
                <a:solidFill>
                  <a:srgbClr val="5C6773"/>
                </a:solidFill>
                <a:latin typeface="Inconsolata"/>
              </a:rPr>
              <a:t>35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health</a:t>
            </a:r>
            <a:r>
              <a:rPr sz="760" i="0">
                <a:solidFill>
                  <a:srgbClr val="E6EDF3"/>
                </a:solidFill>
                <a:latin typeface="Inconsolata"/>
              </a:rPr>
              <a:t>():                           </a:t>
            </a:r>
            <a:r>
              <a:rPr sz="760" i="1">
                <a:solidFill>
                  <a:srgbClr val="8B98A8"/>
                </a:solidFill>
                <a:latin typeface="Inconsolata"/>
              </a:rPr>
              <a:t># lupa ditambahkan logging</a:t>
            </a:r>
          </a:p>
          <a:p>
            <a:pPr>
              <a:lnSpc>
                <a:spcPct val="109601"/>
              </a:lnSpc>
              <a:spcAft>
                <a:spcPts val="0"/>
              </a:spcAft>
            </a:pPr>
            <a:r>
              <a:rPr sz="760" i="0">
                <a:solidFill>
                  <a:srgbClr val="5C6773"/>
                </a:solidFill>
                <a:latin typeface="Inconsolata"/>
              </a:rPr>
              <a:t>36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a:t>
            </a:r>
            <a:r>
              <a:rPr sz="760" i="0">
                <a:solidFill>
                  <a:srgbClr val="A5D6A7"/>
                </a:solidFill>
                <a:latin typeface="Inconsolata"/>
              </a:rPr>
              <a:t>"status"</a:t>
            </a:r>
            <a:r>
              <a:rPr sz="760" i="0">
                <a:solidFill>
                  <a:srgbClr val="E6EDF3"/>
                </a:solidFill>
                <a:latin typeface="Inconsolata"/>
              </a:rPr>
              <a:t>: </a:t>
            </a:r>
            <a:r>
              <a:rPr sz="760" i="0">
                <a:solidFill>
                  <a:srgbClr val="A5D6A7"/>
                </a:solidFill>
                <a:latin typeface="Inconsolata"/>
              </a:rPr>
              <a:t>"ok"</a:t>
            </a:r>
            <a:r>
              <a:rPr sz="760" i="0">
                <a:solidFill>
                  <a:srgbClr val="E6EDF3"/>
                </a:solidFill>
                <a:latin typeface="Inconsolata"/>
              </a:rPr>
              <a:t>}</a:t>
            </a:r>
          </a:p>
        </p:txBody>
      </p:sp>
      <p:sp>
        <p:nvSpPr>
          <p:cNvPr id="36" name="Box 21"/>
          <p:cNvSpPr/>
          <p:nvPr/>
        </p:nvSpPr>
        <p:spPr>
          <a:xfrm>
            <a:off x="704088" y="2970022"/>
            <a:ext cx="3694176" cy="500380"/>
          </a:xfrm>
          <a:prstGeom prst="roundRect">
            <a:avLst>
              <a:gd name="adj" fmla="val 913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101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1954022"/>
            <a:ext cx="3694176" cy="627380"/>
          </a:xfrm>
          <a:prstGeom prst="roundRect">
            <a:avLst>
              <a:gd name="adj" fmla="val 728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148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3097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3037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Middleware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04-middleware/before.py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sesi-04-modular-fastapi-orm-transactions/04-middleware</a:t>
            </a:r>
          </a:p>
          <a:p>
            <a:pPr>
              <a:lnSpc>
                <a:spcPct val="107527"/>
              </a:lnSpc>
              <a:spcAft>
                <a:spcPts val="0"/>
              </a:spcAft>
            </a:pPr>
            <a:r>
              <a:rPr sz="775" i="0">
                <a:solidFill>
                  <a:srgbClr val="82B1FF"/>
                </a:solidFill>
                <a:latin typeface="Inconsolata"/>
              </a:rPr>
              <a:t>$ uvicorn before:app --reload</a:t>
            </a:r>
          </a:p>
        </p:txBody>
      </p:sp>
      <p:pic>
        <p:nvPicPr>
          <p:cNvPr id="29" name="Image 12" descr="s04-04-middleware-before.png"/>
          <p:cNvPicPr>
            <a:picLocks noChangeAspect="1"/>
          </p:cNvPicPr>
          <p:nvPr/>
        </p:nvPicPr>
        <p:blipFill>
          <a:blip r:embed="rId2"/>
          <a:stretch>
            <a:fillRect/>
          </a:stretch>
        </p:blipFill>
        <p:spPr>
          <a:xfrm>
            <a:off x="621792" y="2240280"/>
            <a:ext cx="4297680" cy="1674927"/>
          </a:xfrm>
          <a:prstGeom prst="rect">
            <a:avLst/>
          </a:prstGeom>
        </p:spPr>
      </p:pic>
      <p:sp>
        <p:nvSpPr>
          <p:cNvPr id="30" name="Text 13"/>
          <p:cNvSpPr txBox="1"/>
          <p:nvPr/>
        </p:nvSpPr>
        <p:spPr>
          <a:xfrm>
            <a:off x="621792" y="3960926"/>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GET /health: tidak ada header x-process-time, terminal tidak mencatat apa pun</a:t>
            </a:r>
          </a:p>
        </p:txBody>
      </p:sp>
      <p:sp>
        <p:nvSpPr>
          <p:cNvPr id="31" name="Box 14"/>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Kode pencatat ditempel di route </a:t>
            </a:r>
            <a:r>
              <a:rPr sz="950" b="0" i="0">
                <a:solidFill>
                  <a:srgbClr val="B5482A"/>
                </a:solidFill>
                <a:latin typeface="Inconsolata"/>
              </a:rPr>
              <a:t>/products</a:t>
            </a:r>
            <a:r>
              <a:rPr sz="950" b="0" i="0">
                <a:solidFill>
                  <a:srgbClr val="434343"/>
                </a:solidFill>
                <a:latin typeface="Inter"/>
              </a:rPr>
              <a:t> (baris 18-21)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Kode yang sama di-copy ke </a:t>
            </a:r>
            <a:r>
              <a:rPr sz="950" b="0" i="0">
                <a:solidFill>
                  <a:srgbClr val="B5482A"/>
                </a:solidFill>
                <a:latin typeface="Inconsolata"/>
              </a:rPr>
              <a:t>/orders</a:t>
            </a:r>
            <a:r>
              <a:rPr sz="950" b="0" i="0">
                <a:solidFill>
                  <a:srgbClr val="434343"/>
                </a:solidFill>
                <a:latin typeface="Inter"/>
              </a:rPr>
              <a:t> (baris 26-30)</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/health</a:t>
            </a:r>
            <a:r>
              <a:rPr sz="950" b="0" i="0">
                <a:solidFill>
                  <a:srgbClr val="434343"/>
                </a:solidFill>
                <a:latin typeface="Inter"/>
              </a:rPr>
              <a:t> terlewat, jadi tidak tercatat (baris 35)</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Response </a:t>
            </a:r>
            <a:r>
              <a:rPr sz="950" b="0" i="0">
                <a:solidFill>
                  <a:srgbClr val="B5482A"/>
                </a:solidFill>
                <a:latin typeface="Inconsolata"/>
              </a:rPr>
              <a:t>/health</a:t>
            </a:r>
            <a:r>
              <a:rPr sz="950" b="0" i="0">
                <a:solidFill>
                  <a:srgbClr val="434343"/>
                </a:solidFill>
                <a:latin typeface="Inter"/>
              </a:rPr>
              <a:t> tidak punya header waktu proses.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Middleware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Logging ditulis sekali di middleware</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04-middleware/after.py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 9  </a:t>
            </a:r>
            <a:r>
              <a:rPr sz="760" i="0">
                <a:solidFill>
                  <a:srgbClr val="FF8E6E"/>
                </a:solidFill>
                <a:latin typeface="Inconsolata"/>
              </a:rPr>
              <a:t>import</a:t>
            </a:r>
            <a:r>
              <a:rPr sz="760" i="0">
                <a:solidFill>
                  <a:srgbClr val="E6EDF3"/>
                </a:solidFill>
                <a:latin typeface="Inconsolata"/>
              </a:rPr>
              <a:t> time</a:t>
            </a:r>
          </a:p>
          <a:p>
            <a:pPr>
              <a:lnSpc>
                <a:spcPct val="109601"/>
              </a:lnSpc>
              <a:spcAft>
                <a:spcPts val="0"/>
              </a:spcAft>
            </a:pPr>
            <a:r>
              <a:rPr sz="760" i="0">
                <a:solidFill>
                  <a:srgbClr val="5C6773"/>
                </a:solidFill>
                <a:latin typeface="Inconsolata"/>
              </a:rPr>
              <a:t>10  </a:t>
            </a:r>
            <a:r>
              <a:rPr sz="760" i="0">
                <a:solidFill>
                  <a:srgbClr val="E6EDF3"/>
                </a:solidFill>
                <a:latin typeface="Inconsolata"/>
              </a:rPr>
              <a:t> </a:t>
            </a:r>
          </a:p>
          <a:p>
            <a:pPr>
              <a:lnSpc>
                <a:spcPct val="109601"/>
              </a:lnSpc>
              <a:spcAft>
                <a:spcPts val="0"/>
              </a:spcAft>
            </a:pPr>
            <a:r>
              <a:rPr sz="760" i="0">
                <a:solidFill>
                  <a:srgbClr val="5C6773"/>
                </a:solidFill>
                <a:latin typeface="Inconsolata"/>
              </a:rPr>
              <a:t>11  </a:t>
            </a:r>
            <a:r>
              <a:rPr sz="760" i="0">
                <a:solidFill>
                  <a:srgbClr val="FF8E6E"/>
                </a:solidFill>
                <a:latin typeface="Inconsolata"/>
              </a:rPr>
              <a:t>from</a:t>
            </a:r>
            <a:r>
              <a:rPr sz="760" i="0">
                <a:solidFill>
                  <a:srgbClr val="E6EDF3"/>
                </a:solidFill>
                <a:latin typeface="Inconsolata"/>
              </a:rPr>
              <a:t> fastapi </a:t>
            </a:r>
            <a:r>
              <a:rPr sz="760" i="0">
                <a:solidFill>
                  <a:srgbClr val="FF8E6E"/>
                </a:solidFill>
                <a:latin typeface="Inconsolata"/>
              </a:rPr>
              <a:t>import</a:t>
            </a:r>
            <a:r>
              <a:rPr sz="760" i="0">
                <a:solidFill>
                  <a:srgbClr val="E6EDF3"/>
                </a:solidFill>
                <a:latin typeface="Inconsolata"/>
              </a:rPr>
              <a:t> </a:t>
            </a:r>
            <a:r>
              <a:rPr sz="760" i="0">
                <a:solidFill>
                  <a:srgbClr val="7FDBCA"/>
                </a:solidFill>
                <a:latin typeface="Inconsolata"/>
              </a:rPr>
              <a:t>FastAPI</a:t>
            </a:r>
            <a:r>
              <a:rPr sz="760" i="0">
                <a:solidFill>
                  <a:srgbClr val="E6EDF3"/>
                </a:solidFill>
                <a:latin typeface="Inconsolata"/>
              </a:rPr>
              <a:t>, </a:t>
            </a:r>
            <a:r>
              <a:rPr sz="760" i="0">
                <a:solidFill>
                  <a:srgbClr val="7FDBCA"/>
                </a:solidFill>
                <a:latin typeface="Inconsolata"/>
              </a:rPr>
              <a:t>Request</a:t>
            </a:r>
          </a:p>
          <a:p>
            <a:pPr>
              <a:lnSpc>
                <a:spcPct val="109601"/>
              </a:lnSpc>
              <a:spcAft>
                <a:spcPts val="0"/>
              </a:spcAft>
            </a:pPr>
            <a:r>
              <a:rPr sz="760" i="0">
                <a:solidFill>
                  <a:srgbClr val="5C6773"/>
                </a:solidFill>
                <a:latin typeface="Inconsolata"/>
              </a:rPr>
              <a:t>12  </a:t>
            </a:r>
            <a:r>
              <a:rPr sz="760" i="0">
                <a:solidFill>
                  <a:srgbClr val="E6EDF3"/>
                </a:solidFill>
                <a:latin typeface="Inconsolata"/>
              </a:rPr>
              <a:t> </a:t>
            </a:r>
          </a:p>
          <a:p>
            <a:pPr>
              <a:lnSpc>
                <a:spcPct val="109601"/>
              </a:lnSpc>
              <a:spcAft>
                <a:spcPts val="0"/>
              </a:spcAft>
            </a:pPr>
            <a:r>
              <a:rPr sz="760" i="0">
                <a:solidFill>
                  <a:srgbClr val="5C6773"/>
                </a:solidFill>
                <a:latin typeface="Inconsolata"/>
              </a:rPr>
              <a:t>13  </a:t>
            </a:r>
            <a:r>
              <a:rPr sz="760" i="0">
                <a:solidFill>
                  <a:srgbClr val="E6EDF3"/>
                </a:solidFill>
                <a:latin typeface="Inconsolata"/>
              </a:rPr>
              <a:t>app = </a:t>
            </a:r>
            <a:r>
              <a:rPr sz="760" i="0">
                <a:solidFill>
                  <a:srgbClr val="7FDBCA"/>
                </a:solidFill>
                <a:latin typeface="Inconsolata"/>
              </a:rPr>
              <a:t>FastAPI</a:t>
            </a:r>
            <a:r>
              <a:rPr sz="760" i="0">
                <a:solidFill>
                  <a:srgbClr val="E6EDF3"/>
                </a:solidFill>
                <a:latin typeface="Inconsolata"/>
              </a:rPr>
              <a:t>()</a:t>
            </a:r>
          </a:p>
          <a:p>
            <a:pPr>
              <a:lnSpc>
                <a:spcPct val="109601"/>
              </a:lnSpc>
              <a:spcAft>
                <a:spcPts val="0"/>
              </a:spcAft>
            </a:pPr>
            <a:r>
              <a:rPr sz="760" i="0">
                <a:solidFill>
                  <a:srgbClr val="5C6773"/>
                </a:solidFill>
                <a:latin typeface="Inconsolata"/>
              </a:rPr>
              <a:t>14  </a:t>
            </a:r>
            <a:r>
              <a:rPr sz="760" i="0">
                <a:solidFill>
                  <a:srgbClr val="E6EDF3"/>
                </a:solidFill>
                <a:latin typeface="Inconsolata"/>
              </a:rPr>
              <a:t> </a:t>
            </a:r>
          </a:p>
          <a:p>
            <a:pPr>
              <a:lnSpc>
                <a:spcPct val="109601"/>
              </a:lnSpc>
              <a:spcAft>
                <a:spcPts val="0"/>
              </a:spcAft>
            </a:pPr>
            <a:r>
              <a:rPr sz="760" i="0">
                <a:solidFill>
                  <a:srgbClr val="5C6773"/>
                </a:solidFill>
                <a:latin typeface="Inconsolata"/>
              </a:rPr>
              <a:t>15  </a:t>
            </a:r>
            <a:r>
              <a:rPr sz="760" i="0">
                <a:solidFill>
                  <a:srgbClr val="E6EDF3"/>
                </a:solidFill>
                <a:latin typeface="Inconsolata"/>
              </a:rPr>
              <a:t> </a:t>
            </a:r>
          </a:p>
          <a:p>
            <a:pPr>
              <a:lnSpc>
                <a:spcPct val="109601"/>
              </a:lnSpc>
              <a:spcAft>
                <a:spcPts val="0"/>
              </a:spcAft>
            </a:pPr>
            <a:r>
              <a:rPr sz="760" i="0">
                <a:solidFill>
                  <a:srgbClr val="5C6773"/>
                </a:solidFill>
                <a:latin typeface="Inconsolata"/>
              </a:rPr>
              <a:t>16  </a:t>
            </a:r>
            <a:r>
              <a:rPr sz="760" i="0">
                <a:solidFill>
                  <a:srgbClr val="F9C97A"/>
                </a:solidFill>
                <a:latin typeface="Inconsolata"/>
              </a:rPr>
              <a:t>@app.middleware</a:t>
            </a:r>
            <a:r>
              <a:rPr sz="760" i="0">
                <a:solidFill>
                  <a:srgbClr val="E6EDF3"/>
                </a:solidFill>
                <a:latin typeface="Inconsolata"/>
              </a:rPr>
              <a:t>(</a:t>
            </a:r>
            <a:r>
              <a:rPr sz="760" i="0">
                <a:solidFill>
                  <a:srgbClr val="A5D6A7"/>
                </a:solidFill>
                <a:latin typeface="Inconsolata"/>
              </a:rPr>
              <a:t>"http"</a:t>
            </a:r>
            <a:r>
              <a:rPr sz="760" i="0">
                <a:solidFill>
                  <a:srgbClr val="E6EDF3"/>
                </a:solidFill>
                <a:latin typeface="Inconsolata"/>
              </a:rPr>
              <a:t>)</a:t>
            </a:r>
          </a:p>
          <a:p>
            <a:pPr>
              <a:lnSpc>
                <a:spcPct val="109601"/>
              </a:lnSpc>
              <a:spcAft>
                <a:spcPts val="0"/>
              </a:spcAft>
            </a:pPr>
            <a:r>
              <a:rPr sz="760" i="0">
                <a:solidFill>
                  <a:srgbClr val="5C6773"/>
                </a:solidFill>
                <a:latin typeface="Inconsolata"/>
              </a:rPr>
              <a:t>17  </a:t>
            </a:r>
            <a:r>
              <a:rPr sz="760" i="0">
                <a:solidFill>
                  <a:srgbClr val="FF8E6E"/>
                </a:solidFill>
                <a:latin typeface="Inconsolata"/>
              </a:rPr>
              <a:t>async</a:t>
            </a:r>
            <a:r>
              <a:rPr sz="760" i="0">
                <a:solidFill>
                  <a:srgbClr val="E6EDF3"/>
                </a:solidFill>
                <a:latin typeface="Inconsolata"/>
              </a:rPr>
              <a:t>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log_requests</a:t>
            </a:r>
            <a:r>
              <a:rPr sz="760" i="0">
                <a:solidFill>
                  <a:srgbClr val="E6EDF3"/>
                </a:solidFill>
                <a:latin typeface="Inconsolata"/>
              </a:rPr>
              <a:t>(request: </a:t>
            </a:r>
            <a:r>
              <a:rPr sz="760" i="0">
                <a:solidFill>
                  <a:srgbClr val="7FDBCA"/>
                </a:solidFill>
                <a:latin typeface="Inconsolata"/>
              </a:rPr>
              <a:t>Request</a:t>
            </a:r>
            <a:r>
              <a:rPr sz="760" i="0">
                <a:solidFill>
                  <a:srgbClr val="E6EDF3"/>
                </a:solidFill>
                <a:latin typeface="Inconsolata"/>
              </a:rPr>
              <a:t>, call_next):</a:t>
            </a:r>
          </a:p>
          <a:p>
            <a:pPr>
              <a:lnSpc>
                <a:spcPct val="109601"/>
              </a:lnSpc>
              <a:spcAft>
                <a:spcPts val="0"/>
              </a:spcAft>
            </a:pPr>
            <a:r>
              <a:rPr sz="760" i="0">
                <a:solidFill>
                  <a:srgbClr val="5C6773"/>
                </a:solidFill>
                <a:latin typeface="Inconsolata"/>
              </a:rPr>
              <a:t>18  </a:t>
            </a:r>
            <a:r>
              <a:rPr sz="760" i="0">
                <a:solidFill>
                  <a:srgbClr val="E6EDF3"/>
                </a:solidFill>
                <a:latin typeface="Inconsolata"/>
              </a:rPr>
              <a:t>    start = time.perf_counter()</a:t>
            </a:r>
          </a:p>
          <a:p>
            <a:pPr>
              <a:lnSpc>
                <a:spcPct val="109601"/>
              </a:lnSpc>
              <a:spcAft>
                <a:spcPts val="0"/>
              </a:spcAft>
            </a:pPr>
            <a:r>
              <a:rPr sz="760" i="0">
                <a:solidFill>
                  <a:srgbClr val="5C6773"/>
                </a:solidFill>
                <a:latin typeface="Inconsolata"/>
              </a:rPr>
              <a:t>19  </a:t>
            </a:r>
            <a:r>
              <a:rPr sz="760" i="0">
                <a:solidFill>
                  <a:srgbClr val="E6EDF3"/>
                </a:solidFill>
                <a:latin typeface="Inconsolata"/>
              </a:rPr>
              <a:t>    response = </a:t>
            </a:r>
            <a:r>
              <a:rPr sz="760" i="0">
                <a:solidFill>
                  <a:srgbClr val="FF8E6E"/>
                </a:solidFill>
                <a:latin typeface="Inconsolata"/>
              </a:rPr>
              <a:t>await</a:t>
            </a:r>
            <a:r>
              <a:rPr sz="760" i="0">
                <a:solidFill>
                  <a:srgbClr val="E6EDF3"/>
                </a:solidFill>
                <a:latin typeface="Inconsolata"/>
              </a:rPr>
              <a:t> call_next(request)          </a:t>
            </a:r>
            <a:r>
              <a:rPr sz="760" i="1">
                <a:solidFill>
                  <a:srgbClr val="8B98A8"/>
                </a:solidFill>
                <a:latin typeface="Inconsolata"/>
              </a:rPr>
              <a:t># lanjut ke route</a:t>
            </a:r>
          </a:p>
          <a:p>
            <a:pPr>
              <a:lnSpc>
                <a:spcPct val="109601"/>
              </a:lnSpc>
              <a:spcAft>
                <a:spcPts val="0"/>
              </a:spcAft>
            </a:pPr>
            <a:r>
              <a:rPr sz="760" i="0">
                <a:solidFill>
                  <a:srgbClr val="5C6773"/>
                </a:solidFill>
                <a:latin typeface="Inconsolata"/>
              </a:rPr>
              <a:t>20  </a:t>
            </a:r>
            <a:r>
              <a:rPr sz="760" i="0">
                <a:solidFill>
                  <a:srgbClr val="E6EDF3"/>
                </a:solidFill>
                <a:latin typeface="Inconsolata"/>
              </a:rPr>
              <a:t>    ms = (time.perf_counter() - start) * </a:t>
            </a:r>
            <a:r>
              <a:rPr sz="760" i="0">
                <a:solidFill>
                  <a:srgbClr val="F9C97A"/>
                </a:solidFill>
                <a:latin typeface="Inconsolata"/>
              </a:rPr>
              <a:t>1000</a:t>
            </a:r>
          </a:p>
          <a:p>
            <a:pPr>
              <a:lnSpc>
                <a:spcPct val="109601"/>
              </a:lnSpc>
              <a:spcAft>
                <a:spcPts val="0"/>
              </a:spcAft>
            </a:pPr>
            <a:r>
              <a:rPr sz="760" i="0">
                <a:solidFill>
                  <a:srgbClr val="5C6773"/>
                </a:solidFill>
                <a:latin typeface="Inconsolata"/>
              </a:rPr>
              <a:t>21  </a:t>
            </a:r>
            <a:r>
              <a:rPr sz="760" i="0">
                <a:solidFill>
                  <a:srgbClr val="E6EDF3"/>
                </a:solidFill>
                <a:latin typeface="Inconsolata"/>
              </a:rPr>
              <a:t>    response.headers[</a:t>
            </a:r>
            <a:r>
              <a:rPr sz="760" i="0">
                <a:solidFill>
                  <a:srgbClr val="A5D6A7"/>
                </a:solidFill>
                <a:latin typeface="Inconsolata"/>
              </a:rPr>
              <a:t>"X-Process-Time"</a:t>
            </a:r>
            <a:r>
              <a:rPr sz="760" i="0">
                <a:solidFill>
                  <a:srgbClr val="E6EDF3"/>
                </a:solidFill>
                <a:latin typeface="Inconsolata"/>
              </a:rPr>
              <a:t>] = </a:t>
            </a:r>
            <a:r>
              <a:rPr sz="760" i="0">
                <a:solidFill>
                  <a:srgbClr val="A5D6A7"/>
                </a:solidFill>
                <a:latin typeface="Inconsolata"/>
              </a:rPr>
              <a:t>f"{ms:.1f}ms"</a:t>
            </a:r>
          </a:p>
          <a:p>
            <a:pPr>
              <a:lnSpc>
                <a:spcPct val="109601"/>
              </a:lnSpc>
              <a:spcAft>
                <a:spcPts val="0"/>
              </a:spcAft>
            </a:pPr>
            <a:r>
              <a:rPr sz="760" i="0">
                <a:solidFill>
                  <a:srgbClr val="5C6773"/>
                </a:solidFill>
                <a:latin typeface="Inconsolata"/>
              </a:rPr>
              <a:t>22  </a:t>
            </a:r>
            <a:r>
              <a:rPr sz="760" i="0">
                <a:solidFill>
                  <a:srgbClr val="E6EDF3"/>
                </a:solidFill>
                <a:latin typeface="Inconsolata"/>
              </a:rPr>
              <a:t>    path, status = request.url.path, response.status_code</a:t>
            </a:r>
          </a:p>
          <a:p>
            <a:pPr>
              <a:lnSpc>
                <a:spcPct val="109601"/>
              </a:lnSpc>
              <a:spcAft>
                <a:spcPts val="0"/>
              </a:spcAft>
            </a:pPr>
            <a:r>
              <a:rPr sz="760" i="0">
                <a:solidFill>
                  <a:srgbClr val="5C6773"/>
                </a:solidFill>
                <a:latin typeface="Inconsolata"/>
              </a:rPr>
              <a:t>23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f"{request.method} {path} {status} {ms:.1f}ms"</a:t>
            </a:r>
            <a:r>
              <a:rPr sz="760" i="0">
                <a:solidFill>
                  <a:srgbClr val="E6EDF3"/>
                </a:solidFill>
                <a:latin typeface="Inconsolata"/>
              </a:rPr>
              <a:t>)</a:t>
            </a:r>
          </a:p>
          <a:p>
            <a:pPr>
              <a:lnSpc>
                <a:spcPct val="109601"/>
              </a:lnSpc>
              <a:spcAft>
                <a:spcPts val="0"/>
              </a:spcAft>
            </a:pPr>
            <a:r>
              <a:rPr sz="760" i="0">
                <a:solidFill>
                  <a:srgbClr val="5C6773"/>
                </a:solidFill>
                <a:latin typeface="Inconsolata"/>
              </a:rPr>
              <a:t>24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response</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04-middleware/after.py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27  </a:t>
            </a:r>
            <a:r>
              <a:rPr sz="760" i="0">
                <a:solidFill>
                  <a:srgbClr val="F9C97A"/>
                </a:solidFill>
                <a:latin typeface="Inconsolata"/>
              </a:rPr>
              <a:t>@app.get</a:t>
            </a:r>
            <a:r>
              <a:rPr sz="760" i="0">
                <a:solidFill>
                  <a:srgbClr val="E6EDF3"/>
                </a:solidFill>
                <a:latin typeface="Inconsolata"/>
              </a:rPr>
              <a:t>(</a:t>
            </a:r>
            <a:r>
              <a:rPr sz="760" i="0">
                <a:solidFill>
                  <a:srgbClr val="A5D6A7"/>
                </a:solidFill>
                <a:latin typeface="Inconsolata"/>
              </a:rPr>
              <a:t>"/products"</a:t>
            </a:r>
            <a:r>
              <a:rPr sz="760" i="0">
                <a:solidFill>
                  <a:srgbClr val="E6EDF3"/>
                </a:solidFill>
                <a:latin typeface="Inconsolata"/>
              </a:rPr>
              <a:t>)</a:t>
            </a:r>
          </a:p>
          <a:p>
            <a:pPr>
              <a:lnSpc>
                <a:spcPct val="109601"/>
              </a:lnSpc>
              <a:spcAft>
                <a:spcPts val="0"/>
              </a:spcAft>
            </a:pPr>
            <a:r>
              <a:rPr sz="760" i="0">
                <a:solidFill>
                  <a:srgbClr val="5C6773"/>
                </a:solidFill>
                <a:latin typeface="Inconsolata"/>
              </a:rPr>
              <a:t>28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list_products</a:t>
            </a:r>
            <a:r>
              <a:rPr sz="760" i="0">
                <a:solidFill>
                  <a:srgbClr val="E6EDF3"/>
                </a:solidFill>
                <a:latin typeface="Inconsolata"/>
              </a:rPr>
              <a:t>():</a:t>
            </a:r>
          </a:p>
          <a:p>
            <a:pPr>
              <a:lnSpc>
                <a:spcPct val="109601"/>
              </a:lnSpc>
              <a:spcAft>
                <a:spcPts val="0"/>
              </a:spcAft>
            </a:pPr>
            <a:r>
              <a:rPr sz="760" i="0">
                <a:solidFill>
                  <a:srgbClr val="5C6773"/>
                </a:solidFill>
                <a:latin typeface="Inconsolata"/>
              </a:rPr>
              <a:t>29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a:t>
            </a:r>
            <a:r>
              <a:rPr sz="760" i="0">
                <a:solidFill>
                  <a:srgbClr val="A5D6A7"/>
                </a:solidFill>
                <a:latin typeface="Inconsolata"/>
              </a:rPr>
              <a:t>"id"</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"name"</a:t>
            </a:r>
            <a:r>
              <a:rPr sz="760" i="0">
                <a:solidFill>
                  <a:srgbClr val="E6EDF3"/>
                </a:solidFill>
                <a:latin typeface="Inconsolata"/>
              </a:rPr>
              <a:t>: </a:t>
            </a:r>
            <a:r>
              <a:rPr sz="760" i="0">
                <a:solidFill>
                  <a:srgbClr val="A5D6A7"/>
                </a:solidFill>
                <a:latin typeface="Inconsolata"/>
              </a:rPr>
              <a:t>"Keyboard"</a:t>
            </a:r>
            <a:r>
              <a:rPr sz="760" i="0">
                <a:solidFill>
                  <a:srgbClr val="E6EDF3"/>
                </a:solidFill>
                <a:latin typeface="Inconsolata"/>
              </a:rPr>
              <a:t>}]</a:t>
            </a:r>
          </a:p>
          <a:p>
            <a:pPr>
              <a:lnSpc>
                <a:spcPct val="109601"/>
              </a:lnSpc>
              <a:spcAft>
                <a:spcPts val="0"/>
              </a:spcAft>
            </a:pPr>
            <a:r>
              <a:rPr sz="760" i="0">
                <a:solidFill>
                  <a:srgbClr val="5C6773"/>
                </a:solidFill>
                <a:latin typeface="Inconsolata"/>
              </a:rPr>
              <a:t>30  </a:t>
            </a:r>
            <a:r>
              <a:rPr sz="760" i="0">
                <a:solidFill>
                  <a:srgbClr val="E6EDF3"/>
                </a:solidFill>
                <a:latin typeface="Inconsolata"/>
              </a:rPr>
              <a:t> </a:t>
            </a:r>
          </a:p>
          <a:p>
            <a:pPr>
              <a:lnSpc>
                <a:spcPct val="109601"/>
              </a:lnSpc>
              <a:spcAft>
                <a:spcPts val="0"/>
              </a:spcAft>
            </a:pPr>
            <a:r>
              <a:rPr sz="760" i="0">
                <a:solidFill>
                  <a:srgbClr val="5C6773"/>
                </a:solidFill>
                <a:latin typeface="Inconsolata"/>
              </a:rPr>
              <a:t>31  </a:t>
            </a:r>
            <a:r>
              <a:rPr sz="760" i="0">
                <a:solidFill>
                  <a:srgbClr val="E6EDF3"/>
                </a:solidFill>
                <a:latin typeface="Inconsolata"/>
              </a:rPr>
              <a:t> </a:t>
            </a:r>
          </a:p>
          <a:p>
            <a:pPr>
              <a:lnSpc>
                <a:spcPct val="109601"/>
              </a:lnSpc>
              <a:spcAft>
                <a:spcPts val="0"/>
              </a:spcAft>
            </a:pPr>
            <a:r>
              <a:rPr sz="760" i="0">
                <a:solidFill>
                  <a:srgbClr val="5C6773"/>
                </a:solidFill>
                <a:latin typeface="Inconsolata"/>
              </a:rPr>
              <a:t>32  </a:t>
            </a:r>
            <a:r>
              <a:rPr sz="760" i="0">
                <a:solidFill>
                  <a:srgbClr val="F9C97A"/>
                </a:solidFill>
                <a:latin typeface="Inconsolata"/>
              </a:rPr>
              <a:t>@app.get</a:t>
            </a:r>
            <a:r>
              <a:rPr sz="760" i="0">
                <a:solidFill>
                  <a:srgbClr val="E6EDF3"/>
                </a:solidFill>
                <a:latin typeface="Inconsolata"/>
              </a:rPr>
              <a:t>(</a:t>
            </a:r>
            <a:r>
              <a:rPr sz="760" i="0">
                <a:solidFill>
                  <a:srgbClr val="A5D6A7"/>
                </a:solidFill>
                <a:latin typeface="Inconsolata"/>
              </a:rPr>
              <a:t>"/orders"</a:t>
            </a:r>
            <a:r>
              <a:rPr sz="760" i="0">
                <a:solidFill>
                  <a:srgbClr val="E6EDF3"/>
                </a:solidFill>
                <a:latin typeface="Inconsolata"/>
              </a:rPr>
              <a:t>)</a:t>
            </a:r>
          </a:p>
          <a:p>
            <a:pPr>
              <a:lnSpc>
                <a:spcPct val="109601"/>
              </a:lnSpc>
              <a:spcAft>
                <a:spcPts val="0"/>
              </a:spcAft>
            </a:pPr>
            <a:r>
              <a:rPr sz="760" i="0">
                <a:solidFill>
                  <a:srgbClr val="5C6773"/>
                </a:solidFill>
                <a:latin typeface="Inconsolata"/>
              </a:rPr>
              <a:t>33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list_orders</a:t>
            </a:r>
            <a:r>
              <a:rPr sz="760" i="0">
                <a:solidFill>
                  <a:srgbClr val="E6EDF3"/>
                </a:solidFill>
                <a:latin typeface="Inconsolata"/>
              </a:rPr>
              <a:t>():</a:t>
            </a:r>
          </a:p>
          <a:p>
            <a:pPr>
              <a:lnSpc>
                <a:spcPct val="109601"/>
              </a:lnSpc>
              <a:spcAft>
                <a:spcPts val="0"/>
              </a:spcAft>
            </a:pPr>
            <a:r>
              <a:rPr sz="760" i="0">
                <a:solidFill>
                  <a:srgbClr val="5C6773"/>
                </a:solidFill>
                <a:latin typeface="Inconsolata"/>
              </a:rPr>
              <a:t>34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a:t>
            </a:r>
            <a:r>
              <a:rPr sz="760" i="0">
                <a:solidFill>
                  <a:srgbClr val="A5D6A7"/>
                </a:solidFill>
                <a:latin typeface="Inconsolata"/>
              </a:rPr>
              <a:t>"id"</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 </a:t>
            </a:r>
            <a:r>
              <a:rPr sz="760" i="0">
                <a:solidFill>
                  <a:srgbClr val="A5D6A7"/>
                </a:solidFill>
                <a:latin typeface="Inconsolata"/>
              </a:rPr>
              <a:t>"customer"</a:t>
            </a:r>
            <a:r>
              <a:rPr sz="760" i="0">
                <a:solidFill>
                  <a:srgbClr val="E6EDF3"/>
                </a:solidFill>
                <a:latin typeface="Inconsolata"/>
              </a:rPr>
              <a:t>: </a:t>
            </a:r>
            <a:r>
              <a:rPr sz="760" i="0">
                <a:solidFill>
                  <a:srgbClr val="A5D6A7"/>
                </a:solidFill>
                <a:latin typeface="Inconsolata"/>
              </a:rPr>
              <a:t>"budi@mail.com"</a:t>
            </a:r>
            <a:r>
              <a:rPr sz="760" i="0">
                <a:solidFill>
                  <a:srgbClr val="E6EDF3"/>
                </a:solidFill>
                <a:latin typeface="Inconsolata"/>
              </a:rPr>
              <a:t>}]</a:t>
            </a:r>
          </a:p>
          <a:p>
            <a:pPr>
              <a:lnSpc>
                <a:spcPct val="109601"/>
              </a:lnSpc>
              <a:spcAft>
                <a:spcPts val="0"/>
              </a:spcAft>
            </a:pPr>
            <a:r>
              <a:rPr sz="760" i="0">
                <a:solidFill>
                  <a:srgbClr val="5C6773"/>
                </a:solidFill>
                <a:latin typeface="Inconsolata"/>
              </a:rPr>
              <a:t>35  </a:t>
            </a:r>
            <a:r>
              <a:rPr sz="760" i="0">
                <a:solidFill>
                  <a:srgbClr val="E6EDF3"/>
                </a:solidFill>
                <a:latin typeface="Inconsolata"/>
              </a:rPr>
              <a:t> </a:t>
            </a:r>
          </a:p>
          <a:p>
            <a:pPr>
              <a:lnSpc>
                <a:spcPct val="109601"/>
              </a:lnSpc>
              <a:spcAft>
                <a:spcPts val="0"/>
              </a:spcAft>
            </a:pPr>
            <a:r>
              <a:rPr sz="760" i="0">
                <a:solidFill>
                  <a:srgbClr val="5C6773"/>
                </a:solidFill>
                <a:latin typeface="Inconsolata"/>
              </a:rPr>
              <a:t>36  </a:t>
            </a:r>
            <a:r>
              <a:rPr sz="760" i="0">
                <a:solidFill>
                  <a:srgbClr val="E6EDF3"/>
                </a:solidFill>
                <a:latin typeface="Inconsolata"/>
              </a:rPr>
              <a:t> </a:t>
            </a:r>
          </a:p>
          <a:p>
            <a:pPr>
              <a:lnSpc>
                <a:spcPct val="109601"/>
              </a:lnSpc>
              <a:spcAft>
                <a:spcPts val="0"/>
              </a:spcAft>
            </a:pPr>
            <a:r>
              <a:rPr sz="760" i="0">
                <a:solidFill>
                  <a:srgbClr val="5C6773"/>
                </a:solidFill>
                <a:latin typeface="Inconsolata"/>
              </a:rPr>
              <a:t>37  </a:t>
            </a:r>
            <a:r>
              <a:rPr sz="760" i="0">
                <a:solidFill>
                  <a:srgbClr val="F9C97A"/>
                </a:solidFill>
                <a:latin typeface="Inconsolata"/>
              </a:rPr>
              <a:t>@app.get</a:t>
            </a:r>
            <a:r>
              <a:rPr sz="760" i="0">
                <a:solidFill>
                  <a:srgbClr val="E6EDF3"/>
                </a:solidFill>
                <a:latin typeface="Inconsolata"/>
              </a:rPr>
              <a:t>(</a:t>
            </a:r>
            <a:r>
              <a:rPr sz="760" i="0">
                <a:solidFill>
                  <a:srgbClr val="A5D6A7"/>
                </a:solidFill>
                <a:latin typeface="Inconsolata"/>
              </a:rPr>
              <a:t>"/health"</a:t>
            </a:r>
            <a:r>
              <a:rPr sz="760" i="0">
                <a:solidFill>
                  <a:srgbClr val="E6EDF3"/>
                </a:solidFill>
                <a:latin typeface="Inconsolata"/>
              </a:rPr>
              <a:t>)</a:t>
            </a:r>
          </a:p>
          <a:p>
            <a:pPr>
              <a:lnSpc>
                <a:spcPct val="109601"/>
              </a:lnSpc>
              <a:spcAft>
                <a:spcPts val="0"/>
              </a:spcAft>
            </a:pPr>
            <a:r>
              <a:rPr sz="760" i="0">
                <a:solidFill>
                  <a:srgbClr val="5C6773"/>
                </a:solidFill>
                <a:latin typeface="Inconsolata"/>
              </a:rPr>
              <a:t>38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health</a:t>
            </a:r>
            <a:r>
              <a:rPr sz="760" i="0">
                <a:solidFill>
                  <a:srgbClr val="E6EDF3"/>
                </a:solidFill>
                <a:latin typeface="Inconsolata"/>
              </a:rPr>
              <a:t>():</a:t>
            </a:r>
          </a:p>
          <a:p>
            <a:pPr>
              <a:lnSpc>
                <a:spcPct val="109601"/>
              </a:lnSpc>
              <a:spcAft>
                <a:spcPts val="0"/>
              </a:spcAft>
            </a:pPr>
            <a:r>
              <a:rPr sz="760" i="0">
                <a:solidFill>
                  <a:srgbClr val="5C6773"/>
                </a:solidFill>
                <a:latin typeface="Inconsolata"/>
              </a:rPr>
              <a:t>39  </a:t>
            </a:r>
            <a:r>
              <a:rPr sz="760" i="0">
                <a:solidFill>
                  <a:srgbClr val="E6EDF3"/>
                </a:solidFill>
                <a:latin typeface="Inconsolata"/>
              </a:rPr>
              <a:t>    </a:t>
            </a:r>
            <a:r>
              <a:rPr sz="760" i="0">
                <a:solidFill>
                  <a:srgbClr val="FF8E6E"/>
                </a:solidFill>
                <a:latin typeface="Inconsolata"/>
              </a:rPr>
              <a:t>return</a:t>
            </a:r>
            <a:r>
              <a:rPr sz="760" i="0">
                <a:solidFill>
                  <a:srgbClr val="E6EDF3"/>
                </a:solidFill>
                <a:latin typeface="Inconsolata"/>
              </a:rPr>
              <a:t> {</a:t>
            </a:r>
            <a:r>
              <a:rPr sz="760" i="0">
                <a:solidFill>
                  <a:srgbClr val="A5D6A7"/>
                </a:solidFill>
                <a:latin typeface="Inconsolata"/>
              </a:rPr>
              <a:t>"status"</a:t>
            </a:r>
            <a:r>
              <a:rPr sz="760" i="0">
                <a:solidFill>
                  <a:srgbClr val="E6EDF3"/>
                </a:solidFill>
                <a:latin typeface="Inconsolata"/>
              </a:rPr>
              <a:t>: </a:t>
            </a:r>
            <a:r>
              <a:rPr sz="760" i="0">
                <a:solidFill>
                  <a:srgbClr val="A5D6A7"/>
                </a:solidFill>
                <a:latin typeface="Inconsolata"/>
              </a:rPr>
              <a:t>"ok"</a:t>
            </a:r>
            <a:r>
              <a:rPr sz="760" i="0">
                <a:solidFill>
                  <a:srgbClr val="E6EDF3"/>
                </a:solidFill>
                <a:latin typeface="Inconsolata"/>
              </a:rPr>
              <a:t>}</a:t>
            </a:r>
          </a:p>
        </p:txBody>
      </p:sp>
      <p:sp>
        <p:nvSpPr>
          <p:cNvPr id="36" name="Box 21"/>
          <p:cNvSpPr/>
          <p:nvPr/>
        </p:nvSpPr>
        <p:spPr>
          <a:xfrm>
            <a:off x="704088" y="2716022"/>
            <a:ext cx="3694176" cy="246380"/>
          </a:xfrm>
          <a:prstGeom prst="roundRect">
            <a:avLst>
              <a:gd name="adj" fmla="val 1855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720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097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037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704088" y="3351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4279392" y="3418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42" name="Box 27"/>
          <p:cNvSpPr/>
          <p:nvPr/>
        </p:nvSpPr>
        <p:spPr>
          <a:xfrm>
            <a:off x="4709159" y="3224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3" name="Box 28"/>
          <p:cNvSpPr/>
          <p:nvPr/>
        </p:nvSpPr>
        <p:spPr>
          <a:xfrm>
            <a:off x="8284463" y="3164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Middleware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04-middleware/after.py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sesi-04-modular-fastapi-orm-transactions/04-middleware</a:t>
            </a:r>
          </a:p>
          <a:p>
            <a:pPr>
              <a:lnSpc>
                <a:spcPct val="107527"/>
              </a:lnSpc>
              <a:spcAft>
                <a:spcPts val="0"/>
              </a:spcAft>
            </a:pPr>
            <a:r>
              <a:rPr sz="775" i="0">
                <a:solidFill>
                  <a:srgbClr val="82B1FF"/>
                </a:solidFill>
                <a:latin typeface="Inconsolata"/>
              </a:rPr>
              <a:t>$ uvicorn after:app --reload</a:t>
            </a:r>
          </a:p>
        </p:txBody>
      </p:sp>
      <p:pic>
        <p:nvPicPr>
          <p:cNvPr id="29" name="Image 12" descr="s04-04-middleware-after.png"/>
          <p:cNvPicPr>
            <a:picLocks noChangeAspect="1"/>
          </p:cNvPicPr>
          <p:nvPr/>
        </p:nvPicPr>
        <p:blipFill>
          <a:blip r:embed="rId2"/>
          <a:stretch>
            <a:fillRect/>
          </a:stretch>
        </p:blipFill>
        <p:spPr>
          <a:xfrm>
            <a:off x="621792" y="2240280"/>
            <a:ext cx="4297680" cy="1765814"/>
          </a:xfrm>
          <a:prstGeom prst="rect">
            <a:avLst/>
          </a:prstGeom>
        </p:spPr>
      </p:pic>
      <p:sp>
        <p:nvSpPr>
          <p:cNvPr id="30" name="Text 13"/>
          <p:cNvSpPr txBox="1"/>
          <p:nvPr/>
        </p:nvSpPr>
        <p:spPr>
          <a:xfrm>
            <a:off x="621792" y="4051814"/>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GET /health: header x-process-time muncul, terminal mencatat GET /health 200</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Satu middleware untuk semua request (baris 16-17)</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call_next(request)</a:t>
            </a:r>
            <a:r>
              <a:rPr sz="950" b="0" i="0">
                <a:solidFill>
                  <a:srgbClr val="434343"/>
                </a:solidFill>
                <a:latin typeface="Inter"/>
              </a:rPr>
              <a:t> meneruskan request ke route, hasilnya response (baris 19)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Header dan log ditambahkan setelah route selesai (baris 21-23)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Route tetap simple, </a:t>
            </a:r>
            <a:r>
              <a:rPr sz="950" b="0" i="0">
                <a:solidFill>
                  <a:srgbClr val="B5482A"/>
                </a:solidFill>
                <a:latin typeface="Inconsolata"/>
              </a:rPr>
              <a:t>/health</a:t>
            </a:r>
            <a:r>
              <a:rPr sz="950" b="0" i="0">
                <a:solidFill>
                  <a:srgbClr val="434343"/>
                </a:solidFill>
                <a:latin typeface="Inter"/>
              </a:rPr>
              <a:t> ikut tercatat (baris 38)</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Middleware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Cara Membaca Flow</a:t>
            </a:r>
          </a:p>
        </p:txBody>
      </p:sp>
      <p:sp>
        <p:nvSpPr>
          <p:cNvPr id="22" name="CodeTab 4"/>
          <p:cNvSpPr/>
          <p:nvPr/>
        </p:nvSpPr>
        <p:spPr>
          <a:xfrm>
            <a:off x="621792" y="1481328"/>
            <a:ext cx="49377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976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04-middleware/after.py</a:t>
            </a:r>
          </a:p>
        </p:txBody>
      </p:sp>
      <p:sp>
        <p:nvSpPr>
          <p:cNvPr id="27" name="CodeBg 10"/>
          <p:cNvSpPr/>
          <p:nvPr/>
        </p:nvSpPr>
        <p:spPr>
          <a:xfrm>
            <a:off x="621792" y="1719072"/>
            <a:ext cx="49377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937760" cy="2980944"/>
          </a:xfrm>
          <a:prstGeom prst="rect">
            <a:avLst/>
          </a:prstGeom>
          <a:noFill/>
        </p:spPr>
        <p:txBody>
          <a:bodyPr wrap="none" lIns="146304" tIns="91440" rIns="146304" bIns="54864">
            <a:spAutoFit/>
          </a:bodyPr>
          <a:lstStyle/>
          <a:p>
            <a:pPr>
              <a:lnSpc>
                <a:spcPct val="104167"/>
              </a:lnSpc>
              <a:spcAft>
                <a:spcPts val="0"/>
              </a:spcAft>
            </a:pPr>
            <a:r>
              <a:rPr sz="800" i="0">
                <a:solidFill>
                  <a:srgbClr val="F9C97A"/>
                </a:solidFill>
                <a:latin typeface="Inconsolata"/>
              </a:rPr>
              <a:t>@app.middleware</a:t>
            </a:r>
            <a:r>
              <a:rPr sz="800" i="0">
                <a:solidFill>
                  <a:srgbClr val="E6EDF3"/>
                </a:solidFill>
                <a:latin typeface="Inconsolata"/>
              </a:rPr>
              <a:t>(</a:t>
            </a:r>
            <a:r>
              <a:rPr sz="800" i="0">
                <a:solidFill>
                  <a:srgbClr val="A5D6A7"/>
                </a:solidFill>
                <a:latin typeface="Inconsolata"/>
              </a:rPr>
              <a:t>"http"</a:t>
            </a:r>
            <a:r>
              <a:rPr sz="800" i="0">
                <a:solidFill>
                  <a:srgbClr val="E6EDF3"/>
                </a:solidFill>
                <a:latin typeface="Inconsolata"/>
              </a:rPr>
              <a:t>)</a:t>
            </a:r>
          </a:p>
          <a:p>
            <a:pPr>
              <a:lnSpc>
                <a:spcPct val="104167"/>
              </a:lnSpc>
              <a:spcAft>
                <a:spcPts val="0"/>
              </a:spcAft>
            </a:pPr>
            <a:r>
              <a:rPr sz="800" i="0">
                <a:solidFill>
                  <a:srgbClr val="FF8E6E"/>
                </a:solidFill>
                <a:latin typeface="Inconsolata"/>
              </a:rPr>
              <a:t>async</a:t>
            </a:r>
            <a:r>
              <a:rPr sz="800" i="0">
                <a:solidFill>
                  <a:srgbClr val="E6EDF3"/>
                </a:solidFill>
                <a:latin typeface="Inconsolata"/>
              </a:rPr>
              <a:t>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log_requests</a:t>
            </a:r>
            <a:r>
              <a:rPr sz="800" i="0">
                <a:solidFill>
                  <a:srgbClr val="E6EDF3"/>
                </a:solidFill>
                <a:latin typeface="Inconsolata"/>
              </a:rPr>
              <a:t>(request: </a:t>
            </a:r>
            <a:r>
              <a:rPr sz="800" i="0">
                <a:solidFill>
                  <a:srgbClr val="7FDBCA"/>
                </a:solidFill>
                <a:latin typeface="Inconsolata"/>
              </a:rPr>
              <a:t>Request</a:t>
            </a:r>
            <a:r>
              <a:rPr sz="800" i="0">
                <a:solidFill>
                  <a:srgbClr val="E6EDF3"/>
                </a:solidFill>
                <a:latin typeface="Inconsolata"/>
              </a:rPr>
              <a:t>, call_next):</a:t>
            </a:r>
          </a:p>
          <a:p>
            <a:pPr>
              <a:lnSpc>
                <a:spcPct val="104167"/>
              </a:lnSpc>
              <a:spcAft>
                <a:spcPts val="0"/>
              </a:spcAft>
            </a:pPr>
            <a:r>
              <a:rPr sz="800" i="0">
                <a:solidFill>
                  <a:srgbClr val="E6EDF3"/>
                </a:solidFill>
                <a:latin typeface="Inconsolata"/>
              </a:rPr>
              <a:t>    start = time.perf_counter()</a:t>
            </a:r>
          </a:p>
          <a:p>
            <a:pPr>
              <a:lnSpc>
                <a:spcPct val="104167"/>
              </a:lnSpc>
              <a:spcAft>
                <a:spcPts val="0"/>
              </a:spcAft>
            </a:pPr>
            <a:r>
              <a:rPr sz="800" i="0">
                <a:solidFill>
                  <a:srgbClr val="E6EDF3"/>
                </a:solidFill>
                <a:latin typeface="Inconsolata"/>
              </a:rPr>
              <a:t>    response = </a:t>
            </a:r>
            <a:r>
              <a:rPr sz="800" i="0">
                <a:solidFill>
                  <a:srgbClr val="FF8E6E"/>
                </a:solidFill>
                <a:latin typeface="Inconsolata"/>
              </a:rPr>
              <a:t>await</a:t>
            </a:r>
            <a:r>
              <a:rPr sz="800" i="0">
                <a:solidFill>
                  <a:srgbClr val="E6EDF3"/>
                </a:solidFill>
                <a:latin typeface="Inconsolata"/>
              </a:rPr>
              <a:t> call_next(request)          </a:t>
            </a:r>
            <a:r>
              <a:rPr sz="800" i="1">
                <a:solidFill>
                  <a:srgbClr val="8B98A8"/>
                </a:solidFill>
                <a:latin typeface="Inconsolata"/>
              </a:rPr>
              <a:t># lanjut ke route</a:t>
            </a:r>
          </a:p>
          <a:p>
            <a:pPr>
              <a:lnSpc>
                <a:spcPct val="104167"/>
              </a:lnSpc>
              <a:spcAft>
                <a:spcPts val="0"/>
              </a:spcAft>
            </a:pPr>
            <a:r>
              <a:rPr sz="800" i="0">
                <a:solidFill>
                  <a:srgbClr val="E6EDF3"/>
                </a:solidFill>
                <a:latin typeface="Inconsolata"/>
              </a:rPr>
              <a:t>    ms = (time.perf_counter() - start) * </a:t>
            </a:r>
            <a:r>
              <a:rPr sz="800" i="0">
                <a:solidFill>
                  <a:srgbClr val="F9C97A"/>
                </a:solidFill>
                <a:latin typeface="Inconsolata"/>
              </a:rPr>
              <a:t>1000</a:t>
            </a:r>
          </a:p>
          <a:p>
            <a:pPr>
              <a:lnSpc>
                <a:spcPct val="104167"/>
              </a:lnSpc>
              <a:spcAft>
                <a:spcPts val="0"/>
              </a:spcAft>
            </a:pPr>
            <a:r>
              <a:rPr sz="800" i="0">
                <a:solidFill>
                  <a:srgbClr val="E6EDF3"/>
                </a:solidFill>
                <a:latin typeface="Inconsolata"/>
              </a:rPr>
              <a:t>    response.headers[</a:t>
            </a:r>
            <a:r>
              <a:rPr sz="800" i="0">
                <a:solidFill>
                  <a:srgbClr val="A5D6A7"/>
                </a:solidFill>
                <a:latin typeface="Inconsolata"/>
              </a:rPr>
              <a:t>"X-Process-Time"</a:t>
            </a:r>
            <a:r>
              <a:rPr sz="800" i="0">
                <a:solidFill>
                  <a:srgbClr val="E6EDF3"/>
                </a:solidFill>
                <a:latin typeface="Inconsolata"/>
              </a:rPr>
              <a:t>] = </a:t>
            </a:r>
            <a:r>
              <a:rPr sz="800" i="0">
                <a:solidFill>
                  <a:srgbClr val="A5D6A7"/>
                </a:solidFill>
                <a:latin typeface="Inconsolata"/>
              </a:rPr>
              <a:t>f"{ms:.1f}ms"</a:t>
            </a:r>
          </a:p>
          <a:p>
            <a:pPr>
              <a:lnSpc>
                <a:spcPct val="104167"/>
              </a:lnSpc>
              <a:spcAft>
                <a:spcPts val="0"/>
              </a:spcAft>
            </a:pPr>
            <a:r>
              <a:rPr sz="800" i="0">
                <a:solidFill>
                  <a:srgbClr val="E6EDF3"/>
                </a:solidFill>
                <a:latin typeface="Inconsolata"/>
              </a:rPr>
              <a:t>    path, status = request.url.path, response.status_code</a:t>
            </a:r>
          </a:p>
          <a:p>
            <a:pPr>
              <a:lnSpc>
                <a:spcPct val="104167"/>
              </a:lnSpc>
              <a:spcAft>
                <a:spcPts val="0"/>
              </a:spcAft>
            </a:pPr>
            <a:r>
              <a:rPr sz="800" i="0">
                <a:solidFill>
                  <a:srgbClr val="E6EDF3"/>
                </a:solidFill>
                <a:latin typeface="Inconsolata"/>
              </a:rPr>
              <a:t>    </a:t>
            </a:r>
            <a:r>
              <a:rPr sz="800" i="0">
                <a:solidFill>
                  <a:srgbClr val="C3A6FF"/>
                </a:solidFill>
                <a:latin typeface="Inconsolata"/>
              </a:rPr>
              <a:t>print</a:t>
            </a:r>
            <a:r>
              <a:rPr sz="800" i="0">
                <a:solidFill>
                  <a:srgbClr val="E6EDF3"/>
                </a:solidFill>
                <a:latin typeface="Inconsolata"/>
              </a:rPr>
              <a:t>(</a:t>
            </a:r>
            <a:r>
              <a:rPr sz="800" i="0">
                <a:solidFill>
                  <a:srgbClr val="A5D6A7"/>
                </a:solidFill>
                <a:latin typeface="Inconsolata"/>
              </a:rPr>
              <a:t>f"{request.method} {path} {status} {ms:.1f}ms"</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response</a:t>
            </a:r>
          </a:p>
          <a:p>
            <a:pPr>
              <a:lnSpc>
                <a:spcPct val="104167"/>
              </a:lnSpc>
              <a:spcAft>
                <a:spcPts val="0"/>
              </a:spcAft>
            </a:pPr>
            <a:r>
              <a:rPr sz="800" i="0">
                <a:solidFill>
                  <a:srgbClr val="E6EDF3"/>
                </a:solidFill>
                <a:latin typeface="Inconsolata"/>
              </a:rPr>
              <a:t>...</a:t>
            </a:r>
          </a:p>
          <a:p>
            <a:pPr>
              <a:lnSpc>
                <a:spcPct val="104167"/>
              </a:lnSpc>
              <a:spcAft>
                <a:spcPts val="0"/>
              </a:spcAft>
            </a:pPr>
            <a:r>
              <a:rPr sz="800" i="0">
                <a:solidFill>
                  <a:srgbClr val="F9C97A"/>
                </a:solidFill>
                <a:latin typeface="Inconsolata"/>
              </a:rPr>
              <a:t>@app.get</a:t>
            </a:r>
            <a:r>
              <a:rPr sz="800" i="0">
                <a:solidFill>
                  <a:srgbClr val="E6EDF3"/>
                </a:solidFill>
                <a:latin typeface="Inconsolata"/>
              </a:rPr>
              <a:t>(</a:t>
            </a:r>
            <a:r>
              <a:rPr sz="800" i="0">
                <a:solidFill>
                  <a:srgbClr val="A5D6A7"/>
                </a:solidFill>
                <a:latin typeface="Inconsolata"/>
              </a:rPr>
              <a:t>"/health"</a:t>
            </a:r>
            <a:r>
              <a:rPr sz="800" i="0">
                <a:solidFill>
                  <a:srgbClr val="E6EDF3"/>
                </a:solidFill>
                <a:latin typeface="Inconsolata"/>
              </a:rPr>
              <a:t>)</a:t>
            </a:r>
          </a:p>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health</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A5D6A7"/>
                </a:solidFill>
                <a:latin typeface="Inconsolata"/>
              </a:rPr>
              <a:t>"status"</a:t>
            </a:r>
            <a:r>
              <a:rPr sz="800" i="0">
                <a:solidFill>
                  <a:srgbClr val="E6EDF3"/>
                </a:solidFill>
                <a:latin typeface="Inconsolata"/>
              </a:rPr>
              <a:t>: </a:t>
            </a:r>
            <a:r>
              <a:rPr sz="800" i="0">
                <a:solidFill>
                  <a:srgbClr val="A5D6A7"/>
                </a:solidFill>
                <a:latin typeface="Inconsolata"/>
              </a:rPr>
              <a:t>"ok"</a:t>
            </a:r>
            <a:r>
              <a:rPr sz="800" i="0">
                <a:solidFill>
                  <a:srgbClr val="E6EDF3"/>
                </a:solidFill>
                <a:latin typeface="Inconsolata"/>
              </a:rPr>
              <a:t>}</a:t>
            </a:r>
          </a:p>
        </p:txBody>
      </p:sp>
      <p:sp>
        <p:nvSpPr>
          <p:cNvPr id="29" name="Box 12"/>
          <p:cNvSpPr/>
          <p:nvPr/>
        </p:nvSpPr>
        <p:spPr>
          <a:xfrm>
            <a:off x="704088" y="2081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58384" y="202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208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065776" y="2148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351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358384" y="329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2462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358384" y="2402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2716022"/>
            <a:ext cx="477316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358384" y="2656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574243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071616" y="1463040"/>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Request </a:t>
            </a:r>
            <a:r>
              <a:rPr sz="850" b="0" i="0">
                <a:solidFill>
                  <a:srgbClr val="B5482A"/>
                </a:solidFill>
                <a:latin typeface="Inconsolata"/>
              </a:rPr>
              <a:t>GET /health</a:t>
            </a:r>
            <a:r>
              <a:rPr sz="850" b="0" i="0">
                <a:solidFill>
                  <a:srgbClr val="434343"/>
                </a:solidFill>
                <a:latin typeface="Inter"/>
              </a:rPr>
              <a:t> masuk ke middleware dulu. Waktu mulai dicatat</a:t>
            </a:r>
          </a:p>
        </p:txBody>
      </p:sp>
      <p:sp>
        <p:nvSpPr>
          <p:cNvPr id="41" name="Box 24"/>
          <p:cNvSpPr/>
          <p:nvPr/>
        </p:nvSpPr>
        <p:spPr>
          <a:xfrm>
            <a:off x="574243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071616" y="2106777"/>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call_next</a:t>
            </a:r>
            <a:r>
              <a:rPr sz="850" b="0" i="0">
                <a:solidFill>
                  <a:srgbClr val="434343"/>
                </a:solidFill>
                <a:latin typeface="Inter"/>
              </a:rPr>
              <a:t> meneruskan request ke route</a:t>
            </a:r>
          </a:p>
        </p:txBody>
      </p:sp>
      <p:sp>
        <p:nvSpPr>
          <p:cNvPr id="43" name="Box 26"/>
          <p:cNvSpPr/>
          <p:nvPr/>
        </p:nvSpPr>
        <p:spPr>
          <a:xfrm>
            <a:off x="574243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071616" y="2750515"/>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Route </a:t>
            </a:r>
            <a:r>
              <a:rPr sz="850" b="0" i="0">
                <a:solidFill>
                  <a:srgbClr val="B5482A"/>
                </a:solidFill>
                <a:latin typeface="Inconsolata"/>
              </a:rPr>
              <a:t>health</a:t>
            </a:r>
            <a:r>
              <a:rPr sz="850" b="0" i="0">
                <a:solidFill>
                  <a:srgbClr val="434343"/>
                </a:solidFill>
                <a:latin typeface="Inter"/>
              </a:rPr>
              <a:t> jalan dan mengembalikan response</a:t>
            </a:r>
          </a:p>
        </p:txBody>
      </p:sp>
      <p:sp>
        <p:nvSpPr>
          <p:cNvPr id="45" name="Box 28"/>
          <p:cNvSpPr/>
          <p:nvPr/>
        </p:nvSpPr>
        <p:spPr>
          <a:xfrm>
            <a:off x="574243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071616" y="3394252"/>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Kembali ke middleware: hitung lama proses, tambahkan header</a:t>
            </a:r>
          </a:p>
        </p:txBody>
      </p:sp>
      <p:sp>
        <p:nvSpPr>
          <p:cNvPr id="47" name="Box 30"/>
          <p:cNvSpPr/>
          <p:nvPr/>
        </p:nvSpPr>
        <p:spPr>
          <a:xfrm>
            <a:off x="574243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071616" y="4037990"/>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Catat ke terminal, lalu response dikirim ke client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Exception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Exception Handler?</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Exception handler adalah</a:t>
            </a:r>
          </a:p>
          <a:p>
            <a:pPr algn="l">
              <a:lnSpc>
                <a:spcPct val="115000"/>
              </a:lnSpc>
              <a:spcAft>
                <a:spcPts val="400"/>
              </a:spcAft>
            </a:pPr>
            <a:r>
              <a:rPr sz="900" b="0" i="0">
                <a:solidFill>
                  <a:srgbClr val="434343"/>
                </a:solidFill>
                <a:latin typeface="Inter"/>
              </a:rPr>
              <a:t>Function yang dipanggil FastAPI saat ada </a:t>
            </a:r>
            <a:r>
              <a:rPr sz="900" b="1" i="0">
                <a:solidFill>
                  <a:srgbClr val="434343"/>
                </a:solidFill>
                <a:latin typeface="Inter"/>
              </a:rPr>
              <a:t>exception yang tidak ditangkap</a:t>
            </a:r>
            <a:r>
              <a:rPr sz="900" b="0" i="0">
                <a:solidFill>
                  <a:srgbClr val="434343"/>
                </a:solidFill>
                <a:latin typeface="Inter"/>
              </a:rPr>
              <a:t> oleh route. Didaftarkan dengan </a:t>
            </a:r>
            <a:r>
              <a:rPr sz="900" b="0" i="0">
                <a:solidFill>
                  <a:srgbClr val="B5482A"/>
                </a:solidFill>
                <a:latin typeface="Inconsolata"/>
              </a:rPr>
              <a:t>@app.exception_handler(...)</a:t>
            </a:r>
            <a:r>
              <a:rPr sz="900" b="0" i="0">
                <a:solidFill>
                  <a:srgbClr val="434343"/>
                </a:solidFill>
                <a:latin typeface="Inter"/>
              </a:rPr>
              <a:t>, fitur bawaan FastAPI. Sehingga satu handler bisa mengubah semua error sejenis menjadi </a:t>
            </a:r>
            <a:r>
              <a:rPr sz="900" b="1" i="0">
                <a:solidFill>
                  <a:srgbClr val="434343"/>
                </a:solidFill>
                <a:latin typeface="Inter"/>
              </a:rPr>
              <a:t>satu format</a:t>
            </a:r>
            <a:r>
              <a:rPr sz="900" b="0" i="0">
                <a:solidFill>
                  <a:srgbClr val="434343"/>
                </a:solidFill>
                <a:latin typeface="Inter"/>
              </a:rPr>
              <a:t> response.</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Menyeragamkan bentuk response error</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Menghilangkan try/except yang berulang di setiap route</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exception handler: 05-exception-handling/before.py</a:t>
            </a:r>
          </a:p>
        </p:txBody>
      </p:sp>
      <p:sp>
        <p:nvSpPr>
          <p:cNvPr id="28" name="CodeBg 11"/>
          <p:cNvSpPr/>
          <p:nvPr/>
        </p:nvSpPr>
        <p:spPr>
          <a:xfrm>
            <a:off x="4297680" y="1719072"/>
            <a:ext cx="4187951" cy="914400"/>
          </a:xfrm>
          <a:prstGeom prst="roundRect">
            <a:avLst>
              <a:gd name="adj" fmla="val 200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914400"/>
          </a:xfrm>
          <a:prstGeom prst="rect">
            <a:avLst/>
          </a:prstGeom>
          <a:noFill/>
        </p:spPr>
        <p:txBody>
          <a:bodyPr wrap="none" lIns="146304" tIns="91440" rIns="146304" bIns="54864">
            <a:spAutoFit/>
          </a:bodyPr>
          <a:lstStyle/>
          <a:p>
            <a:pPr>
              <a:lnSpc>
                <a:spcPct val="107527"/>
              </a:lnSpc>
              <a:spcAft>
                <a:spcPts val="0"/>
              </a:spcAft>
            </a:pPr>
            <a:r>
              <a:rPr sz="775" i="0">
                <a:solidFill>
                  <a:srgbClr val="F9C97A"/>
                </a:solidFill>
                <a:latin typeface="Inconsolata"/>
              </a:rPr>
              <a:t>@app.get</a:t>
            </a:r>
            <a:r>
              <a:rPr sz="775" i="0">
                <a:solidFill>
                  <a:srgbClr val="E6EDF3"/>
                </a:solidFill>
                <a:latin typeface="Inconsolata"/>
              </a:rPr>
              <a:t>(</a:t>
            </a:r>
            <a:r>
              <a:rPr sz="775" i="0">
                <a:solidFill>
                  <a:srgbClr val="A5D6A7"/>
                </a:solidFill>
                <a:latin typeface="Inconsolata"/>
              </a:rPr>
              <a:t>"/products/{product_id}"</a:t>
            </a:r>
            <a:r>
              <a:rPr sz="775" i="0">
                <a:solidFill>
                  <a:srgbClr val="E6EDF3"/>
                </a:solidFill>
                <a:latin typeface="Inconsolata"/>
              </a:rPr>
              <a:t>)</a:t>
            </a:r>
          </a:p>
          <a:p>
            <a:pPr>
              <a:lnSpc>
                <a:spcPct val="107527"/>
              </a:lnSpc>
              <a:spcAft>
                <a:spcPts val="0"/>
              </a:spcAft>
            </a:pP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get_product</a:t>
            </a:r>
            <a:r>
              <a:rPr sz="775" i="0">
                <a:solidFill>
                  <a:srgbClr val="E6EDF3"/>
                </a:solidFill>
                <a:latin typeface="Inconsolata"/>
              </a:rPr>
              <a:t>(product_id: </a:t>
            </a:r>
            <a:r>
              <a:rPr sz="775" i="0">
                <a:solidFill>
                  <a:srgbClr val="C3A6FF"/>
                </a:solidFill>
                <a:latin typeface="Inconsolata"/>
              </a:rPr>
              <a:t>int</a:t>
            </a:r>
            <a:r>
              <a:rPr sz="775" i="0">
                <a:solidFill>
                  <a:srgbClr val="E6EDF3"/>
                </a:solidFill>
                <a:latin typeface="Inconsolata"/>
              </a:rPr>
              <a:t>):</a:t>
            </a:r>
          </a:p>
          <a:p>
            <a:pPr>
              <a:lnSpc>
                <a:spcPct val="107527"/>
              </a:lnSpc>
              <a:spcAft>
                <a:spcPts val="0"/>
              </a:spcAft>
            </a:pPr>
            <a:r>
              <a:rPr sz="775" i="0">
                <a:solidFill>
                  <a:srgbClr val="E6EDF3"/>
                </a:solidFill>
                <a:latin typeface="Inconsolata"/>
              </a:rPr>
              <a:t>    </a:t>
            </a:r>
            <a:r>
              <a:rPr sz="775" i="0">
                <a:solidFill>
                  <a:srgbClr val="FF8E6E"/>
                </a:solidFill>
                <a:latin typeface="Inconsolata"/>
              </a:rPr>
              <a:t>try</a:t>
            </a:r>
            <a:r>
              <a:rPr sz="775" i="0">
                <a:solidFill>
                  <a:srgbClr val="E6EDF3"/>
                </a:solidFill>
                <a:latin typeface="Inconsolata"/>
              </a:rPr>
              <a:t>:</a:t>
            </a:r>
          </a:p>
          <a:p>
            <a:pPr>
              <a:lnSpc>
                <a:spcPct val="107527"/>
              </a:lnSpc>
              <a:spcAft>
                <a:spcPts val="0"/>
              </a:spcAft>
            </a:pPr>
            <a:r>
              <a:rPr sz="775" i="0">
                <a:solidFill>
                  <a:srgbClr val="E6EDF3"/>
                </a:solidFill>
                <a:latin typeface="Inconsolata"/>
              </a:rPr>
              <a:t>        </a:t>
            </a:r>
            <a:r>
              <a:rPr sz="775" i="0">
                <a:solidFill>
                  <a:srgbClr val="FF8E6E"/>
                </a:solidFill>
                <a:latin typeface="Inconsolata"/>
              </a:rPr>
              <a:t>return</a:t>
            </a:r>
            <a:r>
              <a:rPr sz="775" i="0">
                <a:solidFill>
                  <a:srgbClr val="E6EDF3"/>
                </a:solidFill>
                <a:latin typeface="Inconsolata"/>
              </a:rPr>
              <a:t> find_product(product_id)</a:t>
            </a:r>
          </a:p>
          <a:p>
            <a:pPr>
              <a:lnSpc>
                <a:spcPct val="107527"/>
              </a:lnSpc>
              <a:spcAft>
                <a:spcPts val="0"/>
              </a:spcAft>
            </a:pPr>
            <a:r>
              <a:rPr sz="775" i="0">
                <a:solidFill>
                  <a:srgbClr val="E6EDF3"/>
                </a:solidFill>
                <a:latin typeface="Inconsolata"/>
              </a:rPr>
              <a:t>    </a:t>
            </a:r>
            <a:r>
              <a:rPr sz="775" i="0">
                <a:solidFill>
                  <a:srgbClr val="FF8E6E"/>
                </a:solidFill>
                <a:latin typeface="Inconsolata"/>
              </a:rPr>
              <a:t>except</a:t>
            </a:r>
            <a:r>
              <a:rPr sz="775" i="0">
                <a:solidFill>
                  <a:srgbClr val="E6EDF3"/>
                </a:solidFill>
                <a:latin typeface="Inconsolata"/>
              </a:rPr>
              <a:t> </a:t>
            </a:r>
            <a:r>
              <a:rPr sz="775" i="0">
                <a:solidFill>
                  <a:srgbClr val="7FDBCA"/>
                </a:solidFill>
                <a:latin typeface="Inconsolata"/>
              </a:rPr>
              <a:t>ProductNotFound</a:t>
            </a:r>
            <a:r>
              <a:rPr sz="775" i="0">
                <a:solidFill>
                  <a:srgbClr val="E6EDF3"/>
                </a:solidFill>
                <a:latin typeface="Inconsolata"/>
              </a:rPr>
              <a:t>:</a:t>
            </a:r>
          </a:p>
          <a:p>
            <a:pPr>
              <a:lnSpc>
                <a:spcPct val="107527"/>
              </a:lnSpc>
              <a:spcAft>
                <a:spcPts val="0"/>
              </a:spcAft>
            </a:pPr>
            <a:r>
              <a:rPr sz="775" i="0">
                <a:solidFill>
                  <a:srgbClr val="E6EDF3"/>
                </a:solidFill>
                <a:latin typeface="Inconsolata"/>
              </a:rPr>
              <a:t>        </a:t>
            </a:r>
            <a:r>
              <a:rPr sz="775" i="0">
                <a:solidFill>
                  <a:srgbClr val="FF8E6E"/>
                </a:solidFill>
                <a:latin typeface="Inconsolata"/>
              </a:rPr>
              <a:t>raise</a:t>
            </a:r>
            <a:r>
              <a:rPr sz="775" i="0">
                <a:solidFill>
                  <a:srgbClr val="E6EDF3"/>
                </a:solidFill>
                <a:latin typeface="Inconsolata"/>
              </a:rPr>
              <a:t> </a:t>
            </a:r>
            <a:r>
              <a:rPr sz="775" i="0">
                <a:solidFill>
                  <a:srgbClr val="7FDBCA"/>
                </a:solidFill>
                <a:latin typeface="Inconsolata"/>
              </a:rPr>
              <a:t>HTTPException</a:t>
            </a:r>
            <a:r>
              <a:rPr sz="775" i="0">
                <a:solidFill>
                  <a:srgbClr val="E6EDF3"/>
                </a:solidFill>
                <a:latin typeface="Inconsolata"/>
              </a:rPr>
              <a:t>(</a:t>
            </a:r>
            <a:r>
              <a:rPr sz="775" i="0">
                <a:solidFill>
                  <a:srgbClr val="F9C97A"/>
                </a:solidFill>
                <a:latin typeface="Inconsolata"/>
              </a:rPr>
              <a:t>404</a:t>
            </a:r>
            <a:r>
              <a:rPr sz="775" i="0">
                <a:solidFill>
                  <a:srgbClr val="E6EDF3"/>
                </a:solidFill>
                <a:latin typeface="Inconsolata"/>
              </a:rPr>
              <a:t>, </a:t>
            </a:r>
            <a:r>
              <a:rPr sz="775" i="0">
                <a:solidFill>
                  <a:srgbClr val="A5D6A7"/>
                </a:solidFill>
                <a:latin typeface="Inconsolata"/>
              </a:rPr>
              <a:t>"Product not found"</a:t>
            </a:r>
            <a:r>
              <a:rPr sz="775" i="0">
                <a:solidFill>
                  <a:srgbClr val="E6EDF3"/>
                </a:solidFill>
                <a:latin typeface="Inconsolata"/>
              </a:rPr>
              <a:t>)</a:t>
            </a:r>
          </a:p>
        </p:txBody>
      </p:sp>
      <p:sp>
        <p:nvSpPr>
          <p:cNvPr id="30" name="Box 13"/>
          <p:cNvSpPr/>
          <p:nvPr/>
        </p:nvSpPr>
        <p:spPr>
          <a:xfrm>
            <a:off x="4379976" y="2081022"/>
            <a:ext cx="4023359" cy="500380"/>
          </a:xfrm>
          <a:prstGeom prst="roundRect">
            <a:avLst>
              <a:gd name="adj" fmla="val 913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72491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80263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80263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80263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73405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exception handler: 05-exception-handling/after.py</a:t>
            </a:r>
          </a:p>
        </p:txBody>
      </p:sp>
      <p:sp>
        <p:nvSpPr>
          <p:cNvPr id="36" name="CodeBg 21"/>
          <p:cNvSpPr/>
          <p:nvPr/>
        </p:nvSpPr>
        <p:spPr>
          <a:xfrm>
            <a:off x="4297680" y="2962656"/>
            <a:ext cx="4187951" cy="1234439"/>
          </a:xfrm>
          <a:prstGeom prst="roundRect">
            <a:avLst>
              <a:gd name="adj" fmla="val 148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962656"/>
            <a:ext cx="4187951" cy="1234439"/>
          </a:xfrm>
          <a:prstGeom prst="rect">
            <a:avLst/>
          </a:prstGeom>
          <a:noFill/>
        </p:spPr>
        <p:txBody>
          <a:bodyPr wrap="none" lIns="146304" tIns="91440" rIns="146304" bIns="54864">
            <a:spAutoFit/>
          </a:bodyPr>
          <a:lstStyle/>
          <a:p>
            <a:pPr>
              <a:lnSpc>
                <a:spcPct val="104167"/>
              </a:lnSpc>
              <a:spcAft>
                <a:spcPts val="0"/>
              </a:spcAft>
            </a:pPr>
            <a:r>
              <a:rPr sz="800" i="0">
                <a:solidFill>
                  <a:srgbClr val="F9C97A"/>
                </a:solidFill>
                <a:latin typeface="Inconsolata"/>
              </a:rPr>
              <a:t>@app.exception_handler</a:t>
            </a:r>
            <a:r>
              <a:rPr sz="800" i="0">
                <a:solidFill>
                  <a:srgbClr val="E6EDF3"/>
                </a:solidFill>
                <a:latin typeface="Inconsolata"/>
              </a:rPr>
              <a:t>(</a:t>
            </a:r>
            <a:r>
              <a:rPr sz="800" i="0">
                <a:solidFill>
                  <a:srgbClr val="7FDBCA"/>
                </a:solidFill>
                <a:latin typeface="Inconsolata"/>
              </a:rPr>
              <a:t>AppError</a:t>
            </a:r>
            <a:r>
              <a:rPr sz="800" i="0">
                <a:solidFill>
                  <a:srgbClr val="E6EDF3"/>
                </a:solidFill>
                <a:latin typeface="Inconsolata"/>
              </a:rPr>
              <a:t>)</a:t>
            </a:r>
          </a:p>
          <a:p>
            <a:pPr>
              <a:lnSpc>
                <a:spcPct val="104167"/>
              </a:lnSpc>
              <a:spcAft>
                <a:spcPts val="0"/>
              </a:spcAft>
            </a:pPr>
            <a:r>
              <a:rPr sz="800" i="0">
                <a:solidFill>
                  <a:srgbClr val="FF8E6E"/>
                </a:solidFill>
                <a:latin typeface="Inconsolata"/>
              </a:rPr>
              <a:t>async</a:t>
            </a:r>
            <a:r>
              <a:rPr sz="800" i="0">
                <a:solidFill>
                  <a:srgbClr val="E6EDF3"/>
                </a:solidFill>
                <a:latin typeface="Inconsolata"/>
              </a:rPr>
              <a:t>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handle_app_error</a:t>
            </a:r>
            <a:r>
              <a:rPr sz="800" i="0">
                <a:solidFill>
                  <a:srgbClr val="E6EDF3"/>
                </a:solidFill>
                <a:latin typeface="Inconsolata"/>
              </a:rPr>
              <a:t>(request: </a:t>
            </a:r>
            <a:r>
              <a:rPr sz="800" i="0">
                <a:solidFill>
                  <a:srgbClr val="7FDBCA"/>
                </a:solidFill>
                <a:latin typeface="Inconsolata"/>
              </a:rPr>
              <a:t>Request</a:t>
            </a:r>
            <a:r>
              <a:rPr sz="800" i="0">
                <a:solidFill>
                  <a:srgbClr val="E6EDF3"/>
                </a:solidFill>
                <a:latin typeface="Inconsolata"/>
              </a:rPr>
              <a:t>, exc: </a:t>
            </a:r>
            <a:r>
              <a:rPr sz="800" i="0">
                <a:solidFill>
                  <a:srgbClr val="7FDBCA"/>
                </a:solidFill>
                <a:latin typeface="Inconsolata"/>
              </a:rPr>
              <a:t>AppError</a:t>
            </a:r>
            <a:r>
              <a:rPr sz="800" i="0">
                <a:solidFill>
                  <a:srgbClr val="E6EDF3"/>
                </a:solidFill>
                <a:latin typeface="Inconsolata"/>
              </a:rPr>
              <a:t>):</a:t>
            </a:r>
          </a:p>
          <a:p>
            <a:pPr>
              <a:lnSpc>
                <a:spcPct val="104167"/>
              </a:lnSpc>
              <a:spcAft>
                <a:spcPts val="0"/>
              </a:spcAft>
            </a:pPr>
            <a:r>
              <a:rPr sz="800" i="0">
                <a:solidFill>
                  <a:srgbClr val="E6EDF3"/>
                </a:solidFill>
                <a:latin typeface="Inconsolata"/>
              </a:rPr>
              <a:t>    body = {</a:t>
            </a:r>
            <a:r>
              <a:rPr sz="800" i="0">
                <a:solidFill>
                  <a:srgbClr val="A5D6A7"/>
                </a:solidFill>
                <a:latin typeface="Inconsolata"/>
              </a:rPr>
              <a:t>"error"</a:t>
            </a:r>
            <a:r>
              <a:rPr sz="800" i="0">
                <a:solidFill>
                  <a:srgbClr val="E6EDF3"/>
                </a:solidFill>
                <a:latin typeface="Inconsolata"/>
              </a:rPr>
              <a:t>: {</a:t>
            </a:r>
            <a:r>
              <a:rPr sz="800" i="0">
                <a:solidFill>
                  <a:srgbClr val="A5D6A7"/>
                </a:solidFill>
                <a:latin typeface="Inconsolata"/>
              </a:rPr>
              <a:t>"code"</a:t>
            </a:r>
            <a:r>
              <a:rPr sz="800" i="0">
                <a:solidFill>
                  <a:srgbClr val="E6EDF3"/>
                </a:solidFill>
                <a:latin typeface="Inconsolata"/>
              </a:rPr>
              <a:t>: exc.code, </a:t>
            </a:r>
            <a:r>
              <a:rPr sz="800" i="0">
                <a:solidFill>
                  <a:srgbClr val="A5D6A7"/>
                </a:solidFill>
                <a:latin typeface="Inconsolata"/>
              </a:rPr>
              <a:t>"message"</a:t>
            </a:r>
            <a:r>
              <a:rPr sz="800" i="0">
                <a:solidFill>
                  <a:srgbClr val="E6EDF3"/>
                </a:solidFill>
                <a:latin typeface="Inconsolata"/>
              </a:rPr>
              <a:t>: exc.message}}</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7FDBCA"/>
                </a:solidFill>
                <a:latin typeface="Inconsolata"/>
              </a:rPr>
              <a:t>JSONResponse</a:t>
            </a:r>
            <a:r>
              <a:rPr sz="800" i="0">
                <a:solidFill>
                  <a:srgbClr val="E6EDF3"/>
                </a:solidFill>
                <a:latin typeface="Inconsolata"/>
              </a:rPr>
              <a:t>(body, status_code=exc.status_code)</a:t>
            </a:r>
          </a:p>
          <a:p>
            <a:pPr>
              <a:lnSpc>
                <a:spcPct val="104167"/>
              </a:lnSpc>
              <a:spcAft>
                <a:spcPts val="0"/>
              </a:spcAft>
            </a:pPr>
            <a:r>
              <a:rPr sz="800" i="0">
                <a:solidFill>
                  <a:srgbClr val="E6EDF3"/>
                </a:solidFill>
                <a:latin typeface="Inconsolata"/>
              </a:rPr>
              <a:t>...</a:t>
            </a:r>
          </a:p>
          <a:p>
            <a:pPr>
              <a:lnSpc>
                <a:spcPct val="104167"/>
              </a:lnSpc>
              <a:spcAft>
                <a:spcPts val="0"/>
              </a:spcAft>
            </a:pPr>
            <a:r>
              <a:rPr sz="800" i="0">
                <a:solidFill>
                  <a:srgbClr val="F9C97A"/>
                </a:solidFill>
                <a:latin typeface="Inconsolata"/>
              </a:rPr>
              <a:t>@app.get</a:t>
            </a:r>
            <a:r>
              <a:rPr sz="800" i="0">
                <a:solidFill>
                  <a:srgbClr val="E6EDF3"/>
                </a:solidFill>
                <a:latin typeface="Inconsolata"/>
              </a:rPr>
              <a:t>(</a:t>
            </a:r>
            <a:r>
              <a:rPr sz="800" i="0">
                <a:solidFill>
                  <a:srgbClr val="A5D6A7"/>
                </a:solidFill>
                <a:latin typeface="Inconsolata"/>
              </a:rPr>
              <a:t>"/products/{product_id}"</a:t>
            </a:r>
            <a:r>
              <a:rPr sz="800" i="0">
                <a:solidFill>
                  <a:srgbClr val="E6EDF3"/>
                </a:solidFill>
                <a:latin typeface="Inconsolata"/>
              </a:rPr>
              <a:t>)</a:t>
            </a:r>
          </a:p>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get_product</a:t>
            </a:r>
            <a:r>
              <a:rPr sz="800" i="0">
                <a:solidFill>
                  <a:srgbClr val="E6EDF3"/>
                </a:solidFill>
                <a:latin typeface="Inconsolata"/>
              </a:rPr>
              <a:t>(product_id: </a:t>
            </a:r>
            <a:r>
              <a:rPr sz="800" i="0">
                <a:solidFill>
                  <a:srgbClr val="C3A6FF"/>
                </a:solidFill>
                <a:latin typeface="Inconsolata"/>
              </a:rPr>
              <a:t>int</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find_product(product_id)</a:t>
            </a:r>
          </a:p>
        </p:txBody>
      </p:sp>
      <p:sp>
        <p:nvSpPr>
          <p:cNvPr id="38" name="Box 23"/>
          <p:cNvSpPr/>
          <p:nvPr/>
        </p:nvSpPr>
        <p:spPr>
          <a:xfrm>
            <a:off x="4379976" y="3070606"/>
            <a:ext cx="4023359"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959606"/>
            <a:ext cx="4023359"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Text 25"/>
          <p:cNvSpPr txBox="1"/>
          <p:nvPr/>
        </p:nvSpPr>
        <p:spPr>
          <a:xfrm>
            <a:off x="4297680" y="4288536"/>
            <a:ext cx="4187951" cy="502920"/>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code</a:t>
            </a:r>
            <a:r>
              <a:rPr sz="850" b="0" i="0">
                <a:solidFill>
                  <a:srgbClr val="7A7A7A"/>
                </a:solidFill>
                <a:latin typeface="Inter"/>
              </a:rPr>
              <a:t> (misalnya </a:t>
            </a:r>
            <a:r>
              <a:rPr sz="850" b="0" i="0">
                <a:solidFill>
                  <a:srgbClr val="B5482A"/>
                </a:solidFill>
                <a:latin typeface="Inconsolata"/>
              </a:rPr>
              <a:t>out_of_stock</a:t>
            </a:r>
            <a:r>
              <a:rPr sz="850" b="0" i="0">
                <a:solidFill>
                  <a:srgbClr val="7A7A7A"/>
                </a:solidFill>
                <a:latin typeface="Inter"/>
              </a:rPr>
              <a:t>) tidak berubah walaupun pesannya diganti, jadi aman dipakai frontend untuk menentukan tampilan.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Exception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Exception Handler?</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exception handler</a:t>
            </a:r>
          </a:p>
          <a:p>
            <a:pPr algn="l">
              <a:lnSpc>
                <a:spcPct val="115000"/>
              </a:lnSpc>
              <a:spcAft>
                <a:spcPts val="400"/>
              </a:spcAft>
            </a:pPr>
            <a:r>
              <a:rPr sz="950" b="0" i="0">
                <a:solidFill>
                  <a:srgbClr val="434343"/>
                </a:solidFill>
                <a:latin typeface="Inter"/>
              </a:rPr>
              <a:t>Setiap route menangkap error sendiri dengan try/except, lalu menulis bentuk response errornya sendiri.</a:t>
            </a:r>
          </a:p>
          <a:p>
            <a:pPr algn="l">
              <a:lnSpc>
                <a:spcPct val="115000"/>
              </a:lnSpc>
              <a:spcAft>
                <a:spcPts val="400"/>
              </a:spcAft>
            </a:pPr>
            <a:r>
              <a:rPr sz="1050" b="1" i="0">
                <a:solidFill>
                  <a:srgbClr val="1C4587"/>
                </a:solidFill>
                <a:latin typeface="Inter"/>
              </a:rPr>
              <a:t>Jika routenya makin banyak</a:t>
            </a:r>
          </a:p>
          <a:p>
            <a:pPr algn="l">
              <a:lnSpc>
                <a:spcPct val="115000"/>
              </a:lnSpc>
              <a:spcAft>
                <a:spcPts val="400"/>
              </a:spcAft>
            </a:pPr>
            <a:r>
              <a:rPr sz="950" b="0" i="0">
                <a:solidFill>
                  <a:srgbClr val="434343"/>
                </a:solidFill>
                <a:latin typeface="Inter"/>
              </a:rPr>
              <a:t>Format error jadi berbeda-beda, misalnya </a:t>
            </a:r>
            <a:r>
              <a:rPr sz="950" b="0" i="0">
                <a:solidFill>
                  <a:srgbClr val="B5482A"/>
                </a:solidFill>
                <a:latin typeface="Inconsolata"/>
              </a:rPr>
              <a:t>{"detail": ...}</a:t>
            </a:r>
            <a:r>
              <a:rPr sz="950" b="0" i="0">
                <a:solidFill>
                  <a:srgbClr val="434343"/>
                </a:solidFill>
                <a:latin typeface="Inter"/>
              </a:rPr>
              <a:t> di satu route dan </a:t>
            </a:r>
            <a:r>
              <a:rPr sz="950" b="0" i="0">
                <a:solidFill>
                  <a:srgbClr val="B5482A"/>
                </a:solidFill>
                <a:latin typeface="Inconsolata"/>
              </a:rPr>
              <a:t>{"msg": ..., "ok": false}</a:t>
            </a:r>
            <a:r>
              <a:rPr sz="950" b="0" i="0">
                <a:solidFill>
                  <a:srgbClr val="434343"/>
                </a:solidFill>
                <a:latin typeface="Inter"/>
              </a:rPr>
              <a:t> di route lain.</a:t>
            </a:r>
          </a:p>
          <a:p>
            <a:pPr algn="l">
              <a:lnSpc>
                <a:spcPct val="115000"/>
              </a:lnSpc>
              <a:spcAft>
                <a:spcPts val="400"/>
              </a:spcAft>
            </a:pPr>
            <a:r>
              <a:rPr sz="950" b="0" i="0">
                <a:solidFill>
                  <a:srgbClr val="434343"/>
                </a:solidFill>
                <a:latin typeface="Inter"/>
              </a:rPr>
              <a:t>Hal ini membuat frontend dan aplikasi mobile harus menangani banyak bentuk error.</a:t>
            </a:r>
          </a:p>
          <a:p>
            <a:pPr algn="l">
              <a:lnSpc>
                <a:spcPct val="115000"/>
              </a:lnSpc>
              <a:spcAft>
                <a:spcPts val="400"/>
              </a:spcAft>
            </a:pPr>
            <a:r>
              <a:rPr sz="1050" b="1" i="0">
                <a:solidFill>
                  <a:srgbClr val="1C4587"/>
                </a:solidFill>
                <a:latin typeface="Inter"/>
              </a:rPr>
              <a:t>Yang dipakai dari FastAPI: @app.exception_handler</a:t>
            </a:r>
          </a:p>
          <a:p>
            <a:pPr algn="l">
              <a:lnSpc>
                <a:spcPct val="115000"/>
              </a:lnSpc>
              <a:spcAft>
                <a:spcPts val="400"/>
              </a:spcAft>
            </a:pPr>
            <a:r>
              <a:rPr sz="950" b="0" i="0">
                <a:solidFill>
                  <a:srgbClr val="434343"/>
                </a:solidFill>
                <a:latin typeface="Inter"/>
              </a:rPr>
              <a:t>Handler didaftarkan untuk satu class exception. Semua exception turunan class itu otomatis ditangani oleh handler yang sama.</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2176272">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class AppError(Exception)</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Class dasar semua error aplikasi</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@app.exception_handler(AppError)</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Semua AppError ditangani di satu function</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raise OutOfStock(...)</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Response 409 dengan format yang sama</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Exception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Try/except di setiap route</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05-exception-handling/before.py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3474"/>
              </a:lnSpc>
              <a:spcAft>
                <a:spcPts val="0"/>
              </a:spcAft>
            </a:pPr>
            <a:r>
              <a:rPr sz="805" i="0">
                <a:solidFill>
                  <a:srgbClr val="5C6773"/>
                </a:solidFill>
                <a:latin typeface="Inconsolata"/>
              </a:rPr>
              <a:t>11  </a:t>
            </a:r>
            <a:r>
              <a:rPr sz="805" i="0">
                <a:solidFill>
                  <a:srgbClr val="FF8E6E"/>
                </a:solidFill>
                <a:latin typeface="Inconsolata"/>
              </a:rPr>
              <a:t>from</a:t>
            </a:r>
            <a:r>
              <a:rPr sz="805" i="0">
                <a:solidFill>
                  <a:srgbClr val="E6EDF3"/>
                </a:solidFill>
                <a:latin typeface="Inconsolata"/>
              </a:rPr>
              <a:t> fastapi </a:t>
            </a:r>
            <a:r>
              <a:rPr sz="805" i="0">
                <a:solidFill>
                  <a:srgbClr val="FF8E6E"/>
                </a:solidFill>
                <a:latin typeface="Inconsolata"/>
              </a:rPr>
              <a:t>import</a:t>
            </a:r>
            <a:r>
              <a:rPr sz="805" i="0">
                <a:solidFill>
                  <a:srgbClr val="E6EDF3"/>
                </a:solidFill>
                <a:latin typeface="Inconsolata"/>
              </a:rPr>
              <a:t> </a:t>
            </a:r>
            <a:r>
              <a:rPr sz="805" i="0">
                <a:solidFill>
                  <a:srgbClr val="7FDBCA"/>
                </a:solidFill>
                <a:latin typeface="Inconsolata"/>
              </a:rPr>
              <a:t>FastAPI</a:t>
            </a:r>
            <a:r>
              <a:rPr sz="805" i="0">
                <a:solidFill>
                  <a:srgbClr val="E6EDF3"/>
                </a:solidFill>
                <a:latin typeface="Inconsolata"/>
              </a:rPr>
              <a:t>, </a:t>
            </a:r>
            <a:r>
              <a:rPr sz="805" i="0">
                <a:solidFill>
                  <a:srgbClr val="7FDBCA"/>
                </a:solidFill>
                <a:latin typeface="Inconsolata"/>
              </a:rPr>
              <a:t>HTTPException</a:t>
            </a:r>
          </a:p>
          <a:p>
            <a:pPr>
              <a:lnSpc>
                <a:spcPct val="103474"/>
              </a:lnSpc>
              <a:spcAft>
                <a:spcPts val="0"/>
              </a:spcAft>
            </a:pPr>
            <a:r>
              <a:rPr sz="805" i="0">
                <a:solidFill>
                  <a:srgbClr val="5C6773"/>
                </a:solidFill>
                <a:latin typeface="Inconsolata"/>
              </a:rPr>
              <a:t>12  </a:t>
            </a:r>
            <a:r>
              <a:rPr sz="805" i="0">
                <a:solidFill>
                  <a:srgbClr val="FF8E6E"/>
                </a:solidFill>
                <a:latin typeface="Inconsolata"/>
              </a:rPr>
              <a:t>from</a:t>
            </a:r>
            <a:r>
              <a:rPr sz="805" i="0">
                <a:solidFill>
                  <a:srgbClr val="E6EDF3"/>
                </a:solidFill>
                <a:latin typeface="Inconsolata"/>
              </a:rPr>
              <a:t> fastapi.responses </a:t>
            </a:r>
            <a:r>
              <a:rPr sz="805" i="0">
                <a:solidFill>
                  <a:srgbClr val="FF8E6E"/>
                </a:solidFill>
                <a:latin typeface="Inconsolata"/>
              </a:rPr>
              <a:t>import</a:t>
            </a:r>
            <a:r>
              <a:rPr sz="805" i="0">
                <a:solidFill>
                  <a:srgbClr val="E6EDF3"/>
                </a:solidFill>
                <a:latin typeface="Inconsolata"/>
              </a:rPr>
              <a:t> </a:t>
            </a:r>
            <a:r>
              <a:rPr sz="805" i="0">
                <a:solidFill>
                  <a:srgbClr val="7FDBCA"/>
                </a:solidFill>
                <a:latin typeface="Inconsolata"/>
              </a:rPr>
              <a:t>JSONResponse</a:t>
            </a:r>
          </a:p>
          <a:p>
            <a:pPr>
              <a:lnSpc>
                <a:spcPct val="103474"/>
              </a:lnSpc>
              <a:spcAft>
                <a:spcPts val="0"/>
              </a:spcAft>
            </a:pPr>
            <a:r>
              <a:rPr sz="805" i="0">
                <a:solidFill>
                  <a:srgbClr val="5C6773"/>
                </a:solidFill>
                <a:latin typeface="Inconsolata"/>
              </a:rPr>
              <a:t>13  </a:t>
            </a:r>
            <a:r>
              <a:rPr sz="805" i="0">
                <a:solidFill>
                  <a:srgbClr val="E6EDF3"/>
                </a:solidFill>
                <a:latin typeface="Inconsolata"/>
              </a:rPr>
              <a:t> </a:t>
            </a:r>
          </a:p>
          <a:p>
            <a:pPr>
              <a:lnSpc>
                <a:spcPct val="103474"/>
              </a:lnSpc>
              <a:spcAft>
                <a:spcPts val="0"/>
              </a:spcAft>
            </a:pPr>
            <a:r>
              <a:rPr sz="805" i="0">
                <a:solidFill>
                  <a:srgbClr val="5C6773"/>
                </a:solidFill>
                <a:latin typeface="Inconsolata"/>
              </a:rPr>
              <a:t>14  </a:t>
            </a:r>
            <a:r>
              <a:rPr sz="805" i="0">
                <a:solidFill>
                  <a:srgbClr val="E6EDF3"/>
                </a:solidFill>
                <a:latin typeface="Inconsolata"/>
              </a:rPr>
              <a:t>app = </a:t>
            </a:r>
            <a:r>
              <a:rPr sz="805" i="0">
                <a:solidFill>
                  <a:srgbClr val="7FDBCA"/>
                </a:solidFill>
                <a:latin typeface="Inconsolata"/>
              </a:rPr>
              <a:t>FastAPI</a:t>
            </a:r>
            <a:r>
              <a:rPr sz="805" i="0">
                <a:solidFill>
                  <a:srgbClr val="E6EDF3"/>
                </a:solidFill>
                <a:latin typeface="Inconsolata"/>
              </a:rPr>
              <a:t>()</a:t>
            </a:r>
          </a:p>
          <a:p>
            <a:pPr>
              <a:lnSpc>
                <a:spcPct val="103474"/>
              </a:lnSpc>
              <a:spcAft>
                <a:spcPts val="0"/>
              </a:spcAft>
            </a:pPr>
            <a:r>
              <a:rPr sz="805" i="0">
                <a:solidFill>
                  <a:srgbClr val="5C6773"/>
                </a:solidFill>
                <a:latin typeface="Inconsolata"/>
              </a:rPr>
              <a:t>15  </a:t>
            </a:r>
            <a:r>
              <a:rPr sz="805" i="0">
                <a:solidFill>
                  <a:srgbClr val="7FDBCA"/>
                </a:solidFill>
                <a:latin typeface="Inconsolata"/>
              </a:rPr>
              <a:t>PRODUCTS</a:t>
            </a:r>
            <a:r>
              <a:rPr sz="805" i="0">
                <a:solidFill>
                  <a:srgbClr val="E6EDF3"/>
                </a:solidFill>
                <a:latin typeface="Inconsolata"/>
              </a:rPr>
              <a:t> = {</a:t>
            </a:r>
            <a:r>
              <a:rPr sz="805" i="0">
                <a:solidFill>
                  <a:srgbClr val="F9C97A"/>
                </a:solidFill>
                <a:latin typeface="Inconsolata"/>
              </a:rPr>
              <a:t>1</a:t>
            </a:r>
            <a:r>
              <a:rPr sz="805" i="0">
                <a:solidFill>
                  <a:srgbClr val="E6EDF3"/>
                </a:solidFill>
                <a:latin typeface="Inconsolata"/>
              </a:rPr>
              <a:t>: {</a:t>
            </a:r>
            <a:r>
              <a:rPr sz="805" i="0">
                <a:solidFill>
                  <a:srgbClr val="A5D6A7"/>
                </a:solidFill>
                <a:latin typeface="Inconsolata"/>
              </a:rPr>
              <a:t>"id"</a:t>
            </a:r>
            <a:r>
              <a:rPr sz="805" i="0">
                <a:solidFill>
                  <a:srgbClr val="E6EDF3"/>
                </a:solidFill>
                <a:latin typeface="Inconsolata"/>
              </a:rPr>
              <a:t>: </a:t>
            </a:r>
            <a:r>
              <a:rPr sz="805" i="0">
                <a:solidFill>
                  <a:srgbClr val="F9C97A"/>
                </a:solidFill>
                <a:latin typeface="Inconsolata"/>
              </a:rPr>
              <a:t>1</a:t>
            </a:r>
            <a:r>
              <a:rPr sz="805" i="0">
                <a:solidFill>
                  <a:srgbClr val="E6EDF3"/>
                </a:solidFill>
                <a:latin typeface="Inconsolata"/>
              </a:rPr>
              <a:t>, </a:t>
            </a:r>
            <a:r>
              <a:rPr sz="805" i="0">
                <a:solidFill>
                  <a:srgbClr val="A5D6A7"/>
                </a:solidFill>
                <a:latin typeface="Inconsolata"/>
              </a:rPr>
              <a:t>"name"</a:t>
            </a:r>
            <a:r>
              <a:rPr sz="805" i="0">
                <a:solidFill>
                  <a:srgbClr val="E6EDF3"/>
                </a:solidFill>
                <a:latin typeface="Inconsolata"/>
              </a:rPr>
              <a:t>: </a:t>
            </a:r>
            <a:r>
              <a:rPr sz="805" i="0">
                <a:solidFill>
                  <a:srgbClr val="A5D6A7"/>
                </a:solidFill>
                <a:latin typeface="Inconsolata"/>
              </a:rPr>
              <a:t>"Keyboard"</a:t>
            </a:r>
            <a:r>
              <a:rPr sz="805" i="0">
                <a:solidFill>
                  <a:srgbClr val="E6EDF3"/>
                </a:solidFill>
                <a:latin typeface="Inconsolata"/>
              </a:rPr>
              <a:t>, </a:t>
            </a:r>
            <a:r>
              <a:rPr sz="805" i="0">
                <a:solidFill>
                  <a:srgbClr val="A5D6A7"/>
                </a:solidFill>
                <a:latin typeface="Inconsolata"/>
              </a:rPr>
              <a:t>"stock"</a:t>
            </a:r>
            <a:r>
              <a:rPr sz="805" i="0">
                <a:solidFill>
                  <a:srgbClr val="E6EDF3"/>
                </a:solidFill>
                <a:latin typeface="Inconsolata"/>
              </a:rPr>
              <a:t>: </a:t>
            </a:r>
            <a:r>
              <a:rPr sz="805" i="0">
                <a:solidFill>
                  <a:srgbClr val="F9C97A"/>
                </a:solidFill>
                <a:latin typeface="Inconsolata"/>
              </a:rPr>
              <a:t>1</a:t>
            </a:r>
            <a:r>
              <a:rPr sz="805" i="0">
                <a:solidFill>
                  <a:srgbClr val="E6EDF3"/>
                </a:solidFill>
                <a:latin typeface="Inconsolata"/>
              </a:rPr>
              <a:t>}}</a:t>
            </a:r>
          </a:p>
          <a:p>
            <a:pPr>
              <a:lnSpc>
                <a:spcPct val="103474"/>
              </a:lnSpc>
              <a:spcAft>
                <a:spcPts val="0"/>
              </a:spcAft>
            </a:pPr>
            <a:r>
              <a:rPr sz="805" i="0">
                <a:solidFill>
                  <a:srgbClr val="5C6773"/>
                </a:solidFill>
                <a:latin typeface="Inconsolata"/>
              </a:rPr>
              <a:t>16  </a:t>
            </a:r>
            <a:r>
              <a:rPr sz="805" i="0">
                <a:solidFill>
                  <a:srgbClr val="E6EDF3"/>
                </a:solidFill>
                <a:latin typeface="Inconsolata"/>
              </a:rPr>
              <a:t> </a:t>
            </a:r>
          </a:p>
          <a:p>
            <a:pPr>
              <a:lnSpc>
                <a:spcPct val="103474"/>
              </a:lnSpc>
              <a:spcAft>
                <a:spcPts val="0"/>
              </a:spcAft>
            </a:pPr>
            <a:r>
              <a:rPr sz="805" i="0">
                <a:solidFill>
                  <a:srgbClr val="5C6773"/>
                </a:solidFill>
                <a:latin typeface="Inconsolata"/>
              </a:rPr>
              <a:t>17  </a:t>
            </a:r>
            <a:r>
              <a:rPr sz="805" i="0">
                <a:solidFill>
                  <a:srgbClr val="E6EDF3"/>
                </a:solidFill>
                <a:latin typeface="Inconsolata"/>
              </a:rPr>
              <a:t> </a:t>
            </a:r>
          </a:p>
          <a:p>
            <a:pPr>
              <a:lnSpc>
                <a:spcPct val="103474"/>
              </a:lnSpc>
              <a:spcAft>
                <a:spcPts val="0"/>
              </a:spcAft>
            </a:pPr>
            <a:r>
              <a:rPr sz="805" i="0">
                <a:solidFill>
                  <a:srgbClr val="5C6773"/>
                </a:solidFill>
                <a:latin typeface="Inconsolata"/>
              </a:rPr>
              <a:t>18  </a:t>
            </a:r>
            <a:r>
              <a:rPr sz="805" i="0">
                <a:solidFill>
                  <a:srgbClr val="FF8E6E"/>
                </a:solidFill>
                <a:latin typeface="Inconsolata"/>
              </a:rPr>
              <a:t>class</a:t>
            </a:r>
            <a:r>
              <a:rPr sz="805" i="0">
                <a:solidFill>
                  <a:srgbClr val="E6EDF3"/>
                </a:solidFill>
                <a:latin typeface="Inconsolata"/>
              </a:rPr>
              <a:t> </a:t>
            </a:r>
            <a:r>
              <a:rPr sz="805" i="0">
                <a:solidFill>
                  <a:srgbClr val="7FDBCA"/>
                </a:solidFill>
                <a:latin typeface="Inconsolata"/>
              </a:rPr>
              <a:t>ProductNotFound</a:t>
            </a:r>
            <a:r>
              <a:rPr sz="805" i="0">
                <a:solidFill>
                  <a:srgbClr val="E6EDF3"/>
                </a:solidFill>
                <a:latin typeface="Inconsolata"/>
              </a:rPr>
              <a:t>(</a:t>
            </a:r>
            <a:r>
              <a:rPr sz="805" i="0">
                <a:solidFill>
                  <a:srgbClr val="7FDBCA"/>
                </a:solidFill>
                <a:latin typeface="Inconsolata"/>
              </a:rPr>
              <a:t>Exception</a:t>
            </a:r>
            <a:r>
              <a:rPr sz="805" i="0">
                <a:solidFill>
                  <a:srgbClr val="E6EDF3"/>
                </a:solidFill>
                <a:latin typeface="Inconsolata"/>
              </a:rPr>
              <a:t>):</a:t>
            </a:r>
          </a:p>
          <a:p>
            <a:pPr>
              <a:lnSpc>
                <a:spcPct val="103474"/>
              </a:lnSpc>
              <a:spcAft>
                <a:spcPts val="0"/>
              </a:spcAft>
            </a:pPr>
            <a:r>
              <a:rPr sz="805" i="0">
                <a:solidFill>
                  <a:srgbClr val="5C6773"/>
                </a:solidFill>
                <a:latin typeface="Inconsolata"/>
              </a:rPr>
              <a:t>19  </a:t>
            </a:r>
            <a:r>
              <a:rPr sz="805" i="0">
                <a:solidFill>
                  <a:srgbClr val="E6EDF3"/>
                </a:solidFill>
                <a:latin typeface="Inconsolata"/>
              </a:rPr>
              <a:t>    </a:t>
            </a:r>
            <a:r>
              <a:rPr sz="805" i="0">
                <a:solidFill>
                  <a:srgbClr val="FF8E6E"/>
                </a:solidFill>
                <a:latin typeface="Inconsolata"/>
              </a:rPr>
              <a:t>pass</a:t>
            </a:r>
          </a:p>
          <a:p>
            <a:pPr>
              <a:lnSpc>
                <a:spcPct val="103474"/>
              </a:lnSpc>
              <a:spcAft>
                <a:spcPts val="0"/>
              </a:spcAft>
            </a:pPr>
            <a:r>
              <a:rPr sz="805" i="0">
                <a:solidFill>
                  <a:srgbClr val="5C6773"/>
                </a:solidFill>
                <a:latin typeface="Inconsolata"/>
              </a:rPr>
              <a:t>20  </a:t>
            </a:r>
            <a:r>
              <a:rPr sz="805" i="0">
                <a:solidFill>
                  <a:srgbClr val="E6EDF3"/>
                </a:solidFill>
                <a:latin typeface="Inconsolata"/>
              </a:rPr>
              <a:t> </a:t>
            </a:r>
          </a:p>
          <a:p>
            <a:pPr>
              <a:lnSpc>
                <a:spcPct val="103474"/>
              </a:lnSpc>
              <a:spcAft>
                <a:spcPts val="0"/>
              </a:spcAft>
            </a:pPr>
            <a:r>
              <a:rPr sz="805" i="0">
                <a:solidFill>
                  <a:srgbClr val="5C6773"/>
                </a:solidFill>
                <a:latin typeface="Inconsolata"/>
              </a:rPr>
              <a:t>21  </a:t>
            </a:r>
            <a:r>
              <a:rPr sz="805" i="0">
                <a:solidFill>
                  <a:srgbClr val="E6EDF3"/>
                </a:solidFill>
                <a:latin typeface="Inconsolata"/>
              </a:rPr>
              <a:t> </a:t>
            </a:r>
          </a:p>
          <a:p>
            <a:pPr>
              <a:lnSpc>
                <a:spcPct val="103474"/>
              </a:lnSpc>
              <a:spcAft>
                <a:spcPts val="0"/>
              </a:spcAft>
            </a:pPr>
            <a:r>
              <a:rPr sz="805" i="0">
                <a:solidFill>
                  <a:srgbClr val="5C6773"/>
                </a:solidFill>
                <a:latin typeface="Inconsolata"/>
              </a:rPr>
              <a:t>22  </a:t>
            </a:r>
            <a:r>
              <a:rPr sz="805" i="0">
                <a:solidFill>
                  <a:srgbClr val="FF8E6E"/>
                </a:solidFill>
                <a:latin typeface="Inconsolata"/>
              </a:rPr>
              <a:t>class</a:t>
            </a:r>
            <a:r>
              <a:rPr sz="805" i="0">
                <a:solidFill>
                  <a:srgbClr val="E6EDF3"/>
                </a:solidFill>
                <a:latin typeface="Inconsolata"/>
              </a:rPr>
              <a:t> </a:t>
            </a:r>
            <a:r>
              <a:rPr sz="805" i="0">
                <a:solidFill>
                  <a:srgbClr val="7FDBCA"/>
                </a:solidFill>
                <a:latin typeface="Inconsolata"/>
              </a:rPr>
              <a:t>OutOfStock</a:t>
            </a:r>
            <a:r>
              <a:rPr sz="805" i="0">
                <a:solidFill>
                  <a:srgbClr val="E6EDF3"/>
                </a:solidFill>
                <a:latin typeface="Inconsolata"/>
              </a:rPr>
              <a:t>(</a:t>
            </a:r>
            <a:r>
              <a:rPr sz="805" i="0">
                <a:solidFill>
                  <a:srgbClr val="7FDBCA"/>
                </a:solidFill>
                <a:latin typeface="Inconsolata"/>
              </a:rPr>
              <a:t>Exception</a:t>
            </a:r>
            <a:r>
              <a:rPr sz="805" i="0">
                <a:solidFill>
                  <a:srgbClr val="E6EDF3"/>
                </a:solidFill>
                <a:latin typeface="Inconsolata"/>
              </a:rPr>
              <a:t>):</a:t>
            </a:r>
          </a:p>
          <a:p>
            <a:pPr>
              <a:lnSpc>
                <a:spcPct val="103474"/>
              </a:lnSpc>
              <a:spcAft>
                <a:spcPts val="0"/>
              </a:spcAft>
            </a:pPr>
            <a:r>
              <a:rPr sz="805" i="0">
                <a:solidFill>
                  <a:srgbClr val="5C6773"/>
                </a:solidFill>
                <a:latin typeface="Inconsolata"/>
              </a:rPr>
              <a:t>23  </a:t>
            </a:r>
            <a:r>
              <a:rPr sz="805" i="0">
                <a:solidFill>
                  <a:srgbClr val="E6EDF3"/>
                </a:solidFill>
                <a:latin typeface="Inconsolata"/>
              </a:rPr>
              <a:t>    </a:t>
            </a:r>
            <a:r>
              <a:rPr sz="805" i="0">
                <a:solidFill>
                  <a:srgbClr val="FF8E6E"/>
                </a:solidFill>
                <a:latin typeface="Inconsolata"/>
              </a:rPr>
              <a:t>pass</a:t>
            </a:r>
          </a:p>
          <a:p>
            <a:pPr>
              <a:lnSpc>
                <a:spcPct val="103474"/>
              </a:lnSpc>
              <a:spcAft>
                <a:spcPts val="0"/>
              </a:spcAft>
            </a:pPr>
            <a:r>
              <a:rPr sz="805" i="0">
                <a:solidFill>
                  <a:srgbClr val="5C6773"/>
                </a:solidFill>
                <a:latin typeface="Inconsolata"/>
              </a:rPr>
              <a:t>24  </a:t>
            </a:r>
            <a:r>
              <a:rPr sz="805" i="0">
                <a:solidFill>
                  <a:srgbClr val="E6EDF3"/>
                </a:solidFill>
                <a:latin typeface="Inconsolata"/>
              </a:rPr>
              <a:t> </a:t>
            </a:r>
          </a:p>
          <a:p>
            <a:pPr>
              <a:lnSpc>
                <a:spcPct val="103474"/>
              </a:lnSpc>
              <a:spcAft>
                <a:spcPts val="0"/>
              </a:spcAft>
            </a:pPr>
            <a:r>
              <a:rPr sz="805" i="0">
                <a:solidFill>
                  <a:srgbClr val="5C6773"/>
                </a:solidFill>
                <a:latin typeface="Inconsolata"/>
              </a:rPr>
              <a:t>25  </a:t>
            </a:r>
            <a:r>
              <a:rPr sz="805" i="0">
                <a:solidFill>
                  <a:srgbClr val="E6EDF3"/>
                </a:solidFill>
                <a:latin typeface="Inconsolata"/>
              </a:rPr>
              <a:t> </a:t>
            </a:r>
          </a:p>
          <a:p>
            <a:pPr>
              <a:lnSpc>
                <a:spcPct val="103474"/>
              </a:lnSpc>
              <a:spcAft>
                <a:spcPts val="0"/>
              </a:spcAft>
            </a:pPr>
            <a:r>
              <a:rPr sz="805" i="0">
                <a:solidFill>
                  <a:srgbClr val="5C6773"/>
                </a:solidFill>
                <a:latin typeface="Inconsolata"/>
              </a:rPr>
              <a:t>26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find_product</a:t>
            </a:r>
            <a:r>
              <a:rPr sz="805" i="0">
                <a:solidFill>
                  <a:srgbClr val="E6EDF3"/>
                </a:solidFill>
                <a:latin typeface="Inconsolata"/>
              </a:rPr>
              <a:t>(product_id: </a:t>
            </a:r>
            <a:r>
              <a:rPr sz="805" i="0">
                <a:solidFill>
                  <a:srgbClr val="C3A6FF"/>
                </a:solidFill>
                <a:latin typeface="Inconsolata"/>
              </a:rPr>
              <a:t>int</a:t>
            </a:r>
            <a:r>
              <a:rPr sz="805" i="0">
                <a:solidFill>
                  <a:srgbClr val="E6EDF3"/>
                </a:solidFill>
                <a:latin typeface="Inconsolata"/>
              </a:rPr>
              <a:t>) -&gt; </a:t>
            </a:r>
            <a:r>
              <a:rPr sz="805" i="0">
                <a:solidFill>
                  <a:srgbClr val="C3A6FF"/>
                </a:solidFill>
                <a:latin typeface="Inconsolata"/>
              </a:rPr>
              <a:t>dict</a:t>
            </a:r>
            <a:r>
              <a:rPr sz="805" i="0">
                <a:solidFill>
                  <a:srgbClr val="E6EDF3"/>
                </a:solidFill>
                <a:latin typeface="Inconsolata"/>
              </a:rPr>
              <a:t>:</a:t>
            </a:r>
          </a:p>
          <a:p>
            <a:pPr>
              <a:lnSpc>
                <a:spcPct val="103474"/>
              </a:lnSpc>
              <a:spcAft>
                <a:spcPts val="0"/>
              </a:spcAft>
            </a:pPr>
            <a:r>
              <a:rPr sz="805" i="0">
                <a:solidFill>
                  <a:srgbClr val="5C6773"/>
                </a:solidFill>
                <a:latin typeface="Inconsolata"/>
              </a:rPr>
              <a:t>27  </a:t>
            </a:r>
            <a:r>
              <a:rPr sz="805" i="0">
                <a:solidFill>
                  <a:srgbClr val="E6EDF3"/>
                </a:solidFill>
                <a:latin typeface="Inconsolata"/>
              </a:rPr>
              <a:t>    </a:t>
            </a:r>
            <a:r>
              <a:rPr sz="805" i="0">
                <a:solidFill>
                  <a:srgbClr val="FF8E6E"/>
                </a:solidFill>
                <a:latin typeface="Inconsolata"/>
              </a:rPr>
              <a:t>if</a:t>
            </a:r>
            <a:r>
              <a:rPr sz="805" i="0">
                <a:solidFill>
                  <a:srgbClr val="E6EDF3"/>
                </a:solidFill>
                <a:latin typeface="Inconsolata"/>
              </a:rPr>
              <a:t> product_id </a:t>
            </a:r>
            <a:r>
              <a:rPr sz="805" i="0">
                <a:solidFill>
                  <a:srgbClr val="FF8E6E"/>
                </a:solidFill>
                <a:latin typeface="Inconsolata"/>
              </a:rPr>
              <a:t>not</a:t>
            </a:r>
            <a:r>
              <a:rPr sz="805" i="0">
                <a:solidFill>
                  <a:srgbClr val="E6EDF3"/>
                </a:solidFill>
                <a:latin typeface="Inconsolata"/>
              </a:rPr>
              <a:t> </a:t>
            </a:r>
            <a:r>
              <a:rPr sz="805" i="0">
                <a:solidFill>
                  <a:srgbClr val="FF8E6E"/>
                </a:solidFill>
                <a:latin typeface="Inconsolata"/>
              </a:rPr>
              <a:t>in</a:t>
            </a:r>
            <a:r>
              <a:rPr sz="805" i="0">
                <a:solidFill>
                  <a:srgbClr val="E6EDF3"/>
                </a:solidFill>
                <a:latin typeface="Inconsolata"/>
              </a:rPr>
              <a:t> </a:t>
            </a:r>
            <a:r>
              <a:rPr sz="805" i="0">
                <a:solidFill>
                  <a:srgbClr val="7FDBCA"/>
                </a:solidFill>
                <a:latin typeface="Inconsolata"/>
              </a:rPr>
              <a:t>PRODUCTS</a:t>
            </a:r>
            <a:r>
              <a:rPr sz="805" i="0">
                <a:solidFill>
                  <a:srgbClr val="E6EDF3"/>
                </a:solidFill>
                <a:latin typeface="Inconsolata"/>
              </a:rPr>
              <a:t>:</a:t>
            </a:r>
          </a:p>
          <a:p>
            <a:pPr>
              <a:lnSpc>
                <a:spcPct val="103474"/>
              </a:lnSpc>
              <a:spcAft>
                <a:spcPts val="0"/>
              </a:spcAft>
            </a:pPr>
            <a:r>
              <a:rPr sz="805" i="0">
                <a:solidFill>
                  <a:srgbClr val="5C6773"/>
                </a:solidFill>
                <a:latin typeface="Inconsolata"/>
              </a:rPr>
              <a:t>28  </a:t>
            </a:r>
            <a:r>
              <a:rPr sz="805" i="0">
                <a:solidFill>
                  <a:srgbClr val="E6EDF3"/>
                </a:solidFill>
                <a:latin typeface="Inconsolata"/>
              </a:rPr>
              <a:t>        </a:t>
            </a:r>
            <a:r>
              <a:rPr sz="805" i="0">
                <a:solidFill>
                  <a:srgbClr val="FF8E6E"/>
                </a:solidFill>
                <a:latin typeface="Inconsolata"/>
              </a:rPr>
              <a:t>raise</a:t>
            </a:r>
            <a:r>
              <a:rPr sz="805" i="0">
                <a:solidFill>
                  <a:srgbClr val="E6EDF3"/>
                </a:solidFill>
                <a:latin typeface="Inconsolata"/>
              </a:rPr>
              <a:t> </a:t>
            </a:r>
            <a:r>
              <a:rPr sz="805" i="0">
                <a:solidFill>
                  <a:srgbClr val="7FDBCA"/>
                </a:solidFill>
                <a:latin typeface="Inconsolata"/>
              </a:rPr>
              <a:t>ProductNotFound</a:t>
            </a:r>
            <a:r>
              <a:rPr sz="805" i="0">
                <a:solidFill>
                  <a:srgbClr val="E6EDF3"/>
                </a:solidFill>
                <a:latin typeface="Inconsolata"/>
              </a:rPr>
              <a:t>()</a:t>
            </a:r>
          </a:p>
          <a:p>
            <a:pPr>
              <a:lnSpc>
                <a:spcPct val="103474"/>
              </a:lnSpc>
              <a:spcAft>
                <a:spcPts val="0"/>
              </a:spcAft>
            </a:pPr>
            <a:r>
              <a:rPr sz="805" i="0">
                <a:solidFill>
                  <a:srgbClr val="5C6773"/>
                </a:solidFill>
                <a:latin typeface="Inconsolata"/>
              </a:rPr>
              <a:t>29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a:t>
            </a:r>
            <a:r>
              <a:rPr sz="805" i="0">
                <a:solidFill>
                  <a:srgbClr val="7FDBCA"/>
                </a:solidFill>
                <a:latin typeface="Inconsolata"/>
              </a:rPr>
              <a:t>PRODUCTS</a:t>
            </a:r>
            <a:r>
              <a:rPr sz="805" i="0">
                <a:solidFill>
                  <a:srgbClr val="E6EDF3"/>
                </a:solidFill>
                <a:latin typeface="Inconsolata"/>
              </a:rPr>
              <a:t>[product_id]</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05-exception-handling/before.py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3474"/>
              </a:lnSpc>
              <a:spcAft>
                <a:spcPts val="0"/>
              </a:spcAft>
            </a:pPr>
            <a:r>
              <a:rPr sz="805" i="0">
                <a:solidFill>
                  <a:srgbClr val="5C6773"/>
                </a:solidFill>
                <a:latin typeface="Inconsolata"/>
              </a:rPr>
              <a:t>32  </a:t>
            </a:r>
            <a:r>
              <a:rPr sz="805" i="0">
                <a:solidFill>
                  <a:srgbClr val="F9C97A"/>
                </a:solidFill>
                <a:latin typeface="Inconsolata"/>
              </a:rPr>
              <a:t>@app.get</a:t>
            </a:r>
            <a:r>
              <a:rPr sz="805" i="0">
                <a:solidFill>
                  <a:srgbClr val="E6EDF3"/>
                </a:solidFill>
                <a:latin typeface="Inconsolata"/>
              </a:rPr>
              <a:t>(</a:t>
            </a:r>
            <a:r>
              <a:rPr sz="805" i="0">
                <a:solidFill>
                  <a:srgbClr val="A5D6A7"/>
                </a:solidFill>
                <a:latin typeface="Inconsolata"/>
              </a:rPr>
              <a:t>"/products/{product_id}"</a:t>
            </a:r>
            <a:r>
              <a:rPr sz="805" i="0">
                <a:solidFill>
                  <a:srgbClr val="E6EDF3"/>
                </a:solidFill>
                <a:latin typeface="Inconsolata"/>
              </a:rPr>
              <a:t>)</a:t>
            </a:r>
          </a:p>
          <a:p>
            <a:pPr>
              <a:lnSpc>
                <a:spcPct val="103474"/>
              </a:lnSpc>
              <a:spcAft>
                <a:spcPts val="0"/>
              </a:spcAft>
            </a:pPr>
            <a:r>
              <a:rPr sz="805" i="0">
                <a:solidFill>
                  <a:srgbClr val="5C6773"/>
                </a:solidFill>
                <a:latin typeface="Inconsolata"/>
              </a:rPr>
              <a:t>33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get_product</a:t>
            </a:r>
            <a:r>
              <a:rPr sz="805" i="0">
                <a:solidFill>
                  <a:srgbClr val="E6EDF3"/>
                </a:solidFill>
                <a:latin typeface="Inconsolata"/>
              </a:rPr>
              <a:t>(product_id: </a:t>
            </a:r>
            <a:r>
              <a:rPr sz="805" i="0">
                <a:solidFill>
                  <a:srgbClr val="C3A6FF"/>
                </a:solidFill>
                <a:latin typeface="Inconsolata"/>
              </a:rPr>
              <a:t>int</a:t>
            </a:r>
            <a:r>
              <a:rPr sz="805" i="0">
                <a:solidFill>
                  <a:srgbClr val="E6EDF3"/>
                </a:solidFill>
                <a:latin typeface="Inconsolata"/>
              </a:rPr>
              <a:t>):</a:t>
            </a:r>
          </a:p>
          <a:p>
            <a:pPr>
              <a:lnSpc>
                <a:spcPct val="103474"/>
              </a:lnSpc>
              <a:spcAft>
                <a:spcPts val="0"/>
              </a:spcAft>
            </a:pPr>
            <a:r>
              <a:rPr sz="805" i="0">
                <a:solidFill>
                  <a:srgbClr val="5C6773"/>
                </a:solidFill>
                <a:latin typeface="Inconsolata"/>
              </a:rPr>
              <a:t>34  </a:t>
            </a:r>
            <a:r>
              <a:rPr sz="805" i="0">
                <a:solidFill>
                  <a:srgbClr val="E6EDF3"/>
                </a:solidFill>
                <a:latin typeface="Inconsolata"/>
              </a:rPr>
              <a:t>    </a:t>
            </a:r>
            <a:r>
              <a:rPr sz="805" i="0">
                <a:solidFill>
                  <a:srgbClr val="FF8E6E"/>
                </a:solidFill>
                <a:latin typeface="Inconsolata"/>
              </a:rPr>
              <a:t>try</a:t>
            </a:r>
            <a:r>
              <a:rPr sz="805" i="0">
                <a:solidFill>
                  <a:srgbClr val="E6EDF3"/>
                </a:solidFill>
                <a:latin typeface="Inconsolata"/>
              </a:rPr>
              <a:t>:</a:t>
            </a:r>
          </a:p>
          <a:p>
            <a:pPr>
              <a:lnSpc>
                <a:spcPct val="103474"/>
              </a:lnSpc>
              <a:spcAft>
                <a:spcPts val="0"/>
              </a:spcAft>
            </a:pPr>
            <a:r>
              <a:rPr sz="805" i="0">
                <a:solidFill>
                  <a:srgbClr val="5C6773"/>
                </a:solidFill>
                <a:latin typeface="Inconsolata"/>
              </a:rPr>
              <a:t>35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find_product(product_id)</a:t>
            </a:r>
          </a:p>
          <a:p>
            <a:pPr>
              <a:lnSpc>
                <a:spcPct val="103474"/>
              </a:lnSpc>
              <a:spcAft>
                <a:spcPts val="0"/>
              </a:spcAft>
            </a:pPr>
            <a:r>
              <a:rPr sz="805" i="0">
                <a:solidFill>
                  <a:srgbClr val="5C6773"/>
                </a:solidFill>
                <a:latin typeface="Inconsolata"/>
              </a:rPr>
              <a:t>36  </a:t>
            </a:r>
            <a:r>
              <a:rPr sz="805" i="0">
                <a:solidFill>
                  <a:srgbClr val="E6EDF3"/>
                </a:solidFill>
                <a:latin typeface="Inconsolata"/>
              </a:rPr>
              <a:t>    </a:t>
            </a:r>
            <a:r>
              <a:rPr sz="805" i="0">
                <a:solidFill>
                  <a:srgbClr val="FF8E6E"/>
                </a:solidFill>
                <a:latin typeface="Inconsolata"/>
              </a:rPr>
              <a:t>except</a:t>
            </a:r>
            <a:r>
              <a:rPr sz="805" i="0">
                <a:solidFill>
                  <a:srgbClr val="E6EDF3"/>
                </a:solidFill>
                <a:latin typeface="Inconsolata"/>
              </a:rPr>
              <a:t> </a:t>
            </a:r>
            <a:r>
              <a:rPr sz="805" i="0">
                <a:solidFill>
                  <a:srgbClr val="7FDBCA"/>
                </a:solidFill>
                <a:latin typeface="Inconsolata"/>
              </a:rPr>
              <a:t>ProductNotFound</a:t>
            </a:r>
            <a:r>
              <a:rPr sz="805" i="0">
                <a:solidFill>
                  <a:srgbClr val="E6EDF3"/>
                </a:solidFill>
                <a:latin typeface="Inconsolata"/>
              </a:rPr>
              <a:t>:</a:t>
            </a:r>
          </a:p>
          <a:p>
            <a:pPr>
              <a:lnSpc>
                <a:spcPct val="103474"/>
              </a:lnSpc>
              <a:spcAft>
                <a:spcPts val="0"/>
              </a:spcAft>
            </a:pPr>
            <a:r>
              <a:rPr sz="805" i="0">
                <a:solidFill>
                  <a:srgbClr val="5C6773"/>
                </a:solidFill>
                <a:latin typeface="Inconsolata"/>
              </a:rPr>
              <a:t>37  </a:t>
            </a:r>
            <a:r>
              <a:rPr sz="805" i="0">
                <a:solidFill>
                  <a:srgbClr val="E6EDF3"/>
                </a:solidFill>
                <a:latin typeface="Inconsolata"/>
              </a:rPr>
              <a:t>        </a:t>
            </a:r>
            <a:r>
              <a:rPr sz="805" i="0">
                <a:solidFill>
                  <a:srgbClr val="FF8E6E"/>
                </a:solidFill>
                <a:latin typeface="Inconsolata"/>
              </a:rPr>
              <a:t>raise</a:t>
            </a:r>
            <a:r>
              <a:rPr sz="805" i="0">
                <a:solidFill>
                  <a:srgbClr val="E6EDF3"/>
                </a:solidFill>
                <a:latin typeface="Inconsolata"/>
              </a:rPr>
              <a:t> </a:t>
            </a:r>
            <a:r>
              <a:rPr sz="805" i="0">
                <a:solidFill>
                  <a:srgbClr val="7FDBCA"/>
                </a:solidFill>
                <a:latin typeface="Inconsolata"/>
              </a:rPr>
              <a:t>HTTPException</a:t>
            </a:r>
            <a:r>
              <a:rPr sz="805" i="0">
                <a:solidFill>
                  <a:srgbClr val="E6EDF3"/>
                </a:solidFill>
                <a:latin typeface="Inconsolata"/>
              </a:rPr>
              <a:t>(</a:t>
            </a:r>
            <a:r>
              <a:rPr sz="805" i="0">
                <a:solidFill>
                  <a:srgbClr val="F9C97A"/>
                </a:solidFill>
                <a:latin typeface="Inconsolata"/>
              </a:rPr>
              <a:t>404</a:t>
            </a:r>
            <a:r>
              <a:rPr sz="805" i="0">
                <a:solidFill>
                  <a:srgbClr val="E6EDF3"/>
                </a:solidFill>
                <a:latin typeface="Inconsolata"/>
              </a:rPr>
              <a:t>, </a:t>
            </a:r>
            <a:r>
              <a:rPr sz="805" i="0">
                <a:solidFill>
                  <a:srgbClr val="A5D6A7"/>
                </a:solidFill>
                <a:latin typeface="Inconsolata"/>
              </a:rPr>
              <a:t>"Product not found"</a:t>
            </a:r>
            <a:r>
              <a:rPr sz="805" i="0">
                <a:solidFill>
                  <a:srgbClr val="E6EDF3"/>
                </a:solidFill>
                <a:latin typeface="Inconsolata"/>
              </a:rPr>
              <a:t>)</a:t>
            </a:r>
          </a:p>
          <a:p>
            <a:pPr>
              <a:lnSpc>
                <a:spcPct val="103474"/>
              </a:lnSpc>
              <a:spcAft>
                <a:spcPts val="0"/>
              </a:spcAft>
            </a:pPr>
            <a:r>
              <a:rPr sz="805" i="0">
                <a:solidFill>
                  <a:srgbClr val="5C6773"/>
                </a:solidFill>
                <a:latin typeface="Inconsolata"/>
              </a:rPr>
              <a:t>38  </a:t>
            </a:r>
            <a:r>
              <a:rPr sz="805" i="0">
                <a:solidFill>
                  <a:srgbClr val="E6EDF3"/>
                </a:solidFill>
                <a:latin typeface="Inconsolata"/>
              </a:rPr>
              <a:t> </a:t>
            </a:r>
          </a:p>
          <a:p>
            <a:pPr>
              <a:lnSpc>
                <a:spcPct val="103474"/>
              </a:lnSpc>
              <a:spcAft>
                <a:spcPts val="0"/>
              </a:spcAft>
            </a:pPr>
            <a:r>
              <a:rPr sz="805" i="0">
                <a:solidFill>
                  <a:srgbClr val="5C6773"/>
                </a:solidFill>
                <a:latin typeface="Inconsolata"/>
              </a:rPr>
              <a:t>39  </a:t>
            </a:r>
            <a:r>
              <a:rPr sz="805" i="0">
                <a:solidFill>
                  <a:srgbClr val="E6EDF3"/>
                </a:solidFill>
                <a:latin typeface="Inconsolata"/>
              </a:rPr>
              <a:t> </a:t>
            </a:r>
          </a:p>
          <a:p>
            <a:pPr>
              <a:lnSpc>
                <a:spcPct val="103474"/>
              </a:lnSpc>
              <a:spcAft>
                <a:spcPts val="0"/>
              </a:spcAft>
            </a:pPr>
            <a:r>
              <a:rPr sz="805" i="0">
                <a:solidFill>
                  <a:srgbClr val="5C6773"/>
                </a:solidFill>
                <a:latin typeface="Inconsolata"/>
              </a:rPr>
              <a:t>40  </a:t>
            </a:r>
            <a:r>
              <a:rPr sz="805" i="0">
                <a:solidFill>
                  <a:srgbClr val="F9C97A"/>
                </a:solidFill>
                <a:latin typeface="Inconsolata"/>
              </a:rPr>
              <a:t>@app.post</a:t>
            </a:r>
            <a:r>
              <a:rPr sz="805" i="0">
                <a:solidFill>
                  <a:srgbClr val="E6EDF3"/>
                </a:solidFill>
                <a:latin typeface="Inconsolata"/>
              </a:rPr>
              <a:t>(</a:t>
            </a:r>
            <a:r>
              <a:rPr sz="805" i="0">
                <a:solidFill>
                  <a:srgbClr val="A5D6A7"/>
                </a:solidFill>
                <a:latin typeface="Inconsolata"/>
              </a:rPr>
              <a:t>"/orders"</a:t>
            </a:r>
            <a:r>
              <a:rPr sz="805" i="0">
                <a:solidFill>
                  <a:srgbClr val="E6EDF3"/>
                </a:solidFill>
                <a:latin typeface="Inconsolata"/>
              </a:rPr>
              <a:t>, status_code=</a:t>
            </a:r>
            <a:r>
              <a:rPr sz="805" i="0">
                <a:solidFill>
                  <a:srgbClr val="F9C97A"/>
                </a:solidFill>
                <a:latin typeface="Inconsolata"/>
              </a:rPr>
              <a:t>201</a:t>
            </a:r>
            <a:r>
              <a:rPr sz="805" i="0">
                <a:solidFill>
                  <a:srgbClr val="E6EDF3"/>
                </a:solidFill>
                <a:latin typeface="Inconsolata"/>
              </a:rPr>
              <a:t>)</a:t>
            </a:r>
          </a:p>
          <a:p>
            <a:pPr>
              <a:lnSpc>
                <a:spcPct val="103474"/>
              </a:lnSpc>
              <a:spcAft>
                <a:spcPts val="0"/>
              </a:spcAft>
            </a:pPr>
            <a:r>
              <a:rPr sz="805" i="0">
                <a:solidFill>
                  <a:srgbClr val="5C6773"/>
                </a:solidFill>
                <a:latin typeface="Inconsolata"/>
              </a:rPr>
              <a:t>41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create_order</a:t>
            </a:r>
            <a:r>
              <a:rPr sz="805" i="0">
                <a:solidFill>
                  <a:srgbClr val="E6EDF3"/>
                </a:solidFill>
                <a:latin typeface="Inconsolata"/>
              </a:rPr>
              <a:t>(product_id: </a:t>
            </a:r>
            <a:r>
              <a:rPr sz="805" i="0">
                <a:solidFill>
                  <a:srgbClr val="C3A6FF"/>
                </a:solidFill>
                <a:latin typeface="Inconsolata"/>
              </a:rPr>
              <a:t>int</a:t>
            </a:r>
            <a:r>
              <a:rPr sz="805" i="0">
                <a:solidFill>
                  <a:srgbClr val="E6EDF3"/>
                </a:solidFill>
                <a:latin typeface="Inconsolata"/>
              </a:rPr>
              <a:t>, qty: </a:t>
            </a:r>
            <a:r>
              <a:rPr sz="805" i="0">
                <a:solidFill>
                  <a:srgbClr val="C3A6FF"/>
                </a:solidFill>
                <a:latin typeface="Inconsolata"/>
              </a:rPr>
              <a:t>int</a:t>
            </a:r>
            <a:r>
              <a:rPr sz="805" i="0">
                <a:solidFill>
                  <a:srgbClr val="E6EDF3"/>
                </a:solidFill>
                <a:latin typeface="Inconsolata"/>
              </a:rPr>
              <a:t>):</a:t>
            </a:r>
          </a:p>
          <a:p>
            <a:pPr>
              <a:lnSpc>
                <a:spcPct val="103474"/>
              </a:lnSpc>
              <a:spcAft>
                <a:spcPts val="0"/>
              </a:spcAft>
            </a:pPr>
            <a:r>
              <a:rPr sz="805" i="0">
                <a:solidFill>
                  <a:srgbClr val="5C6773"/>
                </a:solidFill>
                <a:latin typeface="Inconsolata"/>
              </a:rPr>
              <a:t>42  </a:t>
            </a:r>
            <a:r>
              <a:rPr sz="805" i="0">
                <a:solidFill>
                  <a:srgbClr val="E6EDF3"/>
                </a:solidFill>
                <a:latin typeface="Inconsolata"/>
              </a:rPr>
              <a:t>    </a:t>
            </a:r>
            <a:r>
              <a:rPr sz="805" i="0">
                <a:solidFill>
                  <a:srgbClr val="FF8E6E"/>
                </a:solidFill>
                <a:latin typeface="Inconsolata"/>
              </a:rPr>
              <a:t>try</a:t>
            </a:r>
            <a:r>
              <a:rPr sz="805" i="0">
                <a:solidFill>
                  <a:srgbClr val="E6EDF3"/>
                </a:solidFill>
                <a:latin typeface="Inconsolata"/>
              </a:rPr>
              <a:t>:</a:t>
            </a:r>
          </a:p>
          <a:p>
            <a:pPr>
              <a:lnSpc>
                <a:spcPct val="103474"/>
              </a:lnSpc>
              <a:spcAft>
                <a:spcPts val="0"/>
              </a:spcAft>
            </a:pPr>
            <a:r>
              <a:rPr sz="805" i="0">
                <a:solidFill>
                  <a:srgbClr val="5C6773"/>
                </a:solidFill>
                <a:latin typeface="Inconsolata"/>
              </a:rPr>
              <a:t>43  </a:t>
            </a:r>
            <a:r>
              <a:rPr sz="805" i="0">
                <a:solidFill>
                  <a:srgbClr val="E6EDF3"/>
                </a:solidFill>
                <a:latin typeface="Inconsolata"/>
              </a:rPr>
              <a:t>        product = find_product(product_id)</a:t>
            </a:r>
          </a:p>
          <a:p>
            <a:pPr>
              <a:lnSpc>
                <a:spcPct val="103474"/>
              </a:lnSpc>
              <a:spcAft>
                <a:spcPts val="0"/>
              </a:spcAft>
            </a:pPr>
            <a:r>
              <a:rPr sz="805" i="0">
                <a:solidFill>
                  <a:srgbClr val="5C6773"/>
                </a:solidFill>
                <a:latin typeface="Inconsolata"/>
              </a:rPr>
              <a:t>44  </a:t>
            </a:r>
            <a:r>
              <a:rPr sz="805" i="0">
                <a:solidFill>
                  <a:srgbClr val="E6EDF3"/>
                </a:solidFill>
                <a:latin typeface="Inconsolata"/>
              </a:rPr>
              <a:t>        </a:t>
            </a:r>
            <a:r>
              <a:rPr sz="805" i="0">
                <a:solidFill>
                  <a:srgbClr val="FF8E6E"/>
                </a:solidFill>
                <a:latin typeface="Inconsolata"/>
              </a:rPr>
              <a:t>if</a:t>
            </a:r>
            <a:r>
              <a:rPr sz="805" i="0">
                <a:solidFill>
                  <a:srgbClr val="E6EDF3"/>
                </a:solidFill>
                <a:latin typeface="Inconsolata"/>
              </a:rPr>
              <a:t> qty &gt; product[</a:t>
            </a:r>
            <a:r>
              <a:rPr sz="805" i="0">
                <a:solidFill>
                  <a:srgbClr val="A5D6A7"/>
                </a:solidFill>
                <a:latin typeface="Inconsolata"/>
              </a:rPr>
              <a:t>"stock"</a:t>
            </a:r>
            <a:r>
              <a:rPr sz="805" i="0">
                <a:solidFill>
                  <a:srgbClr val="E6EDF3"/>
                </a:solidFill>
                <a:latin typeface="Inconsolata"/>
              </a:rPr>
              <a:t>]:</a:t>
            </a:r>
          </a:p>
          <a:p>
            <a:pPr>
              <a:lnSpc>
                <a:spcPct val="103474"/>
              </a:lnSpc>
              <a:spcAft>
                <a:spcPts val="0"/>
              </a:spcAft>
            </a:pPr>
            <a:r>
              <a:rPr sz="805" i="0">
                <a:solidFill>
                  <a:srgbClr val="5C6773"/>
                </a:solidFill>
                <a:latin typeface="Inconsolata"/>
              </a:rPr>
              <a:t>45  </a:t>
            </a:r>
            <a:r>
              <a:rPr sz="805" i="0">
                <a:solidFill>
                  <a:srgbClr val="E6EDF3"/>
                </a:solidFill>
                <a:latin typeface="Inconsolata"/>
              </a:rPr>
              <a:t>            </a:t>
            </a:r>
            <a:r>
              <a:rPr sz="805" i="0">
                <a:solidFill>
                  <a:srgbClr val="FF8E6E"/>
                </a:solidFill>
                <a:latin typeface="Inconsolata"/>
              </a:rPr>
              <a:t>raise</a:t>
            </a:r>
            <a:r>
              <a:rPr sz="805" i="0">
                <a:solidFill>
                  <a:srgbClr val="E6EDF3"/>
                </a:solidFill>
                <a:latin typeface="Inconsolata"/>
              </a:rPr>
              <a:t> </a:t>
            </a:r>
            <a:r>
              <a:rPr sz="805" i="0">
                <a:solidFill>
                  <a:srgbClr val="7FDBCA"/>
                </a:solidFill>
                <a:latin typeface="Inconsolata"/>
              </a:rPr>
              <a:t>OutOfStock</a:t>
            </a:r>
            <a:r>
              <a:rPr sz="805" i="0">
                <a:solidFill>
                  <a:srgbClr val="E6EDF3"/>
                </a:solidFill>
                <a:latin typeface="Inconsolata"/>
              </a:rPr>
              <a:t>()</a:t>
            </a:r>
          </a:p>
          <a:p>
            <a:pPr>
              <a:lnSpc>
                <a:spcPct val="103474"/>
              </a:lnSpc>
              <a:spcAft>
                <a:spcPts val="0"/>
              </a:spcAft>
            </a:pPr>
            <a:r>
              <a:rPr sz="805" i="0">
                <a:solidFill>
                  <a:srgbClr val="5C6773"/>
                </a:solidFill>
                <a:latin typeface="Inconsolata"/>
              </a:rPr>
              <a:t>46  </a:t>
            </a:r>
            <a:r>
              <a:rPr sz="805" i="0">
                <a:solidFill>
                  <a:srgbClr val="E6EDF3"/>
                </a:solidFill>
                <a:latin typeface="Inconsolata"/>
              </a:rPr>
              <a:t>        product[</a:t>
            </a:r>
            <a:r>
              <a:rPr sz="805" i="0">
                <a:solidFill>
                  <a:srgbClr val="A5D6A7"/>
                </a:solidFill>
                <a:latin typeface="Inconsolata"/>
              </a:rPr>
              <a:t>"stock"</a:t>
            </a:r>
            <a:r>
              <a:rPr sz="805" i="0">
                <a:solidFill>
                  <a:srgbClr val="E6EDF3"/>
                </a:solidFill>
                <a:latin typeface="Inconsolata"/>
              </a:rPr>
              <a:t>] -= qty</a:t>
            </a:r>
          </a:p>
          <a:p>
            <a:pPr>
              <a:lnSpc>
                <a:spcPct val="103474"/>
              </a:lnSpc>
              <a:spcAft>
                <a:spcPts val="0"/>
              </a:spcAft>
            </a:pPr>
            <a:r>
              <a:rPr sz="805" i="0">
                <a:solidFill>
                  <a:srgbClr val="5C6773"/>
                </a:solidFill>
                <a:latin typeface="Inconsolata"/>
              </a:rPr>
              <a:t>47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a:t>
            </a:r>
            <a:r>
              <a:rPr sz="805" i="0">
                <a:solidFill>
                  <a:srgbClr val="A5D6A7"/>
                </a:solidFill>
                <a:latin typeface="Inconsolata"/>
              </a:rPr>
              <a:t>"product_id"</a:t>
            </a:r>
            <a:r>
              <a:rPr sz="805" i="0">
                <a:solidFill>
                  <a:srgbClr val="E6EDF3"/>
                </a:solidFill>
                <a:latin typeface="Inconsolata"/>
              </a:rPr>
              <a:t>: product_id, </a:t>
            </a:r>
            <a:r>
              <a:rPr sz="805" i="0">
                <a:solidFill>
                  <a:srgbClr val="A5D6A7"/>
                </a:solidFill>
                <a:latin typeface="Inconsolata"/>
              </a:rPr>
              <a:t>"qty"</a:t>
            </a:r>
            <a:r>
              <a:rPr sz="805" i="0">
                <a:solidFill>
                  <a:srgbClr val="E6EDF3"/>
                </a:solidFill>
                <a:latin typeface="Inconsolata"/>
              </a:rPr>
              <a:t>: qty}</a:t>
            </a:r>
          </a:p>
          <a:p>
            <a:pPr>
              <a:lnSpc>
                <a:spcPct val="103474"/>
              </a:lnSpc>
              <a:spcAft>
                <a:spcPts val="0"/>
              </a:spcAft>
            </a:pPr>
            <a:r>
              <a:rPr sz="805" i="0">
                <a:solidFill>
                  <a:srgbClr val="5C6773"/>
                </a:solidFill>
                <a:latin typeface="Inconsolata"/>
              </a:rPr>
              <a:t>48  </a:t>
            </a:r>
            <a:r>
              <a:rPr sz="805" i="0">
                <a:solidFill>
                  <a:srgbClr val="E6EDF3"/>
                </a:solidFill>
                <a:latin typeface="Inconsolata"/>
              </a:rPr>
              <a:t>    </a:t>
            </a:r>
            <a:r>
              <a:rPr sz="805" i="0">
                <a:solidFill>
                  <a:srgbClr val="FF8E6E"/>
                </a:solidFill>
                <a:latin typeface="Inconsolata"/>
              </a:rPr>
              <a:t>except</a:t>
            </a:r>
            <a:r>
              <a:rPr sz="805" i="0">
                <a:solidFill>
                  <a:srgbClr val="E6EDF3"/>
                </a:solidFill>
                <a:latin typeface="Inconsolata"/>
              </a:rPr>
              <a:t> </a:t>
            </a:r>
            <a:r>
              <a:rPr sz="805" i="0">
                <a:solidFill>
                  <a:srgbClr val="7FDBCA"/>
                </a:solidFill>
                <a:latin typeface="Inconsolata"/>
              </a:rPr>
              <a:t>ProductNotFound</a:t>
            </a:r>
            <a:r>
              <a:rPr sz="805" i="0">
                <a:solidFill>
                  <a:srgbClr val="E6EDF3"/>
                </a:solidFill>
                <a:latin typeface="Inconsolata"/>
              </a:rPr>
              <a:t>:</a:t>
            </a:r>
          </a:p>
          <a:p>
            <a:pPr>
              <a:lnSpc>
                <a:spcPct val="103474"/>
              </a:lnSpc>
              <a:spcAft>
                <a:spcPts val="0"/>
              </a:spcAft>
            </a:pPr>
            <a:r>
              <a:rPr sz="805" i="0">
                <a:solidFill>
                  <a:srgbClr val="5C6773"/>
                </a:solidFill>
                <a:latin typeface="Inconsolata"/>
              </a:rPr>
              <a:t>49  </a:t>
            </a:r>
            <a:r>
              <a:rPr sz="805" i="0">
                <a:solidFill>
                  <a:srgbClr val="E6EDF3"/>
                </a:solidFill>
                <a:latin typeface="Inconsolata"/>
              </a:rPr>
              <a:t>        </a:t>
            </a:r>
            <a:r>
              <a:rPr sz="805" i="0">
                <a:solidFill>
                  <a:srgbClr val="FF8E6E"/>
                </a:solidFill>
                <a:latin typeface="Inconsolata"/>
              </a:rPr>
              <a:t>raise</a:t>
            </a:r>
            <a:r>
              <a:rPr sz="805" i="0">
                <a:solidFill>
                  <a:srgbClr val="E6EDF3"/>
                </a:solidFill>
                <a:latin typeface="Inconsolata"/>
              </a:rPr>
              <a:t> </a:t>
            </a:r>
            <a:r>
              <a:rPr sz="805" i="0">
                <a:solidFill>
                  <a:srgbClr val="7FDBCA"/>
                </a:solidFill>
                <a:latin typeface="Inconsolata"/>
              </a:rPr>
              <a:t>HTTPException</a:t>
            </a:r>
            <a:r>
              <a:rPr sz="805" i="0">
                <a:solidFill>
                  <a:srgbClr val="E6EDF3"/>
                </a:solidFill>
                <a:latin typeface="Inconsolata"/>
              </a:rPr>
              <a:t>(</a:t>
            </a:r>
            <a:r>
              <a:rPr sz="805" i="0">
                <a:solidFill>
                  <a:srgbClr val="F9C97A"/>
                </a:solidFill>
                <a:latin typeface="Inconsolata"/>
              </a:rPr>
              <a:t>404</a:t>
            </a:r>
            <a:r>
              <a:rPr sz="805" i="0">
                <a:solidFill>
                  <a:srgbClr val="E6EDF3"/>
                </a:solidFill>
                <a:latin typeface="Inconsolata"/>
              </a:rPr>
              <a:t>, </a:t>
            </a:r>
            <a:r>
              <a:rPr sz="805" i="0">
                <a:solidFill>
                  <a:srgbClr val="A5D6A7"/>
                </a:solidFill>
                <a:latin typeface="Inconsolata"/>
              </a:rPr>
              <a:t>"produk tidak ada"</a:t>
            </a:r>
            <a:r>
              <a:rPr sz="805" i="0">
                <a:solidFill>
                  <a:srgbClr val="E6EDF3"/>
                </a:solidFill>
                <a:latin typeface="Inconsolata"/>
              </a:rPr>
              <a:t>)</a:t>
            </a:r>
          </a:p>
          <a:p>
            <a:pPr>
              <a:lnSpc>
                <a:spcPct val="103474"/>
              </a:lnSpc>
              <a:spcAft>
                <a:spcPts val="0"/>
              </a:spcAft>
            </a:pPr>
            <a:r>
              <a:rPr sz="805" i="0">
                <a:solidFill>
                  <a:srgbClr val="5C6773"/>
                </a:solidFill>
                <a:latin typeface="Inconsolata"/>
              </a:rPr>
              <a:t>50  </a:t>
            </a:r>
            <a:r>
              <a:rPr sz="805" i="0">
                <a:solidFill>
                  <a:srgbClr val="E6EDF3"/>
                </a:solidFill>
                <a:latin typeface="Inconsolata"/>
              </a:rPr>
              <a:t>    </a:t>
            </a:r>
            <a:r>
              <a:rPr sz="805" i="0">
                <a:solidFill>
                  <a:srgbClr val="FF8E6E"/>
                </a:solidFill>
                <a:latin typeface="Inconsolata"/>
              </a:rPr>
              <a:t>except</a:t>
            </a:r>
            <a:r>
              <a:rPr sz="805" i="0">
                <a:solidFill>
                  <a:srgbClr val="E6EDF3"/>
                </a:solidFill>
                <a:latin typeface="Inconsolata"/>
              </a:rPr>
              <a:t> </a:t>
            </a:r>
            <a:r>
              <a:rPr sz="805" i="0">
                <a:solidFill>
                  <a:srgbClr val="7FDBCA"/>
                </a:solidFill>
                <a:latin typeface="Inconsolata"/>
              </a:rPr>
              <a:t>OutOfStock</a:t>
            </a:r>
            <a:r>
              <a:rPr sz="805" i="0">
                <a:solidFill>
                  <a:srgbClr val="E6EDF3"/>
                </a:solidFill>
                <a:latin typeface="Inconsolata"/>
              </a:rPr>
              <a:t>:</a:t>
            </a:r>
          </a:p>
          <a:p>
            <a:pPr>
              <a:lnSpc>
                <a:spcPct val="103474"/>
              </a:lnSpc>
              <a:spcAft>
                <a:spcPts val="0"/>
              </a:spcAft>
            </a:pPr>
            <a:r>
              <a:rPr sz="805" i="0">
                <a:solidFill>
                  <a:srgbClr val="5C6773"/>
                </a:solidFill>
                <a:latin typeface="Inconsolata"/>
              </a:rPr>
              <a:t>51  </a:t>
            </a:r>
            <a:r>
              <a:rPr sz="805" i="0">
                <a:solidFill>
                  <a:srgbClr val="E6EDF3"/>
                </a:solidFill>
                <a:latin typeface="Inconsolata"/>
              </a:rPr>
              <a:t>        body = {</a:t>
            </a:r>
            <a:r>
              <a:rPr sz="805" i="0">
                <a:solidFill>
                  <a:srgbClr val="A5D6A7"/>
                </a:solidFill>
                <a:latin typeface="Inconsolata"/>
              </a:rPr>
              <a:t>"msg"</a:t>
            </a:r>
            <a:r>
              <a:rPr sz="805" i="0">
                <a:solidFill>
                  <a:srgbClr val="E6EDF3"/>
                </a:solidFill>
                <a:latin typeface="Inconsolata"/>
              </a:rPr>
              <a:t>: </a:t>
            </a:r>
            <a:r>
              <a:rPr sz="805" i="0">
                <a:solidFill>
                  <a:srgbClr val="A5D6A7"/>
                </a:solidFill>
                <a:latin typeface="Inconsolata"/>
              </a:rPr>
              <a:t>"stok habis"</a:t>
            </a:r>
            <a:r>
              <a:rPr sz="805" i="0">
                <a:solidFill>
                  <a:srgbClr val="E6EDF3"/>
                </a:solidFill>
                <a:latin typeface="Inconsolata"/>
              </a:rPr>
              <a:t>, </a:t>
            </a:r>
            <a:r>
              <a:rPr sz="805" i="0">
                <a:solidFill>
                  <a:srgbClr val="A5D6A7"/>
                </a:solidFill>
                <a:latin typeface="Inconsolata"/>
              </a:rPr>
              <a:t>"ok"</a:t>
            </a:r>
            <a:r>
              <a:rPr sz="805" i="0">
                <a:solidFill>
                  <a:srgbClr val="E6EDF3"/>
                </a:solidFill>
                <a:latin typeface="Inconsolata"/>
              </a:rPr>
              <a:t>: </a:t>
            </a:r>
            <a:r>
              <a:rPr sz="805" i="0">
                <a:solidFill>
                  <a:srgbClr val="FF8E6E"/>
                </a:solidFill>
                <a:latin typeface="Inconsolata"/>
              </a:rPr>
              <a:t>False</a:t>
            </a:r>
            <a:r>
              <a:rPr sz="805" i="0">
                <a:solidFill>
                  <a:srgbClr val="E6EDF3"/>
                </a:solidFill>
                <a:latin typeface="Inconsolata"/>
              </a:rPr>
              <a:t>}</a:t>
            </a:r>
          </a:p>
          <a:p>
            <a:pPr>
              <a:lnSpc>
                <a:spcPct val="103474"/>
              </a:lnSpc>
              <a:spcAft>
                <a:spcPts val="0"/>
              </a:spcAft>
            </a:pPr>
            <a:r>
              <a:rPr sz="805" i="0">
                <a:solidFill>
                  <a:srgbClr val="5C6773"/>
                </a:solidFill>
                <a:latin typeface="Inconsolata"/>
              </a:rPr>
              <a:t>52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a:t>
            </a:r>
            <a:r>
              <a:rPr sz="805" i="0">
                <a:solidFill>
                  <a:srgbClr val="7FDBCA"/>
                </a:solidFill>
                <a:latin typeface="Inconsolata"/>
              </a:rPr>
              <a:t>JSONResponse</a:t>
            </a:r>
            <a:r>
              <a:rPr sz="805" i="0">
                <a:solidFill>
                  <a:srgbClr val="E6EDF3"/>
                </a:solidFill>
                <a:latin typeface="Inconsolata"/>
              </a:rPr>
              <a:t>(body, status_code=</a:t>
            </a:r>
            <a:r>
              <a:rPr sz="805" i="0">
                <a:solidFill>
                  <a:srgbClr val="F9C97A"/>
                </a:solidFill>
                <a:latin typeface="Inconsolata"/>
              </a:rPr>
              <a:t>400</a:t>
            </a:r>
            <a:r>
              <a:rPr sz="805" i="0">
                <a:solidFill>
                  <a:srgbClr val="E6EDF3"/>
                </a:solidFill>
                <a:latin typeface="Inconsolata"/>
              </a:rPr>
              <a:t>)</a:t>
            </a:r>
          </a:p>
        </p:txBody>
      </p:sp>
      <p:sp>
        <p:nvSpPr>
          <p:cNvPr id="36" name="Box 21"/>
          <p:cNvSpPr/>
          <p:nvPr/>
        </p:nvSpPr>
        <p:spPr>
          <a:xfrm>
            <a:off x="4709159" y="2081022"/>
            <a:ext cx="3694176" cy="500380"/>
          </a:xfrm>
          <a:prstGeom prst="roundRect">
            <a:avLst>
              <a:gd name="adj" fmla="val 913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212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3986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3926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4240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4244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Exception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05-exception-handling/before.py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sesi-04-modular-fastapi-orm-transactions/05-exception-handling</a:t>
            </a:r>
          </a:p>
          <a:p>
            <a:pPr>
              <a:lnSpc>
                <a:spcPct val="107527"/>
              </a:lnSpc>
              <a:spcAft>
                <a:spcPts val="0"/>
              </a:spcAft>
            </a:pPr>
            <a:r>
              <a:rPr sz="775" i="0">
                <a:solidFill>
                  <a:srgbClr val="82B1FF"/>
                </a:solidFill>
                <a:latin typeface="Inconsolata"/>
              </a:rPr>
              <a:t>$ uvicorn before:app --reload</a:t>
            </a:r>
          </a:p>
        </p:txBody>
      </p:sp>
      <p:pic>
        <p:nvPicPr>
          <p:cNvPr id="29" name="Image 12" descr="s04-05-exception-handling-before.png"/>
          <p:cNvPicPr>
            <a:picLocks noChangeAspect="1"/>
          </p:cNvPicPr>
          <p:nvPr/>
        </p:nvPicPr>
        <p:blipFill>
          <a:blip r:embed="rId2"/>
          <a:stretch>
            <a:fillRect/>
          </a:stretch>
        </p:blipFill>
        <p:spPr>
          <a:xfrm>
            <a:off x="621792" y="2240280"/>
            <a:ext cx="4297680" cy="2285171"/>
          </a:xfrm>
          <a:prstGeom prst="rect">
            <a:avLst/>
          </a:prstGeom>
        </p:spPr>
      </p:pic>
      <p:sp>
        <p:nvSpPr>
          <p:cNvPr id="30" name="Text 13"/>
          <p:cNvSpPr txBox="1"/>
          <p:nvPr/>
        </p:nvSpPr>
        <p:spPr>
          <a:xfrm>
            <a:off x="621792" y="4571171"/>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Atas: GET /products/99. Bawah: POST /orders?product_id=1&amp;qty=5</a:t>
            </a:r>
          </a:p>
        </p:txBody>
      </p:sp>
      <p:sp>
        <p:nvSpPr>
          <p:cNvPr id="31" name="Box 14"/>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get_product</a:t>
            </a:r>
            <a:r>
              <a:rPr sz="950" b="0" i="0">
                <a:solidFill>
                  <a:srgbClr val="434343"/>
                </a:solidFill>
                <a:latin typeface="Inter"/>
              </a:rPr>
              <a:t> menangkap error sendiri (baris 34-37)</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create_order</a:t>
            </a:r>
            <a:r>
              <a:rPr sz="950" b="0" i="0">
                <a:solidFill>
                  <a:srgbClr val="434343"/>
                </a:solidFill>
                <a:latin typeface="Inter"/>
              </a:rPr>
              <a:t> juga, dengan pesan yang berbeda (baris 49)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Stok habis dibalas 400 dengan bentuk lain lagi (baris 51-52)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Dua error, dua bentuk response yang berbeda.</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Exception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Semua error ditangani di satu handler</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05-exception-handling/after.py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3226"/>
              </a:lnSpc>
              <a:spcAft>
                <a:spcPts val="0"/>
              </a:spcAft>
            </a:pPr>
            <a:r>
              <a:rPr sz="645" i="0">
                <a:solidFill>
                  <a:srgbClr val="5C6773"/>
                </a:solidFill>
                <a:latin typeface="Inconsolata"/>
              </a:rPr>
              <a:t>10  </a:t>
            </a:r>
            <a:r>
              <a:rPr sz="645" i="0">
                <a:solidFill>
                  <a:srgbClr val="FF8E6E"/>
                </a:solidFill>
                <a:latin typeface="Inconsolata"/>
              </a:rPr>
              <a:t>from</a:t>
            </a:r>
            <a:r>
              <a:rPr sz="645" i="0">
                <a:solidFill>
                  <a:srgbClr val="E6EDF3"/>
                </a:solidFill>
                <a:latin typeface="Inconsolata"/>
              </a:rPr>
              <a:t> fastapi </a:t>
            </a:r>
            <a:r>
              <a:rPr sz="645" i="0">
                <a:solidFill>
                  <a:srgbClr val="FF8E6E"/>
                </a:solidFill>
                <a:latin typeface="Inconsolata"/>
              </a:rPr>
              <a:t>import</a:t>
            </a:r>
            <a:r>
              <a:rPr sz="645" i="0">
                <a:solidFill>
                  <a:srgbClr val="E6EDF3"/>
                </a:solidFill>
                <a:latin typeface="Inconsolata"/>
              </a:rPr>
              <a:t> </a:t>
            </a:r>
            <a:r>
              <a:rPr sz="645" i="0">
                <a:solidFill>
                  <a:srgbClr val="7FDBCA"/>
                </a:solidFill>
                <a:latin typeface="Inconsolata"/>
              </a:rPr>
              <a:t>FastAPI</a:t>
            </a:r>
            <a:r>
              <a:rPr sz="645" i="0">
                <a:solidFill>
                  <a:srgbClr val="E6EDF3"/>
                </a:solidFill>
                <a:latin typeface="Inconsolata"/>
              </a:rPr>
              <a:t>, </a:t>
            </a:r>
            <a:r>
              <a:rPr sz="645" i="0">
                <a:solidFill>
                  <a:srgbClr val="7FDBCA"/>
                </a:solidFill>
                <a:latin typeface="Inconsolata"/>
              </a:rPr>
              <a:t>Request</a:t>
            </a:r>
          </a:p>
          <a:p>
            <a:pPr>
              <a:lnSpc>
                <a:spcPct val="103226"/>
              </a:lnSpc>
              <a:spcAft>
                <a:spcPts val="0"/>
              </a:spcAft>
            </a:pPr>
            <a:r>
              <a:rPr sz="645" i="0">
                <a:solidFill>
                  <a:srgbClr val="5C6773"/>
                </a:solidFill>
                <a:latin typeface="Inconsolata"/>
              </a:rPr>
              <a:t>11  </a:t>
            </a:r>
            <a:r>
              <a:rPr sz="645" i="0">
                <a:solidFill>
                  <a:srgbClr val="FF8E6E"/>
                </a:solidFill>
                <a:latin typeface="Inconsolata"/>
              </a:rPr>
              <a:t>from</a:t>
            </a:r>
            <a:r>
              <a:rPr sz="645" i="0">
                <a:solidFill>
                  <a:srgbClr val="E6EDF3"/>
                </a:solidFill>
                <a:latin typeface="Inconsolata"/>
              </a:rPr>
              <a:t> fastapi.responses </a:t>
            </a:r>
            <a:r>
              <a:rPr sz="645" i="0">
                <a:solidFill>
                  <a:srgbClr val="FF8E6E"/>
                </a:solidFill>
                <a:latin typeface="Inconsolata"/>
              </a:rPr>
              <a:t>import</a:t>
            </a:r>
            <a:r>
              <a:rPr sz="645" i="0">
                <a:solidFill>
                  <a:srgbClr val="E6EDF3"/>
                </a:solidFill>
                <a:latin typeface="Inconsolata"/>
              </a:rPr>
              <a:t> </a:t>
            </a:r>
            <a:r>
              <a:rPr sz="645" i="0">
                <a:solidFill>
                  <a:srgbClr val="7FDBCA"/>
                </a:solidFill>
                <a:latin typeface="Inconsolata"/>
              </a:rPr>
              <a:t>JSONResponse</a:t>
            </a:r>
          </a:p>
          <a:p>
            <a:pPr>
              <a:lnSpc>
                <a:spcPct val="103226"/>
              </a:lnSpc>
              <a:spcAft>
                <a:spcPts val="0"/>
              </a:spcAft>
            </a:pPr>
            <a:r>
              <a:rPr sz="645" i="0">
                <a:solidFill>
                  <a:srgbClr val="5C6773"/>
                </a:solidFill>
                <a:latin typeface="Inconsolata"/>
              </a:rPr>
              <a:t>12  </a:t>
            </a:r>
            <a:r>
              <a:rPr sz="645" i="0">
                <a:solidFill>
                  <a:srgbClr val="E6EDF3"/>
                </a:solidFill>
                <a:latin typeface="Inconsolata"/>
              </a:rPr>
              <a:t> </a:t>
            </a:r>
          </a:p>
          <a:p>
            <a:pPr>
              <a:lnSpc>
                <a:spcPct val="103226"/>
              </a:lnSpc>
              <a:spcAft>
                <a:spcPts val="0"/>
              </a:spcAft>
            </a:pPr>
            <a:r>
              <a:rPr sz="645" i="0">
                <a:solidFill>
                  <a:srgbClr val="5C6773"/>
                </a:solidFill>
                <a:latin typeface="Inconsolata"/>
              </a:rPr>
              <a:t>13  </a:t>
            </a:r>
            <a:r>
              <a:rPr sz="645" i="0">
                <a:solidFill>
                  <a:srgbClr val="E6EDF3"/>
                </a:solidFill>
                <a:latin typeface="Inconsolata"/>
              </a:rPr>
              <a:t>app = </a:t>
            </a:r>
            <a:r>
              <a:rPr sz="645" i="0">
                <a:solidFill>
                  <a:srgbClr val="7FDBCA"/>
                </a:solidFill>
                <a:latin typeface="Inconsolata"/>
              </a:rPr>
              <a:t>FastAPI</a:t>
            </a:r>
            <a:r>
              <a:rPr sz="645" i="0">
                <a:solidFill>
                  <a:srgbClr val="E6EDF3"/>
                </a:solidFill>
                <a:latin typeface="Inconsolata"/>
              </a:rPr>
              <a:t>()</a:t>
            </a:r>
          </a:p>
          <a:p>
            <a:pPr>
              <a:lnSpc>
                <a:spcPct val="103226"/>
              </a:lnSpc>
              <a:spcAft>
                <a:spcPts val="0"/>
              </a:spcAft>
            </a:pPr>
            <a:r>
              <a:rPr sz="645" i="0">
                <a:solidFill>
                  <a:srgbClr val="5C6773"/>
                </a:solidFill>
                <a:latin typeface="Inconsolata"/>
              </a:rPr>
              <a:t>14  </a:t>
            </a:r>
            <a:r>
              <a:rPr sz="645" i="0">
                <a:solidFill>
                  <a:srgbClr val="7FDBCA"/>
                </a:solidFill>
                <a:latin typeface="Inconsolata"/>
              </a:rPr>
              <a:t>PRODUCTS</a:t>
            </a:r>
            <a:r>
              <a:rPr sz="645" i="0">
                <a:solidFill>
                  <a:srgbClr val="E6EDF3"/>
                </a:solidFill>
                <a:latin typeface="Inconsolata"/>
              </a:rPr>
              <a:t> = {</a:t>
            </a:r>
            <a:r>
              <a:rPr sz="645" i="0">
                <a:solidFill>
                  <a:srgbClr val="F9C97A"/>
                </a:solidFill>
                <a:latin typeface="Inconsolata"/>
              </a:rPr>
              <a:t>1</a:t>
            </a:r>
            <a:r>
              <a:rPr sz="645" i="0">
                <a:solidFill>
                  <a:srgbClr val="E6EDF3"/>
                </a:solidFill>
                <a:latin typeface="Inconsolata"/>
              </a:rPr>
              <a:t>: {</a:t>
            </a:r>
            <a:r>
              <a:rPr sz="645" i="0">
                <a:solidFill>
                  <a:srgbClr val="A5D6A7"/>
                </a:solidFill>
                <a:latin typeface="Inconsolata"/>
              </a:rPr>
              <a:t>"id"</a:t>
            </a:r>
            <a:r>
              <a:rPr sz="645" i="0">
                <a:solidFill>
                  <a:srgbClr val="E6EDF3"/>
                </a:solidFill>
                <a:latin typeface="Inconsolata"/>
              </a:rPr>
              <a:t>: </a:t>
            </a:r>
            <a:r>
              <a:rPr sz="645" i="0">
                <a:solidFill>
                  <a:srgbClr val="F9C97A"/>
                </a:solidFill>
                <a:latin typeface="Inconsolata"/>
              </a:rPr>
              <a:t>1</a:t>
            </a:r>
            <a:r>
              <a:rPr sz="645" i="0">
                <a:solidFill>
                  <a:srgbClr val="E6EDF3"/>
                </a:solidFill>
                <a:latin typeface="Inconsolata"/>
              </a:rPr>
              <a:t>, </a:t>
            </a:r>
            <a:r>
              <a:rPr sz="645" i="0">
                <a:solidFill>
                  <a:srgbClr val="A5D6A7"/>
                </a:solidFill>
                <a:latin typeface="Inconsolata"/>
              </a:rPr>
              <a:t>"name"</a:t>
            </a:r>
            <a:r>
              <a:rPr sz="645" i="0">
                <a:solidFill>
                  <a:srgbClr val="E6EDF3"/>
                </a:solidFill>
                <a:latin typeface="Inconsolata"/>
              </a:rPr>
              <a:t>: </a:t>
            </a:r>
            <a:r>
              <a:rPr sz="645" i="0">
                <a:solidFill>
                  <a:srgbClr val="A5D6A7"/>
                </a:solidFill>
                <a:latin typeface="Inconsolata"/>
              </a:rPr>
              <a:t>"Keyboard"</a:t>
            </a:r>
            <a:r>
              <a:rPr sz="645" i="0">
                <a:solidFill>
                  <a:srgbClr val="E6EDF3"/>
                </a:solidFill>
                <a:latin typeface="Inconsolata"/>
              </a:rPr>
              <a:t>, </a:t>
            </a:r>
            <a:r>
              <a:rPr sz="645" i="0">
                <a:solidFill>
                  <a:srgbClr val="A5D6A7"/>
                </a:solidFill>
                <a:latin typeface="Inconsolata"/>
              </a:rPr>
              <a:t>"stock"</a:t>
            </a:r>
            <a:r>
              <a:rPr sz="645" i="0">
                <a:solidFill>
                  <a:srgbClr val="E6EDF3"/>
                </a:solidFill>
                <a:latin typeface="Inconsolata"/>
              </a:rPr>
              <a:t>: </a:t>
            </a:r>
            <a:r>
              <a:rPr sz="645" i="0">
                <a:solidFill>
                  <a:srgbClr val="F9C97A"/>
                </a:solidFill>
                <a:latin typeface="Inconsolata"/>
              </a:rPr>
              <a:t>1</a:t>
            </a:r>
            <a:r>
              <a:rPr sz="645" i="0">
                <a:solidFill>
                  <a:srgbClr val="E6EDF3"/>
                </a:solidFill>
                <a:latin typeface="Inconsolata"/>
              </a:rPr>
              <a:t>}}</a:t>
            </a:r>
          </a:p>
          <a:p>
            <a:pPr>
              <a:lnSpc>
                <a:spcPct val="103226"/>
              </a:lnSpc>
              <a:spcAft>
                <a:spcPts val="0"/>
              </a:spcAft>
            </a:pPr>
            <a:r>
              <a:rPr sz="645" i="0">
                <a:solidFill>
                  <a:srgbClr val="5C6773"/>
                </a:solidFill>
                <a:latin typeface="Inconsolata"/>
              </a:rPr>
              <a:t>15  </a:t>
            </a:r>
            <a:r>
              <a:rPr sz="645" i="0">
                <a:solidFill>
                  <a:srgbClr val="E6EDF3"/>
                </a:solidFill>
                <a:latin typeface="Inconsolata"/>
              </a:rPr>
              <a:t> </a:t>
            </a:r>
          </a:p>
          <a:p>
            <a:pPr>
              <a:lnSpc>
                <a:spcPct val="103226"/>
              </a:lnSpc>
              <a:spcAft>
                <a:spcPts val="0"/>
              </a:spcAft>
            </a:pPr>
            <a:r>
              <a:rPr sz="645" i="0">
                <a:solidFill>
                  <a:srgbClr val="5C6773"/>
                </a:solidFill>
                <a:latin typeface="Inconsolata"/>
              </a:rPr>
              <a:t>16  </a:t>
            </a:r>
            <a:r>
              <a:rPr sz="645" i="0">
                <a:solidFill>
                  <a:srgbClr val="E6EDF3"/>
                </a:solidFill>
                <a:latin typeface="Inconsolata"/>
              </a:rPr>
              <a:t> </a:t>
            </a:r>
          </a:p>
          <a:p>
            <a:pPr>
              <a:lnSpc>
                <a:spcPct val="103226"/>
              </a:lnSpc>
              <a:spcAft>
                <a:spcPts val="0"/>
              </a:spcAft>
            </a:pPr>
            <a:r>
              <a:rPr sz="645" i="0">
                <a:solidFill>
                  <a:srgbClr val="5C6773"/>
                </a:solidFill>
                <a:latin typeface="Inconsolata"/>
              </a:rPr>
              <a:t>17  </a:t>
            </a:r>
            <a:r>
              <a:rPr sz="645" i="0">
                <a:solidFill>
                  <a:srgbClr val="FF8E6E"/>
                </a:solidFill>
                <a:latin typeface="Inconsolata"/>
              </a:rPr>
              <a:t>class</a:t>
            </a:r>
            <a:r>
              <a:rPr sz="645" i="0">
                <a:solidFill>
                  <a:srgbClr val="E6EDF3"/>
                </a:solidFill>
                <a:latin typeface="Inconsolata"/>
              </a:rPr>
              <a:t> </a:t>
            </a:r>
            <a:r>
              <a:rPr sz="645" i="0">
                <a:solidFill>
                  <a:srgbClr val="7FDBCA"/>
                </a:solidFill>
                <a:latin typeface="Inconsolata"/>
              </a:rPr>
              <a:t>AppError</a:t>
            </a:r>
            <a:r>
              <a:rPr sz="645" i="0">
                <a:solidFill>
                  <a:srgbClr val="E6EDF3"/>
                </a:solidFill>
                <a:latin typeface="Inconsolata"/>
              </a:rPr>
              <a:t>(</a:t>
            </a:r>
            <a:r>
              <a:rPr sz="645" i="0">
                <a:solidFill>
                  <a:srgbClr val="7FDBCA"/>
                </a:solidFill>
                <a:latin typeface="Inconsolata"/>
              </a:rPr>
              <a:t>Exception</a:t>
            </a:r>
            <a:r>
              <a:rPr sz="645" i="0">
                <a:solidFill>
                  <a:srgbClr val="E6EDF3"/>
                </a:solidFill>
                <a:latin typeface="Inconsolata"/>
              </a:rPr>
              <a:t>):</a:t>
            </a:r>
          </a:p>
          <a:p>
            <a:pPr>
              <a:lnSpc>
                <a:spcPct val="103226"/>
              </a:lnSpc>
              <a:spcAft>
                <a:spcPts val="0"/>
              </a:spcAft>
            </a:pPr>
            <a:r>
              <a:rPr sz="645" i="0">
                <a:solidFill>
                  <a:srgbClr val="5C6773"/>
                </a:solidFill>
                <a:latin typeface="Inconsolata"/>
              </a:rPr>
              <a:t>18  </a:t>
            </a:r>
            <a:r>
              <a:rPr sz="645" i="0">
                <a:solidFill>
                  <a:srgbClr val="E6EDF3"/>
                </a:solidFill>
                <a:latin typeface="Inconsolata"/>
              </a:rPr>
              <a:t>    code = </a:t>
            </a:r>
            <a:r>
              <a:rPr sz="645" i="0">
                <a:solidFill>
                  <a:srgbClr val="A5D6A7"/>
                </a:solidFill>
                <a:latin typeface="Inconsolata"/>
              </a:rPr>
              <a:t>"app_error"</a:t>
            </a:r>
          </a:p>
          <a:p>
            <a:pPr>
              <a:lnSpc>
                <a:spcPct val="103226"/>
              </a:lnSpc>
              <a:spcAft>
                <a:spcPts val="0"/>
              </a:spcAft>
            </a:pPr>
            <a:r>
              <a:rPr sz="645" i="0">
                <a:solidFill>
                  <a:srgbClr val="5C6773"/>
                </a:solidFill>
                <a:latin typeface="Inconsolata"/>
              </a:rPr>
              <a:t>19  </a:t>
            </a:r>
            <a:r>
              <a:rPr sz="645" i="0">
                <a:solidFill>
                  <a:srgbClr val="E6EDF3"/>
                </a:solidFill>
                <a:latin typeface="Inconsolata"/>
              </a:rPr>
              <a:t>    status_code = </a:t>
            </a:r>
            <a:r>
              <a:rPr sz="645" i="0">
                <a:solidFill>
                  <a:srgbClr val="F9C97A"/>
                </a:solidFill>
                <a:latin typeface="Inconsolata"/>
              </a:rPr>
              <a:t>400</a:t>
            </a:r>
          </a:p>
          <a:p>
            <a:pPr>
              <a:lnSpc>
                <a:spcPct val="103226"/>
              </a:lnSpc>
              <a:spcAft>
                <a:spcPts val="0"/>
              </a:spcAft>
            </a:pPr>
            <a:r>
              <a:rPr sz="645" i="0">
                <a:solidFill>
                  <a:srgbClr val="5C6773"/>
                </a:solidFill>
                <a:latin typeface="Inconsolata"/>
              </a:rPr>
              <a:t>20  </a:t>
            </a:r>
            <a:r>
              <a:rPr sz="645" i="0">
                <a:solidFill>
                  <a:srgbClr val="E6EDF3"/>
                </a:solidFill>
                <a:latin typeface="Inconsolata"/>
              </a:rPr>
              <a:t> </a:t>
            </a:r>
          </a:p>
          <a:p>
            <a:pPr>
              <a:lnSpc>
                <a:spcPct val="103226"/>
              </a:lnSpc>
              <a:spcAft>
                <a:spcPts val="0"/>
              </a:spcAft>
            </a:pPr>
            <a:r>
              <a:rPr sz="645" i="0">
                <a:solidFill>
                  <a:srgbClr val="5C6773"/>
                </a:solidFill>
                <a:latin typeface="Inconsolata"/>
              </a:rPr>
              <a:t>21  </a:t>
            </a:r>
            <a:r>
              <a:rPr sz="645" i="0">
                <a:solidFill>
                  <a:srgbClr val="E6EDF3"/>
                </a:solidFill>
                <a:latin typeface="Inconsolata"/>
              </a:rPr>
              <a:t>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__init__</a:t>
            </a:r>
            <a:r>
              <a:rPr sz="645" i="0">
                <a:solidFill>
                  <a:srgbClr val="E6EDF3"/>
                </a:solidFill>
                <a:latin typeface="Inconsolata"/>
              </a:rPr>
              <a:t>(</a:t>
            </a:r>
            <a:r>
              <a:rPr sz="645" i="0">
                <a:solidFill>
                  <a:srgbClr val="C3A6FF"/>
                </a:solidFill>
                <a:latin typeface="Inconsolata"/>
              </a:rPr>
              <a:t>self</a:t>
            </a:r>
            <a:r>
              <a:rPr sz="645" i="0">
                <a:solidFill>
                  <a:srgbClr val="E6EDF3"/>
                </a:solidFill>
                <a:latin typeface="Inconsolata"/>
              </a:rPr>
              <a:t>, message: </a:t>
            </a:r>
            <a:r>
              <a:rPr sz="645" i="0">
                <a:solidFill>
                  <a:srgbClr val="C3A6FF"/>
                </a:solidFill>
                <a:latin typeface="Inconsolata"/>
              </a:rPr>
              <a:t>str</a:t>
            </a:r>
            <a:r>
              <a:rPr sz="645" i="0">
                <a:solidFill>
                  <a:srgbClr val="E6EDF3"/>
                </a:solidFill>
                <a:latin typeface="Inconsolata"/>
              </a:rPr>
              <a:t>):</a:t>
            </a:r>
          </a:p>
          <a:p>
            <a:pPr>
              <a:lnSpc>
                <a:spcPct val="103226"/>
              </a:lnSpc>
              <a:spcAft>
                <a:spcPts val="0"/>
              </a:spcAft>
            </a:pPr>
            <a:r>
              <a:rPr sz="645" i="0">
                <a:solidFill>
                  <a:srgbClr val="5C6773"/>
                </a:solidFill>
                <a:latin typeface="Inconsolata"/>
              </a:rPr>
              <a:t>22  </a:t>
            </a:r>
            <a:r>
              <a:rPr sz="645" i="0">
                <a:solidFill>
                  <a:srgbClr val="E6EDF3"/>
                </a:solidFill>
                <a:latin typeface="Inconsolata"/>
              </a:rPr>
              <a:t>        </a:t>
            </a:r>
            <a:r>
              <a:rPr sz="645" i="0">
                <a:solidFill>
                  <a:srgbClr val="C3A6FF"/>
                </a:solidFill>
                <a:latin typeface="Inconsolata"/>
              </a:rPr>
              <a:t>super</a:t>
            </a:r>
            <a:r>
              <a:rPr sz="645" i="0">
                <a:solidFill>
                  <a:srgbClr val="E6EDF3"/>
                </a:solidFill>
                <a:latin typeface="Inconsolata"/>
              </a:rPr>
              <a:t>().__init__(message)</a:t>
            </a:r>
          </a:p>
          <a:p>
            <a:pPr>
              <a:lnSpc>
                <a:spcPct val="103226"/>
              </a:lnSpc>
              <a:spcAft>
                <a:spcPts val="0"/>
              </a:spcAft>
            </a:pPr>
            <a:r>
              <a:rPr sz="645" i="0">
                <a:solidFill>
                  <a:srgbClr val="5C6773"/>
                </a:solidFill>
                <a:latin typeface="Inconsolata"/>
              </a:rPr>
              <a:t>23  </a:t>
            </a:r>
            <a:r>
              <a:rPr sz="645" i="0">
                <a:solidFill>
                  <a:srgbClr val="E6EDF3"/>
                </a:solidFill>
                <a:latin typeface="Inconsolata"/>
              </a:rPr>
              <a:t>        </a:t>
            </a:r>
            <a:r>
              <a:rPr sz="645" i="0">
                <a:solidFill>
                  <a:srgbClr val="C3A6FF"/>
                </a:solidFill>
                <a:latin typeface="Inconsolata"/>
              </a:rPr>
              <a:t>self</a:t>
            </a:r>
            <a:r>
              <a:rPr sz="645" i="0">
                <a:solidFill>
                  <a:srgbClr val="E6EDF3"/>
                </a:solidFill>
                <a:latin typeface="Inconsolata"/>
              </a:rPr>
              <a:t>.message = message</a:t>
            </a:r>
          </a:p>
          <a:p>
            <a:pPr>
              <a:lnSpc>
                <a:spcPct val="103226"/>
              </a:lnSpc>
              <a:spcAft>
                <a:spcPts val="0"/>
              </a:spcAft>
            </a:pPr>
            <a:r>
              <a:rPr sz="645" i="0">
                <a:solidFill>
                  <a:srgbClr val="5C6773"/>
                </a:solidFill>
                <a:latin typeface="Inconsolata"/>
              </a:rPr>
              <a:t>24  </a:t>
            </a:r>
            <a:r>
              <a:rPr sz="645" i="0">
                <a:solidFill>
                  <a:srgbClr val="E6EDF3"/>
                </a:solidFill>
                <a:latin typeface="Inconsolata"/>
              </a:rPr>
              <a:t> </a:t>
            </a:r>
          </a:p>
          <a:p>
            <a:pPr>
              <a:lnSpc>
                <a:spcPct val="103226"/>
              </a:lnSpc>
              <a:spcAft>
                <a:spcPts val="0"/>
              </a:spcAft>
            </a:pPr>
            <a:r>
              <a:rPr sz="645" i="0">
                <a:solidFill>
                  <a:srgbClr val="5C6773"/>
                </a:solidFill>
                <a:latin typeface="Inconsolata"/>
              </a:rPr>
              <a:t>25  </a:t>
            </a:r>
            <a:r>
              <a:rPr sz="645" i="0">
                <a:solidFill>
                  <a:srgbClr val="E6EDF3"/>
                </a:solidFill>
                <a:latin typeface="Inconsolata"/>
              </a:rPr>
              <a:t> </a:t>
            </a:r>
          </a:p>
          <a:p>
            <a:pPr>
              <a:lnSpc>
                <a:spcPct val="103226"/>
              </a:lnSpc>
              <a:spcAft>
                <a:spcPts val="0"/>
              </a:spcAft>
            </a:pPr>
            <a:r>
              <a:rPr sz="645" i="0">
                <a:solidFill>
                  <a:srgbClr val="5C6773"/>
                </a:solidFill>
                <a:latin typeface="Inconsolata"/>
              </a:rPr>
              <a:t>26  </a:t>
            </a:r>
            <a:r>
              <a:rPr sz="645" i="0">
                <a:solidFill>
                  <a:srgbClr val="FF8E6E"/>
                </a:solidFill>
                <a:latin typeface="Inconsolata"/>
              </a:rPr>
              <a:t>class</a:t>
            </a:r>
            <a:r>
              <a:rPr sz="645" i="0">
                <a:solidFill>
                  <a:srgbClr val="E6EDF3"/>
                </a:solidFill>
                <a:latin typeface="Inconsolata"/>
              </a:rPr>
              <a:t> </a:t>
            </a:r>
            <a:r>
              <a:rPr sz="645" i="0">
                <a:solidFill>
                  <a:srgbClr val="7FDBCA"/>
                </a:solidFill>
                <a:latin typeface="Inconsolata"/>
              </a:rPr>
              <a:t>ProductNotFound</a:t>
            </a:r>
            <a:r>
              <a:rPr sz="645" i="0">
                <a:solidFill>
                  <a:srgbClr val="E6EDF3"/>
                </a:solidFill>
                <a:latin typeface="Inconsolata"/>
              </a:rPr>
              <a:t>(</a:t>
            </a:r>
            <a:r>
              <a:rPr sz="645" i="0">
                <a:solidFill>
                  <a:srgbClr val="7FDBCA"/>
                </a:solidFill>
                <a:latin typeface="Inconsolata"/>
              </a:rPr>
              <a:t>AppError</a:t>
            </a:r>
            <a:r>
              <a:rPr sz="645" i="0">
                <a:solidFill>
                  <a:srgbClr val="E6EDF3"/>
                </a:solidFill>
                <a:latin typeface="Inconsolata"/>
              </a:rPr>
              <a:t>):</a:t>
            </a:r>
          </a:p>
          <a:p>
            <a:pPr>
              <a:lnSpc>
                <a:spcPct val="103226"/>
              </a:lnSpc>
              <a:spcAft>
                <a:spcPts val="0"/>
              </a:spcAft>
            </a:pPr>
            <a:r>
              <a:rPr sz="645" i="0">
                <a:solidFill>
                  <a:srgbClr val="5C6773"/>
                </a:solidFill>
                <a:latin typeface="Inconsolata"/>
              </a:rPr>
              <a:t>27  </a:t>
            </a:r>
            <a:r>
              <a:rPr sz="645" i="0">
                <a:solidFill>
                  <a:srgbClr val="E6EDF3"/>
                </a:solidFill>
                <a:latin typeface="Inconsolata"/>
              </a:rPr>
              <a:t>    code = </a:t>
            </a:r>
            <a:r>
              <a:rPr sz="645" i="0">
                <a:solidFill>
                  <a:srgbClr val="A5D6A7"/>
                </a:solidFill>
                <a:latin typeface="Inconsolata"/>
              </a:rPr>
              <a:t>"product_not_found"</a:t>
            </a:r>
          </a:p>
          <a:p>
            <a:pPr>
              <a:lnSpc>
                <a:spcPct val="103226"/>
              </a:lnSpc>
              <a:spcAft>
                <a:spcPts val="0"/>
              </a:spcAft>
            </a:pPr>
            <a:r>
              <a:rPr sz="645" i="0">
                <a:solidFill>
                  <a:srgbClr val="5C6773"/>
                </a:solidFill>
                <a:latin typeface="Inconsolata"/>
              </a:rPr>
              <a:t>28  </a:t>
            </a:r>
            <a:r>
              <a:rPr sz="645" i="0">
                <a:solidFill>
                  <a:srgbClr val="E6EDF3"/>
                </a:solidFill>
                <a:latin typeface="Inconsolata"/>
              </a:rPr>
              <a:t>    status_code = </a:t>
            </a:r>
            <a:r>
              <a:rPr sz="645" i="0">
                <a:solidFill>
                  <a:srgbClr val="F9C97A"/>
                </a:solidFill>
                <a:latin typeface="Inconsolata"/>
              </a:rPr>
              <a:t>404</a:t>
            </a:r>
          </a:p>
          <a:p>
            <a:pPr>
              <a:lnSpc>
                <a:spcPct val="103226"/>
              </a:lnSpc>
              <a:spcAft>
                <a:spcPts val="0"/>
              </a:spcAft>
            </a:pPr>
            <a:r>
              <a:rPr sz="645" i="0">
                <a:solidFill>
                  <a:srgbClr val="5C6773"/>
                </a:solidFill>
                <a:latin typeface="Inconsolata"/>
              </a:rPr>
              <a:t>29  </a:t>
            </a:r>
            <a:r>
              <a:rPr sz="645" i="0">
                <a:solidFill>
                  <a:srgbClr val="E6EDF3"/>
                </a:solidFill>
                <a:latin typeface="Inconsolata"/>
              </a:rPr>
              <a:t> </a:t>
            </a:r>
          </a:p>
          <a:p>
            <a:pPr>
              <a:lnSpc>
                <a:spcPct val="103226"/>
              </a:lnSpc>
              <a:spcAft>
                <a:spcPts val="0"/>
              </a:spcAft>
            </a:pPr>
            <a:r>
              <a:rPr sz="645" i="0">
                <a:solidFill>
                  <a:srgbClr val="5C6773"/>
                </a:solidFill>
                <a:latin typeface="Inconsolata"/>
              </a:rPr>
              <a:t>30  </a:t>
            </a:r>
            <a:r>
              <a:rPr sz="645" i="0">
                <a:solidFill>
                  <a:srgbClr val="E6EDF3"/>
                </a:solidFill>
                <a:latin typeface="Inconsolata"/>
              </a:rPr>
              <a:t> </a:t>
            </a:r>
          </a:p>
          <a:p>
            <a:pPr>
              <a:lnSpc>
                <a:spcPct val="103226"/>
              </a:lnSpc>
              <a:spcAft>
                <a:spcPts val="0"/>
              </a:spcAft>
            </a:pPr>
            <a:r>
              <a:rPr sz="645" i="0">
                <a:solidFill>
                  <a:srgbClr val="5C6773"/>
                </a:solidFill>
                <a:latin typeface="Inconsolata"/>
              </a:rPr>
              <a:t>31  </a:t>
            </a:r>
            <a:r>
              <a:rPr sz="645" i="0">
                <a:solidFill>
                  <a:srgbClr val="FF8E6E"/>
                </a:solidFill>
                <a:latin typeface="Inconsolata"/>
              </a:rPr>
              <a:t>class</a:t>
            </a:r>
            <a:r>
              <a:rPr sz="645" i="0">
                <a:solidFill>
                  <a:srgbClr val="E6EDF3"/>
                </a:solidFill>
                <a:latin typeface="Inconsolata"/>
              </a:rPr>
              <a:t> </a:t>
            </a:r>
            <a:r>
              <a:rPr sz="645" i="0">
                <a:solidFill>
                  <a:srgbClr val="7FDBCA"/>
                </a:solidFill>
                <a:latin typeface="Inconsolata"/>
              </a:rPr>
              <a:t>OutOfStock</a:t>
            </a:r>
            <a:r>
              <a:rPr sz="645" i="0">
                <a:solidFill>
                  <a:srgbClr val="E6EDF3"/>
                </a:solidFill>
                <a:latin typeface="Inconsolata"/>
              </a:rPr>
              <a:t>(</a:t>
            </a:r>
            <a:r>
              <a:rPr sz="645" i="0">
                <a:solidFill>
                  <a:srgbClr val="7FDBCA"/>
                </a:solidFill>
                <a:latin typeface="Inconsolata"/>
              </a:rPr>
              <a:t>AppError</a:t>
            </a:r>
            <a:r>
              <a:rPr sz="645" i="0">
                <a:solidFill>
                  <a:srgbClr val="E6EDF3"/>
                </a:solidFill>
                <a:latin typeface="Inconsolata"/>
              </a:rPr>
              <a:t>):</a:t>
            </a:r>
          </a:p>
          <a:p>
            <a:pPr>
              <a:lnSpc>
                <a:spcPct val="103226"/>
              </a:lnSpc>
              <a:spcAft>
                <a:spcPts val="0"/>
              </a:spcAft>
            </a:pPr>
            <a:r>
              <a:rPr sz="645" i="0">
                <a:solidFill>
                  <a:srgbClr val="5C6773"/>
                </a:solidFill>
                <a:latin typeface="Inconsolata"/>
              </a:rPr>
              <a:t>32  </a:t>
            </a:r>
            <a:r>
              <a:rPr sz="645" i="0">
                <a:solidFill>
                  <a:srgbClr val="E6EDF3"/>
                </a:solidFill>
                <a:latin typeface="Inconsolata"/>
              </a:rPr>
              <a:t>    code = </a:t>
            </a:r>
            <a:r>
              <a:rPr sz="645" i="0">
                <a:solidFill>
                  <a:srgbClr val="A5D6A7"/>
                </a:solidFill>
                <a:latin typeface="Inconsolata"/>
              </a:rPr>
              <a:t>"out_of_stock"</a:t>
            </a:r>
          </a:p>
          <a:p>
            <a:pPr>
              <a:lnSpc>
                <a:spcPct val="103226"/>
              </a:lnSpc>
              <a:spcAft>
                <a:spcPts val="0"/>
              </a:spcAft>
            </a:pPr>
            <a:r>
              <a:rPr sz="645" i="0">
                <a:solidFill>
                  <a:srgbClr val="5C6773"/>
                </a:solidFill>
                <a:latin typeface="Inconsolata"/>
              </a:rPr>
              <a:t>33  </a:t>
            </a:r>
            <a:r>
              <a:rPr sz="645" i="0">
                <a:solidFill>
                  <a:srgbClr val="E6EDF3"/>
                </a:solidFill>
                <a:latin typeface="Inconsolata"/>
              </a:rPr>
              <a:t>    status_code = </a:t>
            </a:r>
            <a:r>
              <a:rPr sz="645" i="0">
                <a:solidFill>
                  <a:srgbClr val="F9C97A"/>
                </a:solidFill>
                <a:latin typeface="Inconsolata"/>
              </a:rPr>
              <a:t>409</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05-exception-handling/after.py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3226"/>
              </a:lnSpc>
              <a:spcAft>
                <a:spcPts val="0"/>
              </a:spcAft>
            </a:pPr>
            <a:r>
              <a:rPr sz="645" i="0">
                <a:solidFill>
                  <a:srgbClr val="5C6773"/>
                </a:solidFill>
                <a:latin typeface="Inconsolata"/>
              </a:rPr>
              <a:t>36  </a:t>
            </a:r>
            <a:r>
              <a:rPr sz="645" i="0">
                <a:solidFill>
                  <a:srgbClr val="F9C97A"/>
                </a:solidFill>
                <a:latin typeface="Inconsolata"/>
              </a:rPr>
              <a:t>@app.exception_handler</a:t>
            </a:r>
            <a:r>
              <a:rPr sz="645" i="0">
                <a:solidFill>
                  <a:srgbClr val="E6EDF3"/>
                </a:solidFill>
                <a:latin typeface="Inconsolata"/>
              </a:rPr>
              <a:t>(</a:t>
            </a:r>
            <a:r>
              <a:rPr sz="645" i="0">
                <a:solidFill>
                  <a:srgbClr val="7FDBCA"/>
                </a:solidFill>
                <a:latin typeface="Inconsolata"/>
              </a:rPr>
              <a:t>AppError</a:t>
            </a:r>
            <a:r>
              <a:rPr sz="645" i="0">
                <a:solidFill>
                  <a:srgbClr val="E6EDF3"/>
                </a:solidFill>
                <a:latin typeface="Inconsolata"/>
              </a:rPr>
              <a:t>)</a:t>
            </a:r>
          </a:p>
          <a:p>
            <a:pPr>
              <a:lnSpc>
                <a:spcPct val="103226"/>
              </a:lnSpc>
              <a:spcAft>
                <a:spcPts val="0"/>
              </a:spcAft>
            </a:pPr>
            <a:r>
              <a:rPr sz="645" i="0">
                <a:solidFill>
                  <a:srgbClr val="5C6773"/>
                </a:solidFill>
                <a:latin typeface="Inconsolata"/>
              </a:rPr>
              <a:t>37  </a:t>
            </a:r>
            <a:r>
              <a:rPr sz="645" i="0">
                <a:solidFill>
                  <a:srgbClr val="FF8E6E"/>
                </a:solidFill>
                <a:latin typeface="Inconsolata"/>
              </a:rPr>
              <a:t>async</a:t>
            </a:r>
            <a:r>
              <a:rPr sz="645" i="0">
                <a:solidFill>
                  <a:srgbClr val="E6EDF3"/>
                </a:solidFill>
                <a:latin typeface="Inconsolata"/>
              </a:rPr>
              <a:t>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handle_app_error</a:t>
            </a:r>
            <a:r>
              <a:rPr sz="645" i="0">
                <a:solidFill>
                  <a:srgbClr val="E6EDF3"/>
                </a:solidFill>
                <a:latin typeface="Inconsolata"/>
              </a:rPr>
              <a:t>(request: </a:t>
            </a:r>
            <a:r>
              <a:rPr sz="645" i="0">
                <a:solidFill>
                  <a:srgbClr val="7FDBCA"/>
                </a:solidFill>
                <a:latin typeface="Inconsolata"/>
              </a:rPr>
              <a:t>Request</a:t>
            </a:r>
            <a:r>
              <a:rPr sz="645" i="0">
                <a:solidFill>
                  <a:srgbClr val="E6EDF3"/>
                </a:solidFill>
                <a:latin typeface="Inconsolata"/>
              </a:rPr>
              <a:t>, exc: </a:t>
            </a:r>
            <a:r>
              <a:rPr sz="645" i="0">
                <a:solidFill>
                  <a:srgbClr val="7FDBCA"/>
                </a:solidFill>
                <a:latin typeface="Inconsolata"/>
              </a:rPr>
              <a:t>AppError</a:t>
            </a:r>
            <a:r>
              <a:rPr sz="645" i="0">
                <a:solidFill>
                  <a:srgbClr val="E6EDF3"/>
                </a:solidFill>
                <a:latin typeface="Inconsolata"/>
              </a:rPr>
              <a:t>):</a:t>
            </a:r>
          </a:p>
          <a:p>
            <a:pPr>
              <a:lnSpc>
                <a:spcPct val="103226"/>
              </a:lnSpc>
              <a:spcAft>
                <a:spcPts val="0"/>
              </a:spcAft>
            </a:pPr>
            <a:r>
              <a:rPr sz="645" i="0">
                <a:solidFill>
                  <a:srgbClr val="5C6773"/>
                </a:solidFill>
                <a:latin typeface="Inconsolata"/>
              </a:rPr>
              <a:t>38  </a:t>
            </a:r>
            <a:r>
              <a:rPr sz="645" i="0">
                <a:solidFill>
                  <a:srgbClr val="E6EDF3"/>
                </a:solidFill>
                <a:latin typeface="Inconsolata"/>
              </a:rPr>
              <a:t>    body = {</a:t>
            </a:r>
            <a:r>
              <a:rPr sz="645" i="0">
                <a:solidFill>
                  <a:srgbClr val="A5D6A7"/>
                </a:solidFill>
                <a:latin typeface="Inconsolata"/>
              </a:rPr>
              <a:t>"error"</a:t>
            </a:r>
            <a:r>
              <a:rPr sz="645" i="0">
                <a:solidFill>
                  <a:srgbClr val="E6EDF3"/>
                </a:solidFill>
                <a:latin typeface="Inconsolata"/>
              </a:rPr>
              <a:t>: {</a:t>
            </a:r>
            <a:r>
              <a:rPr sz="645" i="0">
                <a:solidFill>
                  <a:srgbClr val="A5D6A7"/>
                </a:solidFill>
                <a:latin typeface="Inconsolata"/>
              </a:rPr>
              <a:t>"code"</a:t>
            </a:r>
            <a:r>
              <a:rPr sz="645" i="0">
                <a:solidFill>
                  <a:srgbClr val="E6EDF3"/>
                </a:solidFill>
                <a:latin typeface="Inconsolata"/>
              </a:rPr>
              <a:t>: exc.code, </a:t>
            </a:r>
            <a:r>
              <a:rPr sz="645" i="0">
                <a:solidFill>
                  <a:srgbClr val="A5D6A7"/>
                </a:solidFill>
                <a:latin typeface="Inconsolata"/>
              </a:rPr>
              <a:t>"message"</a:t>
            </a:r>
            <a:r>
              <a:rPr sz="645" i="0">
                <a:solidFill>
                  <a:srgbClr val="E6EDF3"/>
                </a:solidFill>
                <a:latin typeface="Inconsolata"/>
              </a:rPr>
              <a:t>: exc.message}}</a:t>
            </a:r>
          </a:p>
          <a:p>
            <a:pPr>
              <a:lnSpc>
                <a:spcPct val="103226"/>
              </a:lnSpc>
              <a:spcAft>
                <a:spcPts val="0"/>
              </a:spcAft>
            </a:pPr>
            <a:r>
              <a:rPr sz="645" i="0">
                <a:solidFill>
                  <a:srgbClr val="5C6773"/>
                </a:solidFill>
                <a:latin typeface="Inconsolata"/>
              </a:rPr>
              <a:t>39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a:t>
            </a:r>
            <a:r>
              <a:rPr sz="645" i="0">
                <a:solidFill>
                  <a:srgbClr val="7FDBCA"/>
                </a:solidFill>
                <a:latin typeface="Inconsolata"/>
              </a:rPr>
              <a:t>JSONResponse</a:t>
            </a:r>
            <a:r>
              <a:rPr sz="645" i="0">
                <a:solidFill>
                  <a:srgbClr val="E6EDF3"/>
                </a:solidFill>
                <a:latin typeface="Inconsolata"/>
              </a:rPr>
              <a:t>(body, status_code=exc.status_code)</a:t>
            </a:r>
          </a:p>
          <a:p>
            <a:pPr>
              <a:lnSpc>
                <a:spcPct val="103226"/>
              </a:lnSpc>
              <a:spcAft>
                <a:spcPts val="0"/>
              </a:spcAft>
            </a:pPr>
            <a:r>
              <a:rPr sz="645" i="0">
                <a:solidFill>
                  <a:srgbClr val="5C6773"/>
                </a:solidFill>
                <a:latin typeface="Inconsolata"/>
              </a:rPr>
              <a:t>40  </a:t>
            </a:r>
            <a:r>
              <a:rPr sz="645" i="0">
                <a:solidFill>
                  <a:srgbClr val="E6EDF3"/>
                </a:solidFill>
                <a:latin typeface="Inconsolata"/>
              </a:rPr>
              <a:t> </a:t>
            </a:r>
          </a:p>
          <a:p>
            <a:pPr>
              <a:lnSpc>
                <a:spcPct val="103226"/>
              </a:lnSpc>
              <a:spcAft>
                <a:spcPts val="0"/>
              </a:spcAft>
            </a:pPr>
            <a:r>
              <a:rPr sz="645" i="0">
                <a:solidFill>
                  <a:srgbClr val="5C6773"/>
                </a:solidFill>
                <a:latin typeface="Inconsolata"/>
              </a:rPr>
              <a:t>41  </a:t>
            </a:r>
            <a:r>
              <a:rPr sz="645" i="0">
                <a:solidFill>
                  <a:srgbClr val="E6EDF3"/>
                </a:solidFill>
                <a:latin typeface="Inconsolata"/>
              </a:rPr>
              <a:t> </a:t>
            </a:r>
          </a:p>
          <a:p>
            <a:pPr>
              <a:lnSpc>
                <a:spcPct val="103226"/>
              </a:lnSpc>
              <a:spcAft>
                <a:spcPts val="0"/>
              </a:spcAft>
            </a:pPr>
            <a:r>
              <a:rPr sz="645" i="0">
                <a:solidFill>
                  <a:srgbClr val="5C6773"/>
                </a:solidFill>
                <a:latin typeface="Inconsolata"/>
              </a:rPr>
              <a:t>42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find_product</a:t>
            </a:r>
            <a:r>
              <a:rPr sz="645" i="0">
                <a:solidFill>
                  <a:srgbClr val="E6EDF3"/>
                </a:solidFill>
                <a:latin typeface="Inconsolata"/>
              </a:rPr>
              <a:t>(product_id: </a:t>
            </a:r>
            <a:r>
              <a:rPr sz="645" i="0">
                <a:solidFill>
                  <a:srgbClr val="C3A6FF"/>
                </a:solidFill>
                <a:latin typeface="Inconsolata"/>
              </a:rPr>
              <a:t>int</a:t>
            </a:r>
            <a:r>
              <a:rPr sz="645" i="0">
                <a:solidFill>
                  <a:srgbClr val="E6EDF3"/>
                </a:solidFill>
                <a:latin typeface="Inconsolata"/>
              </a:rPr>
              <a:t>) -&gt; </a:t>
            </a:r>
            <a:r>
              <a:rPr sz="645" i="0">
                <a:solidFill>
                  <a:srgbClr val="C3A6FF"/>
                </a:solidFill>
                <a:latin typeface="Inconsolata"/>
              </a:rPr>
              <a:t>dict</a:t>
            </a:r>
            <a:r>
              <a:rPr sz="645" i="0">
                <a:solidFill>
                  <a:srgbClr val="E6EDF3"/>
                </a:solidFill>
                <a:latin typeface="Inconsolata"/>
              </a:rPr>
              <a:t>:</a:t>
            </a:r>
          </a:p>
          <a:p>
            <a:pPr>
              <a:lnSpc>
                <a:spcPct val="103226"/>
              </a:lnSpc>
              <a:spcAft>
                <a:spcPts val="0"/>
              </a:spcAft>
            </a:pPr>
            <a:r>
              <a:rPr sz="645" i="0">
                <a:solidFill>
                  <a:srgbClr val="5C6773"/>
                </a:solidFill>
                <a:latin typeface="Inconsolata"/>
              </a:rPr>
              <a:t>43  </a:t>
            </a:r>
            <a:r>
              <a:rPr sz="645" i="0">
                <a:solidFill>
                  <a:srgbClr val="E6EDF3"/>
                </a:solidFill>
                <a:latin typeface="Inconsolata"/>
              </a:rPr>
              <a:t>    </a:t>
            </a:r>
            <a:r>
              <a:rPr sz="645" i="0">
                <a:solidFill>
                  <a:srgbClr val="FF8E6E"/>
                </a:solidFill>
                <a:latin typeface="Inconsolata"/>
              </a:rPr>
              <a:t>if</a:t>
            </a:r>
            <a:r>
              <a:rPr sz="645" i="0">
                <a:solidFill>
                  <a:srgbClr val="E6EDF3"/>
                </a:solidFill>
                <a:latin typeface="Inconsolata"/>
              </a:rPr>
              <a:t> product_id </a:t>
            </a:r>
            <a:r>
              <a:rPr sz="645" i="0">
                <a:solidFill>
                  <a:srgbClr val="FF8E6E"/>
                </a:solidFill>
                <a:latin typeface="Inconsolata"/>
              </a:rPr>
              <a:t>not</a:t>
            </a:r>
            <a:r>
              <a:rPr sz="645" i="0">
                <a:solidFill>
                  <a:srgbClr val="E6EDF3"/>
                </a:solidFill>
                <a:latin typeface="Inconsolata"/>
              </a:rPr>
              <a:t> </a:t>
            </a:r>
            <a:r>
              <a:rPr sz="645" i="0">
                <a:solidFill>
                  <a:srgbClr val="FF8E6E"/>
                </a:solidFill>
                <a:latin typeface="Inconsolata"/>
              </a:rPr>
              <a:t>in</a:t>
            </a:r>
            <a:r>
              <a:rPr sz="645" i="0">
                <a:solidFill>
                  <a:srgbClr val="E6EDF3"/>
                </a:solidFill>
                <a:latin typeface="Inconsolata"/>
              </a:rPr>
              <a:t> </a:t>
            </a:r>
            <a:r>
              <a:rPr sz="645" i="0">
                <a:solidFill>
                  <a:srgbClr val="7FDBCA"/>
                </a:solidFill>
                <a:latin typeface="Inconsolata"/>
              </a:rPr>
              <a:t>PRODUCTS</a:t>
            </a:r>
            <a:r>
              <a:rPr sz="645" i="0">
                <a:solidFill>
                  <a:srgbClr val="E6EDF3"/>
                </a:solidFill>
                <a:latin typeface="Inconsolata"/>
              </a:rPr>
              <a:t>:</a:t>
            </a:r>
          </a:p>
          <a:p>
            <a:pPr>
              <a:lnSpc>
                <a:spcPct val="103226"/>
              </a:lnSpc>
              <a:spcAft>
                <a:spcPts val="0"/>
              </a:spcAft>
            </a:pPr>
            <a:r>
              <a:rPr sz="645" i="0">
                <a:solidFill>
                  <a:srgbClr val="5C6773"/>
                </a:solidFill>
                <a:latin typeface="Inconsolata"/>
              </a:rPr>
              <a:t>44  </a:t>
            </a:r>
            <a:r>
              <a:rPr sz="645" i="0">
                <a:solidFill>
                  <a:srgbClr val="E6EDF3"/>
                </a:solidFill>
                <a:latin typeface="Inconsolata"/>
              </a:rPr>
              <a:t>        </a:t>
            </a:r>
            <a:r>
              <a:rPr sz="645" i="0">
                <a:solidFill>
                  <a:srgbClr val="FF8E6E"/>
                </a:solidFill>
                <a:latin typeface="Inconsolata"/>
              </a:rPr>
              <a:t>raise</a:t>
            </a:r>
            <a:r>
              <a:rPr sz="645" i="0">
                <a:solidFill>
                  <a:srgbClr val="E6EDF3"/>
                </a:solidFill>
                <a:latin typeface="Inconsolata"/>
              </a:rPr>
              <a:t> </a:t>
            </a:r>
            <a:r>
              <a:rPr sz="645" i="0">
                <a:solidFill>
                  <a:srgbClr val="7FDBCA"/>
                </a:solidFill>
                <a:latin typeface="Inconsolata"/>
              </a:rPr>
              <a:t>ProductNotFound</a:t>
            </a:r>
            <a:r>
              <a:rPr sz="645" i="0">
                <a:solidFill>
                  <a:srgbClr val="E6EDF3"/>
                </a:solidFill>
                <a:latin typeface="Inconsolata"/>
              </a:rPr>
              <a:t>(</a:t>
            </a:r>
          </a:p>
          <a:p>
            <a:pPr>
              <a:lnSpc>
                <a:spcPct val="103226"/>
              </a:lnSpc>
              <a:spcAft>
                <a:spcPts val="0"/>
              </a:spcAft>
            </a:pPr>
            <a:r>
              <a:rPr sz="645" i="0">
                <a:solidFill>
                  <a:srgbClr val="5C6773"/>
                </a:solidFill>
                <a:latin typeface="Inconsolata"/>
              </a:rPr>
              <a:t>45  </a:t>
            </a:r>
            <a:r>
              <a:rPr sz="645" i="0">
                <a:solidFill>
                  <a:srgbClr val="E6EDF3"/>
                </a:solidFill>
                <a:latin typeface="Inconsolata"/>
              </a:rPr>
              <a:t>            </a:t>
            </a:r>
            <a:r>
              <a:rPr sz="645" i="0">
                <a:solidFill>
                  <a:srgbClr val="A5D6A7"/>
                </a:solidFill>
                <a:latin typeface="Inconsolata"/>
              </a:rPr>
              <a:t>f"Product #{product_id} tidak ditemukan"</a:t>
            </a:r>
          </a:p>
          <a:p>
            <a:pPr>
              <a:lnSpc>
                <a:spcPct val="103226"/>
              </a:lnSpc>
              <a:spcAft>
                <a:spcPts val="0"/>
              </a:spcAft>
            </a:pPr>
            <a:r>
              <a:rPr sz="645" i="0">
                <a:solidFill>
                  <a:srgbClr val="5C6773"/>
                </a:solidFill>
                <a:latin typeface="Inconsolata"/>
              </a:rPr>
              <a:t>46  </a:t>
            </a:r>
            <a:r>
              <a:rPr sz="645" i="0">
                <a:solidFill>
                  <a:srgbClr val="E6EDF3"/>
                </a:solidFill>
                <a:latin typeface="Inconsolata"/>
              </a:rPr>
              <a:t>        )</a:t>
            </a:r>
          </a:p>
          <a:p>
            <a:pPr>
              <a:lnSpc>
                <a:spcPct val="103226"/>
              </a:lnSpc>
              <a:spcAft>
                <a:spcPts val="0"/>
              </a:spcAft>
            </a:pPr>
            <a:r>
              <a:rPr sz="645" i="0">
                <a:solidFill>
                  <a:srgbClr val="5C6773"/>
                </a:solidFill>
                <a:latin typeface="Inconsolata"/>
              </a:rPr>
              <a:t>47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a:t>
            </a:r>
            <a:r>
              <a:rPr sz="645" i="0">
                <a:solidFill>
                  <a:srgbClr val="7FDBCA"/>
                </a:solidFill>
                <a:latin typeface="Inconsolata"/>
              </a:rPr>
              <a:t>PRODUCTS</a:t>
            </a:r>
            <a:r>
              <a:rPr sz="645" i="0">
                <a:solidFill>
                  <a:srgbClr val="E6EDF3"/>
                </a:solidFill>
                <a:latin typeface="Inconsolata"/>
              </a:rPr>
              <a:t>[product_id]</a:t>
            </a:r>
          </a:p>
          <a:p>
            <a:pPr>
              <a:lnSpc>
                <a:spcPct val="103226"/>
              </a:lnSpc>
              <a:spcAft>
                <a:spcPts val="0"/>
              </a:spcAft>
            </a:pPr>
            <a:r>
              <a:rPr sz="645" i="0">
                <a:solidFill>
                  <a:srgbClr val="5C6773"/>
                </a:solidFill>
                <a:latin typeface="Inconsolata"/>
              </a:rPr>
              <a:t>48  </a:t>
            </a:r>
            <a:r>
              <a:rPr sz="645" i="0">
                <a:solidFill>
                  <a:srgbClr val="E6EDF3"/>
                </a:solidFill>
                <a:latin typeface="Inconsolata"/>
              </a:rPr>
              <a:t> </a:t>
            </a:r>
          </a:p>
          <a:p>
            <a:pPr>
              <a:lnSpc>
                <a:spcPct val="103226"/>
              </a:lnSpc>
              <a:spcAft>
                <a:spcPts val="0"/>
              </a:spcAft>
            </a:pPr>
            <a:r>
              <a:rPr sz="645" i="0">
                <a:solidFill>
                  <a:srgbClr val="5C6773"/>
                </a:solidFill>
                <a:latin typeface="Inconsolata"/>
              </a:rPr>
              <a:t>49  </a:t>
            </a:r>
            <a:r>
              <a:rPr sz="645" i="0">
                <a:solidFill>
                  <a:srgbClr val="E6EDF3"/>
                </a:solidFill>
                <a:latin typeface="Inconsolata"/>
              </a:rPr>
              <a:t> </a:t>
            </a:r>
          </a:p>
          <a:p>
            <a:pPr>
              <a:lnSpc>
                <a:spcPct val="103226"/>
              </a:lnSpc>
              <a:spcAft>
                <a:spcPts val="0"/>
              </a:spcAft>
            </a:pPr>
            <a:r>
              <a:rPr sz="645" i="0">
                <a:solidFill>
                  <a:srgbClr val="5C6773"/>
                </a:solidFill>
                <a:latin typeface="Inconsolata"/>
              </a:rPr>
              <a:t>50  </a:t>
            </a:r>
            <a:r>
              <a:rPr sz="645" i="0">
                <a:solidFill>
                  <a:srgbClr val="F9C97A"/>
                </a:solidFill>
                <a:latin typeface="Inconsolata"/>
              </a:rPr>
              <a:t>@app.get</a:t>
            </a:r>
            <a:r>
              <a:rPr sz="645" i="0">
                <a:solidFill>
                  <a:srgbClr val="E6EDF3"/>
                </a:solidFill>
                <a:latin typeface="Inconsolata"/>
              </a:rPr>
              <a:t>(</a:t>
            </a:r>
            <a:r>
              <a:rPr sz="645" i="0">
                <a:solidFill>
                  <a:srgbClr val="A5D6A7"/>
                </a:solidFill>
                <a:latin typeface="Inconsolata"/>
              </a:rPr>
              <a:t>"/products/{product_id}"</a:t>
            </a:r>
            <a:r>
              <a:rPr sz="645" i="0">
                <a:solidFill>
                  <a:srgbClr val="E6EDF3"/>
                </a:solidFill>
                <a:latin typeface="Inconsolata"/>
              </a:rPr>
              <a:t>)</a:t>
            </a:r>
          </a:p>
          <a:p>
            <a:pPr>
              <a:lnSpc>
                <a:spcPct val="103226"/>
              </a:lnSpc>
              <a:spcAft>
                <a:spcPts val="0"/>
              </a:spcAft>
            </a:pPr>
            <a:r>
              <a:rPr sz="645" i="0">
                <a:solidFill>
                  <a:srgbClr val="5C6773"/>
                </a:solidFill>
                <a:latin typeface="Inconsolata"/>
              </a:rPr>
              <a:t>51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get_product</a:t>
            </a:r>
            <a:r>
              <a:rPr sz="645" i="0">
                <a:solidFill>
                  <a:srgbClr val="E6EDF3"/>
                </a:solidFill>
                <a:latin typeface="Inconsolata"/>
              </a:rPr>
              <a:t>(product_id: </a:t>
            </a:r>
            <a:r>
              <a:rPr sz="645" i="0">
                <a:solidFill>
                  <a:srgbClr val="C3A6FF"/>
                </a:solidFill>
                <a:latin typeface="Inconsolata"/>
              </a:rPr>
              <a:t>int</a:t>
            </a:r>
            <a:r>
              <a:rPr sz="645" i="0">
                <a:solidFill>
                  <a:srgbClr val="E6EDF3"/>
                </a:solidFill>
                <a:latin typeface="Inconsolata"/>
              </a:rPr>
              <a:t>):</a:t>
            </a:r>
          </a:p>
          <a:p>
            <a:pPr>
              <a:lnSpc>
                <a:spcPct val="103226"/>
              </a:lnSpc>
              <a:spcAft>
                <a:spcPts val="0"/>
              </a:spcAft>
            </a:pPr>
            <a:r>
              <a:rPr sz="645" i="0">
                <a:solidFill>
                  <a:srgbClr val="5C6773"/>
                </a:solidFill>
                <a:latin typeface="Inconsolata"/>
              </a:rPr>
              <a:t>52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find_product(product_id)</a:t>
            </a:r>
          </a:p>
          <a:p>
            <a:pPr>
              <a:lnSpc>
                <a:spcPct val="103226"/>
              </a:lnSpc>
              <a:spcAft>
                <a:spcPts val="0"/>
              </a:spcAft>
            </a:pPr>
            <a:r>
              <a:rPr sz="645" i="0">
                <a:solidFill>
                  <a:srgbClr val="5C6773"/>
                </a:solidFill>
                <a:latin typeface="Inconsolata"/>
              </a:rPr>
              <a:t>53  </a:t>
            </a:r>
            <a:r>
              <a:rPr sz="645" i="0">
                <a:solidFill>
                  <a:srgbClr val="E6EDF3"/>
                </a:solidFill>
                <a:latin typeface="Inconsolata"/>
              </a:rPr>
              <a:t> </a:t>
            </a:r>
          </a:p>
          <a:p>
            <a:pPr>
              <a:lnSpc>
                <a:spcPct val="103226"/>
              </a:lnSpc>
              <a:spcAft>
                <a:spcPts val="0"/>
              </a:spcAft>
            </a:pPr>
            <a:r>
              <a:rPr sz="645" i="0">
                <a:solidFill>
                  <a:srgbClr val="5C6773"/>
                </a:solidFill>
                <a:latin typeface="Inconsolata"/>
              </a:rPr>
              <a:t>54  </a:t>
            </a:r>
            <a:r>
              <a:rPr sz="645" i="0">
                <a:solidFill>
                  <a:srgbClr val="E6EDF3"/>
                </a:solidFill>
                <a:latin typeface="Inconsolata"/>
              </a:rPr>
              <a:t> </a:t>
            </a:r>
          </a:p>
          <a:p>
            <a:pPr>
              <a:lnSpc>
                <a:spcPct val="103226"/>
              </a:lnSpc>
              <a:spcAft>
                <a:spcPts val="0"/>
              </a:spcAft>
            </a:pPr>
            <a:r>
              <a:rPr sz="645" i="0">
                <a:solidFill>
                  <a:srgbClr val="5C6773"/>
                </a:solidFill>
                <a:latin typeface="Inconsolata"/>
              </a:rPr>
              <a:t>55  </a:t>
            </a:r>
            <a:r>
              <a:rPr sz="645" i="0">
                <a:solidFill>
                  <a:srgbClr val="F9C97A"/>
                </a:solidFill>
                <a:latin typeface="Inconsolata"/>
              </a:rPr>
              <a:t>@app.post</a:t>
            </a:r>
            <a:r>
              <a:rPr sz="645" i="0">
                <a:solidFill>
                  <a:srgbClr val="E6EDF3"/>
                </a:solidFill>
                <a:latin typeface="Inconsolata"/>
              </a:rPr>
              <a:t>(</a:t>
            </a:r>
            <a:r>
              <a:rPr sz="645" i="0">
                <a:solidFill>
                  <a:srgbClr val="A5D6A7"/>
                </a:solidFill>
                <a:latin typeface="Inconsolata"/>
              </a:rPr>
              <a:t>"/orders"</a:t>
            </a:r>
            <a:r>
              <a:rPr sz="645" i="0">
                <a:solidFill>
                  <a:srgbClr val="E6EDF3"/>
                </a:solidFill>
                <a:latin typeface="Inconsolata"/>
              </a:rPr>
              <a:t>, status_code=</a:t>
            </a:r>
            <a:r>
              <a:rPr sz="645" i="0">
                <a:solidFill>
                  <a:srgbClr val="F9C97A"/>
                </a:solidFill>
                <a:latin typeface="Inconsolata"/>
              </a:rPr>
              <a:t>201</a:t>
            </a:r>
            <a:r>
              <a:rPr sz="645" i="0">
                <a:solidFill>
                  <a:srgbClr val="E6EDF3"/>
                </a:solidFill>
                <a:latin typeface="Inconsolata"/>
              </a:rPr>
              <a:t>)</a:t>
            </a:r>
          </a:p>
          <a:p>
            <a:pPr>
              <a:lnSpc>
                <a:spcPct val="103226"/>
              </a:lnSpc>
              <a:spcAft>
                <a:spcPts val="0"/>
              </a:spcAft>
            </a:pPr>
            <a:r>
              <a:rPr sz="645" i="0">
                <a:solidFill>
                  <a:srgbClr val="5C6773"/>
                </a:solidFill>
                <a:latin typeface="Inconsolata"/>
              </a:rPr>
              <a:t>56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create_order</a:t>
            </a:r>
            <a:r>
              <a:rPr sz="645" i="0">
                <a:solidFill>
                  <a:srgbClr val="E6EDF3"/>
                </a:solidFill>
                <a:latin typeface="Inconsolata"/>
              </a:rPr>
              <a:t>(product_id: </a:t>
            </a:r>
            <a:r>
              <a:rPr sz="645" i="0">
                <a:solidFill>
                  <a:srgbClr val="C3A6FF"/>
                </a:solidFill>
                <a:latin typeface="Inconsolata"/>
              </a:rPr>
              <a:t>int</a:t>
            </a:r>
            <a:r>
              <a:rPr sz="645" i="0">
                <a:solidFill>
                  <a:srgbClr val="E6EDF3"/>
                </a:solidFill>
                <a:latin typeface="Inconsolata"/>
              </a:rPr>
              <a:t>, qty: </a:t>
            </a:r>
            <a:r>
              <a:rPr sz="645" i="0">
                <a:solidFill>
                  <a:srgbClr val="C3A6FF"/>
                </a:solidFill>
                <a:latin typeface="Inconsolata"/>
              </a:rPr>
              <a:t>int</a:t>
            </a:r>
            <a:r>
              <a:rPr sz="645" i="0">
                <a:solidFill>
                  <a:srgbClr val="E6EDF3"/>
                </a:solidFill>
                <a:latin typeface="Inconsolata"/>
              </a:rPr>
              <a:t>):</a:t>
            </a:r>
          </a:p>
          <a:p>
            <a:pPr>
              <a:lnSpc>
                <a:spcPct val="103226"/>
              </a:lnSpc>
              <a:spcAft>
                <a:spcPts val="0"/>
              </a:spcAft>
            </a:pPr>
            <a:r>
              <a:rPr sz="645" i="0">
                <a:solidFill>
                  <a:srgbClr val="5C6773"/>
                </a:solidFill>
                <a:latin typeface="Inconsolata"/>
              </a:rPr>
              <a:t>57  </a:t>
            </a:r>
            <a:r>
              <a:rPr sz="645" i="0">
                <a:solidFill>
                  <a:srgbClr val="E6EDF3"/>
                </a:solidFill>
                <a:latin typeface="Inconsolata"/>
              </a:rPr>
              <a:t>    product = find_product(product_id)</a:t>
            </a:r>
          </a:p>
          <a:p>
            <a:pPr>
              <a:lnSpc>
                <a:spcPct val="103226"/>
              </a:lnSpc>
              <a:spcAft>
                <a:spcPts val="0"/>
              </a:spcAft>
            </a:pPr>
            <a:r>
              <a:rPr sz="645" i="0">
                <a:solidFill>
                  <a:srgbClr val="5C6773"/>
                </a:solidFill>
                <a:latin typeface="Inconsolata"/>
              </a:rPr>
              <a:t>58  </a:t>
            </a:r>
            <a:r>
              <a:rPr sz="645" i="0">
                <a:solidFill>
                  <a:srgbClr val="E6EDF3"/>
                </a:solidFill>
                <a:latin typeface="Inconsolata"/>
              </a:rPr>
              <a:t>    </a:t>
            </a:r>
            <a:r>
              <a:rPr sz="645" i="0">
                <a:solidFill>
                  <a:srgbClr val="FF8E6E"/>
                </a:solidFill>
                <a:latin typeface="Inconsolata"/>
              </a:rPr>
              <a:t>if</a:t>
            </a:r>
            <a:r>
              <a:rPr sz="645" i="0">
                <a:solidFill>
                  <a:srgbClr val="E6EDF3"/>
                </a:solidFill>
                <a:latin typeface="Inconsolata"/>
              </a:rPr>
              <a:t> qty &gt; product[</a:t>
            </a:r>
            <a:r>
              <a:rPr sz="645" i="0">
                <a:solidFill>
                  <a:srgbClr val="A5D6A7"/>
                </a:solidFill>
                <a:latin typeface="Inconsolata"/>
              </a:rPr>
              <a:t>"stock"</a:t>
            </a:r>
            <a:r>
              <a:rPr sz="645" i="0">
                <a:solidFill>
                  <a:srgbClr val="E6EDF3"/>
                </a:solidFill>
                <a:latin typeface="Inconsolata"/>
              </a:rPr>
              <a:t>]:</a:t>
            </a:r>
          </a:p>
          <a:p>
            <a:pPr>
              <a:lnSpc>
                <a:spcPct val="103226"/>
              </a:lnSpc>
              <a:spcAft>
                <a:spcPts val="0"/>
              </a:spcAft>
            </a:pPr>
            <a:r>
              <a:rPr sz="645" i="0">
                <a:solidFill>
                  <a:srgbClr val="5C6773"/>
                </a:solidFill>
                <a:latin typeface="Inconsolata"/>
              </a:rPr>
              <a:t>59  </a:t>
            </a:r>
            <a:r>
              <a:rPr sz="645" i="0">
                <a:solidFill>
                  <a:srgbClr val="E6EDF3"/>
                </a:solidFill>
                <a:latin typeface="Inconsolata"/>
              </a:rPr>
              <a:t>        name, stock = product[</a:t>
            </a:r>
            <a:r>
              <a:rPr sz="645" i="0">
                <a:solidFill>
                  <a:srgbClr val="A5D6A7"/>
                </a:solidFill>
                <a:latin typeface="Inconsolata"/>
              </a:rPr>
              <a:t>"name"</a:t>
            </a:r>
            <a:r>
              <a:rPr sz="645" i="0">
                <a:solidFill>
                  <a:srgbClr val="E6EDF3"/>
                </a:solidFill>
                <a:latin typeface="Inconsolata"/>
              </a:rPr>
              <a:t>], product[</a:t>
            </a:r>
            <a:r>
              <a:rPr sz="645" i="0">
                <a:solidFill>
                  <a:srgbClr val="A5D6A7"/>
                </a:solidFill>
                <a:latin typeface="Inconsolata"/>
              </a:rPr>
              <a:t>"stock"</a:t>
            </a:r>
            <a:r>
              <a:rPr sz="645" i="0">
                <a:solidFill>
                  <a:srgbClr val="E6EDF3"/>
                </a:solidFill>
                <a:latin typeface="Inconsolata"/>
              </a:rPr>
              <a:t>]</a:t>
            </a:r>
          </a:p>
          <a:p>
            <a:pPr>
              <a:lnSpc>
                <a:spcPct val="103226"/>
              </a:lnSpc>
              <a:spcAft>
                <a:spcPts val="0"/>
              </a:spcAft>
            </a:pPr>
            <a:r>
              <a:rPr sz="645" i="0">
                <a:solidFill>
                  <a:srgbClr val="5C6773"/>
                </a:solidFill>
                <a:latin typeface="Inconsolata"/>
              </a:rPr>
              <a:t>60  </a:t>
            </a:r>
            <a:r>
              <a:rPr sz="645" i="0">
                <a:solidFill>
                  <a:srgbClr val="E6EDF3"/>
                </a:solidFill>
                <a:latin typeface="Inconsolata"/>
              </a:rPr>
              <a:t>        </a:t>
            </a:r>
            <a:r>
              <a:rPr sz="645" i="0">
                <a:solidFill>
                  <a:srgbClr val="FF8E6E"/>
                </a:solidFill>
                <a:latin typeface="Inconsolata"/>
              </a:rPr>
              <a:t>raise</a:t>
            </a:r>
            <a:r>
              <a:rPr sz="645" i="0">
                <a:solidFill>
                  <a:srgbClr val="E6EDF3"/>
                </a:solidFill>
                <a:latin typeface="Inconsolata"/>
              </a:rPr>
              <a:t> </a:t>
            </a:r>
            <a:r>
              <a:rPr sz="645" i="0">
                <a:solidFill>
                  <a:srgbClr val="7FDBCA"/>
                </a:solidFill>
                <a:latin typeface="Inconsolata"/>
              </a:rPr>
              <a:t>OutOfStock</a:t>
            </a:r>
            <a:r>
              <a:rPr sz="645" i="0">
                <a:solidFill>
                  <a:srgbClr val="E6EDF3"/>
                </a:solidFill>
                <a:latin typeface="Inconsolata"/>
              </a:rPr>
              <a:t>(</a:t>
            </a:r>
            <a:r>
              <a:rPr sz="645" i="0">
                <a:solidFill>
                  <a:srgbClr val="A5D6A7"/>
                </a:solidFill>
                <a:latin typeface="Inconsolata"/>
              </a:rPr>
              <a:t>f"Stok {name} tinggal {stock}"</a:t>
            </a:r>
            <a:r>
              <a:rPr sz="645" i="0">
                <a:solidFill>
                  <a:srgbClr val="E6EDF3"/>
                </a:solidFill>
                <a:latin typeface="Inconsolata"/>
              </a:rPr>
              <a:t>)</a:t>
            </a:r>
          </a:p>
          <a:p>
            <a:pPr>
              <a:lnSpc>
                <a:spcPct val="103226"/>
              </a:lnSpc>
              <a:spcAft>
                <a:spcPts val="0"/>
              </a:spcAft>
            </a:pPr>
            <a:r>
              <a:rPr sz="645" i="0">
                <a:solidFill>
                  <a:srgbClr val="5C6773"/>
                </a:solidFill>
                <a:latin typeface="Inconsolata"/>
              </a:rPr>
              <a:t>61  </a:t>
            </a:r>
            <a:r>
              <a:rPr sz="645" i="0">
                <a:solidFill>
                  <a:srgbClr val="E6EDF3"/>
                </a:solidFill>
                <a:latin typeface="Inconsolata"/>
              </a:rPr>
              <a:t>    product[</a:t>
            </a:r>
            <a:r>
              <a:rPr sz="645" i="0">
                <a:solidFill>
                  <a:srgbClr val="A5D6A7"/>
                </a:solidFill>
                <a:latin typeface="Inconsolata"/>
              </a:rPr>
              <a:t>"stock"</a:t>
            </a:r>
            <a:r>
              <a:rPr sz="645" i="0">
                <a:solidFill>
                  <a:srgbClr val="E6EDF3"/>
                </a:solidFill>
                <a:latin typeface="Inconsolata"/>
              </a:rPr>
              <a:t>] -= qty</a:t>
            </a:r>
          </a:p>
          <a:p>
            <a:pPr>
              <a:lnSpc>
                <a:spcPct val="103226"/>
              </a:lnSpc>
              <a:spcAft>
                <a:spcPts val="0"/>
              </a:spcAft>
            </a:pPr>
            <a:r>
              <a:rPr sz="645" i="0">
                <a:solidFill>
                  <a:srgbClr val="5C6773"/>
                </a:solidFill>
                <a:latin typeface="Inconsolata"/>
              </a:rPr>
              <a:t>62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a:t>
            </a:r>
            <a:r>
              <a:rPr sz="645" i="0">
                <a:solidFill>
                  <a:srgbClr val="A5D6A7"/>
                </a:solidFill>
                <a:latin typeface="Inconsolata"/>
              </a:rPr>
              <a:t>"product_id"</a:t>
            </a:r>
            <a:r>
              <a:rPr sz="645" i="0">
                <a:solidFill>
                  <a:srgbClr val="E6EDF3"/>
                </a:solidFill>
                <a:latin typeface="Inconsolata"/>
              </a:rPr>
              <a:t>: product_id, </a:t>
            </a:r>
            <a:r>
              <a:rPr sz="645" i="0">
                <a:solidFill>
                  <a:srgbClr val="A5D6A7"/>
                </a:solidFill>
                <a:latin typeface="Inconsolata"/>
              </a:rPr>
              <a:t>"qty"</a:t>
            </a:r>
            <a:r>
              <a:rPr sz="645" i="0">
                <a:solidFill>
                  <a:srgbClr val="E6EDF3"/>
                </a:solidFill>
                <a:latin typeface="Inconsolata"/>
              </a:rPr>
              <a:t>: qty}</a:t>
            </a:r>
          </a:p>
        </p:txBody>
      </p:sp>
      <p:sp>
        <p:nvSpPr>
          <p:cNvPr id="36" name="Box 21"/>
          <p:cNvSpPr/>
          <p:nvPr/>
        </p:nvSpPr>
        <p:spPr>
          <a:xfrm>
            <a:off x="704088" y="2534920"/>
            <a:ext cx="3694176" cy="705103"/>
          </a:xfrm>
          <a:prstGeom prst="roundRect">
            <a:avLst>
              <a:gd name="adj" fmla="val 648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7686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449320"/>
            <a:ext cx="3694176" cy="806703"/>
          </a:xfrm>
          <a:prstGeom prst="roundRect">
            <a:avLst>
              <a:gd name="adj" fmla="val 566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7338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1823720"/>
            <a:ext cx="3694176" cy="400304"/>
          </a:xfrm>
          <a:prstGeom prst="roundRect">
            <a:avLst>
              <a:gd name="adj" fmla="val 1142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19050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42" name="Box 27"/>
          <p:cNvSpPr/>
          <p:nvPr/>
        </p:nvSpPr>
        <p:spPr>
          <a:xfrm>
            <a:off x="4709159" y="3347720"/>
            <a:ext cx="3694176" cy="197104"/>
          </a:xfrm>
          <a:prstGeom prst="roundRect">
            <a:avLst>
              <a:gd name="adj" fmla="val 2319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3" name="Box 28"/>
          <p:cNvSpPr/>
          <p:nvPr/>
        </p:nvSpPr>
        <p:spPr>
          <a:xfrm>
            <a:off x="8284463" y="33274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44" name="Box 29"/>
          <p:cNvSpPr/>
          <p:nvPr/>
        </p:nvSpPr>
        <p:spPr>
          <a:xfrm>
            <a:off x="4709159" y="4262119"/>
            <a:ext cx="3694176" cy="95504"/>
          </a:xfrm>
          <a:prstGeom prst="roundRect">
            <a:avLst>
              <a:gd name="adj" fmla="val 47872"/>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Exception Handling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05-exception-handling/after.py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sesi-04-modular-fastapi-orm-transactions/05-exception-handling</a:t>
            </a:r>
          </a:p>
          <a:p>
            <a:pPr>
              <a:lnSpc>
                <a:spcPct val="107527"/>
              </a:lnSpc>
              <a:spcAft>
                <a:spcPts val="0"/>
              </a:spcAft>
            </a:pPr>
            <a:r>
              <a:rPr sz="775" i="0">
                <a:solidFill>
                  <a:srgbClr val="82B1FF"/>
                </a:solidFill>
                <a:latin typeface="Inconsolata"/>
              </a:rPr>
              <a:t>$ uvicorn after:app --reload</a:t>
            </a:r>
          </a:p>
        </p:txBody>
      </p:sp>
      <p:pic>
        <p:nvPicPr>
          <p:cNvPr id="29" name="Image 12" descr="s04-05-exception-handling-after.png"/>
          <p:cNvPicPr>
            <a:picLocks noChangeAspect="1"/>
          </p:cNvPicPr>
          <p:nvPr/>
        </p:nvPicPr>
        <p:blipFill>
          <a:blip r:embed="rId2"/>
          <a:stretch>
            <a:fillRect/>
          </a:stretch>
        </p:blipFill>
        <p:spPr>
          <a:xfrm>
            <a:off x="621792" y="2240280"/>
            <a:ext cx="4297680" cy="2596785"/>
          </a:xfrm>
          <a:prstGeom prst="rect">
            <a:avLst/>
          </a:prstGeom>
        </p:spPr>
      </p:pic>
      <p:sp>
        <p:nvSpPr>
          <p:cNvPr id="30" name="Text 13"/>
          <p:cNvSpPr txBox="1"/>
          <p:nvPr/>
        </p:nvSpPr>
        <p:spPr>
          <a:xfrm>
            <a:off x="621792" y="4882785"/>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Request yang sama: dua error, satu bentuk {"error": {code, message}}</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Satu class dasar </a:t>
            </a:r>
            <a:r>
              <a:rPr sz="950" b="0" i="0">
                <a:solidFill>
                  <a:srgbClr val="B5482A"/>
                </a:solidFill>
                <a:latin typeface="Inconsolata"/>
              </a:rPr>
              <a:t>AppError</a:t>
            </a:r>
            <a:r>
              <a:rPr sz="950" b="0" i="0">
                <a:solidFill>
                  <a:srgbClr val="434343"/>
                </a:solidFill>
                <a:latin typeface="Inter"/>
              </a:rPr>
              <a:t> dengan </a:t>
            </a:r>
            <a:r>
              <a:rPr sz="950" b="0" i="0">
                <a:solidFill>
                  <a:srgbClr val="B5482A"/>
                </a:solidFill>
                <a:latin typeface="Inconsolata"/>
              </a:rPr>
              <a:t>code</a:t>
            </a:r>
            <a:r>
              <a:rPr sz="950" b="0" i="0">
                <a:solidFill>
                  <a:srgbClr val="434343"/>
                </a:solidFill>
                <a:latin typeface="Inter"/>
              </a:rPr>
              <a:t> dan </a:t>
            </a:r>
            <a:r>
              <a:rPr sz="950" b="0" i="0">
                <a:solidFill>
                  <a:srgbClr val="B5482A"/>
                </a:solidFill>
                <a:latin typeface="Inconsolata"/>
              </a:rPr>
              <a:t>status_code</a:t>
            </a:r>
            <a:r>
              <a:rPr sz="950" b="0" i="0">
                <a:solidFill>
                  <a:srgbClr val="434343"/>
                </a:solidFill>
                <a:latin typeface="Inter"/>
              </a:rPr>
              <a:t> (baris 17-23)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Setiap error cukup mengisi </a:t>
            </a:r>
            <a:r>
              <a:rPr sz="950" b="0" i="0">
                <a:solidFill>
                  <a:srgbClr val="B5482A"/>
                </a:solidFill>
                <a:latin typeface="Inconsolata"/>
              </a:rPr>
              <a:t>code</a:t>
            </a:r>
            <a:r>
              <a:rPr sz="950" b="0" i="0">
                <a:solidFill>
                  <a:srgbClr val="434343"/>
                </a:solidFill>
                <a:latin typeface="Inter"/>
              </a:rPr>
              <a:t> dan </a:t>
            </a:r>
            <a:r>
              <a:rPr sz="950" b="0" i="0">
                <a:solidFill>
                  <a:srgbClr val="B5482A"/>
                </a:solidFill>
                <a:latin typeface="Inconsolata"/>
              </a:rPr>
              <a:t>status_code</a:t>
            </a:r>
            <a:r>
              <a:rPr sz="950" b="0" i="0">
                <a:solidFill>
                  <a:srgbClr val="434343"/>
                </a:solidFill>
                <a:latin typeface="Inter"/>
              </a:rPr>
              <a:t> (baris 26-33)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Satu handler untuk semua </a:t>
            </a:r>
            <a:r>
              <a:rPr sz="950" b="0" i="0">
                <a:solidFill>
                  <a:srgbClr val="B5482A"/>
                </a:solidFill>
                <a:latin typeface="Inconsolata"/>
              </a:rPr>
              <a:t>AppError</a:t>
            </a:r>
            <a:r>
              <a:rPr sz="950" b="0" i="0">
                <a:solidFill>
                  <a:srgbClr val="434343"/>
                </a:solidFill>
                <a:latin typeface="Inter"/>
              </a:rPr>
              <a:t> (baris 36-39)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Route tanpa try/except, cukup </a:t>
            </a:r>
            <a:r>
              <a:rPr sz="950" b="0" i="0">
                <a:solidFill>
                  <a:srgbClr val="B5482A"/>
                </a:solidFill>
                <a:latin typeface="Inconsolata"/>
              </a:rPr>
              <a:t>raise</a:t>
            </a:r>
            <a:r>
              <a:rPr sz="950" b="0" i="0">
                <a:solidFill>
                  <a:srgbClr val="434343"/>
                </a:solidFill>
                <a:latin typeface="Inter"/>
              </a:rPr>
              <a:t> (baris 51-52, 60)</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OpenAPI</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OpenAPI?</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OpenAPI adalah</a:t>
            </a:r>
          </a:p>
          <a:p>
            <a:pPr algn="l">
              <a:lnSpc>
                <a:spcPct val="115000"/>
              </a:lnSpc>
              <a:spcAft>
                <a:spcPts val="400"/>
              </a:spcAft>
            </a:pPr>
            <a:r>
              <a:rPr sz="900" b="0" i="0">
                <a:solidFill>
                  <a:srgbClr val="434343"/>
                </a:solidFill>
                <a:latin typeface="Inter"/>
              </a:rPr>
              <a:t>Standar format untuk </a:t>
            </a:r>
            <a:r>
              <a:rPr sz="900" b="1" i="0">
                <a:solidFill>
                  <a:srgbClr val="434343"/>
                </a:solidFill>
                <a:latin typeface="Inter"/>
              </a:rPr>
              <a:t>mendeskripsikan REST API</a:t>
            </a:r>
            <a:r>
              <a:rPr sz="900" b="0" i="0">
                <a:solidFill>
                  <a:srgbClr val="434343"/>
                </a:solidFill>
                <a:latin typeface="Inter"/>
              </a:rPr>
              <a:t>, mulai dari endpoint, request, sampai response. FastAPI membuatnya otomatis dari kode (route, schema, type hint), lalu menampilkannya di </a:t>
            </a:r>
            <a:r>
              <a:rPr sz="900" b="0" i="0">
                <a:solidFill>
                  <a:srgbClr val="B5482A"/>
                </a:solidFill>
                <a:latin typeface="Inconsolata"/>
              </a:rPr>
              <a:t>/docs</a:t>
            </a:r>
            <a:r>
              <a:rPr sz="900" b="0" i="0">
                <a:solidFill>
                  <a:srgbClr val="434343"/>
                </a:solidFill>
                <a:latin typeface="Inter"/>
              </a:rPr>
              <a:t> (Swagger UI). Kita cukup melengkapi metadatanya.</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Menyediakan dokumentasi di </a:t>
            </a:r>
            <a:r>
              <a:rPr sz="900" b="0" i="0">
                <a:solidFill>
                  <a:srgbClr val="B5482A"/>
                </a:solidFill>
                <a:latin typeface="Inconsolata"/>
              </a:rPr>
              <a:t>/docs</a:t>
            </a:r>
            <a:r>
              <a:rPr sz="900" b="0" i="0">
                <a:solidFill>
                  <a:srgbClr val="434343"/>
                </a:solidFill>
                <a:latin typeface="Inter"/>
              </a:rPr>
              <a:t> yang bisa langsung dicoba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Mencatat bentuk response sukses dan error</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dokumentasi seadanya: 06-openapi/before.py</a:t>
            </a:r>
          </a:p>
        </p:txBody>
      </p:sp>
      <p:sp>
        <p:nvSpPr>
          <p:cNvPr id="28" name="CodeBg 11"/>
          <p:cNvSpPr/>
          <p:nvPr/>
        </p:nvSpPr>
        <p:spPr>
          <a:xfrm>
            <a:off x="4297680" y="1719072"/>
            <a:ext cx="4187951" cy="923544"/>
          </a:xfrm>
          <a:prstGeom prst="roundRect">
            <a:avLst>
              <a:gd name="adj" fmla="val 198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923544"/>
          </a:xfrm>
          <a:prstGeom prst="rect">
            <a:avLst/>
          </a:prstGeom>
          <a:noFill/>
        </p:spPr>
        <p:txBody>
          <a:bodyPr wrap="none" lIns="146304" tIns="91440" rIns="146304" bIns="54864">
            <a:spAutoFit/>
          </a:bodyPr>
          <a:lstStyle/>
          <a:p>
            <a:pPr>
              <a:lnSpc>
                <a:spcPct val="107527"/>
              </a:lnSpc>
              <a:spcAft>
                <a:spcPts val="0"/>
              </a:spcAft>
            </a:pPr>
            <a:r>
              <a:rPr sz="775" i="0">
                <a:solidFill>
                  <a:srgbClr val="E6EDF3"/>
                </a:solidFill>
                <a:latin typeface="Inconsolata"/>
              </a:rPr>
              <a:t>app = </a:t>
            </a:r>
            <a:r>
              <a:rPr sz="775" i="0">
                <a:solidFill>
                  <a:srgbClr val="7FDBCA"/>
                </a:solidFill>
                <a:latin typeface="Inconsolata"/>
              </a:rPr>
              <a:t>FastAPI</a:t>
            </a:r>
            <a:r>
              <a:rPr sz="775" i="0">
                <a:solidFill>
                  <a:srgbClr val="E6EDF3"/>
                </a:solidFill>
                <a:latin typeface="Inconsolata"/>
              </a:rPr>
              <a:t>()</a:t>
            </a:r>
          </a:p>
          <a:p>
            <a:pPr>
              <a:lnSpc>
                <a:spcPct val="107527"/>
              </a:lnSpc>
              <a:spcAft>
                <a:spcPts val="0"/>
              </a:spcAft>
            </a:pPr>
            <a:r>
              <a:rPr sz="775" i="0">
                <a:solidFill>
                  <a:srgbClr val="E6EDF3"/>
                </a:solidFill>
                <a:latin typeface="Inconsolata"/>
              </a:rPr>
              <a:t>...</a:t>
            </a:r>
          </a:p>
          <a:p>
            <a:pPr>
              <a:lnSpc>
                <a:spcPct val="107527"/>
              </a:lnSpc>
              <a:spcAft>
                <a:spcPts val="0"/>
              </a:spcAft>
            </a:pPr>
            <a:r>
              <a:rPr sz="775" i="0">
                <a:solidFill>
                  <a:srgbClr val="F9C97A"/>
                </a:solidFill>
                <a:latin typeface="Inconsolata"/>
              </a:rPr>
              <a:t>@app.get</a:t>
            </a:r>
            <a:r>
              <a:rPr sz="775" i="0">
                <a:solidFill>
                  <a:srgbClr val="E6EDF3"/>
                </a:solidFill>
                <a:latin typeface="Inconsolata"/>
              </a:rPr>
              <a:t>(</a:t>
            </a:r>
            <a:r>
              <a:rPr sz="775" i="0">
                <a:solidFill>
                  <a:srgbClr val="A5D6A7"/>
                </a:solidFill>
                <a:latin typeface="Inconsolata"/>
              </a:rPr>
              <a:t>"/orders/{order_id}"</a:t>
            </a:r>
            <a:r>
              <a:rPr sz="775" i="0">
                <a:solidFill>
                  <a:srgbClr val="E6EDF3"/>
                </a:solidFill>
                <a:latin typeface="Inconsolata"/>
              </a:rPr>
              <a:t>)</a:t>
            </a:r>
          </a:p>
          <a:p>
            <a:pPr>
              <a:lnSpc>
                <a:spcPct val="107527"/>
              </a:lnSpc>
              <a:spcAft>
                <a:spcPts val="0"/>
              </a:spcAft>
            </a:pP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get_order</a:t>
            </a:r>
            <a:r>
              <a:rPr sz="775" i="0">
                <a:solidFill>
                  <a:srgbClr val="E6EDF3"/>
                </a:solidFill>
                <a:latin typeface="Inconsolata"/>
              </a:rPr>
              <a:t>(order_id: </a:t>
            </a:r>
            <a:r>
              <a:rPr sz="775" i="0">
                <a:solidFill>
                  <a:srgbClr val="C3A6FF"/>
                </a:solidFill>
                <a:latin typeface="Inconsolata"/>
              </a:rPr>
              <a:t>int</a:t>
            </a:r>
            <a:r>
              <a:rPr sz="775" i="0">
                <a:solidFill>
                  <a:srgbClr val="E6EDF3"/>
                </a:solidFill>
                <a:latin typeface="Inconsolata"/>
              </a:rPr>
              <a:t>):</a:t>
            </a:r>
          </a:p>
          <a:p>
            <a:pPr>
              <a:lnSpc>
                <a:spcPct val="107527"/>
              </a:lnSpc>
              <a:spcAft>
                <a:spcPts val="0"/>
              </a:spcAft>
            </a:pPr>
            <a:r>
              <a:rPr sz="775" i="0">
                <a:solidFill>
                  <a:srgbClr val="E6EDF3"/>
                </a:solidFill>
                <a:latin typeface="Inconsolata"/>
              </a:rPr>
              <a:t>    </a:t>
            </a:r>
            <a:r>
              <a:rPr sz="775" i="0">
                <a:solidFill>
                  <a:srgbClr val="FF8E6E"/>
                </a:solidFill>
                <a:latin typeface="Inconsolata"/>
              </a:rPr>
              <a:t>if</a:t>
            </a:r>
            <a:r>
              <a:rPr sz="775" i="0">
                <a:solidFill>
                  <a:srgbClr val="E6EDF3"/>
                </a:solidFill>
                <a:latin typeface="Inconsolata"/>
              </a:rPr>
              <a:t> order_id </a:t>
            </a:r>
            <a:r>
              <a:rPr sz="775" i="0">
                <a:solidFill>
                  <a:srgbClr val="FF8E6E"/>
                </a:solidFill>
                <a:latin typeface="Inconsolata"/>
              </a:rPr>
              <a:t>not</a:t>
            </a:r>
            <a:r>
              <a:rPr sz="775" i="0">
                <a:solidFill>
                  <a:srgbClr val="E6EDF3"/>
                </a:solidFill>
                <a:latin typeface="Inconsolata"/>
              </a:rPr>
              <a:t> </a:t>
            </a:r>
            <a:r>
              <a:rPr sz="775" i="0">
                <a:solidFill>
                  <a:srgbClr val="FF8E6E"/>
                </a:solidFill>
                <a:latin typeface="Inconsolata"/>
              </a:rPr>
              <a:t>in</a:t>
            </a:r>
            <a:r>
              <a:rPr sz="775" i="0">
                <a:solidFill>
                  <a:srgbClr val="E6EDF3"/>
                </a:solidFill>
                <a:latin typeface="Inconsolata"/>
              </a:rPr>
              <a:t> </a:t>
            </a:r>
            <a:r>
              <a:rPr sz="775" i="0">
                <a:solidFill>
                  <a:srgbClr val="7FDBCA"/>
                </a:solidFill>
                <a:latin typeface="Inconsolata"/>
              </a:rPr>
              <a:t>ORDERS</a:t>
            </a:r>
            <a:r>
              <a:rPr sz="775" i="0">
                <a:solidFill>
                  <a:srgbClr val="E6EDF3"/>
                </a:solidFill>
                <a:latin typeface="Inconsolata"/>
              </a:rPr>
              <a:t>:</a:t>
            </a:r>
          </a:p>
          <a:p>
            <a:pPr>
              <a:lnSpc>
                <a:spcPct val="107527"/>
              </a:lnSpc>
              <a:spcAft>
                <a:spcPts val="0"/>
              </a:spcAft>
            </a:pPr>
            <a:r>
              <a:rPr sz="775" i="0">
                <a:solidFill>
                  <a:srgbClr val="E6EDF3"/>
                </a:solidFill>
                <a:latin typeface="Inconsolata"/>
              </a:rPr>
              <a:t>        </a:t>
            </a:r>
            <a:r>
              <a:rPr sz="775" i="0">
                <a:solidFill>
                  <a:srgbClr val="FF8E6E"/>
                </a:solidFill>
                <a:latin typeface="Inconsolata"/>
              </a:rPr>
              <a:t>raise</a:t>
            </a:r>
            <a:r>
              <a:rPr sz="775" i="0">
                <a:solidFill>
                  <a:srgbClr val="E6EDF3"/>
                </a:solidFill>
                <a:latin typeface="Inconsolata"/>
              </a:rPr>
              <a:t> </a:t>
            </a:r>
            <a:r>
              <a:rPr sz="775" i="0">
                <a:solidFill>
                  <a:srgbClr val="7FDBCA"/>
                </a:solidFill>
                <a:latin typeface="Inconsolata"/>
              </a:rPr>
              <a:t>HTTPException</a:t>
            </a:r>
            <a:r>
              <a:rPr sz="775" i="0">
                <a:solidFill>
                  <a:srgbClr val="E6EDF3"/>
                </a:solidFill>
                <a:latin typeface="Inconsolata"/>
              </a:rPr>
              <a:t>(</a:t>
            </a:r>
            <a:r>
              <a:rPr sz="775" i="0">
                <a:solidFill>
                  <a:srgbClr val="F9C97A"/>
                </a:solidFill>
                <a:latin typeface="Inconsolata"/>
              </a:rPr>
              <a:t>404</a:t>
            </a:r>
            <a:r>
              <a:rPr sz="775" i="0">
                <a:solidFill>
                  <a:srgbClr val="E6EDF3"/>
                </a:solidFill>
                <a:latin typeface="Inconsolata"/>
              </a:rPr>
              <a:t>, </a:t>
            </a:r>
            <a:r>
              <a:rPr sz="775" i="0">
                <a:solidFill>
                  <a:srgbClr val="A5D6A7"/>
                </a:solidFill>
                <a:latin typeface="Inconsolata"/>
              </a:rPr>
              <a:t>"Order tidak ditemukan"</a:t>
            </a:r>
            <a:r>
              <a:rPr sz="775" i="0">
                <a:solidFill>
                  <a:srgbClr val="E6EDF3"/>
                </a:solidFill>
                <a:latin typeface="Inconsolata"/>
              </a:rPr>
              <a:t>)</a:t>
            </a:r>
          </a:p>
        </p:txBody>
      </p:sp>
      <p:sp>
        <p:nvSpPr>
          <p:cNvPr id="30" name="Box 13"/>
          <p:cNvSpPr/>
          <p:nvPr/>
        </p:nvSpPr>
        <p:spPr>
          <a:xfrm>
            <a:off x="4379976" y="1827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4"/>
          <p:cNvSpPr/>
          <p:nvPr/>
        </p:nvSpPr>
        <p:spPr>
          <a:xfrm>
            <a:off x="4379976" y="2081022"/>
            <a:ext cx="4023359"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CodeTab 16"/>
          <p:cNvSpPr/>
          <p:nvPr/>
        </p:nvSpPr>
        <p:spPr>
          <a:xfrm>
            <a:off x="4297680" y="2734056"/>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Dot 17"/>
          <p:cNvSpPr/>
          <p:nvPr/>
        </p:nvSpPr>
        <p:spPr>
          <a:xfrm>
            <a:off x="4407408" y="2811780"/>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544568" y="2811780"/>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Dot 19"/>
          <p:cNvSpPr/>
          <p:nvPr/>
        </p:nvSpPr>
        <p:spPr>
          <a:xfrm>
            <a:off x="4681728" y="2811780"/>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 20"/>
          <p:cNvSpPr txBox="1"/>
          <p:nvPr/>
        </p:nvSpPr>
        <p:spPr>
          <a:xfrm>
            <a:off x="4846320" y="2743200"/>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dokumentasi lengkap: 06-openapi/after.py</a:t>
            </a:r>
          </a:p>
        </p:txBody>
      </p:sp>
      <p:sp>
        <p:nvSpPr>
          <p:cNvPr id="37" name="CodeBg 22"/>
          <p:cNvSpPr/>
          <p:nvPr/>
        </p:nvSpPr>
        <p:spPr>
          <a:xfrm>
            <a:off x="4297680" y="2971800"/>
            <a:ext cx="4187951" cy="1728216"/>
          </a:xfrm>
          <a:prstGeom prst="roundRect">
            <a:avLst>
              <a:gd name="adj" fmla="val 1058"/>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Code 23"/>
          <p:cNvSpPr txBox="1"/>
          <p:nvPr/>
        </p:nvSpPr>
        <p:spPr>
          <a:xfrm>
            <a:off x="4297680" y="2971800"/>
            <a:ext cx="4187951" cy="1728216"/>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app = </a:t>
            </a:r>
            <a:r>
              <a:rPr sz="850" i="0">
                <a:solidFill>
                  <a:srgbClr val="7FDBCA"/>
                </a:solidFill>
                <a:latin typeface="Inconsolata"/>
              </a:rPr>
              <a:t>FastAPI</a:t>
            </a:r>
            <a:r>
              <a:rPr sz="850" i="0">
                <a:solidFill>
                  <a:srgbClr val="E6EDF3"/>
                </a:solidFill>
                <a:latin typeface="Inconsolata"/>
              </a:rPr>
              <a:t>(</a:t>
            </a:r>
          </a:p>
          <a:p>
            <a:pPr>
              <a:lnSpc>
                <a:spcPct val="107843"/>
              </a:lnSpc>
              <a:spcAft>
                <a:spcPts val="0"/>
              </a:spcAft>
            </a:pPr>
            <a:r>
              <a:rPr sz="850" i="0">
                <a:solidFill>
                  <a:srgbClr val="E6EDF3"/>
                </a:solidFill>
                <a:latin typeface="Inconsolata"/>
              </a:rPr>
              <a:t>    title=</a:t>
            </a:r>
            <a:r>
              <a:rPr sz="850" i="0">
                <a:solidFill>
                  <a:srgbClr val="A5D6A7"/>
                </a:solidFill>
                <a:latin typeface="Inconsolata"/>
              </a:rPr>
              <a:t>"Order API"</a:t>
            </a:r>
            <a:r>
              <a:rPr sz="850" i="0">
                <a:solidFill>
                  <a:srgbClr val="E6EDF3"/>
                </a:solidFill>
                <a:latin typeface="Inconsolata"/>
              </a:rPr>
              <a:t>,</a:t>
            </a:r>
          </a:p>
          <a:p>
            <a:pPr>
              <a:lnSpc>
                <a:spcPct val="107843"/>
              </a:lnSpc>
              <a:spcAft>
                <a:spcPts val="0"/>
              </a:spcAft>
            </a:pPr>
            <a:r>
              <a:rPr sz="850" i="0">
                <a:solidFill>
                  <a:srgbClr val="E6EDF3"/>
                </a:solidFill>
                <a:latin typeface="Inconsolata"/>
              </a:rPr>
              <a:t>    version=</a:t>
            </a:r>
            <a:r>
              <a:rPr sz="850" i="0">
                <a:solidFill>
                  <a:srgbClr val="A5D6A7"/>
                </a:solidFill>
                <a:latin typeface="Inconsolata"/>
              </a:rPr>
              <a:t>"1.0.0"</a:t>
            </a:r>
            <a:r>
              <a:rPr sz="850" i="0">
                <a:solidFill>
                  <a:srgbClr val="E6EDF3"/>
                </a:solidFill>
                <a:latin typeface="Inconsolata"/>
              </a:rPr>
              <a:t>,</a:t>
            </a:r>
          </a:p>
          <a:p>
            <a:pPr>
              <a:lnSpc>
                <a:spcPct val="107843"/>
              </a:lnSpc>
              <a:spcAft>
                <a:spcPts val="0"/>
              </a:spcAft>
            </a:pPr>
            <a:r>
              <a:rPr sz="850" i="0">
                <a:solidFill>
                  <a:srgbClr val="E6EDF3"/>
                </a:solidFill>
                <a:latin typeface="Inconsolata"/>
              </a:rPr>
              <a:t>    description=</a:t>
            </a:r>
            <a:r>
              <a:rPr sz="850" i="0">
                <a:solidFill>
                  <a:srgbClr val="A5D6A7"/>
                </a:solidFill>
                <a:latin typeface="Inconsolata"/>
              </a:rPr>
              <a:t>"API untuk membuat dan melihat order."</a:t>
            </a:r>
            <a:r>
              <a:rPr sz="850" i="0">
                <a:solidFill>
                  <a:srgbClr val="E6EDF3"/>
                </a:solidFill>
                <a:latin typeface="Inconsolata"/>
              </a:rPr>
              <a:t>,</a:t>
            </a:r>
          </a:p>
          <a:p>
            <a:pPr>
              <a:lnSpc>
                <a:spcPct val="107843"/>
              </a:lnSpc>
              <a:spcAft>
                <a:spcPts val="0"/>
              </a:spcAft>
            </a:pPr>
            <a:r>
              <a:rPr sz="850" i="0">
                <a:solidFill>
                  <a:srgbClr val="E6EDF3"/>
                </a:solidFill>
                <a:latin typeface="Inconsolata"/>
              </a:rPr>
              <a:t>...</a:t>
            </a:r>
          </a:p>
          <a:p>
            <a:pPr>
              <a:lnSpc>
                <a:spcPct val="107843"/>
              </a:lnSpc>
              <a:spcAft>
                <a:spcPts val="0"/>
              </a:spcAft>
            </a:pPr>
            <a:r>
              <a:rPr sz="850" i="0">
                <a:solidFill>
                  <a:srgbClr val="F9C97A"/>
                </a:solidFill>
                <a:latin typeface="Inconsolata"/>
              </a:rPr>
              <a:t>@app.get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A5D6A7"/>
                </a:solidFill>
                <a:latin typeface="Inconsolata"/>
              </a:rPr>
              <a:t>"/orders/{order_id}"</a:t>
            </a:r>
            <a:r>
              <a:rPr sz="850" i="0">
                <a:solidFill>
                  <a:srgbClr val="E6EDF3"/>
                </a:solidFill>
                <a:latin typeface="Inconsolata"/>
              </a:rPr>
              <a:t>, response_model=</a:t>
            </a:r>
            <a:r>
              <a:rPr sz="850" i="0">
                <a:solidFill>
                  <a:srgbClr val="7FDBCA"/>
                </a:solidFill>
                <a:latin typeface="Inconsolata"/>
              </a:rPr>
              <a:t>OrderOut</a:t>
            </a:r>
            <a:r>
              <a:rPr sz="850" i="0">
                <a:solidFill>
                  <a:srgbClr val="E6EDF3"/>
                </a:solidFill>
                <a:latin typeface="Inconsolata"/>
              </a:rPr>
              <a:t>,</a:t>
            </a:r>
          </a:p>
          <a:p>
            <a:pPr>
              <a:lnSpc>
                <a:spcPct val="107843"/>
              </a:lnSpc>
              <a:spcAft>
                <a:spcPts val="0"/>
              </a:spcAft>
            </a:pPr>
            <a:r>
              <a:rPr sz="850" i="0">
                <a:solidFill>
                  <a:srgbClr val="E6EDF3"/>
                </a:solidFill>
                <a:latin typeface="Inconsolata"/>
              </a:rPr>
              <a:t>    tags=[</a:t>
            </a:r>
            <a:r>
              <a:rPr sz="850" i="0">
                <a:solidFill>
                  <a:srgbClr val="A5D6A7"/>
                </a:solidFill>
                <a:latin typeface="Inconsolata"/>
              </a:rPr>
              <a:t>"orders"</a:t>
            </a:r>
            <a:r>
              <a:rPr sz="850" i="0">
                <a:solidFill>
                  <a:srgbClr val="E6EDF3"/>
                </a:solidFill>
                <a:latin typeface="Inconsolata"/>
              </a:rPr>
              <a:t>], summary=</a:t>
            </a:r>
            <a:r>
              <a:rPr sz="850" i="0">
                <a:solidFill>
                  <a:srgbClr val="A5D6A7"/>
                </a:solidFill>
                <a:latin typeface="Inconsolata"/>
              </a:rPr>
              <a:t>"Lihat detail order"</a:t>
            </a:r>
            <a:r>
              <a:rPr sz="850" i="0">
                <a:solidFill>
                  <a:srgbClr val="E6EDF3"/>
                </a:solidFill>
                <a:latin typeface="Inconsolata"/>
              </a:rPr>
              <a:t>,</a:t>
            </a:r>
          </a:p>
          <a:p>
            <a:pPr>
              <a:lnSpc>
                <a:spcPct val="107843"/>
              </a:lnSpc>
              <a:spcAft>
                <a:spcPts val="0"/>
              </a:spcAft>
            </a:pPr>
            <a:r>
              <a:rPr sz="850" i="0">
                <a:solidFill>
                  <a:srgbClr val="E6EDF3"/>
                </a:solidFill>
                <a:latin typeface="Inconsolata"/>
              </a:rPr>
              <a:t>    responses={</a:t>
            </a:r>
            <a:r>
              <a:rPr sz="850" i="0">
                <a:solidFill>
                  <a:srgbClr val="F9C97A"/>
                </a:solidFill>
                <a:latin typeface="Inconsolata"/>
              </a:rPr>
              <a:t>404</a:t>
            </a:r>
            <a:r>
              <a:rPr sz="850" i="0">
                <a:solidFill>
                  <a:srgbClr val="E6EDF3"/>
                </a:solidFill>
                <a:latin typeface="Inconsolata"/>
              </a:rPr>
              <a:t>: {</a:t>
            </a:r>
            <a:r>
              <a:rPr sz="850" i="0">
                <a:solidFill>
                  <a:srgbClr val="A5D6A7"/>
                </a:solidFill>
                <a:latin typeface="Inconsolata"/>
              </a:rPr>
              <a:t>"model"</a:t>
            </a:r>
            <a:r>
              <a:rPr sz="850" i="0">
                <a:solidFill>
                  <a:srgbClr val="E6EDF3"/>
                </a:solidFill>
                <a:latin typeface="Inconsolata"/>
              </a:rPr>
              <a:t>: </a:t>
            </a:r>
            <a:r>
              <a:rPr sz="850" i="0">
                <a:solidFill>
                  <a:srgbClr val="7FDBCA"/>
                </a:solidFill>
                <a:latin typeface="Inconsolata"/>
              </a:rPr>
              <a:t>ErrorOut</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A5D6A7"/>
                </a:solidFill>
                <a:latin typeface="Inconsolata"/>
              </a:rPr>
              <a:t>"description"</a:t>
            </a:r>
            <a:r>
              <a:rPr sz="850" i="0">
                <a:solidFill>
                  <a:srgbClr val="E6EDF3"/>
                </a:solidFill>
                <a:latin typeface="Inconsolata"/>
              </a:rPr>
              <a:t>: </a:t>
            </a:r>
            <a:r>
              <a:rPr sz="850" i="0">
                <a:solidFill>
                  <a:srgbClr val="A5D6A7"/>
                </a:solidFill>
                <a:latin typeface="Inconsolata"/>
              </a:rPr>
              <a:t>"Order tidak ditemukan"</a:t>
            </a:r>
            <a:r>
              <a:rPr sz="850" i="0">
                <a:solidFill>
                  <a:srgbClr val="E6EDF3"/>
                </a:solidFill>
                <a:latin typeface="Inconsolata"/>
              </a:rPr>
              <a:t>}},</a:t>
            </a:r>
          </a:p>
          <a:p>
            <a:pPr>
              <a:lnSpc>
                <a:spcPct val="107843"/>
              </a:lnSpc>
              <a:spcAft>
                <a:spcPts val="0"/>
              </a:spcAft>
            </a:pPr>
            <a:r>
              <a:rPr sz="850" i="0">
                <a:solidFill>
                  <a:srgbClr val="E6EDF3"/>
                </a:solidFill>
                <a:latin typeface="Inconsolata"/>
              </a:rPr>
              <a:t>)</a:t>
            </a:r>
          </a:p>
        </p:txBody>
      </p:sp>
      <p:sp>
        <p:nvSpPr>
          <p:cNvPr id="39" name="Box 24"/>
          <p:cNvSpPr/>
          <p:nvPr/>
        </p:nvSpPr>
        <p:spPr>
          <a:xfrm>
            <a:off x="4379976" y="3221101"/>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4379976" y="4059301"/>
            <a:ext cx="4023359"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OpenAPI</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OpenAPI?</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melengkapi OpenAPI</a:t>
            </a:r>
          </a:p>
          <a:p>
            <a:pPr algn="l">
              <a:lnSpc>
                <a:spcPct val="115000"/>
              </a:lnSpc>
              <a:spcAft>
                <a:spcPts val="400"/>
              </a:spcAft>
            </a:pPr>
            <a:r>
              <a:rPr sz="950" b="0" i="0">
                <a:solidFill>
                  <a:srgbClr val="434343"/>
                </a:solidFill>
                <a:latin typeface="Inter"/>
              </a:rPr>
              <a:t>FastAPI tetap membuat dokumentasi di </a:t>
            </a:r>
            <a:r>
              <a:rPr sz="950" b="0" i="0">
                <a:solidFill>
                  <a:srgbClr val="B5482A"/>
                </a:solidFill>
                <a:latin typeface="Inconsolata"/>
              </a:rPr>
              <a:t>/docs</a:t>
            </a:r>
            <a:r>
              <a:rPr sz="950" b="0" i="0">
                <a:solidFill>
                  <a:srgbClr val="434343"/>
                </a:solidFill>
                <a:latin typeface="Inter"/>
              </a:rPr>
              <a:t>, tapi seadanya. Judulnya "FastAPI" versi 0.1.0, nama endpoint ditebak dari nama function, dan error 404 tidak tercatat.</a:t>
            </a:r>
          </a:p>
          <a:p>
            <a:pPr algn="l">
              <a:lnSpc>
                <a:spcPct val="115000"/>
              </a:lnSpc>
              <a:spcAft>
                <a:spcPts val="400"/>
              </a:spcAft>
            </a:pPr>
            <a:r>
              <a:rPr sz="1050" b="1" i="0">
                <a:solidFill>
                  <a:srgbClr val="1C4587"/>
                </a:solidFill>
                <a:latin typeface="Inter"/>
              </a:rPr>
              <a:t>Jika API-nya makin banyak dipakai</a:t>
            </a:r>
          </a:p>
          <a:p>
            <a:pPr algn="l">
              <a:lnSpc>
                <a:spcPct val="115000"/>
              </a:lnSpc>
              <a:spcAft>
                <a:spcPts val="400"/>
              </a:spcAft>
            </a:pPr>
            <a:r>
              <a:rPr sz="950" b="0" i="0">
                <a:solidFill>
                  <a:srgbClr val="434343"/>
                </a:solidFill>
                <a:latin typeface="Inter"/>
              </a:rPr>
              <a:t>Tim frontend dan mobile harus bertanya dulu ke backend tentang field yang wajib, bentuk response, dan error yang mungkin muncul.</a:t>
            </a:r>
          </a:p>
          <a:p>
            <a:pPr algn="l">
              <a:lnSpc>
                <a:spcPct val="115000"/>
              </a:lnSpc>
              <a:spcAft>
                <a:spcPts val="400"/>
              </a:spcAft>
            </a:pPr>
            <a:r>
              <a:rPr sz="950" b="0" i="0">
                <a:solidFill>
                  <a:srgbClr val="434343"/>
                </a:solidFill>
                <a:latin typeface="Inter"/>
              </a:rPr>
              <a:t>Hal ini memperlambat integrasi dan rawan salah paham.</a:t>
            </a:r>
          </a:p>
          <a:p>
            <a:pPr algn="l">
              <a:lnSpc>
                <a:spcPct val="115000"/>
              </a:lnSpc>
              <a:spcAft>
                <a:spcPts val="400"/>
              </a:spcAft>
            </a:pPr>
            <a:r>
              <a:rPr sz="1050" b="1" i="0">
                <a:solidFill>
                  <a:srgbClr val="1C4587"/>
                </a:solidFill>
                <a:latin typeface="Inter"/>
              </a:rPr>
              <a:t>Yang dipakai dari FastAPI: parameter route</a:t>
            </a:r>
          </a:p>
          <a:p>
            <a:pPr algn="l">
              <a:lnSpc>
                <a:spcPct val="115000"/>
              </a:lnSpc>
              <a:spcAft>
                <a:spcPts val="400"/>
              </a:spcAft>
            </a:pPr>
            <a:r>
              <a:rPr sz="950" b="0" i="0">
                <a:solidFill>
                  <a:srgbClr val="434343"/>
                </a:solidFill>
                <a:latin typeface="Inter"/>
              </a:rPr>
              <a:t>Semua informasi dokumentasi ditulis sebagai parameter di </a:t>
            </a:r>
            <a:r>
              <a:rPr sz="950" b="0" i="0">
                <a:solidFill>
                  <a:srgbClr val="B5482A"/>
                </a:solidFill>
                <a:latin typeface="Inconsolata"/>
              </a:rPr>
              <a:t>FastAPI(...)</a:t>
            </a:r>
            <a:r>
              <a:rPr sz="950" b="0" i="0">
                <a:solidFill>
                  <a:srgbClr val="434343"/>
                </a:solidFill>
                <a:latin typeface="Inter"/>
              </a:rPr>
              <a:t> dan di decorator route.</a:t>
            </a:r>
          </a:p>
        </p:txBody>
      </p:sp>
      <p:graphicFrame>
        <p:nvGraphicFramePr>
          <p:cNvPr id="23" name="Table 4"/>
          <p:cNvGraphicFramePr>
            <a:graphicFrameLocks noGrp="1"/>
          </p:cNvGraphicFramePr>
          <p:nvPr/>
        </p:nvGraphicFramePr>
        <p:xfrm>
          <a:off x="4800600" y="1481328"/>
          <a:ext cx="3685032" cy="2057400"/>
        </p:xfrm>
        <a:graphic>
          <a:graphicData uri="http://schemas.openxmlformats.org/drawingml/2006/table">
            <a:tbl>
              <a:tblPr firstRow="1" bandRow="1"/>
              <a:tblGrid>
                <a:gridCol w="1764792">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Tampil di /docs sebagai</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850" b="1" i="0">
                          <a:solidFill>
                            <a:srgbClr val="1C4587"/>
                          </a:solidFill>
                          <a:latin typeface="Inter"/>
                        </a:rPr>
                        <a:t>title, version, description</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Judul dan keterangan API</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850" b="1" i="0">
                          <a:solidFill>
                            <a:srgbClr val="1C4587"/>
                          </a:solidFill>
                          <a:latin typeface="Inter"/>
                        </a:rPr>
                        <a:t>summary, tags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Nama dan kelompok endpoint</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850" b="1" i="0">
                          <a:solidFill>
                            <a:srgbClr val="1C4587"/>
                          </a:solidFill>
                          <a:latin typeface="Inter"/>
                        </a:rPr>
                        <a:t>response_model</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Bentuk response sukses</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850" b="1" i="0">
                          <a:solidFill>
                            <a:srgbClr val="1C4587"/>
                          </a:solidFill>
                          <a:latin typeface="Inter"/>
                        </a:rPr>
                        <a:t>responses={404: ...}</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Bentuk response error</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OpenAPI</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Dokumentasi masih seadanya</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06-openapi/before.py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6469"/>
              </a:lnSpc>
              <a:spcAft>
                <a:spcPts val="0"/>
              </a:spcAft>
            </a:pPr>
            <a:r>
              <a:rPr sz="782" i="0">
                <a:solidFill>
                  <a:srgbClr val="5C6773"/>
                </a:solidFill>
                <a:latin typeface="Inconsolata"/>
              </a:rPr>
              <a:t>11  </a:t>
            </a:r>
            <a:r>
              <a:rPr sz="782" i="0">
                <a:solidFill>
                  <a:srgbClr val="FF8E6E"/>
                </a:solidFill>
                <a:latin typeface="Inconsolata"/>
              </a:rPr>
              <a:t>from</a:t>
            </a:r>
            <a:r>
              <a:rPr sz="782" i="0">
                <a:solidFill>
                  <a:srgbClr val="E6EDF3"/>
                </a:solidFill>
                <a:latin typeface="Inconsolata"/>
              </a:rPr>
              <a:t> fastapi </a:t>
            </a:r>
            <a:r>
              <a:rPr sz="782" i="0">
                <a:solidFill>
                  <a:srgbClr val="FF8E6E"/>
                </a:solidFill>
                <a:latin typeface="Inconsolata"/>
              </a:rPr>
              <a:t>import</a:t>
            </a:r>
            <a:r>
              <a:rPr sz="782" i="0">
                <a:solidFill>
                  <a:srgbClr val="E6EDF3"/>
                </a:solidFill>
                <a:latin typeface="Inconsolata"/>
              </a:rPr>
              <a:t> </a:t>
            </a:r>
            <a:r>
              <a:rPr sz="782" i="0">
                <a:solidFill>
                  <a:srgbClr val="7FDBCA"/>
                </a:solidFill>
                <a:latin typeface="Inconsolata"/>
              </a:rPr>
              <a:t>FastAPI</a:t>
            </a:r>
            <a:r>
              <a:rPr sz="782" i="0">
                <a:solidFill>
                  <a:srgbClr val="E6EDF3"/>
                </a:solidFill>
                <a:latin typeface="Inconsolata"/>
              </a:rPr>
              <a:t>, </a:t>
            </a:r>
            <a:r>
              <a:rPr sz="782" i="0">
                <a:solidFill>
                  <a:srgbClr val="7FDBCA"/>
                </a:solidFill>
                <a:latin typeface="Inconsolata"/>
              </a:rPr>
              <a:t>HTTPException</a:t>
            </a:r>
          </a:p>
          <a:p>
            <a:pPr>
              <a:lnSpc>
                <a:spcPct val="106469"/>
              </a:lnSpc>
              <a:spcAft>
                <a:spcPts val="0"/>
              </a:spcAft>
            </a:pPr>
            <a:r>
              <a:rPr sz="782" i="0">
                <a:solidFill>
                  <a:srgbClr val="5C6773"/>
                </a:solidFill>
                <a:latin typeface="Inconsolata"/>
              </a:rPr>
              <a:t>12  </a:t>
            </a:r>
            <a:r>
              <a:rPr sz="782" i="0">
                <a:solidFill>
                  <a:srgbClr val="FF8E6E"/>
                </a:solidFill>
                <a:latin typeface="Inconsolata"/>
              </a:rPr>
              <a:t>from</a:t>
            </a:r>
            <a:r>
              <a:rPr sz="782" i="0">
                <a:solidFill>
                  <a:srgbClr val="E6EDF3"/>
                </a:solidFill>
                <a:latin typeface="Inconsolata"/>
              </a:rPr>
              <a:t> pydantic </a:t>
            </a:r>
            <a:r>
              <a:rPr sz="782" i="0">
                <a:solidFill>
                  <a:srgbClr val="FF8E6E"/>
                </a:solidFill>
                <a:latin typeface="Inconsolata"/>
              </a:rPr>
              <a:t>import</a:t>
            </a:r>
            <a:r>
              <a:rPr sz="782" i="0">
                <a:solidFill>
                  <a:srgbClr val="E6EDF3"/>
                </a:solidFill>
                <a:latin typeface="Inconsolata"/>
              </a:rPr>
              <a:t> </a:t>
            </a:r>
            <a:r>
              <a:rPr sz="782" i="0">
                <a:solidFill>
                  <a:srgbClr val="7FDBCA"/>
                </a:solidFill>
                <a:latin typeface="Inconsolata"/>
              </a:rPr>
              <a:t>BaseModel</a:t>
            </a:r>
          </a:p>
          <a:p>
            <a:pPr>
              <a:lnSpc>
                <a:spcPct val="106469"/>
              </a:lnSpc>
              <a:spcAft>
                <a:spcPts val="0"/>
              </a:spcAft>
            </a:pPr>
            <a:r>
              <a:rPr sz="782" i="0">
                <a:solidFill>
                  <a:srgbClr val="5C6773"/>
                </a:solidFill>
                <a:latin typeface="Inconsolata"/>
              </a:rPr>
              <a:t>13  </a:t>
            </a:r>
            <a:r>
              <a:rPr sz="782" i="0">
                <a:solidFill>
                  <a:srgbClr val="E6EDF3"/>
                </a:solidFill>
                <a:latin typeface="Inconsolata"/>
              </a:rPr>
              <a:t> </a:t>
            </a:r>
          </a:p>
          <a:p>
            <a:pPr>
              <a:lnSpc>
                <a:spcPct val="106469"/>
              </a:lnSpc>
              <a:spcAft>
                <a:spcPts val="0"/>
              </a:spcAft>
            </a:pPr>
            <a:r>
              <a:rPr sz="782" i="0">
                <a:solidFill>
                  <a:srgbClr val="5C6773"/>
                </a:solidFill>
                <a:latin typeface="Inconsolata"/>
              </a:rPr>
              <a:t>14  </a:t>
            </a:r>
            <a:r>
              <a:rPr sz="782" i="0">
                <a:solidFill>
                  <a:srgbClr val="E6EDF3"/>
                </a:solidFill>
                <a:latin typeface="Inconsolata"/>
              </a:rPr>
              <a:t>app = </a:t>
            </a:r>
            <a:r>
              <a:rPr sz="782" i="0">
                <a:solidFill>
                  <a:srgbClr val="7FDBCA"/>
                </a:solidFill>
                <a:latin typeface="Inconsolata"/>
              </a:rPr>
              <a:t>FastAPI</a:t>
            </a:r>
            <a:r>
              <a:rPr sz="782" i="0">
                <a:solidFill>
                  <a:srgbClr val="E6EDF3"/>
                </a:solidFill>
                <a:latin typeface="Inconsolata"/>
              </a:rPr>
              <a:t>()</a:t>
            </a:r>
          </a:p>
          <a:p>
            <a:pPr>
              <a:lnSpc>
                <a:spcPct val="106469"/>
              </a:lnSpc>
              <a:spcAft>
                <a:spcPts val="0"/>
              </a:spcAft>
            </a:pPr>
            <a:r>
              <a:rPr sz="782" i="0">
                <a:solidFill>
                  <a:srgbClr val="5C6773"/>
                </a:solidFill>
                <a:latin typeface="Inconsolata"/>
              </a:rPr>
              <a:t>15  </a:t>
            </a:r>
            <a:r>
              <a:rPr sz="782" i="0">
                <a:solidFill>
                  <a:srgbClr val="7FDBCA"/>
                </a:solidFill>
                <a:latin typeface="Inconsolata"/>
              </a:rPr>
              <a:t>ORDERS</a:t>
            </a:r>
            <a:r>
              <a:rPr sz="782" i="0">
                <a:solidFill>
                  <a:srgbClr val="E6EDF3"/>
                </a:solidFill>
                <a:latin typeface="Inconsolata"/>
              </a:rPr>
              <a:t>: </a:t>
            </a:r>
            <a:r>
              <a:rPr sz="782" i="0">
                <a:solidFill>
                  <a:srgbClr val="C3A6FF"/>
                </a:solidFill>
                <a:latin typeface="Inconsolata"/>
              </a:rPr>
              <a:t>dict</a:t>
            </a:r>
            <a:r>
              <a:rPr sz="782" i="0">
                <a:solidFill>
                  <a:srgbClr val="E6EDF3"/>
                </a:solidFill>
                <a:latin typeface="Inconsolata"/>
              </a:rPr>
              <a:t>[</a:t>
            </a:r>
            <a:r>
              <a:rPr sz="782" i="0">
                <a:solidFill>
                  <a:srgbClr val="C3A6FF"/>
                </a:solidFill>
                <a:latin typeface="Inconsolata"/>
              </a:rPr>
              <a:t>int</a:t>
            </a:r>
            <a:r>
              <a:rPr sz="782" i="0">
                <a:solidFill>
                  <a:srgbClr val="E6EDF3"/>
                </a:solidFill>
                <a:latin typeface="Inconsolata"/>
              </a:rPr>
              <a:t>, </a:t>
            </a:r>
            <a:r>
              <a:rPr sz="782" i="0">
                <a:solidFill>
                  <a:srgbClr val="C3A6FF"/>
                </a:solidFill>
                <a:latin typeface="Inconsolata"/>
              </a:rPr>
              <a:t>dict</a:t>
            </a:r>
            <a:r>
              <a:rPr sz="782" i="0">
                <a:solidFill>
                  <a:srgbClr val="E6EDF3"/>
                </a:solidFill>
                <a:latin typeface="Inconsolata"/>
              </a:rPr>
              <a:t>] = {}</a:t>
            </a:r>
          </a:p>
          <a:p>
            <a:pPr>
              <a:lnSpc>
                <a:spcPct val="106469"/>
              </a:lnSpc>
              <a:spcAft>
                <a:spcPts val="0"/>
              </a:spcAft>
            </a:pPr>
            <a:r>
              <a:rPr sz="782" i="0">
                <a:solidFill>
                  <a:srgbClr val="5C6773"/>
                </a:solidFill>
                <a:latin typeface="Inconsolata"/>
              </a:rPr>
              <a:t>16  </a:t>
            </a:r>
            <a:r>
              <a:rPr sz="782" i="0">
                <a:solidFill>
                  <a:srgbClr val="E6EDF3"/>
                </a:solidFill>
                <a:latin typeface="Inconsolata"/>
              </a:rPr>
              <a:t> </a:t>
            </a:r>
          </a:p>
          <a:p>
            <a:pPr>
              <a:lnSpc>
                <a:spcPct val="106469"/>
              </a:lnSpc>
              <a:spcAft>
                <a:spcPts val="0"/>
              </a:spcAft>
            </a:pPr>
            <a:r>
              <a:rPr sz="782" i="0">
                <a:solidFill>
                  <a:srgbClr val="5C6773"/>
                </a:solidFill>
                <a:latin typeface="Inconsolata"/>
              </a:rPr>
              <a:t>17  </a:t>
            </a:r>
            <a:r>
              <a:rPr sz="782" i="0">
                <a:solidFill>
                  <a:srgbClr val="E6EDF3"/>
                </a:solidFill>
                <a:latin typeface="Inconsolata"/>
              </a:rPr>
              <a:t> </a:t>
            </a:r>
          </a:p>
          <a:p>
            <a:pPr>
              <a:lnSpc>
                <a:spcPct val="106469"/>
              </a:lnSpc>
              <a:spcAft>
                <a:spcPts val="0"/>
              </a:spcAft>
            </a:pPr>
            <a:r>
              <a:rPr sz="782" i="0">
                <a:solidFill>
                  <a:srgbClr val="5C6773"/>
                </a:solidFill>
                <a:latin typeface="Inconsolata"/>
              </a:rPr>
              <a:t>18  </a:t>
            </a:r>
            <a:r>
              <a:rPr sz="782" i="0">
                <a:solidFill>
                  <a:srgbClr val="FF8E6E"/>
                </a:solidFill>
                <a:latin typeface="Inconsolata"/>
              </a:rPr>
              <a:t>class</a:t>
            </a:r>
            <a:r>
              <a:rPr sz="782" i="0">
                <a:solidFill>
                  <a:srgbClr val="E6EDF3"/>
                </a:solidFill>
                <a:latin typeface="Inconsolata"/>
              </a:rPr>
              <a:t> </a:t>
            </a:r>
            <a:r>
              <a:rPr sz="782" i="0">
                <a:solidFill>
                  <a:srgbClr val="7FDBCA"/>
                </a:solidFill>
                <a:latin typeface="Inconsolata"/>
              </a:rPr>
              <a:t>OrderIn</a:t>
            </a:r>
            <a:r>
              <a:rPr sz="782" i="0">
                <a:solidFill>
                  <a:srgbClr val="E6EDF3"/>
                </a:solidFill>
                <a:latin typeface="Inconsolata"/>
              </a:rPr>
              <a:t>(</a:t>
            </a:r>
            <a:r>
              <a:rPr sz="782" i="0">
                <a:solidFill>
                  <a:srgbClr val="7FDBCA"/>
                </a:solidFill>
                <a:latin typeface="Inconsolata"/>
              </a:rPr>
              <a:t>BaseModel</a:t>
            </a:r>
            <a:r>
              <a:rPr sz="782" i="0">
                <a:solidFill>
                  <a:srgbClr val="E6EDF3"/>
                </a:solidFill>
                <a:latin typeface="Inconsolata"/>
              </a:rPr>
              <a:t>):</a:t>
            </a:r>
          </a:p>
          <a:p>
            <a:pPr>
              <a:lnSpc>
                <a:spcPct val="106469"/>
              </a:lnSpc>
              <a:spcAft>
                <a:spcPts val="0"/>
              </a:spcAft>
            </a:pPr>
            <a:r>
              <a:rPr sz="782" i="0">
                <a:solidFill>
                  <a:srgbClr val="5C6773"/>
                </a:solidFill>
                <a:latin typeface="Inconsolata"/>
              </a:rPr>
              <a:t>19  </a:t>
            </a:r>
            <a:r>
              <a:rPr sz="782" i="0">
                <a:solidFill>
                  <a:srgbClr val="E6EDF3"/>
                </a:solidFill>
                <a:latin typeface="Inconsolata"/>
              </a:rPr>
              <a:t>    customer: </a:t>
            </a:r>
            <a:r>
              <a:rPr sz="782" i="0">
                <a:solidFill>
                  <a:srgbClr val="C3A6FF"/>
                </a:solidFill>
                <a:latin typeface="Inconsolata"/>
              </a:rPr>
              <a:t>str</a:t>
            </a:r>
          </a:p>
          <a:p>
            <a:pPr>
              <a:lnSpc>
                <a:spcPct val="106469"/>
              </a:lnSpc>
              <a:spcAft>
                <a:spcPts val="0"/>
              </a:spcAft>
            </a:pPr>
            <a:r>
              <a:rPr sz="782" i="0">
                <a:solidFill>
                  <a:srgbClr val="5C6773"/>
                </a:solidFill>
                <a:latin typeface="Inconsolata"/>
              </a:rPr>
              <a:t>20  </a:t>
            </a:r>
            <a:r>
              <a:rPr sz="782" i="0">
                <a:solidFill>
                  <a:srgbClr val="E6EDF3"/>
                </a:solidFill>
                <a:latin typeface="Inconsolata"/>
              </a:rPr>
              <a:t>    product_id: </a:t>
            </a:r>
            <a:r>
              <a:rPr sz="782" i="0">
                <a:solidFill>
                  <a:srgbClr val="C3A6FF"/>
                </a:solidFill>
                <a:latin typeface="Inconsolata"/>
              </a:rPr>
              <a:t>int</a:t>
            </a:r>
          </a:p>
          <a:p>
            <a:pPr>
              <a:lnSpc>
                <a:spcPct val="106469"/>
              </a:lnSpc>
              <a:spcAft>
                <a:spcPts val="0"/>
              </a:spcAft>
            </a:pPr>
            <a:r>
              <a:rPr sz="782" i="0">
                <a:solidFill>
                  <a:srgbClr val="5C6773"/>
                </a:solidFill>
                <a:latin typeface="Inconsolata"/>
              </a:rPr>
              <a:t>21  </a:t>
            </a:r>
            <a:r>
              <a:rPr sz="782" i="0">
                <a:solidFill>
                  <a:srgbClr val="E6EDF3"/>
                </a:solidFill>
                <a:latin typeface="Inconsolata"/>
              </a:rPr>
              <a:t>    qty: </a:t>
            </a:r>
            <a:r>
              <a:rPr sz="782" i="0">
                <a:solidFill>
                  <a:srgbClr val="C3A6FF"/>
                </a:solidFill>
                <a:latin typeface="Inconsolata"/>
              </a:rPr>
              <a:t>int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06-openapi/before.py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6469"/>
              </a:lnSpc>
              <a:spcAft>
                <a:spcPts val="0"/>
              </a:spcAft>
            </a:pPr>
            <a:r>
              <a:rPr sz="782" i="0">
                <a:solidFill>
                  <a:srgbClr val="5C6773"/>
                </a:solidFill>
                <a:latin typeface="Inconsolata"/>
              </a:rPr>
              <a:t>24  </a:t>
            </a:r>
            <a:r>
              <a:rPr sz="782" i="0">
                <a:solidFill>
                  <a:srgbClr val="F9C97A"/>
                </a:solidFill>
                <a:latin typeface="Inconsolata"/>
              </a:rPr>
              <a:t>@app.post</a:t>
            </a:r>
            <a:r>
              <a:rPr sz="782" i="0">
                <a:solidFill>
                  <a:srgbClr val="E6EDF3"/>
                </a:solidFill>
                <a:latin typeface="Inconsolata"/>
              </a:rPr>
              <a:t>(</a:t>
            </a:r>
            <a:r>
              <a:rPr sz="782" i="0">
                <a:solidFill>
                  <a:srgbClr val="A5D6A7"/>
                </a:solidFill>
                <a:latin typeface="Inconsolata"/>
              </a:rPr>
              <a:t>"/orders"</a:t>
            </a:r>
            <a:r>
              <a:rPr sz="782" i="0">
                <a:solidFill>
                  <a:srgbClr val="E6EDF3"/>
                </a:solidFill>
                <a:latin typeface="Inconsolata"/>
              </a:rPr>
              <a:t>, status_code=</a:t>
            </a:r>
            <a:r>
              <a:rPr sz="782" i="0">
                <a:solidFill>
                  <a:srgbClr val="F9C97A"/>
                </a:solidFill>
                <a:latin typeface="Inconsolata"/>
              </a:rPr>
              <a:t>201</a:t>
            </a:r>
            <a:r>
              <a:rPr sz="782" i="0">
                <a:solidFill>
                  <a:srgbClr val="E6EDF3"/>
                </a:solidFill>
                <a:latin typeface="Inconsolata"/>
              </a:rPr>
              <a:t>)</a:t>
            </a:r>
          </a:p>
          <a:p>
            <a:pPr>
              <a:lnSpc>
                <a:spcPct val="106469"/>
              </a:lnSpc>
              <a:spcAft>
                <a:spcPts val="0"/>
              </a:spcAft>
            </a:pPr>
            <a:r>
              <a:rPr sz="782" i="0">
                <a:solidFill>
                  <a:srgbClr val="5C6773"/>
                </a:solidFill>
                <a:latin typeface="Inconsolata"/>
              </a:rPr>
              <a:t>25  </a:t>
            </a:r>
            <a:r>
              <a:rPr sz="782" i="0">
                <a:solidFill>
                  <a:srgbClr val="FF8E6E"/>
                </a:solidFill>
                <a:latin typeface="Inconsolata"/>
              </a:rPr>
              <a:t>def</a:t>
            </a:r>
            <a:r>
              <a:rPr sz="782" i="0">
                <a:solidFill>
                  <a:srgbClr val="E6EDF3"/>
                </a:solidFill>
                <a:latin typeface="Inconsolata"/>
              </a:rPr>
              <a:t> </a:t>
            </a:r>
            <a:r>
              <a:rPr sz="782" i="0">
                <a:solidFill>
                  <a:srgbClr val="82B1FF"/>
                </a:solidFill>
                <a:latin typeface="Inconsolata"/>
              </a:rPr>
              <a:t>create_order</a:t>
            </a:r>
            <a:r>
              <a:rPr sz="782" i="0">
                <a:solidFill>
                  <a:srgbClr val="E6EDF3"/>
                </a:solidFill>
                <a:latin typeface="Inconsolata"/>
              </a:rPr>
              <a:t>(payload: </a:t>
            </a:r>
            <a:r>
              <a:rPr sz="782" i="0">
                <a:solidFill>
                  <a:srgbClr val="7FDBCA"/>
                </a:solidFill>
                <a:latin typeface="Inconsolata"/>
              </a:rPr>
              <a:t>OrderIn</a:t>
            </a:r>
            <a:r>
              <a:rPr sz="782" i="0">
                <a:solidFill>
                  <a:srgbClr val="E6EDF3"/>
                </a:solidFill>
                <a:latin typeface="Inconsolata"/>
              </a:rPr>
              <a:t>):</a:t>
            </a:r>
          </a:p>
          <a:p>
            <a:pPr>
              <a:lnSpc>
                <a:spcPct val="106469"/>
              </a:lnSpc>
              <a:spcAft>
                <a:spcPts val="0"/>
              </a:spcAft>
            </a:pPr>
            <a:r>
              <a:rPr sz="782" i="0">
                <a:solidFill>
                  <a:srgbClr val="5C6773"/>
                </a:solidFill>
                <a:latin typeface="Inconsolata"/>
              </a:rPr>
              <a:t>26  </a:t>
            </a:r>
            <a:r>
              <a:rPr sz="782" i="0">
                <a:solidFill>
                  <a:srgbClr val="E6EDF3"/>
                </a:solidFill>
                <a:latin typeface="Inconsolata"/>
              </a:rPr>
              <a:t>    data = payload.model_dump()</a:t>
            </a:r>
          </a:p>
          <a:p>
            <a:pPr>
              <a:lnSpc>
                <a:spcPct val="106469"/>
              </a:lnSpc>
              <a:spcAft>
                <a:spcPts val="0"/>
              </a:spcAft>
            </a:pPr>
            <a:r>
              <a:rPr sz="782" i="0">
                <a:solidFill>
                  <a:srgbClr val="5C6773"/>
                </a:solidFill>
                <a:latin typeface="Inconsolata"/>
              </a:rPr>
              <a:t>27  </a:t>
            </a:r>
            <a:r>
              <a:rPr sz="782" i="0">
                <a:solidFill>
                  <a:srgbClr val="E6EDF3"/>
                </a:solidFill>
                <a:latin typeface="Inconsolata"/>
              </a:rPr>
              <a:t>    order = {</a:t>
            </a:r>
            <a:r>
              <a:rPr sz="782" i="0">
                <a:solidFill>
                  <a:srgbClr val="A5D6A7"/>
                </a:solidFill>
                <a:latin typeface="Inconsolata"/>
              </a:rPr>
              <a:t>"id"</a:t>
            </a:r>
            <a:r>
              <a:rPr sz="782" i="0">
                <a:solidFill>
                  <a:srgbClr val="E6EDF3"/>
                </a:solidFill>
                <a:latin typeface="Inconsolata"/>
              </a:rPr>
              <a:t>: </a:t>
            </a:r>
            <a:r>
              <a:rPr sz="782" i="0">
                <a:solidFill>
                  <a:srgbClr val="C3A6FF"/>
                </a:solidFill>
                <a:latin typeface="Inconsolata"/>
              </a:rPr>
              <a:t>len</a:t>
            </a:r>
            <a:r>
              <a:rPr sz="782" i="0">
                <a:solidFill>
                  <a:srgbClr val="E6EDF3"/>
                </a:solidFill>
                <a:latin typeface="Inconsolata"/>
              </a:rPr>
              <a:t>(</a:t>
            </a:r>
            <a:r>
              <a:rPr sz="782" i="0">
                <a:solidFill>
                  <a:srgbClr val="7FDBCA"/>
                </a:solidFill>
                <a:latin typeface="Inconsolata"/>
              </a:rPr>
              <a:t>ORDERS</a:t>
            </a:r>
            <a:r>
              <a:rPr sz="782" i="0">
                <a:solidFill>
                  <a:srgbClr val="E6EDF3"/>
                </a:solidFill>
                <a:latin typeface="Inconsolata"/>
              </a:rPr>
              <a:t>) + </a:t>
            </a:r>
            <a:r>
              <a:rPr sz="782" i="0">
                <a:solidFill>
                  <a:srgbClr val="F9C97A"/>
                </a:solidFill>
                <a:latin typeface="Inconsolata"/>
              </a:rPr>
              <a:t>1</a:t>
            </a:r>
            <a:r>
              <a:rPr sz="782" i="0">
                <a:solidFill>
                  <a:srgbClr val="E6EDF3"/>
                </a:solidFill>
                <a:latin typeface="Inconsolata"/>
              </a:rPr>
              <a:t>, </a:t>
            </a:r>
            <a:r>
              <a:rPr sz="782" i="0">
                <a:solidFill>
                  <a:srgbClr val="A5D6A7"/>
                </a:solidFill>
                <a:latin typeface="Inconsolata"/>
              </a:rPr>
              <a:t>"status"</a:t>
            </a:r>
            <a:r>
              <a:rPr sz="782" i="0">
                <a:solidFill>
                  <a:srgbClr val="E6EDF3"/>
                </a:solidFill>
                <a:latin typeface="Inconsolata"/>
              </a:rPr>
              <a:t>: </a:t>
            </a:r>
            <a:r>
              <a:rPr sz="782" i="0">
                <a:solidFill>
                  <a:srgbClr val="A5D6A7"/>
                </a:solidFill>
                <a:latin typeface="Inconsolata"/>
              </a:rPr>
              <a:t>"pending"</a:t>
            </a:r>
            <a:r>
              <a:rPr sz="782" i="0">
                <a:solidFill>
                  <a:srgbClr val="E6EDF3"/>
                </a:solidFill>
                <a:latin typeface="Inconsolata"/>
              </a:rPr>
              <a:t>, **data}</a:t>
            </a:r>
          </a:p>
          <a:p>
            <a:pPr>
              <a:lnSpc>
                <a:spcPct val="106469"/>
              </a:lnSpc>
              <a:spcAft>
                <a:spcPts val="0"/>
              </a:spcAft>
            </a:pPr>
            <a:r>
              <a:rPr sz="782" i="0">
                <a:solidFill>
                  <a:srgbClr val="5C6773"/>
                </a:solidFill>
                <a:latin typeface="Inconsolata"/>
              </a:rPr>
              <a:t>28  </a:t>
            </a:r>
            <a:r>
              <a:rPr sz="782" i="0">
                <a:solidFill>
                  <a:srgbClr val="E6EDF3"/>
                </a:solidFill>
                <a:latin typeface="Inconsolata"/>
              </a:rPr>
              <a:t>    </a:t>
            </a:r>
            <a:r>
              <a:rPr sz="782" i="0">
                <a:solidFill>
                  <a:srgbClr val="7FDBCA"/>
                </a:solidFill>
                <a:latin typeface="Inconsolata"/>
              </a:rPr>
              <a:t>ORDERS</a:t>
            </a:r>
            <a:r>
              <a:rPr sz="782" i="0">
                <a:solidFill>
                  <a:srgbClr val="E6EDF3"/>
                </a:solidFill>
                <a:latin typeface="Inconsolata"/>
              </a:rPr>
              <a:t>[order[</a:t>
            </a:r>
            <a:r>
              <a:rPr sz="782" i="0">
                <a:solidFill>
                  <a:srgbClr val="A5D6A7"/>
                </a:solidFill>
                <a:latin typeface="Inconsolata"/>
              </a:rPr>
              <a:t>"id"</a:t>
            </a:r>
            <a:r>
              <a:rPr sz="782" i="0">
                <a:solidFill>
                  <a:srgbClr val="E6EDF3"/>
                </a:solidFill>
                <a:latin typeface="Inconsolata"/>
              </a:rPr>
              <a:t>]] = order</a:t>
            </a:r>
          </a:p>
          <a:p>
            <a:pPr>
              <a:lnSpc>
                <a:spcPct val="106469"/>
              </a:lnSpc>
              <a:spcAft>
                <a:spcPts val="0"/>
              </a:spcAft>
            </a:pPr>
            <a:r>
              <a:rPr sz="782" i="0">
                <a:solidFill>
                  <a:srgbClr val="5C6773"/>
                </a:solidFill>
                <a:latin typeface="Inconsolata"/>
              </a:rPr>
              <a:t>29  </a:t>
            </a:r>
            <a:r>
              <a:rPr sz="782" i="0">
                <a:solidFill>
                  <a:srgbClr val="E6EDF3"/>
                </a:solidFill>
                <a:latin typeface="Inconsolata"/>
              </a:rPr>
              <a:t>    </a:t>
            </a:r>
            <a:r>
              <a:rPr sz="782" i="0">
                <a:solidFill>
                  <a:srgbClr val="FF8E6E"/>
                </a:solidFill>
                <a:latin typeface="Inconsolata"/>
              </a:rPr>
              <a:t>return</a:t>
            </a:r>
            <a:r>
              <a:rPr sz="782" i="0">
                <a:solidFill>
                  <a:srgbClr val="E6EDF3"/>
                </a:solidFill>
                <a:latin typeface="Inconsolata"/>
              </a:rPr>
              <a:t> order</a:t>
            </a:r>
          </a:p>
          <a:p>
            <a:pPr>
              <a:lnSpc>
                <a:spcPct val="106469"/>
              </a:lnSpc>
              <a:spcAft>
                <a:spcPts val="0"/>
              </a:spcAft>
            </a:pPr>
            <a:r>
              <a:rPr sz="782" i="0">
                <a:solidFill>
                  <a:srgbClr val="5C6773"/>
                </a:solidFill>
                <a:latin typeface="Inconsolata"/>
              </a:rPr>
              <a:t>30  </a:t>
            </a:r>
            <a:r>
              <a:rPr sz="782" i="0">
                <a:solidFill>
                  <a:srgbClr val="E6EDF3"/>
                </a:solidFill>
                <a:latin typeface="Inconsolata"/>
              </a:rPr>
              <a:t> </a:t>
            </a:r>
          </a:p>
          <a:p>
            <a:pPr>
              <a:lnSpc>
                <a:spcPct val="106469"/>
              </a:lnSpc>
              <a:spcAft>
                <a:spcPts val="0"/>
              </a:spcAft>
            </a:pPr>
            <a:r>
              <a:rPr sz="782" i="0">
                <a:solidFill>
                  <a:srgbClr val="5C6773"/>
                </a:solidFill>
                <a:latin typeface="Inconsolata"/>
              </a:rPr>
              <a:t>31  </a:t>
            </a:r>
            <a:r>
              <a:rPr sz="782" i="0">
                <a:solidFill>
                  <a:srgbClr val="E6EDF3"/>
                </a:solidFill>
                <a:latin typeface="Inconsolata"/>
              </a:rPr>
              <a:t> </a:t>
            </a:r>
          </a:p>
          <a:p>
            <a:pPr>
              <a:lnSpc>
                <a:spcPct val="106469"/>
              </a:lnSpc>
              <a:spcAft>
                <a:spcPts val="0"/>
              </a:spcAft>
            </a:pPr>
            <a:r>
              <a:rPr sz="782" i="0">
                <a:solidFill>
                  <a:srgbClr val="5C6773"/>
                </a:solidFill>
                <a:latin typeface="Inconsolata"/>
              </a:rPr>
              <a:t>32  </a:t>
            </a:r>
            <a:r>
              <a:rPr sz="782" i="0">
                <a:solidFill>
                  <a:srgbClr val="F9C97A"/>
                </a:solidFill>
                <a:latin typeface="Inconsolata"/>
              </a:rPr>
              <a:t>@app.get</a:t>
            </a:r>
            <a:r>
              <a:rPr sz="782" i="0">
                <a:solidFill>
                  <a:srgbClr val="E6EDF3"/>
                </a:solidFill>
                <a:latin typeface="Inconsolata"/>
              </a:rPr>
              <a:t>(</a:t>
            </a:r>
            <a:r>
              <a:rPr sz="782" i="0">
                <a:solidFill>
                  <a:srgbClr val="A5D6A7"/>
                </a:solidFill>
                <a:latin typeface="Inconsolata"/>
              </a:rPr>
              <a:t>"/orders/{order_id}"</a:t>
            </a:r>
            <a:r>
              <a:rPr sz="782" i="0">
                <a:solidFill>
                  <a:srgbClr val="E6EDF3"/>
                </a:solidFill>
                <a:latin typeface="Inconsolata"/>
              </a:rPr>
              <a:t>)</a:t>
            </a:r>
          </a:p>
          <a:p>
            <a:pPr>
              <a:lnSpc>
                <a:spcPct val="106469"/>
              </a:lnSpc>
              <a:spcAft>
                <a:spcPts val="0"/>
              </a:spcAft>
            </a:pPr>
            <a:r>
              <a:rPr sz="782" i="0">
                <a:solidFill>
                  <a:srgbClr val="5C6773"/>
                </a:solidFill>
                <a:latin typeface="Inconsolata"/>
              </a:rPr>
              <a:t>33  </a:t>
            </a:r>
            <a:r>
              <a:rPr sz="782" i="0">
                <a:solidFill>
                  <a:srgbClr val="FF8E6E"/>
                </a:solidFill>
                <a:latin typeface="Inconsolata"/>
              </a:rPr>
              <a:t>def</a:t>
            </a:r>
            <a:r>
              <a:rPr sz="782" i="0">
                <a:solidFill>
                  <a:srgbClr val="E6EDF3"/>
                </a:solidFill>
                <a:latin typeface="Inconsolata"/>
              </a:rPr>
              <a:t> </a:t>
            </a:r>
            <a:r>
              <a:rPr sz="782" i="0">
                <a:solidFill>
                  <a:srgbClr val="82B1FF"/>
                </a:solidFill>
                <a:latin typeface="Inconsolata"/>
              </a:rPr>
              <a:t>get_order</a:t>
            </a:r>
            <a:r>
              <a:rPr sz="782" i="0">
                <a:solidFill>
                  <a:srgbClr val="E6EDF3"/>
                </a:solidFill>
                <a:latin typeface="Inconsolata"/>
              </a:rPr>
              <a:t>(order_id: </a:t>
            </a:r>
            <a:r>
              <a:rPr sz="782" i="0">
                <a:solidFill>
                  <a:srgbClr val="C3A6FF"/>
                </a:solidFill>
                <a:latin typeface="Inconsolata"/>
              </a:rPr>
              <a:t>int</a:t>
            </a:r>
            <a:r>
              <a:rPr sz="782" i="0">
                <a:solidFill>
                  <a:srgbClr val="E6EDF3"/>
                </a:solidFill>
                <a:latin typeface="Inconsolata"/>
              </a:rPr>
              <a:t>):</a:t>
            </a:r>
          </a:p>
          <a:p>
            <a:pPr>
              <a:lnSpc>
                <a:spcPct val="106469"/>
              </a:lnSpc>
              <a:spcAft>
                <a:spcPts val="0"/>
              </a:spcAft>
            </a:pPr>
            <a:r>
              <a:rPr sz="782" i="0">
                <a:solidFill>
                  <a:srgbClr val="5C6773"/>
                </a:solidFill>
                <a:latin typeface="Inconsolata"/>
              </a:rPr>
              <a:t>34  </a:t>
            </a:r>
            <a:r>
              <a:rPr sz="782" i="0">
                <a:solidFill>
                  <a:srgbClr val="E6EDF3"/>
                </a:solidFill>
                <a:latin typeface="Inconsolata"/>
              </a:rPr>
              <a:t>    </a:t>
            </a:r>
            <a:r>
              <a:rPr sz="782" i="0">
                <a:solidFill>
                  <a:srgbClr val="FF8E6E"/>
                </a:solidFill>
                <a:latin typeface="Inconsolata"/>
              </a:rPr>
              <a:t>if</a:t>
            </a:r>
            <a:r>
              <a:rPr sz="782" i="0">
                <a:solidFill>
                  <a:srgbClr val="E6EDF3"/>
                </a:solidFill>
                <a:latin typeface="Inconsolata"/>
              </a:rPr>
              <a:t> order_id </a:t>
            </a:r>
            <a:r>
              <a:rPr sz="782" i="0">
                <a:solidFill>
                  <a:srgbClr val="FF8E6E"/>
                </a:solidFill>
                <a:latin typeface="Inconsolata"/>
              </a:rPr>
              <a:t>not</a:t>
            </a:r>
            <a:r>
              <a:rPr sz="782" i="0">
                <a:solidFill>
                  <a:srgbClr val="E6EDF3"/>
                </a:solidFill>
                <a:latin typeface="Inconsolata"/>
              </a:rPr>
              <a:t> </a:t>
            </a:r>
            <a:r>
              <a:rPr sz="782" i="0">
                <a:solidFill>
                  <a:srgbClr val="FF8E6E"/>
                </a:solidFill>
                <a:latin typeface="Inconsolata"/>
              </a:rPr>
              <a:t>in</a:t>
            </a:r>
            <a:r>
              <a:rPr sz="782" i="0">
                <a:solidFill>
                  <a:srgbClr val="E6EDF3"/>
                </a:solidFill>
                <a:latin typeface="Inconsolata"/>
              </a:rPr>
              <a:t> </a:t>
            </a:r>
            <a:r>
              <a:rPr sz="782" i="0">
                <a:solidFill>
                  <a:srgbClr val="7FDBCA"/>
                </a:solidFill>
                <a:latin typeface="Inconsolata"/>
              </a:rPr>
              <a:t>ORDERS</a:t>
            </a:r>
            <a:r>
              <a:rPr sz="782" i="0">
                <a:solidFill>
                  <a:srgbClr val="E6EDF3"/>
                </a:solidFill>
                <a:latin typeface="Inconsolata"/>
              </a:rPr>
              <a:t>:</a:t>
            </a:r>
          </a:p>
          <a:p>
            <a:pPr>
              <a:lnSpc>
                <a:spcPct val="106469"/>
              </a:lnSpc>
              <a:spcAft>
                <a:spcPts val="0"/>
              </a:spcAft>
            </a:pPr>
            <a:r>
              <a:rPr sz="782" i="0">
                <a:solidFill>
                  <a:srgbClr val="5C6773"/>
                </a:solidFill>
                <a:latin typeface="Inconsolata"/>
              </a:rPr>
              <a:t>35  </a:t>
            </a:r>
            <a:r>
              <a:rPr sz="782" i="0">
                <a:solidFill>
                  <a:srgbClr val="E6EDF3"/>
                </a:solidFill>
                <a:latin typeface="Inconsolata"/>
              </a:rPr>
              <a:t>        </a:t>
            </a:r>
            <a:r>
              <a:rPr sz="782" i="0">
                <a:solidFill>
                  <a:srgbClr val="FF8E6E"/>
                </a:solidFill>
                <a:latin typeface="Inconsolata"/>
              </a:rPr>
              <a:t>raise</a:t>
            </a:r>
            <a:r>
              <a:rPr sz="782" i="0">
                <a:solidFill>
                  <a:srgbClr val="E6EDF3"/>
                </a:solidFill>
                <a:latin typeface="Inconsolata"/>
              </a:rPr>
              <a:t> </a:t>
            </a:r>
            <a:r>
              <a:rPr sz="782" i="0">
                <a:solidFill>
                  <a:srgbClr val="7FDBCA"/>
                </a:solidFill>
                <a:latin typeface="Inconsolata"/>
              </a:rPr>
              <a:t>HTTPException</a:t>
            </a:r>
            <a:r>
              <a:rPr sz="782" i="0">
                <a:solidFill>
                  <a:srgbClr val="E6EDF3"/>
                </a:solidFill>
                <a:latin typeface="Inconsolata"/>
              </a:rPr>
              <a:t>(</a:t>
            </a:r>
            <a:r>
              <a:rPr sz="782" i="0">
                <a:solidFill>
                  <a:srgbClr val="F9C97A"/>
                </a:solidFill>
                <a:latin typeface="Inconsolata"/>
              </a:rPr>
              <a:t>404</a:t>
            </a:r>
            <a:r>
              <a:rPr sz="782" i="0">
                <a:solidFill>
                  <a:srgbClr val="E6EDF3"/>
                </a:solidFill>
                <a:latin typeface="Inconsolata"/>
              </a:rPr>
              <a:t>, </a:t>
            </a:r>
            <a:r>
              <a:rPr sz="782" i="0">
                <a:solidFill>
                  <a:srgbClr val="A5D6A7"/>
                </a:solidFill>
                <a:latin typeface="Inconsolata"/>
              </a:rPr>
              <a:t>"Order tidak ditemukan"</a:t>
            </a:r>
            <a:r>
              <a:rPr sz="782" i="0">
                <a:solidFill>
                  <a:srgbClr val="E6EDF3"/>
                </a:solidFill>
                <a:latin typeface="Inconsolata"/>
              </a:rPr>
              <a:t>)</a:t>
            </a:r>
          </a:p>
          <a:p>
            <a:pPr>
              <a:lnSpc>
                <a:spcPct val="106469"/>
              </a:lnSpc>
              <a:spcAft>
                <a:spcPts val="0"/>
              </a:spcAft>
            </a:pPr>
            <a:r>
              <a:rPr sz="782" i="0">
                <a:solidFill>
                  <a:srgbClr val="5C6773"/>
                </a:solidFill>
                <a:latin typeface="Inconsolata"/>
              </a:rPr>
              <a:t>36  </a:t>
            </a:r>
            <a:r>
              <a:rPr sz="782" i="0">
                <a:solidFill>
                  <a:srgbClr val="E6EDF3"/>
                </a:solidFill>
                <a:latin typeface="Inconsolata"/>
              </a:rPr>
              <a:t>    </a:t>
            </a:r>
            <a:r>
              <a:rPr sz="782" i="0">
                <a:solidFill>
                  <a:srgbClr val="FF8E6E"/>
                </a:solidFill>
                <a:latin typeface="Inconsolata"/>
              </a:rPr>
              <a:t>return</a:t>
            </a:r>
            <a:r>
              <a:rPr sz="782" i="0">
                <a:solidFill>
                  <a:srgbClr val="E6EDF3"/>
                </a:solidFill>
                <a:latin typeface="Inconsolata"/>
              </a:rPr>
              <a:t> </a:t>
            </a:r>
            <a:r>
              <a:rPr sz="782" i="0">
                <a:solidFill>
                  <a:srgbClr val="7FDBCA"/>
                </a:solidFill>
                <a:latin typeface="Inconsolata"/>
              </a:rPr>
              <a:t>ORDERS</a:t>
            </a:r>
            <a:r>
              <a:rPr sz="782" i="0">
                <a:solidFill>
                  <a:srgbClr val="E6EDF3"/>
                </a:solidFill>
                <a:latin typeface="Inconsolata"/>
              </a:rPr>
              <a:t>[order_id]</a:t>
            </a:r>
          </a:p>
        </p:txBody>
      </p:sp>
      <p:sp>
        <p:nvSpPr>
          <p:cNvPr id="36" name="Box 21"/>
          <p:cNvSpPr/>
          <p:nvPr/>
        </p:nvSpPr>
        <p:spPr>
          <a:xfrm>
            <a:off x="704088" y="2208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148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1827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1767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843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4709159" y="3224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2" name="Box 27"/>
          <p:cNvSpPr/>
          <p:nvPr/>
        </p:nvSpPr>
        <p:spPr>
          <a:xfrm>
            <a:off x="8284463" y="3164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OpenAPI</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06-openapi/before.py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sesi-04-modular-fastapi-orm-transactions/06-openapi</a:t>
            </a:r>
          </a:p>
          <a:p>
            <a:pPr>
              <a:lnSpc>
                <a:spcPct val="107527"/>
              </a:lnSpc>
              <a:spcAft>
                <a:spcPts val="0"/>
              </a:spcAft>
            </a:pPr>
            <a:r>
              <a:rPr sz="775" i="0">
                <a:solidFill>
                  <a:srgbClr val="82B1FF"/>
                </a:solidFill>
                <a:latin typeface="Inconsolata"/>
              </a:rPr>
              <a:t>$ uvicorn before:app --reload</a:t>
            </a:r>
          </a:p>
        </p:txBody>
      </p:sp>
      <p:pic>
        <p:nvPicPr>
          <p:cNvPr id="29" name="Image 12" descr="s04-06-openapi-before.png"/>
          <p:cNvPicPr>
            <a:picLocks noChangeAspect="1"/>
          </p:cNvPicPr>
          <p:nvPr/>
        </p:nvPicPr>
        <p:blipFill>
          <a:blip r:embed="rId2"/>
          <a:stretch>
            <a:fillRect/>
          </a:stretch>
        </p:blipFill>
        <p:spPr>
          <a:xfrm>
            <a:off x="621792" y="2240280"/>
            <a:ext cx="4297680" cy="1584891"/>
          </a:xfrm>
          <a:prstGeom prst="rect">
            <a:avLst/>
          </a:prstGeom>
        </p:spPr>
      </p:pic>
      <p:sp>
        <p:nvSpPr>
          <p:cNvPr id="30" name="Text 13"/>
          <p:cNvSpPr txBox="1"/>
          <p:nvPr/>
        </p:nvSpPr>
        <p:spPr>
          <a:xfrm>
            <a:off x="621792" y="3870891"/>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/docs: judul FastAPI 0.1.0, nama endpoint hasil tebakan</a:t>
            </a:r>
          </a:p>
        </p:txBody>
      </p:sp>
      <p:sp>
        <p:nvSpPr>
          <p:cNvPr id="31" name="Box 14"/>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FastAPI()</a:t>
            </a:r>
            <a:r>
              <a:rPr sz="950" b="0" i="0">
                <a:solidFill>
                  <a:srgbClr val="434343"/>
                </a:solidFill>
                <a:latin typeface="Inter"/>
              </a:rPr>
              <a:t> tanpa judul, versi, maupun deskripsi (baris 14)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Endpoint tanpa summary dan tags, jadi nama di </a:t>
            </a:r>
            <a:r>
              <a:rPr sz="950" b="0" i="0">
                <a:solidFill>
                  <a:srgbClr val="B5482A"/>
                </a:solidFill>
                <a:latin typeface="Inconsolata"/>
              </a:rPr>
              <a:t>/docs</a:t>
            </a:r>
            <a:r>
              <a:rPr sz="950" b="0" i="0">
                <a:solidFill>
                  <a:srgbClr val="434343"/>
                </a:solidFill>
                <a:latin typeface="Inter"/>
              </a:rPr>
              <a:t> ditebak dari nama function (baris 24, 32)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Error 404 tidak terdokumentasi (baris 35)</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OpenAPI</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Dokumentasi dilengkapi dari kode</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06-openapi/after.py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3226"/>
              </a:lnSpc>
              <a:spcAft>
                <a:spcPts val="0"/>
              </a:spcAft>
            </a:pPr>
            <a:r>
              <a:rPr sz="645" i="0">
                <a:solidFill>
                  <a:srgbClr val="5C6773"/>
                </a:solidFill>
                <a:latin typeface="Inconsolata"/>
              </a:rPr>
              <a:t>12  </a:t>
            </a:r>
            <a:r>
              <a:rPr sz="645" i="0">
                <a:solidFill>
                  <a:srgbClr val="FF8E6E"/>
                </a:solidFill>
                <a:latin typeface="Inconsolata"/>
              </a:rPr>
              <a:t>from</a:t>
            </a:r>
            <a:r>
              <a:rPr sz="645" i="0">
                <a:solidFill>
                  <a:srgbClr val="E6EDF3"/>
                </a:solidFill>
                <a:latin typeface="Inconsolata"/>
              </a:rPr>
              <a:t> fastapi </a:t>
            </a:r>
            <a:r>
              <a:rPr sz="645" i="0">
                <a:solidFill>
                  <a:srgbClr val="FF8E6E"/>
                </a:solidFill>
                <a:latin typeface="Inconsolata"/>
              </a:rPr>
              <a:t>import</a:t>
            </a:r>
            <a:r>
              <a:rPr sz="645" i="0">
                <a:solidFill>
                  <a:srgbClr val="E6EDF3"/>
                </a:solidFill>
                <a:latin typeface="Inconsolata"/>
              </a:rPr>
              <a:t> </a:t>
            </a:r>
            <a:r>
              <a:rPr sz="645" i="0">
                <a:solidFill>
                  <a:srgbClr val="7FDBCA"/>
                </a:solidFill>
                <a:latin typeface="Inconsolata"/>
              </a:rPr>
              <a:t>FastAPI</a:t>
            </a:r>
            <a:r>
              <a:rPr sz="645" i="0">
                <a:solidFill>
                  <a:srgbClr val="E6EDF3"/>
                </a:solidFill>
                <a:latin typeface="Inconsolata"/>
              </a:rPr>
              <a:t>, </a:t>
            </a:r>
            <a:r>
              <a:rPr sz="645" i="0">
                <a:solidFill>
                  <a:srgbClr val="7FDBCA"/>
                </a:solidFill>
                <a:latin typeface="Inconsolata"/>
              </a:rPr>
              <a:t>HTTPException</a:t>
            </a:r>
          </a:p>
          <a:p>
            <a:pPr>
              <a:lnSpc>
                <a:spcPct val="103226"/>
              </a:lnSpc>
              <a:spcAft>
                <a:spcPts val="0"/>
              </a:spcAft>
            </a:pPr>
            <a:r>
              <a:rPr sz="645" i="0">
                <a:solidFill>
                  <a:srgbClr val="5C6773"/>
                </a:solidFill>
                <a:latin typeface="Inconsolata"/>
              </a:rPr>
              <a:t>13  </a:t>
            </a:r>
            <a:r>
              <a:rPr sz="645" i="0">
                <a:solidFill>
                  <a:srgbClr val="FF8E6E"/>
                </a:solidFill>
                <a:latin typeface="Inconsolata"/>
              </a:rPr>
              <a:t>from</a:t>
            </a:r>
            <a:r>
              <a:rPr sz="645" i="0">
                <a:solidFill>
                  <a:srgbClr val="E6EDF3"/>
                </a:solidFill>
                <a:latin typeface="Inconsolata"/>
              </a:rPr>
              <a:t> pydantic </a:t>
            </a:r>
            <a:r>
              <a:rPr sz="645" i="0">
                <a:solidFill>
                  <a:srgbClr val="FF8E6E"/>
                </a:solidFill>
                <a:latin typeface="Inconsolata"/>
              </a:rPr>
              <a:t>import</a:t>
            </a:r>
            <a:r>
              <a:rPr sz="645" i="0">
                <a:solidFill>
                  <a:srgbClr val="E6EDF3"/>
                </a:solidFill>
                <a:latin typeface="Inconsolata"/>
              </a:rPr>
              <a:t> </a:t>
            </a:r>
            <a:r>
              <a:rPr sz="645" i="0">
                <a:solidFill>
                  <a:srgbClr val="7FDBCA"/>
                </a:solidFill>
                <a:latin typeface="Inconsolata"/>
              </a:rPr>
              <a:t>BaseModel</a:t>
            </a:r>
            <a:r>
              <a:rPr sz="645" i="0">
                <a:solidFill>
                  <a:srgbClr val="E6EDF3"/>
                </a:solidFill>
                <a:latin typeface="Inconsolata"/>
              </a:rPr>
              <a:t>, </a:t>
            </a:r>
            <a:r>
              <a:rPr sz="645" i="0">
                <a:solidFill>
                  <a:srgbClr val="7FDBCA"/>
                </a:solidFill>
                <a:latin typeface="Inconsolata"/>
              </a:rPr>
              <a:t>Field</a:t>
            </a:r>
          </a:p>
          <a:p>
            <a:pPr>
              <a:lnSpc>
                <a:spcPct val="103226"/>
              </a:lnSpc>
              <a:spcAft>
                <a:spcPts val="0"/>
              </a:spcAft>
            </a:pPr>
            <a:r>
              <a:rPr sz="645" i="0">
                <a:solidFill>
                  <a:srgbClr val="5C6773"/>
                </a:solidFill>
                <a:latin typeface="Inconsolata"/>
              </a:rPr>
              <a:t>14  </a:t>
            </a:r>
            <a:r>
              <a:rPr sz="645" i="0">
                <a:solidFill>
                  <a:srgbClr val="E6EDF3"/>
                </a:solidFill>
                <a:latin typeface="Inconsolata"/>
              </a:rPr>
              <a:t> </a:t>
            </a:r>
          </a:p>
          <a:p>
            <a:pPr>
              <a:lnSpc>
                <a:spcPct val="103226"/>
              </a:lnSpc>
              <a:spcAft>
                <a:spcPts val="0"/>
              </a:spcAft>
            </a:pPr>
            <a:r>
              <a:rPr sz="645" i="0">
                <a:solidFill>
                  <a:srgbClr val="5C6773"/>
                </a:solidFill>
                <a:latin typeface="Inconsolata"/>
              </a:rPr>
              <a:t>15  </a:t>
            </a:r>
            <a:r>
              <a:rPr sz="645" i="0">
                <a:solidFill>
                  <a:srgbClr val="E6EDF3"/>
                </a:solidFill>
                <a:latin typeface="Inconsolata"/>
              </a:rPr>
              <a:t>app = </a:t>
            </a:r>
            <a:r>
              <a:rPr sz="645" i="0">
                <a:solidFill>
                  <a:srgbClr val="7FDBCA"/>
                </a:solidFill>
                <a:latin typeface="Inconsolata"/>
              </a:rPr>
              <a:t>FastAPI</a:t>
            </a:r>
            <a:r>
              <a:rPr sz="645" i="0">
                <a:solidFill>
                  <a:srgbClr val="E6EDF3"/>
                </a:solidFill>
                <a:latin typeface="Inconsolata"/>
              </a:rPr>
              <a:t>(</a:t>
            </a:r>
          </a:p>
          <a:p>
            <a:pPr>
              <a:lnSpc>
                <a:spcPct val="103226"/>
              </a:lnSpc>
              <a:spcAft>
                <a:spcPts val="0"/>
              </a:spcAft>
            </a:pPr>
            <a:r>
              <a:rPr sz="645" i="0">
                <a:solidFill>
                  <a:srgbClr val="5C6773"/>
                </a:solidFill>
                <a:latin typeface="Inconsolata"/>
              </a:rPr>
              <a:t>16  </a:t>
            </a:r>
            <a:r>
              <a:rPr sz="645" i="0">
                <a:solidFill>
                  <a:srgbClr val="E6EDF3"/>
                </a:solidFill>
                <a:latin typeface="Inconsolata"/>
              </a:rPr>
              <a:t>    title=</a:t>
            </a:r>
            <a:r>
              <a:rPr sz="645" i="0">
                <a:solidFill>
                  <a:srgbClr val="A5D6A7"/>
                </a:solidFill>
                <a:latin typeface="Inconsolata"/>
              </a:rPr>
              <a:t>"Order API"</a:t>
            </a:r>
            <a:r>
              <a:rPr sz="645" i="0">
                <a:solidFill>
                  <a:srgbClr val="E6EDF3"/>
                </a:solidFill>
                <a:latin typeface="Inconsolata"/>
              </a:rPr>
              <a:t>,</a:t>
            </a:r>
          </a:p>
          <a:p>
            <a:pPr>
              <a:lnSpc>
                <a:spcPct val="103226"/>
              </a:lnSpc>
              <a:spcAft>
                <a:spcPts val="0"/>
              </a:spcAft>
            </a:pPr>
            <a:r>
              <a:rPr sz="645" i="0">
                <a:solidFill>
                  <a:srgbClr val="5C6773"/>
                </a:solidFill>
                <a:latin typeface="Inconsolata"/>
              </a:rPr>
              <a:t>17  </a:t>
            </a:r>
            <a:r>
              <a:rPr sz="645" i="0">
                <a:solidFill>
                  <a:srgbClr val="E6EDF3"/>
                </a:solidFill>
                <a:latin typeface="Inconsolata"/>
              </a:rPr>
              <a:t>    version=</a:t>
            </a:r>
            <a:r>
              <a:rPr sz="645" i="0">
                <a:solidFill>
                  <a:srgbClr val="A5D6A7"/>
                </a:solidFill>
                <a:latin typeface="Inconsolata"/>
              </a:rPr>
              <a:t>"1.0.0"</a:t>
            </a:r>
            <a:r>
              <a:rPr sz="645" i="0">
                <a:solidFill>
                  <a:srgbClr val="E6EDF3"/>
                </a:solidFill>
                <a:latin typeface="Inconsolata"/>
              </a:rPr>
              <a:t>,</a:t>
            </a:r>
          </a:p>
          <a:p>
            <a:pPr>
              <a:lnSpc>
                <a:spcPct val="103226"/>
              </a:lnSpc>
              <a:spcAft>
                <a:spcPts val="0"/>
              </a:spcAft>
            </a:pPr>
            <a:r>
              <a:rPr sz="645" i="0">
                <a:solidFill>
                  <a:srgbClr val="5C6773"/>
                </a:solidFill>
                <a:latin typeface="Inconsolata"/>
              </a:rPr>
              <a:t>18  </a:t>
            </a:r>
            <a:r>
              <a:rPr sz="645" i="0">
                <a:solidFill>
                  <a:srgbClr val="E6EDF3"/>
                </a:solidFill>
                <a:latin typeface="Inconsolata"/>
              </a:rPr>
              <a:t>    description=</a:t>
            </a:r>
            <a:r>
              <a:rPr sz="645" i="0">
                <a:solidFill>
                  <a:srgbClr val="A5D6A7"/>
                </a:solidFill>
                <a:latin typeface="Inconsolata"/>
              </a:rPr>
              <a:t>"API untuk membuat dan melihat order."</a:t>
            </a:r>
            <a:r>
              <a:rPr sz="645" i="0">
                <a:solidFill>
                  <a:srgbClr val="E6EDF3"/>
                </a:solidFill>
                <a:latin typeface="Inconsolata"/>
              </a:rPr>
              <a:t>,</a:t>
            </a:r>
          </a:p>
          <a:p>
            <a:pPr>
              <a:lnSpc>
                <a:spcPct val="103226"/>
              </a:lnSpc>
              <a:spcAft>
                <a:spcPts val="0"/>
              </a:spcAft>
            </a:pPr>
            <a:r>
              <a:rPr sz="645" i="0">
                <a:solidFill>
                  <a:srgbClr val="5C6773"/>
                </a:solidFill>
                <a:latin typeface="Inconsolata"/>
              </a:rPr>
              <a:t>19  </a:t>
            </a:r>
            <a:r>
              <a:rPr sz="645" i="0">
                <a:solidFill>
                  <a:srgbClr val="E6EDF3"/>
                </a:solidFill>
                <a:latin typeface="Inconsolata"/>
              </a:rPr>
              <a:t>    openapi_tags=[{</a:t>
            </a:r>
          </a:p>
          <a:p>
            <a:pPr>
              <a:lnSpc>
                <a:spcPct val="103226"/>
              </a:lnSpc>
              <a:spcAft>
                <a:spcPts val="0"/>
              </a:spcAft>
            </a:pPr>
            <a:r>
              <a:rPr sz="645" i="0">
                <a:solidFill>
                  <a:srgbClr val="5C6773"/>
                </a:solidFill>
                <a:latin typeface="Inconsolata"/>
              </a:rPr>
              <a:t>20  </a:t>
            </a:r>
            <a:r>
              <a:rPr sz="645" i="0">
                <a:solidFill>
                  <a:srgbClr val="E6EDF3"/>
                </a:solidFill>
                <a:latin typeface="Inconsolata"/>
              </a:rPr>
              <a:t>        </a:t>
            </a:r>
            <a:r>
              <a:rPr sz="645" i="0">
                <a:solidFill>
                  <a:srgbClr val="A5D6A7"/>
                </a:solidFill>
                <a:latin typeface="Inconsolata"/>
              </a:rPr>
              <a:t>"name"</a:t>
            </a:r>
            <a:r>
              <a:rPr sz="645" i="0">
                <a:solidFill>
                  <a:srgbClr val="E6EDF3"/>
                </a:solidFill>
                <a:latin typeface="Inconsolata"/>
              </a:rPr>
              <a:t>: </a:t>
            </a:r>
            <a:r>
              <a:rPr sz="645" i="0">
                <a:solidFill>
                  <a:srgbClr val="A5D6A7"/>
                </a:solidFill>
                <a:latin typeface="Inconsolata"/>
              </a:rPr>
              <a:t>"orders"</a:t>
            </a:r>
            <a:r>
              <a:rPr sz="645" i="0">
                <a:solidFill>
                  <a:srgbClr val="E6EDF3"/>
                </a:solidFill>
                <a:latin typeface="Inconsolata"/>
              </a:rPr>
              <a:t>,</a:t>
            </a:r>
          </a:p>
          <a:p>
            <a:pPr>
              <a:lnSpc>
                <a:spcPct val="103226"/>
              </a:lnSpc>
              <a:spcAft>
                <a:spcPts val="0"/>
              </a:spcAft>
            </a:pPr>
            <a:r>
              <a:rPr sz="645" i="0">
                <a:solidFill>
                  <a:srgbClr val="5C6773"/>
                </a:solidFill>
                <a:latin typeface="Inconsolata"/>
              </a:rPr>
              <a:t>21  </a:t>
            </a:r>
            <a:r>
              <a:rPr sz="645" i="0">
                <a:solidFill>
                  <a:srgbClr val="E6EDF3"/>
                </a:solidFill>
                <a:latin typeface="Inconsolata"/>
              </a:rPr>
              <a:t>        </a:t>
            </a:r>
            <a:r>
              <a:rPr sz="645" i="0">
                <a:solidFill>
                  <a:srgbClr val="A5D6A7"/>
                </a:solidFill>
                <a:latin typeface="Inconsolata"/>
              </a:rPr>
              <a:t>"description"</a:t>
            </a:r>
            <a:r>
              <a:rPr sz="645" i="0">
                <a:solidFill>
                  <a:srgbClr val="E6EDF3"/>
                </a:solidFill>
                <a:latin typeface="Inconsolata"/>
              </a:rPr>
              <a:t>: </a:t>
            </a:r>
            <a:r>
              <a:rPr sz="645" i="0">
                <a:solidFill>
                  <a:srgbClr val="A5D6A7"/>
                </a:solidFill>
                <a:latin typeface="Inconsolata"/>
              </a:rPr>
              <a:t>"Membuat dan melihat order"</a:t>
            </a:r>
            <a:r>
              <a:rPr sz="645" i="0">
                <a:solidFill>
                  <a:srgbClr val="E6EDF3"/>
                </a:solidFill>
                <a:latin typeface="Inconsolata"/>
              </a:rPr>
              <a:t>,</a:t>
            </a:r>
          </a:p>
          <a:p>
            <a:pPr>
              <a:lnSpc>
                <a:spcPct val="103226"/>
              </a:lnSpc>
              <a:spcAft>
                <a:spcPts val="0"/>
              </a:spcAft>
            </a:pPr>
            <a:r>
              <a:rPr sz="645" i="0">
                <a:solidFill>
                  <a:srgbClr val="5C6773"/>
                </a:solidFill>
                <a:latin typeface="Inconsolata"/>
              </a:rPr>
              <a:t>22  </a:t>
            </a:r>
            <a:r>
              <a:rPr sz="645" i="0">
                <a:solidFill>
                  <a:srgbClr val="E6EDF3"/>
                </a:solidFill>
                <a:latin typeface="Inconsolata"/>
              </a:rPr>
              <a:t>    }],</a:t>
            </a:r>
          </a:p>
          <a:p>
            <a:pPr>
              <a:lnSpc>
                <a:spcPct val="103226"/>
              </a:lnSpc>
              <a:spcAft>
                <a:spcPts val="0"/>
              </a:spcAft>
            </a:pPr>
            <a:r>
              <a:rPr sz="645" i="0">
                <a:solidFill>
                  <a:srgbClr val="5C6773"/>
                </a:solidFill>
                <a:latin typeface="Inconsolata"/>
              </a:rPr>
              <a:t>23  </a:t>
            </a:r>
            <a:r>
              <a:rPr sz="645" i="0">
                <a:solidFill>
                  <a:srgbClr val="E6EDF3"/>
                </a:solidFill>
                <a:latin typeface="Inconsolata"/>
              </a:rPr>
              <a:t>)</a:t>
            </a:r>
          </a:p>
          <a:p>
            <a:pPr>
              <a:lnSpc>
                <a:spcPct val="103226"/>
              </a:lnSpc>
              <a:spcAft>
                <a:spcPts val="0"/>
              </a:spcAft>
            </a:pPr>
            <a:r>
              <a:rPr sz="645" i="0">
                <a:solidFill>
                  <a:srgbClr val="5C6773"/>
                </a:solidFill>
                <a:latin typeface="Inconsolata"/>
              </a:rPr>
              <a:t>24  </a:t>
            </a:r>
            <a:r>
              <a:rPr sz="645" i="0">
                <a:solidFill>
                  <a:srgbClr val="7FDBCA"/>
                </a:solidFill>
                <a:latin typeface="Inconsolata"/>
              </a:rPr>
              <a:t>ORDERS</a:t>
            </a:r>
            <a:r>
              <a:rPr sz="645" i="0">
                <a:solidFill>
                  <a:srgbClr val="E6EDF3"/>
                </a:solidFill>
                <a:latin typeface="Inconsolata"/>
              </a:rPr>
              <a:t>: </a:t>
            </a:r>
            <a:r>
              <a:rPr sz="645" i="0">
                <a:solidFill>
                  <a:srgbClr val="C3A6FF"/>
                </a:solidFill>
                <a:latin typeface="Inconsolata"/>
              </a:rPr>
              <a:t>dict</a:t>
            </a:r>
            <a:r>
              <a:rPr sz="645" i="0">
                <a:solidFill>
                  <a:srgbClr val="E6EDF3"/>
                </a:solidFill>
                <a:latin typeface="Inconsolata"/>
              </a:rPr>
              <a:t>[</a:t>
            </a:r>
            <a:r>
              <a:rPr sz="645" i="0">
                <a:solidFill>
                  <a:srgbClr val="C3A6FF"/>
                </a:solidFill>
                <a:latin typeface="Inconsolata"/>
              </a:rPr>
              <a:t>int</a:t>
            </a:r>
            <a:r>
              <a:rPr sz="645" i="0">
                <a:solidFill>
                  <a:srgbClr val="E6EDF3"/>
                </a:solidFill>
                <a:latin typeface="Inconsolata"/>
              </a:rPr>
              <a:t>, </a:t>
            </a:r>
            <a:r>
              <a:rPr sz="645" i="0">
                <a:solidFill>
                  <a:srgbClr val="C3A6FF"/>
                </a:solidFill>
                <a:latin typeface="Inconsolata"/>
              </a:rPr>
              <a:t>dict</a:t>
            </a:r>
            <a:r>
              <a:rPr sz="645" i="0">
                <a:solidFill>
                  <a:srgbClr val="E6EDF3"/>
                </a:solidFill>
                <a:latin typeface="Inconsolata"/>
              </a:rPr>
              <a:t>] = {}</a:t>
            </a:r>
          </a:p>
          <a:p>
            <a:pPr>
              <a:lnSpc>
                <a:spcPct val="103226"/>
              </a:lnSpc>
              <a:spcAft>
                <a:spcPts val="0"/>
              </a:spcAft>
            </a:pPr>
            <a:r>
              <a:rPr sz="645" i="0">
                <a:solidFill>
                  <a:srgbClr val="5C6773"/>
                </a:solidFill>
                <a:latin typeface="Inconsolata"/>
              </a:rPr>
              <a:t>25  </a:t>
            </a:r>
            <a:r>
              <a:rPr sz="645" i="0">
                <a:solidFill>
                  <a:srgbClr val="E6EDF3"/>
                </a:solidFill>
                <a:latin typeface="Inconsolata"/>
              </a:rPr>
              <a:t> </a:t>
            </a:r>
          </a:p>
          <a:p>
            <a:pPr>
              <a:lnSpc>
                <a:spcPct val="103226"/>
              </a:lnSpc>
              <a:spcAft>
                <a:spcPts val="0"/>
              </a:spcAft>
            </a:pPr>
            <a:r>
              <a:rPr sz="645" i="0">
                <a:solidFill>
                  <a:srgbClr val="5C6773"/>
                </a:solidFill>
                <a:latin typeface="Inconsolata"/>
              </a:rPr>
              <a:t>26  </a:t>
            </a:r>
            <a:r>
              <a:rPr sz="645" i="0">
                <a:solidFill>
                  <a:srgbClr val="E6EDF3"/>
                </a:solidFill>
                <a:latin typeface="Inconsolata"/>
              </a:rPr>
              <a:t> </a:t>
            </a:r>
          </a:p>
          <a:p>
            <a:pPr>
              <a:lnSpc>
                <a:spcPct val="103226"/>
              </a:lnSpc>
              <a:spcAft>
                <a:spcPts val="0"/>
              </a:spcAft>
            </a:pPr>
            <a:r>
              <a:rPr sz="645" i="0">
                <a:solidFill>
                  <a:srgbClr val="5C6773"/>
                </a:solidFill>
                <a:latin typeface="Inconsolata"/>
              </a:rPr>
              <a:t>27  </a:t>
            </a:r>
            <a:r>
              <a:rPr sz="645" i="0">
                <a:solidFill>
                  <a:srgbClr val="FF8E6E"/>
                </a:solidFill>
                <a:latin typeface="Inconsolata"/>
              </a:rPr>
              <a:t>class</a:t>
            </a:r>
            <a:r>
              <a:rPr sz="645" i="0">
                <a:solidFill>
                  <a:srgbClr val="E6EDF3"/>
                </a:solidFill>
                <a:latin typeface="Inconsolata"/>
              </a:rPr>
              <a:t> </a:t>
            </a:r>
            <a:r>
              <a:rPr sz="645" i="0">
                <a:solidFill>
                  <a:srgbClr val="7FDBCA"/>
                </a:solidFill>
                <a:latin typeface="Inconsolata"/>
              </a:rPr>
              <a:t>OrderIn</a:t>
            </a:r>
            <a:r>
              <a:rPr sz="645" i="0">
                <a:solidFill>
                  <a:srgbClr val="E6EDF3"/>
                </a:solidFill>
                <a:latin typeface="Inconsolata"/>
              </a:rPr>
              <a:t>(</a:t>
            </a:r>
            <a:r>
              <a:rPr sz="645" i="0">
                <a:solidFill>
                  <a:srgbClr val="7FDBCA"/>
                </a:solidFill>
                <a:latin typeface="Inconsolata"/>
              </a:rPr>
              <a:t>BaseModel</a:t>
            </a:r>
            <a:r>
              <a:rPr sz="645" i="0">
                <a:solidFill>
                  <a:srgbClr val="E6EDF3"/>
                </a:solidFill>
                <a:latin typeface="Inconsolata"/>
              </a:rPr>
              <a:t>):</a:t>
            </a:r>
          </a:p>
          <a:p>
            <a:pPr>
              <a:lnSpc>
                <a:spcPct val="103226"/>
              </a:lnSpc>
              <a:spcAft>
                <a:spcPts val="0"/>
              </a:spcAft>
            </a:pPr>
            <a:r>
              <a:rPr sz="645" i="0">
                <a:solidFill>
                  <a:srgbClr val="5C6773"/>
                </a:solidFill>
                <a:latin typeface="Inconsolata"/>
              </a:rPr>
              <a:t>28  </a:t>
            </a:r>
            <a:r>
              <a:rPr sz="645" i="0">
                <a:solidFill>
                  <a:srgbClr val="E6EDF3"/>
                </a:solidFill>
                <a:latin typeface="Inconsolata"/>
              </a:rPr>
              <a:t>    customer: </a:t>
            </a:r>
            <a:r>
              <a:rPr sz="645" i="0">
                <a:solidFill>
                  <a:srgbClr val="C3A6FF"/>
                </a:solidFill>
                <a:latin typeface="Inconsolata"/>
              </a:rPr>
              <a:t>str</a:t>
            </a:r>
            <a:r>
              <a:rPr sz="645" i="0">
                <a:solidFill>
                  <a:srgbClr val="E6EDF3"/>
                </a:solidFill>
                <a:latin typeface="Inconsolata"/>
              </a:rPr>
              <a:t> = </a:t>
            </a:r>
            <a:r>
              <a:rPr sz="645" i="0">
                <a:solidFill>
                  <a:srgbClr val="7FDBCA"/>
                </a:solidFill>
                <a:latin typeface="Inconsolata"/>
              </a:rPr>
              <a:t>Field</a:t>
            </a:r>
            <a:r>
              <a:rPr sz="645" i="0">
                <a:solidFill>
                  <a:srgbClr val="E6EDF3"/>
                </a:solidFill>
                <a:latin typeface="Inconsolata"/>
              </a:rPr>
              <a:t>(examples=[</a:t>
            </a:r>
            <a:r>
              <a:rPr sz="645" i="0">
                <a:solidFill>
                  <a:srgbClr val="A5D6A7"/>
                </a:solidFill>
                <a:latin typeface="Inconsolata"/>
              </a:rPr>
              <a:t>"budi@mail.com"</a:t>
            </a:r>
            <a:r>
              <a:rPr sz="645" i="0">
                <a:solidFill>
                  <a:srgbClr val="E6EDF3"/>
                </a:solidFill>
                <a:latin typeface="Inconsolata"/>
              </a:rPr>
              <a:t>])</a:t>
            </a:r>
          </a:p>
          <a:p>
            <a:pPr>
              <a:lnSpc>
                <a:spcPct val="103226"/>
              </a:lnSpc>
              <a:spcAft>
                <a:spcPts val="0"/>
              </a:spcAft>
            </a:pPr>
            <a:r>
              <a:rPr sz="645" i="0">
                <a:solidFill>
                  <a:srgbClr val="5C6773"/>
                </a:solidFill>
                <a:latin typeface="Inconsolata"/>
              </a:rPr>
              <a:t>29  </a:t>
            </a:r>
            <a:r>
              <a:rPr sz="645" i="0">
                <a:solidFill>
                  <a:srgbClr val="E6EDF3"/>
                </a:solidFill>
                <a:latin typeface="Inconsolata"/>
              </a:rPr>
              <a:t>    product_id: </a:t>
            </a:r>
            <a:r>
              <a:rPr sz="645" i="0">
                <a:solidFill>
                  <a:srgbClr val="C3A6FF"/>
                </a:solidFill>
                <a:latin typeface="Inconsolata"/>
              </a:rPr>
              <a:t>int</a:t>
            </a:r>
            <a:r>
              <a:rPr sz="645" i="0">
                <a:solidFill>
                  <a:srgbClr val="E6EDF3"/>
                </a:solidFill>
                <a:latin typeface="Inconsolata"/>
              </a:rPr>
              <a:t> = </a:t>
            </a:r>
            <a:r>
              <a:rPr sz="645" i="0">
                <a:solidFill>
                  <a:srgbClr val="7FDBCA"/>
                </a:solidFill>
                <a:latin typeface="Inconsolata"/>
              </a:rPr>
              <a:t>Field</a:t>
            </a:r>
            <a:r>
              <a:rPr sz="645" i="0">
                <a:solidFill>
                  <a:srgbClr val="E6EDF3"/>
                </a:solidFill>
                <a:latin typeface="Inconsolata"/>
              </a:rPr>
              <a:t>(gt=</a:t>
            </a:r>
            <a:r>
              <a:rPr sz="645" i="0">
                <a:solidFill>
                  <a:srgbClr val="F9C97A"/>
                </a:solidFill>
                <a:latin typeface="Inconsolata"/>
              </a:rPr>
              <a:t>0</a:t>
            </a:r>
            <a:r>
              <a:rPr sz="645" i="0">
                <a:solidFill>
                  <a:srgbClr val="E6EDF3"/>
                </a:solidFill>
                <a:latin typeface="Inconsolata"/>
              </a:rPr>
              <a:t>, examples=[</a:t>
            </a:r>
            <a:r>
              <a:rPr sz="645" i="0">
                <a:solidFill>
                  <a:srgbClr val="F9C97A"/>
                </a:solidFill>
                <a:latin typeface="Inconsolata"/>
              </a:rPr>
              <a:t>1</a:t>
            </a:r>
            <a:r>
              <a:rPr sz="645" i="0">
                <a:solidFill>
                  <a:srgbClr val="E6EDF3"/>
                </a:solidFill>
                <a:latin typeface="Inconsolata"/>
              </a:rPr>
              <a:t>])</a:t>
            </a:r>
          </a:p>
          <a:p>
            <a:pPr>
              <a:lnSpc>
                <a:spcPct val="103226"/>
              </a:lnSpc>
              <a:spcAft>
                <a:spcPts val="0"/>
              </a:spcAft>
            </a:pPr>
            <a:r>
              <a:rPr sz="645" i="0">
                <a:solidFill>
                  <a:srgbClr val="5C6773"/>
                </a:solidFill>
                <a:latin typeface="Inconsolata"/>
              </a:rPr>
              <a:t>30  </a:t>
            </a:r>
            <a:r>
              <a:rPr sz="645" i="0">
                <a:solidFill>
                  <a:srgbClr val="E6EDF3"/>
                </a:solidFill>
                <a:latin typeface="Inconsolata"/>
              </a:rPr>
              <a:t>    qty: </a:t>
            </a:r>
            <a:r>
              <a:rPr sz="645" i="0">
                <a:solidFill>
                  <a:srgbClr val="C3A6FF"/>
                </a:solidFill>
                <a:latin typeface="Inconsolata"/>
              </a:rPr>
              <a:t>int</a:t>
            </a:r>
            <a:r>
              <a:rPr sz="645" i="0">
                <a:solidFill>
                  <a:srgbClr val="E6EDF3"/>
                </a:solidFill>
                <a:latin typeface="Inconsolata"/>
              </a:rPr>
              <a:t> = </a:t>
            </a:r>
            <a:r>
              <a:rPr sz="645" i="0">
                <a:solidFill>
                  <a:srgbClr val="7FDBCA"/>
                </a:solidFill>
                <a:latin typeface="Inconsolata"/>
              </a:rPr>
              <a:t>Field</a:t>
            </a:r>
            <a:r>
              <a:rPr sz="645" i="0">
                <a:solidFill>
                  <a:srgbClr val="E6EDF3"/>
                </a:solidFill>
                <a:latin typeface="Inconsolata"/>
              </a:rPr>
              <a:t>(gt=</a:t>
            </a:r>
            <a:r>
              <a:rPr sz="645" i="0">
                <a:solidFill>
                  <a:srgbClr val="F9C97A"/>
                </a:solidFill>
                <a:latin typeface="Inconsolata"/>
              </a:rPr>
              <a:t>0</a:t>
            </a:r>
            <a:r>
              <a:rPr sz="645" i="0">
                <a:solidFill>
                  <a:srgbClr val="E6EDF3"/>
                </a:solidFill>
                <a:latin typeface="Inconsolata"/>
              </a:rPr>
              <a:t>, examples=[</a:t>
            </a:r>
            <a:r>
              <a:rPr sz="645" i="0">
                <a:solidFill>
                  <a:srgbClr val="F9C97A"/>
                </a:solidFill>
                <a:latin typeface="Inconsolata"/>
              </a:rPr>
              <a:t>2</a:t>
            </a:r>
            <a:r>
              <a:rPr sz="645" i="0">
                <a:solidFill>
                  <a:srgbClr val="E6EDF3"/>
                </a:solidFill>
                <a:latin typeface="Inconsolata"/>
              </a:rPr>
              <a:t>])</a:t>
            </a:r>
          </a:p>
          <a:p>
            <a:pPr>
              <a:lnSpc>
                <a:spcPct val="103226"/>
              </a:lnSpc>
              <a:spcAft>
                <a:spcPts val="0"/>
              </a:spcAft>
            </a:pPr>
            <a:r>
              <a:rPr sz="645" i="0">
                <a:solidFill>
                  <a:srgbClr val="5C6773"/>
                </a:solidFill>
                <a:latin typeface="Inconsolata"/>
              </a:rPr>
              <a:t>31  </a:t>
            </a:r>
            <a:r>
              <a:rPr sz="645" i="0">
                <a:solidFill>
                  <a:srgbClr val="E6EDF3"/>
                </a:solidFill>
                <a:latin typeface="Inconsolata"/>
              </a:rPr>
              <a:t> </a:t>
            </a:r>
          </a:p>
          <a:p>
            <a:pPr>
              <a:lnSpc>
                <a:spcPct val="103226"/>
              </a:lnSpc>
              <a:spcAft>
                <a:spcPts val="0"/>
              </a:spcAft>
            </a:pPr>
            <a:r>
              <a:rPr sz="645" i="0">
                <a:solidFill>
                  <a:srgbClr val="5C6773"/>
                </a:solidFill>
                <a:latin typeface="Inconsolata"/>
              </a:rPr>
              <a:t>32  </a:t>
            </a:r>
            <a:r>
              <a:rPr sz="645" i="0">
                <a:solidFill>
                  <a:srgbClr val="E6EDF3"/>
                </a:solidFill>
                <a:latin typeface="Inconsolata"/>
              </a:rPr>
              <a:t> </a:t>
            </a:r>
          </a:p>
          <a:p>
            <a:pPr>
              <a:lnSpc>
                <a:spcPct val="103226"/>
              </a:lnSpc>
              <a:spcAft>
                <a:spcPts val="0"/>
              </a:spcAft>
            </a:pPr>
            <a:r>
              <a:rPr sz="645" i="0">
                <a:solidFill>
                  <a:srgbClr val="5C6773"/>
                </a:solidFill>
                <a:latin typeface="Inconsolata"/>
              </a:rPr>
              <a:t>33  </a:t>
            </a:r>
            <a:r>
              <a:rPr sz="645" i="0">
                <a:solidFill>
                  <a:srgbClr val="FF8E6E"/>
                </a:solidFill>
                <a:latin typeface="Inconsolata"/>
              </a:rPr>
              <a:t>class</a:t>
            </a:r>
            <a:r>
              <a:rPr sz="645" i="0">
                <a:solidFill>
                  <a:srgbClr val="E6EDF3"/>
                </a:solidFill>
                <a:latin typeface="Inconsolata"/>
              </a:rPr>
              <a:t> </a:t>
            </a:r>
            <a:r>
              <a:rPr sz="645" i="0">
                <a:solidFill>
                  <a:srgbClr val="7FDBCA"/>
                </a:solidFill>
                <a:latin typeface="Inconsolata"/>
              </a:rPr>
              <a:t>OrderOut</a:t>
            </a:r>
            <a:r>
              <a:rPr sz="645" i="0">
                <a:solidFill>
                  <a:srgbClr val="E6EDF3"/>
                </a:solidFill>
                <a:latin typeface="Inconsolata"/>
              </a:rPr>
              <a:t>(</a:t>
            </a:r>
            <a:r>
              <a:rPr sz="645" i="0">
                <a:solidFill>
                  <a:srgbClr val="7FDBCA"/>
                </a:solidFill>
                <a:latin typeface="Inconsolata"/>
              </a:rPr>
              <a:t>BaseModel</a:t>
            </a:r>
            <a:r>
              <a:rPr sz="645" i="0">
                <a:solidFill>
                  <a:srgbClr val="E6EDF3"/>
                </a:solidFill>
                <a:latin typeface="Inconsolata"/>
              </a:rPr>
              <a:t>):</a:t>
            </a:r>
          </a:p>
          <a:p>
            <a:pPr>
              <a:lnSpc>
                <a:spcPct val="103226"/>
              </a:lnSpc>
              <a:spcAft>
                <a:spcPts val="0"/>
              </a:spcAft>
            </a:pPr>
            <a:r>
              <a:rPr sz="645" i="0">
                <a:solidFill>
                  <a:srgbClr val="5C6773"/>
                </a:solidFill>
                <a:latin typeface="Inconsolata"/>
              </a:rPr>
              <a:t>34  </a:t>
            </a:r>
            <a:r>
              <a:rPr sz="645" i="0">
                <a:solidFill>
                  <a:srgbClr val="E6EDF3"/>
                </a:solidFill>
                <a:latin typeface="Inconsolata"/>
              </a:rPr>
              <a:t>    id: </a:t>
            </a:r>
            <a:r>
              <a:rPr sz="645" i="0">
                <a:solidFill>
                  <a:srgbClr val="C3A6FF"/>
                </a:solidFill>
                <a:latin typeface="Inconsolata"/>
              </a:rPr>
              <a:t>int</a:t>
            </a:r>
          </a:p>
          <a:p>
            <a:pPr>
              <a:lnSpc>
                <a:spcPct val="103226"/>
              </a:lnSpc>
              <a:spcAft>
                <a:spcPts val="0"/>
              </a:spcAft>
            </a:pPr>
            <a:r>
              <a:rPr sz="645" i="0">
                <a:solidFill>
                  <a:srgbClr val="5C6773"/>
                </a:solidFill>
                <a:latin typeface="Inconsolata"/>
              </a:rPr>
              <a:t>35  </a:t>
            </a:r>
            <a:r>
              <a:rPr sz="645" i="0">
                <a:solidFill>
                  <a:srgbClr val="E6EDF3"/>
                </a:solidFill>
                <a:latin typeface="Inconsolata"/>
              </a:rPr>
              <a:t>    customer: </a:t>
            </a:r>
            <a:r>
              <a:rPr sz="645" i="0">
                <a:solidFill>
                  <a:srgbClr val="C3A6FF"/>
                </a:solidFill>
                <a:latin typeface="Inconsolata"/>
              </a:rPr>
              <a:t>str</a:t>
            </a:r>
          </a:p>
          <a:p>
            <a:pPr>
              <a:lnSpc>
                <a:spcPct val="103226"/>
              </a:lnSpc>
              <a:spcAft>
                <a:spcPts val="0"/>
              </a:spcAft>
            </a:pPr>
            <a:r>
              <a:rPr sz="645" i="0">
                <a:solidFill>
                  <a:srgbClr val="5C6773"/>
                </a:solidFill>
                <a:latin typeface="Inconsolata"/>
              </a:rPr>
              <a:t>36  </a:t>
            </a:r>
            <a:r>
              <a:rPr sz="645" i="0">
                <a:solidFill>
                  <a:srgbClr val="E6EDF3"/>
                </a:solidFill>
                <a:latin typeface="Inconsolata"/>
              </a:rPr>
              <a:t>    product_id: </a:t>
            </a:r>
            <a:r>
              <a:rPr sz="645" i="0">
                <a:solidFill>
                  <a:srgbClr val="C3A6FF"/>
                </a:solidFill>
                <a:latin typeface="Inconsolata"/>
              </a:rPr>
              <a:t>int</a:t>
            </a:r>
          </a:p>
          <a:p>
            <a:pPr>
              <a:lnSpc>
                <a:spcPct val="103226"/>
              </a:lnSpc>
              <a:spcAft>
                <a:spcPts val="0"/>
              </a:spcAft>
            </a:pPr>
            <a:r>
              <a:rPr sz="645" i="0">
                <a:solidFill>
                  <a:srgbClr val="5C6773"/>
                </a:solidFill>
                <a:latin typeface="Inconsolata"/>
              </a:rPr>
              <a:t>37  </a:t>
            </a:r>
            <a:r>
              <a:rPr sz="645" i="0">
                <a:solidFill>
                  <a:srgbClr val="E6EDF3"/>
                </a:solidFill>
                <a:latin typeface="Inconsolata"/>
              </a:rPr>
              <a:t>    qty: </a:t>
            </a:r>
            <a:r>
              <a:rPr sz="645" i="0">
                <a:solidFill>
                  <a:srgbClr val="C3A6FF"/>
                </a:solidFill>
                <a:latin typeface="Inconsolata"/>
              </a:rPr>
              <a:t>int</a:t>
            </a:r>
          </a:p>
          <a:p>
            <a:pPr>
              <a:lnSpc>
                <a:spcPct val="103226"/>
              </a:lnSpc>
              <a:spcAft>
                <a:spcPts val="0"/>
              </a:spcAft>
            </a:pPr>
            <a:r>
              <a:rPr sz="645" i="0">
                <a:solidFill>
                  <a:srgbClr val="5C6773"/>
                </a:solidFill>
                <a:latin typeface="Inconsolata"/>
              </a:rPr>
              <a:t>38  </a:t>
            </a:r>
            <a:r>
              <a:rPr sz="645" i="0">
                <a:solidFill>
                  <a:srgbClr val="E6EDF3"/>
                </a:solidFill>
                <a:latin typeface="Inconsolata"/>
              </a:rPr>
              <a:t>    status: </a:t>
            </a:r>
            <a:r>
              <a:rPr sz="645" i="0">
                <a:solidFill>
                  <a:srgbClr val="C3A6FF"/>
                </a:solidFill>
                <a:latin typeface="Inconsolata"/>
              </a:rPr>
              <a:t>str</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06-openapi/after.py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3226"/>
              </a:lnSpc>
              <a:spcAft>
                <a:spcPts val="0"/>
              </a:spcAft>
            </a:pPr>
            <a:r>
              <a:rPr sz="645" i="0">
                <a:solidFill>
                  <a:srgbClr val="5C6773"/>
                </a:solidFill>
                <a:latin typeface="Inconsolata"/>
              </a:rPr>
              <a:t>41  </a:t>
            </a:r>
            <a:r>
              <a:rPr sz="645" i="0">
                <a:solidFill>
                  <a:srgbClr val="FF8E6E"/>
                </a:solidFill>
                <a:latin typeface="Inconsolata"/>
              </a:rPr>
              <a:t>class</a:t>
            </a:r>
            <a:r>
              <a:rPr sz="645" i="0">
                <a:solidFill>
                  <a:srgbClr val="E6EDF3"/>
                </a:solidFill>
                <a:latin typeface="Inconsolata"/>
              </a:rPr>
              <a:t> </a:t>
            </a:r>
            <a:r>
              <a:rPr sz="645" i="0">
                <a:solidFill>
                  <a:srgbClr val="7FDBCA"/>
                </a:solidFill>
                <a:latin typeface="Inconsolata"/>
              </a:rPr>
              <a:t>ErrorOut</a:t>
            </a:r>
            <a:r>
              <a:rPr sz="645" i="0">
                <a:solidFill>
                  <a:srgbClr val="E6EDF3"/>
                </a:solidFill>
                <a:latin typeface="Inconsolata"/>
              </a:rPr>
              <a:t>(</a:t>
            </a:r>
            <a:r>
              <a:rPr sz="645" i="0">
                <a:solidFill>
                  <a:srgbClr val="7FDBCA"/>
                </a:solidFill>
                <a:latin typeface="Inconsolata"/>
              </a:rPr>
              <a:t>BaseModel</a:t>
            </a:r>
            <a:r>
              <a:rPr sz="645" i="0">
                <a:solidFill>
                  <a:srgbClr val="E6EDF3"/>
                </a:solidFill>
                <a:latin typeface="Inconsolata"/>
              </a:rPr>
              <a:t>):</a:t>
            </a:r>
          </a:p>
          <a:p>
            <a:pPr>
              <a:lnSpc>
                <a:spcPct val="103226"/>
              </a:lnSpc>
              <a:spcAft>
                <a:spcPts val="0"/>
              </a:spcAft>
            </a:pPr>
            <a:r>
              <a:rPr sz="645" i="0">
                <a:solidFill>
                  <a:srgbClr val="5C6773"/>
                </a:solidFill>
                <a:latin typeface="Inconsolata"/>
              </a:rPr>
              <a:t>42  </a:t>
            </a:r>
            <a:r>
              <a:rPr sz="645" i="0">
                <a:solidFill>
                  <a:srgbClr val="E6EDF3"/>
                </a:solidFill>
                <a:latin typeface="Inconsolata"/>
              </a:rPr>
              <a:t>    detail: </a:t>
            </a:r>
            <a:r>
              <a:rPr sz="645" i="0">
                <a:solidFill>
                  <a:srgbClr val="C3A6FF"/>
                </a:solidFill>
                <a:latin typeface="Inconsolata"/>
              </a:rPr>
              <a:t>str</a:t>
            </a:r>
          </a:p>
          <a:p>
            <a:pPr>
              <a:lnSpc>
                <a:spcPct val="103226"/>
              </a:lnSpc>
              <a:spcAft>
                <a:spcPts val="0"/>
              </a:spcAft>
            </a:pPr>
            <a:r>
              <a:rPr sz="645" i="0">
                <a:solidFill>
                  <a:srgbClr val="5C6773"/>
                </a:solidFill>
                <a:latin typeface="Inconsolata"/>
              </a:rPr>
              <a:t>43  </a:t>
            </a:r>
            <a:r>
              <a:rPr sz="645" i="0">
                <a:solidFill>
                  <a:srgbClr val="E6EDF3"/>
                </a:solidFill>
                <a:latin typeface="Inconsolata"/>
              </a:rPr>
              <a:t> </a:t>
            </a:r>
          </a:p>
          <a:p>
            <a:pPr>
              <a:lnSpc>
                <a:spcPct val="103226"/>
              </a:lnSpc>
              <a:spcAft>
                <a:spcPts val="0"/>
              </a:spcAft>
            </a:pPr>
            <a:r>
              <a:rPr sz="645" i="0">
                <a:solidFill>
                  <a:srgbClr val="5C6773"/>
                </a:solidFill>
                <a:latin typeface="Inconsolata"/>
              </a:rPr>
              <a:t>44  </a:t>
            </a:r>
            <a:r>
              <a:rPr sz="645" i="0">
                <a:solidFill>
                  <a:srgbClr val="E6EDF3"/>
                </a:solidFill>
                <a:latin typeface="Inconsolata"/>
              </a:rPr>
              <a:t> </a:t>
            </a:r>
          </a:p>
          <a:p>
            <a:pPr>
              <a:lnSpc>
                <a:spcPct val="103226"/>
              </a:lnSpc>
              <a:spcAft>
                <a:spcPts val="0"/>
              </a:spcAft>
            </a:pPr>
            <a:r>
              <a:rPr sz="645" i="0">
                <a:solidFill>
                  <a:srgbClr val="5C6773"/>
                </a:solidFill>
                <a:latin typeface="Inconsolata"/>
              </a:rPr>
              <a:t>45  </a:t>
            </a:r>
            <a:r>
              <a:rPr sz="645" i="0">
                <a:solidFill>
                  <a:srgbClr val="F9C97A"/>
                </a:solidFill>
                <a:latin typeface="Inconsolata"/>
              </a:rPr>
              <a:t>@app.post</a:t>
            </a:r>
            <a:r>
              <a:rPr sz="645" i="0">
                <a:solidFill>
                  <a:srgbClr val="E6EDF3"/>
                </a:solidFill>
                <a:latin typeface="Inconsolata"/>
              </a:rPr>
              <a:t>(</a:t>
            </a:r>
          </a:p>
          <a:p>
            <a:pPr>
              <a:lnSpc>
                <a:spcPct val="103226"/>
              </a:lnSpc>
              <a:spcAft>
                <a:spcPts val="0"/>
              </a:spcAft>
            </a:pPr>
            <a:r>
              <a:rPr sz="645" i="0">
                <a:solidFill>
                  <a:srgbClr val="5C6773"/>
                </a:solidFill>
                <a:latin typeface="Inconsolata"/>
              </a:rPr>
              <a:t>46  </a:t>
            </a:r>
            <a:r>
              <a:rPr sz="645" i="0">
                <a:solidFill>
                  <a:srgbClr val="E6EDF3"/>
                </a:solidFill>
                <a:latin typeface="Inconsolata"/>
              </a:rPr>
              <a:t>    </a:t>
            </a:r>
            <a:r>
              <a:rPr sz="645" i="0">
                <a:solidFill>
                  <a:srgbClr val="A5D6A7"/>
                </a:solidFill>
                <a:latin typeface="Inconsolata"/>
              </a:rPr>
              <a:t>"/orders"</a:t>
            </a:r>
            <a:r>
              <a:rPr sz="645" i="0">
                <a:solidFill>
                  <a:srgbClr val="E6EDF3"/>
                </a:solidFill>
                <a:latin typeface="Inconsolata"/>
              </a:rPr>
              <a:t>, status_code=</a:t>
            </a:r>
            <a:r>
              <a:rPr sz="645" i="0">
                <a:solidFill>
                  <a:srgbClr val="F9C97A"/>
                </a:solidFill>
                <a:latin typeface="Inconsolata"/>
              </a:rPr>
              <a:t>201</a:t>
            </a:r>
            <a:r>
              <a:rPr sz="645" i="0">
                <a:solidFill>
                  <a:srgbClr val="E6EDF3"/>
                </a:solidFill>
                <a:latin typeface="Inconsolata"/>
              </a:rPr>
              <a:t>, response_model=</a:t>
            </a:r>
            <a:r>
              <a:rPr sz="645" i="0">
                <a:solidFill>
                  <a:srgbClr val="7FDBCA"/>
                </a:solidFill>
                <a:latin typeface="Inconsolata"/>
              </a:rPr>
              <a:t>OrderOut</a:t>
            </a:r>
            <a:r>
              <a:rPr sz="645" i="0">
                <a:solidFill>
                  <a:srgbClr val="E6EDF3"/>
                </a:solidFill>
                <a:latin typeface="Inconsolata"/>
              </a:rPr>
              <a:t>,</a:t>
            </a:r>
          </a:p>
          <a:p>
            <a:pPr>
              <a:lnSpc>
                <a:spcPct val="103226"/>
              </a:lnSpc>
              <a:spcAft>
                <a:spcPts val="0"/>
              </a:spcAft>
            </a:pPr>
            <a:r>
              <a:rPr sz="645" i="0">
                <a:solidFill>
                  <a:srgbClr val="5C6773"/>
                </a:solidFill>
                <a:latin typeface="Inconsolata"/>
              </a:rPr>
              <a:t>47  </a:t>
            </a:r>
            <a:r>
              <a:rPr sz="645" i="0">
                <a:solidFill>
                  <a:srgbClr val="E6EDF3"/>
                </a:solidFill>
                <a:latin typeface="Inconsolata"/>
              </a:rPr>
              <a:t>    tags=[</a:t>
            </a:r>
            <a:r>
              <a:rPr sz="645" i="0">
                <a:solidFill>
                  <a:srgbClr val="A5D6A7"/>
                </a:solidFill>
                <a:latin typeface="Inconsolata"/>
              </a:rPr>
              <a:t>"orders"</a:t>
            </a:r>
            <a:r>
              <a:rPr sz="645" i="0">
                <a:solidFill>
                  <a:srgbClr val="E6EDF3"/>
                </a:solidFill>
                <a:latin typeface="Inconsolata"/>
              </a:rPr>
              <a:t>], summary=</a:t>
            </a:r>
            <a:r>
              <a:rPr sz="645" i="0">
                <a:solidFill>
                  <a:srgbClr val="A5D6A7"/>
                </a:solidFill>
                <a:latin typeface="Inconsolata"/>
              </a:rPr>
              <a:t>"Buat order baru"</a:t>
            </a:r>
            <a:r>
              <a:rPr sz="645" i="0">
                <a:solidFill>
                  <a:srgbClr val="E6EDF3"/>
                </a:solidFill>
                <a:latin typeface="Inconsolata"/>
              </a:rPr>
              <a:t>,</a:t>
            </a:r>
          </a:p>
          <a:p>
            <a:pPr>
              <a:lnSpc>
                <a:spcPct val="103226"/>
              </a:lnSpc>
              <a:spcAft>
                <a:spcPts val="0"/>
              </a:spcAft>
            </a:pPr>
            <a:r>
              <a:rPr sz="645" i="0">
                <a:solidFill>
                  <a:srgbClr val="5C6773"/>
                </a:solidFill>
                <a:latin typeface="Inconsolata"/>
              </a:rPr>
              <a:t>48  </a:t>
            </a:r>
            <a:r>
              <a:rPr sz="645" i="0">
                <a:solidFill>
                  <a:srgbClr val="E6EDF3"/>
                </a:solidFill>
                <a:latin typeface="Inconsolata"/>
              </a:rPr>
              <a:t>)</a:t>
            </a:r>
          </a:p>
          <a:p>
            <a:pPr>
              <a:lnSpc>
                <a:spcPct val="103226"/>
              </a:lnSpc>
              <a:spcAft>
                <a:spcPts val="0"/>
              </a:spcAft>
            </a:pPr>
            <a:r>
              <a:rPr sz="645" i="0">
                <a:solidFill>
                  <a:srgbClr val="5C6773"/>
                </a:solidFill>
                <a:latin typeface="Inconsolata"/>
              </a:rPr>
              <a:t>49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create_order</a:t>
            </a:r>
            <a:r>
              <a:rPr sz="645" i="0">
                <a:solidFill>
                  <a:srgbClr val="E6EDF3"/>
                </a:solidFill>
                <a:latin typeface="Inconsolata"/>
              </a:rPr>
              <a:t>(payload: </a:t>
            </a:r>
            <a:r>
              <a:rPr sz="645" i="0">
                <a:solidFill>
                  <a:srgbClr val="7FDBCA"/>
                </a:solidFill>
                <a:latin typeface="Inconsolata"/>
              </a:rPr>
              <a:t>OrderIn</a:t>
            </a:r>
            <a:r>
              <a:rPr sz="645" i="0">
                <a:solidFill>
                  <a:srgbClr val="E6EDF3"/>
                </a:solidFill>
                <a:latin typeface="Inconsolata"/>
              </a:rPr>
              <a:t>):</a:t>
            </a:r>
          </a:p>
          <a:p>
            <a:pPr>
              <a:lnSpc>
                <a:spcPct val="103226"/>
              </a:lnSpc>
              <a:spcAft>
                <a:spcPts val="0"/>
              </a:spcAft>
            </a:pPr>
            <a:r>
              <a:rPr sz="645" i="0">
                <a:solidFill>
                  <a:srgbClr val="5C6773"/>
                </a:solidFill>
                <a:latin typeface="Inconsolata"/>
              </a:rPr>
              <a:t>50  </a:t>
            </a:r>
            <a:r>
              <a:rPr sz="645" i="0">
                <a:solidFill>
                  <a:srgbClr val="E6EDF3"/>
                </a:solidFill>
                <a:latin typeface="Inconsolata"/>
              </a:rPr>
              <a:t>    data = payload.model_dump()</a:t>
            </a:r>
          </a:p>
          <a:p>
            <a:pPr>
              <a:lnSpc>
                <a:spcPct val="103226"/>
              </a:lnSpc>
              <a:spcAft>
                <a:spcPts val="0"/>
              </a:spcAft>
            </a:pPr>
            <a:r>
              <a:rPr sz="645" i="0">
                <a:solidFill>
                  <a:srgbClr val="5C6773"/>
                </a:solidFill>
                <a:latin typeface="Inconsolata"/>
              </a:rPr>
              <a:t>51  </a:t>
            </a:r>
            <a:r>
              <a:rPr sz="645" i="0">
                <a:solidFill>
                  <a:srgbClr val="E6EDF3"/>
                </a:solidFill>
                <a:latin typeface="Inconsolata"/>
              </a:rPr>
              <a:t>    order = {</a:t>
            </a:r>
            <a:r>
              <a:rPr sz="645" i="0">
                <a:solidFill>
                  <a:srgbClr val="A5D6A7"/>
                </a:solidFill>
                <a:latin typeface="Inconsolata"/>
              </a:rPr>
              <a:t>"id"</a:t>
            </a:r>
            <a:r>
              <a:rPr sz="645" i="0">
                <a:solidFill>
                  <a:srgbClr val="E6EDF3"/>
                </a:solidFill>
                <a:latin typeface="Inconsolata"/>
              </a:rPr>
              <a:t>: </a:t>
            </a:r>
            <a:r>
              <a:rPr sz="645" i="0">
                <a:solidFill>
                  <a:srgbClr val="C3A6FF"/>
                </a:solidFill>
                <a:latin typeface="Inconsolata"/>
              </a:rPr>
              <a:t>len</a:t>
            </a:r>
            <a:r>
              <a:rPr sz="645" i="0">
                <a:solidFill>
                  <a:srgbClr val="E6EDF3"/>
                </a:solidFill>
                <a:latin typeface="Inconsolata"/>
              </a:rPr>
              <a:t>(</a:t>
            </a:r>
            <a:r>
              <a:rPr sz="645" i="0">
                <a:solidFill>
                  <a:srgbClr val="7FDBCA"/>
                </a:solidFill>
                <a:latin typeface="Inconsolata"/>
              </a:rPr>
              <a:t>ORDERS</a:t>
            </a:r>
            <a:r>
              <a:rPr sz="645" i="0">
                <a:solidFill>
                  <a:srgbClr val="E6EDF3"/>
                </a:solidFill>
                <a:latin typeface="Inconsolata"/>
              </a:rPr>
              <a:t>) + </a:t>
            </a:r>
            <a:r>
              <a:rPr sz="645" i="0">
                <a:solidFill>
                  <a:srgbClr val="F9C97A"/>
                </a:solidFill>
                <a:latin typeface="Inconsolata"/>
              </a:rPr>
              <a:t>1</a:t>
            </a:r>
            <a:r>
              <a:rPr sz="645" i="0">
                <a:solidFill>
                  <a:srgbClr val="E6EDF3"/>
                </a:solidFill>
                <a:latin typeface="Inconsolata"/>
              </a:rPr>
              <a:t>, </a:t>
            </a:r>
            <a:r>
              <a:rPr sz="645" i="0">
                <a:solidFill>
                  <a:srgbClr val="A5D6A7"/>
                </a:solidFill>
                <a:latin typeface="Inconsolata"/>
              </a:rPr>
              <a:t>"status"</a:t>
            </a:r>
            <a:r>
              <a:rPr sz="645" i="0">
                <a:solidFill>
                  <a:srgbClr val="E6EDF3"/>
                </a:solidFill>
                <a:latin typeface="Inconsolata"/>
              </a:rPr>
              <a:t>: </a:t>
            </a:r>
            <a:r>
              <a:rPr sz="645" i="0">
                <a:solidFill>
                  <a:srgbClr val="A5D6A7"/>
                </a:solidFill>
                <a:latin typeface="Inconsolata"/>
              </a:rPr>
              <a:t>"pending"</a:t>
            </a:r>
            <a:r>
              <a:rPr sz="645" i="0">
                <a:solidFill>
                  <a:srgbClr val="E6EDF3"/>
                </a:solidFill>
                <a:latin typeface="Inconsolata"/>
              </a:rPr>
              <a:t>, **data}</a:t>
            </a:r>
          </a:p>
          <a:p>
            <a:pPr>
              <a:lnSpc>
                <a:spcPct val="103226"/>
              </a:lnSpc>
              <a:spcAft>
                <a:spcPts val="0"/>
              </a:spcAft>
            </a:pPr>
            <a:r>
              <a:rPr sz="645" i="0">
                <a:solidFill>
                  <a:srgbClr val="5C6773"/>
                </a:solidFill>
                <a:latin typeface="Inconsolata"/>
              </a:rPr>
              <a:t>52  </a:t>
            </a:r>
            <a:r>
              <a:rPr sz="645" i="0">
                <a:solidFill>
                  <a:srgbClr val="E6EDF3"/>
                </a:solidFill>
                <a:latin typeface="Inconsolata"/>
              </a:rPr>
              <a:t>    </a:t>
            </a:r>
            <a:r>
              <a:rPr sz="645" i="0">
                <a:solidFill>
                  <a:srgbClr val="7FDBCA"/>
                </a:solidFill>
                <a:latin typeface="Inconsolata"/>
              </a:rPr>
              <a:t>ORDERS</a:t>
            </a:r>
            <a:r>
              <a:rPr sz="645" i="0">
                <a:solidFill>
                  <a:srgbClr val="E6EDF3"/>
                </a:solidFill>
                <a:latin typeface="Inconsolata"/>
              </a:rPr>
              <a:t>[order[</a:t>
            </a:r>
            <a:r>
              <a:rPr sz="645" i="0">
                <a:solidFill>
                  <a:srgbClr val="A5D6A7"/>
                </a:solidFill>
                <a:latin typeface="Inconsolata"/>
              </a:rPr>
              <a:t>"id"</a:t>
            </a:r>
            <a:r>
              <a:rPr sz="645" i="0">
                <a:solidFill>
                  <a:srgbClr val="E6EDF3"/>
                </a:solidFill>
                <a:latin typeface="Inconsolata"/>
              </a:rPr>
              <a:t>]] = order</a:t>
            </a:r>
          </a:p>
          <a:p>
            <a:pPr>
              <a:lnSpc>
                <a:spcPct val="103226"/>
              </a:lnSpc>
              <a:spcAft>
                <a:spcPts val="0"/>
              </a:spcAft>
            </a:pPr>
            <a:r>
              <a:rPr sz="645" i="0">
                <a:solidFill>
                  <a:srgbClr val="5C6773"/>
                </a:solidFill>
                <a:latin typeface="Inconsolata"/>
              </a:rPr>
              <a:t>53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order</a:t>
            </a:r>
          </a:p>
          <a:p>
            <a:pPr>
              <a:lnSpc>
                <a:spcPct val="103226"/>
              </a:lnSpc>
              <a:spcAft>
                <a:spcPts val="0"/>
              </a:spcAft>
            </a:pPr>
            <a:r>
              <a:rPr sz="645" i="0">
                <a:solidFill>
                  <a:srgbClr val="5C6773"/>
                </a:solidFill>
                <a:latin typeface="Inconsolata"/>
              </a:rPr>
              <a:t>54  </a:t>
            </a:r>
            <a:r>
              <a:rPr sz="645" i="0">
                <a:solidFill>
                  <a:srgbClr val="E6EDF3"/>
                </a:solidFill>
                <a:latin typeface="Inconsolata"/>
              </a:rPr>
              <a:t> </a:t>
            </a:r>
          </a:p>
          <a:p>
            <a:pPr>
              <a:lnSpc>
                <a:spcPct val="103226"/>
              </a:lnSpc>
              <a:spcAft>
                <a:spcPts val="0"/>
              </a:spcAft>
            </a:pPr>
            <a:r>
              <a:rPr sz="645" i="0">
                <a:solidFill>
                  <a:srgbClr val="5C6773"/>
                </a:solidFill>
                <a:latin typeface="Inconsolata"/>
              </a:rPr>
              <a:t>55  </a:t>
            </a:r>
            <a:r>
              <a:rPr sz="645" i="0">
                <a:solidFill>
                  <a:srgbClr val="E6EDF3"/>
                </a:solidFill>
                <a:latin typeface="Inconsolata"/>
              </a:rPr>
              <a:t> </a:t>
            </a:r>
          </a:p>
          <a:p>
            <a:pPr>
              <a:lnSpc>
                <a:spcPct val="103226"/>
              </a:lnSpc>
              <a:spcAft>
                <a:spcPts val="0"/>
              </a:spcAft>
            </a:pPr>
            <a:r>
              <a:rPr sz="645" i="0">
                <a:solidFill>
                  <a:srgbClr val="5C6773"/>
                </a:solidFill>
                <a:latin typeface="Inconsolata"/>
              </a:rPr>
              <a:t>56  </a:t>
            </a:r>
            <a:r>
              <a:rPr sz="645" i="0">
                <a:solidFill>
                  <a:srgbClr val="F9C97A"/>
                </a:solidFill>
                <a:latin typeface="Inconsolata"/>
              </a:rPr>
              <a:t>@app.get</a:t>
            </a:r>
            <a:r>
              <a:rPr sz="645" i="0">
                <a:solidFill>
                  <a:srgbClr val="E6EDF3"/>
                </a:solidFill>
                <a:latin typeface="Inconsolata"/>
              </a:rPr>
              <a:t>(</a:t>
            </a:r>
          </a:p>
          <a:p>
            <a:pPr>
              <a:lnSpc>
                <a:spcPct val="103226"/>
              </a:lnSpc>
              <a:spcAft>
                <a:spcPts val="0"/>
              </a:spcAft>
            </a:pPr>
            <a:r>
              <a:rPr sz="645" i="0">
                <a:solidFill>
                  <a:srgbClr val="5C6773"/>
                </a:solidFill>
                <a:latin typeface="Inconsolata"/>
              </a:rPr>
              <a:t>57  </a:t>
            </a:r>
            <a:r>
              <a:rPr sz="645" i="0">
                <a:solidFill>
                  <a:srgbClr val="E6EDF3"/>
                </a:solidFill>
                <a:latin typeface="Inconsolata"/>
              </a:rPr>
              <a:t>    </a:t>
            </a:r>
            <a:r>
              <a:rPr sz="645" i="0">
                <a:solidFill>
                  <a:srgbClr val="A5D6A7"/>
                </a:solidFill>
                <a:latin typeface="Inconsolata"/>
              </a:rPr>
              <a:t>"/orders/{order_id}"</a:t>
            </a:r>
            <a:r>
              <a:rPr sz="645" i="0">
                <a:solidFill>
                  <a:srgbClr val="E6EDF3"/>
                </a:solidFill>
                <a:latin typeface="Inconsolata"/>
              </a:rPr>
              <a:t>, response_model=</a:t>
            </a:r>
            <a:r>
              <a:rPr sz="645" i="0">
                <a:solidFill>
                  <a:srgbClr val="7FDBCA"/>
                </a:solidFill>
                <a:latin typeface="Inconsolata"/>
              </a:rPr>
              <a:t>OrderOut</a:t>
            </a:r>
            <a:r>
              <a:rPr sz="645" i="0">
                <a:solidFill>
                  <a:srgbClr val="E6EDF3"/>
                </a:solidFill>
                <a:latin typeface="Inconsolata"/>
              </a:rPr>
              <a:t>,</a:t>
            </a:r>
          </a:p>
          <a:p>
            <a:pPr>
              <a:lnSpc>
                <a:spcPct val="103226"/>
              </a:lnSpc>
              <a:spcAft>
                <a:spcPts val="0"/>
              </a:spcAft>
            </a:pPr>
            <a:r>
              <a:rPr sz="645" i="0">
                <a:solidFill>
                  <a:srgbClr val="5C6773"/>
                </a:solidFill>
                <a:latin typeface="Inconsolata"/>
              </a:rPr>
              <a:t>58  </a:t>
            </a:r>
            <a:r>
              <a:rPr sz="645" i="0">
                <a:solidFill>
                  <a:srgbClr val="E6EDF3"/>
                </a:solidFill>
                <a:latin typeface="Inconsolata"/>
              </a:rPr>
              <a:t>    tags=[</a:t>
            </a:r>
            <a:r>
              <a:rPr sz="645" i="0">
                <a:solidFill>
                  <a:srgbClr val="A5D6A7"/>
                </a:solidFill>
                <a:latin typeface="Inconsolata"/>
              </a:rPr>
              <a:t>"orders"</a:t>
            </a:r>
            <a:r>
              <a:rPr sz="645" i="0">
                <a:solidFill>
                  <a:srgbClr val="E6EDF3"/>
                </a:solidFill>
                <a:latin typeface="Inconsolata"/>
              </a:rPr>
              <a:t>], summary=</a:t>
            </a:r>
            <a:r>
              <a:rPr sz="645" i="0">
                <a:solidFill>
                  <a:srgbClr val="A5D6A7"/>
                </a:solidFill>
                <a:latin typeface="Inconsolata"/>
              </a:rPr>
              <a:t>"Lihat detail order"</a:t>
            </a:r>
            <a:r>
              <a:rPr sz="645" i="0">
                <a:solidFill>
                  <a:srgbClr val="E6EDF3"/>
                </a:solidFill>
                <a:latin typeface="Inconsolata"/>
              </a:rPr>
              <a:t>,</a:t>
            </a:r>
          </a:p>
          <a:p>
            <a:pPr>
              <a:lnSpc>
                <a:spcPct val="103226"/>
              </a:lnSpc>
              <a:spcAft>
                <a:spcPts val="0"/>
              </a:spcAft>
            </a:pPr>
            <a:r>
              <a:rPr sz="645" i="0">
                <a:solidFill>
                  <a:srgbClr val="5C6773"/>
                </a:solidFill>
                <a:latin typeface="Inconsolata"/>
              </a:rPr>
              <a:t>59  </a:t>
            </a:r>
            <a:r>
              <a:rPr sz="645" i="0">
                <a:solidFill>
                  <a:srgbClr val="E6EDF3"/>
                </a:solidFill>
                <a:latin typeface="Inconsolata"/>
              </a:rPr>
              <a:t>    responses={</a:t>
            </a:r>
            <a:r>
              <a:rPr sz="645" i="0">
                <a:solidFill>
                  <a:srgbClr val="F9C97A"/>
                </a:solidFill>
                <a:latin typeface="Inconsolata"/>
              </a:rPr>
              <a:t>404</a:t>
            </a:r>
            <a:r>
              <a:rPr sz="645" i="0">
                <a:solidFill>
                  <a:srgbClr val="E6EDF3"/>
                </a:solidFill>
                <a:latin typeface="Inconsolata"/>
              </a:rPr>
              <a:t>: {</a:t>
            </a:r>
            <a:r>
              <a:rPr sz="645" i="0">
                <a:solidFill>
                  <a:srgbClr val="A5D6A7"/>
                </a:solidFill>
                <a:latin typeface="Inconsolata"/>
              </a:rPr>
              <a:t>"model"</a:t>
            </a:r>
            <a:r>
              <a:rPr sz="645" i="0">
                <a:solidFill>
                  <a:srgbClr val="E6EDF3"/>
                </a:solidFill>
                <a:latin typeface="Inconsolata"/>
              </a:rPr>
              <a:t>: </a:t>
            </a:r>
            <a:r>
              <a:rPr sz="645" i="0">
                <a:solidFill>
                  <a:srgbClr val="7FDBCA"/>
                </a:solidFill>
                <a:latin typeface="Inconsolata"/>
              </a:rPr>
              <a:t>ErrorOut</a:t>
            </a:r>
            <a:r>
              <a:rPr sz="645" i="0">
                <a:solidFill>
                  <a:srgbClr val="E6EDF3"/>
                </a:solidFill>
                <a:latin typeface="Inconsolata"/>
              </a:rPr>
              <a:t>,</a:t>
            </a:r>
          </a:p>
          <a:p>
            <a:pPr>
              <a:lnSpc>
                <a:spcPct val="103226"/>
              </a:lnSpc>
              <a:spcAft>
                <a:spcPts val="0"/>
              </a:spcAft>
            </a:pPr>
            <a:r>
              <a:rPr sz="645" i="0">
                <a:solidFill>
                  <a:srgbClr val="5C6773"/>
                </a:solidFill>
                <a:latin typeface="Inconsolata"/>
              </a:rPr>
              <a:t>60  </a:t>
            </a:r>
            <a:r>
              <a:rPr sz="645" i="0">
                <a:solidFill>
                  <a:srgbClr val="E6EDF3"/>
                </a:solidFill>
                <a:latin typeface="Inconsolata"/>
              </a:rPr>
              <a:t>                     </a:t>
            </a:r>
            <a:r>
              <a:rPr sz="645" i="0">
                <a:solidFill>
                  <a:srgbClr val="A5D6A7"/>
                </a:solidFill>
                <a:latin typeface="Inconsolata"/>
              </a:rPr>
              <a:t>"description"</a:t>
            </a:r>
            <a:r>
              <a:rPr sz="645" i="0">
                <a:solidFill>
                  <a:srgbClr val="E6EDF3"/>
                </a:solidFill>
                <a:latin typeface="Inconsolata"/>
              </a:rPr>
              <a:t>: </a:t>
            </a:r>
            <a:r>
              <a:rPr sz="645" i="0">
                <a:solidFill>
                  <a:srgbClr val="A5D6A7"/>
                </a:solidFill>
                <a:latin typeface="Inconsolata"/>
              </a:rPr>
              <a:t>"Order tidak ditemukan"</a:t>
            </a:r>
            <a:r>
              <a:rPr sz="645" i="0">
                <a:solidFill>
                  <a:srgbClr val="E6EDF3"/>
                </a:solidFill>
                <a:latin typeface="Inconsolata"/>
              </a:rPr>
              <a:t>}},</a:t>
            </a:r>
          </a:p>
          <a:p>
            <a:pPr>
              <a:lnSpc>
                <a:spcPct val="103226"/>
              </a:lnSpc>
              <a:spcAft>
                <a:spcPts val="0"/>
              </a:spcAft>
            </a:pPr>
            <a:r>
              <a:rPr sz="645" i="0">
                <a:solidFill>
                  <a:srgbClr val="5C6773"/>
                </a:solidFill>
                <a:latin typeface="Inconsolata"/>
              </a:rPr>
              <a:t>61  </a:t>
            </a:r>
            <a:r>
              <a:rPr sz="645" i="0">
                <a:solidFill>
                  <a:srgbClr val="E6EDF3"/>
                </a:solidFill>
                <a:latin typeface="Inconsolata"/>
              </a:rPr>
              <a:t>)</a:t>
            </a:r>
          </a:p>
          <a:p>
            <a:pPr>
              <a:lnSpc>
                <a:spcPct val="103226"/>
              </a:lnSpc>
              <a:spcAft>
                <a:spcPts val="0"/>
              </a:spcAft>
            </a:pPr>
            <a:r>
              <a:rPr sz="645" i="0">
                <a:solidFill>
                  <a:srgbClr val="5C6773"/>
                </a:solidFill>
                <a:latin typeface="Inconsolata"/>
              </a:rPr>
              <a:t>62  </a:t>
            </a:r>
            <a:r>
              <a:rPr sz="645" i="0">
                <a:solidFill>
                  <a:srgbClr val="FF8E6E"/>
                </a:solidFill>
                <a:latin typeface="Inconsolata"/>
              </a:rPr>
              <a:t>def</a:t>
            </a:r>
            <a:r>
              <a:rPr sz="645" i="0">
                <a:solidFill>
                  <a:srgbClr val="E6EDF3"/>
                </a:solidFill>
                <a:latin typeface="Inconsolata"/>
              </a:rPr>
              <a:t> </a:t>
            </a:r>
            <a:r>
              <a:rPr sz="645" i="0">
                <a:solidFill>
                  <a:srgbClr val="82B1FF"/>
                </a:solidFill>
                <a:latin typeface="Inconsolata"/>
              </a:rPr>
              <a:t>get_order</a:t>
            </a:r>
            <a:r>
              <a:rPr sz="645" i="0">
                <a:solidFill>
                  <a:srgbClr val="E6EDF3"/>
                </a:solidFill>
                <a:latin typeface="Inconsolata"/>
              </a:rPr>
              <a:t>(order_id: </a:t>
            </a:r>
            <a:r>
              <a:rPr sz="645" i="0">
                <a:solidFill>
                  <a:srgbClr val="C3A6FF"/>
                </a:solidFill>
                <a:latin typeface="Inconsolata"/>
              </a:rPr>
              <a:t>int</a:t>
            </a:r>
            <a:r>
              <a:rPr sz="645" i="0">
                <a:solidFill>
                  <a:srgbClr val="E6EDF3"/>
                </a:solidFill>
                <a:latin typeface="Inconsolata"/>
              </a:rPr>
              <a:t>):</a:t>
            </a:r>
          </a:p>
          <a:p>
            <a:pPr>
              <a:lnSpc>
                <a:spcPct val="103226"/>
              </a:lnSpc>
              <a:spcAft>
                <a:spcPts val="0"/>
              </a:spcAft>
            </a:pPr>
            <a:r>
              <a:rPr sz="645" i="0">
                <a:solidFill>
                  <a:srgbClr val="5C6773"/>
                </a:solidFill>
                <a:latin typeface="Inconsolata"/>
              </a:rPr>
              <a:t>63  </a:t>
            </a:r>
            <a:r>
              <a:rPr sz="645" i="0">
                <a:solidFill>
                  <a:srgbClr val="E6EDF3"/>
                </a:solidFill>
                <a:latin typeface="Inconsolata"/>
              </a:rPr>
              <a:t>    </a:t>
            </a:r>
            <a:r>
              <a:rPr sz="645" i="0">
                <a:solidFill>
                  <a:srgbClr val="FF8E6E"/>
                </a:solidFill>
                <a:latin typeface="Inconsolata"/>
              </a:rPr>
              <a:t>if</a:t>
            </a:r>
            <a:r>
              <a:rPr sz="645" i="0">
                <a:solidFill>
                  <a:srgbClr val="E6EDF3"/>
                </a:solidFill>
                <a:latin typeface="Inconsolata"/>
              </a:rPr>
              <a:t> order_id </a:t>
            </a:r>
            <a:r>
              <a:rPr sz="645" i="0">
                <a:solidFill>
                  <a:srgbClr val="FF8E6E"/>
                </a:solidFill>
                <a:latin typeface="Inconsolata"/>
              </a:rPr>
              <a:t>not</a:t>
            </a:r>
            <a:r>
              <a:rPr sz="645" i="0">
                <a:solidFill>
                  <a:srgbClr val="E6EDF3"/>
                </a:solidFill>
                <a:latin typeface="Inconsolata"/>
              </a:rPr>
              <a:t> </a:t>
            </a:r>
            <a:r>
              <a:rPr sz="645" i="0">
                <a:solidFill>
                  <a:srgbClr val="FF8E6E"/>
                </a:solidFill>
                <a:latin typeface="Inconsolata"/>
              </a:rPr>
              <a:t>in</a:t>
            </a:r>
            <a:r>
              <a:rPr sz="645" i="0">
                <a:solidFill>
                  <a:srgbClr val="E6EDF3"/>
                </a:solidFill>
                <a:latin typeface="Inconsolata"/>
              </a:rPr>
              <a:t> </a:t>
            </a:r>
            <a:r>
              <a:rPr sz="645" i="0">
                <a:solidFill>
                  <a:srgbClr val="7FDBCA"/>
                </a:solidFill>
                <a:latin typeface="Inconsolata"/>
              </a:rPr>
              <a:t>ORDERS</a:t>
            </a:r>
            <a:r>
              <a:rPr sz="645" i="0">
                <a:solidFill>
                  <a:srgbClr val="E6EDF3"/>
                </a:solidFill>
                <a:latin typeface="Inconsolata"/>
              </a:rPr>
              <a:t>:</a:t>
            </a:r>
          </a:p>
          <a:p>
            <a:pPr>
              <a:lnSpc>
                <a:spcPct val="103226"/>
              </a:lnSpc>
              <a:spcAft>
                <a:spcPts val="0"/>
              </a:spcAft>
            </a:pPr>
            <a:r>
              <a:rPr sz="645" i="0">
                <a:solidFill>
                  <a:srgbClr val="5C6773"/>
                </a:solidFill>
                <a:latin typeface="Inconsolata"/>
              </a:rPr>
              <a:t>64  </a:t>
            </a:r>
            <a:r>
              <a:rPr sz="645" i="0">
                <a:solidFill>
                  <a:srgbClr val="E6EDF3"/>
                </a:solidFill>
                <a:latin typeface="Inconsolata"/>
              </a:rPr>
              <a:t>        </a:t>
            </a:r>
            <a:r>
              <a:rPr sz="645" i="0">
                <a:solidFill>
                  <a:srgbClr val="FF8E6E"/>
                </a:solidFill>
                <a:latin typeface="Inconsolata"/>
              </a:rPr>
              <a:t>raise</a:t>
            </a:r>
            <a:r>
              <a:rPr sz="645" i="0">
                <a:solidFill>
                  <a:srgbClr val="E6EDF3"/>
                </a:solidFill>
                <a:latin typeface="Inconsolata"/>
              </a:rPr>
              <a:t> </a:t>
            </a:r>
            <a:r>
              <a:rPr sz="645" i="0">
                <a:solidFill>
                  <a:srgbClr val="7FDBCA"/>
                </a:solidFill>
                <a:latin typeface="Inconsolata"/>
              </a:rPr>
              <a:t>HTTPException</a:t>
            </a:r>
            <a:r>
              <a:rPr sz="645" i="0">
                <a:solidFill>
                  <a:srgbClr val="E6EDF3"/>
                </a:solidFill>
                <a:latin typeface="Inconsolata"/>
              </a:rPr>
              <a:t>(</a:t>
            </a:r>
            <a:r>
              <a:rPr sz="645" i="0">
                <a:solidFill>
                  <a:srgbClr val="F9C97A"/>
                </a:solidFill>
                <a:latin typeface="Inconsolata"/>
              </a:rPr>
              <a:t>404</a:t>
            </a:r>
            <a:r>
              <a:rPr sz="645" i="0">
                <a:solidFill>
                  <a:srgbClr val="E6EDF3"/>
                </a:solidFill>
                <a:latin typeface="Inconsolata"/>
              </a:rPr>
              <a:t>, </a:t>
            </a:r>
            <a:r>
              <a:rPr sz="645" i="0">
                <a:solidFill>
                  <a:srgbClr val="A5D6A7"/>
                </a:solidFill>
                <a:latin typeface="Inconsolata"/>
              </a:rPr>
              <a:t>"Order tidak ditemukan"</a:t>
            </a:r>
            <a:r>
              <a:rPr sz="645" i="0">
                <a:solidFill>
                  <a:srgbClr val="E6EDF3"/>
                </a:solidFill>
                <a:latin typeface="Inconsolata"/>
              </a:rPr>
              <a:t>)</a:t>
            </a:r>
          </a:p>
          <a:p>
            <a:pPr>
              <a:lnSpc>
                <a:spcPct val="103226"/>
              </a:lnSpc>
              <a:spcAft>
                <a:spcPts val="0"/>
              </a:spcAft>
            </a:pPr>
            <a:r>
              <a:rPr sz="645" i="0">
                <a:solidFill>
                  <a:srgbClr val="5C6773"/>
                </a:solidFill>
                <a:latin typeface="Inconsolata"/>
              </a:rPr>
              <a:t>65  </a:t>
            </a:r>
            <a:r>
              <a:rPr sz="645" i="0">
                <a:solidFill>
                  <a:srgbClr val="E6EDF3"/>
                </a:solidFill>
                <a:latin typeface="Inconsolata"/>
              </a:rPr>
              <a:t>    </a:t>
            </a:r>
            <a:r>
              <a:rPr sz="645" i="0">
                <a:solidFill>
                  <a:srgbClr val="FF8E6E"/>
                </a:solidFill>
                <a:latin typeface="Inconsolata"/>
              </a:rPr>
              <a:t>return</a:t>
            </a:r>
            <a:r>
              <a:rPr sz="645" i="0">
                <a:solidFill>
                  <a:srgbClr val="E6EDF3"/>
                </a:solidFill>
                <a:latin typeface="Inconsolata"/>
              </a:rPr>
              <a:t> </a:t>
            </a:r>
            <a:r>
              <a:rPr sz="645" i="0">
                <a:solidFill>
                  <a:srgbClr val="7FDBCA"/>
                </a:solidFill>
                <a:latin typeface="Inconsolata"/>
              </a:rPr>
              <a:t>ORDERS</a:t>
            </a:r>
            <a:r>
              <a:rPr sz="645" i="0">
                <a:solidFill>
                  <a:srgbClr val="E6EDF3"/>
                </a:solidFill>
                <a:latin typeface="Inconsolata"/>
              </a:rPr>
              <a:t>[order_id]</a:t>
            </a:r>
          </a:p>
        </p:txBody>
      </p:sp>
      <p:sp>
        <p:nvSpPr>
          <p:cNvPr id="36" name="Box 21"/>
          <p:cNvSpPr/>
          <p:nvPr/>
        </p:nvSpPr>
        <p:spPr>
          <a:xfrm>
            <a:off x="704088" y="2128520"/>
            <a:ext cx="3694176" cy="908304"/>
          </a:xfrm>
          <a:prstGeom prst="roundRect">
            <a:avLst>
              <a:gd name="adj" fmla="val 5033"/>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4638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704088" y="3347720"/>
            <a:ext cx="3694176" cy="400304"/>
          </a:xfrm>
          <a:prstGeom prst="roundRect">
            <a:avLst>
              <a:gd name="adj" fmla="val 1142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279392" y="34290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230120"/>
            <a:ext cx="3694176" cy="400304"/>
          </a:xfrm>
          <a:prstGeom prst="roundRect">
            <a:avLst>
              <a:gd name="adj" fmla="val 1142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3114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42" name="Box 27"/>
          <p:cNvSpPr/>
          <p:nvPr/>
        </p:nvSpPr>
        <p:spPr>
          <a:xfrm>
            <a:off x="4709159" y="3347720"/>
            <a:ext cx="3694176" cy="298704"/>
          </a:xfrm>
          <a:prstGeom prst="roundRect">
            <a:avLst>
              <a:gd name="adj" fmla="val 1530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3" name="Box 28"/>
          <p:cNvSpPr/>
          <p:nvPr/>
        </p:nvSpPr>
        <p:spPr>
          <a:xfrm>
            <a:off x="4709159" y="3652520"/>
            <a:ext cx="3694176" cy="197104"/>
          </a:xfrm>
          <a:prstGeom prst="roundRect">
            <a:avLst>
              <a:gd name="adj" fmla="val 23195"/>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4" name="Box 29"/>
          <p:cNvSpPr/>
          <p:nvPr/>
        </p:nvSpPr>
        <p:spPr>
          <a:xfrm>
            <a:off x="8284463" y="363220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OpenAPI</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06-openapi/after.py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sesi-04-modular-fastapi-orm-transactions/06-openapi</a:t>
            </a:r>
          </a:p>
          <a:p>
            <a:pPr>
              <a:lnSpc>
                <a:spcPct val="107527"/>
              </a:lnSpc>
              <a:spcAft>
                <a:spcPts val="0"/>
              </a:spcAft>
            </a:pPr>
            <a:r>
              <a:rPr sz="775" i="0">
                <a:solidFill>
                  <a:srgbClr val="82B1FF"/>
                </a:solidFill>
                <a:latin typeface="Inconsolata"/>
              </a:rPr>
              <a:t>$ uvicorn after:app --reload</a:t>
            </a:r>
          </a:p>
        </p:txBody>
      </p:sp>
      <p:pic>
        <p:nvPicPr>
          <p:cNvPr id="29" name="Image 12" descr="s04-06-openapi-after.png"/>
          <p:cNvPicPr>
            <a:picLocks noChangeAspect="1"/>
          </p:cNvPicPr>
          <p:nvPr/>
        </p:nvPicPr>
        <p:blipFill>
          <a:blip r:embed="rId2"/>
          <a:stretch>
            <a:fillRect/>
          </a:stretch>
        </p:blipFill>
        <p:spPr>
          <a:xfrm>
            <a:off x="621792" y="2240280"/>
            <a:ext cx="4297680" cy="1827972"/>
          </a:xfrm>
          <a:prstGeom prst="rect">
            <a:avLst/>
          </a:prstGeom>
        </p:spPr>
      </p:pic>
      <p:sp>
        <p:nvSpPr>
          <p:cNvPr id="30" name="Text 13"/>
          <p:cNvSpPr txBox="1"/>
          <p:nvPr/>
        </p:nvSpPr>
        <p:spPr>
          <a:xfrm>
            <a:off x="621792" y="4113972"/>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/docs: Order API 1.0.0, tag orders, summary di setiap endpoint</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Judul, versi, deskripsi, dan keterangan tag (baris 15-23)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Contoh request lewat </a:t>
            </a:r>
            <a:r>
              <a:rPr sz="950" b="0" i="0">
                <a:solidFill>
                  <a:srgbClr val="B5482A"/>
                </a:solidFill>
                <a:latin typeface="Inconsolata"/>
              </a:rPr>
              <a:t>Field(examples=...)</a:t>
            </a:r>
            <a:r>
              <a:rPr sz="950" b="0" i="0">
                <a:solidFill>
                  <a:srgbClr val="434343"/>
                </a:solidFill>
                <a:latin typeface="Inter"/>
              </a:rPr>
              <a:t> (baris 27-30)</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response_model</a:t>
            </a:r>
            <a:r>
              <a:rPr sz="950" b="0" i="0">
                <a:solidFill>
                  <a:srgbClr val="434343"/>
                </a:solidFill>
                <a:latin typeface="Inter"/>
              </a:rPr>
              <a:t>, </a:t>
            </a:r>
            <a:r>
              <a:rPr sz="950" b="0" i="0">
                <a:solidFill>
                  <a:srgbClr val="B5482A"/>
                </a:solidFill>
                <a:latin typeface="Inconsolata"/>
              </a:rPr>
              <a:t>tags</a:t>
            </a:r>
            <a:r>
              <a:rPr sz="950" b="0" i="0">
                <a:solidFill>
                  <a:srgbClr val="434343"/>
                </a:solidFill>
                <a:latin typeface="Inter"/>
              </a:rPr>
              <a:t>, dan </a:t>
            </a:r>
            <a:r>
              <a:rPr sz="950" b="0" i="0">
                <a:solidFill>
                  <a:srgbClr val="B5482A"/>
                </a:solidFill>
                <a:latin typeface="Inconsolata"/>
              </a:rPr>
              <a:t>summary</a:t>
            </a:r>
            <a:r>
              <a:rPr sz="950" b="0" i="0">
                <a:solidFill>
                  <a:srgbClr val="434343"/>
                </a:solidFill>
                <a:latin typeface="Inter"/>
              </a:rPr>
              <a:t> di setiap endpoint (baris 45-48, 56-58)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Response error 404 ikut terdokumentasi (baris 59-60)</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50</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03</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Transaction &amp; Unit of Work</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Proses beberapa langkah yang berhasil semua, atau batal semua.</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SQLAlchemy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Istilah SQLAlchemy yang Dipakai</a:t>
            </a:r>
          </a:p>
        </p:txBody>
      </p:sp>
      <p:graphicFrame>
        <p:nvGraphicFramePr>
          <p:cNvPr id="22" name="Table 3"/>
          <p:cNvGraphicFramePr>
            <a:graphicFrameLocks noGrp="1"/>
          </p:cNvGraphicFramePr>
          <p:nvPr/>
        </p:nvGraphicFramePr>
        <p:xfrm>
          <a:off x="621792" y="1481328"/>
          <a:ext cx="7863840" cy="292608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5852160">
                  <a:extLst>
                    <a:ext uri="{9D8B030D-6E8A-4147-A177-3AD203B41FA5}">
                      <a16:colId xmlns:a16="http://schemas.microsoft.com/office/drawing/2014/main" val="20001"/>
                    </a:ext>
                  </a:extLst>
                </a:gridCol>
              </a:tblGrid>
              <a:tr h="365760">
                <a:tc>
                  <a:txBody>
                    <a:bodyPr/>
                    <a:lstStyle/>
                    <a:p>
                      <a:pPr algn="l">
                        <a:lnSpc>
                          <a:spcPct val="100000"/>
                        </a:lnSpc>
                        <a:spcAft>
                          <a:spcPts val="0"/>
                        </a:spcAft>
                      </a:pPr>
                      <a:r>
                        <a:rPr sz="950" b="1" i="0">
                          <a:solidFill>
                            <a:srgbClr val="FFFFFF"/>
                          </a:solidFill>
                          <a:latin typeface="Inter"/>
                        </a:rPr>
                        <a:t>Istilah</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365760">
                <a:tc>
                  <a:txBody>
                    <a:bodyPr/>
                    <a:lstStyle/>
                    <a:p>
                      <a:pPr algn="l">
                        <a:lnSpc>
                          <a:spcPct val="100000"/>
                        </a:lnSpc>
                        <a:spcAft>
                          <a:spcPts val="0"/>
                        </a:spcAft>
                      </a:pPr>
                      <a:r>
                        <a:rPr sz="950" b="1" i="0">
                          <a:solidFill>
                            <a:srgbClr val="1C4587"/>
                          </a:solidFill>
                          <a:latin typeface="Inter"/>
                        </a:rPr>
                        <a:t>engine</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Koneksi ke database, dibuat sekali dari URL, misalnya sqlite:///orders.db</a:t>
                      </a:r>
                    </a:p>
                  </a:txBody>
                  <a:tcPr marL="73152" marR="73152" marT="36576" marB="36576" anchor="ctr">
                    <a:solidFill>
                      <a:srgbClr val="FFFFFF"/>
                    </a:solidFill>
                  </a:tcPr>
                </a:tc>
                <a:extLst>
                  <a:ext uri="{0D108BD9-81ED-4DB2-BD59-A6C34878D82A}">
                    <a16:rowId xmlns:a16="http://schemas.microsoft.com/office/drawing/2014/main" val="10001"/>
                  </a:ext>
                </a:extLst>
              </a:tr>
              <a:tr h="365760">
                <a:tc>
                  <a:txBody>
                    <a:bodyPr/>
                    <a:lstStyle/>
                    <a:p>
                      <a:pPr algn="l">
                        <a:lnSpc>
                          <a:spcPct val="100000"/>
                        </a:lnSpc>
                        <a:spcAft>
                          <a:spcPts val="0"/>
                        </a:spcAft>
                      </a:pPr>
                      <a:r>
                        <a:rPr sz="950" b="1" i="0">
                          <a:solidFill>
                            <a:srgbClr val="1C4587"/>
                          </a:solidFill>
                          <a:latin typeface="Inter"/>
                        </a:rPr>
                        <a:t>session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Satu sesi kerja dengan database. Perubahan dikumpulkan di sini dulu</a:t>
                      </a:r>
                    </a:p>
                  </a:txBody>
                  <a:tcPr marL="73152" marR="73152" marT="36576" marB="36576" anchor="ctr">
                    <a:solidFill>
                      <a:srgbClr val="F3F4F6"/>
                    </a:solidFill>
                  </a:tcPr>
                </a:tc>
                <a:extLst>
                  <a:ext uri="{0D108BD9-81ED-4DB2-BD59-A6C34878D82A}">
                    <a16:rowId xmlns:a16="http://schemas.microsoft.com/office/drawing/2014/main" val="10002"/>
                  </a:ext>
                </a:extLst>
              </a:tr>
              <a:tr h="365760">
                <a:tc>
                  <a:txBody>
                    <a:bodyPr/>
                    <a:lstStyle/>
                    <a:p>
                      <a:pPr algn="l">
                        <a:lnSpc>
                          <a:spcPct val="100000"/>
                        </a:lnSpc>
                        <a:spcAft>
                          <a:spcPts val="0"/>
                        </a:spcAft>
                      </a:pPr>
                      <a:r>
                        <a:rPr sz="950" b="1" i="0">
                          <a:solidFill>
                            <a:srgbClr val="1C4587"/>
                          </a:solidFill>
                          <a:latin typeface="Inter"/>
                        </a:rPr>
                        <a:t>model (ProductRecord)</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Class yang mewakili satu tabel</a:t>
                      </a:r>
                    </a:p>
                  </a:txBody>
                  <a:tcPr marL="73152" marR="73152" marT="36576" marB="36576" anchor="ctr">
                    <a:solidFill>
                      <a:srgbClr val="FFFFFF"/>
                    </a:solidFill>
                  </a:tcPr>
                </a:tc>
                <a:extLst>
                  <a:ext uri="{0D108BD9-81ED-4DB2-BD59-A6C34878D82A}">
                    <a16:rowId xmlns:a16="http://schemas.microsoft.com/office/drawing/2014/main" val="10003"/>
                  </a:ext>
                </a:extLst>
              </a:tr>
              <a:tr h="365760">
                <a:tc>
                  <a:txBody>
                    <a:bodyPr/>
                    <a:lstStyle/>
                    <a:p>
                      <a:pPr algn="l">
                        <a:lnSpc>
                          <a:spcPct val="100000"/>
                        </a:lnSpc>
                        <a:spcAft>
                          <a:spcPts val="0"/>
                        </a:spcAft>
                      </a:pPr>
                      <a:r>
                        <a:rPr sz="950" b="1" i="0">
                          <a:solidFill>
                            <a:srgbClr val="1C4587"/>
                          </a:solidFill>
                          <a:latin typeface="Inter"/>
                        </a:rPr>
                        <a:t>add() / get()</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Menambah object baru / membaca data berdasarkan primary key</a:t>
                      </a:r>
                    </a:p>
                  </a:txBody>
                  <a:tcPr marL="73152" marR="73152" marT="36576" marB="36576" anchor="ctr">
                    <a:solidFill>
                      <a:srgbClr val="F3F4F6"/>
                    </a:solidFill>
                  </a:tcPr>
                </a:tc>
                <a:extLst>
                  <a:ext uri="{0D108BD9-81ED-4DB2-BD59-A6C34878D82A}">
                    <a16:rowId xmlns:a16="http://schemas.microsoft.com/office/drawing/2014/main" val="10004"/>
                  </a:ext>
                </a:extLst>
              </a:tr>
              <a:tr h="365760">
                <a:tc>
                  <a:txBody>
                    <a:bodyPr/>
                    <a:lstStyle/>
                    <a:p>
                      <a:pPr algn="l">
                        <a:lnSpc>
                          <a:spcPct val="100000"/>
                        </a:lnSpc>
                        <a:spcAft>
                          <a:spcPts val="0"/>
                        </a:spcAft>
                      </a:pPr>
                      <a:r>
                        <a:rPr sz="950" b="1" i="0">
                          <a:solidFill>
                            <a:srgbClr val="1C4587"/>
                          </a:solidFill>
                          <a:latin typeface="Inter"/>
                        </a:rPr>
                        <a:t>flush()</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Kirim perubahan ke database supaya dapat id, tapi belum permanen</a:t>
                      </a:r>
                    </a:p>
                  </a:txBody>
                  <a:tcPr marL="73152" marR="73152" marT="36576" marB="36576" anchor="ctr">
                    <a:solidFill>
                      <a:srgbClr val="FFFFFF"/>
                    </a:solidFill>
                  </a:tcPr>
                </a:tc>
                <a:extLst>
                  <a:ext uri="{0D108BD9-81ED-4DB2-BD59-A6C34878D82A}">
                    <a16:rowId xmlns:a16="http://schemas.microsoft.com/office/drawing/2014/main" val="10005"/>
                  </a:ext>
                </a:extLst>
              </a:tr>
              <a:tr h="365760">
                <a:tc>
                  <a:txBody>
                    <a:bodyPr/>
                    <a:lstStyle/>
                    <a:p>
                      <a:pPr algn="l">
                        <a:lnSpc>
                          <a:spcPct val="100000"/>
                        </a:lnSpc>
                        <a:spcAft>
                          <a:spcPts val="0"/>
                        </a:spcAft>
                      </a:pPr>
                      <a:r>
                        <a:rPr sz="950" b="1" i="0">
                          <a:solidFill>
                            <a:srgbClr val="1C4587"/>
                          </a:solidFill>
                          <a:latin typeface="Inter"/>
                        </a:rPr>
                        <a:t>commit()</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Simpan permanen semua perubahan di session</a:t>
                      </a:r>
                    </a:p>
                  </a:txBody>
                  <a:tcPr marL="73152" marR="73152" marT="36576" marB="36576" anchor="ctr">
                    <a:solidFill>
                      <a:srgbClr val="F3F4F6"/>
                    </a:solidFill>
                  </a:tcPr>
                </a:tc>
                <a:extLst>
                  <a:ext uri="{0D108BD9-81ED-4DB2-BD59-A6C34878D82A}">
                    <a16:rowId xmlns:a16="http://schemas.microsoft.com/office/drawing/2014/main" val="10006"/>
                  </a:ext>
                </a:extLst>
              </a:tr>
              <a:tr h="365760">
                <a:tc>
                  <a:txBody>
                    <a:bodyPr/>
                    <a:lstStyle/>
                    <a:p>
                      <a:pPr algn="l">
                        <a:lnSpc>
                          <a:spcPct val="100000"/>
                        </a:lnSpc>
                        <a:spcAft>
                          <a:spcPts val="0"/>
                        </a:spcAft>
                      </a:pPr>
                      <a:r>
                        <a:rPr sz="950" b="1" i="0">
                          <a:solidFill>
                            <a:srgbClr val="1C4587"/>
                          </a:solidFill>
                          <a:latin typeface="Inter"/>
                        </a:rPr>
                        <a:t>rollback()</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Batalkan semua perubahan yang belum di-commit</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23" name="Text 4"/>
          <p:cNvSpPr txBox="1"/>
          <p:nvPr/>
        </p:nvSpPr>
        <p:spPr>
          <a:xfrm>
            <a:off x="621792" y="4526280"/>
            <a:ext cx="7863840" cy="274320"/>
          </a:xfrm>
          <a:prstGeom prst="rect">
            <a:avLst/>
          </a:prstGeom>
          <a:noFill/>
        </p:spPr>
        <p:txBody>
          <a:bodyPr wrap="square" lIns="45720" rIns="45720" anchor="t">
            <a:spAutoFit/>
          </a:bodyPr>
          <a:lstStyle/>
          <a:p>
            <a:pPr algn="l">
              <a:lnSpc>
                <a:spcPct val="115000"/>
              </a:lnSpc>
              <a:spcAft>
                <a:spcPts val="400"/>
              </a:spcAft>
            </a:pPr>
            <a:r>
              <a:rPr sz="950" b="0" i="0">
                <a:solidFill>
                  <a:srgbClr val="1C4587"/>
                </a:solidFill>
                <a:latin typeface="Inter"/>
              </a:rPr>
              <a:t>SQLAlchemy adalah ORM yang sudah dikenalkan di Sesi 3 (Domain Model vs ORM Model).</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Transaction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Transaction Boundary?</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Transaction boundary adalah</a:t>
            </a:r>
          </a:p>
          <a:p>
            <a:pPr algn="l">
              <a:lnSpc>
                <a:spcPct val="115000"/>
              </a:lnSpc>
              <a:spcAft>
                <a:spcPts val="400"/>
              </a:spcAft>
            </a:pPr>
            <a:r>
              <a:rPr sz="900" b="0" i="0">
                <a:solidFill>
                  <a:srgbClr val="434343"/>
                </a:solidFill>
                <a:latin typeface="Inter"/>
              </a:rPr>
              <a:t>Batas awal dan akhir sebuah </a:t>
            </a:r>
            <a:r>
              <a:rPr sz="900" b="1" i="0">
                <a:solidFill>
                  <a:srgbClr val="434343"/>
                </a:solidFill>
                <a:latin typeface="Inter"/>
              </a:rPr>
              <a:t>transaksi</a:t>
            </a:r>
            <a:r>
              <a:rPr sz="900" b="0" i="0">
                <a:solidFill>
                  <a:srgbClr val="434343"/>
                </a:solidFill>
                <a:latin typeface="Inter"/>
              </a:rPr>
              <a:t> database. Semua perubahan di dalam batas ini di-commit bersama, atau di-</a:t>
            </a:r>
            <a:r>
              <a:rPr sz="900" b="1" i="0">
                <a:solidFill>
                  <a:srgbClr val="434343"/>
                </a:solidFill>
                <a:latin typeface="Inter"/>
              </a:rPr>
              <a:t>rollback</a:t>
            </a:r>
            <a:r>
              <a:rPr sz="900" b="0" i="0">
                <a:solidFill>
                  <a:srgbClr val="434343"/>
                </a:solidFill>
                <a:latin typeface="Inter"/>
              </a:rPr>
              <a:t> (dibatalkan) bersama jika ada error.</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Menjamin proses atomic: berhasil semua, atau tidak ada yang berubah</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Menjaga data tetap konsisten walaupun proses gagal di tengah</a:t>
            </a:r>
          </a:p>
        </p:txBody>
      </p:sp>
      <p:sp>
        <p:nvSpPr>
          <p:cNvPr id="23" name="Box 4"/>
          <p:cNvSpPr/>
          <p:nvPr/>
        </p:nvSpPr>
        <p:spPr>
          <a:xfrm>
            <a:off x="4937760" y="1554480"/>
            <a:ext cx="3547872" cy="2331720"/>
          </a:xfrm>
          <a:prstGeom prst="roundRect">
            <a:avLst>
              <a:gd name="adj" fmla="val 4705"/>
            </a:avLst>
          </a:prstGeom>
          <a:solidFill>
            <a:srgbClr val="F3F4F6"/>
          </a:solidFill>
          <a:ln w="1587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Text 5"/>
          <p:cNvSpPr txBox="1"/>
          <p:nvPr/>
        </p:nvSpPr>
        <p:spPr>
          <a:xfrm>
            <a:off x="5029200" y="1600200"/>
            <a:ext cx="3383280" cy="27432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satu transaksi</a:t>
            </a:r>
          </a:p>
        </p:txBody>
      </p:sp>
      <p:sp>
        <p:nvSpPr>
          <p:cNvPr id="25" name="Box 6"/>
          <p:cNvSpPr/>
          <p:nvPr/>
        </p:nvSpPr>
        <p:spPr>
          <a:xfrm>
            <a:off x="5212080" y="1920240"/>
            <a:ext cx="2999232" cy="384048"/>
          </a:xfrm>
          <a:prstGeom prst="roundRect">
            <a:avLst>
              <a:gd name="adj" fmla="val 2857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Kurangi stok Keyboard</a:t>
            </a:r>
          </a:p>
        </p:txBody>
      </p:sp>
      <p:sp>
        <p:nvSpPr>
          <p:cNvPr id="26" name="Box 7"/>
          <p:cNvSpPr/>
          <p:nvPr/>
        </p:nvSpPr>
        <p:spPr>
          <a:xfrm>
            <a:off x="5212080" y="2532888"/>
            <a:ext cx="2999232" cy="384048"/>
          </a:xfrm>
          <a:prstGeom prst="roundRect">
            <a:avLst>
              <a:gd name="adj" fmla="val 2857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Kurangi stok Mouse</a:t>
            </a:r>
          </a:p>
        </p:txBody>
      </p:sp>
      <p:cxnSp>
        <p:nvCxnSpPr>
          <p:cNvPr id="27" name="Arrow 8"/>
          <p:cNvCxnSpPr/>
          <p:nvPr/>
        </p:nvCxnSpPr>
        <p:spPr>
          <a:xfrm>
            <a:off x="6711696" y="2304288"/>
            <a:ext cx="0" cy="22860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5212080" y="3145536"/>
            <a:ext cx="2999232" cy="384048"/>
          </a:xfrm>
          <a:prstGeom prst="roundRect">
            <a:avLst>
              <a:gd name="adj" fmla="val 2857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Simpan order</a:t>
            </a:r>
          </a:p>
        </p:txBody>
      </p:sp>
      <p:cxnSp>
        <p:nvCxnSpPr>
          <p:cNvPr id="29" name="Arrow 10"/>
          <p:cNvCxnSpPr/>
          <p:nvPr/>
        </p:nvCxnSpPr>
        <p:spPr>
          <a:xfrm>
            <a:off x="6711696" y="2916936"/>
            <a:ext cx="0" cy="22860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Box 11"/>
          <p:cNvSpPr/>
          <p:nvPr/>
        </p:nvSpPr>
        <p:spPr>
          <a:xfrm>
            <a:off x="4937760" y="4069080"/>
            <a:ext cx="1691640" cy="411480"/>
          </a:xfrm>
          <a:prstGeom prst="roundRect">
            <a:avLst>
              <a:gd name="adj" fmla="val 26666"/>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2E7D5B"/>
                </a:solidFill>
                <a:latin typeface="Inter"/>
              </a:rPr>
              <a:t>berhasil → commit</a:t>
            </a:r>
          </a:p>
        </p:txBody>
      </p:sp>
      <p:sp>
        <p:nvSpPr>
          <p:cNvPr id="31" name="Box 12"/>
          <p:cNvSpPr/>
          <p:nvPr/>
        </p:nvSpPr>
        <p:spPr>
          <a:xfrm>
            <a:off x="6793992" y="4069080"/>
            <a:ext cx="1691640" cy="411480"/>
          </a:xfrm>
          <a:prstGeom prst="roundRect">
            <a:avLst>
              <a:gd name="adj" fmla="val 26666"/>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00" b="1" i="0">
                <a:solidFill>
                  <a:srgbClr val="C0392B"/>
                </a:solidFill>
                <a:latin typeface="Inter"/>
              </a:rPr>
              <a:t>error → rollback</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Transaction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Transaction Boundary?</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transaction boundary</a:t>
            </a:r>
          </a:p>
          <a:p>
            <a:pPr algn="l">
              <a:lnSpc>
                <a:spcPct val="115000"/>
              </a:lnSpc>
              <a:spcAft>
                <a:spcPts val="400"/>
              </a:spcAft>
            </a:pPr>
            <a:r>
              <a:rPr sz="950" b="0" i="0">
                <a:solidFill>
                  <a:srgbClr val="434343"/>
                </a:solidFill>
                <a:latin typeface="Inter"/>
              </a:rPr>
              <a:t>Order berisi 2 produk. Stok dikurangi per item dan langsung di-</a:t>
            </a:r>
            <a:r>
              <a:rPr sz="950" b="1" i="0">
                <a:solidFill>
                  <a:srgbClr val="434343"/>
                </a:solidFill>
                <a:latin typeface="Inter"/>
              </a:rPr>
              <a:t>commit</a:t>
            </a:r>
            <a:r>
              <a:rPr sz="950" b="0" i="0">
                <a:solidFill>
                  <a:srgbClr val="434343"/>
                </a:solidFill>
                <a:latin typeface="Inter"/>
              </a:rPr>
              <a:t> (disimpan permanen) satu per satu.</a:t>
            </a:r>
          </a:p>
          <a:p>
            <a:pPr algn="l">
              <a:lnSpc>
                <a:spcPct val="115000"/>
              </a:lnSpc>
              <a:spcAft>
                <a:spcPts val="400"/>
              </a:spcAft>
            </a:pPr>
            <a:r>
              <a:rPr sz="1050" b="1" i="0">
                <a:solidFill>
                  <a:srgbClr val="1C4587"/>
                </a:solidFill>
                <a:latin typeface="Inter"/>
              </a:rPr>
              <a:t>Jika langkahnya makin banyak</a:t>
            </a:r>
          </a:p>
          <a:p>
            <a:pPr algn="l">
              <a:lnSpc>
                <a:spcPct val="115000"/>
              </a:lnSpc>
              <a:spcAft>
                <a:spcPts val="400"/>
              </a:spcAft>
            </a:pPr>
            <a:r>
              <a:rPr sz="950" b="0" i="0">
                <a:solidFill>
                  <a:srgbClr val="434343"/>
                </a:solidFill>
                <a:latin typeface="Inter"/>
              </a:rPr>
              <a:t>Item kedua ternyata stoknya kurang, sehingga order gagal dibuat. Tapi stok item pertama </a:t>
            </a:r>
            <a:r>
              <a:rPr sz="950" b="1" i="0">
                <a:solidFill>
                  <a:srgbClr val="434343"/>
                </a:solidFill>
                <a:latin typeface="Inter"/>
              </a:rPr>
              <a:t>sudah terlanjur berkurang</a:t>
            </a:r>
            <a:r>
              <a:rPr sz="950" b="0" i="0">
                <a:solidFill>
                  <a:srgbClr val="434343"/>
                </a:solidFill>
                <a:latin typeface="Inter"/>
              </a:rPr>
              <a:t> di database.</a:t>
            </a:r>
          </a:p>
          <a:p>
            <a:pPr algn="l">
              <a:lnSpc>
                <a:spcPct val="115000"/>
              </a:lnSpc>
              <a:spcAft>
                <a:spcPts val="400"/>
              </a:spcAft>
            </a:pPr>
            <a:r>
              <a:rPr sz="950" b="0" i="0">
                <a:solidFill>
                  <a:srgbClr val="434343"/>
                </a:solidFill>
                <a:latin typeface="Inter"/>
              </a:rPr>
              <a:t>Hal ini membuat stok hilang tanpa ada ordernya.</a:t>
            </a:r>
          </a:p>
          <a:p>
            <a:pPr algn="l">
              <a:lnSpc>
                <a:spcPct val="115000"/>
              </a:lnSpc>
              <a:spcAft>
                <a:spcPts val="400"/>
              </a:spcAft>
            </a:pPr>
            <a:r>
              <a:rPr sz="1050" b="1" i="0">
                <a:solidFill>
                  <a:srgbClr val="1C4587"/>
                </a:solidFill>
                <a:latin typeface="Inter"/>
              </a:rPr>
              <a:t>Yang dipakai dari SQLAlchemy: session.begin()</a:t>
            </a:r>
          </a:p>
          <a:p>
            <a:pPr algn="l">
              <a:lnSpc>
                <a:spcPct val="115000"/>
              </a:lnSpc>
              <a:spcAft>
                <a:spcPts val="400"/>
              </a:spcAft>
            </a:pPr>
            <a:r>
              <a:rPr sz="950" b="0" i="0">
                <a:solidFill>
                  <a:srgbClr val="B5482A"/>
                </a:solidFill>
                <a:latin typeface="Inconsolata"/>
              </a:rPr>
              <a:t>with session.begin():</a:t>
            </a:r>
            <a:r>
              <a:rPr sz="950" b="0" i="0">
                <a:solidFill>
                  <a:srgbClr val="434343"/>
                </a:solidFill>
                <a:latin typeface="Inter"/>
              </a:rPr>
              <a:t> membuka satu transaksi. Commit dan rollback dijalankan otomatis saat keluar dari blok </a:t>
            </a:r>
            <a:r>
              <a:rPr sz="950" b="0" i="0">
                <a:solidFill>
                  <a:srgbClr val="B5482A"/>
                </a:solidFill>
                <a:latin typeface="Inconsolata"/>
              </a:rPr>
              <a:t>with</a:t>
            </a:r>
            <a:r>
              <a:rPr sz="950" b="0" i="0">
                <a:solidFill>
                  <a:srgbClr val="434343"/>
                </a:solidFill>
                <a:latin typeface="Inter"/>
              </a:rPr>
              <a:t>.</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1764792">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with session.begin():</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Mulai satu transaksi</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Keluar blok tanpa error</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Commit otomatis</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Ada error di dalam blok</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Rollback otomatis, semua perubahan batal</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Transaction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Commit di tengah proses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07-transaction/before.py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8035"/>
              </a:lnSpc>
              <a:spcAft>
                <a:spcPts val="0"/>
              </a:spcAft>
            </a:pPr>
            <a:r>
              <a:rPr sz="771" i="0">
                <a:solidFill>
                  <a:srgbClr val="5C6773"/>
                </a:solidFill>
                <a:latin typeface="Inconsolata"/>
              </a:rPr>
              <a:t> 8  </a:t>
            </a:r>
            <a:r>
              <a:rPr sz="771" i="0">
                <a:solidFill>
                  <a:srgbClr val="FF8E6E"/>
                </a:solidFill>
                <a:latin typeface="Inconsolata"/>
              </a:rPr>
              <a:t>from</a:t>
            </a:r>
            <a:r>
              <a:rPr sz="771" i="0">
                <a:solidFill>
                  <a:srgbClr val="E6EDF3"/>
                </a:solidFill>
                <a:latin typeface="Inconsolata"/>
              </a:rPr>
              <a:t> sqlalchemy </a:t>
            </a:r>
            <a:r>
              <a:rPr sz="771" i="0">
                <a:solidFill>
                  <a:srgbClr val="FF8E6E"/>
                </a:solidFill>
                <a:latin typeface="Inconsolata"/>
              </a:rPr>
              <a:t>import</a:t>
            </a:r>
            <a:r>
              <a:rPr sz="771" i="0">
                <a:solidFill>
                  <a:srgbClr val="E6EDF3"/>
                </a:solidFill>
                <a:latin typeface="Inconsolata"/>
              </a:rPr>
              <a:t> </a:t>
            </a:r>
            <a:r>
              <a:rPr sz="771" i="0">
                <a:solidFill>
                  <a:srgbClr val="7FDBCA"/>
                </a:solidFill>
                <a:latin typeface="Inconsolata"/>
              </a:rPr>
              <a:t>String</a:t>
            </a:r>
            <a:r>
              <a:rPr sz="771" i="0">
                <a:solidFill>
                  <a:srgbClr val="E6EDF3"/>
                </a:solidFill>
                <a:latin typeface="Inconsolata"/>
              </a:rPr>
              <a:t>, create_engine, select</a:t>
            </a:r>
          </a:p>
          <a:p>
            <a:pPr>
              <a:lnSpc>
                <a:spcPct val="108035"/>
              </a:lnSpc>
              <a:spcAft>
                <a:spcPts val="0"/>
              </a:spcAft>
            </a:pPr>
            <a:r>
              <a:rPr sz="771" i="0">
                <a:solidFill>
                  <a:srgbClr val="5C6773"/>
                </a:solidFill>
                <a:latin typeface="Inconsolata"/>
              </a:rPr>
              <a:t> 9  </a:t>
            </a:r>
            <a:r>
              <a:rPr sz="771" i="0">
                <a:solidFill>
                  <a:srgbClr val="FF8E6E"/>
                </a:solidFill>
                <a:latin typeface="Inconsolata"/>
              </a:rPr>
              <a:t>from</a:t>
            </a:r>
            <a:r>
              <a:rPr sz="771" i="0">
                <a:solidFill>
                  <a:srgbClr val="E6EDF3"/>
                </a:solidFill>
                <a:latin typeface="Inconsolata"/>
              </a:rPr>
              <a:t> sqlalchemy.orm </a:t>
            </a:r>
            <a:r>
              <a:rPr sz="771" i="0">
                <a:solidFill>
                  <a:srgbClr val="FF8E6E"/>
                </a:solidFill>
                <a:latin typeface="Inconsolata"/>
              </a:rPr>
              <a:t>import</a:t>
            </a:r>
            <a:r>
              <a:rPr sz="771" i="0">
                <a:solidFill>
                  <a:srgbClr val="E6EDF3"/>
                </a:solidFill>
                <a:latin typeface="Inconsolata"/>
              </a:rPr>
              <a:t> (</a:t>
            </a:r>
          </a:p>
          <a:p>
            <a:pPr>
              <a:lnSpc>
                <a:spcPct val="108035"/>
              </a:lnSpc>
              <a:spcAft>
                <a:spcPts val="0"/>
              </a:spcAft>
            </a:pPr>
            <a:r>
              <a:rPr sz="771" i="0">
                <a:solidFill>
                  <a:srgbClr val="5C6773"/>
                </a:solidFill>
                <a:latin typeface="Inconsolata"/>
              </a:rPr>
              <a:t>10  </a:t>
            </a:r>
            <a:r>
              <a:rPr sz="771" i="0">
                <a:solidFill>
                  <a:srgbClr val="E6EDF3"/>
                </a:solidFill>
                <a:latin typeface="Inconsolata"/>
              </a:rPr>
              <a:t>    </a:t>
            </a:r>
            <a:r>
              <a:rPr sz="771" i="0">
                <a:solidFill>
                  <a:srgbClr val="7FDBCA"/>
                </a:solidFill>
                <a:latin typeface="Inconsolata"/>
              </a:rPr>
              <a:t>DeclarativeBase</a:t>
            </a:r>
            <a:r>
              <a:rPr sz="771" i="0">
                <a:solidFill>
                  <a:srgbClr val="E6EDF3"/>
                </a:solidFill>
                <a:latin typeface="Inconsolata"/>
              </a:rPr>
              <a:t>, </a:t>
            </a:r>
            <a:r>
              <a:rPr sz="771" i="0">
                <a:solidFill>
                  <a:srgbClr val="7FDBCA"/>
                </a:solidFill>
                <a:latin typeface="Inconsolata"/>
              </a:rPr>
              <a:t>Mapped</a:t>
            </a:r>
            <a:r>
              <a:rPr sz="771" i="0">
                <a:solidFill>
                  <a:srgbClr val="E6EDF3"/>
                </a:solidFill>
                <a:latin typeface="Inconsolata"/>
              </a:rPr>
              <a:t>, </a:t>
            </a:r>
            <a:r>
              <a:rPr sz="771" i="0">
                <a:solidFill>
                  <a:srgbClr val="7FDBCA"/>
                </a:solidFill>
                <a:latin typeface="Inconsolata"/>
              </a:rPr>
              <a:t>Session</a:t>
            </a:r>
            <a:r>
              <a:rPr sz="771" i="0">
                <a:solidFill>
                  <a:srgbClr val="E6EDF3"/>
                </a:solidFill>
                <a:latin typeface="Inconsolata"/>
              </a:rPr>
              <a:t>, mapped_column,</a:t>
            </a:r>
          </a:p>
          <a:p>
            <a:pPr>
              <a:lnSpc>
                <a:spcPct val="108035"/>
              </a:lnSpc>
              <a:spcAft>
                <a:spcPts val="0"/>
              </a:spcAft>
            </a:pPr>
            <a:r>
              <a:rPr sz="771" i="0">
                <a:solidFill>
                  <a:srgbClr val="5C6773"/>
                </a:solidFill>
                <a:latin typeface="Inconsolata"/>
              </a:rPr>
              <a:t>11  </a:t>
            </a:r>
            <a:r>
              <a:rPr sz="771" i="0">
                <a:solidFill>
                  <a:srgbClr val="E6EDF3"/>
                </a:solidFill>
                <a:latin typeface="Inconsolata"/>
              </a:rPr>
              <a:t>)</a:t>
            </a:r>
          </a:p>
          <a:p>
            <a:pPr>
              <a:lnSpc>
                <a:spcPct val="108035"/>
              </a:lnSpc>
              <a:spcAft>
                <a:spcPts val="0"/>
              </a:spcAft>
            </a:pPr>
            <a:r>
              <a:rPr sz="771" i="0">
                <a:solidFill>
                  <a:srgbClr val="5C6773"/>
                </a:solidFill>
                <a:latin typeface="Inconsolata"/>
              </a:rPr>
              <a:t>12  </a:t>
            </a:r>
            <a:r>
              <a:rPr sz="771" i="0">
                <a:solidFill>
                  <a:srgbClr val="E6EDF3"/>
                </a:solidFill>
                <a:latin typeface="Inconsolata"/>
              </a:rPr>
              <a:t> </a:t>
            </a:r>
          </a:p>
          <a:p>
            <a:pPr>
              <a:lnSpc>
                <a:spcPct val="108035"/>
              </a:lnSpc>
              <a:spcAft>
                <a:spcPts val="0"/>
              </a:spcAft>
            </a:pPr>
            <a:r>
              <a:rPr sz="771" i="0">
                <a:solidFill>
                  <a:srgbClr val="5C6773"/>
                </a:solidFill>
                <a:latin typeface="Inconsolata"/>
              </a:rPr>
              <a:t>13  </a:t>
            </a:r>
            <a:r>
              <a:rPr sz="771" i="0">
                <a:solidFill>
                  <a:srgbClr val="E6EDF3"/>
                </a:solidFill>
                <a:latin typeface="Inconsolata"/>
              </a:rPr>
              <a:t> </a:t>
            </a:r>
          </a:p>
          <a:p>
            <a:pPr>
              <a:lnSpc>
                <a:spcPct val="108035"/>
              </a:lnSpc>
              <a:spcAft>
                <a:spcPts val="0"/>
              </a:spcAft>
            </a:pPr>
            <a:r>
              <a:rPr sz="771" i="0">
                <a:solidFill>
                  <a:srgbClr val="5C6773"/>
                </a:solidFill>
                <a:latin typeface="Inconsolata"/>
              </a:rPr>
              <a:t>14  </a:t>
            </a:r>
            <a:r>
              <a:rPr sz="771" i="0">
                <a:solidFill>
                  <a:srgbClr val="FF8E6E"/>
                </a:solidFill>
                <a:latin typeface="Inconsolata"/>
              </a:rPr>
              <a:t>class</a:t>
            </a:r>
            <a:r>
              <a:rPr sz="771" i="0">
                <a:solidFill>
                  <a:srgbClr val="E6EDF3"/>
                </a:solidFill>
                <a:latin typeface="Inconsolata"/>
              </a:rPr>
              <a:t> </a:t>
            </a:r>
            <a:r>
              <a:rPr sz="771" i="0">
                <a:solidFill>
                  <a:srgbClr val="7FDBCA"/>
                </a:solidFill>
                <a:latin typeface="Inconsolata"/>
              </a:rPr>
              <a:t>Base</a:t>
            </a:r>
            <a:r>
              <a:rPr sz="771" i="0">
                <a:solidFill>
                  <a:srgbClr val="E6EDF3"/>
                </a:solidFill>
                <a:latin typeface="Inconsolata"/>
              </a:rPr>
              <a:t>(</a:t>
            </a:r>
            <a:r>
              <a:rPr sz="771" i="0">
                <a:solidFill>
                  <a:srgbClr val="7FDBCA"/>
                </a:solidFill>
                <a:latin typeface="Inconsolata"/>
              </a:rPr>
              <a:t>DeclarativeBase</a:t>
            </a:r>
            <a:r>
              <a:rPr sz="771" i="0">
                <a:solidFill>
                  <a:srgbClr val="E6EDF3"/>
                </a:solidFill>
                <a:latin typeface="Inconsolata"/>
              </a:rPr>
              <a:t>):</a:t>
            </a:r>
          </a:p>
          <a:p>
            <a:pPr>
              <a:lnSpc>
                <a:spcPct val="108035"/>
              </a:lnSpc>
              <a:spcAft>
                <a:spcPts val="0"/>
              </a:spcAft>
            </a:pPr>
            <a:r>
              <a:rPr sz="771" i="0">
                <a:solidFill>
                  <a:srgbClr val="5C6773"/>
                </a:solidFill>
                <a:latin typeface="Inconsolata"/>
              </a:rPr>
              <a:t>15  </a:t>
            </a:r>
            <a:r>
              <a:rPr sz="771" i="0">
                <a:solidFill>
                  <a:srgbClr val="E6EDF3"/>
                </a:solidFill>
                <a:latin typeface="Inconsolata"/>
              </a:rPr>
              <a:t>    </a:t>
            </a:r>
            <a:r>
              <a:rPr sz="771" i="0">
                <a:solidFill>
                  <a:srgbClr val="FF8E6E"/>
                </a:solidFill>
                <a:latin typeface="Inconsolata"/>
              </a:rPr>
              <a:t>pass</a:t>
            </a:r>
          </a:p>
          <a:p>
            <a:pPr>
              <a:lnSpc>
                <a:spcPct val="108035"/>
              </a:lnSpc>
              <a:spcAft>
                <a:spcPts val="0"/>
              </a:spcAft>
            </a:pPr>
            <a:r>
              <a:rPr sz="771" i="0">
                <a:solidFill>
                  <a:srgbClr val="5C6773"/>
                </a:solidFill>
                <a:latin typeface="Inconsolata"/>
              </a:rPr>
              <a:t>16  </a:t>
            </a:r>
            <a:r>
              <a:rPr sz="771" i="0">
                <a:solidFill>
                  <a:srgbClr val="E6EDF3"/>
                </a:solidFill>
                <a:latin typeface="Inconsolata"/>
              </a:rPr>
              <a:t> </a:t>
            </a:r>
          </a:p>
          <a:p>
            <a:pPr>
              <a:lnSpc>
                <a:spcPct val="108035"/>
              </a:lnSpc>
              <a:spcAft>
                <a:spcPts val="0"/>
              </a:spcAft>
            </a:pPr>
            <a:r>
              <a:rPr sz="771" i="0">
                <a:solidFill>
                  <a:srgbClr val="5C6773"/>
                </a:solidFill>
                <a:latin typeface="Inconsolata"/>
              </a:rPr>
              <a:t>17  </a:t>
            </a:r>
            <a:r>
              <a:rPr sz="771" i="0">
                <a:solidFill>
                  <a:srgbClr val="E6EDF3"/>
                </a:solidFill>
                <a:latin typeface="Inconsolata"/>
              </a:rPr>
              <a:t> </a:t>
            </a:r>
          </a:p>
          <a:p>
            <a:pPr>
              <a:lnSpc>
                <a:spcPct val="108035"/>
              </a:lnSpc>
              <a:spcAft>
                <a:spcPts val="0"/>
              </a:spcAft>
            </a:pPr>
            <a:r>
              <a:rPr sz="771" i="0">
                <a:solidFill>
                  <a:srgbClr val="5C6773"/>
                </a:solidFill>
                <a:latin typeface="Inconsolata"/>
              </a:rPr>
              <a:t>18  </a:t>
            </a:r>
            <a:r>
              <a:rPr sz="771" i="0">
                <a:solidFill>
                  <a:srgbClr val="FF8E6E"/>
                </a:solidFill>
                <a:latin typeface="Inconsolata"/>
              </a:rPr>
              <a:t>class</a:t>
            </a:r>
            <a:r>
              <a:rPr sz="771" i="0">
                <a:solidFill>
                  <a:srgbClr val="E6EDF3"/>
                </a:solidFill>
                <a:latin typeface="Inconsolata"/>
              </a:rPr>
              <a:t> </a:t>
            </a:r>
            <a:r>
              <a:rPr sz="771" i="0">
                <a:solidFill>
                  <a:srgbClr val="7FDBCA"/>
                </a:solidFill>
                <a:latin typeface="Inconsolata"/>
              </a:rPr>
              <a:t>ProductRecord</a:t>
            </a:r>
            <a:r>
              <a:rPr sz="771" i="0">
                <a:solidFill>
                  <a:srgbClr val="E6EDF3"/>
                </a:solidFill>
                <a:latin typeface="Inconsolata"/>
              </a:rPr>
              <a:t>(</a:t>
            </a:r>
            <a:r>
              <a:rPr sz="771" i="0">
                <a:solidFill>
                  <a:srgbClr val="7FDBCA"/>
                </a:solidFill>
                <a:latin typeface="Inconsolata"/>
              </a:rPr>
              <a:t>Base</a:t>
            </a:r>
            <a:r>
              <a:rPr sz="771" i="0">
                <a:solidFill>
                  <a:srgbClr val="E6EDF3"/>
                </a:solidFill>
                <a:latin typeface="Inconsolata"/>
              </a:rPr>
              <a:t>):</a:t>
            </a:r>
          </a:p>
          <a:p>
            <a:pPr>
              <a:lnSpc>
                <a:spcPct val="108035"/>
              </a:lnSpc>
              <a:spcAft>
                <a:spcPts val="0"/>
              </a:spcAft>
            </a:pPr>
            <a:r>
              <a:rPr sz="771" i="0">
                <a:solidFill>
                  <a:srgbClr val="5C6773"/>
                </a:solidFill>
                <a:latin typeface="Inconsolata"/>
              </a:rPr>
              <a:t>19  </a:t>
            </a:r>
            <a:r>
              <a:rPr sz="771" i="0">
                <a:solidFill>
                  <a:srgbClr val="E6EDF3"/>
                </a:solidFill>
                <a:latin typeface="Inconsolata"/>
              </a:rPr>
              <a:t>    __tablename__ = </a:t>
            </a:r>
            <a:r>
              <a:rPr sz="771" i="0">
                <a:solidFill>
                  <a:srgbClr val="A5D6A7"/>
                </a:solidFill>
                <a:latin typeface="Inconsolata"/>
              </a:rPr>
              <a:t>"products"</a:t>
            </a:r>
          </a:p>
          <a:p>
            <a:pPr>
              <a:lnSpc>
                <a:spcPct val="108035"/>
              </a:lnSpc>
              <a:spcAft>
                <a:spcPts val="0"/>
              </a:spcAft>
            </a:pPr>
            <a:r>
              <a:rPr sz="771" i="0">
                <a:solidFill>
                  <a:srgbClr val="5C6773"/>
                </a:solidFill>
                <a:latin typeface="Inconsolata"/>
              </a:rPr>
              <a:t>20  </a:t>
            </a:r>
            <a:r>
              <a:rPr sz="771" i="0">
                <a:solidFill>
                  <a:srgbClr val="E6EDF3"/>
                </a:solidFill>
                <a:latin typeface="Inconsolata"/>
              </a:rPr>
              <a:t>    id: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int</a:t>
            </a:r>
            <a:r>
              <a:rPr sz="771" i="0">
                <a:solidFill>
                  <a:srgbClr val="E6EDF3"/>
                </a:solidFill>
                <a:latin typeface="Inconsolata"/>
              </a:rPr>
              <a:t>] = mapped_column(primary_key=</a:t>
            </a:r>
            <a:r>
              <a:rPr sz="771" i="0">
                <a:solidFill>
                  <a:srgbClr val="FF8E6E"/>
                </a:solidFill>
                <a:latin typeface="Inconsolata"/>
              </a:rPr>
              <a:t>True</a:t>
            </a:r>
            <a:r>
              <a:rPr sz="771" i="0">
                <a:solidFill>
                  <a:srgbClr val="E6EDF3"/>
                </a:solidFill>
                <a:latin typeface="Inconsolata"/>
              </a:rPr>
              <a:t>)</a:t>
            </a:r>
          </a:p>
          <a:p>
            <a:pPr>
              <a:lnSpc>
                <a:spcPct val="108035"/>
              </a:lnSpc>
              <a:spcAft>
                <a:spcPts val="0"/>
              </a:spcAft>
            </a:pPr>
            <a:r>
              <a:rPr sz="771" i="0">
                <a:solidFill>
                  <a:srgbClr val="5C6773"/>
                </a:solidFill>
                <a:latin typeface="Inconsolata"/>
              </a:rPr>
              <a:t>21  </a:t>
            </a:r>
            <a:r>
              <a:rPr sz="771" i="0">
                <a:solidFill>
                  <a:srgbClr val="E6EDF3"/>
                </a:solidFill>
                <a:latin typeface="Inconsolata"/>
              </a:rPr>
              <a:t>    name: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str</a:t>
            </a:r>
            <a:r>
              <a:rPr sz="771" i="0">
                <a:solidFill>
                  <a:srgbClr val="E6EDF3"/>
                </a:solidFill>
                <a:latin typeface="Inconsolata"/>
              </a:rPr>
              <a:t>] = mapped_column(</a:t>
            </a:r>
            <a:r>
              <a:rPr sz="771" i="0">
                <a:solidFill>
                  <a:srgbClr val="7FDBCA"/>
                </a:solidFill>
                <a:latin typeface="Inconsolata"/>
              </a:rPr>
              <a:t>String</a:t>
            </a:r>
            <a:r>
              <a:rPr sz="771" i="0">
                <a:solidFill>
                  <a:srgbClr val="E6EDF3"/>
                </a:solidFill>
                <a:latin typeface="Inconsolata"/>
              </a:rPr>
              <a:t>(</a:t>
            </a:r>
            <a:r>
              <a:rPr sz="771" i="0">
                <a:solidFill>
                  <a:srgbClr val="F9C97A"/>
                </a:solidFill>
                <a:latin typeface="Inconsolata"/>
              </a:rPr>
              <a:t>100</a:t>
            </a:r>
            <a:r>
              <a:rPr sz="771" i="0">
                <a:solidFill>
                  <a:srgbClr val="E6EDF3"/>
                </a:solidFill>
                <a:latin typeface="Inconsolata"/>
              </a:rPr>
              <a:t>))</a:t>
            </a:r>
          </a:p>
          <a:p>
            <a:pPr>
              <a:lnSpc>
                <a:spcPct val="108035"/>
              </a:lnSpc>
              <a:spcAft>
                <a:spcPts val="0"/>
              </a:spcAft>
            </a:pPr>
            <a:r>
              <a:rPr sz="771" i="0">
                <a:solidFill>
                  <a:srgbClr val="5C6773"/>
                </a:solidFill>
                <a:latin typeface="Inconsolata"/>
              </a:rPr>
              <a:t>22  </a:t>
            </a:r>
            <a:r>
              <a:rPr sz="771" i="0">
                <a:solidFill>
                  <a:srgbClr val="E6EDF3"/>
                </a:solidFill>
                <a:latin typeface="Inconsolata"/>
              </a:rPr>
              <a:t>    stock: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int</a:t>
            </a:r>
            <a:r>
              <a:rPr sz="771"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07-transaction/before.py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8035"/>
              </a:lnSpc>
              <a:spcAft>
                <a:spcPts val="0"/>
              </a:spcAft>
            </a:pPr>
            <a:r>
              <a:rPr sz="771" i="0">
                <a:solidFill>
                  <a:srgbClr val="5C6773"/>
                </a:solidFill>
                <a:latin typeface="Inconsolata"/>
              </a:rPr>
              <a:t>25  </a:t>
            </a:r>
            <a:r>
              <a:rPr sz="771" i="0">
                <a:solidFill>
                  <a:srgbClr val="FF8E6E"/>
                </a:solidFill>
                <a:latin typeface="Inconsolata"/>
              </a:rPr>
              <a:t>class</a:t>
            </a:r>
            <a:r>
              <a:rPr sz="771" i="0">
                <a:solidFill>
                  <a:srgbClr val="E6EDF3"/>
                </a:solidFill>
                <a:latin typeface="Inconsolata"/>
              </a:rPr>
              <a:t> </a:t>
            </a:r>
            <a:r>
              <a:rPr sz="771" i="0">
                <a:solidFill>
                  <a:srgbClr val="7FDBCA"/>
                </a:solidFill>
                <a:latin typeface="Inconsolata"/>
              </a:rPr>
              <a:t>OrderRecord</a:t>
            </a:r>
            <a:r>
              <a:rPr sz="771" i="0">
                <a:solidFill>
                  <a:srgbClr val="E6EDF3"/>
                </a:solidFill>
                <a:latin typeface="Inconsolata"/>
              </a:rPr>
              <a:t>(</a:t>
            </a:r>
            <a:r>
              <a:rPr sz="771" i="0">
                <a:solidFill>
                  <a:srgbClr val="7FDBCA"/>
                </a:solidFill>
                <a:latin typeface="Inconsolata"/>
              </a:rPr>
              <a:t>Base</a:t>
            </a:r>
            <a:r>
              <a:rPr sz="771" i="0">
                <a:solidFill>
                  <a:srgbClr val="E6EDF3"/>
                </a:solidFill>
                <a:latin typeface="Inconsolata"/>
              </a:rPr>
              <a:t>):</a:t>
            </a:r>
          </a:p>
          <a:p>
            <a:pPr>
              <a:lnSpc>
                <a:spcPct val="108035"/>
              </a:lnSpc>
              <a:spcAft>
                <a:spcPts val="0"/>
              </a:spcAft>
            </a:pPr>
            <a:r>
              <a:rPr sz="771" i="0">
                <a:solidFill>
                  <a:srgbClr val="5C6773"/>
                </a:solidFill>
                <a:latin typeface="Inconsolata"/>
              </a:rPr>
              <a:t>26  </a:t>
            </a:r>
            <a:r>
              <a:rPr sz="771" i="0">
                <a:solidFill>
                  <a:srgbClr val="E6EDF3"/>
                </a:solidFill>
                <a:latin typeface="Inconsolata"/>
              </a:rPr>
              <a:t>    __tablename__ = </a:t>
            </a:r>
            <a:r>
              <a:rPr sz="771" i="0">
                <a:solidFill>
                  <a:srgbClr val="A5D6A7"/>
                </a:solidFill>
                <a:latin typeface="Inconsolata"/>
              </a:rPr>
              <a:t>"orders"</a:t>
            </a:r>
          </a:p>
          <a:p>
            <a:pPr>
              <a:lnSpc>
                <a:spcPct val="108035"/>
              </a:lnSpc>
              <a:spcAft>
                <a:spcPts val="0"/>
              </a:spcAft>
            </a:pPr>
            <a:r>
              <a:rPr sz="771" i="0">
                <a:solidFill>
                  <a:srgbClr val="5C6773"/>
                </a:solidFill>
                <a:latin typeface="Inconsolata"/>
              </a:rPr>
              <a:t>27  </a:t>
            </a:r>
            <a:r>
              <a:rPr sz="771" i="0">
                <a:solidFill>
                  <a:srgbClr val="E6EDF3"/>
                </a:solidFill>
                <a:latin typeface="Inconsolata"/>
              </a:rPr>
              <a:t>    id: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int</a:t>
            </a:r>
            <a:r>
              <a:rPr sz="771" i="0">
                <a:solidFill>
                  <a:srgbClr val="E6EDF3"/>
                </a:solidFill>
                <a:latin typeface="Inconsolata"/>
              </a:rPr>
              <a:t>] = mapped_column(primary_key=</a:t>
            </a:r>
            <a:r>
              <a:rPr sz="771" i="0">
                <a:solidFill>
                  <a:srgbClr val="FF8E6E"/>
                </a:solidFill>
                <a:latin typeface="Inconsolata"/>
              </a:rPr>
              <a:t>True</a:t>
            </a:r>
            <a:r>
              <a:rPr sz="771" i="0">
                <a:solidFill>
                  <a:srgbClr val="E6EDF3"/>
                </a:solidFill>
                <a:latin typeface="Inconsolata"/>
              </a:rPr>
              <a:t>)</a:t>
            </a:r>
          </a:p>
          <a:p>
            <a:pPr>
              <a:lnSpc>
                <a:spcPct val="108035"/>
              </a:lnSpc>
              <a:spcAft>
                <a:spcPts val="0"/>
              </a:spcAft>
            </a:pPr>
            <a:r>
              <a:rPr sz="771" i="0">
                <a:solidFill>
                  <a:srgbClr val="5C6773"/>
                </a:solidFill>
                <a:latin typeface="Inconsolata"/>
              </a:rPr>
              <a:t>28  </a:t>
            </a:r>
            <a:r>
              <a:rPr sz="771" i="0">
                <a:solidFill>
                  <a:srgbClr val="E6EDF3"/>
                </a:solidFill>
                <a:latin typeface="Inconsolata"/>
              </a:rPr>
              <a:t>    customer: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str</a:t>
            </a:r>
            <a:r>
              <a:rPr sz="771" i="0">
                <a:solidFill>
                  <a:srgbClr val="E6EDF3"/>
                </a:solidFill>
                <a:latin typeface="Inconsolata"/>
              </a:rPr>
              <a:t>] = mapped_column(</a:t>
            </a:r>
            <a:r>
              <a:rPr sz="771" i="0">
                <a:solidFill>
                  <a:srgbClr val="7FDBCA"/>
                </a:solidFill>
                <a:latin typeface="Inconsolata"/>
              </a:rPr>
              <a:t>String</a:t>
            </a:r>
            <a:r>
              <a:rPr sz="771" i="0">
                <a:solidFill>
                  <a:srgbClr val="E6EDF3"/>
                </a:solidFill>
                <a:latin typeface="Inconsolata"/>
              </a:rPr>
              <a:t>(</a:t>
            </a:r>
            <a:r>
              <a:rPr sz="771" i="0">
                <a:solidFill>
                  <a:srgbClr val="F9C97A"/>
                </a:solidFill>
                <a:latin typeface="Inconsolata"/>
              </a:rPr>
              <a:t>100</a:t>
            </a:r>
            <a:r>
              <a:rPr sz="771" i="0">
                <a:solidFill>
                  <a:srgbClr val="E6EDF3"/>
                </a:solidFill>
                <a:latin typeface="Inconsolata"/>
              </a:rPr>
              <a:t>))</a:t>
            </a:r>
          </a:p>
          <a:p>
            <a:pPr>
              <a:lnSpc>
                <a:spcPct val="108035"/>
              </a:lnSpc>
              <a:spcAft>
                <a:spcPts val="0"/>
              </a:spcAft>
            </a:pPr>
            <a:r>
              <a:rPr sz="771" i="0">
                <a:solidFill>
                  <a:srgbClr val="5C6773"/>
                </a:solidFill>
                <a:latin typeface="Inconsolata"/>
              </a:rPr>
              <a:t>29  </a:t>
            </a:r>
            <a:r>
              <a:rPr sz="771" i="0">
                <a:solidFill>
                  <a:srgbClr val="E6EDF3"/>
                </a:solidFill>
                <a:latin typeface="Inconsolata"/>
              </a:rPr>
              <a:t> </a:t>
            </a:r>
          </a:p>
          <a:p>
            <a:pPr>
              <a:lnSpc>
                <a:spcPct val="108035"/>
              </a:lnSpc>
              <a:spcAft>
                <a:spcPts val="0"/>
              </a:spcAft>
            </a:pPr>
            <a:r>
              <a:rPr sz="771" i="0">
                <a:solidFill>
                  <a:srgbClr val="5C6773"/>
                </a:solidFill>
                <a:latin typeface="Inconsolata"/>
              </a:rPr>
              <a:t>30  </a:t>
            </a:r>
            <a:r>
              <a:rPr sz="771" i="0">
                <a:solidFill>
                  <a:srgbClr val="E6EDF3"/>
                </a:solidFill>
                <a:latin typeface="Inconsolata"/>
              </a:rPr>
              <a:t> </a:t>
            </a:r>
          </a:p>
          <a:p>
            <a:pPr>
              <a:lnSpc>
                <a:spcPct val="108035"/>
              </a:lnSpc>
              <a:spcAft>
                <a:spcPts val="0"/>
              </a:spcAft>
            </a:pPr>
            <a:r>
              <a:rPr sz="771" i="0">
                <a:solidFill>
                  <a:srgbClr val="5C6773"/>
                </a:solidFill>
                <a:latin typeface="Inconsolata"/>
              </a:rPr>
              <a:t>31  </a:t>
            </a:r>
            <a:r>
              <a:rPr sz="771" i="0">
                <a:solidFill>
                  <a:srgbClr val="FF8E6E"/>
                </a:solidFill>
                <a:latin typeface="Inconsolata"/>
              </a:rPr>
              <a:t>def</a:t>
            </a:r>
            <a:r>
              <a:rPr sz="771" i="0">
                <a:solidFill>
                  <a:srgbClr val="E6EDF3"/>
                </a:solidFill>
                <a:latin typeface="Inconsolata"/>
              </a:rPr>
              <a:t> </a:t>
            </a:r>
            <a:r>
              <a:rPr sz="771" i="0">
                <a:solidFill>
                  <a:srgbClr val="82B1FF"/>
                </a:solidFill>
                <a:latin typeface="Inconsolata"/>
              </a:rPr>
              <a:t>place_order</a:t>
            </a:r>
            <a:r>
              <a:rPr sz="771" i="0">
                <a:solidFill>
                  <a:srgbClr val="E6EDF3"/>
                </a:solidFill>
                <a:latin typeface="Inconsolata"/>
              </a:rPr>
              <a:t>(</a:t>
            </a:r>
          </a:p>
          <a:p>
            <a:pPr>
              <a:lnSpc>
                <a:spcPct val="108035"/>
              </a:lnSpc>
              <a:spcAft>
                <a:spcPts val="0"/>
              </a:spcAft>
            </a:pPr>
            <a:r>
              <a:rPr sz="771" i="0">
                <a:solidFill>
                  <a:srgbClr val="5C6773"/>
                </a:solidFill>
                <a:latin typeface="Inconsolata"/>
              </a:rPr>
              <a:t>32  </a:t>
            </a:r>
            <a:r>
              <a:rPr sz="771" i="0">
                <a:solidFill>
                  <a:srgbClr val="E6EDF3"/>
                </a:solidFill>
                <a:latin typeface="Inconsolata"/>
              </a:rPr>
              <a:t>    session: </a:t>
            </a:r>
            <a:r>
              <a:rPr sz="771" i="0">
                <a:solidFill>
                  <a:srgbClr val="7FDBCA"/>
                </a:solidFill>
                <a:latin typeface="Inconsolata"/>
              </a:rPr>
              <a:t>Session</a:t>
            </a:r>
            <a:r>
              <a:rPr sz="771" i="0">
                <a:solidFill>
                  <a:srgbClr val="E6EDF3"/>
                </a:solidFill>
                <a:latin typeface="Inconsolata"/>
              </a:rPr>
              <a:t>, customer: </a:t>
            </a:r>
            <a:r>
              <a:rPr sz="771" i="0">
                <a:solidFill>
                  <a:srgbClr val="C3A6FF"/>
                </a:solidFill>
                <a:latin typeface="Inconsolata"/>
              </a:rPr>
              <a:t>str</a:t>
            </a:r>
            <a:r>
              <a:rPr sz="771" i="0">
                <a:solidFill>
                  <a:srgbClr val="E6EDF3"/>
                </a:solidFill>
                <a:latin typeface="Inconsolata"/>
              </a:rPr>
              <a:t>, items: </a:t>
            </a:r>
            <a:r>
              <a:rPr sz="771" i="0">
                <a:solidFill>
                  <a:srgbClr val="C3A6FF"/>
                </a:solidFill>
                <a:latin typeface="Inconsolata"/>
              </a:rPr>
              <a:t>list</a:t>
            </a:r>
            <a:r>
              <a:rPr sz="771" i="0">
                <a:solidFill>
                  <a:srgbClr val="E6EDF3"/>
                </a:solidFill>
                <a:latin typeface="Inconsolata"/>
              </a:rPr>
              <a:t>[</a:t>
            </a:r>
            <a:r>
              <a:rPr sz="771" i="0">
                <a:solidFill>
                  <a:srgbClr val="C3A6FF"/>
                </a:solidFill>
                <a:latin typeface="Inconsolata"/>
              </a:rPr>
              <a:t>tuple</a:t>
            </a:r>
            <a:r>
              <a:rPr sz="771" i="0">
                <a:solidFill>
                  <a:srgbClr val="E6EDF3"/>
                </a:solidFill>
                <a:latin typeface="Inconsolata"/>
              </a:rPr>
              <a:t>[</a:t>
            </a:r>
            <a:r>
              <a:rPr sz="771" i="0">
                <a:solidFill>
                  <a:srgbClr val="C3A6FF"/>
                </a:solidFill>
                <a:latin typeface="Inconsolata"/>
              </a:rPr>
              <a:t>int</a:t>
            </a:r>
            <a:r>
              <a:rPr sz="771" i="0">
                <a:solidFill>
                  <a:srgbClr val="E6EDF3"/>
                </a:solidFill>
                <a:latin typeface="Inconsolata"/>
              </a:rPr>
              <a:t>, </a:t>
            </a:r>
            <a:r>
              <a:rPr sz="771" i="0">
                <a:solidFill>
                  <a:srgbClr val="C3A6FF"/>
                </a:solidFill>
                <a:latin typeface="Inconsolata"/>
              </a:rPr>
              <a:t>int</a:t>
            </a:r>
            <a:r>
              <a:rPr sz="771" i="0">
                <a:solidFill>
                  <a:srgbClr val="E6EDF3"/>
                </a:solidFill>
                <a:latin typeface="Inconsolata"/>
              </a:rPr>
              <a:t>]]</a:t>
            </a:r>
          </a:p>
          <a:p>
            <a:pPr>
              <a:lnSpc>
                <a:spcPct val="108035"/>
              </a:lnSpc>
              <a:spcAft>
                <a:spcPts val="0"/>
              </a:spcAft>
            </a:pPr>
            <a:r>
              <a:rPr sz="771" i="0">
                <a:solidFill>
                  <a:srgbClr val="5C6773"/>
                </a:solidFill>
                <a:latin typeface="Inconsolata"/>
              </a:rPr>
              <a:t>33  </a:t>
            </a:r>
            <a:r>
              <a:rPr sz="771" i="0">
                <a:solidFill>
                  <a:srgbClr val="E6EDF3"/>
                </a:solidFill>
                <a:latin typeface="Inconsolata"/>
              </a:rPr>
              <a:t>) -&gt; </a:t>
            </a:r>
            <a:r>
              <a:rPr sz="771" i="0">
                <a:solidFill>
                  <a:srgbClr val="FF8E6E"/>
                </a:solidFill>
                <a:latin typeface="Inconsolata"/>
              </a:rPr>
              <a:t>None</a:t>
            </a:r>
            <a:r>
              <a:rPr sz="771" i="0">
                <a:solidFill>
                  <a:srgbClr val="E6EDF3"/>
                </a:solidFill>
                <a:latin typeface="Inconsolata"/>
              </a:rPr>
              <a:t>:</a:t>
            </a:r>
          </a:p>
          <a:p>
            <a:pPr>
              <a:lnSpc>
                <a:spcPct val="108035"/>
              </a:lnSpc>
              <a:spcAft>
                <a:spcPts val="0"/>
              </a:spcAft>
            </a:pPr>
            <a:r>
              <a:rPr sz="771" i="0">
                <a:solidFill>
                  <a:srgbClr val="5C6773"/>
                </a:solidFill>
                <a:latin typeface="Inconsolata"/>
              </a:rPr>
              <a:t>34  </a:t>
            </a:r>
            <a:r>
              <a:rPr sz="771" i="0">
                <a:solidFill>
                  <a:srgbClr val="E6EDF3"/>
                </a:solidFill>
                <a:latin typeface="Inconsolata"/>
              </a:rPr>
              <a:t>    </a:t>
            </a:r>
            <a:r>
              <a:rPr sz="771" i="0">
                <a:solidFill>
                  <a:srgbClr val="FF8E6E"/>
                </a:solidFill>
                <a:latin typeface="Inconsolata"/>
              </a:rPr>
              <a:t>for</a:t>
            </a:r>
            <a:r>
              <a:rPr sz="771" i="0">
                <a:solidFill>
                  <a:srgbClr val="E6EDF3"/>
                </a:solidFill>
                <a:latin typeface="Inconsolata"/>
              </a:rPr>
              <a:t> product_id, qty </a:t>
            </a:r>
            <a:r>
              <a:rPr sz="771" i="0">
                <a:solidFill>
                  <a:srgbClr val="FF8E6E"/>
                </a:solidFill>
                <a:latin typeface="Inconsolata"/>
              </a:rPr>
              <a:t>in</a:t>
            </a:r>
            <a:r>
              <a:rPr sz="771" i="0">
                <a:solidFill>
                  <a:srgbClr val="E6EDF3"/>
                </a:solidFill>
                <a:latin typeface="Inconsolata"/>
              </a:rPr>
              <a:t> items:</a:t>
            </a:r>
          </a:p>
          <a:p>
            <a:pPr>
              <a:lnSpc>
                <a:spcPct val="108035"/>
              </a:lnSpc>
              <a:spcAft>
                <a:spcPts val="0"/>
              </a:spcAft>
            </a:pPr>
            <a:r>
              <a:rPr sz="771" i="0">
                <a:solidFill>
                  <a:srgbClr val="5C6773"/>
                </a:solidFill>
                <a:latin typeface="Inconsolata"/>
              </a:rPr>
              <a:t>35  </a:t>
            </a:r>
            <a:r>
              <a:rPr sz="771" i="0">
                <a:solidFill>
                  <a:srgbClr val="E6EDF3"/>
                </a:solidFill>
                <a:latin typeface="Inconsolata"/>
              </a:rPr>
              <a:t>        product = session.get(</a:t>
            </a:r>
            <a:r>
              <a:rPr sz="771" i="0">
                <a:solidFill>
                  <a:srgbClr val="7FDBCA"/>
                </a:solidFill>
                <a:latin typeface="Inconsolata"/>
              </a:rPr>
              <a:t>ProductRecord</a:t>
            </a:r>
            <a:r>
              <a:rPr sz="771" i="0">
                <a:solidFill>
                  <a:srgbClr val="E6EDF3"/>
                </a:solidFill>
                <a:latin typeface="Inconsolata"/>
              </a:rPr>
              <a:t>, product_id)</a:t>
            </a:r>
          </a:p>
          <a:p>
            <a:pPr>
              <a:lnSpc>
                <a:spcPct val="108035"/>
              </a:lnSpc>
              <a:spcAft>
                <a:spcPts val="0"/>
              </a:spcAft>
            </a:pPr>
            <a:r>
              <a:rPr sz="771" i="0">
                <a:solidFill>
                  <a:srgbClr val="5C6773"/>
                </a:solidFill>
                <a:latin typeface="Inconsolata"/>
              </a:rPr>
              <a:t>36  </a:t>
            </a:r>
            <a:r>
              <a:rPr sz="771" i="0">
                <a:solidFill>
                  <a:srgbClr val="E6EDF3"/>
                </a:solidFill>
                <a:latin typeface="Inconsolata"/>
              </a:rPr>
              <a:t>        </a:t>
            </a:r>
            <a:r>
              <a:rPr sz="771" i="0">
                <a:solidFill>
                  <a:srgbClr val="FF8E6E"/>
                </a:solidFill>
                <a:latin typeface="Inconsolata"/>
              </a:rPr>
              <a:t>if</a:t>
            </a:r>
            <a:r>
              <a:rPr sz="771" i="0">
                <a:solidFill>
                  <a:srgbClr val="E6EDF3"/>
                </a:solidFill>
                <a:latin typeface="Inconsolata"/>
              </a:rPr>
              <a:t> qty &gt; product.stock:</a:t>
            </a:r>
          </a:p>
          <a:p>
            <a:pPr>
              <a:lnSpc>
                <a:spcPct val="108035"/>
              </a:lnSpc>
              <a:spcAft>
                <a:spcPts val="0"/>
              </a:spcAft>
            </a:pPr>
            <a:r>
              <a:rPr sz="771" i="0">
                <a:solidFill>
                  <a:srgbClr val="5C6773"/>
                </a:solidFill>
                <a:latin typeface="Inconsolata"/>
              </a:rPr>
              <a:t>37  </a:t>
            </a:r>
            <a:r>
              <a:rPr sz="771" i="0">
                <a:solidFill>
                  <a:srgbClr val="E6EDF3"/>
                </a:solidFill>
                <a:latin typeface="Inconsolata"/>
              </a:rPr>
              <a:t>            </a:t>
            </a:r>
            <a:r>
              <a:rPr sz="771" i="0">
                <a:solidFill>
                  <a:srgbClr val="FF8E6E"/>
                </a:solidFill>
                <a:latin typeface="Inconsolata"/>
              </a:rPr>
              <a:t>raise</a:t>
            </a:r>
            <a:r>
              <a:rPr sz="771" i="0">
                <a:solidFill>
                  <a:srgbClr val="E6EDF3"/>
                </a:solidFill>
                <a:latin typeface="Inconsolata"/>
              </a:rPr>
              <a:t> </a:t>
            </a:r>
            <a:r>
              <a:rPr sz="771" i="0">
                <a:solidFill>
                  <a:srgbClr val="7FDBCA"/>
                </a:solidFill>
                <a:latin typeface="Inconsolata"/>
              </a:rPr>
              <a:t>ValueError</a:t>
            </a:r>
            <a:r>
              <a:rPr sz="771" i="0">
                <a:solidFill>
                  <a:srgbClr val="E6EDF3"/>
                </a:solidFill>
                <a:latin typeface="Inconsolata"/>
              </a:rPr>
              <a:t>(</a:t>
            </a:r>
          </a:p>
          <a:p>
            <a:pPr>
              <a:lnSpc>
                <a:spcPct val="108035"/>
              </a:lnSpc>
              <a:spcAft>
                <a:spcPts val="0"/>
              </a:spcAft>
            </a:pPr>
            <a:r>
              <a:rPr sz="771" i="0">
                <a:solidFill>
                  <a:srgbClr val="5C6773"/>
                </a:solidFill>
                <a:latin typeface="Inconsolata"/>
              </a:rPr>
              <a:t>38  </a:t>
            </a:r>
            <a:r>
              <a:rPr sz="771" i="0">
                <a:solidFill>
                  <a:srgbClr val="E6EDF3"/>
                </a:solidFill>
                <a:latin typeface="Inconsolata"/>
              </a:rPr>
              <a:t>                </a:t>
            </a:r>
            <a:r>
              <a:rPr sz="771" i="0">
                <a:solidFill>
                  <a:srgbClr val="A5D6A7"/>
                </a:solidFill>
                <a:latin typeface="Inconsolata"/>
              </a:rPr>
              <a:t>f"Stok {product.name} tidak cukup"</a:t>
            </a:r>
          </a:p>
          <a:p>
            <a:pPr>
              <a:lnSpc>
                <a:spcPct val="108035"/>
              </a:lnSpc>
              <a:spcAft>
                <a:spcPts val="0"/>
              </a:spcAft>
            </a:pPr>
            <a:r>
              <a:rPr sz="771" i="0">
                <a:solidFill>
                  <a:srgbClr val="5C6773"/>
                </a:solidFill>
                <a:latin typeface="Inconsolata"/>
              </a:rPr>
              <a:t>39  </a:t>
            </a:r>
            <a:r>
              <a:rPr sz="771" i="0">
                <a:solidFill>
                  <a:srgbClr val="E6EDF3"/>
                </a:solidFill>
                <a:latin typeface="Inconsolata"/>
              </a:rPr>
              <a:t>            )</a:t>
            </a:r>
          </a:p>
          <a:p>
            <a:pPr>
              <a:lnSpc>
                <a:spcPct val="108035"/>
              </a:lnSpc>
              <a:spcAft>
                <a:spcPts val="0"/>
              </a:spcAft>
            </a:pPr>
            <a:r>
              <a:rPr sz="771" i="0">
                <a:solidFill>
                  <a:srgbClr val="5C6773"/>
                </a:solidFill>
                <a:latin typeface="Inconsolata"/>
              </a:rPr>
              <a:t>40  </a:t>
            </a:r>
            <a:r>
              <a:rPr sz="771" i="0">
                <a:solidFill>
                  <a:srgbClr val="E6EDF3"/>
                </a:solidFill>
                <a:latin typeface="Inconsolata"/>
              </a:rPr>
              <a:t>        product.stock -= qty</a:t>
            </a:r>
          </a:p>
          <a:p>
            <a:pPr>
              <a:lnSpc>
                <a:spcPct val="108035"/>
              </a:lnSpc>
              <a:spcAft>
                <a:spcPts val="0"/>
              </a:spcAft>
            </a:pPr>
            <a:r>
              <a:rPr sz="771" i="0">
                <a:solidFill>
                  <a:srgbClr val="5C6773"/>
                </a:solidFill>
                <a:latin typeface="Inconsolata"/>
              </a:rPr>
              <a:t>41  </a:t>
            </a:r>
            <a:r>
              <a:rPr sz="771" i="0">
                <a:solidFill>
                  <a:srgbClr val="E6EDF3"/>
                </a:solidFill>
                <a:latin typeface="Inconsolata"/>
              </a:rPr>
              <a:t>        session.commit()  </a:t>
            </a:r>
            <a:r>
              <a:rPr sz="771" i="1">
                <a:solidFill>
                  <a:srgbClr val="8B98A8"/>
                </a:solidFill>
                <a:latin typeface="Inconsolata"/>
              </a:rPr>
              <a:t># commit di tengah proses</a:t>
            </a:r>
          </a:p>
        </p:txBody>
      </p:sp>
      <p:sp>
        <p:nvSpPr>
          <p:cNvPr id="36" name="Box 21"/>
          <p:cNvSpPr/>
          <p:nvPr/>
        </p:nvSpPr>
        <p:spPr>
          <a:xfrm>
            <a:off x="4709159" y="3732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3736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Transaction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Commit di tengah proses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07-transaction/before.py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6469"/>
              </a:lnSpc>
              <a:spcAft>
                <a:spcPts val="0"/>
              </a:spcAft>
            </a:pPr>
            <a:r>
              <a:rPr sz="782" i="0">
                <a:solidFill>
                  <a:srgbClr val="5C6773"/>
                </a:solidFill>
                <a:latin typeface="Inconsolata"/>
              </a:rPr>
              <a:t>43  </a:t>
            </a:r>
            <a:r>
              <a:rPr sz="782" i="0">
                <a:solidFill>
                  <a:srgbClr val="E6EDF3"/>
                </a:solidFill>
                <a:latin typeface="Inconsolata"/>
              </a:rPr>
              <a:t>    session.add(</a:t>
            </a:r>
            <a:r>
              <a:rPr sz="782" i="0">
                <a:solidFill>
                  <a:srgbClr val="7FDBCA"/>
                </a:solidFill>
                <a:latin typeface="Inconsolata"/>
              </a:rPr>
              <a:t>OrderRecord</a:t>
            </a:r>
            <a:r>
              <a:rPr sz="782" i="0">
                <a:solidFill>
                  <a:srgbClr val="E6EDF3"/>
                </a:solidFill>
                <a:latin typeface="Inconsolata"/>
              </a:rPr>
              <a:t>(customer=customer))</a:t>
            </a:r>
          </a:p>
          <a:p>
            <a:pPr>
              <a:lnSpc>
                <a:spcPct val="106469"/>
              </a:lnSpc>
              <a:spcAft>
                <a:spcPts val="0"/>
              </a:spcAft>
            </a:pPr>
            <a:r>
              <a:rPr sz="782" i="0">
                <a:solidFill>
                  <a:srgbClr val="5C6773"/>
                </a:solidFill>
                <a:latin typeface="Inconsolata"/>
              </a:rPr>
              <a:t>44  </a:t>
            </a:r>
            <a:r>
              <a:rPr sz="782" i="0">
                <a:solidFill>
                  <a:srgbClr val="E6EDF3"/>
                </a:solidFill>
                <a:latin typeface="Inconsolata"/>
              </a:rPr>
              <a:t>    session.commit()</a:t>
            </a:r>
          </a:p>
          <a:p>
            <a:pPr>
              <a:lnSpc>
                <a:spcPct val="106469"/>
              </a:lnSpc>
              <a:spcAft>
                <a:spcPts val="0"/>
              </a:spcAft>
            </a:pPr>
            <a:r>
              <a:rPr sz="782" i="0">
                <a:solidFill>
                  <a:srgbClr val="5C6773"/>
                </a:solidFill>
                <a:latin typeface="Inconsolata"/>
              </a:rPr>
              <a:t>45  </a:t>
            </a:r>
            <a:r>
              <a:rPr sz="782" i="0">
                <a:solidFill>
                  <a:srgbClr val="E6EDF3"/>
                </a:solidFill>
                <a:latin typeface="Inconsolata"/>
              </a:rPr>
              <a:t> </a:t>
            </a:r>
          </a:p>
          <a:p>
            <a:pPr>
              <a:lnSpc>
                <a:spcPct val="106469"/>
              </a:lnSpc>
              <a:spcAft>
                <a:spcPts val="0"/>
              </a:spcAft>
            </a:pPr>
            <a:r>
              <a:rPr sz="782" i="0">
                <a:solidFill>
                  <a:srgbClr val="5C6773"/>
                </a:solidFill>
                <a:latin typeface="Inconsolata"/>
              </a:rPr>
              <a:t>46  </a:t>
            </a:r>
            <a:r>
              <a:rPr sz="782" i="0">
                <a:solidFill>
                  <a:srgbClr val="E6EDF3"/>
                </a:solidFill>
                <a:latin typeface="Inconsolata"/>
              </a:rPr>
              <a:t> </a:t>
            </a:r>
          </a:p>
          <a:p>
            <a:pPr>
              <a:lnSpc>
                <a:spcPct val="106469"/>
              </a:lnSpc>
              <a:spcAft>
                <a:spcPts val="0"/>
              </a:spcAft>
            </a:pPr>
            <a:r>
              <a:rPr sz="782" i="0">
                <a:solidFill>
                  <a:srgbClr val="5C6773"/>
                </a:solidFill>
                <a:latin typeface="Inconsolata"/>
              </a:rPr>
              <a:t>47  </a:t>
            </a:r>
            <a:r>
              <a:rPr sz="782" i="0">
                <a:solidFill>
                  <a:srgbClr val="FF8E6E"/>
                </a:solidFill>
                <a:latin typeface="Inconsolata"/>
              </a:rPr>
              <a:t>if</a:t>
            </a:r>
            <a:r>
              <a:rPr sz="782" i="0">
                <a:solidFill>
                  <a:srgbClr val="E6EDF3"/>
                </a:solidFill>
                <a:latin typeface="Inconsolata"/>
              </a:rPr>
              <a:t> __name__ == </a:t>
            </a:r>
            <a:r>
              <a:rPr sz="782" i="0">
                <a:solidFill>
                  <a:srgbClr val="A5D6A7"/>
                </a:solidFill>
                <a:latin typeface="Inconsolata"/>
              </a:rPr>
              <a:t>"__main__"</a:t>
            </a:r>
            <a:r>
              <a:rPr sz="782" i="0">
                <a:solidFill>
                  <a:srgbClr val="E6EDF3"/>
                </a:solidFill>
                <a:latin typeface="Inconsolata"/>
              </a:rPr>
              <a:t>:</a:t>
            </a:r>
          </a:p>
          <a:p>
            <a:pPr>
              <a:lnSpc>
                <a:spcPct val="106469"/>
              </a:lnSpc>
              <a:spcAft>
                <a:spcPts val="0"/>
              </a:spcAft>
            </a:pPr>
            <a:r>
              <a:rPr sz="782" i="0">
                <a:solidFill>
                  <a:srgbClr val="5C6773"/>
                </a:solidFill>
                <a:latin typeface="Inconsolata"/>
              </a:rPr>
              <a:t>48  </a:t>
            </a:r>
            <a:r>
              <a:rPr sz="782" i="0">
                <a:solidFill>
                  <a:srgbClr val="E6EDF3"/>
                </a:solidFill>
                <a:latin typeface="Inconsolata"/>
              </a:rPr>
              <a:t>    engine = create_engine(</a:t>
            </a:r>
            <a:r>
              <a:rPr sz="782" i="0">
                <a:solidFill>
                  <a:srgbClr val="A5D6A7"/>
                </a:solidFill>
                <a:latin typeface="Inconsolata"/>
              </a:rPr>
              <a:t>"sqlite://"</a:t>
            </a:r>
            <a:r>
              <a:rPr sz="782" i="0">
                <a:solidFill>
                  <a:srgbClr val="E6EDF3"/>
                </a:solidFill>
                <a:latin typeface="Inconsolata"/>
              </a:rPr>
              <a:t>)</a:t>
            </a:r>
          </a:p>
          <a:p>
            <a:pPr>
              <a:lnSpc>
                <a:spcPct val="106469"/>
              </a:lnSpc>
              <a:spcAft>
                <a:spcPts val="0"/>
              </a:spcAft>
            </a:pPr>
            <a:r>
              <a:rPr sz="782" i="0">
                <a:solidFill>
                  <a:srgbClr val="5C6773"/>
                </a:solidFill>
                <a:latin typeface="Inconsolata"/>
              </a:rPr>
              <a:t>49  </a:t>
            </a:r>
            <a:r>
              <a:rPr sz="782" i="0">
                <a:solidFill>
                  <a:srgbClr val="E6EDF3"/>
                </a:solidFill>
                <a:latin typeface="Inconsolata"/>
              </a:rPr>
              <a:t>    </a:t>
            </a:r>
            <a:r>
              <a:rPr sz="782" i="0">
                <a:solidFill>
                  <a:srgbClr val="7FDBCA"/>
                </a:solidFill>
                <a:latin typeface="Inconsolata"/>
              </a:rPr>
              <a:t>Base</a:t>
            </a:r>
            <a:r>
              <a:rPr sz="782" i="0">
                <a:solidFill>
                  <a:srgbClr val="E6EDF3"/>
                </a:solidFill>
                <a:latin typeface="Inconsolata"/>
              </a:rPr>
              <a:t>.metadata.create_all(engine)</a:t>
            </a:r>
          </a:p>
          <a:p>
            <a:pPr>
              <a:lnSpc>
                <a:spcPct val="106469"/>
              </a:lnSpc>
              <a:spcAft>
                <a:spcPts val="0"/>
              </a:spcAft>
            </a:pPr>
            <a:r>
              <a:rPr sz="782" i="0">
                <a:solidFill>
                  <a:srgbClr val="5C6773"/>
                </a:solidFill>
                <a:latin typeface="Inconsolata"/>
              </a:rPr>
              <a:t>50  </a:t>
            </a:r>
            <a:r>
              <a:rPr sz="782" i="0">
                <a:solidFill>
                  <a:srgbClr val="E6EDF3"/>
                </a:solidFill>
                <a:latin typeface="Inconsolata"/>
              </a:rPr>
              <a:t>    </a:t>
            </a:r>
            <a:r>
              <a:rPr sz="782" i="0">
                <a:solidFill>
                  <a:srgbClr val="FF8E6E"/>
                </a:solidFill>
                <a:latin typeface="Inconsolata"/>
              </a:rPr>
              <a:t>with</a:t>
            </a:r>
            <a:r>
              <a:rPr sz="782" i="0">
                <a:solidFill>
                  <a:srgbClr val="E6EDF3"/>
                </a:solidFill>
                <a:latin typeface="Inconsolata"/>
              </a:rPr>
              <a:t> </a:t>
            </a:r>
            <a:r>
              <a:rPr sz="782" i="0">
                <a:solidFill>
                  <a:srgbClr val="7FDBCA"/>
                </a:solidFill>
                <a:latin typeface="Inconsolata"/>
              </a:rPr>
              <a:t>Session</a:t>
            </a:r>
            <a:r>
              <a:rPr sz="782" i="0">
                <a:solidFill>
                  <a:srgbClr val="E6EDF3"/>
                </a:solidFill>
                <a:latin typeface="Inconsolata"/>
              </a:rPr>
              <a:t>(engine) </a:t>
            </a:r>
            <a:r>
              <a:rPr sz="782" i="0">
                <a:solidFill>
                  <a:srgbClr val="FF8E6E"/>
                </a:solidFill>
                <a:latin typeface="Inconsolata"/>
              </a:rPr>
              <a:t>as</a:t>
            </a:r>
            <a:r>
              <a:rPr sz="782" i="0">
                <a:solidFill>
                  <a:srgbClr val="E6EDF3"/>
                </a:solidFill>
                <a:latin typeface="Inconsolata"/>
              </a:rPr>
              <a:t> session:</a:t>
            </a:r>
          </a:p>
          <a:p>
            <a:pPr>
              <a:lnSpc>
                <a:spcPct val="106469"/>
              </a:lnSpc>
              <a:spcAft>
                <a:spcPts val="0"/>
              </a:spcAft>
            </a:pPr>
            <a:r>
              <a:rPr sz="782" i="0">
                <a:solidFill>
                  <a:srgbClr val="5C6773"/>
                </a:solidFill>
                <a:latin typeface="Inconsolata"/>
              </a:rPr>
              <a:t>51  </a:t>
            </a:r>
            <a:r>
              <a:rPr sz="782" i="0">
                <a:solidFill>
                  <a:srgbClr val="E6EDF3"/>
                </a:solidFill>
                <a:latin typeface="Inconsolata"/>
              </a:rPr>
              <a:t>        session.add_all([</a:t>
            </a:r>
          </a:p>
          <a:p>
            <a:pPr>
              <a:lnSpc>
                <a:spcPct val="106469"/>
              </a:lnSpc>
              <a:spcAft>
                <a:spcPts val="0"/>
              </a:spcAft>
            </a:pPr>
            <a:r>
              <a:rPr sz="782" i="0">
                <a:solidFill>
                  <a:srgbClr val="5C6773"/>
                </a:solidFill>
                <a:latin typeface="Inconsolata"/>
              </a:rPr>
              <a:t>52  </a:t>
            </a:r>
            <a:r>
              <a:rPr sz="782" i="0">
                <a:solidFill>
                  <a:srgbClr val="E6EDF3"/>
                </a:solidFill>
                <a:latin typeface="Inconsolata"/>
              </a:rPr>
              <a:t>            </a:t>
            </a:r>
            <a:r>
              <a:rPr sz="782" i="0">
                <a:solidFill>
                  <a:srgbClr val="7FDBCA"/>
                </a:solidFill>
                <a:latin typeface="Inconsolata"/>
              </a:rPr>
              <a:t>ProductRecord</a:t>
            </a:r>
            <a:r>
              <a:rPr sz="782" i="0">
                <a:solidFill>
                  <a:srgbClr val="E6EDF3"/>
                </a:solidFill>
                <a:latin typeface="Inconsolata"/>
              </a:rPr>
              <a:t>(name=</a:t>
            </a:r>
            <a:r>
              <a:rPr sz="782" i="0">
                <a:solidFill>
                  <a:srgbClr val="A5D6A7"/>
                </a:solidFill>
                <a:latin typeface="Inconsolata"/>
              </a:rPr>
              <a:t>"Keyboard"</a:t>
            </a:r>
            <a:r>
              <a:rPr sz="782" i="0">
                <a:solidFill>
                  <a:srgbClr val="E6EDF3"/>
                </a:solidFill>
                <a:latin typeface="Inconsolata"/>
              </a:rPr>
              <a:t>, stock=</a:t>
            </a:r>
            <a:r>
              <a:rPr sz="782" i="0">
                <a:solidFill>
                  <a:srgbClr val="F9C97A"/>
                </a:solidFill>
                <a:latin typeface="Inconsolata"/>
              </a:rPr>
              <a:t>5</a:t>
            </a:r>
            <a:r>
              <a:rPr sz="782" i="0">
                <a:solidFill>
                  <a:srgbClr val="E6EDF3"/>
                </a:solidFill>
                <a:latin typeface="Inconsolata"/>
              </a:rPr>
              <a:t>),</a:t>
            </a:r>
          </a:p>
          <a:p>
            <a:pPr>
              <a:lnSpc>
                <a:spcPct val="106469"/>
              </a:lnSpc>
              <a:spcAft>
                <a:spcPts val="0"/>
              </a:spcAft>
            </a:pPr>
            <a:r>
              <a:rPr sz="782" i="0">
                <a:solidFill>
                  <a:srgbClr val="5C6773"/>
                </a:solidFill>
                <a:latin typeface="Inconsolata"/>
              </a:rPr>
              <a:t>53  </a:t>
            </a:r>
            <a:r>
              <a:rPr sz="782" i="0">
                <a:solidFill>
                  <a:srgbClr val="E6EDF3"/>
                </a:solidFill>
                <a:latin typeface="Inconsolata"/>
              </a:rPr>
              <a:t>            </a:t>
            </a:r>
            <a:r>
              <a:rPr sz="782" i="0">
                <a:solidFill>
                  <a:srgbClr val="7FDBCA"/>
                </a:solidFill>
                <a:latin typeface="Inconsolata"/>
              </a:rPr>
              <a:t>ProductRecord</a:t>
            </a:r>
            <a:r>
              <a:rPr sz="782" i="0">
                <a:solidFill>
                  <a:srgbClr val="E6EDF3"/>
                </a:solidFill>
                <a:latin typeface="Inconsolata"/>
              </a:rPr>
              <a:t>(name=</a:t>
            </a:r>
            <a:r>
              <a:rPr sz="782" i="0">
                <a:solidFill>
                  <a:srgbClr val="A5D6A7"/>
                </a:solidFill>
                <a:latin typeface="Inconsolata"/>
              </a:rPr>
              <a:t>"Mouse"</a:t>
            </a:r>
            <a:r>
              <a:rPr sz="782" i="0">
                <a:solidFill>
                  <a:srgbClr val="E6EDF3"/>
                </a:solidFill>
                <a:latin typeface="Inconsolata"/>
              </a:rPr>
              <a:t>, stock=</a:t>
            </a:r>
            <a:r>
              <a:rPr sz="782" i="0">
                <a:solidFill>
                  <a:srgbClr val="F9C97A"/>
                </a:solidFill>
                <a:latin typeface="Inconsolata"/>
              </a:rPr>
              <a:t>1</a:t>
            </a:r>
            <a:r>
              <a:rPr sz="782" i="0">
                <a:solidFill>
                  <a:srgbClr val="E6EDF3"/>
                </a:solidFill>
                <a:latin typeface="Inconsolata"/>
              </a:rPr>
              <a:t>),</a:t>
            </a:r>
          </a:p>
          <a:p>
            <a:pPr>
              <a:lnSpc>
                <a:spcPct val="106469"/>
              </a:lnSpc>
              <a:spcAft>
                <a:spcPts val="0"/>
              </a:spcAft>
            </a:pPr>
            <a:r>
              <a:rPr sz="782" i="0">
                <a:solidFill>
                  <a:srgbClr val="5C6773"/>
                </a:solidFill>
                <a:latin typeface="Inconsolata"/>
              </a:rPr>
              <a:t>54  </a:t>
            </a:r>
            <a:r>
              <a:rPr sz="782" i="0">
                <a:solidFill>
                  <a:srgbClr val="E6EDF3"/>
                </a:solidFill>
                <a:latin typeface="Inconsolata"/>
              </a:rPr>
              <a:t>        ])</a:t>
            </a:r>
          </a:p>
          <a:p>
            <a:pPr>
              <a:lnSpc>
                <a:spcPct val="106469"/>
              </a:lnSpc>
              <a:spcAft>
                <a:spcPts val="0"/>
              </a:spcAft>
            </a:pPr>
            <a:r>
              <a:rPr sz="782" i="0">
                <a:solidFill>
                  <a:srgbClr val="5C6773"/>
                </a:solidFill>
                <a:latin typeface="Inconsolata"/>
              </a:rPr>
              <a:t>55  </a:t>
            </a:r>
            <a:r>
              <a:rPr sz="782" i="0">
                <a:solidFill>
                  <a:srgbClr val="E6EDF3"/>
                </a:solidFill>
                <a:latin typeface="Inconsolata"/>
              </a:rPr>
              <a:t>        session.commit()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07-transaction/before.py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6469"/>
              </a:lnSpc>
              <a:spcAft>
                <a:spcPts val="0"/>
              </a:spcAft>
            </a:pPr>
            <a:r>
              <a:rPr sz="782" i="0">
                <a:solidFill>
                  <a:srgbClr val="5C6773"/>
                </a:solidFill>
                <a:latin typeface="Inconsolata"/>
              </a:rPr>
              <a:t>57  </a:t>
            </a:r>
            <a:r>
              <a:rPr sz="782" i="0">
                <a:solidFill>
                  <a:srgbClr val="E6EDF3"/>
                </a:solidFill>
                <a:latin typeface="Inconsolata"/>
              </a:rPr>
              <a:t>        </a:t>
            </a:r>
            <a:r>
              <a:rPr sz="782" i="0">
                <a:solidFill>
                  <a:srgbClr val="FF8E6E"/>
                </a:solidFill>
                <a:latin typeface="Inconsolata"/>
              </a:rPr>
              <a:t>try</a:t>
            </a:r>
            <a:r>
              <a:rPr sz="782" i="0">
                <a:solidFill>
                  <a:srgbClr val="E6EDF3"/>
                </a:solidFill>
                <a:latin typeface="Inconsolata"/>
              </a:rPr>
              <a:t>:</a:t>
            </a:r>
          </a:p>
          <a:p>
            <a:pPr>
              <a:lnSpc>
                <a:spcPct val="106469"/>
              </a:lnSpc>
              <a:spcAft>
                <a:spcPts val="0"/>
              </a:spcAft>
            </a:pPr>
            <a:r>
              <a:rPr sz="782" i="0">
                <a:solidFill>
                  <a:srgbClr val="5C6773"/>
                </a:solidFill>
                <a:latin typeface="Inconsolata"/>
              </a:rPr>
              <a:t>58  </a:t>
            </a:r>
            <a:r>
              <a:rPr sz="782" i="0">
                <a:solidFill>
                  <a:srgbClr val="E6EDF3"/>
                </a:solidFill>
                <a:latin typeface="Inconsolata"/>
              </a:rPr>
              <a:t>            items = [(</a:t>
            </a:r>
            <a:r>
              <a:rPr sz="782" i="0">
                <a:solidFill>
                  <a:srgbClr val="F9C97A"/>
                </a:solidFill>
                <a:latin typeface="Inconsolata"/>
              </a:rPr>
              <a:t>1</a:t>
            </a:r>
            <a:r>
              <a:rPr sz="782" i="0">
                <a:solidFill>
                  <a:srgbClr val="E6EDF3"/>
                </a:solidFill>
                <a:latin typeface="Inconsolata"/>
              </a:rPr>
              <a:t>, </a:t>
            </a:r>
            <a:r>
              <a:rPr sz="782" i="0">
                <a:solidFill>
                  <a:srgbClr val="F9C97A"/>
                </a:solidFill>
                <a:latin typeface="Inconsolata"/>
              </a:rPr>
              <a:t>2</a:t>
            </a:r>
            <a:r>
              <a:rPr sz="782" i="0">
                <a:solidFill>
                  <a:srgbClr val="E6EDF3"/>
                </a:solidFill>
                <a:latin typeface="Inconsolata"/>
              </a:rPr>
              <a:t>), (</a:t>
            </a:r>
            <a:r>
              <a:rPr sz="782" i="0">
                <a:solidFill>
                  <a:srgbClr val="F9C97A"/>
                </a:solidFill>
                <a:latin typeface="Inconsolata"/>
              </a:rPr>
              <a:t>2</a:t>
            </a:r>
            <a:r>
              <a:rPr sz="782" i="0">
                <a:solidFill>
                  <a:srgbClr val="E6EDF3"/>
                </a:solidFill>
                <a:latin typeface="Inconsolata"/>
              </a:rPr>
              <a:t>, </a:t>
            </a:r>
            <a:r>
              <a:rPr sz="782" i="0">
                <a:solidFill>
                  <a:srgbClr val="F9C97A"/>
                </a:solidFill>
                <a:latin typeface="Inconsolata"/>
              </a:rPr>
              <a:t>3</a:t>
            </a:r>
            <a:r>
              <a:rPr sz="782" i="0">
                <a:solidFill>
                  <a:srgbClr val="E6EDF3"/>
                </a:solidFill>
                <a:latin typeface="Inconsolata"/>
              </a:rPr>
              <a:t>)]  </a:t>
            </a:r>
            <a:r>
              <a:rPr sz="782" i="1">
                <a:solidFill>
                  <a:srgbClr val="8B98A8"/>
                </a:solidFill>
                <a:latin typeface="Inconsolata"/>
              </a:rPr>
              <a:t># Mouse cuma 1, diminta 3</a:t>
            </a:r>
          </a:p>
          <a:p>
            <a:pPr>
              <a:lnSpc>
                <a:spcPct val="106469"/>
              </a:lnSpc>
              <a:spcAft>
                <a:spcPts val="0"/>
              </a:spcAft>
            </a:pPr>
            <a:r>
              <a:rPr sz="782" i="0">
                <a:solidFill>
                  <a:srgbClr val="5C6773"/>
                </a:solidFill>
                <a:latin typeface="Inconsolata"/>
              </a:rPr>
              <a:t>59  </a:t>
            </a:r>
            <a:r>
              <a:rPr sz="782" i="0">
                <a:solidFill>
                  <a:srgbClr val="E6EDF3"/>
                </a:solidFill>
                <a:latin typeface="Inconsolata"/>
              </a:rPr>
              <a:t>            place_order(session, </a:t>
            </a:r>
            <a:r>
              <a:rPr sz="782" i="0">
                <a:solidFill>
                  <a:srgbClr val="A5D6A7"/>
                </a:solidFill>
                <a:latin typeface="Inconsolata"/>
              </a:rPr>
              <a:t>"budi@mail.com"</a:t>
            </a:r>
            <a:r>
              <a:rPr sz="782" i="0">
                <a:solidFill>
                  <a:srgbClr val="E6EDF3"/>
                </a:solidFill>
                <a:latin typeface="Inconsolata"/>
              </a:rPr>
              <a:t>, items)</a:t>
            </a:r>
          </a:p>
          <a:p>
            <a:pPr>
              <a:lnSpc>
                <a:spcPct val="106469"/>
              </a:lnSpc>
              <a:spcAft>
                <a:spcPts val="0"/>
              </a:spcAft>
            </a:pPr>
            <a:r>
              <a:rPr sz="782" i="0">
                <a:solidFill>
                  <a:srgbClr val="5C6773"/>
                </a:solidFill>
                <a:latin typeface="Inconsolata"/>
              </a:rPr>
              <a:t>60  </a:t>
            </a:r>
            <a:r>
              <a:rPr sz="782" i="0">
                <a:solidFill>
                  <a:srgbClr val="E6EDF3"/>
                </a:solidFill>
                <a:latin typeface="Inconsolata"/>
              </a:rPr>
              <a:t>        </a:t>
            </a:r>
            <a:r>
              <a:rPr sz="782" i="0">
                <a:solidFill>
                  <a:srgbClr val="FF8E6E"/>
                </a:solidFill>
                <a:latin typeface="Inconsolata"/>
              </a:rPr>
              <a:t>except</a:t>
            </a:r>
            <a:r>
              <a:rPr sz="782" i="0">
                <a:solidFill>
                  <a:srgbClr val="E6EDF3"/>
                </a:solidFill>
                <a:latin typeface="Inconsolata"/>
              </a:rPr>
              <a:t> </a:t>
            </a:r>
            <a:r>
              <a:rPr sz="782" i="0">
                <a:solidFill>
                  <a:srgbClr val="7FDBCA"/>
                </a:solidFill>
                <a:latin typeface="Inconsolata"/>
              </a:rPr>
              <a:t>ValueError</a:t>
            </a:r>
            <a:r>
              <a:rPr sz="782" i="0">
                <a:solidFill>
                  <a:srgbClr val="E6EDF3"/>
                </a:solidFill>
                <a:latin typeface="Inconsolata"/>
              </a:rPr>
              <a:t> </a:t>
            </a:r>
            <a:r>
              <a:rPr sz="782" i="0">
                <a:solidFill>
                  <a:srgbClr val="FF8E6E"/>
                </a:solidFill>
                <a:latin typeface="Inconsolata"/>
              </a:rPr>
              <a:t>as</a:t>
            </a:r>
            <a:r>
              <a:rPr sz="782" i="0">
                <a:solidFill>
                  <a:srgbClr val="E6EDF3"/>
                </a:solidFill>
                <a:latin typeface="Inconsolata"/>
              </a:rPr>
              <a:t> e:</a:t>
            </a:r>
          </a:p>
          <a:p>
            <a:pPr>
              <a:lnSpc>
                <a:spcPct val="106469"/>
              </a:lnSpc>
              <a:spcAft>
                <a:spcPts val="0"/>
              </a:spcAft>
            </a:pPr>
            <a:r>
              <a:rPr sz="782" i="0">
                <a:solidFill>
                  <a:srgbClr val="5C6773"/>
                </a:solidFill>
                <a:latin typeface="Inconsolata"/>
              </a:rPr>
              <a:t>61  </a:t>
            </a:r>
            <a:r>
              <a:rPr sz="782" i="0">
                <a:solidFill>
                  <a:srgbClr val="E6EDF3"/>
                </a:solidFill>
                <a:latin typeface="Inconsolata"/>
              </a:rPr>
              <a:t>            </a:t>
            </a:r>
            <a:r>
              <a:rPr sz="782" i="0">
                <a:solidFill>
                  <a:srgbClr val="C3A6FF"/>
                </a:solidFill>
                <a:latin typeface="Inconsolata"/>
              </a:rPr>
              <a:t>print</a:t>
            </a:r>
            <a:r>
              <a:rPr sz="782" i="0">
                <a:solidFill>
                  <a:srgbClr val="E6EDF3"/>
                </a:solidFill>
                <a:latin typeface="Inconsolata"/>
              </a:rPr>
              <a:t>(</a:t>
            </a:r>
            <a:r>
              <a:rPr sz="782" i="0">
                <a:solidFill>
                  <a:srgbClr val="A5D6A7"/>
                </a:solidFill>
                <a:latin typeface="Inconsolata"/>
              </a:rPr>
              <a:t>"Gagal:"</a:t>
            </a:r>
            <a:r>
              <a:rPr sz="782" i="0">
                <a:solidFill>
                  <a:srgbClr val="E6EDF3"/>
                </a:solidFill>
                <a:latin typeface="Inconsolata"/>
              </a:rPr>
              <a:t>, e)</a:t>
            </a:r>
          </a:p>
          <a:p>
            <a:pPr>
              <a:lnSpc>
                <a:spcPct val="106469"/>
              </a:lnSpc>
              <a:spcAft>
                <a:spcPts val="0"/>
              </a:spcAft>
            </a:pPr>
            <a:r>
              <a:rPr sz="782" i="0">
                <a:solidFill>
                  <a:srgbClr val="5C6773"/>
                </a:solidFill>
                <a:latin typeface="Inconsolata"/>
              </a:rPr>
              <a:t>62  </a:t>
            </a:r>
            <a:r>
              <a:rPr sz="782" i="0">
                <a:solidFill>
                  <a:srgbClr val="E6EDF3"/>
                </a:solidFill>
                <a:latin typeface="Inconsolata"/>
              </a:rPr>
              <a:t> </a:t>
            </a:r>
          </a:p>
          <a:p>
            <a:pPr>
              <a:lnSpc>
                <a:spcPct val="106469"/>
              </a:lnSpc>
              <a:spcAft>
                <a:spcPts val="0"/>
              </a:spcAft>
            </a:pPr>
            <a:r>
              <a:rPr sz="782" i="0">
                <a:solidFill>
                  <a:srgbClr val="5C6773"/>
                </a:solidFill>
                <a:latin typeface="Inconsolata"/>
              </a:rPr>
              <a:t>63  </a:t>
            </a:r>
            <a:r>
              <a:rPr sz="782" i="0">
                <a:solidFill>
                  <a:srgbClr val="E6EDF3"/>
                </a:solidFill>
                <a:latin typeface="Inconsolata"/>
              </a:rPr>
              <a:t>        session.rollback()</a:t>
            </a:r>
          </a:p>
          <a:p>
            <a:pPr>
              <a:lnSpc>
                <a:spcPct val="106469"/>
              </a:lnSpc>
              <a:spcAft>
                <a:spcPts val="0"/>
              </a:spcAft>
            </a:pPr>
            <a:r>
              <a:rPr sz="782" i="0">
                <a:solidFill>
                  <a:srgbClr val="5C6773"/>
                </a:solidFill>
                <a:latin typeface="Inconsolata"/>
              </a:rPr>
              <a:t>64  </a:t>
            </a:r>
            <a:r>
              <a:rPr sz="782" i="0">
                <a:solidFill>
                  <a:srgbClr val="E6EDF3"/>
                </a:solidFill>
                <a:latin typeface="Inconsolata"/>
              </a:rPr>
              <a:t>        keyboard = session.get(</a:t>
            </a:r>
            <a:r>
              <a:rPr sz="782" i="0">
                <a:solidFill>
                  <a:srgbClr val="7FDBCA"/>
                </a:solidFill>
                <a:latin typeface="Inconsolata"/>
              </a:rPr>
              <a:t>ProductRecord</a:t>
            </a:r>
            <a:r>
              <a:rPr sz="782" i="0">
                <a:solidFill>
                  <a:srgbClr val="E6EDF3"/>
                </a:solidFill>
                <a:latin typeface="Inconsolata"/>
              </a:rPr>
              <a:t>, </a:t>
            </a:r>
            <a:r>
              <a:rPr sz="782" i="0">
                <a:solidFill>
                  <a:srgbClr val="F9C97A"/>
                </a:solidFill>
                <a:latin typeface="Inconsolata"/>
              </a:rPr>
              <a:t>1</a:t>
            </a:r>
            <a:r>
              <a:rPr sz="782" i="0">
                <a:solidFill>
                  <a:srgbClr val="E6EDF3"/>
                </a:solidFill>
                <a:latin typeface="Inconsolata"/>
              </a:rPr>
              <a:t>)</a:t>
            </a:r>
          </a:p>
          <a:p>
            <a:pPr>
              <a:lnSpc>
                <a:spcPct val="106469"/>
              </a:lnSpc>
              <a:spcAft>
                <a:spcPts val="0"/>
              </a:spcAft>
            </a:pPr>
            <a:r>
              <a:rPr sz="782" i="0">
                <a:solidFill>
                  <a:srgbClr val="5C6773"/>
                </a:solidFill>
                <a:latin typeface="Inconsolata"/>
              </a:rPr>
              <a:t>65  </a:t>
            </a:r>
            <a:r>
              <a:rPr sz="782" i="0">
                <a:solidFill>
                  <a:srgbClr val="E6EDF3"/>
                </a:solidFill>
                <a:latin typeface="Inconsolata"/>
              </a:rPr>
              <a:t>        </a:t>
            </a:r>
            <a:r>
              <a:rPr sz="782" i="0">
                <a:solidFill>
                  <a:srgbClr val="C3A6FF"/>
                </a:solidFill>
                <a:latin typeface="Inconsolata"/>
              </a:rPr>
              <a:t>print</a:t>
            </a:r>
            <a:r>
              <a:rPr sz="782" i="0">
                <a:solidFill>
                  <a:srgbClr val="E6EDF3"/>
                </a:solidFill>
                <a:latin typeface="Inconsolata"/>
              </a:rPr>
              <a:t>(</a:t>
            </a:r>
            <a:r>
              <a:rPr sz="782" i="0">
                <a:solidFill>
                  <a:srgbClr val="A5D6A7"/>
                </a:solidFill>
                <a:latin typeface="Inconsolata"/>
              </a:rPr>
              <a:t>"Stok Keyboard:"</a:t>
            </a:r>
            <a:r>
              <a:rPr sz="782" i="0">
                <a:solidFill>
                  <a:srgbClr val="E6EDF3"/>
                </a:solidFill>
                <a:latin typeface="Inconsolata"/>
              </a:rPr>
              <a:t>, keyboard.stock)  </a:t>
            </a:r>
            <a:r>
              <a:rPr sz="782" i="1">
                <a:solidFill>
                  <a:srgbClr val="8B98A8"/>
                </a:solidFill>
                <a:latin typeface="Inconsolata"/>
              </a:rPr>
              <a:t># 3, harusnya 5</a:t>
            </a:r>
          </a:p>
          <a:p>
            <a:pPr>
              <a:lnSpc>
                <a:spcPct val="106469"/>
              </a:lnSpc>
              <a:spcAft>
                <a:spcPts val="0"/>
              </a:spcAft>
            </a:pPr>
            <a:r>
              <a:rPr sz="782" i="0">
                <a:solidFill>
                  <a:srgbClr val="5C6773"/>
                </a:solidFill>
                <a:latin typeface="Inconsolata"/>
              </a:rPr>
              <a:t>66  </a:t>
            </a:r>
            <a:r>
              <a:rPr sz="782" i="0">
                <a:solidFill>
                  <a:srgbClr val="E6EDF3"/>
                </a:solidFill>
                <a:latin typeface="Inconsolata"/>
              </a:rPr>
              <a:t>        orders = session.scalars(select(</a:t>
            </a:r>
            <a:r>
              <a:rPr sz="782" i="0">
                <a:solidFill>
                  <a:srgbClr val="7FDBCA"/>
                </a:solidFill>
                <a:latin typeface="Inconsolata"/>
              </a:rPr>
              <a:t>OrderRecord</a:t>
            </a:r>
            <a:r>
              <a:rPr sz="782" i="0">
                <a:solidFill>
                  <a:srgbClr val="E6EDF3"/>
                </a:solidFill>
                <a:latin typeface="Inconsolata"/>
              </a:rPr>
              <a:t>)).all()</a:t>
            </a:r>
          </a:p>
          <a:p>
            <a:pPr>
              <a:lnSpc>
                <a:spcPct val="106469"/>
              </a:lnSpc>
              <a:spcAft>
                <a:spcPts val="0"/>
              </a:spcAft>
            </a:pPr>
            <a:r>
              <a:rPr sz="782" i="0">
                <a:solidFill>
                  <a:srgbClr val="5C6773"/>
                </a:solidFill>
                <a:latin typeface="Inconsolata"/>
              </a:rPr>
              <a:t>67  </a:t>
            </a:r>
            <a:r>
              <a:rPr sz="782" i="0">
                <a:solidFill>
                  <a:srgbClr val="E6EDF3"/>
                </a:solidFill>
                <a:latin typeface="Inconsolata"/>
              </a:rPr>
              <a:t>        </a:t>
            </a:r>
            <a:r>
              <a:rPr sz="782" i="0">
                <a:solidFill>
                  <a:srgbClr val="C3A6FF"/>
                </a:solidFill>
                <a:latin typeface="Inconsolata"/>
              </a:rPr>
              <a:t>print</a:t>
            </a:r>
            <a:r>
              <a:rPr sz="782" i="0">
                <a:solidFill>
                  <a:srgbClr val="E6EDF3"/>
                </a:solidFill>
                <a:latin typeface="Inconsolata"/>
              </a:rPr>
              <a:t>(</a:t>
            </a:r>
            <a:r>
              <a:rPr sz="782" i="0">
                <a:solidFill>
                  <a:srgbClr val="A5D6A7"/>
                </a:solidFill>
                <a:latin typeface="Inconsolata"/>
              </a:rPr>
              <a:t>"Jumlah order:"</a:t>
            </a:r>
            <a:r>
              <a:rPr sz="782" i="0">
                <a:solidFill>
                  <a:srgbClr val="E6EDF3"/>
                </a:solidFill>
                <a:latin typeface="Inconsolata"/>
              </a:rPr>
              <a:t>, </a:t>
            </a:r>
            <a:r>
              <a:rPr sz="782" i="0">
                <a:solidFill>
                  <a:srgbClr val="C3A6FF"/>
                </a:solidFill>
                <a:latin typeface="Inconsolata"/>
              </a:rPr>
              <a:t>len</a:t>
            </a:r>
            <a:r>
              <a:rPr sz="782" i="0">
                <a:solidFill>
                  <a:srgbClr val="E6EDF3"/>
                </a:solidFill>
                <a:latin typeface="Inconsolata"/>
              </a:rPr>
              <a:t>(orders))  </a:t>
            </a:r>
            <a:r>
              <a:rPr sz="782" i="1">
                <a:solidFill>
                  <a:srgbClr val="8B98A8"/>
                </a:solidFill>
                <a:latin typeface="Inconsolata"/>
              </a:rPr>
              <a:t># 0</a:t>
            </a:r>
          </a:p>
        </p:txBody>
      </p:sp>
      <p:sp>
        <p:nvSpPr>
          <p:cNvPr id="36" name="Box 21"/>
          <p:cNvSpPr/>
          <p:nvPr/>
        </p:nvSpPr>
        <p:spPr>
          <a:xfrm>
            <a:off x="704088" y="1827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1831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8" name="Box 23"/>
          <p:cNvSpPr/>
          <p:nvPr/>
        </p:nvSpPr>
        <p:spPr>
          <a:xfrm>
            <a:off x="4709159" y="1954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1958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40" name="Box 25"/>
          <p:cNvSpPr/>
          <p:nvPr/>
        </p:nvSpPr>
        <p:spPr>
          <a:xfrm>
            <a:off x="4709159" y="2716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720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Transaction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07-transaction/before.py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sesi-04-modular-fastapi-orm-transactions/07-transaction</a:t>
            </a:r>
          </a:p>
          <a:p>
            <a:pPr>
              <a:lnSpc>
                <a:spcPct val="107527"/>
              </a:lnSpc>
              <a:spcAft>
                <a:spcPts val="0"/>
              </a:spcAft>
            </a:pPr>
            <a:r>
              <a:rPr sz="775" i="0">
                <a:solidFill>
                  <a:srgbClr val="82B1FF"/>
                </a:solidFill>
                <a:latin typeface="Inconsolata"/>
              </a:rPr>
              <a:t>$ python before.py</a:t>
            </a:r>
          </a:p>
        </p:txBody>
      </p:sp>
      <p:pic>
        <p:nvPicPr>
          <p:cNvPr id="29" name="Image 12" descr="s04-07-transaction-before.png"/>
          <p:cNvPicPr>
            <a:picLocks noChangeAspect="1"/>
          </p:cNvPicPr>
          <p:nvPr/>
        </p:nvPicPr>
        <p:blipFill>
          <a:blip r:embed="rId2"/>
          <a:stretch>
            <a:fillRect/>
          </a:stretch>
        </p:blipFill>
        <p:spPr>
          <a:xfrm>
            <a:off x="621792" y="2240280"/>
            <a:ext cx="4297680" cy="1280160"/>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Stok dikurangi lalu langsung di-commit, per item (baris 40-41)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Order disimpan paling akhir (baris 43-44)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Mouse cuma 1 tapi diminta 3: gagal di item kedua (baris 58-59)</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Stok Keyboard sudah berkurang jadi 3, padahal tidak ada order (baris 64-65)</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Transaction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Satu transaksi untuk semua langkah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07-transaction/after.py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8035"/>
              </a:lnSpc>
              <a:spcAft>
                <a:spcPts val="0"/>
              </a:spcAft>
            </a:pPr>
            <a:r>
              <a:rPr sz="771" i="0">
                <a:solidFill>
                  <a:srgbClr val="5C6773"/>
                </a:solidFill>
                <a:latin typeface="Inconsolata"/>
              </a:rPr>
              <a:t> 9  </a:t>
            </a:r>
            <a:r>
              <a:rPr sz="771" i="0">
                <a:solidFill>
                  <a:srgbClr val="FF8E6E"/>
                </a:solidFill>
                <a:latin typeface="Inconsolata"/>
              </a:rPr>
              <a:t>from</a:t>
            </a:r>
            <a:r>
              <a:rPr sz="771" i="0">
                <a:solidFill>
                  <a:srgbClr val="E6EDF3"/>
                </a:solidFill>
                <a:latin typeface="Inconsolata"/>
              </a:rPr>
              <a:t> sqlalchemy </a:t>
            </a:r>
            <a:r>
              <a:rPr sz="771" i="0">
                <a:solidFill>
                  <a:srgbClr val="FF8E6E"/>
                </a:solidFill>
                <a:latin typeface="Inconsolata"/>
              </a:rPr>
              <a:t>import</a:t>
            </a:r>
            <a:r>
              <a:rPr sz="771" i="0">
                <a:solidFill>
                  <a:srgbClr val="E6EDF3"/>
                </a:solidFill>
                <a:latin typeface="Inconsolata"/>
              </a:rPr>
              <a:t> </a:t>
            </a:r>
            <a:r>
              <a:rPr sz="771" i="0">
                <a:solidFill>
                  <a:srgbClr val="7FDBCA"/>
                </a:solidFill>
                <a:latin typeface="Inconsolata"/>
              </a:rPr>
              <a:t>String</a:t>
            </a:r>
            <a:r>
              <a:rPr sz="771" i="0">
                <a:solidFill>
                  <a:srgbClr val="E6EDF3"/>
                </a:solidFill>
                <a:latin typeface="Inconsolata"/>
              </a:rPr>
              <a:t>, create_engine, select</a:t>
            </a:r>
          </a:p>
          <a:p>
            <a:pPr>
              <a:lnSpc>
                <a:spcPct val="108035"/>
              </a:lnSpc>
              <a:spcAft>
                <a:spcPts val="0"/>
              </a:spcAft>
            </a:pPr>
            <a:r>
              <a:rPr sz="771" i="0">
                <a:solidFill>
                  <a:srgbClr val="5C6773"/>
                </a:solidFill>
                <a:latin typeface="Inconsolata"/>
              </a:rPr>
              <a:t>10  </a:t>
            </a:r>
            <a:r>
              <a:rPr sz="771" i="0">
                <a:solidFill>
                  <a:srgbClr val="FF8E6E"/>
                </a:solidFill>
                <a:latin typeface="Inconsolata"/>
              </a:rPr>
              <a:t>from</a:t>
            </a:r>
            <a:r>
              <a:rPr sz="771" i="0">
                <a:solidFill>
                  <a:srgbClr val="E6EDF3"/>
                </a:solidFill>
                <a:latin typeface="Inconsolata"/>
              </a:rPr>
              <a:t> sqlalchemy.orm </a:t>
            </a:r>
            <a:r>
              <a:rPr sz="771" i="0">
                <a:solidFill>
                  <a:srgbClr val="FF8E6E"/>
                </a:solidFill>
                <a:latin typeface="Inconsolata"/>
              </a:rPr>
              <a:t>import</a:t>
            </a:r>
            <a:r>
              <a:rPr sz="771" i="0">
                <a:solidFill>
                  <a:srgbClr val="E6EDF3"/>
                </a:solidFill>
                <a:latin typeface="Inconsolata"/>
              </a:rPr>
              <a:t> (</a:t>
            </a:r>
          </a:p>
          <a:p>
            <a:pPr>
              <a:lnSpc>
                <a:spcPct val="108035"/>
              </a:lnSpc>
              <a:spcAft>
                <a:spcPts val="0"/>
              </a:spcAft>
            </a:pPr>
            <a:r>
              <a:rPr sz="771" i="0">
                <a:solidFill>
                  <a:srgbClr val="5C6773"/>
                </a:solidFill>
                <a:latin typeface="Inconsolata"/>
              </a:rPr>
              <a:t>11  </a:t>
            </a:r>
            <a:r>
              <a:rPr sz="771" i="0">
                <a:solidFill>
                  <a:srgbClr val="E6EDF3"/>
                </a:solidFill>
                <a:latin typeface="Inconsolata"/>
              </a:rPr>
              <a:t>    </a:t>
            </a:r>
            <a:r>
              <a:rPr sz="771" i="0">
                <a:solidFill>
                  <a:srgbClr val="7FDBCA"/>
                </a:solidFill>
                <a:latin typeface="Inconsolata"/>
              </a:rPr>
              <a:t>DeclarativeBase</a:t>
            </a:r>
            <a:r>
              <a:rPr sz="771" i="0">
                <a:solidFill>
                  <a:srgbClr val="E6EDF3"/>
                </a:solidFill>
                <a:latin typeface="Inconsolata"/>
              </a:rPr>
              <a:t>, </a:t>
            </a:r>
            <a:r>
              <a:rPr sz="771" i="0">
                <a:solidFill>
                  <a:srgbClr val="7FDBCA"/>
                </a:solidFill>
                <a:latin typeface="Inconsolata"/>
              </a:rPr>
              <a:t>Mapped</a:t>
            </a:r>
            <a:r>
              <a:rPr sz="771" i="0">
                <a:solidFill>
                  <a:srgbClr val="E6EDF3"/>
                </a:solidFill>
                <a:latin typeface="Inconsolata"/>
              </a:rPr>
              <a:t>, </a:t>
            </a:r>
            <a:r>
              <a:rPr sz="771" i="0">
                <a:solidFill>
                  <a:srgbClr val="7FDBCA"/>
                </a:solidFill>
                <a:latin typeface="Inconsolata"/>
              </a:rPr>
              <a:t>Session</a:t>
            </a:r>
            <a:r>
              <a:rPr sz="771" i="0">
                <a:solidFill>
                  <a:srgbClr val="E6EDF3"/>
                </a:solidFill>
                <a:latin typeface="Inconsolata"/>
              </a:rPr>
              <a:t>, mapped_column,</a:t>
            </a:r>
          </a:p>
          <a:p>
            <a:pPr>
              <a:lnSpc>
                <a:spcPct val="108035"/>
              </a:lnSpc>
              <a:spcAft>
                <a:spcPts val="0"/>
              </a:spcAft>
            </a:pPr>
            <a:r>
              <a:rPr sz="771" i="0">
                <a:solidFill>
                  <a:srgbClr val="5C6773"/>
                </a:solidFill>
                <a:latin typeface="Inconsolata"/>
              </a:rPr>
              <a:t>12  </a:t>
            </a:r>
            <a:r>
              <a:rPr sz="771" i="0">
                <a:solidFill>
                  <a:srgbClr val="E6EDF3"/>
                </a:solidFill>
                <a:latin typeface="Inconsolata"/>
              </a:rPr>
              <a:t>)</a:t>
            </a:r>
          </a:p>
          <a:p>
            <a:pPr>
              <a:lnSpc>
                <a:spcPct val="108035"/>
              </a:lnSpc>
              <a:spcAft>
                <a:spcPts val="0"/>
              </a:spcAft>
            </a:pPr>
            <a:r>
              <a:rPr sz="771" i="0">
                <a:solidFill>
                  <a:srgbClr val="5C6773"/>
                </a:solidFill>
                <a:latin typeface="Inconsolata"/>
              </a:rPr>
              <a:t>13  </a:t>
            </a:r>
            <a:r>
              <a:rPr sz="771" i="0">
                <a:solidFill>
                  <a:srgbClr val="E6EDF3"/>
                </a:solidFill>
                <a:latin typeface="Inconsolata"/>
              </a:rPr>
              <a:t> </a:t>
            </a:r>
          </a:p>
          <a:p>
            <a:pPr>
              <a:lnSpc>
                <a:spcPct val="108035"/>
              </a:lnSpc>
              <a:spcAft>
                <a:spcPts val="0"/>
              </a:spcAft>
            </a:pPr>
            <a:r>
              <a:rPr sz="771" i="0">
                <a:solidFill>
                  <a:srgbClr val="5C6773"/>
                </a:solidFill>
                <a:latin typeface="Inconsolata"/>
              </a:rPr>
              <a:t>14  </a:t>
            </a:r>
            <a:r>
              <a:rPr sz="771" i="0">
                <a:solidFill>
                  <a:srgbClr val="E6EDF3"/>
                </a:solidFill>
                <a:latin typeface="Inconsolata"/>
              </a:rPr>
              <a:t> </a:t>
            </a:r>
          </a:p>
          <a:p>
            <a:pPr>
              <a:lnSpc>
                <a:spcPct val="108035"/>
              </a:lnSpc>
              <a:spcAft>
                <a:spcPts val="0"/>
              </a:spcAft>
            </a:pPr>
            <a:r>
              <a:rPr sz="771" i="0">
                <a:solidFill>
                  <a:srgbClr val="5C6773"/>
                </a:solidFill>
                <a:latin typeface="Inconsolata"/>
              </a:rPr>
              <a:t>15  </a:t>
            </a:r>
            <a:r>
              <a:rPr sz="771" i="0">
                <a:solidFill>
                  <a:srgbClr val="FF8E6E"/>
                </a:solidFill>
                <a:latin typeface="Inconsolata"/>
              </a:rPr>
              <a:t>class</a:t>
            </a:r>
            <a:r>
              <a:rPr sz="771" i="0">
                <a:solidFill>
                  <a:srgbClr val="E6EDF3"/>
                </a:solidFill>
                <a:latin typeface="Inconsolata"/>
              </a:rPr>
              <a:t> </a:t>
            </a:r>
            <a:r>
              <a:rPr sz="771" i="0">
                <a:solidFill>
                  <a:srgbClr val="7FDBCA"/>
                </a:solidFill>
                <a:latin typeface="Inconsolata"/>
              </a:rPr>
              <a:t>Base</a:t>
            </a:r>
            <a:r>
              <a:rPr sz="771" i="0">
                <a:solidFill>
                  <a:srgbClr val="E6EDF3"/>
                </a:solidFill>
                <a:latin typeface="Inconsolata"/>
              </a:rPr>
              <a:t>(</a:t>
            </a:r>
            <a:r>
              <a:rPr sz="771" i="0">
                <a:solidFill>
                  <a:srgbClr val="7FDBCA"/>
                </a:solidFill>
                <a:latin typeface="Inconsolata"/>
              </a:rPr>
              <a:t>DeclarativeBase</a:t>
            </a:r>
            <a:r>
              <a:rPr sz="771" i="0">
                <a:solidFill>
                  <a:srgbClr val="E6EDF3"/>
                </a:solidFill>
                <a:latin typeface="Inconsolata"/>
              </a:rPr>
              <a:t>):</a:t>
            </a:r>
          </a:p>
          <a:p>
            <a:pPr>
              <a:lnSpc>
                <a:spcPct val="108035"/>
              </a:lnSpc>
              <a:spcAft>
                <a:spcPts val="0"/>
              </a:spcAft>
            </a:pPr>
            <a:r>
              <a:rPr sz="771" i="0">
                <a:solidFill>
                  <a:srgbClr val="5C6773"/>
                </a:solidFill>
                <a:latin typeface="Inconsolata"/>
              </a:rPr>
              <a:t>16  </a:t>
            </a:r>
            <a:r>
              <a:rPr sz="771" i="0">
                <a:solidFill>
                  <a:srgbClr val="E6EDF3"/>
                </a:solidFill>
                <a:latin typeface="Inconsolata"/>
              </a:rPr>
              <a:t>    </a:t>
            </a:r>
            <a:r>
              <a:rPr sz="771" i="0">
                <a:solidFill>
                  <a:srgbClr val="FF8E6E"/>
                </a:solidFill>
                <a:latin typeface="Inconsolata"/>
              </a:rPr>
              <a:t>pass</a:t>
            </a:r>
          </a:p>
          <a:p>
            <a:pPr>
              <a:lnSpc>
                <a:spcPct val="108035"/>
              </a:lnSpc>
              <a:spcAft>
                <a:spcPts val="0"/>
              </a:spcAft>
            </a:pPr>
            <a:r>
              <a:rPr sz="771" i="0">
                <a:solidFill>
                  <a:srgbClr val="5C6773"/>
                </a:solidFill>
                <a:latin typeface="Inconsolata"/>
              </a:rPr>
              <a:t>17  </a:t>
            </a:r>
            <a:r>
              <a:rPr sz="771" i="0">
                <a:solidFill>
                  <a:srgbClr val="E6EDF3"/>
                </a:solidFill>
                <a:latin typeface="Inconsolata"/>
              </a:rPr>
              <a:t> </a:t>
            </a:r>
          </a:p>
          <a:p>
            <a:pPr>
              <a:lnSpc>
                <a:spcPct val="108035"/>
              </a:lnSpc>
              <a:spcAft>
                <a:spcPts val="0"/>
              </a:spcAft>
            </a:pPr>
            <a:r>
              <a:rPr sz="771" i="0">
                <a:solidFill>
                  <a:srgbClr val="5C6773"/>
                </a:solidFill>
                <a:latin typeface="Inconsolata"/>
              </a:rPr>
              <a:t>18  </a:t>
            </a:r>
            <a:r>
              <a:rPr sz="771" i="0">
                <a:solidFill>
                  <a:srgbClr val="E6EDF3"/>
                </a:solidFill>
                <a:latin typeface="Inconsolata"/>
              </a:rPr>
              <a:t> </a:t>
            </a:r>
          </a:p>
          <a:p>
            <a:pPr>
              <a:lnSpc>
                <a:spcPct val="108035"/>
              </a:lnSpc>
              <a:spcAft>
                <a:spcPts val="0"/>
              </a:spcAft>
            </a:pPr>
            <a:r>
              <a:rPr sz="771" i="0">
                <a:solidFill>
                  <a:srgbClr val="5C6773"/>
                </a:solidFill>
                <a:latin typeface="Inconsolata"/>
              </a:rPr>
              <a:t>19  </a:t>
            </a:r>
            <a:r>
              <a:rPr sz="771" i="0">
                <a:solidFill>
                  <a:srgbClr val="FF8E6E"/>
                </a:solidFill>
                <a:latin typeface="Inconsolata"/>
              </a:rPr>
              <a:t>class</a:t>
            </a:r>
            <a:r>
              <a:rPr sz="771" i="0">
                <a:solidFill>
                  <a:srgbClr val="E6EDF3"/>
                </a:solidFill>
                <a:latin typeface="Inconsolata"/>
              </a:rPr>
              <a:t> </a:t>
            </a:r>
            <a:r>
              <a:rPr sz="771" i="0">
                <a:solidFill>
                  <a:srgbClr val="7FDBCA"/>
                </a:solidFill>
                <a:latin typeface="Inconsolata"/>
              </a:rPr>
              <a:t>ProductRecord</a:t>
            </a:r>
            <a:r>
              <a:rPr sz="771" i="0">
                <a:solidFill>
                  <a:srgbClr val="E6EDF3"/>
                </a:solidFill>
                <a:latin typeface="Inconsolata"/>
              </a:rPr>
              <a:t>(</a:t>
            </a:r>
            <a:r>
              <a:rPr sz="771" i="0">
                <a:solidFill>
                  <a:srgbClr val="7FDBCA"/>
                </a:solidFill>
                <a:latin typeface="Inconsolata"/>
              </a:rPr>
              <a:t>Base</a:t>
            </a:r>
            <a:r>
              <a:rPr sz="771" i="0">
                <a:solidFill>
                  <a:srgbClr val="E6EDF3"/>
                </a:solidFill>
                <a:latin typeface="Inconsolata"/>
              </a:rPr>
              <a:t>):</a:t>
            </a:r>
          </a:p>
          <a:p>
            <a:pPr>
              <a:lnSpc>
                <a:spcPct val="108035"/>
              </a:lnSpc>
              <a:spcAft>
                <a:spcPts val="0"/>
              </a:spcAft>
            </a:pPr>
            <a:r>
              <a:rPr sz="771" i="0">
                <a:solidFill>
                  <a:srgbClr val="5C6773"/>
                </a:solidFill>
                <a:latin typeface="Inconsolata"/>
              </a:rPr>
              <a:t>20  </a:t>
            </a:r>
            <a:r>
              <a:rPr sz="771" i="0">
                <a:solidFill>
                  <a:srgbClr val="E6EDF3"/>
                </a:solidFill>
                <a:latin typeface="Inconsolata"/>
              </a:rPr>
              <a:t>    __tablename__ = </a:t>
            </a:r>
            <a:r>
              <a:rPr sz="771" i="0">
                <a:solidFill>
                  <a:srgbClr val="A5D6A7"/>
                </a:solidFill>
                <a:latin typeface="Inconsolata"/>
              </a:rPr>
              <a:t>"products"</a:t>
            </a:r>
          </a:p>
          <a:p>
            <a:pPr>
              <a:lnSpc>
                <a:spcPct val="108035"/>
              </a:lnSpc>
              <a:spcAft>
                <a:spcPts val="0"/>
              </a:spcAft>
            </a:pPr>
            <a:r>
              <a:rPr sz="771" i="0">
                <a:solidFill>
                  <a:srgbClr val="5C6773"/>
                </a:solidFill>
                <a:latin typeface="Inconsolata"/>
              </a:rPr>
              <a:t>21  </a:t>
            </a:r>
            <a:r>
              <a:rPr sz="771" i="0">
                <a:solidFill>
                  <a:srgbClr val="E6EDF3"/>
                </a:solidFill>
                <a:latin typeface="Inconsolata"/>
              </a:rPr>
              <a:t>    id: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int</a:t>
            </a:r>
            <a:r>
              <a:rPr sz="771" i="0">
                <a:solidFill>
                  <a:srgbClr val="E6EDF3"/>
                </a:solidFill>
                <a:latin typeface="Inconsolata"/>
              </a:rPr>
              <a:t>] = mapped_column(primary_key=</a:t>
            </a:r>
            <a:r>
              <a:rPr sz="771" i="0">
                <a:solidFill>
                  <a:srgbClr val="FF8E6E"/>
                </a:solidFill>
                <a:latin typeface="Inconsolata"/>
              </a:rPr>
              <a:t>True</a:t>
            </a:r>
            <a:r>
              <a:rPr sz="771" i="0">
                <a:solidFill>
                  <a:srgbClr val="E6EDF3"/>
                </a:solidFill>
                <a:latin typeface="Inconsolata"/>
              </a:rPr>
              <a:t>)</a:t>
            </a:r>
          </a:p>
          <a:p>
            <a:pPr>
              <a:lnSpc>
                <a:spcPct val="108035"/>
              </a:lnSpc>
              <a:spcAft>
                <a:spcPts val="0"/>
              </a:spcAft>
            </a:pPr>
            <a:r>
              <a:rPr sz="771" i="0">
                <a:solidFill>
                  <a:srgbClr val="5C6773"/>
                </a:solidFill>
                <a:latin typeface="Inconsolata"/>
              </a:rPr>
              <a:t>22  </a:t>
            </a:r>
            <a:r>
              <a:rPr sz="771" i="0">
                <a:solidFill>
                  <a:srgbClr val="E6EDF3"/>
                </a:solidFill>
                <a:latin typeface="Inconsolata"/>
              </a:rPr>
              <a:t>    name: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str</a:t>
            </a:r>
            <a:r>
              <a:rPr sz="771" i="0">
                <a:solidFill>
                  <a:srgbClr val="E6EDF3"/>
                </a:solidFill>
                <a:latin typeface="Inconsolata"/>
              </a:rPr>
              <a:t>] = mapped_column(</a:t>
            </a:r>
            <a:r>
              <a:rPr sz="771" i="0">
                <a:solidFill>
                  <a:srgbClr val="7FDBCA"/>
                </a:solidFill>
                <a:latin typeface="Inconsolata"/>
              </a:rPr>
              <a:t>String</a:t>
            </a:r>
            <a:r>
              <a:rPr sz="771" i="0">
                <a:solidFill>
                  <a:srgbClr val="E6EDF3"/>
                </a:solidFill>
                <a:latin typeface="Inconsolata"/>
              </a:rPr>
              <a:t>(</a:t>
            </a:r>
            <a:r>
              <a:rPr sz="771" i="0">
                <a:solidFill>
                  <a:srgbClr val="F9C97A"/>
                </a:solidFill>
                <a:latin typeface="Inconsolata"/>
              </a:rPr>
              <a:t>100</a:t>
            </a:r>
            <a:r>
              <a:rPr sz="771" i="0">
                <a:solidFill>
                  <a:srgbClr val="E6EDF3"/>
                </a:solidFill>
                <a:latin typeface="Inconsolata"/>
              </a:rPr>
              <a:t>))</a:t>
            </a:r>
          </a:p>
          <a:p>
            <a:pPr>
              <a:lnSpc>
                <a:spcPct val="108035"/>
              </a:lnSpc>
              <a:spcAft>
                <a:spcPts val="0"/>
              </a:spcAft>
            </a:pPr>
            <a:r>
              <a:rPr sz="771" i="0">
                <a:solidFill>
                  <a:srgbClr val="5C6773"/>
                </a:solidFill>
                <a:latin typeface="Inconsolata"/>
              </a:rPr>
              <a:t>23  </a:t>
            </a:r>
            <a:r>
              <a:rPr sz="771" i="0">
                <a:solidFill>
                  <a:srgbClr val="E6EDF3"/>
                </a:solidFill>
                <a:latin typeface="Inconsolata"/>
              </a:rPr>
              <a:t>    stock: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int</a:t>
            </a:r>
            <a:r>
              <a:rPr sz="771"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07-transaction/after.py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8035"/>
              </a:lnSpc>
              <a:spcAft>
                <a:spcPts val="0"/>
              </a:spcAft>
            </a:pPr>
            <a:r>
              <a:rPr sz="771" i="0">
                <a:solidFill>
                  <a:srgbClr val="5C6773"/>
                </a:solidFill>
                <a:latin typeface="Inconsolata"/>
              </a:rPr>
              <a:t>26  </a:t>
            </a:r>
            <a:r>
              <a:rPr sz="771" i="0">
                <a:solidFill>
                  <a:srgbClr val="FF8E6E"/>
                </a:solidFill>
                <a:latin typeface="Inconsolata"/>
              </a:rPr>
              <a:t>class</a:t>
            </a:r>
            <a:r>
              <a:rPr sz="771" i="0">
                <a:solidFill>
                  <a:srgbClr val="E6EDF3"/>
                </a:solidFill>
                <a:latin typeface="Inconsolata"/>
              </a:rPr>
              <a:t> </a:t>
            </a:r>
            <a:r>
              <a:rPr sz="771" i="0">
                <a:solidFill>
                  <a:srgbClr val="7FDBCA"/>
                </a:solidFill>
                <a:latin typeface="Inconsolata"/>
              </a:rPr>
              <a:t>OrderRecord</a:t>
            </a:r>
            <a:r>
              <a:rPr sz="771" i="0">
                <a:solidFill>
                  <a:srgbClr val="E6EDF3"/>
                </a:solidFill>
                <a:latin typeface="Inconsolata"/>
              </a:rPr>
              <a:t>(</a:t>
            </a:r>
            <a:r>
              <a:rPr sz="771" i="0">
                <a:solidFill>
                  <a:srgbClr val="7FDBCA"/>
                </a:solidFill>
                <a:latin typeface="Inconsolata"/>
              </a:rPr>
              <a:t>Base</a:t>
            </a:r>
            <a:r>
              <a:rPr sz="771" i="0">
                <a:solidFill>
                  <a:srgbClr val="E6EDF3"/>
                </a:solidFill>
                <a:latin typeface="Inconsolata"/>
              </a:rPr>
              <a:t>):</a:t>
            </a:r>
          </a:p>
          <a:p>
            <a:pPr>
              <a:lnSpc>
                <a:spcPct val="108035"/>
              </a:lnSpc>
              <a:spcAft>
                <a:spcPts val="0"/>
              </a:spcAft>
            </a:pPr>
            <a:r>
              <a:rPr sz="771" i="0">
                <a:solidFill>
                  <a:srgbClr val="5C6773"/>
                </a:solidFill>
                <a:latin typeface="Inconsolata"/>
              </a:rPr>
              <a:t>27  </a:t>
            </a:r>
            <a:r>
              <a:rPr sz="771" i="0">
                <a:solidFill>
                  <a:srgbClr val="E6EDF3"/>
                </a:solidFill>
                <a:latin typeface="Inconsolata"/>
              </a:rPr>
              <a:t>    __tablename__ = </a:t>
            </a:r>
            <a:r>
              <a:rPr sz="771" i="0">
                <a:solidFill>
                  <a:srgbClr val="A5D6A7"/>
                </a:solidFill>
                <a:latin typeface="Inconsolata"/>
              </a:rPr>
              <a:t>"orders"</a:t>
            </a:r>
          </a:p>
          <a:p>
            <a:pPr>
              <a:lnSpc>
                <a:spcPct val="108035"/>
              </a:lnSpc>
              <a:spcAft>
                <a:spcPts val="0"/>
              </a:spcAft>
            </a:pPr>
            <a:r>
              <a:rPr sz="771" i="0">
                <a:solidFill>
                  <a:srgbClr val="5C6773"/>
                </a:solidFill>
                <a:latin typeface="Inconsolata"/>
              </a:rPr>
              <a:t>28  </a:t>
            </a:r>
            <a:r>
              <a:rPr sz="771" i="0">
                <a:solidFill>
                  <a:srgbClr val="E6EDF3"/>
                </a:solidFill>
                <a:latin typeface="Inconsolata"/>
              </a:rPr>
              <a:t>    id: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int</a:t>
            </a:r>
            <a:r>
              <a:rPr sz="771" i="0">
                <a:solidFill>
                  <a:srgbClr val="E6EDF3"/>
                </a:solidFill>
                <a:latin typeface="Inconsolata"/>
              </a:rPr>
              <a:t>] = mapped_column(primary_key=</a:t>
            </a:r>
            <a:r>
              <a:rPr sz="771" i="0">
                <a:solidFill>
                  <a:srgbClr val="FF8E6E"/>
                </a:solidFill>
                <a:latin typeface="Inconsolata"/>
              </a:rPr>
              <a:t>True</a:t>
            </a:r>
            <a:r>
              <a:rPr sz="771" i="0">
                <a:solidFill>
                  <a:srgbClr val="E6EDF3"/>
                </a:solidFill>
                <a:latin typeface="Inconsolata"/>
              </a:rPr>
              <a:t>)</a:t>
            </a:r>
          </a:p>
          <a:p>
            <a:pPr>
              <a:lnSpc>
                <a:spcPct val="108035"/>
              </a:lnSpc>
              <a:spcAft>
                <a:spcPts val="0"/>
              </a:spcAft>
            </a:pPr>
            <a:r>
              <a:rPr sz="771" i="0">
                <a:solidFill>
                  <a:srgbClr val="5C6773"/>
                </a:solidFill>
                <a:latin typeface="Inconsolata"/>
              </a:rPr>
              <a:t>29  </a:t>
            </a:r>
            <a:r>
              <a:rPr sz="771" i="0">
                <a:solidFill>
                  <a:srgbClr val="E6EDF3"/>
                </a:solidFill>
                <a:latin typeface="Inconsolata"/>
              </a:rPr>
              <a:t>    customer: </a:t>
            </a:r>
            <a:r>
              <a:rPr sz="771" i="0">
                <a:solidFill>
                  <a:srgbClr val="7FDBCA"/>
                </a:solidFill>
                <a:latin typeface="Inconsolata"/>
              </a:rPr>
              <a:t>Mapped</a:t>
            </a:r>
            <a:r>
              <a:rPr sz="771" i="0">
                <a:solidFill>
                  <a:srgbClr val="E6EDF3"/>
                </a:solidFill>
                <a:latin typeface="Inconsolata"/>
              </a:rPr>
              <a:t>[</a:t>
            </a:r>
            <a:r>
              <a:rPr sz="771" i="0">
                <a:solidFill>
                  <a:srgbClr val="C3A6FF"/>
                </a:solidFill>
                <a:latin typeface="Inconsolata"/>
              </a:rPr>
              <a:t>str</a:t>
            </a:r>
            <a:r>
              <a:rPr sz="771" i="0">
                <a:solidFill>
                  <a:srgbClr val="E6EDF3"/>
                </a:solidFill>
                <a:latin typeface="Inconsolata"/>
              </a:rPr>
              <a:t>] = mapped_column(</a:t>
            </a:r>
            <a:r>
              <a:rPr sz="771" i="0">
                <a:solidFill>
                  <a:srgbClr val="7FDBCA"/>
                </a:solidFill>
                <a:latin typeface="Inconsolata"/>
              </a:rPr>
              <a:t>String</a:t>
            </a:r>
            <a:r>
              <a:rPr sz="771" i="0">
                <a:solidFill>
                  <a:srgbClr val="E6EDF3"/>
                </a:solidFill>
                <a:latin typeface="Inconsolata"/>
              </a:rPr>
              <a:t>(</a:t>
            </a:r>
            <a:r>
              <a:rPr sz="771" i="0">
                <a:solidFill>
                  <a:srgbClr val="F9C97A"/>
                </a:solidFill>
                <a:latin typeface="Inconsolata"/>
              </a:rPr>
              <a:t>100</a:t>
            </a:r>
            <a:r>
              <a:rPr sz="771" i="0">
                <a:solidFill>
                  <a:srgbClr val="E6EDF3"/>
                </a:solidFill>
                <a:latin typeface="Inconsolata"/>
              </a:rPr>
              <a:t>))</a:t>
            </a:r>
          </a:p>
          <a:p>
            <a:pPr>
              <a:lnSpc>
                <a:spcPct val="108035"/>
              </a:lnSpc>
              <a:spcAft>
                <a:spcPts val="0"/>
              </a:spcAft>
            </a:pPr>
            <a:r>
              <a:rPr sz="771" i="0">
                <a:solidFill>
                  <a:srgbClr val="5C6773"/>
                </a:solidFill>
                <a:latin typeface="Inconsolata"/>
              </a:rPr>
              <a:t>30  </a:t>
            </a:r>
            <a:r>
              <a:rPr sz="771" i="0">
                <a:solidFill>
                  <a:srgbClr val="E6EDF3"/>
                </a:solidFill>
                <a:latin typeface="Inconsolata"/>
              </a:rPr>
              <a:t> </a:t>
            </a:r>
          </a:p>
          <a:p>
            <a:pPr>
              <a:lnSpc>
                <a:spcPct val="108035"/>
              </a:lnSpc>
              <a:spcAft>
                <a:spcPts val="0"/>
              </a:spcAft>
            </a:pPr>
            <a:r>
              <a:rPr sz="771" i="0">
                <a:solidFill>
                  <a:srgbClr val="5C6773"/>
                </a:solidFill>
                <a:latin typeface="Inconsolata"/>
              </a:rPr>
              <a:t>31  </a:t>
            </a:r>
            <a:r>
              <a:rPr sz="771" i="0">
                <a:solidFill>
                  <a:srgbClr val="E6EDF3"/>
                </a:solidFill>
                <a:latin typeface="Inconsolata"/>
              </a:rPr>
              <a:t> </a:t>
            </a:r>
          </a:p>
          <a:p>
            <a:pPr>
              <a:lnSpc>
                <a:spcPct val="108035"/>
              </a:lnSpc>
              <a:spcAft>
                <a:spcPts val="0"/>
              </a:spcAft>
            </a:pPr>
            <a:r>
              <a:rPr sz="771" i="0">
                <a:solidFill>
                  <a:srgbClr val="5C6773"/>
                </a:solidFill>
                <a:latin typeface="Inconsolata"/>
              </a:rPr>
              <a:t>32  </a:t>
            </a:r>
            <a:r>
              <a:rPr sz="771" i="0">
                <a:solidFill>
                  <a:srgbClr val="FF8E6E"/>
                </a:solidFill>
                <a:latin typeface="Inconsolata"/>
              </a:rPr>
              <a:t>def</a:t>
            </a:r>
            <a:r>
              <a:rPr sz="771" i="0">
                <a:solidFill>
                  <a:srgbClr val="E6EDF3"/>
                </a:solidFill>
                <a:latin typeface="Inconsolata"/>
              </a:rPr>
              <a:t> </a:t>
            </a:r>
            <a:r>
              <a:rPr sz="771" i="0">
                <a:solidFill>
                  <a:srgbClr val="82B1FF"/>
                </a:solidFill>
                <a:latin typeface="Inconsolata"/>
              </a:rPr>
              <a:t>place_order</a:t>
            </a:r>
            <a:r>
              <a:rPr sz="771" i="0">
                <a:solidFill>
                  <a:srgbClr val="E6EDF3"/>
                </a:solidFill>
                <a:latin typeface="Inconsolata"/>
              </a:rPr>
              <a:t>(</a:t>
            </a:r>
          </a:p>
          <a:p>
            <a:pPr>
              <a:lnSpc>
                <a:spcPct val="108035"/>
              </a:lnSpc>
              <a:spcAft>
                <a:spcPts val="0"/>
              </a:spcAft>
            </a:pPr>
            <a:r>
              <a:rPr sz="771" i="0">
                <a:solidFill>
                  <a:srgbClr val="5C6773"/>
                </a:solidFill>
                <a:latin typeface="Inconsolata"/>
              </a:rPr>
              <a:t>33  </a:t>
            </a:r>
            <a:r>
              <a:rPr sz="771" i="0">
                <a:solidFill>
                  <a:srgbClr val="E6EDF3"/>
                </a:solidFill>
                <a:latin typeface="Inconsolata"/>
              </a:rPr>
              <a:t>    session: </a:t>
            </a:r>
            <a:r>
              <a:rPr sz="771" i="0">
                <a:solidFill>
                  <a:srgbClr val="7FDBCA"/>
                </a:solidFill>
                <a:latin typeface="Inconsolata"/>
              </a:rPr>
              <a:t>Session</a:t>
            </a:r>
            <a:r>
              <a:rPr sz="771" i="0">
                <a:solidFill>
                  <a:srgbClr val="E6EDF3"/>
                </a:solidFill>
                <a:latin typeface="Inconsolata"/>
              </a:rPr>
              <a:t>, customer: </a:t>
            </a:r>
            <a:r>
              <a:rPr sz="771" i="0">
                <a:solidFill>
                  <a:srgbClr val="C3A6FF"/>
                </a:solidFill>
                <a:latin typeface="Inconsolata"/>
              </a:rPr>
              <a:t>str</a:t>
            </a:r>
            <a:r>
              <a:rPr sz="771" i="0">
                <a:solidFill>
                  <a:srgbClr val="E6EDF3"/>
                </a:solidFill>
                <a:latin typeface="Inconsolata"/>
              </a:rPr>
              <a:t>, items: </a:t>
            </a:r>
            <a:r>
              <a:rPr sz="771" i="0">
                <a:solidFill>
                  <a:srgbClr val="C3A6FF"/>
                </a:solidFill>
                <a:latin typeface="Inconsolata"/>
              </a:rPr>
              <a:t>list</a:t>
            </a:r>
            <a:r>
              <a:rPr sz="771" i="0">
                <a:solidFill>
                  <a:srgbClr val="E6EDF3"/>
                </a:solidFill>
                <a:latin typeface="Inconsolata"/>
              </a:rPr>
              <a:t>[</a:t>
            </a:r>
            <a:r>
              <a:rPr sz="771" i="0">
                <a:solidFill>
                  <a:srgbClr val="C3A6FF"/>
                </a:solidFill>
                <a:latin typeface="Inconsolata"/>
              </a:rPr>
              <a:t>tuple</a:t>
            </a:r>
            <a:r>
              <a:rPr sz="771" i="0">
                <a:solidFill>
                  <a:srgbClr val="E6EDF3"/>
                </a:solidFill>
                <a:latin typeface="Inconsolata"/>
              </a:rPr>
              <a:t>[</a:t>
            </a:r>
            <a:r>
              <a:rPr sz="771" i="0">
                <a:solidFill>
                  <a:srgbClr val="C3A6FF"/>
                </a:solidFill>
                <a:latin typeface="Inconsolata"/>
              </a:rPr>
              <a:t>int</a:t>
            </a:r>
            <a:r>
              <a:rPr sz="771" i="0">
                <a:solidFill>
                  <a:srgbClr val="E6EDF3"/>
                </a:solidFill>
                <a:latin typeface="Inconsolata"/>
              </a:rPr>
              <a:t>, </a:t>
            </a:r>
            <a:r>
              <a:rPr sz="771" i="0">
                <a:solidFill>
                  <a:srgbClr val="C3A6FF"/>
                </a:solidFill>
                <a:latin typeface="Inconsolata"/>
              </a:rPr>
              <a:t>int</a:t>
            </a:r>
            <a:r>
              <a:rPr sz="771" i="0">
                <a:solidFill>
                  <a:srgbClr val="E6EDF3"/>
                </a:solidFill>
                <a:latin typeface="Inconsolata"/>
              </a:rPr>
              <a:t>]]</a:t>
            </a:r>
          </a:p>
          <a:p>
            <a:pPr>
              <a:lnSpc>
                <a:spcPct val="108035"/>
              </a:lnSpc>
              <a:spcAft>
                <a:spcPts val="0"/>
              </a:spcAft>
            </a:pPr>
            <a:r>
              <a:rPr sz="771" i="0">
                <a:solidFill>
                  <a:srgbClr val="5C6773"/>
                </a:solidFill>
                <a:latin typeface="Inconsolata"/>
              </a:rPr>
              <a:t>34  </a:t>
            </a:r>
            <a:r>
              <a:rPr sz="771" i="0">
                <a:solidFill>
                  <a:srgbClr val="E6EDF3"/>
                </a:solidFill>
                <a:latin typeface="Inconsolata"/>
              </a:rPr>
              <a:t>) -&gt; </a:t>
            </a:r>
            <a:r>
              <a:rPr sz="771" i="0">
                <a:solidFill>
                  <a:srgbClr val="FF8E6E"/>
                </a:solidFill>
                <a:latin typeface="Inconsolata"/>
              </a:rPr>
              <a:t>None</a:t>
            </a:r>
            <a:r>
              <a:rPr sz="771" i="0">
                <a:solidFill>
                  <a:srgbClr val="E6EDF3"/>
                </a:solidFill>
                <a:latin typeface="Inconsolata"/>
              </a:rPr>
              <a:t>:</a:t>
            </a:r>
          </a:p>
          <a:p>
            <a:pPr>
              <a:lnSpc>
                <a:spcPct val="108035"/>
              </a:lnSpc>
              <a:spcAft>
                <a:spcPts val="0"/>
              </a:spcAft>
            </a:pPr>
            <a:r>
              <a:rPr sz="771" i="0">
                <a:solidFill>
                  <a:srgbClr val="5C6773"/>
                </a:solidFill>
                <a:latin typeface="Inconsolata"/>
              </a:rPr>
              <a:t>35  </a:t>
            </a:r>
            <a:r>
              <a:rPr sz="771" i="0">
                <a:solidFill>
                  <a:srgbClr val="E6EDF3"/>
                </a:solidFill>
                <a:latin typeface="Inconsolata"/>
              </a:rPr>
              <a:t>    </a:t>
            </a:r>
            <a:r>
              <a:rPr sz="771" i="0">
                <a:solidFill>
                  <a:srgbClr val="FF8E6E"/>
                </a:solidFill>
                <a:latin typeface="Inconsolata"/>
              </a:rPr>
              <a:t>with</a:t>
            </a:r>
            <a:r>
              <a:rPr sz="771" i="0">
                <a:solidFill>
                  <a:srgbClr val="E6EDF3"/>
                </a:solidFill>
                <a:latin typeface="Inconsolata"/>
              </a:rPr>
              <a:t> session.begin():  </a:t>
            </a:r>
            <a:r>
              <a:rPr sz="771" i="1">
                <a:solidFill>
                  <a:srgbClr val="8B98A8"/>
                </a:solidFill>
                <a:latin typeface="Inconsolata"/>
              </a:rPr>
              <a:t># transaction boundary</a:t>
            </a:r>
          </a:p>
          <a:p>
            <a:pPr>
              <a:lnSpc>
                <a:spcPct val="108035"/>
              </a:lnSpc>
              <a:spcAft>
                <a:spcPts val="0"/>
              </a:spcAft>
            </a:pPr>
            <a:r>
              <a:rPr sz="771" i="0">
                <a:solidFill>
                  <a:srgbClr val="5C6773"/>
                </a:solidFill>
                <a:latin typeface="Inconsolata"/>
              </a:rPr>
              <a:t>36  </a:t>
            </a:r>
            <a:r>
              <a:rPr sz="771" i="0">
                <a:solidFill>
                  <a:srgbClr val="E6EDF3"/>
                </a:solidFill>
                <a:latin typeface="Inconsolata"/>
              </a:rPr>
              <a:t>        </a:t>
            </a:r>
            <a:r>
              <a:rPr sz="771" i="0">
                <a:solidFill>
                  <a:srgbClr val="FF8E6E"/>
                </a:solidFill>
                <a:latin typeface="Inconsolata"/>
              </a:rPr>
              <a:t>for</a:t>
            </a:r>
            <a:r>
              <a:rPr sz="771" i="0">
                <a:solidFill>
                  <a:srgbClr val="E6EDF3"/>
                </a:solidFill>
                <a:latin typeface="Inconsolata"/>
              </a:rPr>
              <a:t> product_id, qty </a:t>
            </a:r>
            <a:r>
              <a:rPr sz="771" i="0">
                <a:solidFill>
                  <a:srgbClr val="FF8E6E"/>
                </a:solidFill>
                <a:latin typeface="Inconsolata"/>
              </a:rPr>
              <a:t>in</a:t>
            </a:r>
            <a:r>
              <a:rPr sz="771" i="0">
                <a:solidFill>
                  <a:srgbClr val="E6EDF3"/>
                </a:solidFill>
                <a:latin typeface="Inconsolata"/>
              </a:rPr>
              <a:t> items:</a:t>
            </a:r>
          </a:p>
          <a:p>
            <a:pPr>
              <a:lnSpc>
                <a:spcPct val="108035"/>
              </a:lnSpc>
              <a:spcAft>
                <a:spcPts val="0"/>
              </a:spcAft>
            </a:pPr>
            <a:r>
              <a:rPr sz="771" i="0">
                <a:solidFill>
                  <a:srgbClr val="5C6773"/>
                </a:solidFill>
                <a:latin typeface="Inconsolata"/>
              </a:rPr>
              <a:t>37  </a:t>
            </a:r>
            <a:r>
              <a:rPr sz="771" i="0">
                <a:solidFill>
                  <a:srgbClr val="E6EDF3"/>
                </a:solidFill>
                <a:latin typeface="Inconsolata"/>
              </a:rPr>
              <a:t>            product = session.get(</a:t>
            </a:r>
            <a:r>
              <a:rPr sz="771" i="0">
                <a:solidFill>
                  <a:srgbClr val="7FDBCA"/>
                </a:solidFill>
                <a:latin typeface="Inconsolata"/>
              </a:rPr>
              <a:t>ProductRecord</a:t>
            </a:r>
            <a:r>
              <a:rPr sz="771" i="0">
                <a:solidFill>
                  <a:srgbClr val="E6EDF3"/>
                </a:solidFill>
                <a:latin typeface="Inconsolata"/>
              </a:rPr>
              <a:t>, product_id)</a:t>
            </a:r>
          </a:p>
          <a:p>
            <a:pPr>
              <a:lnSpc>
                <a:spcPct val="108035"/>
              </a:lnSpc>
              <a:spcAft>
                <a:spcPts val="0"/>
              </a:spcAft>
            </a:pPr>
            <a:r>
              <a:rPr sz="771" i="0">
                <a:solidFill>
                  <a:srgbClr val="5C6773"/>
                </a:solidFill>
                <a:latin typeface="Inconsolata"/>
              </a:rPr>
              <a:t>38  </a:t>
            </a:r>
            <a:r>
              <a:rPr sz="771" i="0">
                <a:solidFill>
                  <a:srgbClr val="E6EDF3"/>
                </a:solidFill>
                <a:latin typeface="Inconsolata"/>
              </a:rPr>
              <a:t>            </a:t>
            </a:r>
            <a:r>
              <a:rPr sz="771" i="0">
                <a:solidFill>
                  <a:srgbClr val="FF8E6E"/>
                </a:solidFill>
                <a:latin typeface="Inconsolata"/>
              </a:rPr>
              <a:t>if</a:t>
            </a:r>
            <a:r>
              <a:rPr sz="771" i="0">
                <a:solidFill>
                  <a:srgbClr val="E6EDF3"/>
                </a:solidFill>
                <a:latin typeface="Inconsolata"/>
              </a:rPr>
              <a:t> qty &gt; product.stock:</a:t>
            </a:r>
          </a:p>
          <a:p>
            <a:pPr>
              <a:lnSpc>
                <a:spcPct val="108035"/>
              </a:lnSpc>
              <a:spcAft>
                <a:spcPts val="0"/>
              </a:spcAft>
            </a:pPr>
            <a:r>
              <a:rPr sz="771" i="0">
                <a:solidFill>
                  <a:srgbClr val="5C6773"/>
                </a:solidFill>
                <a:latin typeface="Inconsolata"/>
              </a:rPr>
              <a:t>39  </a:t>
            </a:r>
            <a:r>
              <a:rPr sz="771" i="0">
                <a:solidFill>
                  <a:srgbClr val="E6EDF3"/>
                </a:solidFill>
                <a:latin typeface="Inconsolata"/>
              </a:rPr>
              <a:t>                </a:t>
            </a:r>
            <a:r>
              <a:rPr sz="771" i="0">
                <a:solidFill>
                  <a:srgbClr val="FF8E6E"/>
                </a:solidFill>
                <a:latin typeface="Inconsolata"/>
              </a:rPr>
              <a:t>raise</a:t>
            </a:r>
            <a:r>
              <a:rPr sz="771" i="0">
                <a:solidFill>
                  <a:srgbClr val="E6EDF3"/>
                </a:solidFill>
                <a:latin typeface="Inconsolata"/>
              </a:rPr>
              <a:t> </a:t>
            </a:r>
            <a:r>
              <a:rPr sz="771" i="0">
                <a:solidFill>
                  <a:srgbClr val="7FDBCA"/>
                </a:solidFill>
                <a:latin typeface="Inconsolata"/>
              </a:rPr>
              <a:t>ValueError</a:t>
            </a:r>
            <a:r>
              <a:rPr sz="771" i="0">
                <a:solidFill>
                  <a:srgbClr val="E6EDF3"/>
                </a:solidFill>
                <a:latin typeface="Inconsolata"/>
              </a:rPr>
              <a:t>(</a:t>
            </a:r>
          </a:p>
          <a:p>
            <a:pPr>
              <a:lnSpc>
                <a:spcPct val="108035"/>
              </a:lnSpc>
              <a:spcAft>
                <a:spcPts val="0"/>
              </a:spcAft>
            </a:pPr>
            <a:r>
              <a:rPr sz="771" i="0">
                <a:solidFill>
                  <a:srgbClr val="5C6773"/>
                </a:solidFill>
                <a:latin typeface="Inconsolata"/>
              </a:rPr>
              <a:t>40  </a:t>
            </a:r>
            <a:r>
              <a:rPr sz="771" i="0">
                <a:solidFill>
                  <a:srgbClr val="E6EDF3"/>
                </a:solidFill>
                <a:latin typeface="Inconsolata"/>
              </a:rPr>
              <a:t>                    </a:t>
            </a:r>
            <a:r>
              <a:rPr sz="771" i="0">
                <a:solidFill>
                  <a:srgbClr val="A5D6A7"/>
                </a:solidFill>
                <a:latin typeface="Inconsolata"/>
              </a:rPr>
              <a:t>f"Stok {product.name} tidak cukup"</a:t>
            </a:r>
          </a:p>
          <a:p>
            <a:pPr>
              <a:lnSpc>
                <a:spcPct val="108035"/>
              </a:lnSpc>
              <a:spcAft>
                <a:spcPts val="0"/>
              </a:spcAft>
            </a:pPr>
            <a:r>
              <a:rPr sz="771" i="0">
                <a:solidFill>
                  <a:srgbClr val="5C6773"/>
                </a:solidFill>
                <a:latin typeface="Inconsolata"/>
              </a:rPr>
              <a:t>41  </a:t>
            </a:r>
            <a:r>
              <a:rPr sz="771" i="0">
                <a:solidFill>
                  <a:srgbClr val="E6EDF3"/>
                </a:solidFill>
                <a:latin typeface="Inconsolata"/>
              </a:rPr>
              <a:t>                )</a:t>
            </a:r>
          </a:p>
          <a:p>
            <a:pPr>
              <a:lnSpc>
                <a:spcPct val="108035"/>
              </a:lnSpc>
              <a:spcAft>
                <a:spcPts val="0"/>
              </a:spcAft>
            </a:pPr>
            <a:r>
              <a:rPr sz="771" i="0">
                <a:solidFill>
                  <a:srgbClr val="5C6773"/>
                </a:solidFill>
                <a:latin typeface="Inconsolata"/>
              </a:rPr>
              <a:t>42  </a:t>
            </a:r>
            <a:r>
              <a:rPr sz="771" i="0">
                <a:solidFill>
                  <a:srgbClr val="E6EDF3"/>
                </a:solidFill>
                <a:latin typeface="Inconsolata"/>
              </a:rPr>
              <a:t>            product.stock -= qty</a:t>
            </a:r>
          </a:p>
        </p:txBody>
      </p:sp>
      <p:sp>
        <p:nvSpPr>
          <p:cNvPr id="36" name="Box 21"/>
          <p:cNvSpPr/>
          <p:nvPr/>
        </p:nvSpPr>
        <p:spPr>
          <a:xfrm>
            <a:off x="4709159" y="2970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910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3097022"/>
            <a:ext cx="3694176" cy="881380"/>
          </a:xfrm>
          <a:prstGeom prst="roundRect">
            <a:avLst>
              <a:gd name="adj" fmla="val 518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3418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Transaction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Satu transaksi untuk semua langkah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07-transaction/after.py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4903"/>
              </a:lnSpc>
              <a:spcAft>
                <a:spcPts val="0"/>
              </a:spcAft>
            </a:pPr>
            <a:r>
              <a:rPr sz="794" i="0">
                <a:solidFill>
                  <a:srgbClr val="5C6773"/>
                </a:solidFill>
                <a:latin typeface="Inconsolata"/>
              </a:rPr>
              <a:t>44  </a:t>
            </a:r>
            <a:r>
              <a:rPr sz="794" i="0">
                <a:solidFill>
                  <a:srgbClr val="E6EDF3"/>
                </a:solidFill>
                <a:latin typeface="Inconsolata"/>
              </a:rPr>
              <a:t>        session.add(</a:t>
            </a:r>
            <a:r>
              <a:rPr sz="794" i="0">
                <a:solidFill>
                  <a:srgbClr val="7FDBCA"/>
                </a:solidFill>
                <a:latin typeface="Inconsolata"/>
              </a:rPr>
              <a:t>OrderRecord</a:t>
            </a:r>
            <a:r>
              <a:rPr sz="794" i="0">
                <a:solidFill>
                  <a:srgbClr val="E6EDF3"/>
                </a:solidFill>
                <a:latin typeface="Inconsolata"/>
              </a:rPr>
              <a:t>(customer=customer))</a:t>
            </a:r>
          </a:p>
          <a:p>
            <a:pPr>
              <a:lnSpc>
                <a:spcPct val="104903"/>
              </a:lnSpc>
              <a:spcAft>
                <a:spcPts val="0"/>
              </a:spcAft>
            </a:pPr>
            <a:r>
              <a:rPr sz="794" i="0">
                <a:solidFill>
                  <a:srgbClr val="5C6773"/>
                </a:solidFill>
                <a:latin typeface="Inconsolata"/>
              </a:rPr>
              <a:t>45  </a:t>
            </a:r>
            <a:r>
              <a:rPr sz="794" i="0">
                <a:solidFill>
                  <a:srgbClr val="E6EDF3"/>
                </a:solidFill>
                <a:latin typeface="Inconsolata"/>
              </a:rPr>
              <a:t>    </a:t>
            </a:r>
            <a:r>
              <a:rPr sz="794" i="1">
                <a:solidFill>
                  <a:srgbClr val="8B98A8"/>
                </a:solidFill>
                <a:latin typeface="Inconsolata"/>
              </a:rPr>
              <a:t># sampai sini tanpa error = commit, ada error = rollback</a:t>
            </a:r>
          </a:p>
          <a:p>
            <a:pPr>
              <a:lnSpc>
                <a:spcPct val="104903"/>
              </a:lnSpc>
              <a:spcAft>
                <a:spcPts val="0"/>
              </a:spcAft>
            </a:pPr>
            <a:r>
              <a:rPr sz="794" i="0">
                <a:solidFill>
                  <a:srgbClr val="5C6773"/>
                </a:solidFill>
                <a:latin typeface="Inconsolata"/>
              </a:rPr>
              <a:t>46  </a:t>
            </a:r>
            <a:r>
              <a:rPr sz="794" i="0">
                <a:solidFill>
                  <a:srgbClr val="E6EDF3"/>
                </a:solidFill>
                <a:latin typeface="Inconsolata"/>
              </a:rPr>
              <a:t> </a:t>
            </a:r>
          </a:p>
          <a:p>
            <a:pPr>
              <a:lnSpc>
                <a:spcPct val="104903"/>
              </a:lnSpc>
              <a:spcAft>
                <a:spcPts val="0"/>
              </a:spcAft>
            </a:pPr>
            <a:r>
              <a:rPr sz="794" i="0">
                <a:solidFill>
                  <a:srgbClr val="5C6773"/>
                </a:solidFill>
                <a:latin typeface="Inconsolata"/>
              </a:rPr>
              <a:t>47  </a:t>
            </a:r>
            <a:r>
              <a:rPr sz="794" i="0">
                <a:solidFill>
                  <a:srgbClr val="E6EDF3"/>
                </a:solidFill>
                <a:latin typeface="Inconsolata"/>
              </a:rPr>
              <a:t> </a:t>
            </a:r>
          </a:p>
          <a:p>
            <a:pPr>
              <a:lnSpc>
                <a:spcPct val="104903"/>
              </a:lnSpc>
              <a:spcAft>
                <a:spcPts val="0"/>
              </a:spcAft>
            </a:pPr>
            <a:r>
              <a:rPr sz="794" i="0">
                <a:solidFill>
                  <a:srgbClr val="5C6773"/>
                </a:solidFill>
                <a:latin typeface="Inconsolata"/>
              </a:rPr>
              <a:t>48  </a:t>
            </a:r>
            <a:r>
              <a:rPr sz="794" i="0">
                <a:solidFill>
                  <a:srgbClr val="FF8E6E"/>
                </a:solidFill>
                <a:latin typeface="Inconsolata"/>
              </a:rPr>
              <a:t>if</a:t>
            </a:r>
            <a:r>
              <a:rPr sz="794" i="0">
                <a:solidFill>
                  <a:srgbClr val="E6EDF3"/>
                </a:solidFill>
                <a:latin typeface="Inconsolata"/>
              </a:rPr>
              <a:t> __name__ == </a:t>
            </a:r>
            <a:r>
              <a:rPr sz="794" i="0">
                <a:solidFill>
                  <a:srgbClr val="A5D6A7"/>
                </a:solidFill>
                <a:latin typeface="Inconsolata"/>
              </a:rPr>
              <a:t>"__main__"</a:t>
            </a:r>
            <a:r>
              <a:rPr sz="794" i="0">
                <a:solidFill>
                  <a:srgbClr val="E6EDF3"/>
                </a:solidFill>
                <a:latin typeface="Inconsolata"/>
              </a:rPr>
              <a:t>:</a:t>
            </a:r>
          </a:p>
          <a:p>
            <a:pPr>
              <a:lnSpc>
                <a:spcPct val="104903"/>
              </a:lnSpc>
              <a:spcAft>
                <a:spcPts val="0"/>
              </a:spcAft>
            </a:pPr>
            <a:r>
              <a:rPr sz="794" i="0">
                <a:solidFill>
                  <a:srgbClr val="5C6773"/>
                </a:solidFill>
                <a:latin typeface="Inconsolata"/>
              </a:rPr>
              <a:t>49  </a:t>
            </a:r>
            <a:r>
              <a:rPr sz="794" i="0">
                <a:solidFill>
                  <a:srgbClr val="E6EDF3"/>
                </a:solidFill>
                <a:latin typeface="Inconsolata"/>
              </a:rPr>
              <a:t>    engine = create_engine(</a:t>
            </a:r>
            <a:r>
              <a:rPr sz="794" i="0">
                <a:solidFill>
                  <a:srgbClr val="A5D6A7"/>
                </a:solidFill>
                <a:latin typeface="Inconsolata"/>
              </a:rPr>
              <a:t>"sqlite://"</a:t>
            </a:r>
            <a:r>
              <a:rPr sz="794" i="0">
                <a:solidFill>
                  <a:srgbClr val="E6EDF3"/>
                </a:solidFill>
                <a:latin typeface="Inconsolata"/>
              </a:rPr>
              <a:t>)</a:t>
            </a:r>
          </a:p>
          <a:p>
            <a:pPr>
              <a:lnSpc>
                <a:spcPct val="104903"/>
              </a:lnSpc>
              <a:spcAft>
                <a:spcPts val="0"/>
              </a:spcAft>
            </a:pPr>
            <a:r>
              <a:rPr sz="794" i="0">
                <a:solidFill>
                  <a:srgbClr val="5C6773"/>
                </a:solidFill>
                <a:latin typeface="Inconsolata"/>
              </a:rPr>
              <a:t>50  </a:t>
            </a:r>
            <a:r>
              <a:rPr sz="794" i="0">
                <a:solidFill>
                  <a:srgbClr val="E6EDF3"/>
                </a:solidFill>
                <a:latin typeface="Inconsolata"/>
              </a:rPr>
              <a:t>    </a:t>
            </a:r>
            <a:r>
              <a:rPr sz="794" i="0">
                <a:solidFill>
                  <a:srgbClr val="7FDBCA"/>
                </a:solidFill>
                <a:latin typeface="Inconsolata"/>
              </a:rPr>
              <a:t>Base</a:t>
            </a:r>
            <a:r>
              <a:rPr sz="794" i="0">
                <a:solidFill>
                  <a:srgbClr val="E6EDF3"/>
                </a:solidFill>
                <a:latin typeface="Inconsolata"/>
              </a:rPr>
              <a:t>.metadata.create_all(engine)</a:t>
            </a:r>
          </a:p>
          <a:p>
            <a:pPr>
              <a:lnSpc>
                <a:spcPct val="104903"/>
              </a:lnSpc>
              <a:spcAft>
                <a:spcPts val="0"/>
              </a:spcAft>
            </a:pPr>
            <a:r>
              <a:rPr sz="794" i="0">
                <a:solidFill>
                  <a:srgbClr val="5C6773"/>
                </a:solidFill>
                <a:latin typeface="Inconsolata"/>
              </a:rPr>
              <a:t>51  </a:t>
            </a:r>
            <a:r>
              <a:rPr sz="794" i="0">
                <a:solidFill>
                  <a:srgbClr val="E6EDF3"/>
                </a:solidFill>
                <a:latin typeface="Inconsolata"/>
              </a:rPr>
              <a:t>    </a:t>
            </a:r>
            <a:r>
              <a:rPr sz="794" i="0">
                <a:solidFill>
                  <a:srgbClr val="FF8E6E"/>
                </a:solidFill>
                <a:latin typeface="Inconsolata"/>
              </a:rPr>
              <a:t>with</a:t>
            </a:r>
            <a:r>
              <a:rPr sz="794" i="0">
                <a:solidFill>
                  <a:srgbClr val="E6EDF3"/>
                </a:solidFill>
                <a:latin typeface="Inconsolata"/>
              </a:rPr>
              <a:t> </a:t>
            </a:r>
            <a:r>
              <a:rPr sz="794" i="0">
                <a:solidFill>
                  <a:srgbClr val="7FDBCA"/>
                </a:solidFill>
                <a:latin typeface="Inconsolata"/>
              </a:rPr>
              <a:t>Session</a:t>
            </a:r>
            <a:r>
              <a:rPr sz="794" i="0">
                <a:solidFill>
                  <a:srgbClr val="E6EDF3"/>
                </a:solidFill>
                <a:latin typeface="Inconsolata"/>
              </a:rPr>
              <a:t>(engine) </a:t>
            </a:r>
            <a:r>
              <a:rPr sz="794" i="0">
                <a:solidFill>
                  <a:srgbClr val="FF8E6E"/>
                </a:solidFill>
                <a:latin typeface="Inconsolata"/>
              </a:rPr>
              <a:t>as</a:t>
            </a:r>
            <a:r>
              <a:rPr sz="794" i="0">
                <a:solidFill>
                  <a:srgbClr val="E6EDF3"/>
                </a:solidFill>
                <a:latin typeface="Inconsolata"/>
              </a:rPr>
              <a:t> session:</a:t>
            </a:r>
          </a:p>
          <a:p>
            <a:pPr>
              <a:lnSpc>
                <a:spcPct val="104903"/>
              </a:lnSpc>
              <a:spcAft>
                <a:spcPts val="0"/>
              </a:spcAft>
            </a:pPr>
            <a:r>
              <a:rPr sz="794" i="0">
                <a:solidFill>
                  <a:srgbClr val="5C6773"/>
                </a:solidFill>
                <a:latin typeface="Inconsolata"/>
              </a:rPr>
              <a:t>52  </a:t>
            </a:r>
            <a:r>
              <a:rPr sz="794" i="0">
                <a:solidFill>
                  <a:srgbClr val="E6EDF3"/>
                </a:solidFill>
                <a:latin typeface="Inconsolata"/>
              </a:rPr>
              <a:t>        </a:t>
            </a:r>
            <a:r>
              <a:rPr sz="794" i="0">
                <a:solidFill>
                  <a:srgbClr val="FF8E6E"/>
                </a:solidFill>
                <a:latin typeface="Inconsolata"/>
              </a:rPr>
              <a:t>with</a:t>
            </a:r>
            <a:r>
              <a:rPr sz="794" i="0">
                <a:solidFill>
                  <a:srgbClr val="E6EDF3"/>
                </a:solidFill>
                <a:latin typeface="Inconsolata"/>
              </a:rPr>
              <a:t> session.begin():</a:t>
            </a:r>
          </a:p>
          <a:p>
            <a:pPr>
              <a:lnSpc>
                <a:spcPct val="104903"/>
              </a:lnSpc>
              <a:spcAft>
                <a:spcPts val="0"/>
              </a:spcAft>
            </a:pPr>
            <a:r>
              <a:rPr sz="794" i="0">
                <a:solidFill>
                  <a:srgbClr val="5C6773"/>
                </a:solidFill>
                <a:latin typeface="Inconsolata"/>
              </a:rPr>
              <a:t>53  </a:t>
            </a:r>
            <a:r>
              <a:rPr sz="794" i="0">
                <a:solidFill>
                  <a:srgbClr val="E6EDF3"/>
                </a:solidFill>
                <a:latin typeface="Inconsolata"/>
              </a:rPr>
              <a:t>            session.add_all([</a:t>
            </a:r>
          </a:p>
          <a:p>
            <a:pPr>
              <a:lnSpc>
                <a:spcPct val="104903"/>
              </a:lnSpc>
              <a:spcAft>
                <a:spcPts val="0"/>
              </a:spcAft>
            </a:pPr>
            <a:r>
              <a:rPr sz="794" i="0">
                <a:solidFill>
                  <a:srgbClr val="5C6773"/>
                </a:solidFill>
                <a:latin typeface="Inconsolata"/>
              </a:rPr>
              <a:t>54  </a:t>
            </a:r>
            <a:r>
              <a:rPr sz="794" i="0">
                <a:solidFill>
                  <a:srgbClr val="E6EDF3"/>
                </a:solidFill>
                <a:latin typeface="Inconsolata"/>
              </a:rPr>
              <a:t>                </a:t>
            </a:r>
            <a:r>
              <a:rPr sz="794" i="0">
                <a:solidFill>
                  <a:srgbClr val="7FDBCA"/>
                </a:solidFill>
                <a:latin typeface="Inconsolata"/>
              </a:rPr>
              <a:t>ProductRecord</a:t>
            </a:r>
            <a:r>
              <a:rPr sz="794" i="0">
                <a:solidFill>
                  <a:srgbClr val="E6EDF3"/>
                </a:solidFill>
                <a:latin typeface="Inconsolata"/>
              </a:rPr>
              <a:t>(name=</a:t>
            </a:r>
            <a:r>
              <a:rPr sz="794" i="0">
                <a:solidFill>
                  <a:srgbClr val="A5D6A7"/>
                </a:solidFill>
                <a:latin typeface="Inconsolata"/>
              </a:rPr>
              <a:t>"Keyboard"</a:t>
            </a:r>
            <a:r>
              <a:rPr sz="794" i="0">
                <a:solidFill>
                  <a:srgbClr val="E6EDF3"/>
                </a:solidFill>
                <a:latin typeface="Inconsolata"/>
              </a:rPr>
              <a:t>, stock=</a:t>
            </a:r>
            <a:r>
              <a:rPr sz="794" i="0">
                <a:solidFill>
                  <a:srgbClr val="F9C97A"/>
                </a:solidFill>
                <a:latin typeface="Inconsolata"/>
              </a:rPr>
              <a:t>5</a:t>
            </a:r>
            <a:r>
              <a:rPr sz="794" i="0">
                <a:solidFill>
                  <a:srgbClr val="E6EDF3"/>
                </a:solidFill>
                <a:latin typeface="Inconsolata"/>
              </a:rPr>
              <a:t>),</a:t>
            </a:r>
          </a:p>
          <a:p>
            <a:pPr>
              <a:lnSpc>
                <a:spcPct val="104903"/>
              </a:lnSpc>
              <a:spcAft>
                <a:spcPts val="0"/>
              </a:spcAft>
            </a:pPr>
            <a:r>
              <a:rPr sz="794" i="0">
                <a:solidFill>
                  <a:srgbClr val="5C6773"/>
                </a:solidFill>
                <a:latin typeface="Inconsolata"/>
              </a:rPr>
              <a:t>55  </a:t>
            </a:r>
            <a:r>
              <a:rPr sz="794" i="0">
                <a:solidFill>
                  <a:srgbClr val="E6EDF3"/>
                </a:solidFill>
                <a:latin typeface="Inconsolata"/>
              </a:rPr>
              <a:t>                </a:t>
            </a:r>
            <a:r>
              <a:rPr sz="794" i="0">
                <a:solidFill>
                  <a:srgbClr val="7FDBCA"/>
                </a:solidFill>
                <a:latin typeface="Inconsolata"/>
              </a:rPr>
              <a:t>ProductRecord</a:t>
            </a:r>
            <a:r>
              <a:rPr sz="794" i="0">
                <a:solidFill>
                  <a:srgbClr val="E6EDF3"/>
                </a:solidFill>
                <a:latin typeface="Inconsolata"/>
              </a:rPr>
              <a:t>(name=</a:t>
            </a:r>
            <a:r>
              <a:rPr sz="794" i="0">
                <a:solidFill>
                  <a:srgbClr val="A5D6A7"/>
                </a:solidFill>
                <a:latin typeface="Inconsolata"/>
              </a:rPr>
              <a:t>"Mouse"</a:t>
            </a:r>
            <a:r>
              <a:rPr sz="794" i="0">
                <a:solidFill>
                  <a:srgbClr val="E6EDF3"/>
                </a:solidFill>
                <a:latin typeface="Inconsolata"/>
              </a:rPr>
              <a:t>, stock=</a:t>
            </a:r>
            <a:r>
              <a:rPr sz="794" i="0">
                <a:solidFill>
                  <a:srgbClr val="F9C97A"/>
                </a:solidFill>
                <a:latin typeface="Inconsolata"/>
              </a:rPr>
              <a:t>1</a:t>
            </a:r>
            <a:r>
              <a:rPr sz="794" i="0">
                <a:solidFill>
                  <a:srgbClr val="E6EDF3"/>
                </a:solidFill>
                <a:latin typeface="Inconsolata"/>
              </a:rPr>
              <a:t>),</a:t>
            </a:r>
          </a:p>
          <a:p>
            <a:pPr>
              <a:lnSpc>
                <a:spcPct val="104903"/>
              </a:lnSpc>
              <a:spcAft>
                <a:spcPts val="0"/>
              </a:spcAft>
            </a:pPr>
            <a:r>
              <a:rPr sz="794" i="0">
                <a:solidFill>
                  <a:srgbClr val="5C6773"/>
                </a:solidFill>
                <a:latin typeface="Inconsolata"/>
              </a:rPr>
              <a:t>56  </a:t>
            </a:r>
            <a:r>
              <a:rPr sz="794" i="0">
                <a:solidFill>
                  <a:srgbClr val="E6EDF3"/>
                </a:solidFill>
                <a:latin typeface="Inconsolata"/>
              </a:rPr>
              <a:t>            ])</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07-transaction/after.py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4903"/>
              </a:lnSpc>
              <a:spcAft>
                <a:spcPts val="0"/>
              </a:spcAft>
            </a:pPr>
            <a:r>
              <a:rPr sz="794" i="0">
                <a:solidFill>
                  <a:srgbClr val="5C6773"/>
                </a:solidFill>
                <a:latin typeface="Inconsolata"/>
              </a:rPr>
              <a:t>58  </a:t>
            </a:r>
            <a:r>
              <a:rPr sz="794" i="0">
                <a:solidFill>
                  <a:srgbClr val="E6EDF3"/>
                </a:solidFill>
                <a:latin typeface="Inconsolata"/>
              </a:rPr>
              <a:t>        </a:t>
            </a:r>
            <a:r>
              <a:rPr sz="794" i="0">
                <a:solidFill>
                  <a:srgbClr val="FF8E6E"/>
                </a:solidFill>
                <a:latin typeface="Inconsolata"/>
              </a:rPr>
              <a:t>try</a:t>
            </a:r>
            <a:r>
              <a:rPr sz="794" i="0">
                <a:solidFill>
                  <a:srgbClr val="E6EDF3"/>
                </a:solidFill>
                <a:latin typeface="Inconsolata"/>
              </a:rPr>
              <a:t>:</a:t>
            </a:r>
          </a:p>
          <a:p>
            <a:pPr>
              <a:lnSpc>
                <a:spcPct val="104903"/>
              </a:lnSpc>
              <a:spcAft>
                <a:spcPts val="0"/>
              </a:spcAft>
            </a:pPr>
            <a:r>
              <a:rPr sz="794" i="0">
                <a:solidFill>
                  <a:srgbClr val="5C6773"/>
                </a:solidFill>
                <a:latin typeface="Inconsolata"/>
              </a:rPr>
              <a:t>59  </a:t>
            </a:r>
            <a:r>
              <a:rPr sz="794" i="0">
                <a:solidFill>
                  <a:srgbClr val="E6EDF3"/>
                </a:solidFill>
                <a:latin typeface="Inconsolata"/>
              </a:rPr>
              <a:t>            items = [(</a:t>
            </a:r>
            <a:r>
              <a:rPr sz="794" i="0">
                <a:solidFill>
                  <a:srgbClr val="F9C97A"/>
                </a:solidFill>
                <a:latin typeface="Inconsolata"/>
              </a:rPr>
              <a:t>1</a:t>
            </a:r>
            <a:r>
              <a:rPr sz="794" i="0">
                <a:solidFill>
                  <a:srgbClr val="E6EDF3"/>
                </a:solidFill>
                <a:latin typeface="Inconsolata"/>
              </a:rPr>
              <a:t>, </a:t>
            </a:r>
            <a:r>
              <a:rPr sz="794" i="0">
                <a:solidFill>
                  <a:srgbClr val="F9C97A"/>
                </a:solidFill>
                <a:latin typeface="Inconsolata"/>
              </a:rPr>
              <a:t>2</a:t>
            </a:r>
            <a:r>
              <a:rPr sz="794" i="0">
                <a:solidFill>
                  <a:srgbClr val="E6EDF3"/>
                </a:solidFill>
                <a:latin typeface="Inconsolata"/>
              </a:rPr>
              <a:t>), (</a:t>
            </a:r>
            <a:r>
              <a:rPr sz="794" i="0">
                <a:solidFill>
                  <a:srgbClr val="F9C97A"/>
                </a:solidFill>
                <a:latin typeface="Inconsolata"/>
              </a:rPr>
              <a:t>2</a:t>
            </a:r>
            <a:r>
              <a:rPr sz="794" i="0">
                <a:solidFill>
                  <a:srgbClr val="E6EDF3"/>
                </a:solidFill>
                <a:latin typeface="Inconsolata"/>
              </a:rPr>
              <a:t>, </a:t>
            </a:r>
            <a:r>
              <a:rPr sz="794" i="0">
                <a:solidFill>
                  <a:srgbClr val="F9C97A"/>
                </a:solidFill>
                <a:latin typeface="Inconsolata"/>
              </a:rPr>
              <a:t>3</a:t>
            </a:r>
            <a:r>
              <a:rPr sz="794" i="0">
                <a:solidFill>
                  <a:srgbClr val="E6EDF3"/>
                </a:solidFill>
                <a:latin typeface="Inconsolata"/>
              </a:rPr>
              <a:t>)]  </a:t>
            </a:r>
            <a:r>
              <a:rPr sz="794" i="1">
                <a:solidFill>
                  <a:srgbClr val="8B98A8"/>
                </a:solidFill>
                <a:latin typeface="Inconsolata"/>
              </a:rPr>
              <a:t># Mouse cuma 1, diminta 3</a:t>
            </a:r>
          </a:p>
          <a:p>
            <a:pPr>
              <a:lnSpc>
                <a:spcPct val="104903"/>
              </a:lnSpc>
              <a:spcAft>
                <a:spcPts val="0"/>
              </a:spcAft>
            </a:pPr>
            <a:r>
              <a:rPr sz="794" i="0">
                <a:solidFill>
                  <a:srgbClr val="5C6773"/>
                </a:solidFill>
                <a:latin typeface="Inconsolata"/>
              </a:rPr>
              <a:t>60  </a:t>
            </a:r>
            <a:r>
              <a:rPr sz="794" i="0">
                <a:solidFill>
                  <a:srgbClr val="E6EDF3"/>
                </a:solidFill>
                <a:latin typeface="Inconsolata"/>
              </a:rPr>
              <a:t>            place_order(session, </a:t>
            </a:r>
            <a:r>
              <a:rPr sz="794" i="0">
                <a:solidFill>
                  <a:srgbClr val="A5D6A7"/>
                </a:solidFill>
                <a:latin typeface="Inconsolata"/>
              </a:rPr>
              <a:t>"budi@mail.com"</a:t>
            </a:r>
            <a:r>
              <a:rPr sz="794" i="0">
                <a:solidFill>
                  <a:srgbClr val="E6EDF3"/>
                </a:solidFill>
                <a:latin typeface="Inconsolata"/>
              </a:rPr>
              <a:t>, items)</a:t>
            </a:r>
          </a:p>
          <a:p>
            <a:pPr>
              <a:lnSpc>
                <a:spcPct val="104903"/>
              </a:lnSpc>
              <a:spcAft>
                <a:spcPts val="0"/>
              </a:spcAft>
            </a:pPr>
            <a:r>
              <a:rPr sz="794" i="0">
                <a:solidFill>
                  <a:srgbClr val="5C6773"/>
                </a:solidFill>
                <a:latin typeface="Inconsolata"/>
              </a:rPr>
              <a:t>61  </a:t>
            </a:r>
            <a:r>
              <a:rPr sz="794" i="0">
                <a:solidFill>
                  <a:srgbClr val="E6EDF3"/>
                </a:solidFill>
                <a:latin typeface="Inconsolata"/>
              </a:rPr>
              <a:t>        </a:t>
            </a:r>
            <a:r>
              <a:rPr sz="794" i="0">
                <a:solidFill>
                  <a:srgbClr val="FF8E6E"/>
                </a:solidFill>
                <a:latin typeface="Inconsolata"/>
              </a:rPr>
              <a:t>except</a:t>
            </a:r>
            <a:r>
              <a:rPr sz="794" i="0">
                <a:solidFill>
                  <a:srgbClr val="E6EDF3"/>
                </a:solidFill>
                <a:latin typeface="Inconsolata"/>
              </a:rPr>
              <a:t> </a:t>
            </a:r>
            <a:r>
              <a:rPr sz="794" i="0">
                <a:solidFill>
                  <a:srgbClr val="7FDBCA"/>
                </a:solidFill>
                <a:latin typeface="Inconsolata"/>
              </a:rPr>
              <a:t>ValueError</a:t>
            </a:r>
            <a:r>
              <a:rPr sz="794" i="0">
                <a:solidFill>
                  <a:srgbClr val="E6EDF3"/>
                </a:solidFill>
                <a:latin typeface="Inconsolata"/>
              </a:rPr>
              <a:t> </a:t>
            </a:r>
            <a:r>
              <a:rPr sz="794" i="0">
                <a:solidFill>
                  <a:srgbClr val="FF8E6E"/>
                </a:solidFill>
                <a:latin typeface="Inconsolata"/>
              </a:rPr>
              <a:t>as</a:t>
            </a:r>
            <a:r>
              <a:rPr sz="794" i="0">
                <a:solidFill>
                  <a:srgbClr val="E6EDF3"/>
                </a:solidFill>
                <a:latin typeface="Inconsolata"/>
              </a:rPr>
              <a:t> e:</a:t>
            </a:r>
          </a:p>
          <a:p>
            <a:pPr>
              <a:lnSpc>
                <a:spcPct val="104903"/>
              </a:lnSpc>
              <a:spcAft>
                <a:spcPts val="0"/>
              </a:spcAft>
            </a:pPr>
            <a:r>
              <a:rPr sz="794" i="0">
                <a:solidFill>
                  <a:srgbClr val="5C6773"/>
                </a:solidFill>
                <a:latin typeface="Inconsolata"/>
              </a:rPr>
              <a:t>62  </a:t>
            </a:r>
            <a:r>
              <a:rPr sz="794" i="0">
                <a:solidFill>
                  <a:srgbClr val="E6EDF3"/>
                </a:solidFill>
                <a:latin typeface="Inconsolata"/>
              </a:rPr>
              <a:t>            </a:t>
            </a:r>
            <a:r>
              <a:rPr sz="794" i="0">
                <a:solidFill>
                  <a:srgbClr val="C3A6FF"/>
                </a:solidFill>
                <a:latin typeface="Inconsolata"/>
              </a:rPr>
              <a:t>print</a:t>
            </a:r>
            <a:r>
              <a:rPr sz="794" i="0">
                <a:solidFill>
                  <a:srgbClr val="E6EDF3"/>
                </a:solidFill>
                <a:latin typeface="Inconsolata"/>
              </a:rPr>
              <a:t>(</a:t>
            </a:r>
            <a:r>
              <a:rPr sz="794" i="0">
                <a:solidFill>
                  <a:srgbClr val="A5D6A7"/>
                </a:solidFill>
                <a:latin typeface="Inconsolata"/>
              </a:rPr>
              <a:t>"Gagal:"</a:t>
            </a:r>
            <a:r>
              <a:rPr sz="794" i="0">
                <a:solidFill>
                  <a:srgbClr val="E6EDF3"/>
                </a:solidFill>
                <a:latin typeface="Inconsolata"/>
              </a:rPr>
              <a:t>, e)</a:t>
            </a:r>
          </a:p>
          <a:p>
            <a:pPr>
              <a:lnSpc>
                <a:spcPct val="104903"/>
              </a:lnSpc>
              <a:spcAft>
                <a:spcPts val="0"/>
              </a:spcAft>
            </a:pPr>
            <a:r>
              <a:rPr sz="794" i="0">
                <a:solidFill>
                  <a:srgbClr val="5C6773"/>
                </a:solidFill>
                <a:latin typeface="Inconsolata"/>
              </a:rPr>
              <a:t>63  </a:t>
            </a:r>
            <a:r>
              <a:rPr sz="794" i="0">
                <a:solidFill>
                  <a:srgbClr val="E6EDF3"/>
                </a:solidFill>
                <a:latin typeface="Inconsolata"/>
              </a:rPr>
              <a:t> </a:t>
            </a:r>
          </a:p>
          <a:p>
            <a:pPr>
              <a:lnSpc>
                <a:spcPct val="104903"/>
              </a:lnSpc>
              <a:spcAft>
                <a:spcPts val="0"/>
              </a:spcAft>
            </a:pPr>
            <a:r>
              <a:rPr sz="794" i="0">
                <a:solidFill>
                  <a:srgbClr val="5C6773"/>
                </a:solidFill>
                <a:latin typeface="Inconsolata"/>
              </a:rPr>
              <a:t>64  </a:t>
            </a:r>
            <a:r>
              <a:rPr sz="794" i="0">
                <a:solidFill>
                  <a:srgbClr val="E6EDF3"/>
                </a:solidFill>
                <a:latin typeface="Inconsolata"/>
              </a:rPr>
              <a:t>        keyboard = session.get(</a:t>
            </a:r>
            <a:r>
              <a:rPr sz="794" i="0">
                <a:solidFill>
                  <a:srgbClr val="7FDBCA"/>
                </a:solidFill>
                <a:latin typeface="Inconsolata"/>
              </a:rPr>
              <a:t>ProductRecord</a:t>
            </a:r>
            <a:r>
              <a:rPr sz="794" i="0">
                <a:solidFill>
                  <a:srgbClr val="E6EDF3"/>
                </a:solidFill>
                <a:latin typeface="Inconsolata"/>
              </a:rPr>
              <a:t>, </a:t>
            </a:r>
            <a:r>
              <a:rPr sz="794" i="0">
                <a:solidFill>
                  <a:srgbClr val="F9C97A"/>
                </a:solidFill>
                <a:latin typeface="Inconsolata"/>
              </a:rPr>
              <a:t>1</a:t>
            </a:r>
            <a:r>
              <a:rPr sz="794" i="0">
                <a:solidFill>
                  <a:srgbClr val="E6EDF3"/>
                </a:solidFill>
                <a:latin typeface="Inconsolata"/>
              </a:rPr>
              <a:t>)</a:t>
            </a:r>
          </a:p>
          <a:p>
            <a:pPr>
              <a:lnSpc>
                <a:spcPct val="104903"/>
              </a:lnSpc>
              <a:spcAft>
                <a:spcPts val="0"/>
              </a:spcAft>
            </a:pPr>
            <a:r>
              <a:rPr sz="794" i="0">
                <a:solidFill>
                  <a:srgbClr val="5C6773"/>
                </a:solidFill>
                <a:latin typeface="Inconsolata"/>
              </a:rPr>
              <a:t>65  </a:t>
            </a:r>
            <a:r>
              <a:rPr sz="794" i="0">
                <a:solidFill>
                  <a:srgbClr val="E6EDF3"/>
                </a:solidFill>
                <a:latin typeface="Inconsolata"/>
              </a:rPr>
              <a:t>        </a:t>
            </a:r>
            <a:r>
              <a:rPr sz="794" i="0">
                <a:solidFill>
                  <a:srgbClr val="C3A6FF"/>
                </a:solidFill>
                <a:latin typeface="Inconsolata"/>
              </a:rPr>
              <a:t>print</a:t>
            </a:r>
            <a:r>
              <a:rPr sz="794" i="0">
                <a:solidFill>
                  <a:srgbClr val="E6EDF3"/>
                </a:solidFill>
                <a:latin typeface="Inconsolata"/>
              </a:rPr>
              <a:t>(</a:t>
            </a:r>
            <a:r>
              <a:rPr sz="794" i="0">
                <a:solidFill>
                  <a:srgbClr val="A5D6A7"/>
                </a:solidFill>
                <a:latin typeface="Inconsolata"/>
              </a:rPr>
              <a:t>"Stok Keyboard:"</a:t>
            </a:r>
            <a:r>
              <a:rPr sz="794" i="0">
                <a:solidFill>
                  <a:srgbClr val="E6EDF3"/>
                </a:solidFill>
                <a:latin typeface="Inconsolata"/>
              </a:rPr>
              <a:t>, keyboard.stock)  </a:t>
            </a:r>
            <a:r>
              <a:rPr sz="794" i="1">
                <a:solidFill>
                  <a:srgbClr val="8B98A8"/>
                </a:solidFill>
                <a:latin typeface="Inconsolata"/>
              </a:rPr>
              <a:t># tetap 5</a:t>
            </a:r>
          </a:p>
          <a:p>
            <a:pPr>
              <a:lnSpc>
                <a:spcPct val="104903"/>
              </a:lnSpc>
              <a:spcAft>
                <a:spcPts val="0"/>
              </a:spcAft>
            </a:pPr>
            <a:r>
              <a:rPr sz="794" i="0">
                <a:solidFill>
                  <a:srgbClr val="5C6773"/>
                </a:solidFill>
                <a:latin typeface="Inconsolata"/>
              </a:rPr>
              <a:t>66  </a:t>
            </a:r>
            <a:r>
              <a:rPr sz="794" i="0">
                <a:solidFill>
                  <a:srgbClr val="E6EDF3"/>
                </a:solidFill>
                <a:latin typeface="Inconsolata"/>
              </a:rPr>
              <a:t>        orders = session.scalars(select(</a:t>
            </a:r>
            <a:r>
              <a:rPr sz="794" i="0">
                <a:solidFill>
                  <a:srgbClr val="7FDBCA"/>
                </a:solidFill>
                <a:latin typeface="Inconsolata"/>
              </a:rPr>
              <a:t>OrderRecord</a:t>
            </a:r>
            <a:r>
              <a:rPr sz="794" i="0">
                <a:solidFill>
                  <a:srgbClr val="E6EDF3"/>
                </a:solidFill>
                <a:latin typeface="Inconsolata"/>
              </a:rPr>
              <a:t>)).all()</a:t>
            </a:r>
          </a:p>
          <a:p>
            <a:pPr>
              <a:lnSpc>
                <a:spcPct val="104903"/>
              </a:lnSpc>
              <a:spcAft>
                <a:spcPts val="0"/>
              </a:spcAft>
            </a:pPr>
            <a:r>
              <a:rPr sz="794" i="0">
                <a:solidFill>
                  <a:srgbClr val="5C6773"/>
                </a:solidFill>
                <a:latin typeface="Inconsolata"/>
              </a:rPr>
              <a:t>67  </a:t>
            </a:r>
            <a:r>
              <a:rPr sz="794" i="0">
                <a:solidFill>
                  <a:srgbClr val="E6EDF3"/>
                </a:solidFill>
                <a:latin typeface="Inconsolata"/>
              </a:rPr>
              <a:t>        </a:t>
            </a:r>
            <a:r>
              <a:rPr sz="794" i="0">
                <a:solidFill>
                  <a:srgbClr val="C3A6FF"/>
                </a:solidFill>
                <a:latin typeface="Inconsolata"/>
              </a:rPr>
              <a:t>print</a:t>
            </a:r>
            <a:r>
              <a:rPr sz="794" i="0">
                <a:solidFill>
                  <a:srgbClr val="E6EDF3"/>
                </a:solidFill>
                <a:latin typeface="Inconsolata"/>
              </a:rPr>
              <a:t>(</a:t>
            </a:r>
            <a:r>
              <a:rPr sz="794" i="0">
                <a:solidFill>
                  <a:srgbClr val="A5D6A7"/>
                </a:solidFill>
                <a:latin typeface="Inconsolata"/>
              </a:rPr>
              <a:t>"Jumlah order:"</a:t>
            </a:r>
            <a:r>
              <a:rPr sz="794" i="0">
                <a:solidFill>
                  <a:srgbClr val="E6EDF3"/>
                </a:solidFill>
                <a:latin typeface="Inconsolata"/>
              </a:rPr>
              <a:t>, </a:t>
            </a:r>
            <a:r>
              <a:rPr sz="794" i="0">
                <a:solidFill>
                  <a:srgbClr val="C3A6FF"/>
                </a:solidFill>
                <a:latin typeface="Inconsolata"/>
              </a:rPr>
              <a:t>len</a:t>
            </a:r>
            <a:r>
              <a:rPr sz="794" i="0">
                <a:solidFill>
                  <a:srgbClr val="E6EDF3"/>
                </a:solidFill>
                <a:latin typeface="Inconsolata"/>
              </a:rPr>
              <a:t>(orders))  </a:t>
            </a:r>
            <a:r>
              <a:rPr sz="794" i="1">
                <a:solidFill>
                  <a:srgbClr val="8B98A8"/>
                </a:solidFill>
                <a:latin typeface="Inconsolata"/>
              </a:rPr>
              <a:t># 0</a:t>
            </a:r>
          </a:p>
        </p:txBody>
      </p:sp>
      <p:sp>
        <p:nvSpPr>
          <p:cNvPr id="36" name="Box 21"/>
          <p:cNvSpPr/>
          <p:nvPr/>
        </p:nvSpPr>
        <p:spPr>
          <a:xfrm>
            <a:off x="704088" y="1827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704088" y="1954022"/>
            <a:ext cx="3694176"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3"/>
          <p:cNvSpPr/>
          <p:nvPr/>
        </p:nvSpPr>
        <p:spPr>
          <a:xfrm>
            <a:off x="4279392" y="1894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9" name="Box 24"/>
          <p:cNvSpPr/>
          <p:nvPr/>
        </p:nvSpPr>
        <p:spPr>
          <a:xfrm>
            <a:off x="4709159" y="2589022"/>
            <a:ext cx="3694176"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Box 25"/>
          <p:cNvSpPr/>
          <p:nvPr/>
        </p:nvSpPr>
        <p:spPr>
          <a:xfrm>
            <a:off x="8284463" y="2720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Transaction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07-transaction/after.py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sesi-04-modular-fastapi-orm-transactions/07-transaction</a:t>
            </a:r>
          </a:p>
          <a:p>
            <a:pPr>
              <a:lnSpc>
                <a:spcPct val="107527"/>
              </a:lnSpc>
              <a:spcAft>
                <a:spcPts val="0"/>
              </a:spcAft>
            </a:pPr>
            <a:r>
              <a:rPr sz="775" i="0">
                <a:solidFill>
                  <a:srgbClr val="82B1FF"/>
                </a:solidFill>
                <a:latin typeface="Inconsolata"/>
              </a:rPr>
              <a:t>$ python after.py</a:t>
            </a:r>
          </a:p>
        </p:txBody>
      </p:sp>
      <p:pic>
        <p:nvPicPr>
          <p:cNvPr id="29" name="Image 12" descr="s04-07-transaction-after.png"/>
          <p:cNvPicPr>
            <a:picLocks noChangeAspect="1"/>
          </p:cNvPicPr>
          <p:nvPr/>
        </p:nvPicPr>
        <p:blipFill>
          <a:blip r:embed="rId2"/>
          <a:stretch>
            <a:fillRect/>
          </a:stretch>
        </p:blipFill>
        <p:spPr>
          <a:xfrm>
            <a:off x="621792" y="2240280"/>
            <a:ext cx="4297680" cy="128016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with session.begin():</a:t>
            </a:r>
            <a:r>
              <a:rPr sz="950" b="0" i="0">
                <a:solidFill>
                  <a:srgbClr val="434343"/>
                </a:solidFill>
                <a:latin typeface="Inter"/>
              </a:rPr>
              <a:t> adalah transaction boundary (baris 35)</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Semua langkah di dalam blok, tanpa commit per item (baris 36-44)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Keluar blok tanpa error berarti commit, ada error berarti rollback (baris 45)</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Stok Keyboard tetap 5, jumlah order 0 (baris 64-67)</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Unit of Work?</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Unit of Work adalah</a:t>
            </a:r>
          </a:p>
          <a:p>
            <a:pPr algn="l">
              <a:lnSpc>
                <a:spcPct val="115000"/>
              </a:lnSpc>
              <a:spcAft>
                <a:spcPts val="400"/>
              </a:spcAft>
            </a:pPr>
            <a:r>
              <a:rPr sz="900" b="0" i="0">
                <a:solidFill>
                  <a:srgbClr val="434343"/>
                </a:solidFill>
                <a:latin typeface="Inter"/>
              </a:rPr>
              <a:t>Design pattern yang </a:t>
            </a:r>
            <a:r>
              <a:rPr sz="900" b="1" i="0">
                <a:solidFill>
                  <a:srgbClr val="434343"/>
                </a:solidFill>
                <a:latin typeface="Inter"/>
              </a:rPr>
              <a:t>mengelola satu transaksi untuk satu use case</a:t>
            </a:r>
            <a:r>
              <a:rPr sz="900" b="0" i="0">
                <a:solidFill>
                  <a:srgbClr val="434343"/>
                </a:solidFill>
                <a:latin typeface="Inter"/>
              </a:rPr>
              <a:t>, sehingga semua perubahan dari beberapa repository disimpan atau dibatalkan bersama. Repository tidak pernah commit sendiri, service yang memutuskan lewat </a:t>
            </a:r>
            <a:r>
              <a:rPr sz="900" b="0" i="0">
                <a:solidFill>
                  <a:srgbClr val="B5482A"/>
                </a:solidFill>
                <a:latin typeface="Inconsolata"/>
              </a:rPr>
              <a:t>uow.commit()</a:t>
            </a:r>
            <a:r>
              <a:rPr sz="900" b="0" i="0">
                <a:solidFill>
                  <a:srgbClr val="434343"/>
                </a:solidFill>
                <a:latin typeface="Inter"/>
              </a:rPr>
              <a:t>. Jika keluar dari </a:t>
            </a:r>
            <a:r>
              <a:rPr sz="900" b="0" i="0">
                <a:solidFill>
                  <a:srgbClr val="B5482A"/>
                </a:solidFill>
                <a:latin typeface="Inconsolata"/>
              </a:rPr>
              <a:t>with uow:</a:t>
            </a:r>
            <a:r>
              <a:rPr sz="900" b="0" i="0">
                <a:solidFill>
                  <a:srgbClr val="434343"/>
                </a:solidFill>
                <a:latin typeface="Inter"/>
              </a:rPr>
              <a:t> tanpa commit, semua perubahan di-rollback.</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Menggabungkan satu use case dalam satu commit</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Menjaga service tidak bergantung ke SQLAlchemy</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unit of work: 08-unit-of-work/before.py</a:t>
            </a:r>
          </a:p>
        </p:txBody>
      </p:sp>
      <p:sp>
        <p:nvSpPr>
          <p:cNvPr id="28" name="CodeBg 11"/>
          <p:cNvSpPr/>
          <p:nvPr/>
        </p:nvSpPr>
        <p:spPr>
          <a:xfrm>
            <a:off x="4297680" y="1719072"/>
            <a:ext cx="4187951" cy="640080"/>
          </a:xfrm>
          <a:prstGeom prst="roundRect">
            <a:avLst>
              <a:gd name="adj" fmla="val 2857"/>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640080"/>
          </a:xfrm>
          <a:prstGeom prst="rect">
            <a:avLst/>
          </a:prstGeom>
          <a:noFill/>
        </p:spPr>
        <p:txBody>
          <a:bodyPr wrap="none" lIns="146304" tIns="91440" rIns="146304" bIns="54864">
            <a:spAutoFit/>
          </a:bodyPr>
          <a:lstStyle/>
          <a:p>
            <a:pPr>
              <a:lnSpc>
                <a:spcPct val="103448"/>
              </a:lnSpc>
              <a:spcAft>
                <a:spcPts val="0"/>
              </a:spcAft>
            </a:pPr>
            <a:r>
              <a:rPr sz="725" i="0">
                <a:solidFill>
                  <a:srgbClr val="FF8E6E"/>
                </a:solidFill>
                <a:latin typeface="Inconsolata"/>
              </a:rPr>
              <a:t>class</a:t>
            </a:r>
            <a:r>
              <a:rPr sz="725" i="0">
                <a:solidFill>
                  <a:srgbClr val="E6EDF3"/>
                </a:solidFill>
                <a:latin typeface="Inconsolata"/>
              </a:rPr>
              <a:t> </a:t>
            </a:r>
            <a:r>
              <a:rPr sz="725" i="0">
                <a:solidFill>
                  <a:srgbClr val="7FDBCA"/>
                </a:solidFill>
                <a:latin typeface="Inconsolata"/>
              </a:rPr>
              <a:t>ProductRepository</a:t>
            </a:r>
            <a:r>
              <a:rPr sz="725" i="0">
                <a:solidFill>
                  <a:srgbClr val="E6EDF3"/>
                </a:solidFill>
                <a:latin typeface="Inconsolata"/>
              </a:rPr>
              <a:t>:</a:t>
            </a:r>
          </a:p>
          <a:p>
            <a:pPr>
              <a:lnSpc>
                <a:spcPct val="103448"/>
              </a:lnSpc>
              <a:spcAft>
                <a:spcPts val="0"/>
              </a:spcAft>
            </a:pPr>
            <a:r>
              <a:rPr sz="725" i="0">
                <a:solidFill>
                  <a:srgbClr val="E6EDF3"/>
                </a:solidFill>
                <a:latin typeface="Inconsolata"/>
              </a:rPr>
              <a:t>    ...</a:t>
            </a:r>
          </a:p>
          <a:p>
            <a:pPr>
              <a:lnSpc>
                <a:spcPct val="103448"/>
              </a:lnSpc>
              <a:spcAft>
                <a:spcPts val="0"/>
              </a:spcAft>
            </a:pP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save</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product: </a:t>
            </a:r>
            <a:r>
              <a:rPr sz="725" i="0">
                <a:solidFill>
                  <a:srgbClr val="7FDBCA"/>
                </a:solidFill>
                <a:latin typeface="Inconsolata"/>
              </a:rPr>
              <a:t>ProductRecord</a:t>
            </a:r>
            <a:r>
              <a:rPr sz="725" i="0">
                <a:solidFill>
                  <a:srgbClr val="E6EDF3"/>
                </a:solidFill>
                <a:latin typeface="Inconsolata"/>
              </a:rPr>
              <a:t>) -&gt; </a:t>
            </a:r>
            <a:r>
              <a:rPr sz="725" i="0">
                <a:solidFill>
                  <a:srgbClr val="FF8E6E"/>
                </a:solidFill>
                <a:latin typeface="Inconsolata"/>
              </a:rPr>
              <a:t>None</a:t>
            </a:r>
            <a:r>
              <a:rPr sz="725" i="0">
                <a:solidFill>
                  <a:srgbClr val="E6EDF3"/>
                </a:solidFill>
                <a:latin typeface="Inconsolata"/>
              </a:rPr>
              <a:t>:</a:t>
            </a:r>
          </a:p>
          <a:p>
            <a:pPr>
              <a:lnSpc>
                <a:spcPct val="103448"/>
              </a:lnSpc>
              <a:spcAft>
                <a:spcPts val="0"/>
              </a:spcAft>
            </a:pPr>
            <a:r>
              <a:rPr sz="725" i="0">
                <a:solidFill>
                  <a:srgbClr val="E6EDF3"/>
                </a:solidFill>
                <a:latin typeface="Inconsolata"/>
              </a:rPr>
              <a:t>        </a:t>
            </a:r>
            <a:r>
              <a:rPr sz="725" i="0">
                <a:solidFill>
                  <a:srgbClr val="C3A6FF"/>
                </a:solidFill>
                <a:latin typeface="Inconsolata"/>
              </a:rPr>
              <a:t>self</a:t>
            </a:r>
            <a:r>
              <a:rPr sz="725" i="0">
                <a:solidFill>
                  <a:srgbClr val="E6EDF3"/>
                </a:solidFill>
                <a:latin typeface="Inconsolata"/>
              </a:rPr>
              <a:t>.session.commit()  </a:t>
            </a:r>
            <a:r>
              <a:rPr sz="725" i="1">
                <a:solidFill>
                  <a:srgbClr val="8B98A8"/>
                </a:solidFill>
                <a:latin typeface="Inconsolata"/>
              </a:rPr>
              <a:t># repository commit sendiri</a:t>
            </a:r>
          </a:p>
        </p:txBody>
      </p:sp>
      <p:sp>
        <p:nvSpPr>
          <p:cNvPr id="30" name="Box 13"/>
          <p:cNvSpPr/>
          <p:nvPr/>
        </p:nvSpPr>
        <p:spPr>
          <a:xfrm>
            <a:off x="4379976" y="2168271"/>
            <a:ext cx="4023359"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24505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25283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25283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25283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24597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unit of work: 08-unit-of-work/after.py</a:t>
            </a:r>
          </a:p>
        </p:txBody>
      </p:sp>
      <p:sp>
        <p:nvSpPr>
          <p:cNvPr id="36" name="CodeBg 21"/>
          <p:cNvSpPr/>
          <p:nvPr/>
        </p:nvSpPr>
        <p:spPr>
          <a:xfrm>
            <a:off x="4297680" y="2688336"/>
            <a:ext cx="4187951" cy="1508759"/>
          </a:xfrm>
          <a:prstGeom prst="roundRect">
            <a:avLst>
              <a:gd name="adj" fmla="val 121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2688336"/>
            <a:ext cx="4187951" cy="1508759"/>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place_order</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items: </a:t>
            </a:r>
            <a:r>
              <a:rPr sz="850" i="0">
                <a:solidFill>
                  <a:srgbClr val="C3A6FF"/>
                </a:solidFill>
                <a:latin typeface="Inconsolata"/>
              </a:rPr>
              <a:t>list</a:t>
            </a:r>
            <a:r>
              <a:rPr sz="850" i="0">
                <a:solidFill>
                  <a:srgbClr val="E6EDF3"/>
                </a:solidFill>
                <a:latin typeface="Inconsolata"/>
              </a:rPr>
              <a:t>[</a:t>
            </a:r>
            <a:r>
              <a:rPr sz="850" i="0">
                <a:solidFill>
                  <a:srgbClr val="C3A6FF"/>
                </a:solidFill>
                <a:latin typeface="Inconsolata"/>
              </a:rPr>
              <a:t>tuple</a:t>
            </a:r>
            <a:r>
              <a:rPr sz="850" i="0">
                <a:solidFill>
                  <a:srgbClr val="E6EDF3"/>
                </a:solidFill>
                <a:latin typeface="Inconsolata"/>
              </a:rPr>
              <a:t>[</a:t>
            </a:r>
            <a:r>
              <a:rPr sz="850" i="0">
                <a:solidFill>
                  <a:srgbClr val="C3A6FF"/>
                </a:solidFill>
                <a:latin typeface="Inconsolata"/>
              </a:rPr>
              <a:t>int</a:t>
            </a:r>
            <a:r>
              <a:rPr sz="850" i="0">
                <a:solidFill>
                  <a:srgbClr val="E6EDF3"/>
                </a:solidFill>
                <a:latin typeface="Inconsolata"/>
              </a:rPr>
              <a: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E6EDF3"/>
                </a:solidFill>
                <a:latin typeface="Inconsolata"/>
              </a:rPr>
              <a:t>    )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with</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.uow:</a:t>
            </a:r>
          </a:p>
          <a:p>
            <a:pPr>
              <a:lnSpc>
                <a:spcPct val="107843"/>
              </a:lnSpc>
              <a:spcAft>
                <a:spcPts val="0"/>
              </a:spcAft>
            </a:pPr>
            <a:r>
              <a:rPr sz="850" i="0">
                <a:solidFill>
                  <a:srgbClr val="E6EDF3"/>
                </a:solidFill>
                <a:latin typeface="Inconsolata"/>
              </a:rPr>
              <a:t>            </a:t>
            </a:r>
            <a:r>
              <a:rPr sz="850" i="0">
                <a:solidFill>
                  <a:srgbClr val="FF8E6E"/>
                </a:solidFill>
                <a:latin typeface="Inconsolata"/>
              </a:rPr>
              <a:t>for</a:t>
            </a:r>
            <a:r>
              <a:rPr sz="850" i="0">
                <a:solidFill>
                  <a:srgbClr val="E6EDF3"/>
                </a:solidFill>
                <a:latin typeface="Inconsolata"/>
              </a:rPr>
              <a:t> product_id, qty </a:t>
            </a:r>
            <a:r>
              <a:rPr sz="850" i="0">
                <a:solidFill>
                  <a:srgbClr val="FF8E6E"/>
                </a:solidFill>
                <a:latin typeface="Inconsolata"/>
              </a:rPr>
              <a:t>in</a:t>
            </a:r>
            <a:r>
              <a:rPr sz="850" i="0">
                <a:solidFill>
                  <a:srgbClr val="E6EDF3"/>
                </a:solidFill>
                <a:latin typeface="Inconsolata"/>
              </a:rPr>
              <a:t> items:</a:t>
            </a:r>
          </a:p>
          <a:p>
            <a:pPr>
              <a:lnSpc>
                <a:spcPct val="107843"/>
              </a:lnSpc>
              <a:spcAft>
                <a:spcPts val="0"/>
              </a:spcAft>
            </a:pPr>
            <a:r>
              <a:rPr sz="850" i="0">
                <a:solidFill>
                  <a:srgbClr val="E6EDF3"/>
                </a:solidFill>
                <a:latin typeface="Inconsolata"/>
              </a:rPr>
              <a:t>                product = </a:t>
            </a:r>
            <a:r>
              <a:rPr sz="850" i="0">
                <a:solidFill>
                  <a:srgbClr val="C3A6FF"/>
                </a:solidFill>
                <a:latin typeface="Inconsolata"/>
              </a:rPr>
              <a:t>self</a:t>
            </a:r>
            <a:r>
              <a:rPr sz="850" i="0">
                <a:solidFill>
                  <a:srgbClr val="E6EDF3"/>
                </a:solidFill>
                <a:latin typeface="Inconsolata"/>
              </a:rPr>
              <a:t>.uow.products.get(product_id)</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.uow.orders.add(customer)</a:t>
            </a:r>
          </a:p>
          <a:p>
            <a:pPr>
              <a:lnSpc>
                <a:spcPct val="107843"/>
              </a:lnSpc>
              <a:spcAft>
                <a:spcPts val="0"/>
              </a:spcAft>
            </a:pP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.uow.commit()  </a:t>
            </a:r>
            <a:r>
              <a:rPr sz="850" i="1">
                <a:solidFill>
                  <a:srgbClr val="8B98A8"/>
                </a:solidFill>
                <a:latin typeface="Inconsolata"/>
              </a:rPr>
              <a:t># satu commit untuk semua langkah</a:t>
            </a:r>
          </a:p>
        </p:txBody>
      </p:sp>
      <p:sp>
        <p:nvSpPr>
          <p:cNvPr id="38" name="Box 23"/>
          <p:cNvSpPr/>
          <p:nvPr/>
        </p:nvSpPr>
        <p:spPr>
          <a:xfrm>
            <a:off x="4379976" y="32170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4379976" y="3915537"/>
            <a:ext cx="4023359"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Text 25"/>
          <p:cNvSpPr txBox="1"/>
          <p:nvPr/>
        </p:nvSpPr>
        <p:spPr>
          <a:xfrm>
            <a:off x="4297680" y="4288536"/>
            <a:ext cx="4187951" cy="5029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"Maintains a list of objects affected by a business transaction and coordinates the writing out of changes and the resolution of concurrency problems."  Martin Fowler</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Unit of Work?</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Unit of Work</a:t>
            </a:r>
          </a:p>
          <a:p>
            <a:pPr algn="l">
              <a:lnSpc>
                <a:spcPct val="115000"/>
              </a:lnSpc>
              <a:spcAft>
                <a:spcPts val="400"/>
              </a:spcAft>
            </a:pPr>
            <a:r>
              <a:rPr sz="950" b="0" i="0">
                <a:solidFill>
                  <a:srgbClr val="434343"/>
                </a:solidFill>
                <a:latin typeface="Inter"/>
              </a:rPr>
              <a:t>Setiap repository commit sendiri di dalam </a:t>
            </a:r>
            <a:r>
              <a:rPr sz="950" b="0" i="0">
                <a:solidFill>
                  <a:srgbClr val="B5482A"/>
                </a:solidFill>
                <a:latin typeface="Inconsolata"/>
              </a:rPr>
              <a:t>save()</a:t>
            </a:r>
            <a:r>
              <a:rPr sz="950" b="0" i="0">
                <a:solidFill>
                  <a:srgbClr val="434343"/>
                </a:solidFill>
                <a:latin typeface="Inter"/>
              </a:rPr>
              <a:t> atau </a:t>
            </a:r>
            <a:r>
              <a:rPr sz="950" b="0" i="0">
                <a:solidFill>
                  <a:srgbClr val="B5482A"/>
                </a:solidFill>
                <a:latin typeface="Inconsolata"/>
              </a:rPr>
              <a:t>add()</a:t>
            </a:r>
            <a:r>
              <a:rPr sz="950" b="0" i="0">
                <a:solidFill>
                  <a:srgbClr val="434343"/>
                </a:solidFill>
                <a:latin typeface="Inter"/>
              </a:rPr>
              <a:t>. Begitu </a:t>
            </a:r>
            <a:r>
              <a:rPr sz="950" b="0" i="0">
                <a:solidFill>
                  <a:srgbClr val="B5482A"/>
                </a:solidFill>
                <a:latin typeface="Inconsolata"/>
              </a:rPr>
              <a:t>products.save()</a:t>
            </a:r>
            <a:r>
              <a:rPr sz="950" b="0" i="0">
                <a:solidFill>
                  <a:srgbClr val="434343"/>
                </a:solidFill>
                <a:latin typeface="Inter"/>
              </a:rPr>
              <a:t> dipanggil, perubahan stok langsung permanen.</a:t>
            </a:r>
          </a:p>
          <a:p>
            <a:pPr algn="l">
              <a:lnSpc>
                <a:spcPct val="115000"/>
              </a:lnSpc>
              <a:spcAft>
                <a:spcPts val="400"/>
              </a:spcAft>
            </a:pPr>
            <a:r>
              <a:rPr sz="1050" b="1" i="0">
                <a:solidFill>
                  <a:srgbClr val="1C4587"/>
                </a:solidFill>
                <a:latin typeface="Inter"/>
              </a:rPr>
              <a:t>Jika langkah use casenya makin banyak</a:t>
            </a:r>
          </a:p>
          <a:p>
            <a:pPr algn="l">
              <a:lnSpc>
                <a:spcPct val="115000"/>
              </a:lnSpc>
              <a:spcAft>
                <a:spcPts val="400"/>
              </a:spcAft>
            </a:pPr>
            <a:r>
              <a:rPr sz="950" b="0" i="0">
                <a:solidFill>
                  <a:srgbClr val="434343"/>
                </a:solidFill>
                <a:latin typeface="Inter"/>
              </a:rPr>
              <a:t>Service tidak bisa menggabungkan beberapa langkah menjadi satu transaksi. Jika satu langkah gagal, langkah sebelumnya sudah terlanjur tersimpan.</a:t>
            </a:r>
          </a:p>
          <a:p>
            <a:pPr algn="l">
              <a:lnSpc>
                <a:spcPct val="115000"/>
              </a:lnSpc>
              <a:spcAft>
                <a:spcPts val="400"/>
              </a:spcAft>
            </a:pPr>
            <a:r>
              <a:rPr sz="950" b="0" i="0">
                <a:solidFill>
                  <a:srgbClr val="434343"/>
                </a:solidFill>
                <a:latin typeface="Inter"/>
              </a:rPr>
              <a:t>Hal ini membuat data tersimpan setengah jadi. Jika service mengatur session sendiri, service jadi bergantung ke SQLAlchemy.</a:t>
            </a:r>
          </a:p>
          <a:p>
            <a:pPr algn="l">
              <a:lnSpc>
                <a:spcPct val="115000"/>
              </a:lnSpc>
              <a:spcAft>
                <a:spcPts val="400"/>
              </a:spcAft>
            </a:pPr>
            <a:r>
              <a:rPr sz="1050" b="1" i="0">
                <a:solidFill>
                  <a:srgbClr val="1C4587"/>
                </a:solidFill>
                <a:latin typeface="Inter"/>
              </a:rPr>
              <a:t>Yang dipakai dari Python: with (context manager)</a:t>
            </a:r>
          </a:p>
          <a:p>
            <a:pPr algn="l">
              <a:lnSpc>
                <a:spcPct val="115000"/>
              </a:lnSpc>
              <a:spcAft>
                <a:spcPts val="400"/>
              </a:spcAft>
            </a:pPr>
            <a:r>
              <a:rPr sz="950" b="0" i="0">
                <a:solidFill>
                  <a:srgbClr val="434343"/>
                </a:solidFill>
                <a:latin typeface="Inter"/>
              </a:rPr>
              <a:t>Class yang punya </a:t>
            </a:r>
            <a:r>
              <a:rPr sz="950" b="0" i="0">
                <a:solidFill>
                  <a:srgbClr val="B5482A"/>
                </a:solidFill>
                <a:latin typeface="Inconsolata"/>
              </a:rPr>
              <a:t>__enter__</a:t>
            </a:r>
            <a:r>
              <a:rPr sz="950" b="0" i="0">
                <a:solidFill>
                  <a:srgbClr val="434343"/>
                </a:solidFill>
                <a:latin typeface="Inter"/>
              </a:rPr>
              <a:t> dan </a:t>
            </a:r>
            <a:r>
              <a:rPr sz="950" b="0" i="0">
                <a:solidFill>
                  <a:srgbClr val="B5482A"/>
                </a:solidFill>
                <a:latin typeface="Inconsolata"/>
              </a:rPr>
              <a:t>__exit__</a:t>
            </a:r>
            <a:r>
              <a:rPr sz="950" b="0" i="0">
                <a:solidFill>
                  <a:srgbClr val="434343"/>
                </a:solidFill>
                <a:latin typeface="Inter"/>
              </a:rPr>
              <a:t> bisa dipakai dengan </a:t>
            </a:r>
            <a:r>
              <a:rPr sz="950" b="0" i="0">
                <a:solidFill>
                  <a:srgbClr val="B5482A"/>
                </a:solidFill>
                <a:latin typeface="Inconsolata"/>
              </a:rPr>
              <a:t>with</a:t>
            </a:r>
            <a:r>
              <a:rPr sz="950" b="0" i="0">
                <a:solidFill>
                  <a:srgbClr val="434343"/>
                </a:solidFill>
                <a:latin typeface="Inter"/>
              </a:rPr>
              <a:t>. Python menjamin </a:t>
            </a:r>
            <a:r>
              <a:rPr sz="950" b="0" i="0">
                <a:solidFill>
                  <a:srgbClr val="B5482A"/>
                </a:solidFill>
                <a:latin typeface="Inconsolata"/>
              </a:rPr>
              <a:t>__exit__</a:t>
            </a:r>
            <a:r>
              <a:rPr sz="950" b="0" i="0">
                <a:solidFill>
                  <a:srgbClr val="434343"/>
                </a:solidFill>
                <a:latin typeface="Inter"/>
              </a:rPr>
              <a:t> selalu dipanggil, termasuk saat terjadi error.</a:t>
            </a:r>
          </a:p>
        </p:txBody>
      </p:sp>
      <p:graphicFrame>
        <p:nvGraphicFramePr>
          <p:cNvPr id="23" name="Table 4"/>
          <p:cNvGraphicFramePr>
            <a:graphicFrameLocks noGrp="1"/>
          </p:cNvGraphicFramePr>
          <p:nvPr/>
        </p:nvGraphicFramePr>
        <p:xfrm>
          <a:off x="4800600" y="1481328"/>
          <a:ext cx="3685032" cy="1828800"/>
        </p:xfrm>
        <a:graphic>
          <a:graphicData uri="http://schemas.openxmlformats.org/drawingml/2006/table">
            <a:tbl>
              <a:tblPr firstRow="1" bandRow="1"/>
              <a:tblGrid>
                <a:gridCol w="1399032">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with self.uow:</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__enter__: buat session dan semua repository</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self.uow.commit()</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Simpan semua perubahan sekaligus</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Keluar dari with</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__exit__: rollback jika belum commit, lalu tutup session</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Repository commit sendiri (1/2)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3474"/>
              </a:lnSpc>
              <a:spcAft>
                <a:spcPts val="0"/>
              </a:spcAft>
            </a:pPr>
            <a:r>
              <a:rPr sz="805" i="0">
                <a:solidFill>
                  <a:srgbClr val="5C6773"/>
                </a:solidFill>
                <a:latin typeface="Inconsolata"/>
              </a:rPr>
              <a:t> 8  </a:t>
            </a:r>
            <a:r>
              <a:rPr sz="805" i="0">
                <a:solidFill>
                  <a:srgbClr val="FF8E6E"/>
                </a:solidFill>
                <a:latin typeface="Inconsolata"/>
              </a:rPr>
              <a:t>from</a:t>
            </a:r>
            <a:r>
              <a:rPr sz="805" i="0">
                <a:solidFill>
                  <a:srgbClr val="E6EDF3"/>
                </a:solidFill>
                <a:latin typeface="Inconsolata"/>
              </a:rPr>
              <a:t> sqlalchemy </a:t>
            </a:r>
            <a:r>
              <a:rPr sz="805" i="0">
                <a:solidFill>
                  <a:srgbClr val="FF8E6E"/>
                </a:solidFill>
                <a:latin typeface="Inconsolata"/>
              </a:rPr>
              <a:t>import</a:t>
            </a:r>
            <a:r>
              <a:rPr sz="805" i="0">
                <a:solidFill>
                  <a:srgbClr val="E6EDF3"/>
                </a:solidFill>
                <a:latin typeface="Inconsolata"/>
              </a:rPr>
              <a:t> </a:t>
            </a:r>
            <a:r>
              <a:rPr sz="805" i="0">
                <a:solidFill>
                  <a:srgbClr val="7FDBCA"/>
                </a:solidFill>
                <a:latin typeface="Inconsolata"/>
              </a:rPr>
              <a:t>String</a:t>
            </a:r>
            <a:r>
              <a:rPr sz="805" i="0">
                <a:solidFill>
                  <a:srgbClr val="E6EDF3"/>
                </a:solidFill>
                <a:latin typeface="Inconsolata"/>
              </a:rPr>
              <a:t>, create_engine</a:t>
            </a:r>
          </a:p>
          <a:p>
            <a:pPr>
              <a:lnSpc>
                <a:spcPct val="103474"/>
              </a:lnSpc>
              <a:spcAft>
                <a:spcPts val="0"/>
              </a:spcAft>
            </a:pPr>
            <a:r>
              <a:rPr sz="805" i="0">
                <a:solidFill>
                  <a:srgbClr val="5C6773"/>
                </a:solidFill>
                <a:latin typeface="Inconsolata"/>
              </a:rPr>
              <a:t> 9  </a:t>
            </a:r>
            <a:r>
              <a:rPr sz="805" i="0">
                <a:solidFill>
                  <a:srgbClr val="FF8E6E"/>
                </a:solidFill>
                <a:latin typeface="Inconsolata"/>
              </a:rPr>
              <a:t>from</a:t>
            </a:r>
            <a:r>
              <a:rPr sz="805" i="0">
                <a:solidFill>
                  <a:srgbClr val="E6EDF3"/>
                </a:solidFill>
                <a:latin typeface="Inconsolata"/>
              </a:rPr>
              <a:t> sqlalchemy.orm </a:t>
            </a:r>
            <a:r>
              <a:rPr sz="805" i="0">
                <a:solidFill>
                  <a:srgbClr val="FF8E6E"/>
                </a:solidFill>
                <a:latin typeface="Inconsolata"/>
              </a:rPr>
              <a:t>import</a:t>
            </a:r>
            <a:r>
              <a:rPr sz="805" i="0">
                <a:solidFill>
                  <a:srgbClr val="E6EDF3"/>
                </a:solidFill>
                <a:latin typeface="Inconsolata"/>
              </a:rPr>
              <a:t> (</a:t>
            </a:r>
          </a:p>
          <a:p>
            <a:pPr>
              <a:lnSpc>
                <a:spcPct val="103474"/>
              </a:lnSpc>
              <a:spcAft>
                <a:spcPts val="0"/>
              </a:spcAft>
            </a:pPr>
            <a:r>
              <a:rPr sz="805" i="0">
                <a:solidFill>
                  <a:srgbClr val="5C6773"/>
                </a:solidFill>
                <a:latin typeface="Inconsolata"/>
              </a:rPr>
              <a:t>10  </a:t>
            </a:r>
            <a:r>
              <a:rPr sz="805" i="0">
                <a:solidFill>
                  <a:srgbClr val="E6EDF3"/>
                </a:solidFill>
                <a:latin typeface="Inconsolata"/>
              </a:rPr>
              <a:t>    </a:t>
            </a:r>
            <a:r>
              <a:rPr sz="805" i="0">
                <a:solidFill>
                  <a:srgbClr val="7FDBCA"/>
                </a:solidFill>
                <a:latin typeface="Inconsolata"/>
              </a:rPr>
              <a:t>DeclarativeBase</a:t>
            </a:r>
            <a:r>
              <a:rPr sz="805" i="0">
                <a:solidFill>
                  <a:srgbClr val="E6EDF3"/>
                </a:solidFill>
                <a:latin typeface="Inconsolata"/>
              </a:rPr>
              <a:t>, </a:t>
            </a:r>
            <a:r>
              <a:rPr sz="805" i="0">
                <a:solidFill>
                  <a:srgbClr val="7FDBCA"/>
                </a:solidFill>
                <a:latin typeface="Inconsolata"/>
              </a:rPr>
              <a:t>Mapped</a:t>
            </a:r>
            <a:r>
              <a:rPr sz="805" i="0">
                <a:solidFill>
                  <a:srgbClr val="E6EDF3"/>
                </a:solidFill>
                <a:latin typeface="Inconsolata"/>
              </a:rPr>
              <a:t>, </a:t>
            </a:r>
            <a:r>
              <a:rPr sz="805" i="0">
                <a:solidFill>
                  <a:srgbClr val="7FDBCA"/>
                </a:solidFill>
                <a:latin typeface="Inconsolata"/>
              </a:rPr>
              <a:t>Session</a:t>
            </a:r>
            <a:r>
              <a:rPr sz="805" i="0">
                <a:solidFill>
                  <a:srgbClr val="E6EDF3"/>
                </a:solidFill>
                <a:latin typeface="Inconsolata"/>
              </a:rPr>
              <a:t>, mapped_column,</a:t>
            </a:r>
          </a:p>
          <a:p>
            <a:pPr>
              <a:lnSpc>
                <a:spcPct val="103474"/>
              </a:lnSpc>
              <a:spcAft>
                <a:spcPts val="0"/>
              </a:spcAft>
            </a:pPr>
            <a:r>
              <a:rPr sz="805" i="0">
                <a:solidFill>
                  <a:srgbClr val="5C6773"/>
                </a:solidFill>
                <a:latin typeface="Inconsolata"/>
              </a:rPr>
              <a:t>11  </a:t>
            </a:r>
            <a:r>
              <a:rPr sz="805" i="0">
                <a:solidFill>
                  <a:srgbClr val="E6EDF3"/>
                </a:solidFill>
                <a:latin typeface="Inconsolata"/>
              </a:rPr>
              <a:t>)</a:t>
            </a:r>
          </a:p>
          <a:p>
            <a:pPr>
              <a:lnSpc>
                <a:spcPct val="103474"/>
              </a:lnSpc>
              <a:spcAft>
                <a:spcPts val="0"/>
              </a:spcAft>
            </a:pPr>
            <a:r>
              <a:rPr sz="805" i="0">
                <a:solidFill>
                  <a:srgbClr val="5C6773"/>
                </a:solidFill>
                <a:latin typeface="Inconsolata"/>
              </a:rPr>
              <a:t>12  </a:t>
            </a:r>
            <a:r>
              <a:rPr sz="805" i="0">
                <a:solidFill>
                  <a:srgbClr val="E6EDF3"/>
                </a:solidFill>
                <a:latin typeface="Inconsolata"/>
              </a:rPr>
              <a:t> </a:t>
            </a:r>
          </a:p>
          <a:p>
            <a:pPr>
              <a:lnSpc>
                <a:spcPct val="103474"/>
              </a:lnSpc>
              <a:spcAft>
                <a:spcPts val="0"/>
              </a:spcAft>
            </a:pPr>
            <a:r>
              <a:rPr sz="805" i="0">
                <a:solidFill>
                  <a:srgbClr val="5C6773"/>
                </a:solidFill>
                <a:latin typeface="Inconsolata"/>
              </a:rPr>
              <a:t>13  </a:t>
            </a:r>
            <a:r>
              <a:rPr sz="805" i="0">
                <a:solidFill>
                  <a:srgbClr val="E6EDF3"/>
                </a:solidFill>
                <a:latin typeface="Inconsolata"/>
              </a:rPr>
              <a:t> </a:t>
            </a:r>
          </a:p>
          <a:p>
            <a:pPr>
              <a:lnSpc>
                <a:spcPct val="103474"/>
              </a:lnSpc>
              <a:spcAft>
                <a:spcPts val="0"/>
              </a:spcAft>
            </a:pPr>
            <a:r>
              <a:rPr sz="805" i="0">
                <a:solidFill>
                  <a:srgbClr val="5C6773"/>
                </a:solidFill>
                <a:latin typeface="Inconsolata"/>
              </a:rPr>
              <a:t>14  </a:t>
            </a:r>
            <a:r>
              <a:rPr sz="805" i="0">
                <a:solidFill>
                  <a:srgbClr val="FF8E6E"/>
                </a:solidFill>
                <a:latin typeface="Inconsolata"/>
              </a:rPr>
              <a:t>class</a:t>
            </a:r>
            <a:r>
              <a:rPr sz="805" i="0">
                <a:solidFill>
                  <a:srgbClr val="E6EDF3"/>
                </a:solidFill>
                <a:latin typeface="Inconsolata"/>
              </a:rPr>
              <a:t> </a:t>
            </a:r>
            <a:r>
              <a:rPr sz="805" i="0">
                <a:solidFill>
                  <a:srgbClr val="7FDBCA"/>
                </a:solidFill>
                <a:latin typeface="Inconsolata"/>
              </a:rPr>
              <a:t>Base</a:t>
            </a:r>
            <a:r>
              <a:rPr sz="805" i="0">
                <a:solidFill>
                  <a:srgbClr val="E6EDF3"/>
                </a:solidFill>
                <a:latin typeface="Inconsolata"/>
              </a:rPr>
              <a:t>(</a:t>
            </a:r>
            <a:r>
              <a:rPr sz="805" i="0">
                <a:solidFill>
                  <a:srgbClr val="7FDBCA"/>
                </a:solidFill>
                <a:latin typeface="Inconsolata"/>
              </a:rPr>
              <a:t>DeclarativeBase</a:t>
            </a:r>
            <a:r>
              <a:rPr sz="805" i="0">
                <a:solidFill>
                  <a:srgbClr val="E6EDF3"/>
                </a:solidFill>
                <a:latin typeface="Inconsolata"/>
              </a:rPr>
              <a:t>):</a:t>
            </a:r>
          </a:p>
          <a:p>
            <a:pPr>
              <a:lnSpc>
                <a:spcPct val="103474"/>
              </a:lnSpc>
              <a:spcAft>
                <a:spcPts val="0"/>
              </a:spcAft>
            </a:pPr>
            <a:r>
              <a:rPr sz="805" i="0">
                <a:solidFill>
                  <a:srgbClr val="5C6773"/>
                </a:solidFill>
                <a:latin typeface="Inconsolata"/>
              </a:rPr>
              <a:t>15  </a:t>
            </a:r>
            <a:r>
              <a:rPr sz="805" i="0">
                <a:solidFill>
                  <a:srgbClr val="E6EDF3"/>
                </a:solidFill>
                <a:latin typeface="Inconsolata"/>
              </a:rPr>
              <a:t>    </a:t>
            </a:r>
            <a:r>
              <a:rPr sz="805" i="0">
                <a:solidFill>
                  <a:srgbClr val="FF8E6E"/>
                </a:solidFill>
                <a:latin typeface="Inconsolata"/>
              </a:rPr>
              <a:t>pass</a:t>
            </a:r>
          </a:p>
          <a:p>
            <a:pPr>
              <a:lnSpc>
                <a:spcPct val="103474"/>
              </a:lnSpc>
              <a:spcAft>
                <a:spcPts val="0"/>
              </a:spcAft>
            </a:pPr>
            <a:r>
              <a:rPr sz="805" i="0">
                <a:solidFill>
                  <a:srgbClr val="5C6773"/>
                </a:solidFill>
                <a:latin typeface="Inconsolata"/>
              </a:rPr>
              <a:t>16  </a:t>
            </a:r>
            <a:r>
              <a:rPr sz="805" i="0">
                <a:solidFill>
                  <a:srgbClr val="E6EDF3"/>
                </a:solidFill>
                <a:latin typeface="Inconsolata"/>
              </a:rPr>
              <a:t> </a:t>
            </a:r>
          </a:p>
          <a:p>
            <a:pPr>
              <a:lnSpc>
                <a:spcPct val="103474"/>
              </a:lnSpc>
              <a:spcAft>
                <a:spcPts val="0"/>
              </a:spcAft>
            </a:pPr>
            <a:r>
              <a:rPr sz="805" i="0">
                <a:solidFill>
                  <a:srgbClr val="5C6773"/>
                </a:solidFill>
                <a:latin typeface="Inconsolata"/>
              </a:rPr>
              <a:t>17  </a:t>
            </a:r>
            <a:r>
              <a:rPr sz="805" i="0">
                <a:solidFill>
                  <a:srgbClr val="E6EDF3"/>
                </a:solidFill>
                <a:latin typeface="Inconsolata"/>
              </a:rPr>
              <a:t> </a:t>
            </a:r>
          </a:p>
          <a:p>
            <a:pPr>
              <a:lnSpc>
                <a:spcPct val="103474"/>
              </a:lnSpc>
              <a:spcAft>
                <a:spcPts val="0"/>
              </a:spcAft>
            </a:pPr>
            <a:r>
              <a:rPr sz="805" i="0">
                <a:solidFill>
                  <a:srgbClr val="5C6773"/>
                </a:solidFill>
                <a:latin typeface="Inconsolata"/>
              </a:rPr>
              <a:t>18  </a:t>
            </a:r>
            <a:r>
              <a:rPr sz="805" i="0">
                <a:solidFill>
                  <a:srgbClr val="FF8E6E"/>
                </a:solidFill>
                <a:latin typeface="Inconsolata"/>
              </a:rPr>
              <a:t>class</a:t>
            </a:r>
            <a:r>
              <a:rPr sz="805" i="0">
                <a:solidFill>
                  <a:srgbClr val="E6EDF3"/>
                </a:solidFill>
                <a:latin typeface="Inconsolata"/>
              </a:rPr>
              <a:t> </a:t>
            </a:r>
            <a:r>
              <a:rPr sz="805" i="0">
                <a:solidFill>
                  <a:srgbClr val="7FDBCA"/>
                </a:solidFill>
                <a:latin typeface="Inconsolata"/>
              </a:rPr>
              <a:t>ProductRecord</a:t>
            </a:r>
            <a:r>
              <a:rPr sz="805" i="0">
                <a:solidFill>
                  <a:srgbClr val="E6EDF3"/>
                </a:solidFill>
                <a:latin typeface="Inconsolata"/>
              </a:rPr>
              <a:t>(</a:t>
            </a:r>
            <a:r>
              <a:rPr sz="805" i="0">
                <a:solidFill>
                  <a:srgbClr val="7FDBCA"/>
                </a:solidFill>
                <a:latin typeface="Inconsolata"/>
              </a:rPr>
              <a:t>Base</a:t>
            </a:r>
            <a:r>
              <a:rPr sz="805" i="0">
                <a:solidFill>
                  <a:srgbClr val="E6EDF3"/>
                </a:solidFill>
                <a:latin typeface="Inconsolata"/>
              </a:rPr>
              <a:t>):</a:t>
            </a:r>
          </a:p>
          <a:p>
            <a:pPr>
              <a:lnSpc>
                <a:spcPct val="103474"/>
              </a:lnSpc>
              <a:spcAft>
                <a:spcPts val="0"/>
              </a:spcAft>
            </a:pPr>
            <a:r>
              <a:rPr sz="805" i="0">
                <a:solidFill>
                  <a:srgbClr val="5C6773"/>
                </a:solidFill>
                <a:latin typeface="Inconsolata"/>
              </a:rPr>
              <a:t>19  </a:t>
            </a:r>
            <a:r>
              <a:rPr sz="805" i="0">
                <a:solidFill>
                  <a:srgbClr val="E6EDF3"/>
                </a:solidFill>
                <a:latin typeface="Inconsolata"/>
              </a:rPr>
              <a:t>    __tablename__ = </a:t>
            </a:r>
            <a:r>
              <a:rPr sz="805" i="0">
                <a:solidFill>
                  <a:srgbClr val="A5D6A7"/>
                </a:solidFill>
                <a:latin typeface="Inconsolata"/>
              </a:rPr>
              <a:t>"products"</a:t>
            </a:r>
          </a:p>
          <a:p>
            <a:pPr>
              <a:lnSpc>
                <a:spcPct val="103474"/>
              </a:lnSpc>
              <a:spcAft>
                <a:spcPts val="0"/>
              </a:spcAft>
            </a:pPr>
            <a:r>
              <a:rPr sz="805" i="0">
                <a:solidFill>
                  <a:srgbClr val="5C6773"/>
                </a:solidFill>
                <a:latin typeface="Inconsolata"/>
              </a:rPr>
              <a:t>20  </a:t>
            </a:r>
            <a:r>
              <a:rPr sz="805" i="0">
                <a:solidFill>
                  <a:srgbClr val="E6EDF3"/>
                </a:solidFill>
                <a:latin typeface="Inconsolata"/>
              </a:rPr>
              <a:t>    id: </a:t>
            </a:r>
            <a:r>
              <a:rPr sz="805" i="0">
                <a:solidFill>
                  <a:srgbClr val="7FDBCA"/>
                </a:solidFill>
                <a:latin typeface="Inconsolata"/>
              </a:rPr>
              <a:t>Mapped</a:t>
            </a:r>
            <a:r>
              <a:rPr sz="805" i="0">
                <a:solidFill>
                  <a:srgbClr val="E6EDF3"/>
                </a:solidFill>
                <a:latin typeface="Inconsolata"/>
              </a:rPr>
              <a:t>[</a:t>
            </a:r>
            <a:r>
              <a:rPr sz="805" i="0">
                <a:solidFill>
                  <a:srgbClr val="C3A6FF"/>
                </a:solidFill>
                <a:latin typeface="Inconsolata"/>
              </a:rPr>
              <a:t>int</a:t>
            </a:r>
            <a:r>
              <a:rPr sz="805" i="0">
                <a:solidFill>
                  <a:srgbClr val="E6EDF3"/>
                </a:solidFill>
                <a:latin typeface="Inconsolata"/>
              </a:rPr>
              <a:t>] = mapped_column(primary_key=</a:t>
            </a:r>
            <a:r>
              <a:rPr sz="805" i="0">
                <a:solidFill>
                  <a:srgbClr val="FF8E6E"/>
                </a:solidFill>
                <a:latin typeface="Inconsolata"/>
              </a:rPr>
              <a:t>True</a:t>
            </a:r>
            <a:r>
              <a:rPr sz="805" i="0">
                <a:solidFill>
                  <a:srgbClr val="E6EDF3"/>
                </a:solidFill>
                <a:latin typeface="Inconsolata"/>
              </a:rPr>
              <a:t>)</a:t>
            </a:r>
          </a:p>
          <a:p>
            <a:pPr>
              <a:lnSpc>
                <a:spcPct val="103474"/>
              </a:lnSpc>
              <a:spcAft>
                <a:spcPts val="0"/>
              </a:spcAft>
            </a:pPr>
            <a:r>
              <a:rPr sz="805" i="0">
                <a:solidFill>
                  <a:srgbClr val="5C6773"/>
                </a:solidFill>
                <a:latin typeface="Inconsolata"/>
              </a:rPr>
              <a:t>21  </a:t>
            </a:r>
            <a:r>
              <a:rPr sz="805" i="0">
                <a:solidFill>
                  <a:srgbClr val="E6EDF3"/>
                </a:solidFill>
                <a:latin typeface="Inconsolata"/>
              </a:rPr>
              <a:t>    name: </a:t>
            </a:r>
            <a:r>
              <a:rPr sz="805" i="0">
                <a:solidFill>
                  <a:srgbClr val="7FDBCA"/>
                </a:solidFill>
                <a:latin typeface="Inconsolata"/>
              </a:rPr>
              <a:t>Mapped</a:t>
            </a:r>
            <a:r>
              <a:rPr sz="805" i="0">
                <a:solidFill>
                  <a:srgbClr val="E6EDF3"/>
                </a:solidFill>
                <a:latin typeface="Inconsolata"/>
              </a:rPr>
              <a:t>[</a:t>
            </a:r>
            <a:r>
              <a:rPr sz="805" i="0">
                <a:solidFill>
                  <a:srgbClr val="C3A6FF"/>
                </a:solidFill>
                <a:latin typeface="Inconsolata"/>
              </a:rPr>
              <a:t>str</a:t>
            </a:r>
            <a:r>
              <a:rPr sz="805" i="0">
                <a:solidFill>
                  <a:srgbClr val="E6EDF3"/>
                </a:solidFill>
                <a:latin typeface="Inconsolata"/>
              </a:rPr>
              <a:t>] = mapped_column(</a:t>
            </a:r>
            <a:r>
              <a:rPr sz="805" i="0">
                <a:solidFill>
                  <a:srgbClr val="7FDBCA"/>
                </a:solidFill>
                <a:latin typeface="Inconsolata"/>
              </a:rPr>
              <a:t>String</a:t>
            </a:r>
            <a:r>
              <a:rPr sz="805" i="0">
                <a:solidFill>
                  <a:srgbClr val="E6EDF3"/>
                </a:solidFill>
                <a:latin typeface="Inconsolata"/>
              </a:rPr>
              <a:t>(</a:t>
            </a:r>
            <a:r>
              <a:rPr sz="805" i="0">
                <a:solidFill>
                  <a:srgbClr val="F9C97A"/>
                </a:solidFill>
                <a:latin typeface="Inconsolata"/>
              </a:rPr>
              <a:t>100</a:t>
            </a:r>
            <a:r>
              <a:rPr sz="805" i="0">
                <a:solidFill>
                  <a:srgbClr val="E6EDF3"/>
                </a:solidFill>
                <a:latin typeface="Inconsolata"/>
              </a:rPr>
              <a:t>))</a:t>
            </a:r>
          </a:p>
          <a:p>
            <a:pPr>
              <a:lnSpc>
                <a:spcPct val="103474"/>
              </a:lnSpc>
              <a:spcAft>
                <a:spcPts val="0"/>
              </a:spcAft>
            </a:pPr>
            <a:r>
              <a:rPr sz="805" i="0">
                <a:solidFill>
                  <a:srgbClr val="5C6773"/>
                </a:solidFill>
                <a:latin typeface="Inconsolata"/>
              </a:rPr>
              <a:t>22  </a:t>
            </a:r>
            <a:r>
              <a:rPr sz="805" i="0">
                <a:solidFill>
                  <a:srgbClr val="E6EDF3"/>
                </a:solidFill>
                <a:latin typeface="Inconsolata"/>
              </a:rPr>
              <a:t>    stock: </a:t>
            </a:r>
            <a:r>
              <a:rPr sz="805" i="0">
                <a:solidFill>
                  <a:srgbClr val="7FDBCA"/>
                </a:solidFill>
                <a:latin typeface="Inconsolata"/>
              </a:rPr>
              <a:t>Mapped</a:t>
            </a:r>
            <a:r>
              <a:rPr sz="805" i="0">
                <a:solidFill>
                  <a:srgbClr val="E6EDF3"/>
                </a:solidFill>
                <a:latin typeface="Inconsolata"/>
              </a:rPr>
              <a:t>[</a:t>
            </a:r>
            <a:r>
              <a:rPr sz="805" i="0">
                <a:solidFill>
                  <a:srgbClr val="C3A6FF"/>
                </a:solidFill>
                <a:latin typeface="Inconsolata"/>
              </a:rPr>
              <a:t>int</a:t>
            </a:r>
            <a:r>
              <a:rPr sz="805" i="0">
                <a:solidFill>
                  <a:srgbClr val="E6EDF3"/>
                </a:solidFill>
                <a:latin typeface="Inconsolata"/>
              </a:rPr>
              <a:t>]</a:t>
            </a:r>
          </a:p>
          <a:p>
            <a:pPr>
              <a:lnSpc>
                <a:spcPct val="103474"/>
              </a:lnSpc>
              <a:spcAft>
                <a:spcPts val="0"/>
              </a:spcAft>
            </a:pPr>
            <a:r>
              <a:rPr sz="805" i="0">
                <a:solidFill>
                  <a:srgbClr val="5C6773"/>
                </a:solidFill>
                <a:latin typeface="Inconsolata"/>
              </a:rPr>
              <a:t>23  </a:t>
            </a:r>
            <a:r>
              <a:rPr sz="805" i="0">
                <a:solidFill>
                  <a:srgbClr val="E6EDF3"/>
                </a:solidFill>
                <a:latin typeface="Inconsolata"/>
              </a:rPr>
              <a:t> </a:t>
            </a:r>
          </a:p>
          <a:p>
            <a:pPr>
              <a:lnSpc>
                <a:spcPct val="103474"/>
              </a:lnSpc>
              <a:spcAft>
                <a:spcPts val="0"/>
              </a:spcAft>
            </a:pPr>
            <a:r>
              <a:rPr sz="805" i="0">
                <a:solidFill>
                  <a:srgbClr val="5C6773"/>
                </a:solidFill>
                <a:latin typeface="Inconsolata"/>
              </a:rPr>
              <a:t>24  </a:t>
            </a:r>
            <a:r>
              <a:rPr sz="805" i="0">
                <a:solidFill>
                  <a:srgbClr val="E6EDF3"/>
                </a:solidFill>
                <a:latin typeface="Inconsolata"/>
              </a:rPr>
              <a:t> </a:t>
            </a:r>
          </a:p>
          <a:p>
            <a:pPr>
              <a:lnSpc>
                <a:spcPct val="103474"/>
              </a:lnSpc>
              <a:spcAft>
                <a:spcPts val="0"/>
              </a:spcAft>
            </a:pPr>
            <a:r>
              <a:rPr sz="805" i="0">
                <a:solidFill>
                  <a:srgbClr val="5C6773"/>
                </a:solidFill>
                <a:latin typeface="Inconsolata"/>
              </a:rPr>
              <a:t>25  </a:t>
            </a:r>
            <a:r>
              <a:rPr sz="805" i="0">
                <a:solidFill>
                  <a:srgbClr val="FF8E6E"/>
                </a:solidFill>
                <a:latin typeface="Inconsolata"/>
              </a:rPr>
              <a:t>class</a:t>
            </a:r>
            <a:r>
              <a:rPr sz="805" i="0">
                <a:solidFill>
                  <a:srgbClr val="E6EDF3"/>
                </a:solidFill>
                <a:latin typeface="Inconsolata"/>
              </a:rPr>
              <a:t> </a:t>
            </a:r>
            <a:r>
              <a:rPr sz="805" i="0">
                <a:solidFill>
                  <a:srgbClr val="7FDBCA"/>
                </a:solidFill>
                <a:latin typeface="Inconsolata"/>
              </a:rPr>
              <a:t>OrderRecord</a:t>
            </a:r>
            <a:r>
              <a:rPr sz="805" i="0">
                <a:solidFill>
                  <a:srgbClr val="E6EDF3"/>
                </a:solidFill>
                <a:latin typeface="Inconsolata"/>
              </a:rPr>
              <a:t>(</a:t>
            </a:r>
            <a:r>
              <a:rPr sz="805" i="0">
                <a:solidFill>
                  <a:srgbClr val="7FDBCA"/>
                </a:solidFill>
                <a:latin typeface="Inconsolata"/>
              </a:rPr>
              <a:t>Base</a:t>
            </a:r>
            <a:r>
              <a:rPr sz="805" i="0">
                <a:solidFill>
                  <a:srgbClr val="E6EDF3"/>
                </a:solidFill>
                <a:latin typeface="Inconsolata"/>
              </a:rPr>
              <a:t>):</a:t>
            </a:r>
          </a:p>
          <a:p>
            <a:pPr>
              <a:lnSpc>
                <a:spcPct val="103474"/>
              </a:lnSpc>
              <a:spcAft>
                <a:spcPts val="0"/>
              </a:spcAft>
            </a:pPr>
            <a:r>
              <a:rPr sz="805" i="0">
                <a:solidFill>
                  <a:srgbClr val="5C6773"/>
                </a:solidFill>
                <a:latin typeface="Inconsolata"/>
              </a:rPr>
              <a:t>26  </a:t>
            </a:r>
            <a:r>
              <a:rPr sz="805" i="0">
                <a:solidFill>
                  <a:srgbClr val="E6EDF3"/>
                </a:solidFill>
                <a:latin typeface="Inconsolata"/>
              </a:rPr>
              <a:t>    __tablename__ = </a:t>
            </a:r>
            <a:r>
              <a:rPr sz="805" i="0">
                <a:solidFill>
                  <a:srgbClr val="A5D6A7"/>
                </a:solidFill>
                <a:latin typeface="Inconsolata"/>
              </a:rPr>
              <a:t>"orders"</a:t>
            </a:r>
          </a:p>
          <a:p>
            <a:pPr>
              <a:lnSpc>
                <a:spcPct val="103474"/>
              </a:lnSpc>
              <a:spcAft>
                <a:spcPts val="0"/>
              </a:spcAft>
            </a:pPr>
            <a:r>
              <a:rPr sz="805" i="0">
                <a:solidFill>
                  <a:srgbClr val="5C6773"/>
                </a:solidFill>
                <a:latin typeface="Inconsolata"/>
              </a:rPr>
              <a:t>27  </a:t>
            </a:r>
            <a:r>
              <a:rPr sz="805" i="0">
                <a:solidFill>
                  <a:srgbClr val="E6EDF3"/>
                </a:solidFill>
                <a:latin typeface="Inconsolata"/>
              </a:rPr>
              <a:t>    id: </a:t>
            </a:r>
            <a:r>
              <a:rPr sz="805" i="0">
                <a:solidFill>
                  <a:srgbClr val="7FDBCA"/>
                </a:solidFill>
                <a:latin typeface="Inconsolata"/>
              </a:rPr>
              <a:t>Mapped</a:t>
            </a:r>
            <a:r>
              <a:rPr sz="805" i="0">
                <a:solidFill>
                  <a:srgbClr val="E6EDF3"/>
                </a:solidFill>
                <a:latin typeface="Inconsolata"/>
              </a:rPr>
              <a:t>[</a:t>
            </a:r>
            <a:r>
              <a:rPr sz="805" i="0">
                <a:solidFill>
                  <a:srgbClr val="C3A6FF"/>
                </a:solidFill>
                <a:latin typeface="Inconsolata"/>
              </a:rPr>
              <a:t>int</a:t>
            </a:r>
            <a:r>
              <a:rPr sz="805" i="0">
                <a:solidFill>
                  <a:srgbClr val="E6EDF3"/>
                </a:solidFill>
                <a:latin typeface="Inconsolata"/>
              </a:rPr>
              <a:t>] = mapped_column(primary_key=</a:t>
            </a:r>
            <a:r>
              <a:rPr sz="805" i="0">
                <a:solidFill>
                  <a:srgbClr val="FF8E6E"/>
                </a:solidFill>
                <a:latin typeface="Inconsolata"/>
              </a:rPr>
              <a:t>True</a:t>
            </a:r>
            <a:r>
              <a:rPr sz="805" i="0">
                <a:solidFill>
                  <a:srgbClr val="E6EDF3"/>
                </a:solidFill>
                <a:latin typeface="Inconsolata"/>
              </a:rPr>
              <a:t>)</a:t>
            </a:r>
          </a:p>
          <a:p>
            <a:pPr>
              <a:lnSpc>
                <a:spcPct val="103474"/>
              </a:lnSpc>
              <a:spcAft>
                <a:spcPts val="0"/>
              </a:spcAft>
            </a:pPr>
            <a:r>
              <a:rPr sz="805" i="0">
                <a:solidFill>
                  <a:srgbClr val="5C6773"/>
                </a:solidFill>
                <a:latin typeface="Inconsolata"/>
              </a:rPr>
              <a:t>28  </a:t>
            </a:r>
            <a:r>
              <a:rPr sz="805" i="0">
                <a:solidFill>
                  <a:srgbClr val="E6EDF3"/>
                </a:solidFill>
                <a:latin typeface="Inconsolata"/>
              </a:rPr>
              <a:t>    customer: </a:t>
            </a:r>
            <a:r>
              <a:rPr sz="805" i="0">
                <a:solidFill>
                  <a:srgbClr val="7FDBCA"/>
                </a:solidFill>
                <a:latin typeface="Inconsolata"/>
              </a:rPr>
              <a:t>Mapped</a:t>
            </a:r>
            <a:r>
              <a:rPr sz="805" i="0">
                <a:solidFill>
                  <a:srgbClr val="E6EDF3"/>
                </a:solidFill>
                <a:latin typeface="Inconsolata"/>
              </a:rPr>
              <a:t>[</a:t>
            </a:r>
            <a:r>
              <a:rPr sz="805" i="0">
                <a:solidFill>
                  <a:srgbClr val="C3A6FF"/>
                </a:solidFill>
                <a:latin typeface="Inconsolata"/>
              </a:rPr>
              <a:t>str</a:t>
            </a:r>
            <a:r>
              <a:rPr sz="805" i="0">
                <a:solidFill>
                  <a:srgbClr val="E6EDF3"/>
                </a:solidFill>
                <a:latin typeface="Inconsolata"/>
              </a:rPr>
              <a:t>] = mapped_column(</a:t>
            </a:r>
            <a:r>
              <a:rPr sz="805" i="0">
                <a:solidFill>
                  <a:srgbClr val="7FDBCA"/>
                </a:solidFill>
                <a:latin typeface="Inconsolata"/>
              </a:rPr>
              <a:t>String</a:t>
            </a:r>
            <a:r>
              <a:rPr sz="805" i="0">
                <a:solidFill>
                  <a:srgbClr val="E6EDF3"/>
                </a:solidFill>
                <a:latin typeface="Inconsolata"/>
              </a:rPr>
              <a:t>(</a:t>
            </a:r>
            <a:r>
              <a:rPr sz="805" i="0">
                <a:solidFill>
                  <a:srgbClr val="F9C97A"/>
                </a:solidFill>
                <a:latin typeface="Inconsolata"/>
              </a:rPr>
              <a:t>100</a:t>
            </a:r>
            <a:r>
              <a:rPr sz="805"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3474"/>
              </a:lnSpc>
              <a:spcAft>
                <a:spcPts val="0"/>
              </a:spcAft>
            </a:pPr>
            <a:r>
              <a:rPr sz="805" i="0">
                <a:solidFill>
                  <a:srgbClr val="5C6773"/>
                </a:solidFill>
                <a:latin typeface="Inconsolata"/>
              </a:rPr>
              <a:t>31  </a:t>
            </a:r>
            <a:r>
              <a:rPr sz="805" i="0">
                <a:solidFill>
                  <a:srgbClr val="FF8E6E"/>
                </a:solidFill>
                <a:latin typeface="Inconsolata"/>
              </a:rPr>
              <a:t>class</a:t>
            </a:r>
            <a:r>
              <a:rPr sz="805" i="0">
                <a:solidFill>
                  <a:srgbClr val="E6EDF3"/>
                </a:solidFill>
                <a:latin typeface="Inconsolata"/>
              </a:rPr>
              <a:t> </a:t>
            </a:r>
            <a:r>
              <a:rPr sz="805" i="0">
                <a:solidFill>
                  <a:srgbClr val="7FDBCA"/>
                </a:solidFill>
                <a:latin typeface="Inconsolata"/>
              </a:rPr>
              <a:t>ProductRepository</a:t>
            </a:r>
            <a:r>
              <a:rPr sz="805" i="0">
                <a:solidFill>
                  <a:srgbClr val="E6EDF3"/>
                </a:solidFill>
                <a:latin typeface="Inconsolata"/>
              </a:rPr>
              <a:t>:</a:t>
            </a:r>
          </a:p>
          <a:p>
            <a:pPr>
              <a:lnSpc>
                <a:spcPct val="103474"/>
              </a:lnSpc>
              <a:spcAft>
                <a:spcPts val="0"/>
              </a:spcAft>
            </a:pPr>
            <a:r>
              <a:rPr sz="805" i="0">
                <a:solidFill>
                  <a:srgbClr val="5C6773"/>
                </a:solidFill>
                <a:latin typeface="Inconsolata"/>
              </a:rPr>
              <a:t>32  </a:t>
            </a:r>
            <a:r>
              <a:rPr sz="805" i="0">
                <a:solidFill>
                  <a:srgbClr val="E6EDF3"/>
                </a:solidFill>
                <a:latin typeface="Inconsolata"/>
              </a:rPr>
              <a:t>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__init__</a:t>
            </a:r>
            <a:r>
              <a:rPr sz="805" i="0">
                <a:solidFill>
                  <a:srgbClr val="E6EDF3"/>
                </a:solidFill>
                <a:latin typeface="Inconsolata"/>
              </a:rPr>
              <a:t>(</a:t>
            </a:r>
            <a:r>
              <a:rPr sz="805" i="0">
                <a:solidFill>
                  <a:srgbClr val="C3A6FF"/>
                </a:solidFill>
                <a:latin typeface="Inconsolata"/>
              </a:rPr>
              <a:t>self</a:t>
            </a:r>
            <a:r>
              <a:rPr sz="805" i="0">
                <a:solidFill>
                  <a:srgbClr val="E6EDF3"/>
                </a:solidFill>
                <a:latin typeface="Inconsolata"/>
              </a:rPr>
              <a:t>, session: </a:t>
            </a:r>
            <a:r>
              <a:rPr sz="805" i="0">
                <a:solidFill>
                  <a:srgbClr val="7FDBCA"/>
                </a:solidFill>
                <a:latin typeface="Inconsolata"/>
              </a:rPr>
              <a:t>Session</a:t>
            </a:r>
            <a:r>
              <a:rPr sz="805" i="0">
                <a:solidFill>
                  <a:srgbClr val="E6EDF3"/>
                </a:solidFill>
                <a:latin typeface="Inconsolata"/>
              </a:rPr>
              <a:t>):</a:t>
            </a:r>
          </a:p>
          <a:p>
            <a:pPr>
              <a:lnSpc>
                <a:spcPct val="103474"/>
              </a:lnSpc>
              <a:spcAft>
                <a:spcPts val="0"/>
              </a:spcAft>
            </a:pPr>
            <a:r>
              <a:rPr sz="805" i="0">
                <a:solidFill>
                  <a:srgbClr val="5C6773"/>
                </a:solidFill>
                <a:latin typeface="Inconsolata"/>
              </a:rPr>
              <a:t>33  </a:t>
            </a:r>
            <a:r>
              <a:rPr sz="805" i="0">
                <a:solidFill>
                  <a:srgbClr val="E6EDF3"/>
                </a:solidFill>
                <a:latin typeface="Inconsolata"/>
              </a:rPr>
              <a:t>        </a:t>
            </a:r>
            <a:r>
              <a:rPr sz="805" i="0">
                <a:solidFill>
                  <a:srgbClr val="C3A6FF"/>
                </a:solidFill>
                <a:latin typeface="Inconsolata"/>
              </a:rPr>
              <a:t>self</a:t>
            </a:r>
            <a:r>
              <a:rPr sz="805" i="0">
                <a:solidFill>
                  <a:srgbClr val="E6EDF3"/>
                </a:solidFill>
                <a:latin typeface="Inconsolata"/>
              </a:rPr>
              <a:t>.session = session</a:t>
            </a:r>
          </a:p>
          <a:p>
            <a:pPr>
              <a:lnSpc>
                <a:spcPct val="103474"/>
              </a:lnSpc>
              <a:spcAft>
                <a:spcPts val="0"/>
              </a:spcAft>
            </a:pPr>
            <a:r>
              <a:rPr sz="805" i="0">
                <a:solidFill>
                  <a:srgbClr val="5C6773"/>
                </a:solidFill>
                <a:latin typeface="Inconsolata"/>
              </a:rPr>
              <a:t>34  </a:t>
            </a:r>
            <a:r>
              <a:rPr sz="805" i="0">
                <a:solidFill>
                  <a:srgbClr val="E6EDF3"/>
                </a:solidFill>
                <a:latin typeface="Inconsolata"/>
              </a:rPr>
              <a:t> </a:t>
            </a:r>
          </a:p>
          <a:p>
            <a:pPr>
              <a:lnSpc>
                <a:spcPct val="103474"/>
              </a:lnSpc>
              <a:spcAft>
                <a:spcPts val="0"/>
              </a:spcAft>
            </a:pPr>
            <a:r>
              <a:rPr sz="805" i="0">
                <a:solidFill>
                  <a:srgbClr val="5C6773"/>
                </a:solidFill>
                <a:latin typeface="Inconsolata"/>
              </a:rPr>
              <a:t>35  </a:t>
            </a:r>
            <a:r>
              <a:rPr sz="805" i="0">
                <a:solidFill>
                  <a:srgbClr val="E6EDF3"/>
                </a:solidFill>
                <a:latin typeface="Inconsolata"/>
              </a:rPr>
              <a:t>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get</a:t>
            </a:r>
            <a:r>
              <a:rPr sz="805" i="0">
                <a:solidFill>
                  <a:srgbClr val="E6EDF3"/>
                </a:solidFill>
                <a:latin typeface="Inconsolata"/>
              </a:rPr>
              <a:t>(</a:t>
            </a:r>
            <a:r>
              <a:rPr sz="805" i="0">
                <a:solidFill>
                  <a:srgbClr val="C3A6FF"/>
                </a:solidFill>
                <a:latin typeface="Inconsolata"/>
              </a:rPr>
              <a:t>self</a:t>
            </a:r>
            <a:r>
              <a:rPr sz="805" i="0">
                <a:solidFill>
                  <a:srgbClr val="E6EDF3"/>
                </a:solidFill>
                <a:latin typeface="Inconsolata"/>
              </a:rPr>
              <a:t>, product_id: </a:t>
            </a:r>
            <a:r>
              <a:rPr sz="805" i="0">
                <a:solidFill>
                  <a:srgbClr val="C3A6FF"/>
                </a:solidFill>
                <a:latin typeface="Inconsolata"/>
              </a:rPr>
              <a:t>int</a:t>
            </a:r>
            <a:r>
              <a:rPr sz="805" i="0">
                <a:solidFill>
                  <a:srgbClr val="E6EDF3"/>
                </a:solidFill>
                <a:latin typeface="Inconsolata"/>
              </a:rPr>
              <a:t>) -&gt; </a:t>
            </a:r>
            <a:r>
              <a:rPr sz="805" i="0">
                <a:solidFill>
                  <a:srgbClr val="7FDBCA"/>
                </a:solidFill>
                <a:latin typeface="Inconsolata"/>
              </a:rPr>
              <a:t>ProductRecord</a:t>
            </a:r>
            <a:r>
              <a:rPr sz="805" i="0">
                <a:solidFill>
                  <a:srgbClr val="E6EDF3"/>
                </a:solidFill>
                <a:latin typeface="Inconsolata"/>
              </a:rPr>
              <a:t>:</a:t>
            </a:r>
          </a:p>
          <a:p>
            <a:pPr>
              <a:lnSpc>
                <a:spcPct val="103474"/>
              </a:lnSpc>
              <a:spcAft>
                <a:spcPts val="0"/>
              </a:spcAft>
            </a:pPr>
            <a:r>
              <a:rPr sz="805" i="0">
                <a:solidFill>
                  <a:srgbClr val="5C6773"/>
                </a:solidFill>
                <a:latin typeface="Inconsolata"/>
              </a:rPr>
              <a:t>36  </a:t>
            </a:r>
            <a:r>
              <a:rPr sz="805" i="0">
                <a:solidFill>
                  <a:srgbClr val="E6EDF3"/>
                </a:solidFill>
                <a:latin typeface="Inconsolata"/>
              </a:rPr>
              <a:t>        </a:t>
            </a:r>
            <a:r>
              <a:rPr sz="805" i="0">
                <a:solidFill>
                  <a:srgbClr val="FF8E6E"/>
                </a:solidFill>
                <a:latin typeface="Inconsolata"/>
              </a:rPr>
              <a:t>return</a:t>
            </a:r>
            <a:r>
              <a:rPr sz="805" i="0">
                <a:solidFill>
                  <a:srgbClr val="E6EDF3"/>
                </a:solidFill>
                <a:latin typeface="Inconsolata"/>
              </a:rPr>
              <a:t> </a:t>
            </a:r>
            <a:r>
              <a:rPr sz="805" i="0">
                <a:solidFill>
                  <a:srgbClr val="C3A6FF"/>
                </a:solidFill>
                <a:latin typeface="Inconsolata"/>
              </a:rPr>
              <a:t>self</a:t>
            </a:r>
            <a:r>
              <a:rPr sz="805" i="0">
                <a:solidFill>
                  <a:srgbClr val="E6EDF3"/>
                </a:solidFill>
                <a:latin typeface="Inconsolata"/>
              </a:rPr>
              <a:t>.session.get(</a:t>
            </a:r>
            <a:r>
              <a:rPr sz="805" i="0">
                <a:solidFill>
                  <a:srgbClr val="7FDBCA"/>
                </a:solidFill>
                <a:latin typeface="Inconsolata"/>
              </a:rPr>
              <a:t>ProductRecord</a:t>
            </a:r>
            <a:r>
              <a:rPr sz="805" i="0">
                <a:solidFill>
                  <a:srgbClr val="E6EDF3"/>
                </a:solidFill>
                <a:latin typeface="Inconsolata"/>
              </a:rPr>
              <a:t>, product_id)</a:t>
            </a:r>
          </a:p>
          <a:p>
            <a:pPr>
              <a:lnSpc>
                <a:spcPct val="103474"/>
              </a:lnSpc>
              <a:spcAft>
                <a:spcPts val="0"/>
              </a:spcAft>
            </a:pPr>
            <a:r>
              <a:rPr sz="805" i="0">
                <a:solidFill>
                  <a:srgbClr val="5C6773"/>
                </a:solidFill>
                <a:latin typeface="Inconsolata"/>
              </a:rPr>
              <a:t>37  </a:t>
            </a:r>
            <a:r>
              <a:rPr sz="805" i="0">
                <a:solidFill>
                  <a:srgbClr val="E6EDF3"/>
                </a:solidFill>
                <a:latin typeface="Inconsolata"/>
              </a:rPr>
              <a:t> </a:t>
            </a:r>
          </a:p>
          <a:p>
            <a:pPr>
              <a:lnSpc>
                <a:spcPct val="103474"/>
              </a:lnSpc>
              <a:spcAft>
                <a:spcPts val="0"/>
              </a:spcAft>
            </a:pPr>
            <a:r>
              <a:rPr sz="805" i="0">
                <a:solidFill>
                  <a:srgbClr val="5C6773"/>
                </a:solidFill>
                <a:latin typeface="Inconsolata"/>
              </a:rPr>
              <a:t>38  </a:t>
            </a:r>
            <a:r>
              <a:rPr sz="805" i="0">
                <a:solidFill>
                  <a:srgbClr val="E6EDF3"/>
                </a:solidFill>
                <a:latin typeface="Inconsolata"/>
              </a:rPr>
              <a:t>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save</a:t>
            </a:r>
            <a:r>
              <a:rPr sz="805" i="0">
                <a:solidFill>
                  <a:srgbClr val="E6EDF3"/>
                </a:solidFill>
                <a:latin typeface="Inconsolata"/>
              </a:rPr>
              <a:t>(</a:t>
            </a:r>
            <a:r>
              <a:rPr sz="805" i="0">
                <a:solidFill>
                  <a:srgbClr val="C3A6FF"/>
                </a:solidFill>
                <a:latin typeface="Inconsolata"/>
              </a:rPr>
              <a:t>self</a:t>
            </a:r>
            <a:r>
              <a:rPr sz="805" i="0">
                <a:solidFill>
                  <a:srgbClr val="E6EDF3"/>
                </a:solidFill>
                <a:latin typeface="Inconsolata"/>
              </a:rPr>
              <a:t>, product: </a:t>
            </a:r>
            <a:r>
              <a:rPr sz="805" i="0">
                <a:solidFill>
                  <a:srgbClr val="7FDBCA"/>
                </a:solidFill>
                <a:latin typeface="Inconsolata"/>
              </a:rPr>
              <a:t>ProductRecord</a:t>
            </a:r>
            <a:r>
              <a:rPr sz="805" i="0">
                <a:solidFill>
                  <a:srgbClr val="E6EDF3"/>
                </a:solidFill>
                <a:latin typeface="Inconsolata"/>
              </a:rPr>
              <a:t>) -&gt; </a:t>
            </a:r>
            <a:r>
              <a:rPr sz="805" i="0">
                <a:solidFill>
                  <a:srgbClr val="FF8E6E"/>
                </a:solidFill>
                <a:latin typeface="Inconsolata"/>
              </a:rPr>
              <a:t>None</a:t>
            </a:r>
            <a:r>
              <a:rPr sz="805" i="0">
                <a:solidFill>
                  <a:srgbClr val="E6EDF3"/>
                </a:solidFill>
                <a:latin typeface="Inconsolata"/>
              </a:rPr>
              <a:t>:</a:t>
            </a:r>
          </a:p>
          <a:p>
            <a:pPr>
              <a:lnSpc>
                <a:spcPct val="103474"/>
              </a:lnSpc>
              <a:spcAft>
                <a:spcPts val="0"/>
              </a:spcAft>
            </a:pPr>
            <a:r>
              <a:rPr sz="805" i="0">
                <a:solidFill>
                  <a:srgbClr val="5C6773"/>
                </a:solidFill>
                <a:latin typeface="Inconsolata"/>
              </a:rPr>
              <a:t>39  </a:t>
            </a:r>
            <a:r>
              <a:rPr sz="805" i="0">
                <a:solidFill>
                  <a:srgbClr val="E6EDF3"/>
                </a:solidFill>
                <a:latin typeface="Inconsolata"/>
              </a:rPr>
              <a:t>        </a:t>
            </a:r>
            <a:r>
              <a:rPr sz="805" i="0">
                <a:solidFill>
                  <a:srgbClr val="C3A6FF"/>
                </a:solidFill>
                <a:latin typeface="Inconsolata"/>
              </a:rPr>
              <a:t>self</a:t>
            </a:r>
            <a:r>
              <a:rPr sz="805" i="0">
                <a:solidFill>
                  <a:srgbClr val="E6EDF3"/>
                </a:solidFill>
                <a:latin typeface="Inconsolata"/>
              </a:rPr>
              <a:t>.session.commit()  </a:t>
            </a:r>
            <a:r>
              <a:rPr sz="805" i="1">
                <a:solidFill>
                  <a:srgbClr val="8B98A8"/>
                </a:solidFill>
                <a:latin typeface="Inconsolata"/>
              </a:rPr>
              <a:t># repository commit sendiri</a:t>
            </a:r>
          </a:p>
          <a:p>
            <a:pPr>
              <a:lnSpc>
                <a:spcPct val="103474"/>
              </a:lnSpc>
              <a:spcAft>
                <a:spcPts val="0"/>
              </a:spcAft>
            </a:pPr>
            <a:r>
              <a:rPr sz="805" i="0">
                <a:solidFill>
                  <a:srgbClr val="5C6773"/>
                </a:solidFill>
                <a:latin typeface="Inconsolata"/>
              </a:rPr>
              <a:t>40  </a:t>
            </a:r>
            <a:r>
              <a:rPr sz="805" i="0">
                <a:solidFill>
                  <a:srgbClr val="E6EDF3"/>
                </a:solidFill>
                <a:latin typeface="Inconsolata"/>
              </a:rPr>
              <a:t> </a:t>
            </a:r>
          </a:p>
          <a:p>
            <a:pPr>
              <a:lnSpc>
                <a:spcPct val="103474"/>
              </a:lnSpc>
              <a:spcAft>
                <a:spcPts val="0"/>
              </a:spcAft>
            </a:pPr>
            <a:r>
              <a:rPr sz="805" i="0">
                <a:solidFill>
                  <a:srgbClr val="5C6773"/>
                </a:solidFill>
                <a:latin typeface="Inconsolata"/>
              </a:rPr>
              <a:t>41  </a:t>
            </a:r>
            <a:r>
              <a:rPr sz="805" i="0">
                <a:solidFill>
                  <a:srgbClr val="E6EDF3"/>
                </a:solidFill>
                <a:latin typeface="Inconsolata"/>
              </a:rPr>
              <a:t> </a:t>
            </a:r>
          </a:p>
          <a:p>
            <a:pPr>
              <a:lnSpc>
                <a:spcPct val="103474"/>
              </a:lnSpc>
              <a:spcAft>
                <a:spcPts val="0"/>
              </a:spcAft>
            </a:pPr>
            <a:r>
              <a:rPr sz="805" i="0">
                <a:solidFill>
                  <a:srgbClr val="5C6773"/>
                </a:solidFill>
                <a:latin typeface="Inconsolata"/>
              </a:rPr>
              <a:t>42  </a:t>
            </a:r>
            <a:r>
              <a:rPr sz="805" i="0">
                <a:solidFill>
                  <a:srgbClr val="FF8E6E"/>
                </a:solidFill>
                <a:latin typeface="Inconsolata"/>
              </a:rPr>
              <a:t>class</a:t>
            </a:r>
            <a:r>
              <a:rPr sz="805" i="0">
                <a:solidFill>
                  <a:srgbClr val="E6EDF3"/>
                </a:solidFill>
                <a:latin typeface="Inconsolata"/>
              </a:rPr>
              <a:t> </a:t>
            </a:r>
            <a:r>
              <a:rPr sz="805" i="0">
                <a:solidFill>
                  <a:srgbClr val="7FDBCA"/>
                </a:solidFill>
                <a:latin typeface="Inconsolata"/>
              </a:rPr>
              <a:t>OrderRepository</a:t>
            </a:r>
            <a:r>
              <a:rPr sz="805" i="0">
                <a:solidFill>
                  <a:srgbClr val="E6EDF3"/>
                </a:solidFill>
                <a:latin typeface="Inconsolata"/>
              </a:rPr>
              <a:t>:</a:t>
            </a:r>
          </a:p>
          <a:p>
            <a:pPr>
              <a:lnSpc>
                <a:spcPct val="103474"/>
              </a:lnSpc>
              <a:spcAft>
                <a:spcPts val="0"/>
              </a:spcAft>
            </a:pPr>
            <a:r>
              <a:rPr sz="805" i="0">
                <a:solidFill>
                  <a:srgbClr val="5C6773"/>
                </a:solidFill>
                <a:latin typeface="Inconsolata"/>
              </a:rPr>
              <a:t>43  </a:t>
            </a:r>
            <a:r>
              <a:rPr sz="805" i="0">
                <a:solidFill>
                  <a:srgbClr val="E6EDF3"/>
                </a:solidFill>
                <a:latin typeface="Inconsolata"/>
              </a:rPr>
              <a:t>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__init__</a:t>
            </a:r>
            <a:r>
              <a:rPr sz="805" i="0">
                <a:solidFill>
                  <a:srgbClr val="E6EDF3"/>
                </a:solidFill>
                <a:latin typeface="Inconsolata"/>
              </a:rPr>
              <a:t>(</a:t>
            </a:r>
            <a:r>
              <a:rPr sz="805" i="0">
                <a:solidFill>
                  <a:srgbClr val="C3A6FF"/>
                </a:solidFill>
                <a:latin typeface="Inconsolata"/>
              </a:rPr>
              <a:t>self</a:t>
            </a:r>
            <a:r>
              <a:rPr sz="805" i="0">
                <a:solidFill>
                  <a:srgbClr val="E6EDF3"/>
                </a:solidFill>
                <a:latin typeface="Inconsolata"/>
              </a:rPr>
              <a:t>, session: </a:t>
            </a:r>
            <a:r>
              <a:rPr sz="805" i="0">
                <a:solidFill>
                  <a:srgbClr val="7FDBCA"/>
                </a:solidFill>
                <a:latin typeface="Inconsolata"/>
              </a:rPr>
              <a:t>Session</a:t>
            </a:r>
            <a:r>
              <a:rPr sz="805" i="0">
                <a:solidFill>
                  <a:srgbClr val="E6EDF3"/>
                </a:solidFill>
                <a:latin typeface="Inconsolata"/>
              </a:rPr>
              <a:t>):</a:t>
            </a:r>
          </a:p>
          <a:p>
            <a:pPr>
              <a:lnSpc>
                <a:spcPct val="103474"/>
              </a:lnSpc>
              <a:spcAft>
                <a:spcPts val="0"/>
              </a:spcAft>
            </a:pPr>
            <a:r>
              <a:rPr sz="805" i="0">
                <a:solidFill>
                  <a:srgbClr val="5C6773"/>
                </a:solidFill>
                <a:latin typeface="Inconsolata"/>
              </a:rPr>
              <a:t>44  </a:t>
            </a:r>
            <a:r>
              <a:rPr sz="805" i="0">
                <a:solidFill>
                  <a:srgbClr val="E6EDF3"/>
                </a:solidFill>
                <a:latin typeface="Inconsolata"/>
              </a:rPr>
              <a:t>        </a:t>
            </a:r>
            <a:r>
              <a:rPr sz="805" i="0">
                <a:solidFill>
                  <a:srgbClr val="C3A6FF"/>
                </a:solidFill>
                <a:latin typeface="Inconsolata"/>
              </a:rPr>
              <a:t>self</a:t>
            </a:r>
            <a:r>
              <a:rPr sz="805" i="0">
                <a:solidFill>
                  <a:srgbClr val="E6EDF3"/>
                </a:solidFill>
                <a:latin typeface="Inconsolata"/>
              </a:rPr>
              <a:t>.session = session</a:t>
            </a:r>
          </a:p>
          <a:p>
            <a:pPr>
              <a:lnSpc>
                <a:spcPct val="103474"/>
              </a:lnSpc>
              <a:spcAft>
                <a:spcPts val="0"/>
              </a:spcAft>
            </a:pPr>
            <a:r>
              <a:rPr sz="805" i="0">
                <a:solidFill>
                  <a:srgbClr val="5C6773"/>
                </a:solidFill>
                <a:latin typeface="Inconsolata"/>
              </a:rPr>
              <a:t>45  </a:t>
            </a:r>
            <a:r>
              <a:rPr sz="805" i="0">
                <a:solidFill>
                  <a:srgbClr val="E6EDF3"/>
                </a:solidFill>
                <a:latin typeface="Inconsolata"/>
              </a:rPr>
              <a:t> </a:t>
            </a:r>
          </a:p>
          <a:p>
            <a:pPr>
              <a:lnSpc>
                <a:spcPct val="103474"/>
              </a:lnSpc>
              <a:spcAft>
                <a:spcPts val="0"/>
              </a:spcAft>
            </a:pPr>
            <a:r>
              <a:rPr sz="805" i="0">
                <a:solidFill>
                  <a:srgbClr val="5C6773"/>
                </a:solidFill>
                <a:latin typeface="Inconsolata"/>
              </a:rPr>
              <a:t>46  </a:t>
            </a:r>
            <a:r>
              <a:rPr sz="805" i="0">
                <a:solidFill>
                  <a:srgbClr val="E6EDF3"/>
                </a:solidFill>
                <a:latin typeface="Inconsolata"/>
              </a:rPr>
              <a:t>    </a:t>
            </a:r>
            <a:r>
              <a:rPr sz="805" i="0">
                <a:solidFill>
                  <a:srgbClr val="FF8E6E"/>
                </a:solidFill>
                <a:latin typeface="Inconsolata"/>
              </a:rPr>
              <a:t>def</a:t>
            </a:r>
            <a:r>
              <a:rPr sz="805" i="0">
                <a:solidFill>
                  <a:srgbClr val="E6EDF3"/>
                </a:solidFill>
                <a:latin typeface="Inconsolata"/>
              </a:rPr>
              <a:t> </a:t>
            </a:r>
            <a:r>
              <a:rPr sz="805" i="0">
                <a:solidFill>
                  <a:srgbClr val="82B1FF"/>
                </a:solidFill>
                <a:latin typeface="Inconsolata"/>
              </a:rPr>
              <a:t>add</a:t>
            </a:r>
            <a:r>
              <a:rPr sz="805" i="0">
                <a:solidFill>
                  <a:srgbClr val="E6EDF3"/>
                </a:solidFill>
                <a:latin typeface="Inconsolata"/>
              </a:rPr>
              <a:t>(</a:t>
            </a:r>
            <a:r>
              <a:rPr sz="805" i="0">
                <a:solidFill>
                  <a:srgbClr val="C3A6FF"/>
                </a:solidFill>
                <a:latin typeface="Inconsolata"/>
              </a:rPr>
              <a:t>self</a:t>
            </a:r>
            <a:r>
              <a:rPr sz="805" i="0">
                <a:solidFill>
                  <a:srgbClr val="E6EDF3"/>
                </a:solidFill>
                <a:latin typeface="Inconsolata"/>
              </a:rPr>
              <a:t>, customer: </a:t>
            </a:r>
            <a:r>
              <a:rPr sz="805" i="0">
                <a:solidFill>
                  <a:srgbClr val="C3A6FF"/>
                </a:solidFill>
                <a:latin typeface="Inconsolata"/>
              </a:rPr>
              <a:t>str</a:t>
            </a:r>
            <a:r>
              <a:rPr sz="805" i="0">
                <a:solidFill>
                  <a:srgbClr val="E6EDF3"/>
                </a:solidFill>
                <a:latin typeface="Inconsolata"/>
              </a:rPr>
              <a:t>) -&gt; </a:t>
            </a:r>
            <a:r>
              <a:rPr sz="805" i="0">
                <a:solidFill>
                  <a:srgbClr val="FF8E6E"/>
                </a:solidFill>
                <a:latin typeface="Inconsolata"/>
              </a:rPr>
              <a:t>None</a:t>
            </a:r>
            <a:r>
              <a:rPr sz="805" i="0">
                <a:solidFill>
                  <a:srgbClr val="E6EDF3"/>
                </a:solidFill>
                <a:latin typeface="Inconsolata"/>
              </a:rPr>
              <a:t>:</a:t>
            </a:r>
          </a:p>
          <a:p>
            <a:pPr>
              <a:lnSpc>
                <a:spcPct val="103474"/>
              </a:lnSpc>
              <a:spcAft>
                <a:spcPts val="0"/>
              </a:spcAft>
            </a:pPr>
            <a:r>
              <a:rPr sz="805" i="0">
                <a:solidFill>
                  <a:srgbClr val="5C6773"/>
                </a:solidFill>
                <a:latin typeface="Inconsolata"/>
              </a:rPr>
              <a:t>47  </a:t>
            </a:r>
            <a:r>
              <a:rPr sz="805" i="0">
                <a:solidFill>
                  <a:srgbClr val="E6EDF3"/>
                </a:solidFill>
                <a:latin typeface="Inconsolata"/>
              </a:rPr>
              <a:t>        </a:t>
            </a:r>
            <a:r>
              <a:rPr sz="805" i="0">
                <a:solidFill>
                  <a:srgbClr val="C3A6FF"/>
                </a:solidFill>
                <a:latin typeface="Inconsolata"/>
              </a:rPr>
              <a:t>self</a:t>
            </a:r>
            <a:r>
              <a:rPr sz="805" i="0">
                <a:solidFill>
                  <a:srgbClr val="E6EDF3"/>
                </a:solidFill>
                <a:latin typeface="Inconsolata"/>
              </a:rPr>
              <a:t>.session.add(</a:t>
            </a:r>
            <a:r>
              <a:rPr sz="805" i="0">
                <a:solidFill>
                  <a:srgbClr val="7FDBCA"/>
                </a:solidFill>
                <a:latin typeface="Inconsolata"/>
              </a:rPr>
              <a:t>OrderRecord</a:t>
            </a:r>
            <a:r>
              <a:rPr sz="805" i="0">
                <a:solidFill>
                  <a:srgbClr val="E6EDF3"/>
                </a:solidFill>
                <a:latin typeface="Inconsolata"/>
              </a:rPr>
              <a:t>(customer=customer))</a:t>
            </a:r>
          </a:p>
          <a:p>
            <a:pPr>
              <a:lnSpc>
                <a:spcPct val="103474"/>
              </a:lnSpc>
              <a:spcAft>
                <a:spcPts val="0"/>
              </a:spcAft>
            </a:pPr>
            <a:r>
              <a:rPr sz="805" i="0">
                <a:solidFill>
                  <a:srgbClr val="5C6773"/>
                </a:solidFill>
                <a:latin typeface="Inconsolata"/>
              </a:rPr>
              <a:t>48  </a:t>
            </a:r>
            <a:r>
              <a:rPr sz="805" i="0">
                <a:solidFill>
                  <a:srgbClr val="E6EDF3"/>
                </a:solidFill>
                <a:latin typeface="Inconsolata"/>
              </a:rPr>
              <a:t>        </a:t>
            </a:r>
            <a:r>
              <a:rPr sz="805" i="0">
                <a:solidFill>
                  <a:srgbClr val="C3A6FF"/>
                </a:solidFill>
                <a:latin typeface="Inconsolata"/>
              </a:rPr>
              <a:t>self</a:t>
            </a:r>
            <a:r>
              <a:rPr sz="805" i="0">
                <a:solidFill>
                  <a:srgbClr val="E6EDF3"/>
                </a:solidFill>
                <a:latin typeface="Inconsolata"/>
              </a:rPr>
              <a:t>.session.commit()  </a:t>
            </a:r>
            <a:r>
              <a:rPr sz="805" i="1">
                <a:solidFill>
                  <a:srgbClr val="8B98A8"/>
                </a:solidFill>
                <a:latin typeface="Inconsolata"/>
              </a:rPr>
              <a:t># commit lagi</a:t>
            </a:r>
          </a:p>
        </p:txBody>
      </p:sp>
      <p:sp>
        <p:nvSpPr>
          <p:cNvPr id="36" name="Box 21"/>
          <p:cNvSpPr/>
          <p:nvPr/>
        </p:nvSpPr>
        <p:spPr>
          <a:xfrm>
            <a:off x="4709159" y="2716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8284463" y="2720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3986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Repository commit sendiri (2/2)</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08-unit-of-work/before.py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51  </a:t>
            </a:r>
            <a:r>
              <a:rPr sz="760" i="0">
                <a:solidFill>
                  <a:srgbClr val="FF8E6E"/>
                </a:solidFill>
                <a:latin typeface="Inconsolata"/>
              </a:rPr>
              <a:t>class</a:t>
            </a:r>
            <a:r>
              <a:rPr sz="760" i="0">
                <a:solidFill>
                  <a:srgbClr val="E6EDF3"/>
                </a:solidFill>
                <a:latin typeface="Inconsolata"/>
              </a:rPr>
              <a:t> </a:t>
            </a:r>
            <a:r>
              <a:rPr sz="760" i="0">
                <a:solidFill>
                  <a:srgbClr val="7FDBCA"/>
                </a:solidFill>
                <a:latin typeface="Inconsolata"/>
              </a:rPr>
              <a:t>OrderService</a:t>
            </a:r>
            <a:r>
              <a:rPr sz="760" i="0">
                <a:solidFill>
                  <a:srgbClr val="E6EDF3"/>
                </a:solidFill>
                <a:latin typeface="Inconsolata"/>
              </a:rPr>
              <a:t>:</a:t>
            </a:r>
          </a:p>
          <a:p>
            <a:pPr>
              <a:lnSpc>
                <a:spcPct val="109601"/>
              </a:lnSpc>
              <a:spcAft>
                <a:spcPts val="0"/>
              </a:spcAft>
            </a:pPr>
            <a:r>
              <a:rPr sz="760" i="0">
                <a:solidFill>
                  <a:srgbClr val="5C6773"/>
                </a:solidFill>
                <a:latin typeface="Inconsolata"/>
              </a:rPr>
              <a:t>52  </a:t>
            </a:r>
            <a:r>
              <a:rPr sz="760" i="0">
                <a:solidFill>
                  <a:srgbClr val="E6EDF3"/>
                </a:solidFill>
                <a:latin typeface="Inconsolata"/>
              </a:rPr>
              <a:t>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__init__</a:t>
            </a:r>
            <a:r>
              <a:rPr sz="760" i="0">
                <a:solidFill>
                  <a:srgbClr val="E6EDF3"/>
                </a:solidFill>
                <a:latin typeface="Inconsolata"/>
              </a:rPr>
              <a:t>(</a:t>
            </a:r>
          </a:p>
          <a:p>
            <a:pPr>
              <a:lnSpc>
                <a:spcPct val="109601"/>
              </a:lnSpc>
              <a:spcAft>
                <a:spcPts val="0"/>
              </a:spcAft>
            </a:pPr>
            <a:r>
              <a:rPr sz="760" i="0">
                <a:solidFill>
                  <a:srgbClr val="5C6773"/>
                </a:solidFill>
                <a:latin typeface="Inconsolata"/>
              </a:rPr>
              <a:t>53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 products: </a:t>
            </a:r>
            <a:r>
              <a:rPr sz="760" i="0">
                <a:solidFill>
                  <a:srgbClr val="7FDBCA"/>
                </a:solidFill>
                <a:latin typeface="Inconsolata"/>
              </a:rPr>
              <a:t>ProductRepository</a:t>
            </a:r>
            <a:r>
              <a:rPr sz="760" i="0">
                <a:solidFill>
                  <a:srgbClr val="E6EDF3"/>
                </a:solidFill>
                <a:latin typeface="Inconsolata"/>
              </a:rPr>
              <a:t>, orders: </a:t>
            </a:r>
            <a:r>
              <a:rPr sz="760" i="0">
                <a:solidFill>
                  <a:srgbClr val="7FDBCA"/>
                </a:solidFill>
                <a:latin typeface="Inconsolata"/>
              </a:rPr>
              <a:t>OrderRepository</a:t>
            </a:r>
          </a:p>
          <a:p>
            <a:pPr>
              <a:lnSpc>
                <a:spcPct val="109601"/>
              </a:lnSpc>
              <a:spcAft>
                <a:spcPts val="0"/>
              </a:spcAft>
            </a:pPr>
            <a:r>
              <a:rPr sz="760" i="0">
                <a:solidFill>
                  <a:srgbClr val="5C6773"/>
                </a:solidFill>
                <a:latin typeface="Inconsolata"/>
              </a:rPr>
              <a:t>54  </a:t>
            </a:r>
            <a:r>
              <a:rPr sz="760" i="0">
                <a:solidFill>
                  <a:srgbClr val="E6EDF3"/>
                </a:solidFill>
                <a:latin typeface="Inconsolata"/>
              </a:rPr>
              <a:t>    ):</a:t>
            </a:r>
          </a:p>
          <a:p>
            <a:pPr>
              <a:lnSpc>
                <a:spcPct val="109601"/>
              </a:lnSpc>
              <a:spcAft>
                <a:spcPts val="0"/>
              </a:spcAft>
            </a:pPr>
            <a:r>
              <a:rPr sz="760" i="0">
                <a:solidFill>
                  <a:srgbClr val="5C6773"/>
                </a:solidFill>
                <a:latin typeface="Inconsolata"/>
              </a:rPr>
              <a:t>55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.products = products</a:t>
            </a:r>
          </a:p>
          <a:p>
            <a:pPr>
              <a:lnSpc>
                <a:spcPct val="109601"/>
              </a:lnSpc>
              <a:spcAft>
                <a:spcPts val="0"/>
              </a:spcAft>
            </a:pPr>
            <a:r>
              <a:rPr sz="760" i="0">
                <a:solidFill>
                  <a:srgbClr val="5C6773"/>
                </a:solidFill>
                <a:latin typeface="Inconsolata"/>
              </a:rPr>
              <a:t>56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.orders = orders</a:t>
            </a:r>
          </a:p>
          <a:p>
            <a:pPr>
              <a:lnSpc>
                <a:spcPct val="109601"/>
              </a:lnSpc>
              <a:spcAft>
                <a:spcPts val="0"/>
              </a:spcAft>
            </a:pPr>
            <a:r>
              <a:rPr sz="760" i="0">
                <a:solidFill>
                  <a:srgbClr val="5C6773"/>
                </a:solidFill>
                <a:latin typeface="Inconsolata"/>
              </a:rPr>
              <a:t>57  </a:t>
            </a:r>
            <a:r>
              <a:rPr sz="760" i="0">
                <a:solidFill>
                  <a:srgbClr val="E6EDF3"/>
                </a:solidFill>
                <a:latin typeface="Inconsolata"/>
              </a:rPr>
              <a:t> </a:t>
            </a:r>
          </a:p>
          <a:p>
            <a:pPr>
              <a:lnSpc>
                <a:spcPct val="109601"/>
              </a:lnSpc>
              <a:spcAft>
                <a:spcPts val="0"/>
              </a:spcAft>
            </a:pPr>
            <a:r>
              <a:rPr sz="760" i="0">
                <a:solidFill>
                  <a:srgbClr val="5C6773"/>
                </a:solidFill>
                <a:latin typeface="Inconsolata"/>
              </a:rPr>
              <a:t>58  </a:t>
            </a:r>
            <a:r>
              <a:rPr sz="760" i="0">
                <a:solidFill>
                  <a:srgbClr val="E6EDF3"/>
                </a:solidFill>
                <a:latin typeface="Inconsolata"/>
              </a:rPr>
              <a:t>    </a:t>
            </a:r>
            <a:r>
              <a:rPr sz="760" i="0">
                <a:solidFill>
                  <a:srgbClr val="FF8E6E"/>
                </a:solidFill>
                <a:latin typeface="Inconsolata"/>
              </a:rPr>
              <a:t>def</a:t>
            </a:r>
            <a:r>
              <a:rPr sz="760" i="0">
                <a:solidFill>
                  <a:srgbClr val="E6EDF3"/>
                </a:solidFill>
                <a:latin typeface="Inconsolata"/>
              </a:rPr>
              <a:t> </a:t>
            </a:r>
            <a:r>
              <a:rPr sz="760" i="0">
                <a:solidFill>
                  <a:srgbClr val="82B1FF"/>
                </a:solidFill>
                <a:latin typeface="Inconsolata"/>
              </a:rPr>
              <a:t>place_order</a:t>
            </a:r>
            <a:r>
              <a:rPr sz="760" i="0">
                <a:solidFill>
                  <a:srgbClr val="E6EDF3"/>
                </a:solidFill>
                <a:latin typeface="Inconsolata"/>
              </a:rPr>
              <a:t>(</a:t>
            </a:r>
          </a:p>
          <a:p>
            <a:pPr>
              <a:lnSpc>
                <a:spcPct val="109601"/>
              </a:lnSpc>
              <a:spcAft>
                <a:spcPts val="0"/>
              </a:spcAft>
            </a:pPr>
            <a:r>
              <a:rPr sz="760" i="0">
                <a:solidFill>
                  <a:srgbClr val="5C6773"/>
                </a:solidFill>
                <a:latin typeface="Inconsolata"/>
              </a:rPr>
              <a:t>59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 customer: </a:t>
            </a:r>
            <a:r>
              <a:rPr sz="760" i="0">
                <a:solidFill>
                  <a:srgbClr val="C3A6FF"/>
                </a:solidFill>
                <a:latin typeface="Inconsolata"/>
              </a:rPr>
              <a:t>str</a:t>
            </a:r>
            <a:r>
              <a:rPr sz="760" i="0">
                <a:solidFill>
                  <a:srgbClr val="E6EDF3"/>
                </a:solidFill>
                <a:latin typeface="Inconsolata"/>
              </a:rPr>
              <a:t>, items: </a:t>
            </a:r>
            <a:r>
              <a:rPr sz="760" i="0">
                <a:solidFill>
                  <a:srgbClr val="C3A6FF"/>
                </a:solidFill>
                <a:latin typeface="Inconsolata"/>
              </a:rPr>
              <a:t>list</a:t>
            </a:r>
            <a:r>
              <a:rPr sz="760" i="0">
                <a:solidFill>
                  <a:srgbClr val="E6EDF3"/>
                </a:solidFill>
                <a:latin typeface="Inconsolata"/>
              </a:rPr>
              <a:t>[</a:t>
            </a:r>
            <a:r>
              <a:rPr sz="760" i="0">
                <a:solidFill>
                  <a:srgbClr val="C3A6FF"/>
                </a:solidFill>
                <a:latin typeface="Inconsolata"/>
              </a:rPr>
              <a:t>tuple</a:t>
            </a:r>
            <a:r>
              <a:rPr sz="760" i="0">
                <a:solidFill>
                  <a:srgbClr val="E6EDF3"/>
                </a:solidFill>
                <a:latin typeface="Inconsolata"/>
              </a:rPr>
              <a:t>[</a:t>
            </a:r>
            <a:r>
              <a:rPr sz="760" i="0">
                <a:solidFill>
                  <a:srgbClr val="C3A6FF"/>
                </a:solidFill>
                <a:latin typeface="Inconsolata"/>
              </a:rPr>
              <a:t>int</a:t>
            </a:r>
            <a:r>
              <a:rPr sz="760" i="0">
                <a:solidFill>
                  <a:srgbClr val="E6EDF3"/>
                </a:solidFill>
                <a:latin typeface="Inconsolata"/>
              </a:rPr>
              <a:t>, </a:t>
            </a:r>
            <a:r>
              <a:rPr sz="760" i="0">
                <a:solidFill>
                  <a:srgbClr val="C3A6FF"/>
                </a:solidFill>
                <a:latin typeface="Inconsolata"/>
              </a:rPr>
              <a:t>int</a:t>
            </a:r>
            <a:r>
              <a:rPr sz="760" i="0">
                <a:solidFill>
                  <a:srgbClr val="E6EDF3"/>
                </a:solidFill>
                <a:latin typeface="Inconsolata"/>
              </a:rPr>
              <a:t>]]</a:t>
            </a:r>
          </a:p>
          <a:p>
            <a:pPr>
              <a:lnSpc>
                <a:spcPct val="109601"/>
              </a:lnSpc>
              <a:spcAft>
                <a:spcPts val="0"/>
              </a:spcAft>
            </a:pPr>
            <a:r>
              <a:rPr sz="760" i="0">
                <a:solidFill>
                  <a:srgbClr val="5C6773"/>
                </a:solidFill>
                <a:latin typeface="Inconsolata"/>
              </a:rPr>
              <a:t>60  </a:t>
            </a:r>
            <a:r>
              <a:rPr sz="760" i="0">
                <a:solidFill>
                  <a:srgbClr val="E6EDF3"/>
                </a:solidFill>
                <a:latin typeface="Inconsolata"/>
              </a:rPr>
              <a:t>    ) -&gt; </a:t>
            </a:r>
            <a:r>
              <a:rPr sz="760" i="0">
                <a:solidFill>
                  <a:srgbClr val="FF8E6E"/>
                </a:solidFill>
                <a:latin typeface="Inconsolata"/>
              </a:rPr>
              <a:t>None</a:t>
            </a:r>
            <a:r>
              <a:rPr sz="760" i="0">
                <a:solidFill>
                  <a:srgbClr val="E6EDF3"/>
                </a:solidFill>
                <a:latin typeface="Inconsolata"/>
              </a:rPr>
              <a:t>:</a:t>
            </a:r>
          </a:p>
          <a:p>
            <a:pPr>
              <a:lnSpc>
                <a:spcPct val="109601"/>
              </a:lnSpc>
              <a:spcAft>
                <a:spcPts val="0"/>
              </a:spcAft>
            </a:pPr>
            <a:r>
              <a:rPr sz="760" i="0">
                <a:solidFill>
                  <a:srgbClr val="5C6773"/>
                </a:solidFill>
                <a:latin typeface="Inconsolata"/>
              </a:rPr>
              <a:t>61  </a:t>
            </a:r>
            <a:r>
              <a:rPr sz="760" i="0">
                <a:solidFill>
                  <a:srgbClr val="E6EDF3"/>
                </a:solidFill>
                <a:latin typeface="Inconsolata"/>
              </a:rPr>
              <a:t>        </a:t>
            </a:r>
            <a:r>
              <a:rPr sz="760" i="0">
                <a:solidFill>
                  <a:srgbClr val="FF8E6E"/>
                </a:solidFill>
                <a:latin typeface="Inconsolata"/>
              </a:rPr>
              <a:t>for</a:t>
            </a:r>
            <a:r>
              <a:rPr sz="760" i="0">
                <a:solidFill>
                  <a:srgbClr val="E6EDF3"/>
                </a:solidFill>
                <a:latin typeface="Inconsolata"/>
              </a:rPr>
              <a:t> product_id, qty </a:t>
            </a:r>
            <a:r>
              <a:rPr sz="760" i="0">
                <a:solidFill>
                  <a:srgbClr val="FF8E6E"/>
                </a:solidFill>
                <a:latin typeface="Inconsolata"/>
              </a:rPr>
              <a:t>in</a:t>
            </a:r>
            <a:r>
              <a:rPr sz="760" i="0">
                <a:solidFill>
                  <a:srgbClr val="E6EDF3"/>
                </a:solidFill>
                <a:latin typeface="Inconsolata"/>
              </a:rPr>
              <a:t> items:</a:t>
            </a:r>
          </a:p>
          <a:p>
            <a:pPr>
              <a:lnSpc>
                <a:spcPct val="109601"/>
              </a:lnSpc>
              <a:spcAft>
                <a:spcPts val="0"/>
              </a:spcAft>
            </a:pPr>
            <a:r>
              <a:rPr sz="760" i="0">
                <a:solidFill>
                  <a:srgbClr val="5C6773"/>
                </a:solidFill>
                <a:latin typeface="Inconsolata"/>
              </a:rPr>
              <a:t>62  </a:t>
            </a:r>
            <a:r>
              <a:rPr sz="760" i="0">
                <a:solidFill>
                  <a:srgbClr val="E6EDF3"/>
                </a:solidFill>
                <a:latin typeface="Inconsolata"/>
              </a:rPr>
              <a:t>            product = </a:t>
            </a:r>
            <a:r>
              <a:rPr sz="760" i="0">
                <a:solidFill>
                  <a:srgbClr val="C3A6FF"/>
                </a:solidFill>
                <a:latin typeface="Inconsolata"/>
              </a:rPr>
              <a:t>self</a:t>
            </a:r>
            <a:r>
              <a:rPr sz="760" i="0">
                <a:solidFill>
                  <a:srgbClr val="E6EDF3"/>
                </a:solidFill>
                <a:latin typeface="Inconsolata"/>
              </a:rPr>
              <a:t>.products.get(product_id)</a:t>
            </a:r>
          </a:p>
          <a:p>
            <a:pPr>
              <a:lnSpc>
                <a:spcPct val="109601"/>
              </a:lnSpc>
              <a:spcAft>
                <a:spcPts val="0"/>
              </a:spcAft>
            </a:pPr>
            <a:r>
              <a:rPr sz="760" i="0">
                <a:solidFill>
                  <a:srgbClr val="5C6773"/>
                </a:solidFill>
                <a:latin typeface="Inconsolata"/>
              </a:rPr>
              <a:t>63  </a:t>
            </a:r>
            <a:r>
              <a:rPr sz="760" i="0">
                <a:solidFill>
                  <a:srgbClr val="E6EDF3"/>
                </a:solidFill>
                <a:latin typeface="Inconsolata"/>
              </a:rPr>
              <a:t>            </a:t>
            </a:r>
            <a:r>
              <a:rPr sz="760" i="0">
                <a:solidFill>
                  <a:srgbClr val="FF8E6E"/>
                </a:solidFill>
                <a:latin typeface="Inconsolata"/>
              </a:rPr>
              <a:t>if</a:t>
            </a:r>
            <a:r>
              <a:rPr sz="760" i="0">
                <a:solidFill>
                  <a:srgbClr val="E6EDF3"/>
                </a:solidFill>
                <a:latin typeface="Inconsolata"/>
              </a:rPr>
              <a:t> qty &gt; product.stock:</a:t>
            </a:r>
          </a:p>
          <a:p>
            <a:pPr>
              <a:lnSpc>
                <a:spcPct val="109601"/>
              </a:lnSpc>
              <a:spcAft>
                <a:spcPts val="0"/>
              </a:spcAft>
            </a:pPr>
            <a:r>
              <a:rPr sz="760" i="0">
                <a:solidFill>
                  <a:srgbClr val="5C6773"/>
                </a:solidFill>
                <a:latin typeface="Inconsolata"/>
              </a:rPr>
              <a:t>64  </a:t>
            </a:r>
            <a:r>
              <a:rPr sz="760" i="0">
                <a:solidFill>
                  <a:srgbClr val="E6EDF3"/>
                </a:solidFill>
                <a:latin typeface="Inconsolata"/>
              </a:rPr>
              <a:t>                </a:t>
            </a:r>
            <a:r>
              <a:rPr sz="760" i="0">
                <a:solidFill>
                  <a:srgbClr val="FF8E6E"/>
                </a:solidFill>
                <a:latin typeface="Inconsolata"/>
              </a:rPr>
              <a:t>raise</a:t>
            </a:r>
            <a:r>
              <a:rPr sz="760" i="0">
                <a:solidFill>
                  <a:srgbClr val="E6EDF3"/>
                </a:solidFill>
                <a:latin typeface="Inconsolata"/>
              </a:rPr>
              <a:t> </a:t>
            </a:r>
            <a:r>
              <a:rPr sz="760" i="0">
                <a:solidFill>
                  <a:srgbClr val="7FDBCA"/>
                </a:solidFill>
                <a:latin typeface="Inconsolata"/>
              </a:rPr>
              <a:t>ValueError</a:t>
            </a:r>
            <a:r>
              <a:rPr sz="760" i="0">
                <a:solidFill>
                  <a:srgbClr val="E6EDF3"/>
                </a:solidFill>
                <a:latin typeface="Inconsolata"/>
              </a:rPr>
              <a:t>(</a:t>
            </a:r>
          </a:p>
          <a:p>
            <a:pPr>
              <a:lnSpc>
                <a:spcPct val="109601"/>
              </a:lnSpc>
              <a:spcAft>
                <a:spcPts val="0"/>
              </a:spcAft>
            </a:pPr>
            <a:r>
              <a:rPr sz="760" i="0">
                <a:solidFill>
                  <a:srgbClr val="5C6773"/>
                </a:solidFill>
                <a:latin typeface="Inconsolata"/>
              </a:rPr>
              <a:t>65  </a:t>
            </a:r>
            <a:r>
              <a:rPr sz="760" i="0">
                <a:solidFill>
                  <a:srgbClr val="E6EDF3"/>
                </a:solidFill>
                <a:latin typeface="Inconsolata"/>
              </a:rPr>
              <a:t>                    </a:t>
            </a:r>
            <a:r>
              <a:rPr sz="760" i="0">
                <a:solidFill>
                  <a:srgbClr val="A5D6A7"/>
                </a:solidFill>
                <a:latin typeface="Inconsolata"/>
              </a:rPr>
              <a:t>f"Stok {product.name} tidak cukup"</a:t>
            </a:r>
          </a:p>
          <a:p>
            <a:pPr>
              <a:lnSpc>
                <a:spcPct val="109601"/>
              </a:lnSpc>
              <a:spcAft>
                <a:spcPts val="0"/>
              </a:spcAft>
            </a:pPr>
            <a:r>
              <a:rPr sz="760" i="0">
                <a:solidFill>
                  <a:srgbClr val="5C6773"/>
                </a:solidFill>
                <a:latin typeface="Inconsolata"/>
              </a:rPr>
              <a:t>66  </a:t>
            </a:r>
            <a:r>
              <a:rPr sz="760" i="0">
                <a:solidFill>
                  <a:srgbClr val="E6EDF3"/>
                </a:solidFill>
                <a:latin typeface="Inconsolata"/>
              </a:rPr>
              <a:t>                )</a:t>
            </a:r>
          </a:p>
          <a:p>
            <a:pPr>
              <a:lnSpc>
                <a:spcPct val="109601"/>
              </a:lnSpc>
              <a:spcAft>
                <a:spcPts val="0"/>
              </a:spcAft>
            </a:pPr>
            <a:r>
              <a:rPr sz="760" i="0">
                <a:solidFill>
                  <a:srgbClr val="5C6773"/>
                </a:solidFill>
                <a:latin typeface="Inconsolata"/>
              </a:rPr>
              <a:t>67  </a:t>
            </a:r>
            <a:r>
              <a:rPr sz="760" i="0">
                <a:solidFill>
                  <a:srgbClr val="E6EDF3"/>
                </a:solidFill>
                <a:latin typeface="Inconsolata"/>
              </a:rPr>
              <a:t>            product.stock -= qty</a:t>
            </a:r>
          </a:p>
          <a:p>
            <a:pPr>
              <a:lnSpc>
                <a:spcPct val="109601"/>
              </a:lnSpc>
              <a:spcAft>
                <a:spcPts val="0"/>
              </a:spcAft>
            </a:pPr>
            <a:r>
              <a:rPr sz="760" i="0">
                <a:solidFill>
                  <a:srgbClr val="5C6773"/>
                </a:solidFill>
                <a:latin typeface="Inconsolata"/>
              </a:rPr>
              <a:t>68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.products.save(product)  </a:t>
            </a:r>
            <a:r>
              <a:rPr sz="760" i="1">
                <a:solidFill>
                  <a:srgbClr val="8B98A8"/>
                </a:solidFill>
                <a:latin typeface="Inconsolata"/>
              </a:rPr>
              <a:t># langsung permanen</a:t>
            </a:r>
          </a:p>
          <a:p>
            <a:pPr>
              <a:lnSpc>
                <a:spcPct val="109601"/>
              </a:lnSpc>
              <a:spcAft>
                <a:spcPts val="0"/>
              </a:spcAft>
            </a:pPr>
            <a:r>
              <a:rPr sz="760" i="0">
                <a:solidFill>
                  <a:srgbClr val="5C6773"/>
                </a:solidFill>
                <a:latin typeface="Inconsolata"/>
              </a:rPr>
              <a:t>69  </a:t>
            </a:r>
            <a:r>
              <a:rPr sz="760" i="0">
                <a:solidFill>
                  <a:srgbClr val="E6EDF3"/>
                </a:solidFill>
                <a:latin typeface="Inconsolata"/>
              </a:rPr>
              <a:t>        </a:t>
            </a:r>
            <a:r>
              <a:rPr sz="760" i="0">
                <a:solidFill>
                  <a:srgbClr val="C3A6FF"/>
                </a:solidFill>
                <a:latin typeface="Inconsolata"/>
              </a:rPr>
              <a:t>self</a:t>
            </a:r>
            <a:r>
              <a:rPr sz="760" i="0">
                <a:solidFill>
                  <a:srgbClr val="E6EDF3"/>
                </a:solidFill>
                <a:latin typeface="Inconsolata"/>
              </a:rPr>
              <a:t>.orders.add(customer)</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08-unit-of-work/before.py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9601"/>
              </a:lnSpc>
              <a:spcAft>
                <a:spcPts val="0"/>
              </a:spcAft>
            </a:pPr>
            <a:r>
              <a:rPr sz="760" i="0">
                <a:solidFill>
                  <a:srgbClr val="5C6773"/>
                </a:solidFill>
                <a:latin typeface="Inconsolata"/>
              </a:rPr>
              <a:t>72  </a:t>
            </a:r>
            <a:r>
              <a:rPr sz="760" i="0">
                <a:solidFill>
                  <a:srgbClr val="FF8E6E"/>
                </a:solidFill>
                <a:latin typeface="Inconsolata"/>
              </a:rPr>
              <a:t>if</a:t>
            </a:r>
            <a:r>
              <a:rPr sz="760" i="0">
                <a:solidFill>
                  <a:srgbClr val="E6EDF3"/>
                </a:solidFill>
                <a:latin typeface="Inconsolata"/>
              </a:rPr>
              <a:t> __name__ == </a:t>
            </a:r>
            <a:r>
              <a:rPr sz="760" i="0">
                <a:solidFill>
                  <a:srgbClr val="A5D6A7"/>
                </a:solidFill>
                <a:latin typeface="Inconsolata"/>
              </a:rPr>
              <a:t>"__main__"</a:t>
            </a:r>
            <a:r>
              <a:rPr sz="760" i="0">
                <a:solidFill>
                  <a:srgbClr val="E6EDF3"/>
                </a:solidFill>
                <a:latin typeface="Inconsolata"/>
              </a:rPr>
              <a:t>:</a:t>
            </a:r>
          </a:p>
          <a:p>
            <a:pPr>
              <a:lnSpc>
                <a:spcPct val="109601"/>
              </a:lnSpc>
              <a:spcAft>
                <a:spcPts val="0"/>
              </a:spcAft>
            </a:pPr>
            <a:r>
              <a:rPr sz="760" i="0">
                <a:solidFill>
                  <a:srgbClr val="5C6773"/>
                </a:solidFill>
                <a:latin typeface="Inconsolata"/>
              </a:rPr>
              <a:t>73  </a:t>
            </a:r>
            <a:r>
              <a:rPr sz="760" i="0">
                <a:solidFill>
                  <a:srgbClr val="E6EDF3"/>
                </a:solidFill>
                <a:latin typeface="Inconsolata"/>
              </a:rPr>
              <a:t>    engine = create_engine(</a:t>
            </a:r>
            <a:r>
              <a:rPr sz="760" i="0">
                <a:solidFill>
                  <a:srgbClr val="A5D6A7"/>
                </a:solidFill>
                <a:latin typeface="Inconsolata"/>
              </a:rPr>
              <a:t>"sqlite://"</a:t>
            </a:r>
            <a:r>
              <a:rPr sz="760" i="0">
                <a:solidFill>
                  <a:srgbClr val="E6EDF3"/>
                </a:solidFill>
                <a:latin typeface="Inconsolata"/>
              </a:rPr>
              <a:t>)</a:t>
            </a:r>
          </a:p>
          <a:p>
            <a:pPr>
              <a:lnSpc>
                <a:spcPct val="109601"/>
              </a:lnSpc>
              <a:spcAft>
                <a:spcPts val="0"/>
              </a:spcAft>
            </a:pPr>
            <a:r>
              <a:rPr sz="760" i="0">
                <a:solidFill>
                  <a:srgbClr val="5C6773"/>
                </a:solidFill>
                <a:latin typeface="Inconsolata"/>
              </a:rPr>
              <a:t>74  </a:t>
            </a:r>
            <a:r>
              <a:rPr sz="760" i="0">
                <a:solidFill>
                  <a:srgbClr val="E6EDF3"/>
                </a:solidFill>
                <a:latin typeface="Inconsolata"/>
              </a:rPr>
              <a:t>    </a:t>
            </a:r>
            <a:r>
              <a:rPr sz="760" i="0">
                <a:solidFill>
                  <a:srgbClr val="7FDBCA"/>
                </a:solidFill>
                <a:latin typeface="Inconsolata"/>
              </a:rPr>
              <a:t>Base</a:t>
            </a:r>
            <a:r>
              <a:rPr sz="760" i="0">
                <a:solidFill>
                  <a:srgbClr val="E6EDF3"/>
                </a:solidFill>
                <a:latin typeface="Inconsolata"/>
              </a:rPr>
              <a:t>.metadata.create_all(engine)</a:t>
            </a:r>
          </a:p>
          <a:p>
            <a:pPr>
              <a:lnSpc>
                <a:spcPct val="109601"/>
              </a:lnSpc>
              <a:spcAft>
                <a:spcPts val="0"/>
              </a:spcAft>
            </a:pPr>
            <a:r>
              <a:rPr sz="760" i="0">
                <a:solidFill>
                  <a:srgbClr val="5C6773"/>
                </a:solidFill>
                <a:latin typeface="Inconsolata"/>
              </a:rPr>
              <a:t>75  </a:t>
            </a:r>
            <a:r>
              <a:rPr sz="760" i="0">
                <a:solidFill>
                  <a:srgbClr val="E6EDF3"/>
                </a:solidFill>
                <a:latin typeface="Inconsolata"/>
              </a:rPr>
              <a:t>    session = </a:t>
            </a:r>
            <a:r>
              <a:rPr sz="760" i="0">
                <a:solidFill>
                  <a:srgbClr val="7FDBCA"/>
                </a:solidFill>
                <a:latin typeface="Inconsolata"/>
              </a:rPr>
              <a:t>Session</a:t>
            </a:r>
            <a:r>
              <a:rPr sz="760" i="0">
                <a:solidFill>
                  <a:srgbClr val="E6EDF3"/>
                </a:solidFill>
                <a:latin typeface="Inconsolata"/>
              </a:rPr>
              <a:t>(engine)</a:t>
            </a:r>
          </a:p>
          <a:p>
            <a:pPr>
              <a:lnSpc>
                <a:spcPct val="109601"/>
              </a:lnSpc>
              <a:spcAft>
                <a:spcPts val="0"/>
              </a:spcAft>
            </a:pPr>
            <a:r>
              <a:rPr sz="760" i="0">
                <a:solidFill>
                  <a:srgbClr val="5C6773"/>
                </a:solidFill>
                <a:latin typeface="Inconsolata"/>
              </a:rPr>
              <a:t>76  </a:t>
            </a:r>
            <a:r>
              <a:rPr sz="760" i="0">
                <a:solidFill>
                  <a:srgbClr val="E6EDF3"/>
                </a:solidFill>
                <a:latin typeface="Inconsolata"/>
              </a:rPr>
              <a:t>    session.add_all([</a:t>
            </a:r>
          </a:p>
          <a:p>
            <a:pPr>
              <a:lnSpc>
                <a:spcPct val="109601"/>
              </a:lnSpc>
              <a:spcAft>
                <a:spcPts val="0"/>
              </a:spcAft>
            </a:pPr>
            <a:r>
              <a:rPr sz="760" i="0">
                <a:solidFill>
                  <a:srgbClr val="5C6773"/>
                </a:solidFill>
                <a:latin typeface="Inconsolata"/>
              </a:rPr>
              <a:t>77  </a:t>
            </a:r>
            <a:r>
              <a:rPr sz="760" i="0">
                <a:solidFill>
                  <a:srgbClr val="E6EDF3"/>
                </a:solidFill>
                <a:latin typeface="Inconsolata"/>
              </a:rPr>
              <a:t>        </a:t>
            </a:r>
            <a:r>
              <a:rPr sz="760" i="0">
                <a:solidFill>
                  <a:srgbClr val="7FDBCA"/>
                </a:solidFill>
                <a:latin typeface="Inconsolata"/>
              </a:rPr>
              <a:t>ProductRecord</a:t>
            </a:r>
            <a:r>
              <a:rPr sz="760" i="0">
                <a:solidFill>
                  <a:srgbClr val="E6EDF3"/>
                </a:solidFill>
                <a:latin typeface="Inconsolata"/>
              </a:rPr>
              <a:t>(name=</a:t>
            </a:r>
            <a:r>
              <a:rPr sz="760" i="0">
                <a:solidFill>
                  <a:srgbClr val="A5D6A7"/>
                </a:solidFill>
                <a:latin typeface="Inconsolata"/>
              </a:rPr>
              <a:t>"Keyboard"</a:t>
            </a:r>
            <a:r>
              <a:rPr sz="760" i="0">
                <a:solidFill>
                  <a:srgbClr val="E6EDF3"/>
                </a:solidFill>
                <a:latin typeface="Inconsolata"/>
              </a:rPr>
              <a:t>, stock=</a:t>
            </a:r>
            <a:r>
              <a:rPr sz="760" i="0">
                <a:solidFill>
                  <a:srgbClr val="F9C97A"/>
                </a:solidFill>
                <a:latin typeface="Inconsolata"/>
              </a:rPr>
              <a:t>5</a:t>
            </a:r>
            <a:r>
              <a:rPr sz="760" i="0">
                <a:solidFill>
                  <a:srgbClr val="E6EDF3"/>
                </a:solidFill>
                <a:latin typeface="Inconsolata"/>
              </a:rPr>
              <a:t>),</a:t>
            </a:r>
          </a:p>
          <a:p>
            <a:pPr>
              <a:lnSpc>
                <a:spcPct val="109601"/>
              </a:lnSpc>
              <a:spcAft>
                <a:spcPts val="0"/>
              </a:spcAft>
            </a:pPr>
            <a:r>
              <a:rPr sz="760" i="0">
                <a:solidFill>
                  <a:srgbClr val="5C6773"/>
                </a:solidFill>
                <a:latin typeface="Inconsolata"/>
              </a:rPr>
              <a:t>78  </a:t>
            </a:r>
            <a:r>
              <a:rPr sz="760" i="0">
                <a:solidFill>
                  <a:srgbClr val="E6EDF3"/>
                </a:solidFill>
                <a:latin typeface="Inconsolata"/>
              </a:rPr>
              <a:t>        </a:t>
            </a:r>
            <a:r>
              <a:rPr sz="760" i="0">
                <a:solidFill>
                  <a:srgbClr val="7FDBCA"/>
                </a:solidFill>
                <a:latin typeface="Inconsolata"/>
              </a:rPr>
              <a:t>ProductRecord</a:t>
            </a:r>
            <a:r>
              <a:rPr sz="760" i="0">
                <a:solidFill>
                  <a:srgbClr val="E6EDF3"/>
                </a:solidFill>
                <a:latin typeface="Inconsolata"/>
              </a:rPr>
              <a:t>(name=</a:t>
            </a:r>
            <a:r>
              <a:rPr sz="760" i="0">
                <a:solidFill>
                  <a:srgbClr val="A5D6A7"/>
                </a:solidFill>
                <a:latin typeface="Inconsolata"/>
              </a:rPr>
              <a:t>"Mouse"</a:t>
            </a:r>
            <a:r>
              <a:rPr sz="760" i="0">
                <a:solidFill>
                  <a:srgbClr val="E6EDF3"/>
                </a:solidFill>
                <a:latin typeface="Inconsolata"/>
              </a:rPr>
              <a:t>, stock=</a:t>
            </a:r>
            <a:r>
              <a:rPr sz="760" i="0">
                <a:solidFill>
                  <a:srgbClr val="F9C97A"/>
                </a:solidFill>
                <a:latin typeface="Inconsolata"/>
              </a:rPr>
              <a:t>1</a:t>
            </a:r>
            <a:r>
              <a:rPr sz="760" i="0">
                <a:solidFill>
                  <a:srgbClr val="E6EDF3"/>
                </a:solidFill>
                <a:latin typeface="Inconsolata"/>
              </a:rPr>
              <a:t>),</a:t>
            </a:r>
          </a:p>
          <a:p>
            <a:pPr>
              <a:lnSpc>
                <a:spcPct val="109601"/>
              </a:lnSpc>
              <a:spcAft>
                <a:spcPts val="0"/>
              </a:spcAft>
            </a:pPr>
            <a:r>
              <a:rPr sz="760" i="0">
                <a:solidFill>
                  <a:srgbClr val="5C6773"/>
                </a:solidFill>
                <a:latin typeface="Inconsolata"/>
              </a:rPr>
              <a:t>79  </a:t>
            </a:r>
            <a:r>
              <a:rPr sz="760" i="0">
                <a:solidFill>
                  <a:srgbClr val="E6EDF3"/>
                </a:solidFill>
                <a:latin typeface="Inconsolata"/>
              </a:rPr>
              <a:t>    ])</a:t>
            </a:r>
          </a:p>
          <a:p>
            <a:pPr>
              <a:lnSpc>
                <a:spcPct val="109601"/>
              </a:lnSpc>
              <a:spcAft>
                <a:spcPts val="0"/>
              </a:spcAft>
            </a:pPr>
            <a:r>
              <a:rPr sz="760" i="0">
                <a:solidFill>
                  <a:srgbClr val="5C6773"/>
                </a:solidFill>
                <a:latin typeface="Inconsolata"/>
              </a:rPr>
              <a:t>80  </a:t>
            </a:r>
            <a:r>
              <a:rPr sz="760" i="0">
                <a:solidFill>
                  <a:srgbClr val="E6EDF3"/>
                </a:solidFill>
                <a:latin typeface="Inconsolata"/>
              </a:rPr>
              <a:t>    session.commit()</a:t>
            </a:r>
          </a:p>
          <a:p>
            <a:pPr>
              <a:lnSpc>
                <a:spcPct val="109601"/>
              </a:lnSpc>
              <a:spcAft>
                <a:spcPts val="0"/>
              </a:spcAft>
            </a:pPr>
            <a:r>
              <a:rPr sz="760" i="0">
                <a:solidFill>
                  <a:srgbClr val="5C6773"/>
                </a:solidFill>
                <a:latin typeface="Inconsolata"/>
              </a:rPr>
              <a:t>81  </a:t>
            </a:r>
            <a:r>
              <a:rPr sz="760" i="0">
                <a:solidFill>
                  <a:srgbClr val="E6EDF3"/>
                </a:solidFill>
                <a:latin typeface="Inconsolata"/>
              </a:rPr>
              <a:t> </a:t>
            </a:r>
          </a:p>
          <a:p>
            <a:pPr>
              <a:lnSpc>
                <a:spcPct val="109601"/>
              </a:lnSpc>
              <a:spcAft>
                <a:spcPts val="0"/>
              </a:spcAft>
            </a:pPr>
            <a:r>
              <a:rPr sz="760" i="0">
                <a:solidFill>
                  <a:srgbClr val="5C6773"/>
                </a:solidFill>
                <a:latin typeface="Inconsolata"/>
              </a:rPr>
              <a:t>82  </a:t>
            </a:r>
            <a:r>
              <a:rPr sz="760" i="0">
                <a:solidFill>
                  <a:srgbClr val="E6EDF3"/>
                </a:solidFill>
                <a:latin typeface="Inconsolata"/>
              </a:rPr>
              <a:t>    service = </a:t>
            </a:r>
            <a:r>
              <a:rPr sz="760" i="0">
                <a:solidFill>
                  <a:srgbClr val="7FDBCA"/>
                </a:solidFill>
                <a:latin typeface="Inconsolata"/>
              </a:rPr>
              <a:t>OrderService</a:t>
            </a:r>
            <a:r>
              <a:rPr sz="760" i="0">
                <a:solidFill>
                  <a:srgbClr val="E6EDF3"/>
                </a:solidFill>
                <a:latin typeface="Inconsolata"/>
              </a:rPr>
              <a:t>(</a:t>
            </a:r>
          </a:p>
          <a:p>
            <a:pPr>
              <a:lnSpc>
                <a:spcPct val="109601"/>
              </a:lnSpc>
              <a:spcAft>
                <a:spcPts val="0"/>
              </a:spcAft>
            </a:pPr>
            <a:r>
              <a:rPr sz="760" i="0">
                <a:solidFill>
                  <a:srgbClr val="5C6773"/>
                </a:solidFill>
                <a:latin typeface="Inconsolata"/>
              </a:rPr>
              <a:t>83  </a:t>
            </a:r>
            <a:r>
              <a:rPr sz="760" i="0">
                <a:solidFill>
                  <a:srgbClr val="E6EDF3"/>
                </a:solidFill>
                <a:latin typeface="Inconsolata"/>
              </a:rPr>
              <a:t>        </a:t>
            </a:r>
            <a:r>
              <a:rPr sz="760" i="0">
                <a:solidFill>
                  <a:srgbClr val="7FDBCA"/>
                </a:solidFill>
                <a:latin typeface="Inconsolata"/>
              </a:rPr>
              <a:t>ProductRepository</a:t>
            </a:r>
            <a:r>
              <a:rPr sz="760" i="0">
                <a:solidFill>
                  <a:srgbClr val="E6EDF3"/>
                </a:solidFill>
                <a:latin typeface="Inconsolata"/>
              </a:rPr>
              <a:t>(session), </a:t>
            </a:r>
            <a:r>
              <a:rPr sz="760" i="0">
                <a:solidFill>
                  <a:srgbClr val="7FDBCA"/>
                </a:solidFill>
                <a:latin typeface="Inconsolata"/>
              </a:rPr>
              <a:t>OrderRepository</a:t>
            </a:r>
            <a:r>
              <a:rPr sz="760" i="0">
                <a:solidFill>
                  <a:srgbClr val="E6EDF3"/>
                </a:solidFill>
                <a:latin typeface="Inconsolata"/>
              </a:rPr>
              <a:t>(session)</a:t>
            </a:r>
          </a:p>
          <a:p>
            <a:pPr>
              <a:lnSpc>
                <a:spcPct val="109601"/>
              </a:lnSpc>
              <a:spcAft>
                <a:spcPts val="0"/>
              </a:spcAft>
            </a:pPr>
            <a:r>
              <a:rPr sz="760" i="0">
                <a:solidFill>
                  <a:srgbClr val="5C6773"/>
                </a:solidFill>
                <a:latin typeface="Inconsolata"/>
              </a:rPr>
              <a:t>84  </a:t>
            </a:r>
            <a:r>
              <a:rPr sz="760" i="0">
                <a:solidFill>
                  <a:srgbClr val="E6EDF3"/>
                </a:solidFill>
                <a:latin typeface="Inconsolata"/>
              </a:rPr>
              <a:t>    )</a:t>
            </a:r>
          </a:p>
          <a:p>
            <a:pPr>
              <a:lnSpc>
                <a:spcPct val="109601"/>
              </a:lnSpc>
              <a:spcAft>
                <a:spcPts val="0"/>
              </a:spcAft>
            </a:pPr>
            <a:r>
              <a:rPr sz="760" i="0">
                <a:solidFill>
                  <a:srgbClr val="5C6773"/>
                </a:solidFill>
                <a:latin typeface="Inconsolata"/>
              </a:rPr>
              <a:t>85  </a:t>
            </a:r>
            <a:r>
              <a:rPr sz="760" i="0">
                <a:solidFill>
                  <a:srgbClr val="E6EDF3"/>
                </a:solidFill>
                <a:latin typeface="Inconsolata"/>
              </a:rPr>
              <a:t>    </a:t>
            </a:r>
            <a:r>
              <a:rPr sz="760" i="0">
                <a:solidFill>
                  <a:srgbClr val="FF8E6E"/>
                </a:solidFill>
                <a:latin typeface="Inconsolata"/>
              </a:rPr>
              <a:t>try</a:t>
            </a:r>
            <a:r>
              <a:rPr sz="760" i="0">
                <a:solidFill>
                  <a:srgbClr val="E6EDF3"/>
                </a:solidFill>
                <a:latin typeface="Inconsolata"/>
              </a:rPr>
              <a:t>:</a:t>
            </a:r>
          </a:p>
          <a:p>
            <a:pPr>
              <a:lnSpc>
                <a:spcPct val="109601"/>
              </a:lnSpc>
              <a:spcAft>
                <a:spcPts val="0"/>
              </a:spcAft>
            </a:pPr>
            <a:r>
              <a:rPr sz="760" i="0">
                <a:solidFill>
                  <a:srgbClr val="5C6773"/>
                </a:solidFill>
                <a:latin typeface="Inconsolata"/>
              </a:rPr>
              <a:t>86  </a:t>
            </a:r>
            <a:r>
              <a:rPr sz="760" i="0">
                <a:solidFill>
                  <a:srgbClr val="E6EDF3"/>
                </a:solidFill>
                <a:latin typeface="Inconsolata"/>
              </a:rPr>
              <a:t>        service.place_order(</a:t>
            </a:r>
            <a:r>
              <a:rPr sz="760" i="0">
                <a:solidFill>
                  <a:srgbClr val="A5D6A7"/>
                </a:solidFill>
                <a:latin typeface="Inconsolata"/>
              </a:rPr>
              <a:t>"budi@mail.com"</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 </a:t>
            </a:r>
            <a:r>
              <a:rPr sz="760" i="0">
                <a:solidFill>
                  <a:srgbClr val="F9C97A"/>
                </a:solidFill>
                <a:latin typeface="Inconsolata"/>
              </a:rPr>
              <a:t>2</a:t>
            </a:r>
            <a:r>
              <a:rPr sz="760" i="0">
                <a:solidFill>
                  <a:srgbClr val="E6EDF3"/>
                </a:solidFill>
                <a:latin typeface="Inconsolata"/>
              </a:rPr>
              <a:t>), (</a:t>
            </a:r>
            <a:r>
              <a:rPr sz="760" i="0">
                <a:solidFill>
                  <a:srgbClr val="F9C97A"/>
                </a:solidFill>
                <a:latin typeface="Inconsolata"/>
              </a:rPr>
              <a:t>2</a:t>
            </a:r>
            <a:r>
              <a:rPr sz="760" i="0">
                <a:solidFill>
                  <a:srgbClr val="E6EDF3"/>
                </a:solidFill>
                <a:latin typeface="Inconsolata"/>
              </a:rPr>
              <a:t>, </a:t>
            </a:r>
            <a:r>
              <a:rPr sz="760" i="0">
                <a:solidFill>
                  <a:srgbClr val="F9C97A"/>
                </a:solidFill>
                <a:latin typeface="Inconsolata"/>
              </a:rPr>
              <a:t>3</a:t>
            </a:r>
            <a:r>
              <a:rPr sz="760" i="0">
                <a:solidFill>
                  <a:srgbClr val="E6EDF3"/>
                </a:solidFill>
                <a:latin typeface="Inconsolata"/>
              </a:rPr>
              <a:t>)])</a:t>
            </a:r>
          </a:p>
          <a:p>
            <a:pPr>
              <a:lnSpc>
                <a:spcPct val="109601"/>
              </a:lnSpc>
              <a:spcAft>
                <a:spcPts val="0"/>
              </a:spcAft>
            </a:pPr>
            <a:r>
              <a:rPr sz="760" i="0">
                <a:solidFill>
                  <a:srgbClr val="5C6773"/>
                </a:solidFill>
                <a:latin typeface="Inconsolata"/>
              </a:rPr>
              <a:t>87  </a:t>
            </a:r>
            <a:r>
              <a:rPr sz="760" i="0">
                <a:solidFill>
                  <a:srgbClr val="E6EDF3"/>
                </a:solidFill>
                <a:latin typeface="Inconsolata"/>
              </a:rPr>
              <a:t>    </a:t>
            </a:r>
            <a:r>
              <a:rPr sz="760" i="0">
                <a:solidFill>
                  <a:srgbClr val="FF8E6E"/>
                </a:solidFill>
                <a:latin typeface="Inconsolata"/>
              </a:rPr>
              <a:t>except</a:t>
            </a:r>
            <a:r>
              <a:rPr sz="760" i="0">
                <a:solidFill>
                  <a:srgbClr val="E6EDF3"/>
                </a:solidFill>
                <a:latin typeface="Inconsolata"/>
              </a:rPr>
              <a:t> </a:t>
            </a:r>
            <a:r>
              <a:rPr sz="760" i="0">
                <a:solidFill>
                  <a:srgbClr val="7FDBCA"/>
                </a:solidFill>
                <a:latin typeface="Inconsolata"/>
              </a:rPr>
              <a:t>ValueError</a:t>
            </a:r>
            <a:r>
              <a:rPr sz="760" i="0">
                <a:solidFill>
                  <a:srgbClr val="E6EDF3"/>
                </a:solidFill>
                <a:latin typeface="Inconsolata"/>
              </a:rPr>
              <a:t> </a:t>
            </a:r>
            <a:r>
              <a:rPr sz="760" i="0">
                <a:solidFill>
                  <a:srgbClr val="FF8E6E"/>
                </a:solidFill>
                <a:latin typeface="Inconsolata"/>
              </a:rPr>
              <a:t>as</a:t>
            </a:r>
            <a:r>
              <a:rPr sz="760" i="0">
                <a:solidFill>
                  <a:srgbClr val="E6EDF3"/>
                </a:solidFill>
                <a:latin typeface="Inconsolata"/>
              </a:rPr>
              <a:t> e:</a:t>
            </a:r>
          </a:p>
          <a:p>
            <a:pPr>
              <a:lnSpc>
                <a:spcPct val="109601"/>
              </a:lnSpc>
              <a:spcAft>
                <a:spcPts val="0"/>
              </a:spcAft>
            </a:pPr>
            <a:r>
              <a:rPr sz="760" i="0">
                <a:solidFill>
                  <a:srgbClr val="5C6773"/>
                </a:solidFill>
                <a:latin typeface="Inconsolata"/>
              </a:rPr>
              <a:t>88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"Gagal:"</a:t>
            </a:r>
            <a:r>
              <a:rPr sz="760" i="0">
                <a:solidFill>
                  <a:srgbClr val="E6EDF3"/>
                </a:solidFill>
                <a:latin typeface="Inconsolata"/>
              </a:rPr>
              <a:t>, e)</a:t>
            </a:r>
          </a:p>
          <a:p>
            <a:pPr>
              <a:lnSpc>
                <a:spcPct val="109601"/>
              </a:lnSpc>
              <a:spcAft>
                <a:spcPts val="0"/>
              </a:spcAft>
            </a:pPr>
            <a:r>
              <a:rPr sz="760" i="0">
                <a:solidFill>
                  <a:srgbClr val="5C6773"/>
                </a:solidFill>
                <a:latin typeface="Inconsolata"/>
              </a:rPr>
              <a:t>89  </a:t>
            </a:r>
            <a:r>
              <a:rPr sz="760" i="0">
                <a:solidFill>
                  <a:srgbClr val="E6EDF3"/>
                </a:solidFill>
                <a:latin typeface="Inconsolata"/>
              </a:rPr>
              <a:t> </a:t>
            </a:r>
          </a:p>
          <a:p>
            <a:pPr>
              <a:lnSpc>
                <a:spcPct val="109601"/>
              </a:lnSpc>
              <a:spcAft>
                <a:spcPts val="0"/>
              </a:spcAft>
            </a:pPr>
            <a:r>
              <a:rPr sz="760" i="0">
                <a:solidFill>
                  <a:srgbClr val="5C6773"/>
                </a:solidFill>
                <a:latin typeface="Inconsolata"/>
              </a:rPr>
              <a:t>90  </a:t>
            </a:r>
            <a:r>
              <a:rPr sz="760" i="0">
                <a:solidFill>
                  <a:srgbClr val="E6EDF3"/>
                </a:solidFill>
                <a:latin typeface="Inconsolata"/>
              </a:rPr>
              <a:t>    session.rollback()</a:t>
            </a:r>
          </a:p>
          <a:p>
            <a:pPr>
              <a:lnSpc>
                <a:spcPct val="109601"/>
              </a:lnSpc>
              <a:spcAft>
                <a:spcPts val="0"/>
              </a:spcAft>
            </a:pPr>
            <a:r>
              <a:rPr sz="760" i="0">
                <a:solidFill>
                  <a:srgbClr val="5C6773"/>
                </a:solidFill>
                <a:latin typeface="Inconsolata"/>
              </a:rPr>
              <a:t>91  </a:t>
            </a:r>
            <a:r>
              <a:rPr sz="760" i="0">
                <a:solidFill>
                  <a:srgbClr val="E6EDF3"/>
                </a:solidFill>
                <a:latin typeface="Inconsolata"/>
              </a:rPr>
              <a:t>    keyboard = session.get(</a:t>
            </a:r>
            <a:r>
              <a:rPr sz="760" i="0">
                <a:solidFill>
                  <a:srgbClr val="7FDBCA"/>
                </a:solidFill>
                <a:latin typeface="Inconsolata"/>
              </a:rPr>
              <a:t>ProductRecord</a:t>
            </a:r>
            <a:r>
              <a:rPr sz="760" i="0">
                <a:solidFill>
                  <a:srgbClr val="E6EDF3"/>
                </a:solidFill>
                <a:latin typeface="Inconsolata"/>
              </a:rPr>
              <a:t>, </a:t>
            </a:r>
            <a:r>
              <a:rPr sz="760" i="0">
                <a:solidFill>
                  <a:srgbClr val="F9C97A"/>
                </a:solidFill>
                <a:latin typeface="Inconsolata"/>
              </a:rPr>
              <a:t>1</a:t>
            </a:r>
            <a:r>
              <a:rPr sz="760" i="0">
                <a:solidFill>
                  <a:srgbClr val="E6EDF3"/>
                </a:solidFill>
                <a:latin typeface="Inconsolata"/>
              </a:rPr>
              <a:t>)</a:t>
            </a:r>
          </a:p>
          <a:p>
            <a:pPr>
              <a:lnSpc>
                <a:spcPct val="109601"/>
              </a:lnSpc>
              <a:spcAft>
                <a:spcPts val="0"/>
              </a:spcAft>
            </a:pPr>
            <a:r>
              <a:rPr sz="760" i="0">
                <a:solidFill>
                  <a:srgbClr val="5C6773"/>
                </a:solidFill>
                <a:latin typeface="Inconsolata"/>
              </a:rPr>
              <a:t>92  </a:t>
            </a:r>
            <a:r>
              <a:rPr sz="760" i="0">
                <a:solidFill>
                  <a:srgbClr val="E6EDF3"/>
                </a:solidFill>
                <a:latin typeface="Inconsolata"/>
              </a:rPr>
              <a:t>    </a:t>
            </a:r>
            <a:r>
              <a:rPr sz="760" i="0">
                <a:solidFill>
                  <a:srgbClr val="C3A6FF"/>
                </a:solidFill>
                <a:latin typeface="Inconsolata"/>
              </a:rPr>
              <a:t>print</a:t>
            </a:r>
            <a:r>
              <a:rPr sz="760" i="0">
                <a:solidFill>
                  <a:srgbClr val="E6EDF3"/>
                </a:solidFill>
                <a:latin typeface="Inconsolata"/>
              </a:rPr>
              <a:t>(</a:t>
            </a:r>
            <a:r>
              <a:rPr sz="760" i="0">
                <a:solidFill>
                  <a:srgbClr val="A5D6A7"/>
                </a:solidFill>
                <a:latin typeface="Inconsolata"/>
              </a:rPr>
              <a:t>"Stok Keyboard:"</a:t>
            </a:r>
            <a:r>
              <a:rPr sz="760" i="0">
                <a:solidFill>
                  <a:srgbClr val="E6EDF3"/>
                </a:solidFill>
                <a:latin typeface="Inconsolata"/>
              </a:rPr>
              <a:t>, keyboard.stock)  </a:t>
            </a:r>
            <a:r>
              <a:rPr sz="760" i="1">
                <a:solidFill>
                  <a:srgbClr val="8B98A8"/>
                </a:solidFill>
                <a:latin typeface="Inconsolata"/>
              </a:rPr>
              <a:t># 3, harusnya 5</a:t>
            </a:r>
          </a:p>
        </p:txBody>
      </p:sp>
      <p:sp>
        <p:nvSpPr>
          <p:cNvPr id="36" name="Box 21"/>
          <p:cNvSpPr/>
          <p:nvPr/>
        </p:nvSpPr>
        <p:spPr>
          <a:xfrm>
            <a:off x="704088" y="3986022"/>
            <a:ext cx="3694176"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926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8" name="Box 23"/>
          <p:cNvSpPr/>
          <p:nvPr/>
        </p:nvSpPr>
        <p:spPr>
          <a:xfrm>
            <a:off x="4709159" y="4240022"/>
            <a:ext cx="3694176" cy="246380"/>
          </a:xfrm>
          <a:prstGeom prst="roundRect">
            <a:avLst>
              <a:gd name="adj" fmla="val 185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4244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08-unit-of-work/before.py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sesi-04-modular-fastapi-orm-transactions/08-unit-of-work</a:t>
            </a:r>
          </a:p>
          <a:p>
            <a:pPr>
              <a:lnSpc>
                <a:spcPct val="107527"/>
              </a:lnSpc>
              <a:spcAft>
                <a:spcPts val="0"/>
              </a:spcAft>
            </a:pPr>
            <a:r>
              <a:rPr sz="775" i="0">
                <a:solidFill>
                  <a:srgbClr val="82B1FF"/>
                </a:solidFill>
                <a:latin typeface="Inconsolata"/>
              </a:rPr>
              <a:t>$ python before.py</a:t>
            </a:r>
          </a:p>
        </p:txBody>
      </p:sp>
      <p:pic>
        <p:nvPicPr>
          <p:cNvPr id="29" name="Image 12" descr="s04-08-unit-of-work-before.png"/>
          <p:cNvPicPr>
            <a:picLocks noChangeAspect="1"/>
          </p:cNvPicPr>
          <p:nvPr/>
        </p:nvPicPr>
        <p:blipFill>
          <a:blip r:embed="rId2"/>
          <a:stretch>
            <a:fillRect/>
          </a:stretch>
        </p:blipFill>
        <p:spPr>
          <a:xfrm>
            <a:off x="621792" y="2240280"/>
            <a:ext cx="4297680" cy="1088136"/>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Repository commit sendiri (baris 38-39, 48)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Service memanggil </a:t>
            </a:r>
            <a:r>
              <a:rPr sz="950" b="0" i="0">
                <a:solidFill>
                  <a:srgbClr val="B5482A"/>
                </a:solidFill>
                <a:latin typeface="Inconsolata"/>
              </a:rPr>
              <a:t>save()</a:t>
            </a:r>
            <a:r>
              <a:rPr sz="950" b="0" i="0">
                <a:solidFill>
                  <a:srgbClr val="434343"/>
                </a:solidFill>
                <a:latin typeface="Inter"/>
              </a:rPr>
              <a:t> per item: stok langsung permanen (baris 68)</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Item kedua gagal, stok Keyboard sudah berkurang jadi 3 (baris 91-92)</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Service yang memutuskan commit (1/3)</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 9  </a:t>
            </a:r>
            <a:r>
              <a:rPr sz="749" i="0">
                <a:solidFill>
                  <a:srgbClr val="FF8E6E"/>
                </a:solidFill>
                <a:latin typeface="Inconsolata"/>
              </a:rPr>
              <a:t>from</a:t>
            </a:r>
            <a:r>
              <a:rPr sz="749" i="0">
                <a:solidFill>
                  <a:srgbClr val="E6EDF3"/>
                </a:solidFill>
                <a:latin typeface="Inconsolata"/>
              </a:rPr>
              <a:t> sqlalchemy </a:t>
            </a:r>
            <a:r>
              <a:rPr sz="749" i="0">
                <a:solidFill>
                  <a:srgbClr val="FF8E6E"/>
                </a:solidFill>
                <a:latin typeface="Inconsolata"/>
              </a:rPr>
              <a:t>import</a:t>
            </a:r>
            <a:r>
              <a:rPr sz="749" i="0">
                <a:solidFill>
                  <a:srgbClr val="E6EDF3"/>
                </a:solidFill>
                <a:latin typeface="Inconsolata"/>
              </a:rPr>
              <a:t> </a:t>
            </a:r>
            <a:r>
              <a:rPr sz="749" i="0">
                <a:solidFill>
                  <a:srgbClr val="7FDBCA"/>
                </a:solidFill>
                <a:latin typeface="Inconsolata"/>
              </a:rPr>
              <a:t>String</a:t>
            </a:r>
            <a:r>
              <a:rPr sz="749" i="0">
                <a:solidFill>
                  <a:srgbClr val="E6EDF3"/>
                </a:solidFill>
                <a:latin typeface="Inconsolata"/>
              </a:rPr>
              <a:t>, create_engine</a:t>
            </a:r>
          </a:p>
          <a:p>
            <a:pPr>
              <a:lnSpc>
                <a:spcPct val="111166"/>
              </a:lnSpc>
              <a:spcAft>
                <a:spcPts val="0"/>
              </a:spcAft>
            </a:pPr>
            <a:r>
              <a:rPr sz="749" i="0">
                <a:solidFill>
                  <a:srgbClr val="5C6773"/>
                </a:solidFill>
                <a:latin typeface="Inconsolata"/>
              </a:rPr>
              <a:t>10  </a:t>
            </a:r>
            <a:r>
              <a:rPr sz="749" i="0">
                <a:solidFill>
                  <a:srgbClr val="FF8E6E"/>
                </a:solidFill>
                <a:latin typeface="Inconsolata"/>
              </a:rPr>
              <a:t>from</a:t>
            </a:r>
            <a:r>
              <a:rPr sz="749" i="0">
                <a:solidFill>
                  <a:srgbClr val="E6EDF3"/>
                </a:solidFill>
                <a:latin typeface="Inconsolata"/>
              </a:rPr>
              <a:t> sqlalchemy.orm </a:t>
            </a:r>
            <a:r>
              <a:rPr sz="749" i="0">
                <a:solidFill>
                  <a:srgbClr val="FF8E6E"/>
                </a:solidFill>
                <a:latin typeface="Inconsolata"/>
              </a:rPr>
              <a:t>import</a:t>
            </a:r>
            <a:r>
              <a:rPr sz="749" i="0">
                <a:solidFill>
                  <a:srgbClr val="E6EDF3"/>
                </a:solidFill>
                <a:latin typeface="Inconsolata"/>
              </a:rPr>
              <a:t> (</a:t>
            </a:r>
          </a:p>
          <a:p>
            <a:pPr>
              <a:lnSpc>
                <a:spcPct val="111166"/>
              </a:lnSpc>
              <a:spcAft>
                <a:spcPts val="0"/>
              </a:spcAft>
            </a:pPr>
            <a:r>
              <a:rPr sz="749" i="0">
                <a:solidFill>
                  <a:srgbClr val="5C6773"/>
                </a:solidFill>
                <a:latin typeface="Inconsolata"/>
              </a:rPr>
              <a:t>11  </a:t>
            </a:r>
            <a:r>
              <a:rPr sz="749" i="0">
                <a:solidFill>
                  <a:srgbClr val="E6EDF3"/>
                </a:solidFill>
                <a:latin typeface="Inconsolata"/>
              </a:rPr>
              <a:t>    </a:t>
            </a:r>
            <a:r>
              <a:rPr sz="749" i="0">
                <a:solidFill>
                  <a:srgbClr val="7FDBCA"/>
                </a:solidFill>
                <a:latin typeface="Inconsolata"/>
              </a:rPr>
              <a:t>DeclarativeBase</a:t>
            </a:r>
            <a:r>
              <a:rPr sz="749" i="0">
                <a:solidFill>
                  <a:srgbClr val="E6EDF3"/>
                </a:solidFill>
                <a:latin typeface="Inconsolata"/>
              </a:rPr>
              <a:t>, </a:t>
            </a:r>
            <a:r>
              <a:rPr sz="749" i="0">
                <a:solidFill>
                  <a:srgbClr val="7FDBCA"/>
                </a:solidFill>
                <a:latin typeface="Inconsolata"/>
              </a:rPr>
              <a:t>Mapped</a:t>
            </a:r>
            <a:r>
              <a:rPr sz="749" i="0">
                <a:solidFill>
                  <a:srgbClr val="E6EDF3"/>
                </a:solidFill>
                <a:latin typeface="Inconsolata"/>
              </a:rPr>
              <a:t>, </a:t>
            </a:r>
            <a:r>
              <a:rPr sz="749" i="0">
                <a:solidFill>
                  <a:srgbClr val="7FDBCA"/>
                </a:solidFill>
                <a:latin typeface="Inconsolata"/>
              </a:rPr>
              <a:t>Session</a:t>
            </a:r>
            <a:r>
              <a:rPr sz="749" i="0">
                <a:solidFill>
                  <a:srgbClr val="E6EDF3"/>
                </a:solidFill>
                <a:latin typeface="Inconsolata"/>
              </a:rPr>
              <a:t>, mapped_column, sessionmaker,</a:t>
            </a:r>
          </a:p>
          <a:p>
            <a:pPr>
              <a:lnSpc>
                <a:spcPct val="111166"/>
              </a:lnSpc>
              <a:spcAft>
                <a:spcPts val="0"/>
              </a:spcAft>
            </a:pPr>
            <a:r>
              <a:rPr sz="749" i="0">
                <a:solidFill>
                  <a:srgbClr val="5C6773"/>
                </a:solidFill>
                <a:latin typeface="Inconsolata"/>
              </a:rPr>
              <a:t>12  </a:t>
            </a:r>
            <a:r>
              <a:rPr sz="749" i="0">
                <a:solidFill>
                  <a:srgbClr val="E6EDF3"/>
                </a:solidFill>
                <a:latin typeface="Inconsolata"/>
              </a:rPr>
              <a:t>)</a:t>
            </a:r>
          </a:p>
          <a:p>
            <a:pPr>
              <a:lnSpc>
                <a:spcPct val="111166"/>
              </a:lnSpc>
              <a:spcAft>
                <a:spcPts val="0"/>
              </a:spcAft>
            </a:pPr>
            <a:r>
              <a:rPr sz="749" i="0">
                <a:solidFill>
                  <a:srgbClr val="5C6773"/>
                </a:solidFill>
                <a:latin typeface="Inconsolata"/>
              </a:rPr>
              <a:t>13  </a:t>
            </a:r>
            <a:r>
              <a:rPr sz="749" i="0">
                <a:solidFill>
                  <a:srgbClr val="E6EDF3"/>
                </a:solidFill>
                <a:latin typeface="Inconsolata"/>
              </a:rPr>
              <a:t> </a:t>
            </a:r>
          </a:p>
          <a:p>
            <a:pPr>
              <a:lnSpc>
                <a:spcPct val="111166"/>
              </a:lnSpc>
              <a:spcAft>
                <a:spcPts val="0"/>
              </a:spcAft>
            </a:pPr>
            <a:r>
              <a:rPr sz="749" i="0">
                <a:solidFill>
                  <a:srgbClr val="5C6773"/>
                </a:solidFill>
                <a:latin typeface="Inconsolata"/>
              </a:rPr>
              <a:t>14  </a:t>
            </a:r>
            <a:r>
              <a:rPr sz="749" i="0">
                <a:solidFill>
                  <a:srgbClr val="E6EDF3"/>
                </a:solidFill>
                <a:latin typeface="Inconsolata"/>
              </a:rPr>
              <a:t> </a:t>
            </a:r>
          </a:p>
          <a:p>
            <a:pPr>
              <a:lnSpc>
                <a:spcPct val="111166"/>
              </a:lnSpc>
              <a:spcAft>
                <a:spcPts val="0"/>
              </a:spcAft>
            </a:pPr>
            <a:r>
              <a:rPr sz="749" i="0">
                <a:solidFill>
                  <a:srgbClr val="5C6773"/>
                </a:solidFill>
                <a:latin typeface="Inconsolata"/>
              </a:rPr>
              <a:t>15  </a:t>
            </a:r>
            <a:r>
              <a:rPr sz="749" i="0">
                <a:solidFill>
                  <a:srgbClr val="FF8E6E"/>
                </a:solidFill>
                <a:latin typeface="Inconsolata"/>
              </a:rPr>
              <a:t>class</a:t>
            </a:r>
            <a:r>
              <a:rPr sz="749" i="0">
                <a:solidFill>
                  <a:srgbClr val="E6EDF3"/>
                </a:solidFill>
                <a:latin typeface="Inconsolata"/>
              </a:rPr>
              <a:t> </a:t>
            </a:r>
            <a:r>
              <a:rPr sz="749" i="0">
                <a:solidFill>
                  <a:srgbClr val="7FDBCA"/>
                </a:solidFill>
                <a:latin typeface="Inconsolata"/>
              </a:rPr>
              <a:t>Base</a:t>
            </a:r>
            <a:r>
              <a:rPr sz="749" i="0">
                <a:solidFill>
                  <a:srgbClr val="E6EDF3"/>
                </a:solidFill>
                <a:latin typeface="Inconsolata"/>
              </a:rPr>
              <a:t>(</a:t>
            </a:r>
            <a:r>
              <a:rPr sz="749" i="0">
                <a:solidFill>
                  <a:srgbClr val="7FDBCA"/>
                </a:solidFill>
                <a:latin typeface="Inconsolata"/>
              </a:rPr>
              <a:t>DeclarativeBase</a:t>
            </a:r>
            <a:r>
              <a:rPr sz="749" i="0">
                <a:solidFill>
                  <a:srgbClr val="E6EDF3"/>
                </a:solidFill>
                <a:latin typeface="Inconsolata"/>
              </a:rPr>
              <a:t>):</a:t>
            </a:r>
          </a:p>
          <a:p>
            <a:pPr>
              <a:lnSpc>
                <a:spcPct val="111166"/>
              </a:lnSpc>
              <a:spcAft>
                <a:spcPts val="0"/>
              </a:spcAft>
            </a:pPr>
            <a:r>
              <a:rPr sz="749" i="0">
                <a:solidFill>
                  <a:srgbClr val="5C6773"/>
                </a:solidFill>
                <a:latin typeface="Inconsolata"/>
              </a:rPr>
              <a:t>16  </a:t>
            </a:r>
            <a:r>
              <a:rPr sz="749" i="0">
                <a:solidFill>
                  <a:srgbClr val="E6EDF3"/>
                </a:solidFill>
                <a:latin typeface="Inconsolata"/>
              </a:rPr>
              <a:t>    </a:t>
            </a:r>
            <a:r>
              <a:rPr sz="749" i="0">
                <a:solidFill>
                  <a:srgbClr val="FF8E6E"/>
                </a:solidFill>
                <a:latin typeface="Inconsolata"/>
              </a:rPr>
              <a:t>pass</a:t>
            </a:r>
          </a:p>
          <a:p>
            <a:pPr>
              <a:lnSpc>
                <a:spcPct val="111166"/>
              </a:lnSpc>
              <a:spcAft>
                <a:spcPts val="0"/>
              </a:spcAft>
            </a:pPr>
            <a:r>
              <a:rPr sz="749" i="0">
                <a:solidFill>
                  <a:srgbClr val="5C6773"/>
                </a:solidFill>
                <a:latin typeface="Inconsolata"/>
              </a:rPr>
              <a:t>17  </a:t>
            </a:r>
            <a:r>
              <a:rPr sz="749" i="0">
                <a:solidFill>
                  <a:srgbClr val="E6EDF3"/>
                </a:solidFill>
                <a:latin typeface="Inconsolata"/>
              </a:rPr>
              <a:t> </a:t>
            </a:r>
          </a:p>
          <a:p>
            <a:pPr>
              <a:lnSpc>
                <a:spcPct val="111166"/>
              </a:lnSpc>
              <a:spcAft>
                <a:spcPts val="0"/>
              </a:spcAft>
            </a:pPr>
            <a:r>
              <a:rPr sz="749" i="0">
                <a:solidFill>
                  <a:srgbClr val="5C6773"/>
                </a:solidFill>
                <a:latin typeface="Inconsolata"/>
              </a:rPr>
              <a:t>18  </a:t>
            </a:r>
            <a:r>
              <a:rPr sz="749" i="0">
                <a:solidFill>
                  <a:srgbClr val="E6EDF3"/>
                </a:solidFill>
                <a:latin typeface="Inconsolata"/>
              </a:rPr>
              <a:t> </a:t>
            </a:r>
          </a:p>
          <a:p>
            <a:pPr>
              <a:lnSpc>
                <a:spcPct val="111166"/>
              </a:lnSpc>
              <a:spcAft>
                <a:spcPts val="0"/>
              </a:spcAft>
            </a:pPr>
            <a:r>
              <a:rPr sz="749" i="0">
                <a:solidFill>
                  <a:srgbClr val="5C6773"/>
                </a:solidFill>
                <a:latin typeface="Inconsolata"/>
              </a:rPr>
              <a:t>19  </a:t>
            </a:r>
            <a:r>
              <a:rPr sz="749" i="0">
                <a:solidFill>
                  <a:srgbClr val="FF8E6E"/>
                </a:solidFill>
                <a:latin typeface="Inconsolata"/>
              </a:rPr>
              <a:t>class</a:t>
            </a:r>
            <a:r>
              <a:rPr sz="749" i="0">
                <a:solidFill>
                  <a:srgbClr val="E6EDF3"/>
                </a:solidFill>
                <a:latin typeface="Inconsolata"/>
              </a:rPr>
              <a:t> </a:t>
            </a:r>
            <a:r>
              <a:rPr sz="749" i="0">
                <a:solidFill>
                  <a:srgbClr val="7FDBCA"/>
                </a:solidFill>
                <a:latin typeface="Inconsolata"/>
              </a:rPr>
              <a:t>ProductRecord</a:t>
            </a:r>
            <a:r>
              <a:rPr sz="749" i="0">
                <a:solidFill>
                  <a:srgbClr val="E6EDF3"/>
                </a:solidFill>
                <a:latin typeface="Inconsolata"/>
              </a:rPr>
              <a:t>(</a:t>
            </a:r>
            <a:r>
              <a:rPr sz="749" i="0">
                <a:solidFill>
                  <a:srgbClr val="7FDBCA"/>
                </a:solidFill>
                <a:latin typeface="Inconsolata"/>
              </a:rPr>
              <a:t>Base</a:t>
            </a:r>
            <a:r>
              <a:rPr sz="749" i="0">
                <a:solidFill>
                  <a:srgbClr val="E6EDF3"/>
                </a:solidFill>
                <a:latin typeface="Inconsolata"/>
              </a:rPr>
              <a:t>):</a:t>
            </a:r>
          </a:p>
          <a:p>
            <a:pPr>
              <a:lnSpc>
                <a:spcPct val="111166"/>
              </a:lnSpc>
              <a:spcAft>
                <a:spcPts val="0"/>
              </a:spcAft>
            </a:pPr>
            <a:r>
              <a:rPr sz="749" i="0">
                <a:solidFill>
                  <a:srgbClr val="5C6773"/>
                </a:solidFill>
                <a:latin typeface="Inconsolata"/>
              </a:rPr>
              <a:t>20  </a:t>
            </a:r>
            <a:r>
              <a:rPr sz="749" i="0">
                <a:solidFill>
                  <a:srgbClr val="E6EDF3"/>
                </a:solidFill>
                <a:latin typeface="Inconsolata"/>
              </a:rPr>
              <a:t>    __tablename__ = </a:t>
            </a:r>
            <a:r>
              <a:rPr sz="749" i="0">
                <a:solidFill>
                  <a:srgbClr val="A5D6A7"/>
                </a:solidFill>
                <a:latin typeface="Inconsolata"/>
              </a:rPr>
              <a:t>"products"</a:t>
            </a:r>
          </a:p>
          <a:p>
            <a:pPr>
              <a:lnSpc>
                <a:spcPct val="111166"/>
              </a:lnSpc>
              <a:spcAft>
                <a:spcPts val="0"/>
              </a:spcAft>
            </a:pPr>
            <a:r>
              <a:rPr sz="749" i="0">
                <a:solidFill>
                  <a:srgbClr val="5C6773"/>
                </a:solidFill>
                <a:latin typeface="Inconsolata"/>
              </a:rPr>
              <a:t>21  </a:t>
            </a:r>
            <a:r>
              <a:rPr sz="749" i="0">
                <a:solidFill>
                  <a:srgbClr val="E6EDF3"/>
                </a:solidFill>
                <a:latin typeface="Inconsolata"/>
              </a:rPr>
              <a:t>    id: </a:t>
            </a:r>
            <a:r>
              <a:rPr sz="749" i="0">
                <a:solidFill>
                  <a:srgbClr val="7FDBCA"/>
                </a:solidFill>
                <a:latin typeface="Inconsolata"/>
              </a:rPr>
              <a:t>Mapped</a:t>
            </a:r>
            <a:r>
              <a:rPr sz="749" i="0">
                <a:solidFill>
                  <a:srgbClr val="E6EDF3"/>
                </a:solidFill>
                <a:latin typeface="Inconsolata"/>
              </a:rPr>
              <a:t>[</a:t>
            </a:r>
            <a:r>
              <a:rPr sz="749" i="0">
                <a:solidFill>
                  <a:srgbClr val="C3A6FF"/>
                </a:solidFill>
                <a:latin typeface="Inconsolata"/>
              </a:rPr>
              <a:t>int</a:t>
            </a:r>
            <a:r>
              <a:rPr sz="749" i="0">
                <a:solidFill>
                  <a:srgbClr val="E6EDF3"/>
                </a:solidFill>
                <a:latin typeface="Inconsolata"/>
              </a:rPr>
              <a:t>] = mapped_column(primary_key=</a:t>
            </a:r>
            <a:r>
              <a:rPr sz="749" i="0">
                <a:solidFill>
                  <a:srgbClr val="FF8E6E"/>
                </a:solidFill>
                <a:latin typeface="Inconsolata"/>
              </a:rPr>
              <a:t>True</a:t>
            </a:r>
            <a:r>
              <a:rPr sz="749" i="0">
                <a:solidFill>
                  <a:srgbClr val="E6EDF3"/>
                </a:solidFill>
                <a:latin typeface="Inconsolata"/>
              </a:rPr>
              <a:t>)</a:t>
            </a:r>
          </a:p>
          <a:p>
            <a:pPr>
              <a:lnSpc>
                <a:spcPct val="111166"/>
              </a:lnSpc>
              <a:spcAft>
                <a:spcPts val="0"/>
              </a:spcAft>
            </a:pPr>
            <a:r>
              <a:rPr sz="749" i="0">
                <a:solidFill>
                  <a:srgbClr val="5C6773"/>
                </a:solidFill>
                <a:latin typeface="Inconsolata"/>
              </a:rPr>
              <a:t>22  </a:t>
            </a:r>
            <a:r>
              <a:rPr sz="749" i="0">
                <a:solidFill>
                  <a:srgbClr val="E6EDF3"/>
                </a:solidFill>
                <a:latin typeface="Inconsolata"/>
              </a:rPr>
              <a:t>    name: </a:t>
            </a:r>
            <a:r>
              <a:rPr sz="749" i="0">
                <a:solidFill>
                  <a:srgbClr val="7FDBCA"/>
                </a:solidFill>
                <a:latin typeface="Inconsolata"/>
              </a:rPr>
              <a:t>Mapped</a:t>
            </a:r>
            <a:r>
              <a:rPr sz="749" i="0">
                <a:solidFill>
                  <a:srgbClr val="E6EDF3"/>
                </a:solidFill>
                <a:latin typeface="Inconsolata"/>
              </a:rPr>
              <a:t>[</a:t>
            </a:r>
            <a:r>
              <a:rPr sz="749" i="0">
                <a:solidFill>
                  <a:srgbClr val="C3A6FF"/>
                </a:solidFill>
                <a:latin typeface="Inconsolata"/>
              </a:rPr>
              <a:t>str</a:t>
            </a:r>
            <a:r>
              <a:rPr sz="749" i="0">
                <a:solidFill>
                  <a:srgbClr val="E6EDF3"/>
                </a:solidFill>
                <a:latin typeface="Inconsolata"/>
              </a:rPr>
              <a:t>] = mapped_column(</a:t>
            </a:r>
            <a:r>
              <a:rPr sz="749" i="0">
                <a:solidFill>
                  <a:srgbClr val="7FDBCA"/>
                </a:solidFill>
                <a:latin typeface="Inconsolata"/>
              </a:rPr>
              <a:t>String</a:t>
            </a:r>
            <a:r>
              <a:rPr sz="749" i="0">
                <a:solidFill>
                  <a:srgbClr val="E6EDF3"/>
                </a:solidFill>
                <a:latin typeface="Inconsolata"/>
              </a:rPr>
              <a:t>(</a:t>
            </a:r>
            <a:r>
              <a:rPr sz="749" i="0">
                <a:solidFill>
                  <a:srgbClr val="F9C97A"/>
                </a:solidFill>
                <a:latin typeface="Inconsolata"/>
              </a:rPr>
              <a:t>100</a:t>
            </a:r>
            <a:r>
              <a:rPr sz="749" i="0">
                <a:solidFill>
                  <a:srgbClr val="E6EDF3"/>
                </a:solidFill>
                <a:latin typeface="Inconsolata"/>
              </a:rPr>
              <a:t>))</a:t>
            </a:r>
          </a:p>
          <a:p>
            <a:pPr>
              <a:lnSpc>
                <a:spcPct val="111166"/>
              </a:lnSpc>
              <a:spcAft>
                <a:spcPts val="0"/>
              </a:spcAft>
            </a:pPr>
            <a:r>
              <a:rPr sz="749" i="0">
                <a:solidFill>
                  <a:srgbClr val="5C6773"/>
                </a:solidFill>
                <a:latin typeface="Inconsolata"/>
              </a:rPr>
              <a:t>23  </a:t>
            </a:r>
            <a:r>
              <a:rPr sz="749" i="0">
                <a:solidFill>
                  <a:srgbClr val="E6EDF3"/>
                </a:solidFill>
                <a:latin typeface="Inconsolata"/>
              </a:rPr>
              <a:t>    stock: </a:t>
            </a:r>
            <a:r>
              <a:rPr sz="749" i="0">
                <a:solidFill>
                  <a:srgbClr val="7FDBCA"/>
                </a:solidFill>
                <a:latin typeface="Inconsolata"/>
              </a:rPr>
              <a:t>Mapped</a:t>
            </a:r>
            <a:r>
              <a:rPr sz="749" i="0">
                <a:solidFill>
                  <a:srgbClr val="E6EDF3"/>
                </a:solidFill>
                <a:latin typeface="Inconsolata"/>
              </a:rPr>
              <a:t>[</a:t>
            </a:r>
            <a:r>
              <a:rPr sz="749" i="0">
                <a:solidFill>
                  <a:srgbClr val="C3A6FF"/>
                </a:solidFill>
                <a:latin typeface="Inconsolata"/>
              </a:rPr>
              <a:t>int</a:t>
            </a:r>
            <a:r>
              <a:rPr sz="749" i="0">
                <a:solidFill>
                  <a:srgbClr val="E6EDF3"/>
                </a:solidFill>
                <a:latin typeface="Inconsolata"/>
              </a:rPr>
              <a:t>]</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11166"/>
              </a:lnSpc>
              <a:spcAft>
                <a:spcPts val="0"/>
              </a:spcAft>
            </a:pPr>
            <a:r>
              <a:rPr sz="749" i="0">
                <a:solidFill>
                  <a:srgbClr val="5C6773"/>
                </a:solidFill>
                <a:latin typeface="Inconsolata"/>
              </a:rPr>
              <a:t>26  </a:t>
            </a:r>
            <a:r>
              <a:rPr sz="749" i="0">
                <a:solidFill>
                  <a:srgbClr val="FF8E6E"/>
                </a:solidFill>
                <a:latin typeface="Inconsolata"/>
              </a:rPr>
              <a:t>class</a:t>
            </a:r>
            <a:r>
              <a:rPr sz="749" i="0">
                <a:solidFill>
                  <a:srgbClr val="E6EDF3"/>
                </a:solidFill>
                <a:latin typeface="Inconsolata"/>
              </a:rPr>
              <a:t> </a:t>
            </a:r>
            <a:r>
              <a:rPr sz="749" i="0">
                <a:solidFill>
                  <a:srgbClr val="7FDBCA"/>
                </a:solidFill>
                <a:latin typeface="Inconsolata"/>
              </a:rPr>
              <a:t>OrderRecord</a:t>
            </a:r>
            <a:r>
              <a:rPr sz="749" i="0">
                <a:solidFill>
                  <a:srgbClr val="E6EDF3"/>
                </a:solidFill>
                <a:latin typeface="Inconsolata"/>
              </a:rPr>
              <a:t>(</a:t>
            </a:r>
            <a:r>
              <a:rPr sz="749" i="0">
                <a:solidFill>
                  <a:srgbClr val="7FDBCA"/>
                </a:solidFill>
                <a:latin typeface="Inconsolata"/>
              </a:rPr>
              <a:t>Base</a:t>
            </a:r>
            <a:r>
              <a:rPr sz="749" i="0">
                <a:solidFill>
                  <a:srgbClr val="E6EDF3"/>
                </a:solidFill>
                <a:latin typeface="Inconsolata"/>
              </a:rPr>
              <a:t>):</a:t>
            </a:r>
          </a:p>
          <a:p>
            <a:pPr>
              <a:lnSpc>
                <a:spcPct val="111166"/>
              </a:lnSpc>
              <a:spcAft>
                <a:spcPts val="0"/>
              </a:spcAft>
            </a:pPr>
            <a:r>
              <a:rPr sz="749" i="0">
                <a:solidFill>
                  <a:srgbClr val="5C6773"/>
                </a:solidFill>
                <a:latin typeface="Inconsolata"/>
              </a:rPr>
              <a:t>27  </a:t>
            </a:r>
            <a:r>
              <a:rPr sz="749" i="0">
                <a:solidFill>
                  <a:srgbClr val="E6EDF3"/>
                </a:solidFill>
                <a:latin typeface="Inconsolata"/>
              </a:rPr>
              <a:t>    __tablename__ = </a:t>
            </a:r>
            <a:r>
              <a:rPr sz="749" i="0">
                <a:solidFill>
                  <a:srgbClr val="A5D6A7"/>
                </a:solidFill>
                <a:latin typeface="Inconsolata"/>
              </a:rPr>
              <a:t>"orders"</a:t>
            </a:r>
          </a:p>
          <a:p>
            <a:pPr>
              <a:lnSpc>
                <a:spcPct val="111166"/>
              </a:lnSpc>
              <a:spcAft>
                <a:spcPts val="0"/>
              </a:spcAft>
            </a:pPr>
            <a:r>
              <a:rPr sz="749" i="0">
                <a:solidFill>
                  <a:srgbClr val="5C6773"/>
                </a:solidFill>
                <a:latin typeface="Inconsolata"/>
              </a:rPr>
              <a:t>28  </a:t>
            </a:r>
            <a:r>
              <a:rPr sz="749" i="0">
                <a:solidFill>
                  <a:srgbClr val="E6EDF3"/>
                </a:solidFill>
                <a:latin typeface="Inconsolata"/>
              </a:rPr>
              <a:t>    id: </a:t>
            </a:r>
            <a:r>
              <a:rPr sz="749" i="0">
                <a:solidFill>
                  <a:srgbClr val="7FDBCA"/>
                </a:solidFill>
                <a:latin typeface="Inconsolata"/>
              </a:rPr>
              <a:t>Mapped</a:t>
            </a:r>
            <a:r>
              <a:rPr sz="749" i="0">
                <a:solidFill>
                  <a:srgbClr val="E6EDF3"/>
                </a:solidFill>
                <a:latin typeface="Inconsolata"/>
              </a:rPr>
              <a:t>[</a:t>
            </a:r>
            <a:r>
              <a:rPr sz="749" i="0">
                <a:solidFill>
                  <a:srgbClr val="C3A6FF"/>
                </a:solidFill>
                <a:latin typeface="Inconsolata"/>
              </a:rPr>
              <a:t>int</a:t>
            </a:r>
            <a:r>
              <a:rPr sz="749" i="0">
                <a:solidFill>
                  <a:srgbClr val="E6EDF3"/>
                </a:solidFill>
                <a:latin typeface="Inconsolata"/>
              </a:rPr>
              <a:t>] = mapped_column(primary_key=</a:t>
            </a:r>
            <a:r>
              <a:rPr sz="749" i="0">
                <a:solidFill>
                  <a:srgbClr val="FF8E6E"/>
                </a:solidFill>
                <a:latin typeface="Inconsolata"/>
              </a:rPr>
              <a:t>True</a:t>
            </a:r>
            <a:r>
              <a:rPr sz="749" i="0">
                <a:solidFill>
                  <a:srgbClr val="E6EDF3"/>
                </a:solidFill>
                <a:latin typeface="Inconsolata"/>
              </a:rPr>
              <a:t>)</a:t>
            </a:r>
          </a:p>
          <a:p>
            <a:pPr>
              <a:lnSpc>
                <a:spcPct val="111166"/>
              </a:lnSpc>
              <a:spcAft>
                <a:spcPts val="0"/>
              </a:spcAft>
            </a:pPr>
            <a:r>
              <a:rPr sz="749" i="0">
                <a:solidFill>
                  <a:srgbClr val="5C6773"/>
                </a:solidFill>
                <a:latin typeface="Inconsolata"/>
              </a:rPr>
              <a:t>29  </a:t>
            </a:r>
            <a:r>
              <a:rPr sz="749" i="0">
                <a:solidFill>
                  <a:srgbClr val="E6EDF3"/>
                </a:solidFill>
                <a:latin typeface="Inconsolata"/>
              </a:rPr>
              <a:t>    customer: </a:t>
            </a:r>
            <a:r>
              <a:rPr sz="749" i="0">
                <a:solidFill>
                  <a:srgbClr val="7FDBCA"/>
                </a:solidFill>
                <a:latin typeface="Inconsolata"/>
              </a:rPr>
              <a:t>Mapped</a:t>
            </a:r>
            <a:r>
              <a:rPr sz="749" i="0">
                <a:solidFill>
                  <a:srgbClr val="E6EDF3"/>
                </a:solidFill>
                <a:latin typeface="Inconsolata"/>
              </a:rPr>
              <a:t>[</a:t>
            </a:r>
            <a:r>
              <a:rPr sz="749" i="0">
                <a:solidFill>
                  <a:srgbClr val="C3A6FF"/>
                </a:solidFill>
                <a:latin typeface="Inconsolata"/>
              </a:rPr>
              <a:t>str</a:t>
            </a:r>
            <a:r>
              <a:rPr sz="749" i="0">
                <a:solidFill>
                  <a:srgbClr val="E6EDF3"/>
                </a:solidFill>
                <a:latin typeface="Inconsolata"/>
              </a:rPr>
              <a:t>] = mapped_column(</a:t>
            </a:r>
            <a:r>
              <a:rPr sz="749" i="0">
                <a:solidFill>
                  <a:srgbClr val="7FDBCA"/>
                </a:solidFill>
                <a:latin typeface="Inconsolata"/>
              </a:rPr>
              <a:t>String</a:t>
            </a:r>
            <a:r>
              <a:rPr sz="749" i="0">
                <a:solidFill>
                  <a:srgbClr val="E6EDF3"/>
                </a:solidFill>
                <a:latin typeface="Inconsolata"/>
              </a:rPr>
              <a:t>(</a:t>
            </a:r>
            <a:r>
              <a:rPr sz="749" i="0">
                <a:solidFill>
                  <a:srgbClr val="F9C97A"/>
                </a:solidFill>
                <a:latin typeface="Inconsolata"/>
              </a:rPr>
              <a:t>100</a:t>
            </a:r>
            <a:r>
              <a:rPr sz="749" i="0">
                <a:solidFill>
                  <a:srgbClr val="E6EDF3"/>
                </a:solidFill>
                <a:latin typeface="Inconsolata"/>
              </a:rPr>
              <a:t>))</a:t>
            </a:r>
          </a:p>
          <a:p>
            <a:pPr>
              <a:lnSpc>
                <a:spcPct val="111166"/>
              </a:lnSpc>
              <a:spcAft>
                <a:spcPts val="0"/>
              </a:spcAft>
            </a:pPr>
            <a:r>
              <a:rPr sz="749" i="0">
                <a:solidFill>
                  <a:srgbClr val="5C6773"/>
                </a:solidFill>
                <a:latin typeface="Inconsolata"/>
              </a:rPr>
              <a:t>30  </a:t>
            </a:r>
            <a:r>
              <a:rPr sz="749" i="0">
                <a:solidFill>
                  <a:srgbClr val="E6EDF3"/>
                </a:solidFill>
                <a:latin typeface="Inconsolata"/>
              </a:rPr>
              <a:t> </a:t>
            </a:r>
          </a:p>
          <a:p>
            <a:pPr>
              <a:lnSpc>
                <a:spcPct val="111166"/>
              </a:lnSpc>
              <a:spcAft>
                <a:spcPts val="0"/>
              </a:spcAft>
            </a:pPr>
            <a:r>
              <a:rPr sz="749" i="0">
                <a:solidFill>
                  <a:srgbClr val="5C6773"/>
                </a:solidFill>
                <a:latin typeface="Inconsolata"/>
              </a:rPr>
              <a:t>31  </a:t>
            </a:r>
            <a:r>
              <a:rPr sz="749" i="0">
                <a:solidFill>
                  <a:srgbClr val="E6EDF3"/>
                </a:solidFill>
                <a:latin typeface="Inconsolata"/>
              </a:rPr>
              <a:t> </a:t>
            </a:r>
          </a:p>
          <a:p>
            <a:pPr>
              <a:lnSpc>
                <a:spcPct val="111166"/>
              </a:lnSpc>
              <a:spcAft>
                <a:spcPts val="0"/>
              </a:spcAft>
            </a:pPr>
            <a:r>
              <a:rPr sz="749" i="0">
                <a:solidFill>
                  <a:srgbClr val="5C6773"/>
                </a:solidFill>
                <a:latin typeface="Inconsolata"/>
              </a:rPr>
              <a:t>32  </a:t>
            </a:r>
            <a:r>
              <a:rPr sz="749" i="0">
                <a:solidFill>
                  <a:srgbClr val="FF8E6E"/>
                </a:solidFill>
                <a:latin typeface="Inconsolata"/>
              </a:rPr>
              <a:t>class</a:t>
            </a:r>
            <a:r>
              <a:rPr sz="749" i="0">
                <a:solidFill>
                  <a:srgbClr val="E6EDF3"/>
                </a:solidFill>
                <a:latin typeface="Inconsolata"/>
              </a:rPr>
              <a:t> </a:t>
            </a:r>
            <a:r>
              <a:rPr sz="749" i="0">
                <a:solidFill>
                  <a:srgbClr val="7FDBCA"/>
                </a:solidFill>
                <a:latin typeface="Inconsolata"/>
              </a:rPr>
              <a:t>ProductRepository</a:t>
            </a:r>
            <a:r>
              <a:rPr sz="749" i="0">
                <a:solidFill>
                  <a:srgbClr val="E6EDF3"/>
                </a:solidFill>
                <a:latin typeface="Inconsolata"/>
              </a:rPr>
              <a:t>:</a:t>
            </a:r>
          </a:p>
          <a:p>
            <a:pPr>
              <a:lnSpc>
                <a:spcPct val="111166"/>
              </a:lnSpc>
              <a:spcAft>
                <a:spcPts val="0"/>
              </a:spcAft>
            </a:pPr>
            <a:r>
              <a:rPr sz="749" i="0">
                <a:solidFill>
                  <a:srgbClr val="5C6773"/>
                </a:solidFill>
                <a:latin typeface="Inconsolata"/>
              </a:rPr>
              <a:t>33  </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__init__</a:t>
            </a:r>
            <a:r>
              <a:rPr sz="749" i="0">
                <a:solidFill>
                  <a:srgbClr val="E6EDF3"/>
                </a:solidFill>
                <a:latin typeface="Inconsolata"/>
              </a:rPr>
              <a:t>(</a:t>
            </a:r>
            <a:r>
              <a:rPr sz="749" i="0">
                <a:solidFill>
                  <a:srgbClr val="C3A6FF"/>
                </a:solidFill>
                <a:latin typeface="Inconsolata"/>
              </a:rPr>
              <a:t>self</a:t>
            </a:r>
            <a:r>
              <a:rPr sz="749" i="0">
                <a:solidFill>
                  <a:srgbClr val="E6EDF3"/>
                </a:solidFill>
                <a:latin typeface="Inconsolata"/>
              </a:rPr>
              <a:t>, session: </a:t>
            </a:r>
            <a:r>
              <a:rPr sz="749" i="0">
                <a:solidFill>
                  <a:srgbClr val="7FDBCA"/>
                </a:solidFill>
                <a:latin typeface="Inconsolata"/>
              </a:rPr>
              <a:t>Session</a:t>
            </a:r>
            <a:r>
              <a:rPr sz="749" i="0">
                <a:solidFill>
                  <a:srgbClr val="E6EDF3"/>
                </a:solidFill>
                <a:latin typeface="Inconsolata"/>
              </a:rPr>
              <a:t>):</a:t>
            </a:r>
          </a:p>
          <a:p>
            <a:pPr>
              <a:lnSpc>
                <a:spcPct val="111166"/>
              </a:lnSpc>
              <a:spcAft>
                <a:spcPts val="0"/>
              </a:spcAft>
            </a:pPr>
            <a:r>
              <a:rPr sz="749" i="0">
                <a:solidFill>
                  <a:srgbClr val="5C6773"/>
                </a:solidFill>
                <a:latin typeface="Inconsolata"/>
              </a:rPr>
              <a:t>34  </a:t>
            </a:r>
            <a:r>
              <a:rPr sz="749" i="0">
                <a:solidFill>
                  <a:srgbClr val="E6EDF3"/>
                </a:solidFill>
                <a:latin typeface="Inconsolata"/>
              </a:rPr>
              <a:t>        </a:t>
            </a:r>
            <a:r>
              <a:rPr sz="749" i="0">
                <a:solidFill>
                  <a:srgbClr val="C3A6FF"/>
                </a:solidFill>
                <a:latin typeface="Inconsolata"/>
              </a:rPr>
              <a:t>self</a:t>
            </a:r>
            <a:r>
              <a:rPr sz="749" i="0">
                <a:solidFill>
                  <a:srgbClr val="E6EDF3"/>
                </a:solidFill>
                <a:latin typeface="Inconsolata"/>
              </a:rPr>
              <a:t>.session = session</a:t>
            </a:r>
          </a:p>
          <a:p>
            <a:pPr>
              <a:lnSpc>
                <a:spcPct val="111166"/>
              </a:lnSpc>
              <a:spcAft>
                <a:spcPts val="0"/>
              </a:spcAft>
            </a:pPr>
            <a:r>
              <a:rPr sz="749" i="0">
                <a:solidFill>
                  <a:srgbClr val="5C6773"/>
                </a:solidFill>
                <a:latin typeface="Inconsolata"/>
              </a:rPr>
              <a:t>35  </a:t>
            </a:r>
            <a:r>
              <a:rPr sz="749" i="0">
                <a:solidFill>
                  <a:srgbClr val="E6EDF3"/>
                </a:solidFill>
                <a:latin typeface="Inconsolata"/>
              </a:rPr>
              <a:t> </a:t>
            </a:r>
          </a:p>
          <a:p>
            <a:pPr>
              <a:lnSpc>
                <a:spcPct val="111166"/>
              </a:lnSpc>
              <a:spcAft>
                <a:spcPts val="0"/>
              </a:spcAft>
            </a:pPr>
            <a:r>
              <a:rPr sz="749" i="0">
                <a:solidFill>
                  <a:srgbClr val="5C6773"/>
                </a:solidFill>
                <a:latin typeface="Inconsolata"/>
              </a:rPr>
              <a:t>36  </a:t>
            </a:r>
            <a:r>
              <a:rPr sz="749" i="0">
                <a:solidFill>
                  <a:srgbClr val="E6EDF3"/>
                </a:solidFill>
                <a:latin typeface="Inconsolata"/>
              </a:rPr>
              <a:t>    </a:t>
            </a:r>
            <a:r>
              <a:rPr sz="749" i="0">
                <a:solidFill>
                  <a:srgbClr val="FF8E6E"/>
                </a:solidFill>
                <a:latin typeface="Inconsolata"/>
              </a:rPr>
              <a:t>def</a:t>
            </a:r>
            <a:r>
              <a:rPr sz="749" i="0">
                <a:solidFill>
                  <a:srgbClr val="E6EDF3"/>
                </a:solidFill>
                <a:latin typeface="Inconsolata"/>
              </a:rPr>
              <a:t> </a:t>
            </a:r>
            <a:r>
              <a:rPr sz="749" i="0">
                <a:solidFill>
                  <a:srgbClr val="82B1FF"/>
                </a:solidFill>
                <a:latin typeface="Inconsolata"/>
              </a:rPr>
              <a:t>get</a:t>
            </a:r>
            <a:r>
              <a:rPr sz="749" i="0">
                <a:solidFill>
                  <a:srgbClr val="E6EDF3"/>
                </a:solidFill>
                <a:latin typeface="Inconsolata"/>
              </a:rPr>
              <a:t>(</a:t>
            </a:r>
            <a:r>
              <a:rPr sz="749" i="0">
                <a:solidFill>
                  <a:srgbClr val="C3A6FF"/>
                </a:solidFill>
                <a:latin typeface="Inconsolata"/>
              </a:rPr>
              <a:t>self</a:t>
            </a:r>
            <a:r>
              <a:rPr sz="749" i="0">
                <a:solidFill>
                  <a:srgbClr val="E6EDF3"/>
                </a:solidFill>
                <a:latin typeface="Inconsolata"/>
              </a:rPr>
              <a:t>, product_id: </a:t>
            </a:r>
            <a:r>
              <a:rPr sz="749" i="0">
                <a:solidFill>
                  <a:srgbClr val="C3A6FF"/>
                </a:solidFill>
                <a:latin typeface="Inconsolata"/>
              </a:rPr>
              <a:t>int</a:t>
            </a:r>
            <a:r>
              <a:rPr sz="749" i="0">
                <a:solidFill>
                  <a:srgbClr val="E6EDF3"/>
                </a:solidFill>
                <a:latin typeface="Inconsolata"/>
              </a:rPr>
              <a:t>) -&gt; </a:t>
            </a:r>
            <a:r>
              <a:rPr sz="749" i="0">
                <a:solidFill>
                  <a:srgbClr val="7FDBCA"/>
                </a:solidFill>
                <a:latin typeface="Inconsolata"/>
              </a:rPr>
              <a:t>ProductRecord</a:t>
            </a:r>
            <a:r>
              <a:rPr sz="749" i="0">
                <a:solidFill>
                  <a:srgbClr val="E6EDF3"/>
                </a:solidFill>
                <a:latin typeface="Inconsolata"/>
              </a:rPr>
              <a:t>:</a:t>
            </a:r>
          </a:p>
          <a:p>
            <a:pPr>
              <a:lnSpc>
                <a:spcPct val="111166"/>
              </a:lnSpc>
              <a:spcAft>
                <a:spcPts val="0"/>
              </a:spcAft>
            </a:pPr>
            <a:r>
              <a:rPr sz="749" i="0">
                <a:solidFill>
                  <a:srgbClr val="5C6773"/>
                </a:solidFill>
                <a:latin typeface="Inconsolata"/>
              </a:rPr>
              <a:t>37  </a:t>
            </a:r>
            <a:r>
              <a:rPr sz="749" i="0">
                <a:solidFill>
                  <a:srgbClr val="E6EDF3"/>
                </a:solidFill>
                <a:latin typeface="Inconsolata"/>
              </a:rPr>
              <a:t>        </a:t>
            </a:r>
            <a:r>
              <a:rPr sz="749" i="0">
                <a:solidFill>
                  <a:srgbClr val="FF8E6E"/>
                </a:solidFill>
                <a:latin typeface="Inconsolata"/>
              </a:rPr>
              <a:t>return</a:t>
            </a:r>
            <a:r>
              <a:rPr sz="749" i="0">
                <a:solidFill>
                  <a:srgbClr val="E6EDF3"/>
                </a:solidFill>
                <a:latin typeface="Inconsolata"/>
              </a:rPr>
              <a:t> </a:t>
            </a:r>
            <a:r>
              <a:rPr sz="749" i="0">
                <a:solidFill>
                  <a:srgbClr val="C3A6FF"/>
                </a:solidFill>
                <a:latin typeface="Inconsolata"/>
              </a:rPr>
              <a:t>self</a:t>
            </a:r>
            <a:r>
              <a:rPr sz="749" i="0">
                <a:solidFill>
                  <a:srgbClr val="E6EDF3"/>
                </a:solidFill>
                <a:latin typeface="Inconsolata"/>
              </a:rPr>
              <a:t>.session.get(</a:t>
            </a:r>
            <a:r>
              <a:rPr sz="749" i="0">
                <a:solidFill>
                  <a:srgbClr val="7FDBCA"/>
                </a:solidFill>
                <a:latin typeface="Inconsolata"/>
              </a:rPr>
              <a:t>ProductRecord</a:t>
            </a:r>
            <a:r>
              <a:rPr sz="749" i="0">
                <a:solidFill>
                  <a:srgbClr val="E6EDF3"/>
                </a:solidFill>
                <a:latin typeface="Inconsolata"/>
              </a:rPr>
              <a:t>, product_id)</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Service yang memutuskan commit (2/3)</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6469"/>
              </a:lnSpc>
              <a:spcAft>
                <a:spcPts val="0"/>
              </a:spcAft>
            </a:pPr>
            <a:r>
              <a:rPr sz="782" i="0">
                <a:solidFill>
                  <a:srgbClr val="5C6773"/>
                </a:solidFill>
                <a:latin typeface="Inconsolata"/>
              </a:rPr>
              <a:t>40  </a:t>
            </a:r>
            <a:r>
              <a:rPr sz="782" i="0">
                <a:solidFill>
                  <a:srgbClr val="FF8E6E"/>
                </a:solidFill>
                <a:latin typeface="Inconsolata"/>
              </a:rPr>
              <a:t>class</a:t>
            </a:r>
            <a:r>
              <a:rPr sz="782" i="0">
                <a:solidFill>
                  <a:srgbClr val="E6EDF3"/>
                </a:solidFill>
                <a:latin typeface="Inconsolata"/>
              </a:rPr>
              <a:t> </a:t>
            </a:r>
            <a:r>
              <a:rPr sz="782" i="0">
                <a:solidFill>
                  <a:srgbClr val="7FDBCA"/>
                </a:solidFill>
                <a:latin typeface="Inconsolata"/>
              </a:rPr>
              <a:t>OrderRepository</a:t>
            </a:r>
            <a:r>
              <a:rPr sz="782" i="0">
                <a:solidFill>
                  <a:srgbClr val="E6EDF3"/>
                </a:solidFill>
                <a:latin typeface="Inconsolata"/>
              </a:rPr>
              <a:t>:</a:t>
            </a:r>
          </a:p>
          <a:p>
            <a:pPr>
              <a:lnSpc>
                <a:spcPct val="106469"/>
              </a:lnSpc>
              <a:spcAft>
                <a:spcPts val="0"/>
              </a:spcAft>
            </a:pPr>
            <a:r>
              <a:rPr sz="782" i="0">
                <a:solidFill>
                  <a:srgbClr val="5C6773"/>
                </a:solidFill>
                <a:latin typeface="Inconsolata"/>
              </a:rPr>
              <a:t>41  </a:t>
            </a:r>
            <a:r>
              <a:rPr sz="782" i="0">
                <a:solidFill>
                  <a:srgbClr val="E6EDF3"/>
                </a:solidFill>
                <a:latin typeface="Inconsolata"/>
              </a:rPr>
              <a:t>    </a:t>
            </a:r>
            <a:r>
              <a:rPr sz="782" i="0">
                <a:solidFill>
                  <a:srgbClr val="FF8E6E"/>
                </a:solidFill>
                <a:latin typeface="Inconsolata"/>
              </a:rPr>
              <a:t>def</a:t>
            </a:r>
            <a:r>
              <a:rPr sz="782" i="0">
                <a:solidFill>
                  <a:srgbClr val="E6EDF3"/>
                </a:solidFill>
                <a:latin typeface="Inconsolata"/>
              </a:rPr>
              <a:t> </a:t>
            </a:r>
            <a:r>
              <a:rPr sz="782" i="0">
                <a:solidFill>
                  <a:srgbClr val="82B1FF"/>
                </a:solidFill>
                <a:latin typeface="Inconsolata"/>
              </a:rPr>
              <a:t>__init__</a:t>
            </a:r>
            <a:r>
              <a:rPr sz="782" i="0">
                <a:solidFill>
                  <a:srgbClr val="E6EDF3"/>
                </a:solidFill>
                <a:latin typeface="Inconsolata"/>
              </a:rPr>
              <a:t>(</a:t>
            </a:r>
            <a:r>
              <a:rPr sz="782" i="0">
                <a:solidFill>
                  <a:srgbClr val="C3A6FF"/>
                </a:solidFill>
                <a:latin typeface="Inconsolata"/>
              </a:rPr>
              <a:t>self</a:t>
            </a:r>
            <a:r>
              <a:rPr sz="782" i="0">
                <a:solidFill>
                  <a:srgbClr val="E6EDF3"/>
                </a:solidFill>
                <a:latin typeface="Inconsolata"/>
              </a:rPr>
              <a:t>, session: </a:t>
            </a:r>
            <a:r>
              <a:rPr sz="782" i="0">
                <a:solidFill>
                  <a:srgbClr val="7FDBCA"/>
                </a:solidFill>
                <a:latin typeface="Inconsolata"/>
              </a:rPr>
              <a:t>Session</a:t>
            </a:r>
            <a:r>
              <a:rPr sz="782" i="0">
                <a:solidFill>
                  <a:srgbClr val="E6EDF3"/>
                </a:solidFill>
                <a:latin typeface="Inconsolata"/>
              </a:rPr>
              <a:t>):</a:t>
            </a:r>
          </a:p>
          <a:p>
            <a:pPr>
              <a:lnSpc>
                <a:spcPct val="106469"/>
              </a:lnSpc>
              <a:spcAft>
                <a:spcPts val="0"/>
              </a:spcAft>
            </a:pPr>
            <a:r>
              <a:rPr sz="782" i="0">
                <a:solidFill>
                  <a:srgbClr val="5C6773"/>
                </a:solidFill>
                <a:latin typeface="Inconsolata"/>
              </a:rPr>
              <a:t>42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.session = session</a:t>
            </a:r>
          </a:p>
          <a:p>
            <a:pPr>
              <a:lnSpc>
                <a:spcPct val="106469"/>
              </a:lnSpc>
              <a:spcAft>
                <a:spcPts val="0"/>
              </a:spcAft>
            </a:pPr>
            <a:r>
              <a:rPr sz="782" i="0">
                <a:solidFill>
                  <a:srgbClr val="5C6773"/>
                </a:solidFill>
                <a:latin typeface="Inconsolata"/>
              </a:rPr>
              <a:t>43  </a:t>
            </a:r>
            <a:r>
              <a:rPr sz="782" i="0">
                <a:solidFill>
                  <a:srgbClr val="E6EDF3"/>
                </a:solidFill>
                <a:latin typeface="Inconsolata"/>
              </a:rPr>
              <a:t> </a:t>
            </a:r>
          </a:p>
          <a:p>
            <a:pPr>
              <a:lnSpc>
                <a:spcPct val="106469"/>
              </a:lnSpc>
              <a:spcAft>
                <a:spcPts val="0"/>
              </a:spcAft>
            </a:pPr>
            <a:r>
              <a:rPr sz="782" i="0">
                <a:solidFill>
                  <a:srgbClr val="5C6773"/>
                </a:solidFill>
                <a:latin typeface="Inconsolata"/>
              </a:rPr>
              <a:t>44  </a:t>
            </a:r>
            <a:r>
              <a:rPr sz="782" i="0">
                <a:solidFill>
                  <a:srgbClr val="E6EDF3"/>
                </a:solidFill>
                <a:latin typeface="Inconsolata"/>
              </a:rPr>
              <a:t>    </a:t>
            </a:r>
            <a:r>
              <a:rPr sz="782" i="0">
                <a:solidFill>
                  <a:srgbClr val="FF8E6E"/>
                </a:solidFill>
                <a:latin typeface="Inconsolata"/>
              </a:rPr>
              <a:t>def</a:t>
            </a:r>
            <a:r>
              <a:rPr sz="782" i="0">
                <a:solidFill>
                  <a:srgbClr val="E6EDF3"/>
                </a:solidFill>
                <a:latin typeface="Inconsolata"/>
              </a:rPr>
              <a:t> </a:t>
            </a:r>
            <a:r>
              <a:rPr sz="782" i="0">
                <a:solidFill>
                  <a:srgbClr val="82B1FF"/>
                </a:solidFill>
                <a:latin typeface="Inconsolata"/>
              </a:rPr>
              <a:t>add</a:t>
            </a:r>
            <a:r>
              <a:rPr sz="782" i="0">
                <a:solidFill>
                  <a:srgbClr val="E6EDF3"/>
                </a:solidFill>
                <a:latin typeface="Inconsolata"/>
              </a:rPr>
              <a:t>(</a:t>
            </a:r>
            <a:r>
              <a:rPr sz="782" i="0">
                <a:solidFill>
                  <a:srgbClr val="C3A6FF"/>
                </a:solidFill>
                <a:latin typeface="Inconsolata"/>
              </a:rPr>
              <a:t>self</a:t>
            </a:r>
            <a:r>
              <a:rPr sz="782" i="0">
                <a:solidFill>
                  <a:srgbClr val="E6EDF3"/>
                </a:solidFill>
                <a:latin typeface="Inconsolata"/>
              </a:rPr>
              <a:t>, customer: </a:t>
            </a:r>
            <a:r>
              <a:rPr sz="782" i="0">
                <a:solidFill>
                  <a:srgbClr val="C3A6FF"/>
                </a:solidFill>
                <a:latin typeface="Inconsolata"/>
              </a:rPr>
              <a:t>str</a:t>
            </a:r>
            <a:r>
              <a:rPr sz="782" i="0">
                <a:solidFill>
                  <a:srgbClr val="E6EDF3"/>
                </a:solidFill>
                <a:latin typeface="Inconsolata"/>
              </a:rPr>
              <a:t>) -&gt; </a:t>
            </a:r>
            <a:r>
              <a:rPr sz="782" i="0">
                <a:solidFill>
                  <a:srgbClr val="FF8E6E"/>
                </a:solidFill>
                <a:latin typeface="Inconsolata"/>
              </a:rPr>
              <a:t>None</a:t>
            </a:r>
            <a:r>
              <a:rPr sz="782" i="0">
                <a:solidFill>
                  <a:srgbClr val="E6EDF3"/>
                </a:solidFill>
                <a:latin typeface="Inconsolata"/>
              </a:rPr>
              <a:t>:</a:t>
            </a:r>
          </a:p>
          <a:p>
            <a:pPr>
              <a:lnSpc>
                <a:spcPct val="106469"/>
              </a:lnSpc>
              <a:spcAft>
                <a:spcPts val="0"/>
              </a:spcAft>
            </a:pPr>
            <a:r>
              <a:rPr sz="782" i="0">
                <a:solidFill>
                  <a:srgbClr val="5C6773"/>
                </a:solidFill>
                <a:latin typeface="Inconsolata"/>
              </a:rPr>
              <a:t>45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.session.add(</a:t>
            </a:r>
            <a:r>
              <a:rPr sz="782" i="0">
                <a:solidFill>
                  <a:srgbClr val="7FDBCA"/>
                </a:solidFill>
                <a:latin typeface="Inconsolata"/>
              </a:rPr>
              <a:t>OrderRecord</a:t>
            </a:r>
            <a:r>
              <a:rPr sz="782" i="0">
                <a:solidFill>
                  <a:srgbClr val="E6EDF3"/>
                </a:solidFill>
                <a:latin typeface="Inconsolata"/>
              </a:rPr>
              <a:t>(customer=customer))</a:t>
            </a:r>
          </a:p>
          <a:p>
            <a:pPr>
              <a:lnSpc>
                <a:spcPct val="106469"/>
              </a:lnSpc>
              <a:spcAft>
                <a:spcPts val="0"/>
              </a:spcAft>
            </a:pPr>
            <a:r>
              <a:rPr sz="782" i="0">
                <a:solidFill>
                  <a:srgbClr val="5C6773"/>
                </a:solidFill>
                <a:latin typeface="Inconsolata"/>
              </a:rPr>
              <a:t>46  </a:t>
            </a:r>
            <a:r>
              <a:rPr sz="782" i="0">
                <a:solidFill>
                  <a:srgbClr val="E6EDF3"/>
                </a:solidFill>
                <a:latin typeface="Inconsolata"/>
              </a:rPr>
              <a:t> </a:t>
            </a:r>
          </a:p>
          <a:p>
            <a:pPr>
              <a:lnSpc>
                <a:spcPct val="106469"/>
              </a:lnSpc>
              <a:spcAft>
                <a:spcPts val="0"/>
              </a:spcAft>
            </a:pPr>
            <a:r>
              <a:rPr sz="782" i="0">
                <a:solidFill>
                  <a:srgbClr val="5C6773"/>
                </a:solidFill>
                <a:latin typeface="Inconsolata"/>
              </a:rPr>
              <a:t>47  </a:t>
            </a:r>
            <a:r>
              <a:rPr sz="782" i="0">
                <a:solidFill>
                  <a:srgbClr val="E6EDF3"/>
                </a:solidFill>
                <a:latin typeface="Inconsolata"/>
              </a:rPr>
              <a:t> </a:t>
            </a:r>
          </a:p>
          <a:p>
            <a:pPr>
              <a:lnSpc>
                <a:spcPct val="106469"/>
              </a:lnSpc>
              <a:spcAft>
                <a:spcPts val="0"/>
              </a:spcAft>
            </a:pPr>
            <a:r>
              <a:rPr sz="782" i="0">
                <a:solidFill>
                  <a:srgbClr val="5C6773"/>
                </a:solidFill>
                <a:latin typeface="Inconsolata"/>
              </a:rPr>
              <a:t>48  </a:t>
            </a:r>
            <a:r>
              <a:rPr sz="782" i="0">
                <a:solidFill>
                  <a:srgbClr val="FF8E6E"/>
                </a:solidFill>
                <a:latin typeface="Inconsolata"/>
              </a:rPr>
              <a:t>class</a:t>
            </a:r>
            <a:r>
              <a:rPr sz="782" i="0">
                <a:solidFill>
                  <a:srgbClr val="E6EDF3"/>
                </a:solidFill>
                <a:latin typeface="Inconsolata"/>
              </a:rPr>
              <a:t> </a:t>
            </a:r>
            <a:r>
              <a:rPr sz="782" i="0">
                <a:solidFill>
                  <a:srgbClr val="7FDBCA"/>
                </a:solidFill>
                <a:latin typeface="Inconsolata"/>
              </a:rPr>
              <a:t>UnitOfWork</a:t>
            </a:r>
            <a:r>
              <a:rPr sz="782" i="0">
                <a:solidFill>
                  <a:srgbClr val="E6EDF3"/>
                </a:solidFill>
                <a:latin typeface="Inconsolata"/>
              </a:rPr>
              <a:t>:</a:t>
            </a:r>
          </a:p>
          <a:p>
            <a:pPr>
              <a:lnSpc>
                <a:spcPct val="106469"/>
              </a:lnSpc>
              <a:spcAft>
                <a:spcPts val="0"/>
              </a:spcAft>
            </a:pPr>
            <a:r>
              <a:rPr sz="782" i="0">
                <a:solidFill>
                  <a:srgbClr val="5C6773"/>
                </a:solidFill>
                <a:latin typeface="Inconsolata"/>
              </a:rPr>
              <a:t>49  </a:t>
            </a:r>
            <a:r>
              <a:rPr sz="782" i="0">
                <a:solidFill>
                  <a:srgbClr val="E6EDF3"/>
                </a:solidFill>
                <a:latin typeface="Inconsolata"/>
              </a:rPr>
              <a:t>    </a:t>
            </a:r>
            <a:r>
              <a:rPr sz="782" i="0">
                <a:solidFill>
                  <a:srgbClr val="FF8E6E"/>
                </a:solidFill>
                <a:latin typeface="Inconsolata"/>
              </a:rPr>
              <a:t>def</a:t>
            </a:r>
            <a:r>
              <a:rPr sz="782" i="0">
                <a:solidFill>
                  <a:srgbClr val="E6EDF3"/>
                </a:solidFill>
                <a:latin typeface="Inconsolata"/>
              </a:rPr>
              <a:t> </a:t>
            </a:r>
            <a:r>
              <a:rPr sz="782" i="0">
                <a:solidFill>
                  <a:srgbClr val="82B1FF"/>
                </a:solidFill>
                <a:latin typeface="Inconsolata"/>
              </a:rPr>
              <a:t>__init__</a:t>
            </a:r>
            <a:r>
              <a:rPr sz="782" i="0">
                <a:solidFill>
                  <a:srgbClr val="E6EDF3"/>
                </a:solidFill>
                <a:latin typeface="Inconsolata"/>
              </a:rPr>
              <a:t>(</a:t>
            </a:r>
            <a:r>
              <a:rPr sz="782" i="0">
                <a:solidFill>
                  <a:srgbClr val="C3A6FF"/>
                </a:solidFill>
                <a:latin typeface="Inconsolata"/>
              </a:rPr>
              <a:t>self</a:t>
            </a:r>
            <a:r>
              <a:rPr sz="782" i="0">
                <a:solidFill>
                  <a:srgbClr val="E6EDF3"/>
                </a:solidFill>
                <a:latin typeface="Inconsolata"/>
              </a:rPr>
              <a:t>, session_factory: sessionmaker):</a:t>
            </a:r>
          </a:p>
          <a:p>
            <a:pPr>
              <a:lnSpc>
                <a:spcPct val="106469"/>
              </a:lnSpc>
              <a:spcAft>
                <a:spcPts val="0"/>
              </a:spcAft>
            </a:pPr>
            <a:r>
              <a:rPr sz="782" i="0">
                <a:solidFill>
                  <a:srgbClr val="5C6773"/>
                </a:solidFill>
                <a:latin typeface="Inconsolata"/>
              </a:rPr>
              <a:t>50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.session_factory = session_factory</a:t>
            </a:r>
          </a:p>
          <a:p>
            <a:pPr>
              <a:lnSpc>
                <a:spcPct val="106469"/>
              </a:lnSpc>
              <a:spcAft>
                <a:spcPts val="0"/>
              </a:spcAft>
            </a:pPr>
            <a:r>
              <a:rPr sz="782" i="0">
                <a:solidFill>
                  <a:srgbClr val="5C6773"/>
                </a:solidFill>
                <a:latin typeface="Inconsolata"/>
              </a:rPr>
              <a:t>51  </a:t>
            </a:r>
            <a:r>
              <a:rPr sz="782" i="0">
                <a:solidFill>
                  <a:srgbClr val="E6EDF3"/>
                </a:solidFill>
                <a:latin typeface="Inconsolata"/>
              </a:rPr>
              <a:t> </a:t>
            </a:r>
          </a:p>
          <a:p>
            <a:pPr>
              <a:lnSpc>
                <a:spcPct val="106469"/>
              </a:lnSpc>
              <a:spcAft>
                <a:spcPts val="0"/>
              </a:spcAft>
            </a:pPr>
            <a:r>
              <a:rPr sz="782" i="0">
                <a:solidFill>
                  <a:srgbClr val="5C6773"/>
                </a:solidFill>
                <a:latin typeface="Inconsolata"/>
              </a:rPr>
              <a:t>52  </a:t>
            </a:r>
            <a:r>
              <a:rPr sz="782" i="0">
                <a:solidFill>
                  <a:srgbClr val="E6EDF3"/>
                </a:solidFill>
                <a:latin typeface="Inconsolata"/>
              </a:rPr>
              <a:t>    </a:t>
            </a:r>
            <a:r>
              <a:rPr sz="782" i="0">
                <a:solidFill>
                  <a:srgbClr val="FF8E6E"/>
                </a:solidFill>
                <a:latin typeface="Inconsolata"/>
              </a:rPr>
              <a:t>def</a:t>
            </a:r>
            <a:r>
              <a:rPr sz="782" i="0">
                <a:solidFill>
                  <a:srgbClr val="E6EDF3"/>
                </a:solidFill>
                <a:latin typeface="Inconsolata"/>
              </a:rPr>
              <a:t> </a:t>
            </a:r>
            <a:r>
              <a:rPr sz="782" i="0">
                <a:solidFill>
                  <a:srgbClr val="82B1FF"/>
                </a:solidFill>
                <a:latin typeface="Inconsolata"/>
              </a:rPr>
              <a:t>__enter__</a:t>
            </a:r>
            <a:r>
              <a:rPr sz="782" i="0">
                <a:solidFill>
                  <a:srgbClr val="E6EDF3"/>
                </a:solidFill>
                <a:latin typeface="Inconsolata"/>
              </a:rPr>
              <a:t>(</a:t>
            </a:r>
            <a:r>
              <a:rPr sz="782" i="0">
                <a:solidFill>
                  <a:srgbClr val="C3A6FF"/>
                </a:solidFill>
                <a:latin typeface="Inconsolata"/>
              </a:rPr>
              <a:t>self</a:t>
            </a:r>
            <a:r>
              <a:rPr sz="782" i="0">
                <a:solidFill>
                  <a:srgbClr val="E6EDF3"/>
                </a:solidFill>
                <a:latin typeface="Inconsolata"/>
              </a:rPr>
              <a:t>) -&gt; </a:t>
            </a:r>
            <a:r>
              <a:rPr sz="782" i="0">
                <a:solidFill>
                  <a:srgbClr val="A5D6A7"/>
                </a:solidFill>
                <a:latin typeface="Inconsolata"/>
              </a:rPr>
              <a:t>"UnitOfWork"</a:t>
            </a:r>
            <a:r>
              <a:rPr sz="782" i="0">
                <a:solidFill>
                  <a:srgbClr val="E6EDF3"/>
                </a:solidFill>
                <a:latin typeface="Inconsolata"/>
              </a:rPr>
              <a:t>:</a:t>
            </a:r>
          </a:p>
          <a:p>
            <a:pPr>
              <a:lnSpc>
                <a:spcPct val="106469"/>
              </a:lnSpc>
              <a:spcAft>
                <a:spcPts val="0"/>
              </a:spcAft>
            </a:pPr>
            <a:r>
              <a:rPr sz="782" i="0">
                <a:solidFill>
                  <a:srgbClr val="5C6773"/>
                </a:solidFill>
                <a:latin typeface="Inconsolata"/>
              </a:rPr>
              <a:t>53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.session = </a:t>
            </a:r>
            <a:r>
              <a:rPr sz="782" i="0">
                <a:solidFill>
                  <a:srgbClr val="C3A6FF"/>
                </a:solidFill>
                <a:latin typeface="Inconsolata"/>
              </a:rPr>
              <a:t>self</a:t>
            </a:r>
            <a:r>
              <a:rPr sz="782" i="0">
                <a:solidFill>
                  <a:srgbClr val="E6EDF3"/>
                </a:solidFill>
                <a:latin typeface="Inconsolata"/>
              </a:rPr>
              <a:t>.session_factory()</a:t>
            </a:r>
          </a:p>
          <a:p>
            <a:pPr>
              <a:lnSpc>
                <a:spcPct val="106469"/>
              </a:lnSpc>
              <a:spcAft>
                <a:spcPts val="0"/>
              </a:spcAft>
            </a:pPr>
            <a:r>
              <a:rPr sz="782" i="0">
                <a:solidFill>
                  <a:srgbClr val="5C6773"/>
                </a:solidFill>
                <a:latin typeface="Inconsolata"/>
              </a:rPr>
              <a:t>54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.products = </a:t>
            </a:r>
            <a:r>
              <a:rPr sz="782" i="0">
                <a:solidFill>
                  <a:srgbClr val="7FDBCA"/>
                </a:solidFill>
                <a:latin typeface="Inconsolata"/>
              </a:rPr>
              <a:t>ProductRepository</a:t>
            </a:r>
            <a:r>
              <a:rPr sz="782" i="0">
                <a:solidFill>
                  <a:srgbClr val="E6EDF3"/>
                </a:solidFill>
                <a:latin typeface="Inconsolata"/>
              </a:rPr>
              <a:t>(</a:t>
            </a:r>
            <a:r>
              <a:rPr sz="782" i="0">
                <a:solidFill>
                  <a:srgbClr val="C3A6FF"/>
                </a:solidFill>
                <a:latin typeface="Inconsolata"/>
              </a:rPr>
              <a:t>self</a:t>
            </a:r>
            <a:r>
              <a:rPr sz="782" i="0">
                <a:solidFill>
                  <a:srgbClr val="E6EDF3"/>
                </a:solidFill>
                <a:latin typeface="Inconsolata"/>
              </a:rPr>
              <a:t>.session)</a:t>
            </a:r>
          </a:p>
          <a:p>
            <a:pPr>
              <a:lnSpc>
                <a:spcPct val="106469"/>
              </a:lnSpc>
              <a:spcAft>
                <a:spcPts val="0"/>
              </a:spcAft>
            </a:pPr>
            <a:r>
              <a:rPr sz="782" i="0">
                <a:solidFill>
                  <a:srgbClr val="5C6773"/>
                </a:solidFill>
                <a:latin typeface="Inconsolata"/>
              </a:rPr>
              <a:t>55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.orders = </a:t>
            </a:r>
            <a:r>
              <a:rPr sz="782" i="0">
                <a:solidFill>
                  <a:srgbClr val="7FDBCA"/>
                </a:solidFill>
                <a:latin typeface="Inconsolata"/>
              </a:rPr>
              <a:t>OrderRepository</a:t>
            </a:r>
            <a:r>
              <a:rPr sz="782" i="0">
                <a:solidFill>
                  <a:srgbClr val="E6EDF3"/>
                </a:solidFill>
                <a:latin typeface="Inconsolata"/>
              </a:rPr>
              <a:t>(</a:t>
            </a:r>
            <a:r>
              <a:rPr sz="782" i="0">
                <a:solidFill>
                  <a:srgbClr val="C3A6FF"/>
                </a:solidFill>
                <a:latin typeface="Inconsolata"/>
              </a:rPr>
              <a:t>self</a:t>
            </a:r>
            <a:r>
              <a:rPr sz="782" i="0">
                <a:solidFill>
                  <a:srgbClr val="E6EDF3"/>
                </a:solidFill>
                <a:latin typeface="Inconsolata"/>
              </a:rPr>
              <a:t>.session)</a:t>
            </a:r>
          </a:p>
          <a:p>
            <a:pPr>
              <a:lnSpc>
                <a:spcPct val="106469"/>
              </a:lnSpc>
              <a:spcAft>
                <a:spcPts val="0"/>
              </a:spcAft>
            </a:pPr>
            <a:r>
              <a:rPr sz="782" i="0">
                <a:solidFill>
                  <a:srgbClr val="5C6773"/>
                </a:solidFill>
                <a:latin typeface="Inconsolata"/>
              </a:rPr>
              <a:t>56  </a:t>
            </a:r>
            <a:r>
              <a:rPr sz="782" i="0">
                <a:solidFill>
                  <a:srgbClr val="E6EDF3"/>
                </a:solidFill>
                <a:latin typeface="Inconsolata"/>
              </a:rPr>
              <a:t>        </a:t>
            </a:r>
            <a:r>
              <a:rPr sz="782" i="0">
                <a:solidFill>
                  <a:srgbClr val="FF8E6E"/>
                </a:solidFill>
                <a:latin typeface="Inconsolata"/>
              </a:rPr>
              <a:t>return</a:t>
            </a:r>
            <a:r>
              <a:rPr sz="782" i="0">
                <a:solidFill>
                  <a:srgbClr val="E6EDF3"/>
                </a:solidFill>
                <a:latin typeface="Inconsolata"/>
              </a:rPr>
              <a:t> </a:t>
            </a:r>
            <a:r>
              <a:rPr sz="782" i="0">
                <a:solidFill>
                  <a:srgbClr val="C3A6FF"/>
                </a:solidFill>
                <a:latin typeface="Inconsolata"/>
              </a:rPr>
              <a:t>self</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6469"/>
              </a:lnSpc>
              <a:spcAft>
                <a:spcPts val="0"/>
              </a:spcAft>
            </a:pPr>
            <a:r>
              <a:rPr sz="782" i="0">
                <a:solidFill>
                  <a:srgbClr val="5C6773"/>
                </a:solidFill>
                <a:latin typeface="Inconsolata"/>
              </a:rPr>
              <a:t>58  </a:t>
            </a:r>
            <a:r>
              <a:rPr sz="782" i="0">
                <a:solidFill>
                  <a:srgbClr val="E6EDF3"/>
                </a:solidFill>
                <a:latin typeface="Inconsolata"/>
              </a:rPr>
              <a:t>    </a:t>
            </a:r>
            <a:r>
              <a:rPr sz="782" i="0">
                <a:solidFill>
                  <a:srgbClr val="FF8E6E"/>
                </a:solidFill>
                <a:latin typeface="Inconsolata"/>
              </a:rPr>
              <a:t>def</a:t>
            </a:r>
            <a:r>
              <a:rPr sz="782" i="0">
                <a:solidFill>
                  <a:srgbClr val="E6EDF3"/>
                </a:solidFill>
                <a:latin typeface="Inconsolata"/>
              </a:rPr>
              <a:t> </a:t>
            </a:r>
            <a:r>
              <a:rPr sz="782" i="0">
                <a:solidFill>
                  <a:srgbClr val="82B1FF"/>
                </a:solidFill>
                <a:latin typeface="Inconsolata"/>
              </a:rPr>
              <a:t>__exit__</a:t>
            </a:r>
            <a:r>
              <a:rPr sz="782" i="0">
                <a:solidFill>
                  <a:srgbClr val="E6EDF3"/>
                </a:solidFill>
                <a:latin typeface="Inconsolata"/>
              </a:rPr>
              <a:t>(</a:t>
            </a:r>
            <a:r>
              <a:rPr sz="782" i="0">
                <a:solidFill>
                  <a:srgbClr val="C3A6FF"/>
                </a:solidFill>
                <a:latin typeface="Inconsolata"/>
              </a:rPr>
              <a:t>self</a:t>
            </a:r>
            <a:r>
              <a:rPr sz="782" i="0">
                <a:solidFill>
                  <a:srgbClr val="E6EDF3"/>
                </a:solidFill>
                <a:latin typeface="Inconsolata"/>
              </a:rPr>
              <a:t>, *exc) -&gt; </a:t>
            </a:r>
            <a:r>
              <a:rPr sz="782" i="0">
                <a:solidFill>
                  <a:srgbClr val="FF8E6E"/>
                </a:solidFill>
                <a:latin typeface="Inconsolata"/>
              </a:rPr>
              <a:t>None</a:t>
            </a:r>
            <a:r>
              <a:rPr sz="782" i="0">
                <a:solidFill>
                  <a:srgbClr val="E6EDF3"/>
                </a:solidFill>
                <a:latin typeface="Inconsolata"/>
              </a:rPr>
              <a:t>:</a:t>
            </a:r>
          </a:p>
          <a:p>
            <a:pPr>
              <a:lnSpc>
                <a:spcPct val="106469"/>
              </a:lnSpc>
              <a:spcAft>
                <a:spcPts val="0"/>
              </a:spcAft>
            </a:pPr>
            <a:r>
              <a:rPr sz="782" i="0">
                <a:solidFill>
                  <a:srgbClr val="5C6773"/>
                </a:solidFill>
                <a:latin typeface="Inconsolata"/>
              </a:rPr>
              <a:t>59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.session.rollback()  </a:t>
            </a:r>
            <a:r>
              <a:rPr sz="782" i="1">
                <a:solidFill>
                  <a:srgbClr val="8B98A8"/>
                </a:solidFill>
                <a:latin typeface="Inconsolata"/>
              </a:rPr>
              <a:t># tidak berefek setelah commit</a:t>
            </a:r>
          </a:p>
          <a:p>
            <a:pPr>
              <a:lnSpc>
                <a:spcPct val="106469"/>
              </a:lnSpc>
              <a:spcAft>
                <a:spcPts val="0"/>
              </a:spcAft>
            </a:pPr>
            <a:r>
              <a:rPr sz="782" i="0">
                <a:solidFill>
                  <a:srgbClr val="5C6773"/>
                </a:solidFill>
                <a:latin typeface="Inconsolata"/>
              </a:rPr>
              <a:t>60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.session.close()</a:t>
            </a:r>
          </a:p>
          <a:p>
            <a:pPr>
              <a:lnSpc>
                <a:spcPct val="106469"/>
              </a:lnSpc>
              <a:spcAft>
                <a:spcPts val="0"/>
              </a:spcAft>
            </a:pPr>
            <a:r>
              <a:rPr sz="782" i="0">
                <a:solidFill>
                  <a:srgbClr val="5C6773"/>
                </a:solidFill>
                <a:latin typeface="Inconsolata"/>
              </a:rPr>
              <a:t>61  </a:t>
            </a:r>
            <a:r>
              <a:rPr sz="782" i="0">
                <a:solidFill>
                  <a:srgbClr val="E6EDF3"/>
                </a:solidFill>
                <a:latin typeface="Inconsolata"/>
              </a:rPr>
              <a:t> </a:t>
            </a:r>
          </a:p>
          <a:p>
            <a:pPr>
              <a:lnSpc>
                <a:spcPct val="106469"/>
              </a:lnSpc>
              <a:spcAft>
                <a:spcPts val="0"/>
              </a:spcAft>
            </a:pPr>
            <a:r>
              <a:rPr sz="782" i="0">
                <a:solidFill>
                  <a:srgbClr val="5C6773"/>
                </a:solidFill>
                <a:latin typeface="Inconsolata"/>
              </a:rPr>
              <a:t>62  </a:t>
            </a:r>
            <a:r>
              <a:rPr sz="782" i="0">
                <a:solidFill>
                  <a:srgbClr val="E6EDF3"/>
                </a:solidFill>
                <a:latin typeface="Inconsolata"/>
              </a:rPr>
              <a:t>    </a:t>
            </a:r>
            <a:r>
              <a:rPr sz="782" i="0">
                <a:solidFill>
                  <a:srgbClr val="FF8E6E"/>
                </a:solidFill>
                <a:latin typeface="Inconsolata"/>
              </a:rPr>
              <a:t>def</a:t>
            </a:r>
            <a:r>
              <a:rPr sz="782" i="0">
                <a:solidFill>
                  <a:srgbClr val="E6EDF3"/>
                </a:solidFill>
                <a:latin typeface="Inconsolata"/>
              </a:rPr>
              <a:t> </a:t>
            </a:r>
            <a:r>
              <a:rPr sz="782" i="0">
                <a:solidFill>
                  <a:srgbClr val="82B1FF"/>
                </a:solidFill>
                <a:latin typeface="Inconsolata"/>
              </a:rPr>
              <a:t>commit</a:t>
            </a:r>
            <a:r>
              <a:rPr sz="782" i="0">
                <a:solidFill>
                  <a:srgbClr val="E6EDF3"/>
                </a:solidFill>
                <a:latin typeface="Inconsolata"/>
              </a:rPr>
              <a:t>(</a:t>
            </a:r>
            <a:r>
              <a:rPr sz="782" i="0">
                <a:solidFill>
                  <a:srgbClr val="C3A6FF"/>
                </a:solidFill>
                <a:latin typeface="Inconsolata"/>
              </a:rPr>
              <a:t>self</a:t>
            </a:r>
            <a:r>
              <a:rPr sz="782" i="0">
                <a:solidFill>
                  <a:srgbClr val="E6EDF3"/>
                </a:solidFill>
                <a:latin typeface="Inconsolata"/>
              </a:rPr>
              <a:t>) -&gt; </a:t>
            </a:r>
            <a:r>
              <a:rPr sz="782" i="0">
                <a:solidFill>
                  <a:srgbClr val="FF8E6E"/>
                </a:solidFill>
                <a:latin typeface="Inconsolata"/>
              </a:rPr>
              <a:t>None</a:t>
            </a:r>
            <a:r>
              <a:rPr sz="782" i="0">
                <a:solidFill>
                  <a:srgbClr val="E6EDF3"/>
                </a:solidFill>
                <a:latin typeface="Inconsolata"/>
              </a:rPr>
              <a:t>:</a:t>
            </a:r>
          </a:p>
          <a:p>
            <a:pPr>
              <a:lnSpc>
                <a:spcPct val="106469"/>
              </a:lnSpc>
              <a:spcAft>
                <a:spcPts val="0"/>
              </a:spcAft>
            </a:pPr>
            <a:r>
              <a:rPr sz="782" i="0">
                <a:solidFill>
                  <a:srgbClr val="5C6773"/>
                </a:solidFill>
                <a:latin typeface="Inconsolata"/>
              </a:rPr>
              <a:t>63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.session.commit()</a:t>
            </a:r>
          </a:p>
          <a:p>
            <a:pPr>
              <a:lnSpc>
                <a:spcPct val="106469"/>
              </a:lnSpc>
              <a:spcAft>
                <a:spcPts val="0"/>
              </a:spcAft>
            </a:pPr>
            <a:r>
              <a:rPr sz="782" i="0">
                <a:solidFill>
                  <a:srgbClr val="5C6773"/>
                </a:solidFill>
                <a:latin typeface="Inconsolata"/>
              </a:rPr>
              <a:t>64  </a:t>
            </a:r>
            <a:r>
              <a:rPr sz="782" i="0">
                <a:solidFill>
                  <a:srgbClr val="E6EDF3"/>
                </a:solidFill>
                <a:latin typeface="Inconsolata"/>
              </a:rPr>
              <a:t> </a:t>
            </a:r>
          </a:p>
          <a:p>
            <a:pPr>
              <a:lnSpc>
                <a:spcPct val="106469"/>
              </a:lnSpc>
              <a:spcAft>
                <a:spcPts val="0"/>
              </a:spcAft>
            </a:pPr>
            <a:r>
              <a:rPr sz="782" i="0">
                <a:solidFill>
                  <a:srgbClr val="5C6773"/>
                </a:solidFill>
                <a:latin typeface="Inconsolata"/>
              </a:rPr>
              <a:t>65  </a:t>
            </a:r>
            <a:r>
              <a:rPr sz="782" i="0">
                <a:solidFill>
                  <a:srgbClr val="E6EDF3"/>
                </a:solidFill>
                <a:latin typeface="Inconsolata"/>
              </a:rPr>
              <a:t> </a:t>
            </a:r>
          </a:p>
          <a:p>
            <a:pPr>
              <a:lnSpc>
                <a:spcPct val="106469"/>
              </a:lnSpc>
              <a:spcAft>
                <a:spcPts val="0"/>
              </a:spcAft>
            </a:pPr>
            <a:r>
              <a:rPr sz="782" i="0">
                <a:solidFill>
                  <a:srgbClr val="5C6773"/>
                </a:solidFill>
                <a:latin typeface="Inconsolata"/>
              </a:rPr>
              <a:t>66  </a:t>
            </a:r>
            <a:r>
              <a:rPr sz="782" i="0">
                <a:solidFill>
                  <a:srgbClr val="FF8E6E"/>
                </a:solidFill>
                <a:latin typeface="Inconsolata"/>
              </a:rPr>
              <a:t>class</a:t>
            </a:r>
            <a:r>
              <a:rPr sz="782" i="0">
                <a:solidFill>
                  <a:srgbClr val="E6EDF3"/>
                </a:solidFill>
                <a:latin typeface="Inconsolata"/>
              </a:rPr>
              <a:t> </a:t>
            </a:r>
            <a:r>
              <a:rPr sz="782" i="0">
                <a:solidFill>
                  <a:srgbClr val="7FDBCA"/>
                </a:solidFill>
                <a:latin typeface="Inconsolata"/>
              </a:rPr>
              <a:t>OrderService</a:t>
            </a:r>
            <a:r>
              <a:rPr sz="782" i="0">
                <a:solidFill>
                  <a:srgbClr val="E6EDF3"/>
                </a:solidFill>
                <a:latin typeface="Inconsolata"/>
              </a:rPr>
              <a:t>:</a:t>
            </a:r>
          </a:p>
          <a:p>
            <a:pPr>
              <a:lnSpc>
                <a:spcPct val="106469"/>
              </a:lnSpc>
              <a:spcAft>
                <a:spcPts val="0"/>
              </a:spcAft>
            </a:pPr>
            <a:r>
              <a:rPr sz="782" i="0">
                <a:solidFill>
                  <a:srgbClr val="5C6773"/>
                </a:solidFill>
                <a:latin typeface="Inconsolata"/>
              </a:rPr>
              <a:t>67  </a:t>
            </a:r>
            <a:r>
              <a:rPr sz="782" i="0">
                <a:solidFill>
                  <a:srgbClr val="E6EDF3"/>
                </a:solidFill>
                <a:latin typeface="Inconsolata"/>
              </a:rPr>
              <a:t>    </a:t>
            </a:r>
            <a:r>
              <a:rPr sz="782" i="0">
                <a:solidFill>
                  <a:srgbClr val="FF8E6E"/>
                </a:solidFill>
                <a:latin typeface="Inconsolata"/>
              </a:rPr>
              <a:t>def</a:t>
            </a:r>
            <a:r>
              <a:rPr sz="782" i="0">
                <a:solidFill>
                  <a:srgbClr val="E6EDF3"/>
                </a:solidFill>
                <a:latin typeface="Inconsolata"/>
              </a:rPr>
              <a:t> </a:t>
            </a:r>
            <a:r>
              <a:rPr sz="782" i="0">
                <a:solidFill>
                  <a:srgbClr val="82B1FF"/>
                </a:solidFill>
                <a:latin typeface="Inconsolata"/>
              </a:rPr>
              <a:t>__init__</a:t>
            </a:r>
            <a:r>
              <a:rPr sz="782" i="0">
                <a:solidFill>
                  <a:srgbClr val="E6EDF3"/>
                </a:solidFill>
                <a:latin typeface="Inconsolata"/>
              </a:rPr>
              <a:t>(</a:t>
            </a:r>
            <a:r>
              <a:rPr sz="782" i="0">
                <a:solidFill>
                  <a:srgbClr val="C3A6FF"/>
                </a:solidFill>
                <a:latin typeface="Inconsolata"/>
              </a:rPr>
              <a:t>self</a:t>
            </a:r>
            <a:r>
              <a:rPr sz="782" i="0">
                <a:solidFill>
                  <a:srgbClr val="E6EDF3"/>
                </a:solidFill>
                <a:latin typeface="Inconsolata"/>
              </a:rPr>
              <a:t>, uow: </a:t>
            </a:r>
            <a:r>
              <a:rPr sz="782" i="0">
                <a:solidFill>
                  <a:srgbClr val="7FDBCA"/>
                </a:solidFill>
                <a:latin typeface="Inconsolata"/>
              </a:rPr>
              <a:t>UnitOfWork</a:t>
            </a:r>
            <a:r>
              <a:rPr sz="782" i="0">
                <a:solidFill>
                  <a:srgbClr val="E6EDF3"/>
                </a:solidFill>
                <a:latin typeface="Inconsolata"/>
              </a:rPr>
              <a:t>):</a:t>
            </a:r>
          </a:p>
          <a:p>
            <a:pPr>
              <a:lnSpc>
                <a:spcPct val="106469"/>
              </a:lnSpc>
              <a:spcAft>
                <a:spcPts val="0"/>
              </a:spcAft>
            </a:pPr>
            <a:r>
              <a:rPr sz="782" i="0">
                <a:solidFill>
                  <a:srgbClr val="5C6773"/>
                </a:solidFill>
                <a:latin typeface="Inconsolata"/>
              </a:rPr>
              <a:t>68  </a:t>
            </a:r>
            <a:r>
              <a:rPr sz="782" i="0">
                <a:solidFill>
                  <a:srgbClr val="E6EDF3"/>
                </a:solidFill>
                <a:latin typeface="Inconsolata"/>
              </a:rPr>
              <a:t>        </a:t>
            </a:r>
            <a:r>
              <a:rPr sz="782" i="0">
                <a:solidFill>
                  <a:srgbClr val="C3A6FF"/>
                </a:solidFill>
                <a:latin typeface="Inconsolata"/>
              </a:rPr>
              <a:t>self</a:t>
            </a:r>
            <a:r>
              <a:rPr sz="782" i="0">
                <a:solidFill>
                  <a:srgbClr val="E6EDF3"/>
                </a:solidFill>
                <a:latin typeface="Inconsolata"/>
              </a:rPr>
              <a:t>.uow = uow</a:t>
            </a:r>
          </a:p>
        </p:txBody>
      </p:sp>
      <p:sp>
        <p:nvSpPr>
          <p:cNvPr id="36" name="Box 21"/>
          <p:cNvSpPr/>
          <p:nvPr/>
        </p:nvSpPr>
        <p:spPr>
          <a:xfrm>
            <a:off x="704088" y="3351022"/>
            <a:ext cx="3694176" cy="627380"/>
          </a:xfrm>
          <a:prstGeom prst="roundRect">
            <a:avLst>
              <a:gd name="adj" fmla="val 728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545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1827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1894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Service yang memutuskan commit (3/3)</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8035"/>
              </a:lnSpc>
              <a:spcAft>
                <a:spcPts val="0"/>
              </a:spcAft>
            </a:pPr>
            <a:r>
              <a:rPr sz="771" i="0">
                <a:solidFill>
                  <a:srgbClr val="5C6773"/>
                </a:solidFill>
                <a:latin typeface="Inconsolata"/>
              </a:rPr>
              <a:t>70  </a:t>
            </a:r>
            <a:r>
              <a:rPr sz="771" i="0">
                <a:solidFill>
                  <a:srgbClr val="E6EDF3"/>
                </a:solidFill>
                <a:latin typeface="Inconsolata"/>
              </a:rPr>
              <a:t>    </a:t>
            </a:r>
            <a:r>
              <a:rPr sz="771" i="0">
                <a:solidFill>
                  <a:srgbClr val="FF8E6E"/>
                </a:solidFill>
                <a:latin typeface="Inconsolata"/>
              </a:rPr>
              <a:t>def</a:t>
            </a:r>
            <a:r>
              <a:rPr sz="771" i="0">
                <a:solidFill>
                  <a:srgbClr val="E6EDF3"/>
                </a:solidFill>
                <a:latin typeface="Inconsolata"/>
              </a:rPr>
              <a:t> </a:t>
            </a:r>
            <a:r>
              <a:rPr sz="771" i="0">
                <a:solidFill>
                  <a:srgbClr val="82B1FF"/>
                </a:solidFill>
                <a:latin typeface="Inconsolata"/>
              </a:rPr>
              <a:t>place_order</a:t>
            </a:r>
            <a:r>
              <a:rPr sz="771" i="0">
                <a:solidFill>
                  <a:srgbClr val="E6EDF3"/>
                </a:solidFill>
                <a:latin typeface="Inconsolata"/>
              </a:rPr>
              <a:t>(</a:t>
            </a:r>
          </a:p>
          <a:p>
            <a:pPr>
              <a:lnSpc>
                <a:spcPct val="108035"/>
              </a:lnSpc>
              <a:spcAft>
                <a:spcPts val="0"/>
              </a:spcAft>
            </a:pPr>
            <a:r>
              <a:rPr sz="771" i="0">
                <a:solidFill>
                  <a:srgbClr val="5C6773"/>
                </a:solidFill>
                <a:latin typeface="Inconsolata"/>
              </a:rPr>
              <a:t>71  </a:t>
            </a:r>
            <a:r>
              <a:rPr sz="771" i="0">
                <a:solidFill>
                  <a:srgbClr val="E6EDF3"/>
                </a:solidFill>
                <a:latin typeface="Inconsolata"/>
              </a:rPr>
              <a:t>        </a:t>
            </a:r>
            <a:r>
              <a:rPr sz="771" i="0">
                <a:solidFill>
                  <a:srgbClr val="C3A6FF"/>
                </a:solidFill>
                <a:latin typeface="Inconsolata"/>
              </a:rPr>
              <a:t>self</a:t>
            </a:r>
            <a:r>
              <a:rPr sz="771" i="0">
                <a:solidFill>
                  <a:srgbClr val="E6EDF3"/>
                </a:solidFill>
                <a:latin typeface="Inconsolata"/>
              </a:rPr>
              <a:t>, customer: </a:t>
            </a:r>
            <a:r>
              <a:rPr sz="771" i="0">
                <a:solidFill>
                  <a:srgbClr val="C3A6FF"/>
                </a:solidFill>
                <a:latin typeface="Inconsolata"/>
              </a:rPr>
              <a:t>str</a:t>
            </a:r>
            <a:r>
              <a:rPr sz="771" i="0">
                <a:solidFill>
                  <a:srgbClr val="E6EDF3"/>
                </a:solidFill>
                <a:latin typeface="Inconsolata"/>
              </a:rPr>
              <a:t>, items: </a:t>
            </a:r>
            <a:r>
              <a:rPr sz="771" i="0">
                <a:solidFill>
                  <a:srgbClr val="C3A6FF"/>
                </a:solidFill>
                <a:latin typeface="Inconsolata"/>
              </a:rPr>
              <a:t>list</a:t>
            </a:r>
            <a:r>
              <a:rPr sz="771" i="0">
                <a:solidFill>
                  <a:srgbClr val="E6EDF3"/>
                </a:solidFill>
                <a:latin typeface="Inconsolata"/>
              </a:rPr>
              <a:t>[</a:t>
            </a:r>
            <a:r>
              <a:rPr sz="771" i="0">
                <a:solidFill>
                  <a:srgbClr val="C3A6FF"/>
                </a:solidFill>
                <a:latin typeface="Inconsolata"/>
              </a:rPr>
              <a:t>tuple</a:t>
            </a:r>
            <a:r>
              <a:rPr sz="771" i="0">
                <a:solidFill>
                  <a:srgbClr val="E6EDF3"/>
                </a:solidFill>
                <a:latin typeface="Inconsolata"/>
              </a:rPr>
              <a:t>[</a:t>
            </a:r>
            <a:r>
              <a:rPr sz="771" i="0">
                <a:solidFill>
                  <a:srgbClr val="C3A6FF"/>
                </a:solidFill>
                <a:latin typeface="Inconsolata"/>
              </a:rPr>
              <a:t>int</a:t>
            </a:r>
            <a:r>
              <a:rPr sz="771" i="0">
                <a:solidFill>
                  <a:srgbClr val="E6EDF3"/>
                </a:solidFill>
                <a:latin typeface="Inconsolata"/>
              </a:rPr>
              <a:t>, </a:t>
            </a:r>
            <a:r>
              <a:rPr sz="771" i="0">
                <a:solidFill>
                  <a:srgbClr val="C3A6FF"/>
                </a:solidFill>
                <a:latin typeface="Inconsolata"/>
              </a:rPr>
              <a:t>int</a:t>
            </a:r>
            <a:r>
              <a:rPr sz="771" i="0">
                <a:solidFill>
                  <a:srgbClr val="E6EDF3"/>
                </a:solidFill>
                <a:latin typeface="Inconsolata"/>
              </a:rPr>
              <a:t>]]</a:t>
            </a:r>
          </a:p>
          <a:p>
            <a:pPr>
              <a:lnSpc>
                <a:spcPct val="108035"/>
              </a:lnSpc>
              <a:spcAft>
                <a:spcPts val="0"/>
              </a:spcAft>
            </a:pPr>
            <a:r>
              <a:rPr sz="771" i="0">
                <a:solidFill>
                  <a:srgbClr val="5C6773"/>
                </a:solidFill>
                <a:latin typeface="Inconsolata"/>
              </a:rPr>
              <a:t>72  </a:t>
            </a:r>
            <a:r>
              <a:rPr sz="771" i="0">
                <a:solidFill>
                  <a:srgbClr val="E6EDF3"/>
                </a:solidFill>
                <a:latin typeface="Inconsolata"/>
              </a:rPr>
              <a:t>    ) -&gt; </a:t>
            </a:r>
            <a:r>
              <a:rPr sz="771" i="0">
                <a:solidFill>
                  <a:srgbClr val="FF8E6E"/>
                </a:solidFill>
                <a:latin typeface="Inconsolata"/>
              </a:rPr>
              <a:t>None</a:t>
            </a:r>
            <a:r>
              <a:rPr sz="771" i="0">
                <a:solidFill>
                  <a:srgbClr val="E6EDF3"/>
                </a:solidFill>
                <a:latin typeface="Inconsolata"/>
              </a:rPr>
              <a:t>:</a:t>
            </a:r>
          </a:p>
          <a:p>
            <a:pPr>
              <a:lnSpc>
                <a:spcPct val="108035"/>
              </a:lnSpc>
              <a:spcAft>
                <a:spcPts val="0"/>
              </a:spcAft>
            </a:pPr>
            <a:r>
              <a:rPr sz="771" i="0">
                <a:solidFill>
                  <a:srgbClr val="5C6773"/>
                </a:solidFill>
                <a:latin typeface="Inconsolata"/>
              </a:rPr>
              <a:t>73  </a:t>
            </a:r>
            <a:r>
              <a:rPr sz="771" i="0">
                <a:solidFill>
                  <a:srgbClr val="E6EDF3"/>
                </a:solidFill>
                <a:latin typeface="Inconsolata"/>
              </a:rPr>
              <a:t>        </a:t>
            </a:r>
            <a:r>
              <a:rPr sz="771" i="0">
                <a:solidFill>
                  <a:srgbClr val="FF8E6E"/>
                </a:solidFill>
                <a:latin typeface="Inconsolata"/>
              </a:rPr>
              <a:t>with</a:t>
            </a:r>
            <a:r>
              <a:rPr sz="771" i="0">
                <a:solidFill>
                  <a:srgbClr val="E6EDF3"/>
                </a:solidFill>
                <a:latin typeface="Inconsolata"/>
              </a:rPr>
              <a:t> </a:t>
            </a:r>
            <a:r>
              <a:rPr sz="771" i="0">
                <a:solidFill>
                  <a:srgbClr val="C3A6FF"/>
                </a:solidFill>
                <a:latin typeface="Inconsolata"/>
              </a:rPr>
              <a:t>self</a:t>
            </a:r>
            <a:r>
              <a:rPr sz="771" i="0">
                <a:solidFill>
                  <a:srgbClr val="E6EDF3"/>
                </a:solidFill>
                <a:latin typeface="Inconsolata"/>
              </a:rPr>
              <a:t>.uow:</a:t>
            </a:r>
          </a:p>
          <a:p>
            <a:pPr>
              <a:lnSpc>
                <a:spcPct val="108035"/>
              </a:lnSpc>
              <a:spcAft>
                <a:spcPts val="0"/>
              </a:spcAft>
            </a:pPr>
            <a:r>
              <a:rPr sz="771" i="0">
                <a:solidFill>
                  <a:srgbClr val="5C6773"/>
                </a:solidFill>
                <a:latin typeface="Inconsolata"/>
              </a:rPr>
              <a:t>74  </a:t>
            </a:r>
            <a:r>
              <a:rPr sz="771" i="0">
                <a:solidFill>
                  <a:srgbClr val="E6EDF3"/>
                </a:solidFill>
                <a:latin typeface="Inconsolata"/>
              </a:rPr>
              <a:t>            </a:t>
            </a:r>
            <a:r>
              <a:rPr sz="771" i="0">
                <a:solidFill>
                  <a:srgbClr val="FF8E6E"/>
                </a:solidFill>
                <a:latin typeface="Inconsolata"/>
              </a:rPr>
              <a:t>for</a:t>
            </a:r>
            <a:r>
              <a:rPr sz="771" i="0">
                <a:solidFill>
                  <a:srgbClr val="E6EDF3"/>
                </a:solidFill>
                <a:latin typeface="Inconsolata"/>
              </a:rPr>
              <a:t> product_id, qty </a:t>
            </a:r>
            <a:r>
              <a:rPr sz="771" i="0">
                <a:solidFill>
                  <a:srgbClr val="FF8E6E"/>
                </a:solidFill>
                <a:latin typeface="Inconsolata"/>
              </a:rPr>
              <a:t>in</a:t>
            </a:r>
            <a:r>
              <a:rPr sz="771" i="0">
                <a:solidFill>
                  <a:srgbClr val="E6EDF3"/>
                </a:solidFill>
                <a:latin typeface="Inconsolata"/>
              </a:rPr>
              <a:t> items:</a:t>
            </a:r>
          </a:p>
          <a:p>
            <a:pPr>
              <a:lnSpc>
                <a:spcPct val="108035"/>
              </a:lnSpc>
              <a:spcAft>
                <a:spcPts val="0"/>
              </a:spcAft>
            </a:pPr>
            <a:r>
              <a:rPr sz="771" i="0">
                <a:solidFill>
                  <a:srgbClr val="5C6773"/>
                </a:solidFill>
                <a:latin typeface="Inconsolata"/>
              </a:rPr>
              <a:t>75  </a:t>
            </a:r>
            <a:r>
              <a:rPr sz="771" i="0">
                <a:solidFill>
                  <a:srgbClr val="E6EDF3"/>
                </a:solidFill>
                <a:latin typeface="Inconsolata"/>
              </a:rPr>
              <a:t>                product = </a:t>
            </a:r>
            <a:r>
              <a:rPr sz="771" i="0">
                <a:solidFill>
                  <a:srgbClr val="C3A6FF"/>
                </a:solidFill>
                <a:latin typeface="Inconsolata"/>
              </a:rPr>
              <a:t>self</a:t>
            </a:r>
            <a:r>
              <a:rPr sz="771" i="0">
                <a:solidFill>
                  <a:srgbClr val="E6EDF3"/>
                </a:solidFill>
                <a:latin typeface="Inconsolata"/>
              </a:rPr>
              <a:t>.uow.products.get(product_id)</a:t>
            </a:r>
          </a:p>
          <a:p>
            <a:pPr>
              <a:lnSpc>
                <a:spcPct val="108035"/>
              </a:lnSpc>
              <a:spcAft>
                <a:spcPts val="0"/>
              </a:spcAft>
            </a:pPr>
            <a:r>
              <a:rPr sz="771" i="0">
                <a:solidFill>
                  <a:srgbClr val="5C6773"/>
                </a:solidFill>
                <a:latin typeface="Inconsolata"/>
              </a:rPr>
              <a:t>76  </a:t>
            </a:r>
            <a:r>
              <a:rPr sz="771" i="0">
                <a:solidFill>
                  <a:srgbClr val="E6EDF3"/>
                </a:solidFill>
                <a:latin typeface="Inconsolata"/>
              </a:rPr>
              <a:t>                </a:t>
            </a:r>
            <a:r>
              <a:rPr sz="771" i="0">
                <a:solidFill>
                  <a:srgbClr val="FF8E6E"/>
                </a:solidFill>
                <a:latin typeface="Inconsolata"/>
              </a:rPr>
              <a:t>if</a:t>
            </a:r>
            <a:r>
              <a:rPr sz="771" i="0">
                <a:solidFill>
                  <a:srgbClr val="E6EDF3"/>
                </a:solidFill>
                <a:latin typeface="Inconsolata"/>
              </a:rPr>
              <a:t> qty &gt; product.stock:</a:t>
            </a:r>
          </a:p>
          <a:p>
            <a:pPr>
              <a:lnSpc>
                <a:spcPct val="108035"/>
              </a:lnSpc>
              <a:spcAft>
                <a:spcPts val="0"/>
              </a:spcAft>
            </a:pPr>
            <a:r>
              <a:rPr sz="771" i="0">
                <a:solidFill>
                  <a:srgbClr val="5C6773"/>
                </a:solidFill>
                <a:latin typeface="Inconsolata"/>
              </a:rPr>
              <a:t>77  </a:t>
            </a:r>
            <a:r>
              <a:rPr sz="771" i="0">
                <a:solidFill>
                  <a:srgbClr val="E6EDF3"/>
                </a:solidFill>
                <a:latin typeface="Inconsolata"/>
              </a:rPr>
              <a:t>                    </a:t>
            </a:r>
            <a:r>
              <a:rPr sz="771" i="0">
                <a:solidFill>
                  <a:srgbClr val="FF8E6E"/>
                </a:solidFill>
                <a:latin typeface="Inconsolata"/>
              </a:rPr>
              <a:t>raise</a:t>
            </a:r>
            <a:r>
              <a:rPr sz="771" i="0">
                <a:solidFill>
                  <a:srgbClr val="E6EDF3"/>
                </a:solidFill>
                <a:latin typeface="Inconsolata"/>
              </a:rPr>
              <a:t> </a:t>
            </a:r>
            <a:r>
              <a:rPr sz="771" i="0">
                <a:solidFill>
                  <a:srgbClr val="7FDBCA"/>
                </a:solidFill>
                <a:latin typeface="Inconsolata"/>
              </a:rPr>
              <a:t>ValueError</a:t>
            </a:r>
            <a:r>
              <a:rPr sz="771" i="0">
                <a:solidFill>
                  <a:srgbClr val="E6EDF3"/>
                </a:solidFill>
                <a:latin typeface="Inconsolata"/>
              </a:rPr>
              <a:t>(</a:t>
            </a:r>
          </a:p>
          <a:p>
            <a:pPr>
              <a:lnSpc>
                <a:spcPct val="108035"/>
              </a:lnSpc>
              <a:spcAft>
                <a:spcPts val="0"/>
              </a:spcAft>
            </a:pPr>
            <a:r>
              <a:rPr sz="771" i="0">
                <a:solidFill>
                  <a:srgbClr val="5C6773"/>
                </a:solidFill>
                <a:latin typeface="Inconsolata"/>
              </a:rPr>
              <a:t>78  </a:t>
            </a:r>
            <a:r>
              <a:rPr sz="771" i="0">
                <a:solidFill>
                  <a:srgbClr val="E6EDF3"/>
                </a:solidFill>
                <a:latin typeface="Inconsolata"/>
              </a:rPr>
              <a:t>                        </a:t>
            </a:r>
            <a:r>
              <a:rPr sz="771" i="0">
                <a:solidFill>
                  <a:srgbClr val="A5D6A7"/>
                </a:solidFill>
                <a:latin typeface="Inconsolata"/>
              </a:rPr>
              <a:t>f"Stok {product.name} tidak cukup"</a:t>
            </a:r>
          </a:p>
          <a:p>
            <a:pPr>
              <a:lnSpc>
                <a:spcPct val="108035"/>
              </a:lnSpc>
              <a:spcAft>
                <a:spcPts val="0"/>
              </a:spcAft>
            </a:pPr>
            <a:r>
              <a:rPr sz="771" i="0">
                <a:solidFill>
                  <a:srgbClr val="5C6773"/>
                </a:solidFill>
                <a:latin typeface="Inconsolata"/>
              </a:rPr>
              <a:t>79  </a:t>
            </a:r>
            <a:r>
              <a:rPr sz="771" i="0">
                <a:solidFill>
                  <a:srgbClr val="E6EDF3"/>
                </a:solidFill>
                <a:latin typeface="Inconsolata"/>
              </a:rPr>
              <a:t>                    )</a:t>
            </a:r>
          </a:p>
          <a:p>
            <a:pPr>
              <a:lnSpc>
                <a:spcPct val="108035"/>
              </a:lnSpc>
              <a:spcAft>
                <a:spcPts val="0"/>
              </a:spcAft>
            </a:pPr>
            <a:r>
              <a:rPr sz="771" i="0">
                <a:solidFill>
                  <a:srgbClr val="5C6773"/>
                </a:solidFill>
                <a:latin typeface="Inconsolata"/>
              </a:rPr>
              <a:t>80  </a:t>
            </a:r>
            <a:r>
              <a:rPr sz="771" i="0">
                <a:solidFill>
                  <a:srgbClr val="E6EDF3"/>
                </a:solidFill>
                <a:latin typeface="Inconsolata"/>
              </a:rPr>
              <a:t>                product.stock -= qty</a:t>
            </a:r>
          </a:p>
          <a:p>
            <a:pPr>
              <a:lnSpc>
                <a:spcPct val="108035"/>
              </a:lnSpc>
              <a:spcAft>
                <a:spcPts val="0"/>
              </a:spcAft>
            </a:pPr>
            <a:r>
              <a:rPr sz="771" i="0">
                <a:solidFill>
                  <a:srgbClr val="5C6773"/>
                </a:solidFill>
                <a:latin typeface="Inconsolata"/>
              </a:rPr>
              <a:t>81  </a:t>
            </a:r>
            <a:r>
              <a:rPr sz="771" i="0">
                <a:solidFill>
                  <a:srgbClr val="E6EDF3"/>
                </a:solidFill>
                <a:latin typeface="Inconsolata"/>
              </a:rPr>
              <a:t>            </a:t>
            </a:r>
            <a:r>
              <a:rPr sz="771" i="0">
                <a:solidFill>
                  <a:srgbClr val="C3A6FF"/>
                </a:solidFill>
                <a:latin typeface="Inconsolata"/>
              </a:rPr>
              <a:t>self</a:t>
            </a:r>
            <a:r>
              <a:rPr sz="771" i="0">
                <a:solidFill>
                  <a:srgbClr val="E6EDF3"/>
                </a:solidFill>
                <a:latin typeface="Inconsolata"/>
              </a:rPr>
              <a:t>.uow.orders.add(customer)</a:t>
            </a:r>
          </a:p>
          <a:p>
            <a:pPr>
              <a:lnSpc>
                <a:spcPct val="108035"/>
              </a:lnSpc>
              <a:spcAft>
                <a:spcPts val="0"/>
              </a:spcAft>
            </a:pPr>
            <a:r>
              <a:rPr sz="771" i="0">
                <a:solidFill>
                  <a:srgbClr val="5C6773"/>
                </a:solidFill>
                <a:latin typeface="Inconsolata"/>
              </a:rPr>
              <a:t>82  </a:t>
            </a:r>
            <a:r>
              <a:rPr sz="771" i="0">
                <a:solidFill>
                  <a:srgbClr val="E6EDF3"/>
                </a:solidFill>
                <a:latin typeface="Inconsolata"/>
              </a:rPr>
              <a:t>            </a:t>
            </a:r>
            <a:r>
              <a:rPr sz="771" i="0">
                <a:solidFill>
                  <a:srgbClr val="C3A6FF"/>
                </a:solidFill>
                <a:latin typeface="Inconsolata"/>
              </a:rPr>
              <a:t>self</a:t>
            </a:r>
            <a:r>
              <a:rPr sz="771" i="0">
                <a:solidFill>
                  <a:srgbClr val="E6EDF3"/>
                </a:solidFill>
                <a:latin typeface="Inconsolata"/>
              </a:rPr>
              <a:t>.uow.commit()  </a:t>
            </a:r>
            <a:r>
              <a:rPr sz="771" i="1">
                <a:solidFill>
                  <a:srgbClr val="8B98A8"/>
                </a:solidFill>
                <a:latin typeface="Inconsolata"/>
              </a:rPr>
              <a:t># satu commit untuk semua langkah</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8035"/>
              </a:lnSpc>
              <a:spcAft>
                <a:spcPts val="0"/>
              </a:spcAft>
            </a:pPr>
            <a:r>
              <a:rPr sz="771" i="0">
                <a:solidFill>
                  <a:srgbClr val="5C6773"/>
                </a:solidFill>
                <a:latin typeface="Inconsolata"/>
              </a:rPr>
              <a:t> 85  </a:t>
            </a:r>
            <a:r>
              <a:rPr sz="771" i="0">
                <a:solidFill>
                  <a:srgbClr val="FF8E6E"/>
                </a:solidFill>
                <a:latin typeface="Inconsolata"/>
              </a:rPr>
              <a:t>if</a:t>
            </a:r>
            <a:r>
              <a:rPr sz="771" i="0">
                <a:solidFill>
                  <a:srgbClr val="E6EDF3"/>
                </a:solidFill>
                <a:latin typeface="Inconsolata"/>
              </a:rPr>
              <a:t> __name__ == </a:t>
            </a:r>
            <a:r>
              <a:rPr sz="771" i="0">
                <a:solidFill>
                  <a:srgbClr val="A5D6A7"/>
                </a:solidFill>
                <a:latin typeface="Inconsolata"/>
              </a:rPr>
              <a:t>"__main__"</a:t>
            </a:r>
            <a:r>
              <a:rPr sz="771" i="0">
                <a:solidFill>
                  <a:srgbClr val="E6EDF3"/>
                </a:solidFill>
                <a:latin typeface="Inconsolata"/>
              </a:rPr>
              <a:t>:</a:t>
            </a:r>
          </a:p>
          <a:p>
            <a:pPr>
              <a:lnSpc>
                <a:spcPct val="108035"/>
              </a:lnSpc>
              <a:spcAft>
                <a:spcPts val="0"/>
              </a:spcAft>
            </a:pPr>
            <a:r>
              <a:rPr sz="771" i="0">
                <a:solidFill>
                  <a:srgbClr val="5C6773"/>
                </a:solidFill>
                <a:latin typeface="Inconsolata"/>
              </a:rPr>
              <a:t> 86  </a:t>
            </a:r>
            <a:r>
              <a:rPr sz="771" i="0">
                <a:solidFill>
                  <a:srgbClr val="E6EDF3"/>
                </a:solidFill>
                <a:latin typeface="Inconsolata"/>
              </a:rPr>
              <a:t>    engine = create_engine(</a:t>
            </a:r>
            <a:r>
              <a:rPr sz="771" i="0">
                <a:solidFill>
                  <a:srgbClr val="A5D6A7"/>
                </a:solidFill>
                <a:latin typeface="Inconsolata"/>
              </a:rPr>
              <a:t>"sqlite://"</a:t>
            </a:r>
            <a:r>
              <a:rPr sz="771" i="0">
                <a:solidFill>
                  <a:srgbClr val="E6EDF3"/>
                </a:solidFill>
                <a:latin typeface="Inconsolata"/>
              </a:rPr>
              <a:t>)</a:t>
            </a:r>
          </a:p>
          <a:p>
            <a:pPr>
              <a:lnSpc>
                <a:spcPct val="108035"/>
              </a:lnSpc>
              <a:spcAft>
                <a:spcPts val="0"/>
              </a:spcAft>
            </a:pPr>
            <a:r>
              <a:rPr sz="771" i="0">
                <a:solidFill>
                  <a:srgbClr val="5C6773"/>
                </a:solidFill>
                <a:latin typeface="Inconsolata"/>
              </a:rPr>
              <a:t> 87  </a:t>
            </a:r>
            <a:r>
              <a:rPr sz="771" i="0">
                <a:solidFill>
                  <a:srgbClr val="E6EDF3"/>
                </a:solidFill>
                <a:latin typeface="Inconsolata"/>
              </a:rPr>
              <a:t>    </a:t>
            </a:r>
            <a:r>
              <a:rPr sz="771" i="0">
                <a:solidFill>
                  <a:srgbClr val="7FDBCA"/>
                </a:solidFill>
                <a:latin typeface="Inconsolata"/>
              </a:rPr>
              <a:t>Base</a:t>
            </a:r>
            <a:r>
              <a:rPr sz="771" i="0">
                <a:solidFill>
                  <a:srgbClr val="E6EDF3"/>
                </a:solidFill>
                <a:latin typeface="Inconsolata"/>
              </a:rPr>
              <a:t>.metadata.create_all(engine)</a:t>
            </a:r>
          </a:p>
          <a:p>
            <a:pPr>
              <a:lnSpc>
                <a:spcPct val="108035"/>
              </a:lnSpc>
              <a:spcAft>
                <a:spcPts val="0"/>
              </a:spcAft>
            </a:pPr>
            <a:r>
              <a:rPr sz="771" i="0">
                <a:solidFill>
                  <a:srgbClr val="5C6773"/>
                </a:solidFill>
                <a:latin typeface="Inconsolata"/>
              </a:rPr>
              <a:t> 88  </a:t>
            </a:r>
            <a:r>
              <a:rPr sz="771" i="0">
                <a:solidFill>
                  <a:srgbClr val="E6EDF3"/>
                </a:solidFill>
                <a:latin typeface="Inconsolata"/>
              </a:rPr>
              <a:t>    </a:t>
            </a:r>
            <a:r>
              <a:rPr sz="771" i="0">
                <a:solidFill>
                  <a:srgbClr val="7FDBCA"/>
                </a:solidFill>
                <a:latin typeface="Inconsolata"/>
              </a:rPr>
              <a:t>SessionLocal</a:t>
            </a:r>
            <a:r>
              <a:rPr sz="771" i="0">
                <a:solidFill>
                  <a:srgbClr val="E6EDF3"/>
                </a:solidFill>
                <a:latin typeface="Inconsolata"/>
              </a:rPr>
              <a:t> = sessionmaker(engine)</a:t>
            </a:r>
          </a:p>
          <a:p>
            <a:pPr>
              <a:lnSpc>
                <a:spcPct val="108035"/>
              </a:lnSpc>
              <a:spcAft>
                <a:spcPts val="0"/>
              </a:spcAft>
            </a:pPr>
            <a:r>
              <a:rPr sz="771" i="0">
                <a:solidFill>
                  <a:srgbClr val="5C6773"/>
                </a:solidFill>
                <a:latin typeface="Inconsolata"/>
              </a:rPr>
              <a:t> 89  </a:t>
            </a:r>
            <a:r>
              <a:rPr sz="771" i="0">
                <a:solidFill>
                  <a:srgbClr val="E6EDF3"/>
                </a:solidFill>
                <a:latin typeface="Inconsolata"/>
              </a:rPr>
              <a:t>    </a:t>
            </a:r>
            <a:r>
              <a:rPr sz="771" i="0">
                <a:solidFill>
                  <a:srgbClr val="FF8E6E"/>
                </a:solidFill>
                <a:latin typeface="Inconsolata"/>
              </a:rPr>
              <a:t>with</a:t>
            </a:r>
            <a:r>
              <a:rPr sz="771" i="0">
                <a:solidFill>
                  <a:srgbClr val="E6EDF3"/>
                </a:solidFill>
                <a:latin typeface="Inconsolata"/>
              </a:rPr>
              <a:t> </a:t>
            </a:r>
            <a:r>
              <a:rPr sz="771" i="0">
                <a:solidFill>
                  <a:srgbClr val="7FDBCA"/>
                </a:solidFill>
                <a:latin typeface="Inconsolata"/>
              </a:rPr>
              <a:t>SessionLocal</a:t>
            </a:r>
            <a:r>
              <a:rPr sz="771" i="0">
                <a:solidFill>
                  <a:srgbClr val="E6EDF3"/>
                </a:solidFill>
                <a:latin typeface="Inconsolata"/>
              </a:rPr>
              <a:t>() </a:t>
            </a:r>
            <a:r>
              <a:rPr sz="771" i="0">
                <a:solidFill>
                  <a:srgbClr val="FF8E6E"/>
                </a:solidFill>
                <a:latin typeface="Inconsolata"/>
              </a:rPr>
              <a:t>as</a:t>
            </a:r>
            <a:r>
              <a:rPr sz="771" i="0">
                <a:solidFill>
                  <a:srgbClr val="E6EDF3"/>
                </a:solidFill>
                <a:latin typeface="Inconsolata"/>
              </a:rPr>
              <a:t> session:</a:t>
            </a:r>
          </a:p>
          <a:p>
            <a:pPr>
              <a:lnSpc>
                <a:spcPct val="108035"/>
              </a:lnSpc>
              <a:spcAft>
                <a:spcPts val="0"/>
              </a:spcAft>
            </a:pPr>
            <a:r>
              <a:rPr sz="771" i="0">
                <a:solidFill>
                  <a:srgbClr val="5C6773"/>
                </a:solidFill>
                <a:latin typeface="Inconsolata"/>
              </a:rPr>
              <a:t> 90  </a:t>
            </a:r>
            <a:r>
              <a:rPr sz="771" i="0">
                <a:solidFill>
                  <a:srgbClr val="E6EDF3"/>
                </a:solidFill>
                <a:latin typeface="Inconsolata"/>
              </a:rPr>
              <a:t>        session.add_all([</a:t>
            </a:r>
          </a:p>
          <a:p>
            <a:pPr>
              <a:lnSpc>
                <a:spcPct val="108035"/>
              </a:lnSpc>
              <a:spcAft>
                <a:spcPts val="0"/>
              </a:spcAft>
            </a:pPr>
            <a:r>
              <a:rPr sz="771" i="0">
                <a:solidFill>
                  <a:srgbClr val="5C6773"/>
                </a:solidFill>
                <a:latin typeface="Inconsolata"/>
              </a:rPr>
              <a:t> 91  </a:t>
            </a:r>
            <a:r>
              <a:rPr sz="771" i="0">
                <a:solidFill>
                  <a:srgbClr val="E6EDF3"/>
                </a:solidFill>
                <a:latin typeface="Inconsolata"/>
              </a:rPr>
              <a:t>            </a:t>
            </a:r>
            <a:r>
              <a:rPr sz="771" i="0">
                <a:solidFill>
                  <a:srgbClr val="7FDBCA"/>
                </a:solidFill>
                <a:latin typeface="Inconsolata"/>
              </a:rPr>
              <a:t>ProductRecord</a:t>
            </a:r>
            <a:r>
              <a:rPr sz="771" i="0">
                <a:solidFill>
                  <a:srgbClr val="E6EDF3"/>
                </a:solidFill>
                <a:latin typeface="Inconsolata"/>
              </a:rPr>
              <a:t>(name=</a:t>
            </a:r>
            <a:r>
              <a:rPr sz="771" i="0">
                <a:solidFill>
                  <a:srgbClr val="A5D6A7"/>
                </a:solidFill>
                <a:latin typeface="Inconsolata"/>
              </a:rPr>
              <a:t>"Keyboard"</a:t>
            </a:r>
            <a:r>
              <a:rPr sz="771" i="0">
                <a:solidFill>
                  <a:srgbClr val="E6EDF3"/>
                </a:solidFill>
                <a:latin typeface="Inconsolata"/>
              </a:rPr>
              <a:t>, stock=</a:t>
            </a:r>
            <a:r>
              <a:rPr sz="771" i="0">
                <a:solidFill>
                  <a:srgbClr val="F9C97A"/>
                </a:solidFill>
                <a:latin typeface="Inconsolata"/>
              </a:rPr>
              <a:t>5</a:t>
            </a:r>
            <a:r>
              <a:rPr sz="771" i="0">
                <a:solidFill>
                  <a:srgbClr val="E6EDF3"/>
                </a:solidFill>
                <a:latin typeface="Inconsolata"/>
              </a:rPr>
              <a:t>),</a:t>
            </a:r>
          </a:p>
          <a:p>
            <a:pPr>
              <a:lnSpc>
                <a:spcPct val="108035"/>
              </a:lnSpc>
              <a:spcAft>
                <a:spcPts val="0"/>
              </a:spcAft>
            </a:pPr>
            <a:r>
              <a:rPr sz="771" i="0">
                <a:solidFill>
                  <a:srgbClr val="5C6773"/>
                </a:solidFill>
                <a:latin typeface="Inconsolata"/>
              </a:rPr>
              <a:t> 92  </a:t>
            </a:r>
            <a:r>
              <a:rPr sz="771" i="0">
                <a:solidFill>
                  <a:srgbClr val="E6EDF3"/>
                </a:solidFill>
                <a:latin typeface="Inconsolata"/>
              </a:rPr>
              <a:t>            </a:t>
            </a:r>
            <a:r>
              <a:rPr sz="771" i="0">
                <a:solidFill>
                  <a:srgbClr val="7FDBCA"/>
                </a:solidFill>
                <a:latin typeface="Inconsolata"/>
              </a:rPr>
              <a:t>ProductRecord</a:t>
            </a:r>
            <a:r>
              <a:rPr sz="771" i="0">
                <a:solidFill>
                  <a:srgbClr val="E6EDF3"/>
                </a:solidFill>
                <a:latin typeface="Inconsolata"/>
              </a:rPr>
              <a:t>(name=</a:t>
            </a:r>
            <a:r>
              <a:rPr sz="771" i="0">
                <a:solidFill>
                  <a:srgbClr val="A5D6A7"/>
                </a:solidFill>
                <a:latin typeface="Inconsolata"/>
              </a:rPr>
              <a:t>"Mouse"</a:t>
            </a:r>
            <a:r>
              <a:rPr sz="771" i="0">
                <a:solidFill>
                  <a:srgbClr val="E6EDF3"/>
                </a:solidFill>
                <a:latin typeface="Inconsolata"/>
              </a:rPr>
              <a:t>, stock=</a:t>
            </a:r>
            <a:r>
              <a:rPr sz="771" i="0">
                <a:solidFill>
                  <a:srgbClr val="F9C97A"/>
                </a:solidFill>
                <a:latin typeface="Inconsolata"/>
              </a:rPr>
              <a:t>1</a:t>
            </a:r>
            <a:r>
              <a:rPr sz="771" i="0">
                <a:solidFill>
                  <a:srgbClr val="E6EDF3"/>
                </a:solidFill>
                <a:latin typeface="Inconsolata"/>
              </a:rPr>
              <a:t>),</a:t>
            </a:r>
          </a:p>
          <a:p>
            <a:pPr>
              <a:lnSpc>
                <a:spcPct val="108035"/>
              </a:lnSpc>
              <a:spcAft>
                <a:spcPts val="0"/>
              </a:spcAft>
            </a:pPr>
            <a:r>
              <a:rPr sz="771" i="0">
                <a:solidFill>
                  <a:srgbClr val="5C6773"/>
                </a:solidFill>
                <a:latin typeface="Inconsolata"/>
              </a:rPr>
              <a:t> 93  </a:t>
            </a:r>
            <a:r>
              <a:rPr sz="771" i="0">
                <a:solidFill>
                  <a:srgbClr val="E6EDF3"/>
                </a:solidFill>
                <a:latin typeface="Inconsolata"/>
              </a:rPr>
              <a:t>        ])</a:t>
            </a:r>
          </a:p>
          <a:p>
            <a:pPr>
              <a:lnSpc>
                <a:spcPct val="108035"/>
              </a:lnSpc>
              <a:spcAft>
                <a:spcPts val="0"/>
              </a:spcAft>
            </a:pPr>
            <a:r>
              <a:rPr sz="771" i="0">
                <a:solidFill>
                  <a:srgbClr val="5C6773"/>
                </a:solidFill>
                <a:latin typeface="Inconsolata"/>
              </a:rPr>
              <a:t> 94  </a:t>
            </a:r>
            <a:r>
              <a:rPr sz="771" i="0">
                <a:solidFill>
                  <a:srgbClr val="E6EDF3"/>
                </a:solidFill>
                <a:latin typeface="Inconsolata"/>
              </a:rPr>
              <a:t>        session.commit()</a:t>
            </a:r>
          </a:p>
          <a:p>
            <a:pPr>
              <a:lnSpc>
                <a:spcPct val="108035"/>
              </a:lnSpc>
              <a:spcAft>
                <a:spcPts val="0"/>
              </a:spcAft>
            </a:pPr>
            <a:r>
              <a:rPr sz="771" i="0">
                <a:solidFill>
                  <a:srgbClr val="5C6773"/>
                </a:solidFill>
                <a:latin typeface="Inconsolata"/>
              </a:rPr>
              <a:t> 95  </a:t>
            </a:r>
            <a:r>
              <a:rPr sz="771" i="0">
                <a:solidFill>
                  <a:srgbClr val="E6EDF3"/>
                </a:solidFill>
                <a:latin typeface="Inconsolata"/>
              </a:rPr>
              <a:t> </a:t>
            </a:r>
          </a:p>
          <a:p>
            <a:pPr>
              <a:lnSpc>
                <a:spcPct val="108035"/>
              </a:lnSpc>
              <a:spcAft>
                <a:spcPts val="0"/>
              </a:spcAft>
            </a:pPr>
            <a:r>
              <a:rPr sz="771" i="0">
                <a:solidFill>
                  <a:srgbClr val="5C6773"/>
                </a:solidFill>
                <a:latin typeface="Inconsolata"/>
              </a:rPr>
              <a:t> 96  </a:t>
            </a:r>
            <a:r>
              <a:rPr sz="771" i="0">
                <a:solidFill>
                  <a:srgbClr val="E6EDF3"/>
                </a:solidFill>
                <a:latin typeface="Inconsolata"/>
              </a:rPr>
              <a:t>    service = </a:t>
            </a:r>
            <a:r>
              <a:rPr sz="771" i="0">
                <a:solidFill>
                  <a:srgbClr val="7FDBCA"/>
                </a:solidFill>
                <a:latin typeface="Inconsolata"/>
              </a:rPr>
              <a:t>OrderService</a:t>
            </a:r>
            <a:r>
              <a:rPr sz="771" i="0">
                <a:solidFill>
                  <a:srgbClr val="E6EDF3"/>
                </a:solidFill>
                <a:latin typeface="Inconsolata"/>
              </a:rPr>
              <a:t>(</a:t>
            </a:r>
            <a:r>
              <a:rPr sz="771" i="0">
                <a:solidFill>
                  <a:srgbClr val="7FDBCA"/>
                </a:solidFill>
                <a:latin typeface="Inconsolata"/>
              </a:rPr>
              <a:t>UnitOfWork</a:t>
            </a:r>
            <a:r>
              <a:rPr sz="771" i="0">
                <a:solidFill>
                  <a:srgbClr val="E6EDF3"/>
                </a:solidFill>
                <a:latin typeface="Inconsolata"/>
              </a:rPr>
              <a:t>(</a:t>
            </a:r>
            <a:r>
              <a:rPr sz="771" i="0">
                <a:solidFill>
                  <a:srgbClr val="7FDBCA"/>
                </a:solidFill>
                <a:latin typeface="Inconsolata"/>
              </a:rPr>
              <a:t>SessionLocal</a:t>
            </a:r>
            <a:r>
              <a:rPr sz="771" i="0">
                <a:solidFill>
                  <a:srgbClr val="E6EDF3"/>
                </a:solidFill>
                <a:latin typeface="Inconsolata"/>
              </a:rPr>
              <a:t>))</a:t>
            </a:r>
          </a:p>
          <a:p>
            <a:pPr>
              <a:lnSpc>
                <a:spcPct val="108035"/>
              </a:lnSpc>
              <a:spcAft>
                <a:spcPts val="0"/>
              </a:spcAft>
            </a:pPr>
            <a:r>
              <a:rPr sz="771" i="0">
                <a:solidFill>
                  <a:srgbClr val="5C6773"/>
                </a:solidFill>
                <a:latin typeface="Inconsolata"/>
              </a:rPr>
              <a:t> 97  </a:t>
            </a:r>
            <a:r>
              <a:rPr sz="771" i="0">
                <a:solidFill>
                  <a:srgbClr val="E6EDF3"/>
                </a:solidFill>
                <a:latin typeface="Inconsolata"/>
              </a:rPr>
              <a:t>    </a:t>
            </a:r>
            <a:r>
              <a:rPr sz="771" i="0">
                <a:solidFill>
                  <a:srgbClr val="FF8E6E"/>
                </a:solidFill>
                <a:latin typeface="Inconsolata"/>
              </a:rPr>
              <a:t>try</a:t>
            </a:r>
            <a:r>
              <a:rPr sz="771" i="0">
                <a:solidFill>
                  <a:srgbClr val="E6EDF3"/>
                </a:solidFill>
                <a:latin typeface="Inconsolata"/>
              </a:rPr>
              <a:t>:</a:t>
            </a:r>
          </a:p>
          <a:p>
            <a:pPr>
              <a:lnSpc>
                <a:spcPct val="108035"/>
              </a:lnSpc>
              <a:spcAft>
                <a:spcPts val="0"/>
              </a:spcAft>
            </a:pPr>
            <a:r>
              <a:rPr sz="771" i="0">
                <a:solidFill>
                  <a:srgbClr val="5C6773"/>
                </a:solidFill>
                <a:latin typeface="Inconsolata"/>
              </a:rPr>
              <a:t> 98  </a:t>
            </a:r>
            <a:r>
              <a:rPr sz="771" i="0">
                <a:solidFill>
                  <a:srgbClr val="E6EDF3"/>
                </a:solidFill>
                <a:latin typeface="Inconsolata"/>
              </a:rPr>
              <a:t>        service.place_order(</a:t>
            </a:r>
            <a:r>
              <a:rPr sz="771" i="0">
                <a:solidFill>
                  <a:srgbClr val="A5D6A7"/>
                </a:solidFill>
                <a:latin typeface="Inconsolata"/>
              </a:rPr>
              <a:t>"budi@mail.com"</a:t>
            </a:r>
            <a:r>
              <a:rPr sz="771" i="0">
                <a:solidFill>
                  <a:srgbClr val="E6EDF3"/>
                </a:solidFill>
                <a:latin typeface="Inconsolata"/>
              </a:rPr>
              <a:t>, [(</a:t>
            </a:r>
            <a:r>
              <a:rPr sz="771" i="0">
                <a:solidFill>
                  <a:srgbClr val="F9C97A"/>
                </a:solidFill>
                <a:latin typeface="Inconsolata"/>
              </a:rPr>
              <a:t>1</a:t>
            </a:r>
            <a:r>
              <a:rPr sz="771" i="0">
                <a:solidFill>
                  <a:srgbClr val="E6EDF3"/>
                </a:solidFill>
                <a:latin typeface="Inconsolata"/>
              </a:rPr>
              <a:t>, </a:t>
            </a:r>
            <a:r>
              <a:rPr sz="771" i="0">
                <a:solidFill>
                  <a:srgbClr val="F9C97A"/>
                </a:solidFill>
                <a:latin typeface="Inconsolata"/>
              </a:rPr>
              <a:t>2</a:t>
            </a:r>
            <a:r>
              <a:rPr sz="771" i="0">
                <a:solidFill>
                  <a:srgbClr val="E6EDF3"/>
                </a:solidFill>
                <a:latin typeface="Inconsolata"/>
              </a:rPr>
              <a:t>), (</a:t>
            </a:r>
            <a:r>
              <a:rPr sz="771" i="0">
                <a:solidFill>
                  <a:srgbClr val="F9C97A"/>
                </a:solidFill>
                <a:latin typeface="Inconsolata"/>
              </a:rPr>
              <a:t>2</a:t>
            </a:r>
            <a:r>
              <a:rPr sz="771" i="0">
                <a:solidFill>
                  <a:srgbClr val="E6EDF3"/>
                </a:solidFill>
                <a:latin typeface="Inconsolata"/>
              </a:rPr>
              <a:t>, </a:t>
            </a:r>
            <a:r>
              <a:rPr sz="771" i="0">
                <a:solidFill>
                  <a:srgbClr val="F9C97A"/>
                </a:solidFill>
                <a:latin typeface="Inconsolata"/>
              </a:rPr>
              <a:t>3</a:t>
            </a:r>
            <a:r>
              <a:rPr sz="771" i="0">
                <a:solidFill>
                  <a:srgbClr val="E6EDF3"/>
                </a:solidFill>
                <a:latin typeface="Inconsolata"/>
              </a:rPr>
              <a:t>)])</a:t>
            </a:r>
          </a:p>
          <a:p>
            <a:pPr>
              <a:lnSpc>
                <a:spcPct val="108035"/>
              </a:lnSpc>
              <a:spcAft>
                <a:spcPts val="0"/>
              </a:spcAft>
            </a:pPr>
            <a:r>
              <a:rPr sz="771" i="0">
                <a:solidFill>
                  <a:srgbClr val="5C6773"/>
                </a:solidFill>
                <a:latin typeface="Inconsolata"/>
              </a:rPr>
              <a:t> 99  </a:t>
            </a:r>
            <a:r>
              <a:rPr sz="771" i="0">
                <a:solidFill>
                  <a:srgbClr val="E6EDF3"/>
                </a:solidFill>
                <a:latin typeface="Inconsolata"/>
              </a:rPr>
              <a:t>    </a:t>
            </a:r>
            <a:r>
              <a:rPr sz="771" i="0">
                <a:solidFill>
                  <a:srgbClr val="FF8E6E"/>
                </a:solidFill>
                <a:latin typeface="Inconsolata"/>
              </a:rPr>
              <a:t>except</a:t>
            </a:r>
            <a:r>
              <a:rPr sz="771" i="0">
                <a:solidFill>
                  <a:srgbClr val="E6EDF3"/>
                </a:solidFill>
                <a:latin typeface="Inconsolata"/>
              </a:rPr>
              <a:t> </a:t>
            </a:r>
            <a:r>
              <a:rPr sz="771" i="0">
                <a:solidFill>
                  <a:srgbClr val="7FDBCA"/>
                </a:solidFill>
                <a:latin typeface="Inconsolata"/>
              </a:rPr>
              <a:t>ValueError</a:t>
            </a:r>
            <a:r>
              <a:rPr sz="771" i="0">
                <a:solidFill>
                  <a:srgbClr val="E6EDF3"/>
                </a:solidFill>
                <a:latin typeface="Inconsolata"/>
              </a:rPr>
              <a:t> </a:t>
            </a:r>
            <a:r>
              <a:rPr sz="771" i="0">
                <a:solidFill>
                  <a:srgbClr val="FF8E6E"/>
                </a:solidFill>
                <a:latin typeface="Inconsolata"/>
              </a:rPr>
              <a:t>as</a:t>
            </a:r>
            <a:r>
              <a:rPr sz="771" i="0">
                <a:solidFill>
                  <a:srgbClr val="E6EDF3"/>
                </a:solidFill>
                <a:latin typeface="Inconsolata"/>
              </a:rPr>
              <a:t> e:</a:t>
            </a:r>
          </a:p>
          <a:p>
            <a:pPr>
              <a:lnSpc>
                <a:spcPct val="108035"/>
              </a:lnSpc>
              <a:spcAft>
                <a:spcPts val="0"/>
              </a:spcAft>
            </a:pPr>
            <a:r>
              <a:rPr sz="771" i="0">
                <a:solidFill>
                  <a:srgbClr val="5C6773"/>
                </a:solidFill>
                <a:latin typeface="Inconsolata"/>
              </a:rPr>
              <a:t>100  </a:t>
            </a:r>
            <a:r>
              <a:rPr sz="771" i="0">
                <a:solidFill>
                  <a:srgbClr val="E6EDF3"/>
                </a:solidFill>
                <a:latin typeface="Inconsolata"/>
              </a:rPr>
              <a:t>        </a:t>
            </a:r>
            <a:r>
              <a:rPr sz="771" i="0">
                <a:solidFill>
                  <a:srgbClr val="C3A6FF"/>
                </a:solidFill>
                <a:latin typeface="Inconsolata"/>
              </a:rPr>
              <a:t>print</a:t>
            </a:r>
            <a:r>
              <a:rPr sz="771" i="0">
                <a:solidFill>
                  <a:srgbClr val="E6EDF3"/>
                </a:solidFill>
                <a:latin typeface="Inconsolata"/>
              </a:rPr>
              <a:t>(</a:t>
            </a:r>
            <a:r>
              <a:rPr sz="771" i="0">
                <a:solidFill>
                  <a:srgbClr val="A5D6A7"/>
                </a:solidFill>
                <a:latin typeface="Inconsolata"/>
              </a:rPr>
              <a:t>"Gagal:"</a:t>
            </a:r>
            <a:r>
              <a:rPr sz="771" i="0">
                <a:solidFill>
                  <a:srgbClr val="E6EDF3"/>
                </a:solidFill>
                <a:latin typeface="Inconsolata"/>
              </a:rPr>
              <a:t>, e)</a:t>
            </a:r>
          </a:p>
          <a:p>
            <a:pPr>
              <a:lnSpc>
                <a:spcPct val="108035"/>
              </a:lnSpc>
              <a:spcAft>
                <a:spcPts val="0"/>
              </a:spcAft>
            </a:pPr>
            <a:r>
              <a:rPr sz="771" i="0">
                <a:solidFill>
                  <a:srgbClr val="5C6773"/>
                </a:solidFill>
                <a:latin typeface="Inconsolata"/>
              </a:rPr>
              <a:t>101  </a:t>
            </a:r>
            <a:r>
              <a:rPr sz="771" i="0">
                <a:solidFill>
                  <a:srgbClr val="E6EDF3"/>
                </a:solidFill>
                <a:latin typeface="Inconsolata"/>
              </a:rPr>
              <a:t> </a:t>
            </a:r>
          </a:p>
          <a:p>
            <a:pPr>
              <a:lnSpc>
                <a:spcPct val="108035"/>
              </a:lnSpc>
              <a:spcAft>
                <a:spcPts val="0"/>
              </a:spcAft>
            </a:pPr>
            <a:r>
              <a:rPr sz="771" i="0">
                <a:solidFill>
                  <a:srgbClr val="5C6773"/>
                </a:solidFill>
                <a:latin typeface="Inconsolata"/>
              </a:rPr>
              <a:t>102  </a:t>
            </a:r>
            <a:r>
              <a:rPr sz="771" i="0">
                <a:solidFill>
                  <a:srgbClr val="E6EDF3"/>
                </a:solidFill>
                <a:latin typeface="Inconsolata"/>
              </a:rPr>
              <a:t>    </a:t>
            </a:r>
            <a:r>
              <a:rPr sz="771" i="0">
                <a:solidFill>
                  <a:srgbClr val="FF8E6E"/>
                </a:solidFill>
                <a:latin typeface="Inconsolata"/>
              </a:rPr>
              <a:t>with</a:t>
            </a:r>
            <a:r>
              <a:rPr sz="771" i="0">
                <a:solidFill>
                  <a:srgbClr val="E6EDF3"/>
                </a:solidFill>
                <a:latin typeface="Inconsolata"/>
              </a:rPr>
              <a:t> </a:t>
            </a:r>
            <a:r>
              <a:rPr sz="771" i="0">
                <a:solidFill>
                  <a:srgbClr val="7FDBCA"/>
                </a:solidFill>
                <a:latin typeface="Inconsolata"/>
              </a:rPr>
              <a:t>SessionLocal</a:t>
            </a:r>
            <a:r>
              <a:rPr sz="771" i="0">
                <a:solidFill>
                  <a:srgbClr val="E6EDF3"/>
                </a:solidFill>
                <a:latin typeface="Inconsolata"/>
              </a:rPr>
              <a:t>() </a:t>
            </a:r>
            <a:r>
              <a:rPr sz="771" i="0">
                <a:solidFill>
                  <a:srgbClr val="FF8E6E"/>
                </a:solidFill>
                <a:latin typeface="Inconsolata"/>
              </a:rPr>
              <a:t>as</a:t>
            </a:r>
            <a:r>
              <a:rPr sz="771" i="0">
                <a:solidFill>
                  <a:srgbClr val="E6EDF3"/>
                </a:solidFill>
                <a:latin typeface="Inconsolata"/>
              </a:rPr>
              <a:t> session:</a:t>
            </a:r>
          </a:p>
          <a:p>
            <a:pPr>
              <a:lnSpc>
                <a:spcPct val="108035"/>
              </a:lnSpc>
              <a:spcAft>
                <a:spcPts val="0"/>
              </a:spcAft>
            </a:pPr>
            <a:r>
              <a:rPr sz="771" i="0">
                <a:solidFill>
                  <a:srgbClr val="5C6773"/>
                </a:solidFill>
                <a:latin typeface="Inconsolata"/>
              </a:rPr>
              <a:t>103  </a:t>
            </a:r>
            <a:r>
              <a:rPr sz="771" i="0">
                <a:solidFill>
                  <a:srgbClr val="E6EDF3"/>
                </a:solidFill>
                <a:latin typeface="Inconsolata"/>
              </a:rPr>
              <a:t>        keyboard = session.get(</a:t>
            </a:r>
            <a:r>
              <a:rPr sz="771" i="0">
                <a:solidFill>
                  <a:srgbClr val="7FDBCA"/>
                </a:solidFill>
                <a:latin typeface="Inconsolata"/>
              </a:rPr>
              <a:t>ProductRecord</a:t>
            </a:r>
            <a:r>
              <a:rPr sz="771" i="0">
                <a:solidFill>
                  <a:srgbClr val="E6EDF3"/>
                </a:solidFill>
                <a:latin typeface="Inconsolata"/>
              </a:rPr>
              <a:t>, </a:t>
            </a:r>
            <a:r>
              <a:rPr sz="771" i="0">
                <a:solidFill>
                  <a:srgbClr val="F9C97A"/>
                </a:solidFill>
                <a:latin typeface="Inconsolata"/>
              </a:rPr>
              <a:t>1</a:t>
            </a:r>
            <a:r>
              <a:rPr sz="771" i="0">
                <a:solidFill>
                  <a:srgbClr val="E6EDF3"/>
                </a:solidFill>
                <a:latin typeface="Inconsolata"/>
              </a:rPr>
              <a:t>)</a:t>
            </a:r>
          </a:p>
          <a:p>
            <a:pPr>
              <a:lnSpc>
                <a:spcPct val="108035"/>
              </a:lnSpc>
              <a:spcAft>
                <a:spcPts val="0"/>
              </a:spcAft>
            </a:pPr>
            <a:r>
              <a:rPr sz="771" i="0">
                <a:solidFill>
                  <a:srgbClr val="5C6773"/>
                </a:solidFill>
                <a:latin typeface="Inconsolata"/>
              </a:rPr>
              <a:t>104  </a:t>
            </a:r>
            <a:r>
              <a:rPr sz="771" i="0">
                <a:solidFill>
                  <a:srgbClr val="E6EDF3"/>
                </a:solidFill>
                <a:latin typeface="Inconsolata"/>
              </a:rPr>
              <a:t>        </a:t>
            </a:r>
            <a:r>
              <a:rPr sz="771" i="0">
                <a:solidFill>
                  <a:srgbClr val="C3A6FF"/>
                </a:solidFill>
                <a:latin typeface="Inconsolata"/>
              </a:rPr>
              <a:t>print</a:t>
            </a:r>
            <a:r>
              <a:rPr sz="771" i="0">
                <a:solidFill>
                  <a:srgbClr val="E6EDF3"/>
                </a:solidFill>
                <a:latin typeface="Inconsolata"/>
              </a:rPr>
              <a:t>(</a:t>
            </a:r>
            <a:r>
              <a:rPr sz="771" i="0">
                <a:solidFill>
                  <a:srgbClr val="A5D6A7"/>
                </a:solidFill>
                <a:latin typeface="Inconsolata"/>
              </a:rPr>
              <a:t>"Stok Keyboard:"</a:t>
            </a:r>
            <a:r>
              <a:rPr sz="771" i="0">
                <a:solidFill>
                  <a:srgbClr val="E6EDF3"/>
                </a:solidFill>
                <a:latin typeface="Inconsolata"/>
              </a:rPr>
              <a:t>, keyboard.stock)  </a:t>
            </a:r>
            <a:r>
              <a:rPr sz="771" i="1">
                <a:solidFill>
                  <a:srgbClr val="8B98A8"/>
                </a:solidFill>
                <a:latin typeface="Inconsolata"/>
              </a:rPr>
              <a:t># tetap 5</a:t>
            </a:r>
          </a:p>
        </p:txBody>
      </p:sp>
      <p:sp>
        <p:nvSpPr>
          <p:cNvPr id="36" name="Box 21"/>
          <p:cNvSpPr/>
          <p:nvPr/>
        </p:nvSpPr>
        <p:spPr>
          <a:xfrm>
            <a:off x="704088" y="2208022"/>
            <a:ext cx="3694176" cy="1262380"/>
          </a:xfrm>
          <a:prstGeom prst="roundRect">
            <a:avLst>
              <a:gd name="adj" fmla="val 362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2720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8" name="Box 23"/>
          <p:cNvSpPr/>
          <p:nvPr/>
        </p:nvSpPr>
        <p:spPr>
          <a:xfrm>
            <a:off x="4709159" y="4113022"/>
            <a:ext cx="3694176" cy="246380"/>
          </a:xfrm>
          <a:prstGeom prst="roundRect">
            <a:avLst>
              <a:gd name="adj" fmla="val 1855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4117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08-unit-of-work/after.py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sesi-04-modular-fastapi-orm-transactions/08-unit-of-work</a:t>
            </a:r>
          </a:p>
          <a:p>
            <a:pPr>
              <a:lnSpc>
                <a:spcPct val="107527"/>
              </a:lnSpc>
              <a:spcAft>
                <a:spcPts val="0"/>
              </a:spcAft>
            </a:pPr>
            <a:r>
              <a:rPr sz="775" i="0">
                <a:solidFill>
                  <a:srgbClr val="82B1FF"/>
                </a:solidFill>
                <a:latin typeface="Inconsolata"/>
              </a:rPr>
              <a:t>$ python after.py</a:t>
            </a:r>
          </a:p>
        </p:txBody>
      </p:sp>
      <p:pic>
        <p:nvPicPr>
          <p:cNvPr id="29" name="Image 12" descr="s04-08-unit-of-work-after.png"/>
          <p:cNvPicPr>
            <a:picLocks noChangeAspect="1"/>
          </p:cNvPicPr>
          <p:nvPr/>
        </p:nvPicPr>
        <p:blipFill>
          <a:blip r:embed="rId2"/>
          <a:stretch>
            <a:fillRect/>
          </a:stretch>
        </p:blipFill>
        <p:spPr>
          <a:xfrm>
            <a:off x="621792" y="2240280"/>
            <a:ext cx="4297680" cy="1088136"/>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UnitOfWork</a:t>
            </a:r>
            <a:r>
              <a:rPr sz="950" b="0" i="0">
                <a:solidFill>
                  <a:srgbClr val="434343"/>
                </a:solidFill>
                <a:latin typeface="Inter"/>
              </a:rPr>
              <a:t> membuat session dan semua repository (baris 52-56)</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Keluar dari </a:t>
            </a:r>
            <a:r>
              <a:rPr sz="950" b="0" i="0">
                <a:solidFill>
                  <a:srgbClr val="B5482A"/>
                </a:solidFill>
                <a:latin typeface="Inconsolata"/>
              </a:rPr>
              <a:t>with</a:t>
            </a:r>
            <a:r>
              <a:rPr sz="950" b="0" i="0">
                <a:solidFill>
                  <a:srgbClr val="434343"/>
                </a:solidFill>
                <a:latin typeface="Inter"/>
              </a:rPr>
              <a:t> tanpa commit = rollback (baris 58-60)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Repository tidak commit. Service yang memutuskan lewat </a:t>
            </a:r>
            <a:r>
              <a:rPr sz="950" b="0" i="0">
                <a:solidFill>
                  <a:srgbClr val="B5482A"/>
                </a:solidFill>
                <a:latin typeface="Inconsolata"/>
              </a:rPr>
              <a:t>uow.commit()</a:t>
            </a:r>
            <a:r>
              <a:rPr sz="950" b="0" i="0">
                <a:solidFill>
                  <a:srgbClr val="434343"/>
                </a:solidFill>
                <a:latin typeface="Inter"/>
              </a:rPr>
              <a:t> (baris 73-82)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Stok Keyboard tetap 5 (baris 103-104)</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Unit of Work</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Cara Membaca Flow</a:t>
            </a:r>
          </a:p>
        </p:txBody>
      </p:sp>
      <p:sp>
        <p:nvSpPr>
          <p:cNvPr id="22" name="CodeTab 4"/>
          <p:cNvSpPr/>
          <p:nvPr/>
        </p:nvSpPr>
        <p:spPr>
          <a:xfrm>
            <a:off x="621792" y="1481328"/>
            <a:ext cx="49377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976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08-unit-of-work/after.py</a:t>
            </a:r>
          </a:p>
        </p:txBody>
      </p:sp>
      <p:sp>
        <p:nvSpPr>
          <p:cNvPr id="27" name="CodeBg 10"/>
          <p:cNvSpPr/>
          <p:nvPr/>
        </p:nvSpPr>
        <p:spPr>
          <a:xfrm>
            <a:off x="621792" y="1719072"/>
            <a:ext cx="4937760" cy="2231136"/>
          </a:xfrm>
          <a:prstGeom prst="roundRect">
            <a:avLst>
              <a:gd name="adj" fmla="val 81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937760" cy="2231136"/>
          </a:xfrm>
          <a:prstGeom prst="rect">
            <a:avLst/>
          </a:prstGeom>
          <a:noFill/>
        </p:spPr>
        <p:txBody>
          <a:bodyPr wrap="none" lIns="146304" tIns="91440" rIns="146304" bIns="54864">
            <a:spAutoFit/>
          </a:bodyPr>
          <a:lstStyle/>
          <a:p>
            <a:pPr>
              <a:lnSpc>
                <a:spcPct val="106667"/>
              </a:lnSpc>
              <a:spcAft>
                <a:spcPts val="0"/>
              </a:spcAft>
            </a:pPr>
            <a:r>
              <a:rPr sz="625" i="0">
                <a:solidFill>
                  <a:srgbClr val="E6EDF3"/>
                </a:solidFill>
                <a:latin typeface="Inconsolata"/>
              </a:rPr>
              <a:t>    </a:t>
            </a:r>
            <a:r>
              <a:rPr sz="625" i="0">
                <a:solidFill>
                  <a:srgbClr val="FF8E6E"/>
                </a:solidFill>
                <a:latin typeface="Inconsolata"/>
              </a:rPr>
              <a:t>def</a:t>
            </a:r>
            <a:r>
              <a:rPr sz="625" i="0">
                <a:solidFill>
                  <a:srgbClr val="E6EDF3"/>
                </a:solidFill>
                <a:latin typeface="Inconsolata"/>
              </a:rPr>
              <a:t> </a:t>
            </a:r>
            <a:r>
              <a:rPr sz="625" i="0">
                <a:solidFill>
                  <a:srgbClr val="82B1FF"/>
                </a:solidFill>
                <a:latin typeface="Inconsolata"/>
              </a:rPr>
              <a:t>__enter__</a:t>
            </a:r>
            <a:r>
              <a:rPr sz="625" i="0">
                <a:solidFill>
                  <a:srgbClr val="E6EDF3"/>
                </a:solidFill>
                <a:latin typeface="Inconsolata"/>
              </a:rPr>
              <a:t>(</a:t>
            </a:r>
            <a:r>
              <a:rPr sz="625" i="0">
                <a:solidFill>
                  <a:srgbClr val="C3A6FF"/>
                </a:solidFill>
                <a:latin typeface="Inconsolata"/>
              </a:rPr>
              <a:t>self</a:t>
            </a:r>
            <a:r>
              <a:rPr sz="625" i="0">
                <a:solidFill>
                  <a:srgbClr val="E6EDF3"/>
                </a:solidFill>
                <a:latin typeface="Inconsolata"/>
              </a:rPr>
              <a:t>) -&gt; </a:t>
            </a:r>
            <a:r>
              <a:rPr sz="625" i="0">
                <a:solidFill>
                  <a:srgbClr val="A5D6A7"/>
                </a:solidFill>
                <a:latin typeface="Inconsolata"/>
              </a:rPr>
              <a:t>"UnitOfWork"</a:t>
            </a:r>
            <a:r>
              <a:rPr sz="625" i="0">
                <a:solidFill>
                  <a:srgbClr val="E6EDF3"/>
                </a:solidFill>
                <a:latin typeface="Inconsolata"/>
              </a:rPr>
              <a:t>:</a:t>
            </a:r>
          </a:p>
          <a:p>
            <a:pPr>
              <a:lnSpc>
                <a:spcPct val="106667"/>
              </a:lnSpc>
              <a:spcAft>
                <a:spcPts val="0"/>
              </a:spcAft>
            </a:pPr>
            <a:r>
              <a:rPr sz="625" i="0">
                <a:solidFill>
                  <a:srgbClr val="E6EDF3"/>
                </a:solidFill>
                <a:latin typeface="Inconsolata"/>
              </a:rPr>
              <a:t>        </a:t>
            </a:r>
            <a:r>
              <a:rPr sz="625" i="0">
                <a:solidFill>
                  <a:srgbClr val="C3A6FF"/>
                </a:solidFill>
                <a:latin typeface="Inconsolata"/>
              </a:rPr>
              <a:t>self</a:t>
            </a:r>
            <a:r>
              <a:rPr sz="625" i="0">
                <a:solidFill>
                  <a:srgbClr val="E6EDF3"/>
                </a:solidFill>
                <a:latin typeface="Inconsolata"/>
              </a:rPr>
              <a:t>.session = </a:t>
            </a:r>
            <a:r>
              <a:rPr sz="625" i="0">
                <a:solidFill>
                  <a:srgbClr val="C3A6FF"/>
                </a:solidFill>
                <a:latin typeface="Inconsolata"/>
              </a:rPr>
              <a:t>self</a:t>
            </a:r>
            <a:r>
              <a:rPr sz="625" i="0">
                <a:solidFill>
                  <a:srgbClr val="E6EDF3"/>
                </a:solidFill>
                <a:latin typeface="Inconsolata"/>
              </a:rPr>
              <a:t>.session_factory()</a:t>
            </a:r>
          </a:p>
          <a:p>
            <a:pPr>
              <a:lnSpc>
                <a:spcPct val="106667"/>
              </a:lnSpc>
              <a:spcAft>
                <a:spcPts val="0"/>
              </a:spcAft>
            </a:pPr>
            <a:r>
              <a:rPr sz="625" i="0">
                <a:solidFill>
                  <a:srgbClr val="E6EDF3"/>
                </a:solidFill>
                <a:latin typeface="Inconsolata"/>
              </a:rPr>
              <a:t>        </a:t>
            </a:r>
            <a:r>
              <a:rPr sz="625" i="0">
                <a:solidFill>
                  <a:srgbClr val="C3A6FF"/>
                </a:solidFill>
                <a:latin typeface="Inconsolata"/>
              </a:rPr>
              <a:t>self</a:t>
            </a:r>
            <a:r>
              <a:rPr sz="625" i="0">
                <a:solidFill>
                  <a:srgbClr val="E6EDF3"/>
                </a:solidFill>
                <a:latin typeface="Inconsolata"/>
              </a:rPr>
              <a:t>.products = </a:t>
            </a:r>
            <a:r>
              <a:rPr sz="625" i="0">
                <a:solidFill>
                  <a:srgbClr val="7FDBCA"/>
                </a:solidFill>
                <a:latin typeface="Inconsolata"/>
              </a:rPr>
              <a:t>ProductRepository</a:t>
            </a:r>
            <a:r>
              <a:rPr sz="625" i="0">
                <a:solidFill>
                  <a:srgbClr val="E6EDF3"/>
                </a:solidFill>
                <a:latin typeface="Inconsolata"/>
              </a:rPr>
              <a:t>(</a:t>
            </a:r>
            <a:r>
              <a:rPr sz="625" i="0">
                <a:solidFill>
                  <a:srgbClr val="C3A6FF"/>
                </a:solidFill>
                <a:latin typeface="Inconsolata"/>
              </a:rPr>
              <a:t>self</a:t>
            </a:r>
            <a:r>
              <a:rPr sz="625" i="0">
                <a:solidFill>
                  <a:srgbClr val="E6EDF3"/>
                </a:solidFill>
                <a:latin typeface="Inconsolata"/>
              </a:rPr>
              <a:t>.session)</a:t>
            </a:r>
          </a:p>
          <a:p>
            <a:pPr>
              <a:lnSpc>
                <a:spcPct val="106667"/>
              </a:lnSpc>
              <a:spcAft>
                <a:spcPts val="0"/>
              </a:spcAft>
            </a:pPr>
            <a:r>
              <a:rPr sz="625" i="0">
                <a:solidFill>
                  <a:srgbClr val="E6EDF3"/>
                </a:solidFill>
                <a:latin typeface="Inconsolata"/>
              </a:rPr>
              <a:t>        </a:t>
            </a:r>
            <a:r>
              <a:rPr sz="625" i="0">
                <a:solidFill>
                  <a:srgbClr val="C3A6FF"/>
                </a:solidFill>
                <a:latin typeface="Inconsolata"/>
              </a:rPr>
              <a:t>self</a:t>
            </a:r>
            <a:r>
              <a:rPr sz="625" i="0">
                <a:solidFill>
                  <a:srgbClr val="E6EDF3"/>
                </a:solidFill>
                <a:latin typeface="Inconsolata"/>
              </a:rPr>
              <a:t>.orders = </a:t>
            </a:r>
            <a:r>
              <a:rPr sz="625" i="0">
                <a:solidFill>
                  <a:srgbClr val="7FDBCA"/>
                </a:solidFill>
                <a:latin typeface="Inconsolata"/>
              </a:rPr>
              <a:t>OrderRepository</a:t>
            </a:r>
            <a:r>
              <a:rPr sz="625" i="0">
                <a:solidFill>
                  <a:srgbClr val="E6EDF3"/>
                </a:solidFill>
                <a:latin typeface="Inconsolata"/>
              </a:rPr>
              <a:t>(</a:t>
            </a:r>
            <a:r>
              <a:rPr sz="625" i="0">
                <a:solidFill>
                  <a:srgbClr val="C3A6FF"/>
                </a:solidFill>
                <a:latin typeface="Inconsolata"/>
              </a:rPr>
              <a:t>self</a:t>
            </a:r>
            <a:r>
              <a:rPr sz="625" i="0">
                <a:solidFill>
                  <a:srgbClr val="E6EDF3"/>
                </a:solidFill>
                <a:latin typeface="Inconsolata"/>
              </a:rPr>
              <a:t>.session)</a:t>
            </a:r>
          </a:p>
          <a:p>
            <a:pPr>
              <a:lnSpc>
                <a:spcPct val="106667"/>
              </a:lnSpc>
              <a:spcAft>
                <a:spcPts val="0"/>
              </a:spcAft>
            </a:pPr>
            <a:r>
              <a:rPr sz="625" i="0">
                <a:solidFill>
                  <a:srgbClr val="E6EDF3"/>
                </a:solidFill>
                <a:latin typeface="Inconsolata"/>
              </a:rPr>
              <a:t>        </a:t>
            </a:r>
            <a:r>
              <a:rPr sz="625" i="0">
                <a:solidFill>
                  <a:srgbClr val="FF8E6E"/>
                </a:solidFill>
                <a:latin typeface="Inconsolata"/>
              </a:rPr>
              <a:t>return</a:t>
            </a:r>
            <a:r>
              <a:rPr sz="625" i="0">
                <a:solidFill>
                  <a:srgbClr val="E6EDF3"/>
                </a:solidFill>
                <a:latin typeface="Inconsolata"/>
              </a:rPr>
              <a:t> </a:t>
            </a:r>
            <a:r>
              <a:rPr sz="625" i="0">
                <a:solidFill>
                  <a:srgbClr val="C3A6FF"/>
                </a:solidFill>
                <a:latin typeface="Inconsolata"/>
              </a:rPr>
              <a:t>self</a:t>
            </a:r>
          </a:p>
          <a:p>
            <a:pPr>
              <a:lnSpc>
                <a:spcPct val="106667"/>
              </a:lnSpc>
              <a:spcAft>
                <a:spcPts val="0"/>
              </a:spcAft>
            </a:pPr>
            <a:r>
              <a:rPr sz="625" i="0">
                <a:solidFill>
                  <a:srgbClr val="E6EDF3"/>
                </a:solidFill>
                <a:latin typeface="Inconsolata"/>
              </a:rPr>
              <a:t> </a:t>
            </a:r>
          </a:p>
          <a:p>
            <a:pPr>
              <a:lnSpc>
                <a:spcPct val="106667"/>
              </a:lnSpc>
              <a:spcAft>
                <a:spcPts val="0"/>
              </a:spcAft>
            </a:pPr>
            <a:r>
              <a:rPr sz="625" i="0">
                <a:solidFill>
                  <a:srgbClr val="E6EDF3"/>
                </a:solidFill>
                <a:latin typeface="Inconsolata"/>
              </a:rPr>
              <a:t>    </a:t>
            </a:r>
            <a:r>
              <a:rPr sz="625" i="0">
                <a:solidFill>
                  <a:srgbClr val="FF8E6E"/>
                </a:solidFill>
                <a:latin typeface="Inconsolata"/>
              </a:rPr>
              <a:t>def</a:t>
            </a:r>
            <a:r>
              <a:rPr sz="625" i="0">
                <a:solidFill>
                  <a:srgbClr val="E6EDF3"/>
                </a:solidFill>
                <a:latin typeface="Inconsolata"/>
              </a:rPr>
              <a:t> </a:t>
            </a:r>
            <a:r>
              <a:rPr sz="625" i="0">
                <a:solidFill>
                  <a:srgbClr val="82B1FF"/>
                </a:solidFill>
                <a:latin typeface="Inconsolata"/>
              </a:rPr>
              <a:t>__exit__</a:t>
            </a:r>
            <a:r>
              <a:rPr sz="625" i="0">
                <a:solidFill>
                  <a:srgbClr val="E6EDF3"/>
                </a:solidFill>
                <a:latin typeface="Inconsolata"/>
              </a:rPr>
              <a:t>(</a:t>
            </a:r>
            <a:r>
              <a:rPr sz="625" i="0">
                <a:solidFill>
                  <a:srgbClr val="C3A6FF"/>
                </a:solidFill>
                <a:latin typeface="Inconsolata"/>
              </a:rPr>
              <a:t>self</a:t>
            </a:r>
            <a:r>
              <a:rPr sz="625" i="0">
                <a:solidFill>
                  <a:srgbClr val="E6EDF3"/>
                </a:solidFill>
                <a:latin typeface="Inconsolata"/>
              </a:rPr>
              <a:t>, *exc) -&gt; </a:t>
            </a:r>
            <a:r>
              <a:rPr sz="625" i="0">
                <a:solidFill>
                  <a:srgbClr val="FF8E6E"/>
                </a:solidFill>
                <a:latin typeface="Inconsolata"/>
              </a:rPr>
              <a:t>None</a:t>
            </a:r>
            <a:r>
              <a:rPr sz="625" i="0">
                <a:solidFill>
                  <a:srgbClr val="E6EDF3"/>
                </a:solidFill>
                <a:latin typeface="Inconsolata"/>
              </a:rPr>
              <a:t>:</a:t>
            </a:r>
          </a:p>
          <a:p>
            <a:pPr>
              <a:lnSpc>
                <a:spcPct val="106667"/>
              </a:lnSpc>
              <a:spcAft>
                <a:spcPts val="0"/>
              </a:spcAft>
            </a:pPr>
            <a:r>
              <a:rPr sz="625" i="0">
                <a:solidFill>
                  <a:srgbClr val="E6EDF3"/>
                </a:solidFill>
                <a:latin typeface="Inconsolata"/>
              </a:rPr>
              <a:t>        </a:t>
            </a:r>
            <a:r>
              <a:rPr sz="625" i="0">
                <a:solidFill>
                  <a:srgbClr val="C3A6FF"/>
                </a:solidFill>
                <a:latin typeface="Inconsolata"/>
              </a:rPr>
              <a:t>self</a:t>
            </a:r>
            <a:r>
              <a:rPr sz="625" i="0">
                <a:solidFill>
                  <a:srgbClr val="E6EDF3"/>
                </a:solidFill>
                <a:latin typeface="Inconsolata"/>
              </a:rPr>
              <a:t>.session.rollback()  </a:t>
            </a:r>
            <a:r>
              <a:rPr sz="625" i="1">
                <a:solidFill>
                  <a:srgbClr val="8B98A8"/>
                </a:solidFill>
                <a:latin typeface="Inconsolata"/>
              </a:rPr>
              <a:t># tidak berefek setelah commit</a:t>
            </a:r>
          </a:p>
          <a:p>
            <a:pPr>
              <a:lnSpc>
                <a:spcPct val="106667"/>
              </a:lnSpc>
              <a:spcAft>
                <a:spcPts val="0"/>
              </a:spcAft>
            </a:pPr>
            <a:r>
              <a:rPr sz="625" i="0">
                <a:solidFill>
                  <a:srgbClr val="E6EDF3"/>
                </a:solidFill>
                <a:latin typeface="Inconsolata"/>
              </a:rPr>
              <a:t>        </a:t>
            </a:r>
            <a:r>
              <a:rPr sz="625" i="0">
                <a:solidFill>
                  <a:srgbClr val="C3A6FF"/>
                </a:solidFill>
                <a:latin typeface="Inconsolata"/>
              </a:rPr>
              <a:t>self</a:t>
            </a:r>
            <a:r>
              <a:rPr sz="625" i="0">
                <a:solidFill>
                  <a:srgbClr val="E6EDF3"/>
                </a:solidFill>
                <a:latin typeface="Inconsolata"/>
              </a:rPr>
              <a:t>.session.close()</a:t>
            </a:r>
          </a:p>
          <a:p>
            <a:pPr>
              <a:lnSpc>
                <a:spcPct val="106667"/>
              </a:lnSpc>
              <a:spcAft>
                <a:spcPts val="0"/>
              </a:spcAft>
            </a:pPr>
            <a:r>
              <a:rPr sz="625" i="0">
                <a:solidFill>
                  <a:srgbClr val="E6EDF3"/>
                </a:solidFill>
                <a:latin typeface="Inconsolata"/>
              </a:rPr>
              <a:t>...</a:t>
            </a:r>
          </a:p>
          <a:p>
            <a:pPr>
              <a:lnSpc>
                <a:spcPct val="106667"/>
              </a:lnSpc>
              <a:spcAft>
                <a:spcPts val="0"/>
              </a:spcAft>
            </a:pPr>
            <a:r>
              <a:rPr sz="625" i="0">
                <a:solidFill>
                  <a:srgbClr val="E6EDF3"/>
                </a:solidFill>
                <a:latin typeface="Inconsolata"/>
              </a:rPr>
              <a:t>        </a:t>
            </a:r>
            <a:r>
              <a:rPr sz="625" i="0">
                <a:solidFill>
                  <a:srgbClr val="FF8E6E"/>
                </a:solidFill>
                <a:latin typeface="Inconsolata"/>
              </a:rPr>
              <a:t>with</a:t>
            </a:r>
            <a:r>
              <a:rPr sz="625" i="0">
                <a:solidFill>
                  <a:srgbClr val="E6EDF3"/>
                </a:solidFill>
                <a:latin typeface="Inconsolata"/>
              </a:rPr>
              <a:t> </a:t>
            </a:r>
            <a:r>
              <a:rPr sz="625" i="0">
                <a:solidFill>
                  <a:srgbClr val="C3A6FF"/>
                </a:solidFill>
                <a:latin typeface="Inconsolata"/>
              </a:rPr>
              <a:t>self</a:t>
            </a:r>
            <a:r>
              <a:rPr sz="625" i="0">
                <a:solidFill>
                  <a:srgbClr val="E6EDF3"/>
                </a:solidFill>
                <a:latin typeface="Inconsolata"/>
              </a:rPr>
              <a:t>.uow:</a:t>
            </a:r>
          </a:p>
          <a:p>
            <a:pPr>
              <a:lnSpc>
                <a:spcPct val="106667"/>
              </a:lnSpc>
              <a:spcAft>
                <a:spcPts val="0"/>
              </a:spcAft>
            </a:pPr>
            <a:r>
              <a:rPr sz="625" i="0">
                <a:solidFill>
                  <a:srgbClr val="E6EDF3"/>
                </a:solidFill>
                <a:latin typeface="Inconsolata"/>
              </a:rPr>
              <a:t>            </a:t>
            </a:r>
            <a:r>
              <a:rPr sz="625" i="0">
                <a:solidFill>
                  <a:srgbClr val="FF8E6E"/>
                </a:solidFill>
                <a:latin typeface="Inconsolata"/>
              </a:rPr>
              <a:t>for</a:t>
            </a:r>
            <a:r>
              <a:rPr sz="625" i="0">
                <a:solidFill>
                  <a:srgbClr val="E6EDF3"/>
                </a:solidFill>
                <a:latin typeface="Inconsolata"/>
              </a:rPr>
              <a:t> product_id, qty </a:t>
            </a:r>
            <a:r>
              <a:rPr sz="625" i="0">
                <a:solidFill>
                  <a:srgbClr val="FF8E6E"/>
                </a:solidFill>
                <a:latin typeface="Inconsolata"/>
              </a:rPr>
              <a:t>in</a:t>
            </a:r>
            <a:r>
              <a:rPr sz="625" i="0">
                <a:solidFill>
                  <a:srgbClr val="E6EDF3"/>
                </a:solidFill>
                <a:latin typeface="Inconsolata"/>
              </a:rPr>
              <a:t> items:</a:t>
            </a:r>
          </a:p>
          <a:p>
            <a:pPr>
              <a:lnSpc>
                <a:spcPct val="106667"/>
              </a:lnSpc>
              <a:spcAft>
                <a:spcPts val="0"/>
              </a:spcAft>
            </a:pPr>
            <a:r>
              <a:rPr sz="625" i="0">
                <a:solidFill>
                  <a:srgbClr val="E6EDF3"/>
                </a:solidFill>
                <a:latin typeface="Inconsolata"/>
              </a:rPr>
              <a:t>                product = </a:t>
            </a:r>
            <a:r>
              <a:rPr sz="625" i="0">
                <a:solidFill>
                  <a:srgbClr val="C3A6FF"/>
                </a:solidFill>
                <a:latin typeface="Inconsolata"/>
              </a:rPr>
              <a:t>self</a:t>
            </a:r>
            <a:r>
              <a:rPr sz="625" i="0">
                <a:solidFill>
                  <a:srgbClr val="E6EDF3"/>
                </a:solidFill>
                <a:latin typeface="Inconsolata"/>
              </a:rPr>
              <a:t>.uow.products.get(product_id)</a:t>
            </a:r>
          </a:p>
          <a:p>
            <a:pPr>
              <a:lnSpc>
                <a:spcPct val="106667"/>
              </a:lnSpc>
              <a:spcAft>
                <a:spcPts val="0"/>
              </a:spcAft>
            </a:pPr>
            <a:r>
              <a:rPr sz="625" i="0">
                <a:solidFill>
                  <a:srgbClr val="E6EDF3"/>
                </a:solidFill>
                <a:latin typeface="Inconsolata"/>
              </a:rPr>
              <a:t>                </a:t>
            </a:r>
            <a:r>
              <a:rPr sz="625" i="0">
                <a:solidFill>
                  <a:srgbClr val="FF8E6E"/>
                </a:solidFill>
                <a:latin typeface="Inconsolata"/>
              </a:rPr>
              <a:t>if</a:t>
            </a:r>
            <a:r>
              <a:rPr sz="625" i="0">
                <a:solidFill>
                  <a:srgbClr val="E6EDF3"/>
                </a:solidFill>
                <a:latin typeface="Inconsolata"/>
              </a:rPr>
              <a:t> qty &gt; product.stock:</a:t>
            </a:r>
          </a:p>
          <a:p>
            <a:pPr>
              <a:lnSpc>
                <a:spcPct val="106667"/>
              </a:lnSpc>
              <a:spcAft>
                <a:spcPts val="0"/>
              </a:spcAft>
            </a:pPr>
            <a:r>
              <a:rPr sz="625" i="0">
                <a:solidFill>
                  <a:srgbClr val="E6EDF3"/>
                </a:solidFill>
                <a:latin typeface="Inconsolata"/>
              </a:rPr>
              <a:t>                    </a:t>
            </a:r>
            <a:r>
              <a:rPr sz="625" i="0">
                <a:solidFill>
                  <a:srgbClr val="FF8E6E"/>
                </a:solidFill>
                <a:latin typeface="Inconsolata"/>
              </a:rPr>
              <a:t>raise</a:t>
            </a:r>
            <a:r>
              <a:rPr sz="625" i="0">
                <a:solidFill>
                  <a:srgbClr val="E6EDF3"/>
                </a:solidFill>
                <a:latin typeface="Inconsolata"/>
              </a:rPr>
              <a:t> </a:t>
            </a:r>
            <a:r>
              <a:rPr sz="625" i="0">
                <a:solidFill>
                  <a:srgbClr val="7FDBCA"/>
                </a:solidFill>
                <a:latin typeface="Inconsolata"/>
              </a:rPr>
              <a:t>ValueError</a:t>
            </a:r>
            <a:r>
              <a:rPr sz="625" i="0">
                <a:solidFill>
                  <a:srgbClr val="E6EDF3"/>
                </a:solidFill>
                <a:latin typeface="Inconsolata"/>
              </a:rPr>
              <a:t>(</a:t>
            </a:r>
          </a:p>
          <a:p>
            <a:pPr>
              <a:lnSpc>
                <a:spcPct val="106667"/>
              </a:lnSpc>
              <a:spcAft>
                <a:spcPts val="0"/>
              </a:spcAft>
            </a:pPr>
            <a:r>
              <a:rPr sz="625" i="0">
                <a:solidFill>
                  <a:srgbClr val="E6EDF3"/>
                </a:solidFill>
                <a:latin typeface="Inconsolata"/>
              </a:rPr>
              <a:t>                        </a:t>
            </a:r>
            <a:r>
              <a:rPr sz="625" i="0">
                <a:solidFill>
                  <a:srgbClr val="A5D6A7"/>
                </a:solidFill>
                <a:latin typeface="Inconsolata"/>
              </a:rPr>
              <a:t>f"Stok {product.name} tidak cukup"</a:t>
            </a:r>
          </a:p>
          <a:p>
            <a:pPr>
              <a:lnSpc>
                <a:spcPct val="106667"/>
              </a:lnSpc>
              <a:spcAft>
                <a:spcPts val="0"/>
              </a:spcAft>
            </a:pPr>
            <a:r>
              <a:rPr sz="625" i="0">
                <a:solidFill>
                  <a:srgbClr val="E6EDF3"/>
                </a:solidFill>
                <a:latin typeface="Inconsolata"/>
              </a:rPr>
              <a:t>                    )</a:t>
            </a:r>
          </a:p>
          <a:p>
            <a:pPr>
              <a:lnSpc>
                <a:spcPct val="106667"/>
              </a:lnSpc>
              <a:spcAft>
                <a:spcPts val="0"/>
              </a:spcAft>
            </a:pPr>
            <a:r>
              <a:rPr sz="625" i="0">
                <a:solidFill>
                  <a:srgbClr val="E6EDF3"/>
                </a:solidFill>
                <a:latin typeface="Inconsolata"/>
              </a:rPr>
              <a:t>                product.stock -= qty</a:t>
            </a:r>
          </a:p>
          <a:p>
            <a:pPr>
              <a:lnSpc>
                <a:spcPct val="106667"/>
              </a:lnSpc>
              <a:spcAft>
                <a:spcPts val="0"/>
              </a:spcAft>
            </a:pPr>
            <a:r>
              <a:rPr sz="625" i="0">
                <a:solidFill>
                  <a:srgbClr val="E6EDF3"/>
                </a:solidFill>
                <a:latin typeface="Inconsolata"/>
              </a:rPr>
              <a:t>            </a:t>
            </a:r>
            <a:r>
              <a:rPr sz="625" i="0">
                <a:solidFill>
                  <a:srgbClr val="C3A6FF"/>
                </a:solidFill>
                <a:latin typeface="Inconsolata"/>
              </a:rPr>
              <a:t>self</a:t>
            </a:r>
            <a:r>
              <a:rPr sz="625" i="0">
                <a:solidFill>
                  <a:srgbClr val="E6EDF3"/>
                </a:solidFill>
                <a:latin typeface="Inconsolata"/>
              </a:rPr>
              <a:t>.uow.orders.add(customer)</a:t>
            </a:r>
          </a:p>
          <a:p>
            <a:pPr>
              <a:lnSpc>
                <a:spcPct val="106667"/>
              </a:lnSpc>
              <a:spcAft>
                <a:spcPts val="0"/>
              </a:spcAft>
            </a:pPr>
            <a:r>
              <a:rPr sz="625" i="0">
                <a:solidFill>
                  <a:srgbClr val="E6EDF3"/>
                </a:solidFill>
                <a:latin typeface="Inconsolata"/>
              </a:rPr>
              <a:t>            </a:t>
            </a:r>
            <a:r>
              <a:rPr sz="625" i="0">
                <a:solidFill>
                  <a:srgbClr val="C3A6FF"/>
                </a:solidFill>
                <a:latin typeface="Inconsolata"/>
              </a:rPr>
              <a:t>self</a:t>
            </a:r>
            <a:r>
              <a:rPr sz="625" i="0">
                <a:solidFill>
                  <a:srgbClr val="E6EDF3"/>
                </a:solidFill>
                <a:latin typeface="Inconsolata"/>
              </a:rPr>
              <a:t>.uow.commit()  </a:t>
            </a:r>
            <a:r>
              <a:rPr sz="625" i="1">
                <a:solidFill>
                  <a:srgbClr val="8B98A8"/>
                </a:solidFill>
                <a:latin typeface="Inconsolata"/>
              </a:rPr>
              <a:t># satu commit untuk semua langkah</a:t>
            </a:r>
          </a:p>
        </p:txBody>
      </p:sp>
      <p:sp>
        <p:nvSpPr>
          <p:cNvPr id="29" name="Box 12"/>
          <p:cNvSpPr/>
          <p:nvPr/>
        </p:nvSpPr>
        <p:spPr>
          <a:xfrm>
            <a:off x="704088" y="2839720"/>
            <a:ext cx="47731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58384" y="2768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550920"/>
            <a:ext cx="47731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58384" y="3479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246120"/>
            <a:ext cx="47731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358384" y="3175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2534920"/>
            <a:ext cx="47731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358384" y="2463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3754119"/>
            <a:ext cx="47731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358384" y="3683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CodeBg 23"/>
          <p:cNvSpPr/>
          <p:nvPr/>
        </p:nvSpPr>
        <p:spPr>
          <a:xfrm>
            <a:off x="621792" y="4041648"/>
            <a:ext cx="4937760" cy="658368"/>
          </a:xfrm>
          <a:prstGeom prst="roundRect">
            <a:avLst>
              <a:gd name="adj" fmla="val 11111"/>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Code 24"/>
          <p:cNvSpPr txBox="1"/>
          <p:nvPr/>
        </p:nvSpPr>
        <p:spPr>
          <a:xfrm>
            <a:off x="621792" y="4041648"/>
            <a:ext cx="4937760" cy="658368"/>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 python after.py</a:t>
            </a:r>
          </a:p>
          <a:p>
            <a:pPr>
              <a:lnSpc>
                <a:spcPct val="104167"/>
              </a:lnSpc>
              <a:spcAft>
                <a:spcPts val="0"/>
              </a:spcAft>
            </a:pPr>
            <a:r>
              <a:rPr sz="800" i="0">
                <a:solidFill>
                  <a:srgbClr val="E6EDF3"/>
                </a:solidFill>
                <a:latin typeface="Inconsolata"/>
              </a:rPr>
              <a:t>Gagal: Stok Mouse tidak cukup</a:t>
            </a:r>
          </a:p>
          <a:p>
            <a:pPr>
              <a:lnSpc>
                <a:spcPct val="104167"/>
              </a:lnSpc>
              <a:spcAft>
                <a:spcPts val="0"/>
              </a:spcAft>
            </a:pPr>
            <a:r>
              <a:rPr sz="800" i="0">
                <a:solidFill>
                  <a:srgbClr val="E6EDF3"/>
                </a:solidFill>
                <a:latin typeface="Inconsolata"/>
              </a:rPr>
              <a:t>Stok Keyboard: 5</a:t>
            </a:r>
          </a:p>
        </p:txBody>
      </p:sp>
      <p:sp>
        <p:nvSpPr>
          <p:cNvPr id="41" name="Box 25"/>
          <p:cNvSpPr/>
          <p:nvPr/>
        </p:nvSpPr>
        <p:spPr>
          <a:xfrm>
            <a:off x="574243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2" name="Text 26"/>
          <p:cNvSpPr txBox="1"/>
          <p:nvPr/>
        </p:nvSpPr>
        <p:spPr>
          <a:xfrm>
            <a:off x="6071616" y="1463040"/>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with self.uow:</a:t>
            </a:r>
            <a:r>
              <a:rPr sz="850" b="0" i="0">
                <a:solidFill>
                  <a:srgbClr val="434343"/>
                </a:solidFill>
                <a:latin typeface="Inter"/>
              </a:rPr>
              <a:t> memanggil </a:t>
            </a:r>
            <a:r>
              <a:rPr sz="850" b="0" i="0">
                <a:solidFill>
                  <a:srgbClr val="B5482A"/>
                </a:solidFill>
                <a:latin typeface="Inconsolata"/>
              </a:rPr>
              <a:t>__enter__</a:t>
            </a:r>
            <a:r>
              <a:rPr sz="850" b="0" i="0">
                <a:solidFill>
                  <a:srgbClr val="434343"/>
                </a:solidFill>
                <a:latin typeface="Inter"/>
              </a:rPr>
              <a:t>: satu session, semua repository memakainya</a:t>
            </a:r>
          </a:p>
        </p:txBody>
      </p:sp>
      <p:sp>
        <p:nvSpPr>
          <p:cNvPr id="43" name="Box 27"/>
          <p:cNvSpPr/>
          <p:nvPr/>
        </p:nvSpPr>
        <p:spPr>
          <a:xfrm>
            <a:off x="574243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4" name="Text 28"/>
          <p:cNvSpPr txBox="1"/>
          <p:nvPr/>
        </p:nvSpPr>
        <p:spPr>
          <a:xfrm>
            <a:off x="6071616" y="2106777"/>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Stok Keyboard dikurangi di session, </a:t>
            </a:r>
            <a:r>
              <a:rPr sz="850" b="1" i="0">
                <a:solidFill>
                  <a:srgbClr val="434343"/>
                </a:solidFill>
                <a:latin typeface="Inter"/>
              </a:rPr>
              <a:t>belum</a:t>
            </a:r>
            <a:r>
              <a:rPr sz="850" b="0" i="0">
                <a:solidFill>
                  <a:srgbClr val="434343"/>
                </a:solidFill>
                <a:latin typeface="Inter"/>
              </a:rPr>
              <a:t> disimpan permanen</a:t>
            </a:r>
          </a:p>
        </p:txBody>
      </p:sp>
      <p:sp>
        <p:nvSpPr>
          <p:cNvPr id="45" name="Box 29"/>
          <p:cNvSpPr/>
          <p:nvPr/>
        </p:nvSpPr>
        <p:spPr>
          <a:xfrm>
            <a:off x="574243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6" name="Text 30"/>
          <p:cNvSpPr txBox="1"/>
          <p:nvPr/>
        </p:nvSpPr>
        <p:spPr>
          <a:xfrm>
            <a:off x="6071616" y="2750515"/>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Mouse cuma 1, diminta 3: error, jadi </a:t>
            </a:r>
            <a:r>
              <a:rPr sz="850" b="0" i="0">
                <a:solidFill>
                  <a:srgbClr val="B5482A"/>
                </a:solidFill>
                <a:latin typeface="Inconsolata"/>
              </a:rPr>
              <a:t>commit()</a:t>
            </a:r>
            <a:r>
              <a:rPr sz="850" b="0" i="0">
                <a:solidFill>
                  <a:srgbClr val="434343"/>
                </a:solidFill>
                <a:latin typeface="Inter"/>
              </a:rPr>
              <a:t> tidak pernah dipanggil</a:t>
            </a:r>
          </a:p>
        </p:txBody>
      </p:sp>
      <p:sp>
        <p:nvSpPr>
          <p:cNvPr id="47" name="Box 31"/>
          <p:cNvSpPr/>
          <p:nvPr/>
        </p:nvSpPr>
        <p:spPr>
          <a:xfrm>
            <a:off x="574243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8" name="Text 32"/>
          <p:cNvSpPr txBox="1"/>
          <p:nvPr/>
        </p:nvSpPr>
        <p:spPr>
          <a:xfrm>
            <a:off x="6071616" y="3394252"/>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Keluar dari </a:t>
            </a:r>
            <a:r>
              <a:rPr sz="850" b="0" i="0">
                <a:solidFill>
                  <a:srgbClr val="B5482A"/>
                </a:solidFill>
                <a:latin typeface="Inconsolata"/>
              </a:rPr>
              <a:t>with</a:t>
            </a:r>
            <a:r>
              <a:rPr sz="850" b="0" i="0">
                <a:solidFill>
                  <a:srgbClr val="434343"/>
                </a:solidFill>
                <a:latin typeface="Inter"/>
              </a:rPr>
              <a:t> memanggil </a:t>
            </a:r>
            <a:r>
              <a:rPr sz="850" b="0" i="0">
                <a:solidFill>
                  <a:srgbClr val="B5482A"/>
                </a:solidFill>
                <a:latin typeface="Inconsolata"/>
              </a:rPr>
              <a:t>__exit__</a:t>
            </a:r>
            <a:r>
              <a:rPr sz="850" b="0" i="0">
                <a:solidFill>
                  <a:srgbClr val="434343"/>
                </a:solidFill>
                <a:latin typeface="Inter"/>
              </a:rPr>
              <a:t>: rollback, stok Keyboard kembali 5</a:t>
            </a:r>
          </a:p>
        </p:txBody>
      </p:sp>
      <p:sp>
        <p:nvSpPr>
          <p:cNvPr id="49" name="Box 33"/>
          <p:cNvSpPr/>
          <p:nvPr/>
        </p:nvSpPr>
        <p:spPr>
          <a:xfrm>
            <a:off x="574243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50" name="Text 34"/>
          <p:cNvSpPr txBox="1"/>
          <p:nvPr/>
        </p:nvSpPr>
        <p:spPr>
          <a:xfrm>
            <a:off x="6071616" y="4037990"/>
            <a:ext cx="241401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Jika semua berhasil, satu </a:t>
            </a:r>
            <a:r>
              <a:rPr sz="850" b="0" i="0">
                <a:solidFill>
                  <a:srgbClr val="B5482A"/>
                </a:solidFill>
                <a:latin typeface="Inconsolata"/>
              </a:rPr>
              <a:t>commit()</a:t>
            </a:r>
            <a:r>
              <a:rPr sz="850" b="0" i="0">
                <a:solidFill>
                  <a:srgbClr val="434343"/>
                </a:solidFill>
                <a:latin typeface="Inter"/>
              </a:rPr>
              <a:t> menyimpan semua langkah sekaligus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70</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04</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Hands-on: API Modular dengan Transaksi</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bersama mentor, langkah demi langkah. Ditambah produk dan stok.</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Kondisi Awal</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Hasil Sesi 3: Domain Rapi, API Belum Modular</a:t>
            </a:r>
          </a:p>
        </p:txBody>
      </p:sp>
      <p:sp>
        <p:nvSpPr>
          <p:cNvPr id="22" name="CodeTab 4"/>
          <p:cNvSpPr/>
          <p:nvPr/>
        </p:nvSpPr>
        <p:spPr>
          <a:xfrm>
            <a:off x="621792" y="1481328"/>
            <a:ext cx="51206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805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09-modular-api/before/app</a:t>
            </a:r>
          </a:p>
        </p:txBody>
      </p:sp>
      <p:sp>
        <p:nvSpPr>
          <p:cNvPr id="27" name="CodeBg 10"/>
          <p:cNvSpPr/>
          <p:nvPr/>
        </p:nvSpPr>
        <p:spPr>
          <a:xfrm>
            <a:off x="621792" y="1719072"/>
            <a:ext cx="51206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120640" cy="2980944"/>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api/routes.py</a:t>
            </a:r>
          </a:p>
          <a:p>
            <a:pPr>
              <a:lnSpc>
                <a:spcPct val="111111"/>
              </a:lnSpc>
              <a:spcAft>
                <a:spcPts val="0"/>
              </a:spcAft>
            </a:pPr>
            <a:r>
              <a:rPr sz="750" i="0">
                <a:solidFill>
                  <a:srgbClr val="F9C97A"/>
                </a:solidFill>
                <a:latin typeface="Inconsolata"/>
              </a:rPr>
              <a:t>@router.post</a:t>
            </a:r>
            <a:r>
              <a:rPr sz="750" i="0">
                <a:solidFill>
                  <a:srgbClr val="E6EDF3"/>
                </a:solidFill>
                <a:latin typeface="Inconsolata"/>
              </a:rPr>
              <a:t>(</a:t>
            </a:r>
            <a:r>
              <a:rPr sz="750" i="0">
                <a:solidFill>
                  <a:srgbClr val="A5D6A7"/>
                </a:solidFill>
                <a:latin typeface="Inconsolata"/>
              </a:rPr>
              <a:t>"/{order_id}/pay"</a:t>
            </a: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pay_order</a:t>
            </a:r>
            <a:r>
              <a:rPr sz="750" i="0">
                <a:solidFill>
                  <a:srgbClr val="E6EDF3"/>
                </a:solidFill>
                <a:latin typeface="Inconsolata"/>
              </a:rPr>
              <a:t>(order_id: </a:t>
            </a:r>
            <a:r>
              <a:rPr sz="750" i="0">
                <a:solidFill>
                  <a:srgbClr val="C3A6FF"/>
                </a:solidFill>
                <a:latin typeface="Inconsolata"/>
              </a:rPr>
              <a:t>int</a:t>
            </a:r>
            <a:r>
              <a:rPr sz="750" i="0">
                <a:solidFill>
                  <a:srgbClr val="E6EDF3"/>
                </a:solidFill>
                <a:latin typeface="Inconsolata"/>
              </a:rPr>
              <a:t>, service: </a:t>
            </a:r>
            <a:r>
              <a:rPr sz="750" i="0">
                <a:solidFill>
                  <a:srgbClr val="7FDBCA"/>
                </a:solidFill>
                <a:latin typeface="Inconsolata"/>
              </a:rPr>
              <a:t>OrderService</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(get_order_service)):</a:t>
            </a:r>
          </a:p>
          <a:p>
            <a:pPr>
              <a:lnSpc>
                <a:spcPct val="111111"/>
              </a:lnSpc>
              <a:spcAft>
                <a:spcPts val="0"/>
              </a:spcAft>
            </a:pPr>
            <a:r>
              <a:rPr sz="750" i="0">
                <a:solidFill>
                  <a:srgbClr val="E6EDF3"/>
                </a:solidFill>
                <a:latin typeface="Inconsolata"/>
              </a:rPr>
              <a:t>    </a:t>
            </a:r>
            <a:r>
              <a:rPr sz="750" i="0">
                <a:solidFill>
                  <a:srgbClr val="FF8E6E"/>
                </a:solidFill>
                <a:latin typeface="Inconsolata"/>
              </a:rPr>
              <a:t>try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to_response(service.pay_order(order_id))</a:t>
            </a:r>
          </a:p>
          <a:p>
            <a:pPr>
              <a:lnSpc>
                <a:spcPct val="111111"/>
              </a:lnSpc>
              <a:spcAft>
                <a:spcPts val="0"/>
              </a:spcAft>
            </a:pPr>
            <a:r>
              <a:rPr sz="750" i="0">
                <a:solidFill>
                  <a:srgbClr val="E6EDF3"/>
                </a:solidFill>
                <a:latin typeface="Inconsolata"/>
              </a:rPr>
              <a:t>    </a:t>
            </a:r>
            <a:r>
              <a:rPr sz="750" i="0">
                <a:solidFill>
                  <a:srgbClr val="FF8E6E"/>
                </a:solidFill>
                <a:latin typeface="Inconsolata"/>
              </a:rPr>
              <a:t>except</a:t>
            </a:r>
            <a:r>
              <a:rPr sz="750" i="0">
                <a:solidFill>
                  <a:srgbClr val="E6EDF3"/>
                </a:solidFill>
                <a:latin typeface="Inconsolata"/>
              </a:rPr>
              <a:t> </a:t>
            </a:r>
            <a:r>
              <a:rPr sz="750" i="0">
                <a:solidFill>
                  <a:srgbClr val="7FDBCA"/>
                </a:solidFill>
                <a:latin typeface="Inconsolata"/>
              </a:rPr>
              <a:t>OrderNotFound</a:t>
            </a:r>
            <a:r>
              <a:rPr sz="750" i="0">
                <a:solidFill>
                  <a:srgbClr val="E6EDF3"/>
                </a:solidFill>
                <a:latin typeface="Inconsolata"/>
              </a:rPr>
              <a:t> </a:t>
            </a:r>
            <a:r>
              <a:rPr sz="750" i="0">
                <a:solidFill>
                  <a:srgbClr val="FF8E6E"/>
                </a:solidFill>
                <a:latin typeface="Inconsolata"/>
              </a:rPr>
              <a:t>as</a:t>
            </a:r>
            <a:r>
              <a:rPr sz="750" i="0">
                <a:solidFill>
                  <a:srgbClr val="E6EDF3"/>
                </a:solidFill>
                <a:latin typeface="Inconsolata"/>
              </a:rPr>
              <a:t> e:</a:t>
            </a:r>
          </a:p>
          <a:p>
            <a:pPr>
              <a:lnSpc>
                <a:spcPct val="111111"/>
              </a:lnSpc>
              <a:spcAft>
                <a:spcPts val="0"/>
              </a:spcAft>
            </a:pPr>
            <a:r>
              <a:rPr sz="750" i="0">
                <a:solidFill>
                  <a:srgbClr val="E6EDF3"/>
                </a:solidFill>
                <a:latin typeface="Inconsolata"/>
              </a:rPr>
              <a:t>        </a:t>
            </a:r>
            <a:r>
              <a:rPr sz="750" i="0">
                <a:solidFill>
                  <a:srgbClr val="FF8E6E"/>
                </a:solidFill>
                <a:latin typeface="Inconsolata"/>
              </a:rPr>
              <a:t>raise</a:t>
            </a:r>
            <a:r>
              <a:rPr sz="750" i="0">
                <a:solidFill>
                  <a:srgbClr val="E6EDF3"/>
                </a:solidFill>
                <a:latin typeface="Inconsolata"/>
              </a:rPr>
              <a:t> </a:t>
            </a:r>
            <a:r>
              <a:rPr sz="750" i="0">
                <a:solidFill>
                  <a:srgbClr val="7FDBCA"/>
                </a:solidFill>
                <a:latin typeface="Inconsolata"/>
              </a:rPr>
              <a:t>HTTPException</a:t>
            </a:r>
            <a:r>
              <a:rPr sz="750" i="0">
                <a:solidFill>
                  <a:srgbClr val="E6EDF3"/>
                </a:solidFill>
                <a:latin typeface="Inconsolata"/>
              </a:rPr>
              <a:t>(</a:t>
            </a:r>
            <a:r>
              <a:rPr sz="750" i="0">
                <a:solidFill>
                  <a:srgbClr val="F9C97A"/>
                </a:solidFill>
                <a:latin typeface="Inconsolata"/>
              </a:rPr>
              <a:t>404</a:t>
            </a:r>
            <a:r>
              <a:rPr sz="750" i="0">
                <a:solidFill>
                  <a:srgbClr val="E6EDF3"/>
                </a:solidFill>
                <a:latin typeface="Inconsolata"/>
              </a:rPr>
              <a:t>, </a:t>
            </a:r>
            <a:r>
              <a:rPr sz="750" i="0">
                <a:solidFill>
                  <a:srgbClr val="C3A6FF"/>
                </a:solidFill>
                <a:latin typeface="Inconsolata"/>
              </a:rPr>
              <a:t>str</a:t>
            </a:r>
            <a:r>
              <a:rPr sz="750" i="0">
                <a:solidFill>
                  <a:srgbClr val="E6EDF3"/>
                </a:solidFill>
                <a:latin typeface="Inconsolata"/>
              </a:rPr>
              <a:t>(e))</a:t>
            </a:r>
          </a:p>
          <a:p>
            <a:pPr>
              <a:lnSpc>
                <a:spcPct val="111111"/>
              </a:lnSpc>
              <a:spcAft>
                <a:spcPts val="0"/>
              </a:spcAft>
            </a:pPr>
            <a:r>
              <a:rPr sz="750" i="0">
                <a:solidFill>
                  <a:srgbClr val="E6EDF3"/>
                </a:solidFill>
                <a:latin typeface="Inconsolata"/>
              </a:rPr>
              <a:t>    </a:t>
            </a:r>
            <a:r>
              <a:rPr sz="750" i="0">
                <a:solidFill>
                  <a:srgbClr val="FF8E6E"/>
                </a:solidFill>
                <a:latin typeface="Inconsolata"/>
              </a:rPr>
              <a:t>except</a:t>
            </a:r>
            <a:r>
              <a:rPr sz="750" i="0">
                <a:solidFill>
                  <a:srgbClr val="E6EDF3"/>
                </a:solidFill>
                <a:latin typeface="Inconsolata"/>
              </a:rPr>
              <a:t> </a:t>
            </a:r>
            <a:r>
              <a:rPr sz="750" i="0">
                <a:solidFill>
                  <a:srgbClr val="7FDBCA"/>
                </a:solidFill>
                <a:latin typeface="Inconsolata"/>
              </a:rPr>
              <a:t>OrderCannotBeChanged</a:t>
            </a:r>
            <a:r>
              <a:rPr sz="750" i="0">
                <a:solidFill>
                  <a:srgbClr val="E6EDF3"/>
                </a:solidFill>
                <a:latin typeface="Inconsolata"/>
              </a:rPr>
              <a:t> </a:t>
            </a:r>
            <a:r>
              <a:rPr sz="750" i="0">
                <a:solidFill>
                  <a:srgbClr val="FF8E6E"/>
                </a:solidFill>
                <a:latin typeface="Inconsolata"/>
              </a:rPr>
              <a:t>as</a:t>
            </a:r>
            <a:r>
              <a:rPr sz="750" i="0">
                <a:solidFill>
                  <a:srgbClr val="E6EDF3"/>
                </a:solidFill>
                <a:latin typeface="Inconsolata"/>
              </a:rPr>
              <a:t> e:</a:t>
            </a:r>
          </a:p>
          <a:p>
            <a:pPr>
              <a:lnSpc>
                <a:spcPct val="111111"/>
              </a:lnSpc>
              <a:spcAft>
                <a:spcPts val="0"/>
              </a:spcAft>
            </a:pPr>
            <a:r>
              <a:rPr sz="750" i="0">
                <a:solidFill>
                  <a:srgbClr val="E6EDF3"/>
                </a:solidFill>
                <a:latin typeface="Inconsolata"/>
              </a:rPr>
              <a:t>        </a:t>
            </a:r>
            <a:r>
              <a:rPr sz="750" i="0">
                <a:solidFill>
                  <a:srgbClr val="FF8E6E"/>
                </a:solidFill>
                <a:latin typeface="Inconsolata"/>
              </a:rPr>
              <a:t>raise</a:t>
            </a:r>
            <a:r>
              <a:rPr sz="750" i="0">
                <a:solidFill>
                  <a:srgbClr val="E6EDF3"/>
                </a:solidFill>
                <a:latin typeface="Inconsolata"/>
              </a:rPr>
              <a:t> </a:t>
            </a:r>
            <a:r>
              <a:rPr sz="750" i="0">
                <a:solidFill>
                  <a:srgbClr val="7FDBCA"/>
                </a:solidFill>
                <a:latin typeface="Inconsolata"/>
              </a:rPr>
              <a:t>HTTPException</a:t>
            </a:r>
            <a:r>
              <a:rPr sz="750" i="0">
                <a:solidFill>
                  <a:srgbClr val="E6EDF3"/>
                </a:solidFill>
                <a:latin typeface="Inconsolata"/>
              </a:rPr>
              <a:t>(</a:t>
            </a:r>
            <a:r>
              <a:rPr sz="750" i="0">
                <a:solidFill>
                  <a:srgbClr val="F9C97A"/>
                </a:solidFill>
                <a:latin typeface="Inconsolata"/>
              </a:rPr>
              <a:t>409</a:t>
            </a:r>
            <a:r>
              <a:rPr sz="750" i="0">
                <a:solidFill>
                  <a:srgbClr val="E6EDF3"/>
                </a:solidFill>
                <a:latin typeface="Inconsolata"/>
              </a:rPr>
              <a:t>, </a:t>
            </a:r>
            <a:r>
              <a:rPr sz="750" i="0">
                <a:solidFill>
                  <a:srgbClr val="C3A6FF"/>
                </a:solidFill>
                <a:latin typeface="Inconsolata"/>
              </a:rPr>
              <a:t>str</a:t>
            </a:r>
            <a:r>
              <a:rPr sz="750" i="0">
                <a:solidFill>
                  <a:srgbClr val="E6EDF3"/>
                </a:solidFill>
                <a:latin typeface="Inconsolata"/>
              </a:rPr>
              <a:t>(e))</a:t>
            </a:r>
          </a:p>
          <a:p>
            <a:pPr>
              <a:lnSpc>
                <a:spcPct val="111111"/>
              </a:lnSpc>
              <a:spcAft>
                <a:spcPts val="0"/>
              </a:spcAft>
            </a:pPr>
            <a:r>
              <a:rPr sz="750" i="0">
                <a:solidFill>
                  <a:srgbClr val="E6EDF3"/>
                </a:solidFill>
                <a:latin typeface="Inconsolata"/>
              </a:rPr>
              <a:t> </a:t>
            </a:r>
          </a:p>
          <a:p>
            <a:pPr>
              <a:lnSpc>
                <a:spcPct val="111111"/>
              </a:lnSpc>
              <a:spcAft>
                <a:spcPts val="0"/>
              </a:spcAft>
            </a:pPr>
            <a:r>
              <a:rPr sz="750" i="1">
                <a:solidFill>
                  <a:srgbClr val="8B98A8"/>
                </a:solidFill>
                <a:latin typeface="Inconsolata"/>
              </a:rPr>
              <a:t># infrastructure/sqlite_repository.py</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SqliteOrderRepository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__init__</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path: </a:t>
            </a:r>
            <a:r>
              <a:rPr sz="750" i="0">
                <a:solidFill>
                  <a:srgbClr val="C3A6FF"/>
                </a:solidFill>
                <a:latin typeface="Inconsolata"/>
              </a:rPr>
              <a:t>str</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.conn = sqlite3.connect(path, check_same_thread=</a:t>
            </a:r>
            <a:r>
              <a:rPr sz="750" i="0">
                <a:solidFill>
                  <a:srgbClr val="FF8E6E"/>
                </a:solidFill>
                <a:latin typeface="Inconsolata"/>
              </a:rPr>
              <a:t>False</a:t>
            </a:r>
            <a:r>
              <a:rPr sz="750" i="0">
                <a:solidFill>
                  <a:srgbClr val="E6EDF3"/>
                </a:solidFill>
                <a:latin typeface="Inconsolata"/>
              </a:rPr>
              <a:t>)</a:t>
            </a:r>
          </a:p>
        </p:txBody>
      </p:sp>
      <p:sp>
        <p:nvSpPr>
          <p:cNvPr id="29" name="Box 12"/>
          <p:cNvSpPr/>
          <p:nvPr/>
        </p:nvSpPr>
        <p:spPr>
          <a:xfrm>
            <a:off x="704088" y="2208022"/>
            <a:ext cx="4956048" cy="754380"/>
          </a:xfrm>
          <a:prstGeom prst="roundRect">
            <a:avLst>
              <a:gd name="adj" fmla="val 6060"/>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541264" y="24663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478022"/>
            <a:ext cx="4956048"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541264" y="3418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5897879" y="1481328"/>
            <a:ext cx="2587752" cy="3218688"/>
          </a:xfrm>
          <a:prstGeom prst="roundRect">
            <a:avLst>
              <a:gd name="adj" fmla="val 424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035040" y="1572768"/>
            <a:ext cx="231343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5" name="Text 18"/>
          <p:cNvSpPr txBox="1"/>
          <p:nvPr/>
        </p:nvSpPr>
        <p:spPr>
          <a:xfrm>
            <a:off x="6035040" y="1892808"/>
            <a:ext cx="231343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Try/except yang sama diulang di setiap route, format error </a:t>
            </a:r>
            <a:r>
              <a:rPr sz="950" b="0" i="0">
                <a:solidFill>
                  <a:srgbClr val="B5482A"/>
                </a:solidFill>
                <a:latin typeface="Inconsolata"/>
              </a:rPr>
              <a:t>{"detail": ...}</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Masih </a:t>
            </a:r>
            <a:r>
              <a:rPr sz="950" b="0" i="0">
                <a:solidFill>
                  <a:srgbClr val="B5482A"/>
                </a:solidFill>
                <a:latin typeface="Inconsolata"/>
              </a:rPr>
              <a:t>sqlite3</a:t>
            </a:r>
            <a:r>
              <a:rPr sz="950" b="0" i="0">
                <a:solidFill>
                  <a:srgbClr val="434343"/>
                </a:solidFill>
                <a:latin typeface="Inter"/>
              </a:rPr>
              <a:t> manual, dan repository commit sendiri</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Belum ada produk dan stok: order masih mengirim nama dan harga barang sendiri</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Kode inilah yang kita kembangkan di hands-on.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mulai dari 09-modular-api/before/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Tujuan &amp; Kriteria Selesai</a:t>
            </a:r>
          </a:p>
        </p:txBody>
      </p:sp>
      <p:sp>
        <p:nvSpPr>
          <p:cNvPr id="22" name="Box 3"/>
          <p:cNvSpPr/>
          <p:nvPr/>
        </p:nvSpPr>
        <p:spPr>
          <a:xfrm>
            <a:off x="621792" y="1481328"/>
            <a:ext cx="3840480" cy="3218688"/>
          </a:xfrm>
          <a:prstGeom prst="roundRect">
            <a:avLst>
              <a:gd name="adj" fmla="val 3409"/>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566160" cy="310896"/>
          </a:xfrm>
          <a:prstGeom prst="rect">
            <a:avLst/>
          </a:prstGeom>
          <a:noFill/>
        </p:spPr>
        <p:txBody>
          <a:bodyPr wrap="square" lIns="45720" rIns="45720" anchor="t">
            <a:spAutoFit/>
          </a:bodyPr>
          <a:lstStyle/>
          <a:p>
            <a:pPr algn="l">
              <a:lnSpc>
                <a:spcPct val="115000"/>
              </a:lnSpc>
              <a:spcAft>
                <a:spcPts val="400"/>
              </a:spcAft>
            </a:pPr>
            <a:r>
              <a:rPr sz="1100" b="1" i="0">
                <a:solidFill>
                  <a:srgbClr val="1C4587"/>
                </a:solidFill>
                <a:latin typeface="Inter"/>
              </a:rPr>
              <a:t>Kriteria selesai</a:t>
            </a:r>
          </a:p>
        </p:txBody>
      </p:sp>
      <p:sp>
        <p:nvSpPr>
          <p:cNvPr id="24" name="Text 5"/>
          <p:cNvSpPr txBox="1"/>
          <p:nvPr/>
        </p:nvSpPr>
        <p:spPr>
          <a:xfrm>
            <a:off x="758952" y="1892808"/>
            <a:ext cx="356616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Endpoint di </a:t>
            </a:r>
            <a:r>
              <a:rPr sz="950" b="0" i="0">
                <a:solidFill>
                  <a:srgbClr val="B5482A"/>
                </a:solidFill>
                <a:latin typeface="Inconsolata"/>
              </a:rPr>
              <a:t>api/routers/</a:t>
            </a:r>
            <a:r>
              <a:rPr sz="950" b="0" i="0">
                <a:solidFill>
                  <a:srgbClr val="434343"/>
                </a:solidFill>
                <a:latin typeface="Inter"/>
              </a:rPr>
              <a:t>, schema di </a:t>
            </a:r>
            <a:r>
              <a:rPr sz="950" b="0" i="0">
                <a:solidFill>
                  <a:srgbClr val="B5482A"/>
                </a:solidFill>
                <a:latin typeface="Inconsolata"/>
              </a:rPr>
              <a:t>api/schemas.py</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Repository SQLAlchemy, tidak commit sendiri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Buat order mengurangi stok semua item dalam satu Unit of Work</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Satu item stok kurang = tidak ada yang berubah</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Cancel order mengembalikan stok</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Format error seragam, header </a:t>
            </a:r>
            <a:r>
              <a:rPr sz="950" b="0" i="0">
                <a:solidFill>
                  <a:srgbClr val="B5482A"/>
                </a:solidFill>
                <a:latin typeface="Inconsolata"/>
              </a:rPr>
              <a:t>X-Process-Time</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/docs</a:t>
            </a:r>
            <a:r>
              <a:rPr sz="950" b="0" i="0">
                <a:solidFill>
                  <a:srgbClr val="434343"/>
                </a:solidFill>
                <a:latin typeface="Inter"/>
              </a:rPr>
              <a:t> lengkap, </a:t>
            </a:r>
            <a:r>
              <a:rPr sz="950" b="0" i="0">
                <a:solidFill>
                  <a:srgbClr val="B5482A"/>
                </a:solidFill>
                <a:latin typeface="Inconsolata"/>
              </a:rPr>
              <a:t>pytest</a:t>
            </a:r>
            <a:r>
              <a:rPr sz="950" b="0" i="0">
                <a:solidFill>
                  <a:srgbClr val="434343"/>
                </a:solidFill>
                <a:latin typeface="Inter"/>
              </a:rPr>
              <a:t> hijau</a:t>
            </a:r>
          </a:p>
        </p:txBody>
      </p:sp>
      <p:sp>
        <p:nvSpPr>
          <p:cNvPr id="25" name="CodeTab 7"/>
          <p:cNvSpPr/>
          <p:nvPr/>
        </p:nvSpPr>
        <p:spPr>
          <a:xfrm>
            <a:off x="4617720" y="1481328"/>
            <a:ext cx="386791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Dot 8"/>
          <p:cNvSpPr/>
          <p:nvPr/>
        </p:nvSpPr>
        <p:spPr>
          <a:xfrm>
            <a:off x="472744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t 9"/>
          <p:cNvSpPr/>
          <p:nvPr/>
        </p:nvSpPr>
        <p:spPr>
          <a:xfrm>
            <a:off x="486460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t 10"/>
          <p:cNvSpPr/>
          <p:nvPr/>
        </p:nvSpPr>
        <p:spPr>
          <a:xfrm>
            <a:off x="500176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11"/>
          <p:cNvSpPr txBox="1"/>
          <p:nvPr/>
        </p:nvSpPr>
        <p:spPr>
          <a:xfrm>
            <a:off x="5166359" y="1490472"/>
            <a:ext cx="322783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target struktur</a:t>
            </a:r>
          </a:p>
        </p:txBody>
      </p:sp>
      <p:sp>
        <p:nvSpPr>
          <p:cNvPr id="30" name="CodeBg 13"/>
          <p:cNvSpPr/>
          <p:nvPr/>
        </p:nvSpPr>
        <p:spPr>
          <a:xfrm>
            <a:off x="4617720" y="1719072"/>
            <a:ext cx="386791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 14"/>
          <p:cNvSpPr txBox="1"/>
          <p:nvPr/>
        </p:nvSpPr>
        <p:spPr>
          <a:xfrm>
            <a:off x="4617720" y="1719072"/>
            <a:ext cx="3867912" cy="2980944"/>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latihan/</a:t>
            </a:r>
          </a:p>
          <a:p>
            <a:pPr>
              <a:lnSpc>
                <a:spcPct val="107843"/>
              </a:lnSpc>
              <a:spcAft>
                <a:spcPts val="0"/>
              </a:spcAft>
            </a:pPr>
            <a:r>
              <a:rPr sz="850" i="0">
                <a:solidFill>
                  <a:srgbClr val="E6EDF3"/>
                </a:solidFill>
                <a:latin typeface="Inconsolata"/>
              </a:rPr>
              <a:t>  app/</a:t>
            </a:r>
          </a:p>
          <a:p>
            <a:pPr>
              <a:lnSpc>
                <a:spcPct val="107843"/>
              </a:lnSpc>
              <a:spcAft>
                <a:spcPts val="0"/>
              </a:spcAft>
            </a:pPr>
            <a:r>
              <a:rPr sz="850" i="0">
                <a:solidFill>
                  <a:srgbClr val="E6EDF3"/>
                </a:solidFill>
                <a:latin typeface="Inconsolata"/>
              </a:rPr>
              <a:t>    domain/          # langkah 2</a:t>
            </a:r>
          </a:p>
          <a:p>
            <a:pPr>
              <a:lnSpc>
                <a:spcPct val="107843"/>
              </a:lnSpc>
              <a:spcAft>
                <a:spcPts val="0"/>
              </a:spcAft>
            </a:pPr>
            <a:r>
              <a:rPr sz="850" i="0">
                <a:solidFill>
                  <a:srgbClr val="E6EDF3"/>
                </a:solidFill>
                <a:latin typeface="Inconsolata"/>
              </a:rPr>
              <a:t>    infrastructure/  # langkah 3-5</a:t>
            </a:r>
          </a:p>
          <a:p>
            <a:pPr>
              <a:lnSpc>
                <a:spcPct val="107843"/>
              </a:lnSpc>
              <a:spcAft>
                <a:spcPts val="0"/>
              </a:spcAft>
            </a:pPr>
            <a:r>
              <a:rPr sz="850" i="0">
                <a:solidFill>
                  <a:srgbClr val="E6EDF3"/>
                </a:solidFill>
                <a:latin typeface="Inconsolata"/>
              </a:rPr>
              <a:t>    application/     # langkah 5-6</a:t>
            </a:r>
          </a:p>
          <a:p>
            <a:pPr>
              <a:lnSpc>
                <a:spcPct val="107843"/>
              </a:lnSpc>
              <a:spcAft>
                <a:spcPts val="0"/>
              </a:spcAft>
            </a:pPr>
            <a:r>
              <a:rPr sz="850" i="0">
                <a:solidFill>
                  <a:srgbClr val="E6EDF3"/>
                </a:solidFill>
                <a:latin typeface="Inconsolata"/>
              </a:rPr>
              <a:t>    api/</a:t>
            </a:r>
          </a:p>
          <a:p>
            <a:pPr>
              <a:lnSpc>
                <a:spcPct val="107843"/>
              </a:lnSpc>
              <a:spcAft>
                <a:spcPts val="0"/>
              </a:spcAft>
            </a:pPr>
            <a:r>
              <a:rPr sz="850" i="0">
                <a:solidFill>
                  <a:srgbClr val="E6EDF3"/>
                </a:solidFill>
                <a:latin typeface="Inconsolata"/>
              </a:rPr>
              <a:t>      schemas.py     # langkah 7</a:t>
            </a:r>
          </a:p>
          <a:p>
            <a:pPr>
              <a:lnSpc>
                <a:spcPct val="107843"/>
              </a:lnSpc>
              <a:spcAft>
                <a:spcPts val="0"/>
              </a:spcAft>
            </a:pPr>
            <a:r>
              <a:rPr sz="850" i="0">
                <a:solidFill>
                  <a:srgbClr val="E6EDF3"/>
                </a:solidFill>
                <a:latin typeface="Inconsolata"/>
              </a:rPr>
              <a:t>      routers/       # langkah 8</a:t>
            </a:r>
          </a:p>
          <a:p>
            <a:pPr>
              <a:lnSpc>
                <a:spcPct val="107843"/>
              </a:lnSpc>
              <a:spcAft>
                <a:spcPts val="0"/>
              </a:spcAft>
            </a:pPr>
            <a:r>
              <a:rPr sz="850" i="0">
                <a:solidFill>
                  <a:srgbClr val="E6EDF3"/>
                </a:solidFill>
                <a:latin typeface="Inconsolata"/>
              </a:rPr>
              <a:t>      errors.py      # langkah 9</a:t>
            </a:r>
          </a:p>
          <a:p>
            <a:pPr>
              <a:lnSpc>
                <a:spcPct val="107843"/>
              </a:lnSpc>
              <a:spcAft>
                <a:spcPts val="0"/>
              </a:spcAft>
            </a:pPr>
            <a:r>
              <a:rPr sz="850" i="0">
                <a:solidFill>
                  <a:srgbClr val="E6EDF3"/>
                </a:solidFill>
                <a:latin typeface="Inconsolata"/>
              </a:rPr>
              <a:t>      middleware.py  # langkah 10</a:t>
            </a:r>
          </a:p>
          <a:p>
            <a:pPr>
              <a:lnSpc>
                <a:spcPct val="107843"/>
              </a:lnSpc>
              <a:spcAft>
                <a:spcPts val="0"/>
              </a:spcAft>
            </a:pPr>
            <a:r>
              <a:rPr sz="850" i="0">
                <a:solidFill>
                  <a:srgbClr val="E6EDF3"/>
                </a:solidFill>
                <a:latin typeface="Inconsolata"/>
              </a:rPr>
              <a:t>    main.py          # langkah 10</a:t>
            </a:r>
          </a:p>
          <a:p>
            <a:pPr>
              <a:lnSpc>
                <a:spcPct val="107843"/>
              </a:lnSpc>
              <a:spcAft>
                <a:spcPts val="0"/>
              </a:spcAft>
            </a:pPr>
            <a:r>
              <a:rPr sz="850" i="0">
                <a:solidFill>
                  <a:srgbClr val="E6EDF3"/>
                </a:solidFill>
                <a:latin typeface="Inconsolata"/>
              </a:rPr>
              <a:t>  tests/             # langkah 11</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Siapkan Folder Latihan &amp; Jalankan Kode Awal</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4167"/>
              </a:lnSpc>
              <a:spcAft>
                <a:spcPts val="0"/>
              </a:spcAft>
            </a:pPr>
            <a:r>
              <a:rPr sz="800" i="0">
                <a:solidFill>
                  <a:srgbClr val="82B1FF"/>
                </a:solidFill>
                <a:latin typeface="Inconsolata"/>
              </a:rPr>
              <a:t>$ cd sesi-04-modular-fastapi-orm-transactions/09-modular-api</a:t>
            </a:r>
          </a:p>
          <a:p>
            <a:pPr>
              <a:lnSpc>
                <a:spcPct val="104167"/>
              </a:lnSpc>
              <a:spcAft>
                <a:spcPts val="0"/>
              </a:spcAft>
            </a:pPr>
            <a:r>
              <a:rPr sz="800" i="0">
                <a:solidFill>
                  <a:srgbClr val="82B1FF"/>
                </a:solidFill>
                <a:latin typeface="Inconsolata"/>
              </a:rPr>
              <a:t>$ pip install -r ../requirements.txt</a:t>
            </a:r>
          </a:p>
          <a:p>
            <a:pPr>
              <a:lnSpc>
                <a:spcPct val="104167"/>
              </a:lnSpc>
              <a:spcAft>
                <a:spcPts val="0"/>
              </a:spcAft>
            </a:pPr>
            <a:r>
              <a:rPr sz="800" i="0">
                <a:solidFill>
                  <a:srgbClr val="82B1FF"/>
                </a:solidFill>
                <a:latin typeface="Inconsolata"/>
              </a:rPr>
              <a:t>$ cp -r before latihan</a:t>
            </a:r>
          </a:p>
          <a:p>
            <a:pPr>
              <a:lnSpc>
                <a:spcPct val="104167"/>
              </a:lnSpc>
              <a:spcAft>
                <a:spcPts val="0"/>
              </a:spcAft>
            </a:pPr>
            <a:r>
              <a:rPr sz="800" i="0">
                <a:solidFill>
                  <a:srgbClr val="82B1FF"/>
                </a:solidFill>
                <a:latin typeface="Inconsolata"/>
              </a:rPr>
              <a:t>$ cd latihan</a:t>
            </a:r>
          </a:p>
          <a:p>
            <a:pPr>
              <a:lnSpc>
                <a:spcPct val="104167"/>
              </a:lnSpc>
              <a:spcAft>
                <a:spcPts val="0"/>
              </a:spcAft>
            </a:pPr>
            <a:r>
              <a:rPr sz="800" i="0">
                <a:solidFill>
                  <a:srgbClr val="82B1FF"/>
                </a:solidFill>
                <a:latin typeface="Inconsolata"/>
              </a:rPr>
              <a:t>$ uvicorn app.main:app --reload</a:t>
            </a:r>
          </a:p>
          <a:p>
            <a:pPr>
              <a:lnSpc>
                <a:spcPct val="104167"/>
              </a:lnSpc>
              <a:spcAft>
                <a:spcPts val="0"/>
              </a:spcAft>
            </a:pPr>
            <a:endParaRPr sz="800" i="0">
              <a:solidFill>
                <a:srgbClr val="82B1FF"/>
              </a:solidFill>
              <a:latin typeface="Inconsolata"/>
            </a:endParaRPr>
          </a:p>
          <a:p>
            <a:pPr>
              <a:lnSpc>
                <a:spcPct val="104167"/>
              </a:lnSpc>
              <a:spcAft>
                <a:spcPts val="0"/>
              </a:spcAft>
            </a:pPr>
            <a:r>
              <a:rPr sz="800" i="1">
                <a:solidFill>
                  <a:srgbClr val="8B98A8"/>
                </a:solidFill>
                <a:latin typeface="Inconsolata"/>
              </a:rPr>
              <a:t># buka http://127.0.0.1:8000/docs</a:t>
            </a:r>
          </a:p>
          <a:p>
            <a:pPr>
              <a:lnSpc>
                <a:spcPct val="104167"/>
              </a:lnSpc>
              <a:spcAft>
                <a:spcPts val="0"/>
              </a:spcAft>
            </a:pPr>
            <a:r>
              <a:rPr sz="800" i="1">
                <a:solidFill>
                  <a:srgbClr val="8B98A8"/>
                </a:solidFill>
                <a:latin typeface="Inconsolata"/>
              </a:rPr>
              <a:t># POST /orders -&gt; Try it out -&gt; isi body:</a:t>
            </a:r>
          </a:p>
          <a:p>
            <a:pPr>
              <a:lnSpc>
                <a:spcPct val="104167"/>
              </a:lnSpc>
              <a:spcAft>
                <a:spcPts val="0"/>
              </a:spcAft>
            </a:pPr>
            <a:r>
              <a:rPr sz="800" i="0">
                <a:solidFill>
                  <a:srgbClr val="E6EDF3"/>
                </a:solidFill>
                <a:latin typeface="Inconsolata"/>
              </a:rPr>
              <a:t>{</a:t>
            </a:r>
          </a:p>
          <a:p>
            <a:pPr>
              <a:lnSpc>
                <a:spcPct val="104167"/>
              </a:lnSpc>
              <a:spcAft>
                <a:spcPts val="0"/>
              </a:spcAft>
            </a:pPr>
            <a:r>
              <a:rPr sz="800" i="0">
                <a:solidFill>
                  <a:srgbClr val="E6EDF3"/>
                </a:solidFill>
                <a:latin typeface="Inconsolata"/>
              </a:rPr>
              <a:t>  "customer": "budi@mail.com",</a:t>
            </a:r>
          </a:p>
          <a:p>
            <a:pPr>
              <a:lnSpc>
                <a:spcPct val="104167"/>
              </a:lnSpc>
              <a:spcAft>
                <a:spcPts val="0"/>
              </a:spcAft>
            </a:pPr>
            <a:r>
              <a:rPr sz="800" i="0">
                <a:solidFill>
                  <a:srgbClr val="E6EDF3"/>
                </a:solidFill>
                <a:latin typeface="Inconsolata"/>
              </a:rPr>
              <a:t>  "customer_type": "vip",</a:t>
            </a:r>
          </a:p>
          <a:p>
            <a:pPr>
              <a:lnSpc>
                <a:spcPct val="104167"/>
              </a:lnSpc>
              <a:spcAft>
                <a:spcPts val="0"/>
              </a:spcAft>
            </a:pPr>
            <a:r>
              <a:rPr sz="800" i="0">
                <a:solidFill>
                  <a:srgbClr val="E6EDF3"/>
                </a:solidFill>
                <a:latin typeface="Inconsolata"/>
              </a:rPr>
              <a:t>  "items": [{"name": "Keyboard", "price": 500000, "qty": 2}]</a:t>
            </a:r>
          </a:p>
          <a:p>
            <a:pPr>
              <a:lnSpc>
                <a:spcPct val="104167"/>
              </a:lnSpc>
              <a:spcAft>
                <a:spcPts val="0"/>
              </a:spcAft>
            </a:pPr>
            <a:r>
              <a:rPr sz="800" i="0">
                <a:solidFill>
                  <a:srgbClr val="E6EDF3"/>
                </a:solidFill>
                <a:latin typeface="Inconsolata"/>
              </a:rPr>
              <a:t>}</a:t>
            </a:r>
          </a:p>
        </p:txBody>
      </p:sp>
      <p:sp>
        <p:nvSpPr>
          <p:cNvPr id="29" name="Box 12"/>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Text 13"/>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1" name="Text 14"/>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Install dependency (SQLAlchemy sudah ada di </a:t>
            </a:r>
            <a:r>
              <a:rPr sz="900" b="0" i="0">
                <a:solidFill>
                  <a:srgbClr val="B5482A"/>
                </a:solidFill>
                <a:latin typeface="Inconsolata"/>
              </a:rPr>
              <a:t>requirements.txt</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Salin </a:t>
            </a:r>
            <a:r>
              <a:rPr sz="900" b="0" i="0">
                <a:solidFill>
                  <a:srgbClr val="B5482A"/>
                </a:solidFill>
                <a:latin typeface="Inconsolata"/>
              </a:rPr>
              <a:t>before/</a:t>
            </a:r>
            <a:r>
              <a:rPr sz="900" b="0" i="0">
                <a:solidFill>
                  <a:srgbClr val="434343"/>
                </a:solidFill>
                <a:latin typeface="Inter"/>
              </a:rPr>
              <a:t> jadi </a:t>
            </a:r>
            <a:r>
              <a:rPr sz="900" b="0" i="0">
                <a:solidFill>
                  <a:srgbClr val="B5482A"/>
                </a:solidFill>
                <a:latin typeface="Inconsolata"/>
              </a:rPr>
              <a:t>latihan/</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Jalankan aplikasi, kirim </a:t>
            </a:r>
            <a:r>
              <a:rPr sz="900" b="0" i="0">
                <a:solidFill>
                  <a:srgbClr val="B5482A"/>
                </a:solidFill>
                <a:latin typeface="Inconsolata"/>
              </a:rPr>
              <a:t>POST /orders</a:t>
            </a:r>
            <a:r>
              <a:rPr sz="900" b="0" i="0">
                <a:solidFill>
                  <a:srgbClr val="434343"/>
                </a:solidFill>
                <a:latin typeface="Inter"/>
              </a:rPr>
              <a:t>, dan perhatikan bodynya. Nama dan harga barang masih dikirim client</a:t>
            </a:r>
          </a:p>
        </p:txBody>
      </p:sp>
      <p:sp>
        <p:nvSpPr>
          <p:cNvPr id="32" name="Box 15"/>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Text 16"/>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4" name="Text 17"/>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Response 201 dengan </a:t>
            </a:r>
            <a:r>
              <a:rPr sz="900" b="0" i="0">
                <a:solidFill>
                  <a:srgbClr val="B5482A"/>
                </a:solidFill>
                <a:latin typeface="Inconsolata"/>
              </a:rPr>
              <a:t>"total": 900000</a:t>
            </a:r>
            <a:r>
              <a:rPr sz="900" b="0" i="0">
                <a:solidFill>
                  <a:srgbClr val="434343"/>
                </a:solidFill>
                <a:latin typeface="Inter"/>
              </a:rPr>
              <a: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Response dari Kode Awal</a:t>
            </a:r>
          </a:p>
        </p:txBody>
      </p:sp>
      <p:pic>
        <p:nvPicPr>
          <p:cNvPr id="22" name="Image 3" descr="s04-before-post.png"/>
          <p:cNvPicPr>
            <a:picLocks noChangeAspect="1"/>
          </p:cNvPicPr>
          <p:nvPr/>
        </p:nvPicPr>
        <p:blipFill>
          <a:blip r:embed="rId2"/>
          <a:stretch>
            <a:fillRect/>
          </a:stretch>
        </p:blipFill>
        <p:spPr>
          <a:xfrm>
            <a:off x="621792" y="1481328"/>
            <a:ext cx="2225890" cy="3218688"/>
          </a:xfrm>
          <a:prstGeom prst="rect">
            <a:avLst/>
          </a:prstGeom>
          <a:ln w="9525">
            <a:solidFill>
              <a:srgbClr val="D0D5DD"/>
            </a:solidFill>
          </a:ln>
        </p:spPr>
      </p:pic>
      <p:sp>
        <p:nvSpPr>
          <p:cNvPr id="23" name="Text 4"/>
          <p:cNvSpPr txBox="1"/>
          <p:nvPr/>
        </p:nvSpPr>
        <p:spPr>
          <a:xfrm>
            <a:off x="2971800" y="1481328"/>
            <a:ext cx="3017520" cy="320040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Yang perlu diubah</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Client menentukan harga sendiri lewat </a:t>
            </a:r>
            <a:r>
              <a:rPr sz="950" b="0" i="0">
                <a:solidFill>
                  <a:srgbClr val="B5482A"/>
                </a:solidFill>
                <a:latin typeface="Inconsolata"/>
              </a:rPr>
              <a:t>price</a:t>
            </a:r>
            <a:r>
              <a:rPr sz="950" b="0" i="0">
                <a:solidFill>
                  <a:srgbClr val="434343"/>
                </a:solidFill>
                <a:latin typeface="Inter"/>
              </a:rPr>
              <a:t>. Harga seharusnya diambil dari data </a:t>
            </a:r>
            <a:r>
              <a:rPr sz="950" b="1" i="0">
                <a:solidFill>
                  <a:srgbClr val="434343"/>
                </a:solidFill>
                <a:latin typeface="Inter"/>
              </a:rPr>
              <a:t>produk</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Belum ada stok</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Error masih </a:t>
            </a:r>
            <a:r>
              <a:rPr sz="950" b="0" i="0">
                <a:solidFill>
                  <a:srgbClr val="B5482A"/>
                </a:solidFill>
                <a:latin typeface="Inconsolata"/>
              </a:rPr>
              <a:t>{"detail": ...}</a:t>
            </a:r>
          </a:p>
        </p:txBody>
      </p:sp>
      <p:sp>
        <p:nvSpPr>
          <p:cNvPr id="24" name="Box 5"/>
          <p:cNvSpPr/>
          <p:nvPr/>
        </p:nvSpPr>
        <p:spPr>
          <a:xfrm>
            <a:off x="6126480" y="1481328"/>
            <a:ext cx="2359152" cy="3218688"/>
          </a:xfrm>
          <a:prstGeom prst="roundRect">
            <a:avLst>
              <a:gd name="adj" fmla="val 4651"/>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6263640" y="1572768"/>
            <a:ext cx="208483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Setelah hands-on</a:t>
            </a:r>
          </a:p>
        </p:txBody>
      </p:sp>
      <p:sp>
        <p:nvSpPr>
          <p:cNvPr id="26" name="Text 7"/>
          <p:cNvSpPr txBox="1"/>
          <p:nvPr/>
        </p:nvSpPr>
        <p:spPr>
          <a:xfrm>
            <a:off x="6263640" y="1892808"/>
            <a:ext cx="2084832" cy="2715768"/>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Request order cukup berisi:</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product_id</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qty</a:t>
            </a:r>
          </a:p>
          <a:p>
            <a:pPr algn="l">
              <a:lnSpc>
                <a:spcPct val="115000"/>
              </a:lnSpc>
              <a:spcAft>
                <a:spcPts val="0"/>
              </a:spcAft>
            </a:pPr>
            <a:endParaRPr sz="950" b="0" i="0">
              <a:solidFill>
                <a:srgbClr val="B5482A"/>
              </a:solidFill>
              <a:latin typeface="Inconsolata"/>
            </a:endParaRPr>
          </a:p>
          <a:p>
            <a:pPr algn="l">
              <a:lnSpc>
                <a:spcPct val="115000"/>
              </a:lnSpc>
              <a:spcAft>
                <a:spcPts val="400"/>
              </a:spcAft>
            </a:pPr>
            <a:r>
              <a:rPr sz="950" b="0" i="0">
                <a:solidFill>
                  <a:srgbClr val="434343"/>
                </a:solidFill>
                <a:latin typeface="Inter"/>
              </a:rPr>
              <a:t>Harga dan nama diambil dari tabel produk, stok berkurang otomatis.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2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domain/: Error Domain dan Product</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app/domain/errors.py  +  product.py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143"/>
              </a:lnSpc>
              <a:spcAft>
                <a:spcPts val="0"/>
              </a:spcAft>
            </a:pPr>
            <a:r>
              <a:rPr sz="700" i="1">
                <a:solidFill>
                  <a:srgbClr val="8B98A8"/>
                </a:solidFill>
                <a:latin typeface="Inconsolata"/>
              </a:rPr>
              <a:t># app/domain/errors.py</a:t>
            </a:r>
          </a:p>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DomainError</a:t>
            </a:r>
            <a:r>
              <a:rPr sz="700" i="0">
                <a:solidFill>
                  <a:srgbClr val="E6EDF3"/>
                </a:solidFill>
                <a:latin typeface="Inconsolata"/>
              </a:rPr>
              <a:t>(</a:t>
            </a:r>
            <a:r>
              <a:rPr sz="700" i="0">
                <a:solidFill>
                  <a:srgbClr val="7FDBCA"/>
                </a:solidFill>
                <a:latin typeface="Inconsolata"/>
              </a:rPr>
              <a:t>Exception</a:t>
            </a:r>
            <a:r>
              <a:rPr sz="700" i="0">
                <a:solidFill>
                  <a:srgbClr val="E6EDF3"/>
                </a:solidFill>
                <a:latin typeface="Inconsolata"/>
              </a:rPr>
              <a:t>):</a:t>
            </a:r>
          </a:p>
          <a:p>
            <a:pPr>
              <a:lnSpc>
                <a:spcPct val="107143"/>
              </a:lnSpc>
              <a:spcAft>
                <a:spcPts val="0"/>
              </a:spcAft>
            </a:pPr>
            <a:r>
              <a:rPr sz="700" i="0">
                <a:solidFill>
                  <a:srgbClr val="E6EDF3"/>
                </a:solidFill>
                <a:latin typeface="Inconsolata"/>
              </a:rPr>
              <a:t>    code = </a:t>
            </a:r>
            <a:r>
              <a:rPr sz="700" i="0">
                <a:solidFill>
                  <a:srgbClr val="A5D6A7"/>
                </a:solidFill>
                <a:latin typeface="Inconsolata"/>
              </a:rPr>
              <a:t>"domain_error"</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OrderCannotBeChanged</a:t>
            </a:r>
            <a:r>
              <a:rPr sz="700" i="0">
                <a:solidFill>
                  <a:srgbClr val="E6EDF3"/>
                </a:solidFill>
                <a:latin typeface="Inconsolata"/>
              </a:rPr>
              <a:t>(</a:t>
            </a:r>
            <a:r>
              <a:rPr sz="700" i="0">
                <a:solidFill>
                  <a:srgbClr val="7FDBCA"/>
                </a:solidFill>
                <a:latin typeface="Inconsolata"/>
              </a:rPr>
              <a:t>DomainError</a:t>
            </a:r>
            <a:r>
              <a:rPr sz="700" i="0">
                <a:solidFill>
                  <a:srgbClr val="E6EDF3"/>
                </a:solidFill>
                <a:latin typeface="Inconsolata"/>
              </a:rPr>
              <a:t>):</a:t>
            </a:r>
          </a:p>
          <a:p>
            <a:pPr>
              <a:lnSpc>
                <a:spcPct val="107143"/>
              </a:lnSpc>
              <a:spcAft>
                <a:spcPts val="0"/>
              </a:spcAft>
            </a:pPr>
            <a:r>
              <a:rPr sz="700" i="0">
                <a:solidFill>
                  <a:srgbClr val="E6EDF3"/>
                </a:solidFill>
                <a:latin typeface="Inconsolata"/>
              </a:rPr>
              <a:t>    code = </a:t>
            </a:r>
            <a:r>
              <a:rPr sz="700" i="0">
                <a:solidFill>
                  <a:srgbClr val="A5D6A7"/>
                </a:solidFill>
                <a:latin typeface="Inconsolata"/>
              </a:rPr>
              <a:t>"order_cannot_be_changed"</a:t>
            </a:r>
          </a:p>
          <a:p>
            <a:pPr>
              <a:lnSpc>
                <a:spcPct val="107143"/>
              </a:lnSpc>
              <a:spcAft>
                <a:spcPts val="0"/>
              </a:spcAft>
            </a:pPr>
            <a:r>
              <a:rPr sz="700" i="0">
                <a:solidFill>
                  <a:srgbClr val="E6EDF3"/>
                </a:solidFill>
                <a:latin typeface="Inconsolata"/>
              </a:rPr>
              <a:t>...</a:t>
            </a:r>
          </a:p>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OutOfStock</a:t>
            </a:r>
            <a:r>
              <a:rPr sz="700" i="0">
                <a:solidFill>
                  <a:srgbClr val="E6EDF3"/>
                </a:solidFill>
                <a:latin typeface="Inconsolata"/>
              </a:rPr>
              <a:t>(</a:t>
            </a:r>
            <a:r>
              <a:rPr sz="700" i="0">
                <a:solidFill>
                  <a:srgbClr val="7FDBCA"/>
                </a:solidFill>
                <a:latin typeface="Inconsolata"/>
              </a:rPr>
              <a:t>DomainError</a:t>
            </a:r>
            <a:r>
              <a:rPr sz="700" i="0">
                <a:solidFill>
                  <a:srgbClr val="E6EDF3"/>
                </a:solidFill>
                <a:latin typeface="Inconsolata"/>
              </a:rPr>
              <a:t>):</a:t>
            </a:r>
          </a:p>
          <a:p>
            <a:pPr>
              <a:lnSpc>
                <a:spcPct val="107143"/>
              </a:lnSpc>
              <a:spcAft>
                <a:spcPts val="0"/>
              </a:spcAft>
            </a:pPr>
            <a:r>
              <a:rPr sz="700" i="0">
                <a:solidFill>
                  <a:srgbClr val="E6EDF3"/>
                </a:solidFill>
                <a:latin typeface="Inconsolata"/>
              </a:rPr>
              <a:t>    code = </a:t>
            </a:r>
            <a:r>
              <a:rPr sz="700" i="0">
                <a:solidFill>
                  <a:srgbClr val="A5D6A7"/>
                </a:solidFill>
                <a:latin typeface="Inconsolata"/>
              </a:rPr>
              <a:t>"out_of_stock"</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app/domain/product.py</a:t>
            </a:r>
          </a:p>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Product</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__init__</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name: </a:t>
            </a:r>
            <a:r>
              <a:rPr sz="700" i="0">
                <a:solidFill>
                  <a:srgbClr val="C3A6FF"/>
                </a:solidFill>
                <a:latin typeface="Inconsolata"/>
              </a:rPr>
              <a:t>str</a:t>
            </a:r>
            <a:r>
              <a:rPr sz="700" i="0">
                <a:solidFill>
                  <a:srgbClr val="E6EDF3"/>
                </a:solidFill>
                <a:latin typeface="Inconsolata"/>
              </a:rPr>
              <a:t>, price: </a:t>
            </a:r>
            <a:r>
              <a:rPr sz="700" i="0">
                <a:solidFill>
                  <a:srgbClr val="7FDBCA"/>
                </a:solidFill>
                <a:latin typeface="Inconsolata"/>
              </a:rPr>
              <a:t>Money</a:t>
            </a:r>
            <a:r>
              <a:rPr sz="700" i="0">
                <a:solidFill>
                  <a:srgbClr val="E6EDF3"/>
                </a:solidFill>
                <a:latin typeface="Inconsolata"/>
              </a:rPr>
              <a:t>, stock: </a:t>
            </a:r>
            <a:r>
              <a:rPr sz="700" i="0">
                <a:solidFill>
                  <a:srgbClr val="C3A6FF"/>
                </a:solidFill>
                <a:latin typeface="Inconsolata"/>
              </a:rPr>
              <a:t>int</a:t>
            </a:r>
            <a:r>
              <a:rPr sz="700" i="0">
                <a:solidFill>
                  <a:srgbClr val="E6EDF3"/>
                </a:solidFill>
                <a:latin typeface="Inconsolata"/>
              </a:rPr>
              <a:t>, *, id: </a:t>
            </a:r>
            <a:r>
              <a:rPr sz="700" i="0">
                <a:solidFill>
                  <a:srgbClr val="C3A6FF"/>
                </a:solidFill>
                <a:latin typeface="Inconsolata"/>
              </a:rPr>
              <a:t>int</a:t>
            </a:r>
            <a:r>
              <a:rPr sz="700" i="0">
                <a:solidFill>
                  <a:srgbClr val="E6EDF3"/>
                </a:solidFill>
                <a:latin typeface="Inconsolata"/>
              </a:rPr>
              <a:t> | </a:t>
            </a:r>
            <a:r>
              <a:rPr sz="700" i="0">
                <a:solidFill>
                  <a:srgbClr val="FF8E6E"/>
                </a:solidFill>
                <a:latin typeface="Inconsolata"/>
              </a:rPr>
              <a:t>None</a:t>
            </a:r>
            <a:r>
              <a:rPr sz="700" i="0">
                <a:solidFill>
                  <a:srgbClr val="E6EDF3"/>
                </a:solidFill>
                <a:latin typeface="Inconsolata"/>
              </a:rPr>
              <a:t> = </a:t>
            </a:r>
            <a:r>
              <a:rPr sz="700" i="0">
                <a:solidFill>
                  <a:srgbClr val="FF8E6E"/>
                </a:solidFill>
                <a:latin typeface="Inconsolata"/>
              </a:rPr>
              <a:t>None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if</a:t>
            </a:r>
            <a:r>
              <a:rPr sz="700" i="0">
                <a:solidFill>
                  <a:srgbClr val="E6EDF3"/>
                </a:solidFill>
                <a:latin typeface="Inconsolata"/>
              </a:rPr>
              <a:t> stock &lt; </a:t>
            </a:r>
            <a:r>
              <a:rPr sz="700" i="0">
                <a:solidFill>
                  <a:srgbClr val="F9C97A"/>
                </a:solidFill>
                <a:latin typeface="Inconsolata"/>
              </a:rPr>
              <a:t>0</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raise</a:t>
            </a:r>
            <a:r>
              <a:rPr sz="700" i="0">
                <a:solidFill>
                  <a:srgbClr val="E6EDF3"/>
                </a:solidFill>
                <a:latin typeface="Inconsolata"/>
              </a:rPr>
              <a:t> </a:t>
            </a:r>
            <a:r>
              <a:rPr sz="700" i="0">
                <a:solidFill>
                  <a:srgbClr val="7FDBCA"/>
                </a:solidFill>
                <a:latin typeface="Inconsolata"/>
              </a:rPr>
              <a:t>ValueError</a:t>
            </a:r>
            <a:r>
              <a:rPr sz="700" i="0">
                <a:solidFill>
                  <a:srgbClr val="E6EDF3"/>
                </a:solidFill>
                <a:latin typeface="Inconsolata"/>
              </a:rPr>
              <a:t>(</a:t>
            </a:r>
            <a:r>
              <a:rPr sz="700" i="0">
                <a:solidFill>
                  <a:srgbClr val="A5D6A7"/>
                </a:solidFill>
                <a:latin typeface="Inconsolata"/>
              </a:rPr>
              <a:t>"Stok tidak boleh negatif"</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reserve</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qty: </a:t>
            </a:r>
            <a:r>
              <a:rPr sz="700" i="0">
                <a:solidFill>
                  <a:srgbClr val="C3A6FF"/>
                </a:solidFill>
                <a:latin typeface="Inconsolata"/>
              </a:rPr>
              <a:t>int</a:t>
            </a:r>
            <a:r>
              <a:rPr sz="700" i="0">
                <a:solidFill>
                  <a:srgbClr val="E6EDF3"/>
                </a:solidFill>
                <a:latin typeface="Inconsolata"/>
              </a:rPr>
              <a:t>) -&gt; </a:t>
            </a:r>
            <a:r>
              <a:rPr sz="700" i="0">
                <a:solidFill>
                  <a:srgbClr val="FF8E6E"/>
                </a:solidFill>
                <a:latin typeface="Inconsolata"/>
              </a:rPr>
              <a:t>None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if</a:t>
            </a:r>
            <a:r>
              <a:rPr sz="700" i="0">
                <a:solidFill>
                  <a:srgbClr val="E6EDF3"/>
                </a:solidFill>
                <a:latin typeface="Inconsolata"/>
              </a:rPr>
              <a:t> qty &gt; </a:t>
            </a:r>
            <a:r>
              <a:rPr sz="700" i="0">
                <a:solidFill>
                  <a:srgbClr val="C3A6FF"/>
                </a:solidFill>
                <a:latin typeface="Inconsolata"/>
              </a:rPr>
              <a:t>self</a:t>
            </a:r>
            <a:r>
              <a:rPr sz="700" i="0">
                <a:solidFill>
                  <a:srgbClr val="E6EDF3"/>
                </a:solidFill>
                <a:latin typeface="Inconsolata"/>
              </a:rPr>
              <a:t>.stock:</a:t>
            </a:r>
          </a:p>
          <a:p>
            <a:pPr>
              <a:lnSpc>
                <a:spcPct val="107143"/>
              </a:lnSpc>
              <a:spcAft>
                <a:spcPts val="0"/>
              </a:spcAft>
            </a:pPr>
            <a:r>
              <a:rPr sz="700" i="0">
                <a:solidFill>
                  <a:srgbClr val="E6EDF3"/>
                </a:solidFill>
                <a:latin typeface="Inconsolata"/>
              </a:rPr>
              <a:t>            </a:t>
            </a:r>
            <a:r>
              <a:rPr sz="700" i="0">
                <a:solidFill>
                  <a:srgbClr val="FF8E6E"/>
                </a:solidFill>
                <a:latin typeface="Inconsolata"/>
              </a:rPr>
              <a:t>raise</a:t>
            </a:r>
            <a:r>
              <a:rPr sz="700" i="0">
                <a:solidFill>
                  <a:srgbClr val="E6EDF3"/>
                </a:solidFill>
                <a:latin typeface="Inconsolata"/>
              </a:rPr>
              <a:t> </a:t>
            </a:r>
            <a:r>
              <a:rPr sz="700" i="0">
                <a:solidFill>
                  <a:srgbClr val="7FDBCA"/>
                </a:solidFill>
                <a:latin typeface="Inconsolata"/>
              </a:rPr>
              <a:t>OutOfStock</a:t>
            </a:r>
            <a:r>
              <a:rPr sz="700" i="0">
                <a:solidFill>
                  <a:srgbClr val="E6EDF3"/>
                </a:solidFill>
                <a:latin typeface="Inconsolata"/>
              </a:rPr>
              <a:t>(</a:t>
            </a:r>
            <a:r>
              <a:rPr sz="700" i="0">
                <a:solidFill>
                  <a:srgbClr val="A5D6A7"/>
                </a:solidFill>
                <a:latin typeface="Inconsolata"/>
              </a:rPr>
              <a:t>f"Stok {self.name} tinggal {self.stock}"</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.stock -= qty</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release</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qty: </a:t>
            </a:r>
            <a:r>
              <a:rPr sz="700" i="0">
                <a:solidFill>
                  <a:srgbClr val="C3A6FF"/>
                </a:solidFill>
                <a:latin typeface="Inconsolata"/>
              </a:rPr>
              <a:t>int</a:t>
            </a:r>
            <a:r>
              <a:rPr sz="700" i="0">
                <a:solidFill>
                  <a:srgbClr val="E6EDF3"/>
                </a:solidFill>
                <a:latin typeface="Inconsolata"/>
              </a:rPr>
              <a:t>) -&gt; </a:t>
            </a:r>
            <a:r>
              <a:rPr sz="700" i="0">
                <a:solidFill>
                  <a:srgbClr val="FF8E6E"/>
                </a:solidFill>
                <a:latin typeface="Inconsolata"/>
              </a:rPr>
              <a:t>None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.stock += qty</a:t>
            </a:r>
          </a:p>
        </p:txBody>
      </p:sp>
      <p:sp>
        <p:nvSpPr>
          <p:cNvPr id="29" name="Box 12"/>
          <p:cNvSpPr/>
          <p:nvPr/>
        </p:nvSpPr>
        <p:spPr>
          <a:xfrm>
            <a:off x="704088" y="1939671"/>
            <a:ext cx="4727448" cy="221742"/>
          </a:xfrm>
          <a:prstGeom prst="roundRect">
            <a:avLst>
              <a:gd name="adj" fmla="val 20618"/>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19316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768471"/>
            <a:ext cx="4727448" cy="793242"/>
          </a:xfrm>
          <a:prstGeom prst="roundRect">
            <a:avLst>
              <a:gd name="adj" fmla="val 576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40462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errors.py</a:t>
            </a:r>
            <a:r>
              <a:rPr sz="900" b="0" i="0">
                <a:solidFill>
                  <a:srgbClr val="434343"/>
                </a:solidFill>
                <a:latin typeface="Inter"/>
              </a:rPr>
              <a:t>: semua error domain punya </a:t>
            </a:r>
            <a:r>
              <a:rPr sz="900" b="0" i="0">
                <a:solidFill>
                  <a:srgbClr val="B5482A"/>
                </a:solidFill>
                <a:latin typeface="Inconsolata"/>
              </a:rPr>
              <a:t>code</a:t>
            </a:r>
            <a:r>
              <a:rPr sz="900" b="0" i="0">
                <a:solidFill>
                  <a:srgbClr val="434343"/>
                </a:solidFill>
                <a:latin typeface="Inter"/>
              </a:rPr>
              <a:t> tetap. Pindahkan </a:t>
            </a:r>
            <a:r>
              <a:rPr sz="900" b="0" i="0">
                <a:solidFill>
                  <a:srgbClr val="B5482A"/>
                </a:solidFill>
                <a:latin typeface="Inconsolata"/>
              </a:rPr>
              <a:t>OrderCannotBeChanged</a:t>
            </a:r>
            <a:r>
              <a:rPr sz="900" b="0" i="0">
                <a:solidFill>
                  <a:srgbClr val="434343"/>
                </a:solidFill>
                <a:latin typeface="Inter"/>
              </a:rPr>
              <a:t> dan </a:t>
            </a:r>
            <a:r>
              <a:rPr sz="900" b="0" i="0">
                <a:solidFill>
                  <a:srgbClr val="B5482A"/>
                </a:solidFill>
                <a:latin typeface="Inconsolata"/>
              </a:rPr>
              <a:t>UnknownCustomerType</a:t>
            </a:r>
            <a:r>
              <a:rPr sz="900" b="0" i="0">
                <a:solidFill>
                  <a:srgbClr val="434343"/>
                </a:solidFill>
                <a:latin typeface="Inter"/>
              </a:rPr>
              <a:t> ke sini</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Product</a:t>
            </a:r>
            <a:r>
              <a:rPr sz="900" b="0" i="0">
                <a:solidFill>
                  <a:srgbClr val="434343"/>
                </a:solidFill>
                <a:latin typeface="Inter"/>
              </a:rPr>
              <a:t> (entity): stok hanya berubah lewat </a:t>
            </a:r>
            <a:r>
              <a:rPr sz="900" b="0" i="0">
                <a:solidFill>
                  <a:srgbClr val="B5482A"/>
                </a:solidFill>
                <a:latin typeface="Inconsolata"/>
              </a:rPr>
              <a:t>reserve()</a:t>
            </a:r>
            <a:r>
              <a:rPr sz="900" b="0" i="0">
                <a:solidFill>
                  <a:srgbClr val="434343"/>
                </a:solidFill>
                <a:latin typeface="Inter"/>
              </a:rPr>
              <a:t> dan </a:t>
            </a:r>
            <a:r>
              <a:rPr sz="900" b="0" i="0">
                <a:solidFill>
                  <a:srgbClr val="B5482A"/>
                </a:solidFill>
                <a:latin typeface="Inconsolata"/>
              </a:rPr>
              <a:t>release()</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OrderLine</a:t>
            </a:r>
            <a:r>
              <a:rPr sz="900" b="0" i="0">
                <a:solidFill>
                  <a:srgbClr val="434343"/>
                </a:solidFill>
                <a:latin typeface="Inter"/>
              </a:rPr>
              <a:t> ditambah </a:t>
            </a:r>
            <a:r>
              <a:rPr sz="900" b="0" i="0">
                <a:solidFill>
                  <a:srgbClr val="B5482A"/>
                </a:solidFill>
                <a:latin typeface="Inconsolata"/>
              </a:rPr>
              <a:t>product_id</a:t>
            </a:r>
            <a:r>
              <a:rPr sz="900" b="0" i="0">
                <a:solidFill>
                  <a:srgbClr val="434343"/>
                </a:solidFill>
                <a:latin typeface="Inter"/>
              </a:rPr>
              <a:t>, </a:t>
            </a:r>
            <a:r>
              <a:rPr sz="900" b="0" i="0">
                <a:solidFill>
                  <a:srgbClr val="B5482A"/>
                </a:solidFill>
                <a:latin typeface="Inconsolata"/>
              </a:rPr>
              <a:t>add_item()</a:t>
            </a:r>
            <a:r>
              <a:rPr sz="900" b="0" i="0">
                <a:solidFill>
                  <a:srgbClr val="434343"/>
                </a:solidFill>
                <a:latin typeface="Inter"/>
              </a:rPr>
              <a:t> ikut menerimanya</a:t>
            </a:r>
          </a:p>
        </p:txBody>
      </p:sp>
      <p:sp>
        <p:nvSpPr>
          <p:cNvPr id="36" name="Box 19"/>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Domain tetap tanpa FastAPI dan SQLAlchemy.</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3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infrastructure/: Database dan ORM Model</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app/infrastructure/database.py  +  models.py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143"/>
              </a:lnSpc>
              <a:spcAft>
                <a:spcPts val="0"/>
              </a:spcAft>
            </a:pPr>
            <a:r>
              <a:rPr sz="700" i="1">
                <a:solidFill>
                  <a:srgbClr val="8B98A8"/>
                </a:solidFill>
                <a:latin typeface="Inconsolata"/>
              </a:rPr>
              <a:t># app/infrastructure/database.py</a:t>
            </a:r>
          </a:p>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Base</a:t>
            </a:r>
            <a:r>
              <a:rPr sz="700" i="0">
                <a:solidFill>
                  <a:srgbClr val="E6EDF3"/>
                </a:solidFill>
                <a:latin typeface="Inconsolata"/>
              </a:rPr>
              <a:t>(</a:t>
            </a:r>
            <a:r>
              <a:rPr sz="700" i="0">
                <a:solidFill>
                  <a:srgbClr val="7FDBCA"/>
                </a:solidFill>
                <a:latin typeface="Inconsolata"/>
              </a:rPr>
              <a:t>DeclarativeBase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pass</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create_session_factory</a:t>
            </a:r>
            <a:r>
              <a:rPr sz="700" i="0">
                <a:solidFill>
                  <a:srgbClr val="E6EDF3"/>
                </a:solidFill>
                <a:latin typeface="Inconsolata"/>
              </a:rPr>
              <a:t>(database_url: </a:t>
            </a:r>
            <a:r>
              <a:rPr sz="700" i="0">
                <a:solidFill>
                  <a:srgbClr val="C3A6FF"/>
                </a:solidFill>
                <a:latin typeface="Inconsolata"/>
              </a:rPr>
              <a:t>str</a:t>
            </a:r>
            <a:r>
              <a:rPr sz="700" i="0">
                <a:solidFill>
                  <a:srgbClr val="E6EDF3"/>
                </a:solidFill>
                <a:latin typeface="Inconsolata"/>
              </a:rPr>
              <a:t>) -&gt; sessionmaker:</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engine = create_engine(database_url, **options)</a:t>
            </a:r>
          </a:p>
          <a:p>
            <a:pPr>
              <a:lnSpc>
                <a:spcPct val="107143"/>
              </a:lnSpc>
              <a:spcAft>
                <a:spcPts val="0"/>
              </a:spcAft>
            </a:pPr>
            <a:r>
              <a:rPr sz="700" i="0">
                <a:solidFill>
                  <a:srgbClr val="E6EDF3"/>
                </a:solidFill>
                <a:latin typeface="Inconsolata"/>
              </a:rPr>
              <a:t>    </a:t>
            </a:r>
            <a:r>
              <a:rPr sz="700" i="0">
                <a:solidFill>
                  <a:srgbClr val="7FDBCA"/>
                </a:solidFill>
                <a:latin typeface="Inconsolata"/>
              </a:rPr>
              <a:t>Base</a:t>
            </a:r>
            <a:r>
              <a:rPr sz="700" i="0">
                <a:solidFill>
                  <a:srgbClr val="E6EDF3"/>
                </a:solidFill>
                <a:latin typeface="Inconsolata"/>
              </a:rPr>
              <a:t>.metadata.create_all(engine)</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sessionmaker(engine, expire_on_commit=</a:t>
            </a:r>
            <a:r>
              <a:rPr sz="700" i="0">
                <a:solidFill>
                  <a:srgbClr val="FF8E6E"/>
                </a:solidFill>
                <a:latin typeface="Inconsolata"/>
              </a:rPr>
              <a:t>False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app/infrastructure/models.py</a:t>
            </a:r>
          </a:p>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OrderRecord</a:t>
            </a:r>
            <a:r>
              <a:rPr sz="700" i="0">
                <a:solidFill>
                  <a:srgbClr val="E6EDF3"/>
                </a:solidFill>
                <a:latin typeface="Inconsolata"/>
              </a:rPr>
              <a:t>(</a:t>
            </a:r>
            <a:r>
              <a:rPr sz="700" i="0">
                <a:solidFill>
                  <a:srgbClr val="7FDBCA"/>
                </a:solidFill>
                <a:latin typeface="Inconsolata"/>
              </a:rPr>
              <a:t>Base</a:t>
            </a:r>
            <a:r>
              <a:rPr sz="700" i="0">
                <a:solidFill>
                  <a:srgbClr val="E6EDF3"/>
                </a:solidFill>
                <a:latin typeface="Inconsolata"/>
              </a:rPr>
              <a:t>):</a:t>
            </a:r>
          </a:p>
          <a:p>
            <a:pPr>
              <a:lnSpc>
                <a:spcPct val="107143"/>
              </a:lnSpc>
              <a:spcAft>
                <a:spcPts val="0"/>
              </a:spcAft>
            </a:pPr>
            <a:r>
              <a:rPr sz="700" i="0">
                <a:solidFill>
                  <a:srgbClr val="E6EDF3"/>
                </a:solidFill>
                <a:latin typeface="Inconsolata"/>
              </a:rPr>
              <a:t>    __tablename__ = </a:t>
            </a:r>
            <a:r>
              <a:rPr sz="700" i="0">
                <a:solidFill>
                  <a:srgbClr val="A5D6A7"/>
                </a:solidFill>
                <a:latin typeface="Inconsolata"/>
              </a:rPr>
              <a:t>"orders"</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id: </a:t>
            </a:r>
            <a:r>
              <a:rPr sz="700" i="0">
                <a:solidFill>
                  <a:srgbClr val="7FDBCA"/>
                </a:solidFill>
                <a:latin typeface="Inconsolata"/>
              </a:rPr>
              <a:t>Mapped</a:t>
            </a:r>
            <a:r>
              <a:rPr sz="700" i="0">
                <a:solidFill>
                  <a:srgbClr val="E6EDF3"/>
                </a:solidFill>
                <a:latin typeface="Inconsolata"/>
              </a:rPr>
              <a:t>[</a:t>
            </a:r>
            <a:r>
              <a:rPr sz="700" i="0">
                <a:solidFill>
                  <a:srgbClr val="C3A6FF"/>
                </a:solidFill>
                <a:latin typeface="Inconsolata"/>
              </a:rPr>
              <a:t>int</a:t>
            </a:r>
            <a:r>
              <a:rPr sz="700" i="0">
                <a:solidFill>
                  <a:srgbClr val="E6EDF3"/>
                </a:solidFill>
                <a:latin typeface="Inconsolata"/>
              </a:rPr>
              <a:t>] = mapped_column(primary_key=</a:t>
            </a:r>
            <a:r>
              <a:rPr sz="700" i="0">
                <a:solidFill>
                  <a:srgbClr val="FF8E6E"/>
                </a:solidFill>
                <a:latin typeface="Inconsolata"/>
              </a:rPr>
              <a:t>True</a:t>
            </a:r>
            <a:r>
              <a:rPr sz="700" i="0">
                <a:solidFill>
                  <a:srgbClr val="E6EDF3"/>
                </a:solidFill>
                <a:latin typeface="Inconsolata"/>
              </a:rPr>
              <a:t>)</a:t>
            </a:r>
          </a:p>
          <a:p>
            <a:pPr>
              <a:lnSpc>
                <a:spcPct val="107143"/>
              </a:lnSpc>
              <a:spcAft>
                <a:spcPts val="0"/>
              </a:spcAft>
            </a:pPr>
            <a:r>
              <a:rPr sz="700" i="0">
                <a:solidFill>
                  <a:srgbClr val="E6EDF3"/>
                </a:solidFill>
                <a:latin typeface="Inconsolata"/>
              </a:rPr>
              <a:t>    customer: </a:t>
            </a:r>
            <a:r>
              <a:rPr sz="700" i="0">
                <a:solidFill>
                  <a:srgbClr val="7FDBCA"/>
                </a:solidFill>
                <a:latin typeface="Inconsolata"/>
              </a:rPr>
              <a:t>Mapped</a:t>
            </a:r>
            <a:r>
              <a:rPr sz="700" i="0">
                <a:solidFill>
                  <a:srgbClr val="E6EDF3"/>
                </a:solidFill>
                <a:latin typeface="Inconsolata"/>
              </a:rPr>
              <a:t>[</a:t>
            </a:r>
            <a:r>
              <a:rPr sz="700" i="0">
                <a:solidFill>
                  <a:srgbClr val="C3A6FF"/>
                </a:solidFill>
                <a:latin typeface="Inconsolata"/>
              </a:rPr>
              <a:t>str</a:t>
            </a:r>
            <a:r>
              <a:rPr sz="700" i="0">
                <a:solidFill>
                  <a:srgbClr val="E6EDF3"/>
                </a:solidFill>
                <a:latin typeface="Inconsolata"/>
              </a:rPr>
              <a:t>] = mapped_column(</a:t>
            </a:r>
            <a:r>
              <a:rPr sz="700" i="0">
                <a:solidFill>
                  <a:srgbClr val="7FDBCA"/>
                </a:solidFill>
                <a:latin typeface="Inconsolata"/>
              </a:rPr>
              <a:t>String</a:t>
            </a:r>
            <a:r>
              <a:rPr sz="700" i="0">
                <a:solidFill>
                  <a:srgbClr val="E6EDF3"/>
                </a:solidFill>
                <a:latin typeface="Inconsolata"/>
              </a:rPr>
              <a:t>(</a:t>
            </a:r>
            <a:r>
              <a:rPr sz="700" i="0">
                <a:solidFill>
                  <a:srgbClr val="F9C97A"/>
                </a:solidFill>
                <a:latin typeface="Inconsolata"/>
              </a:rPr>
              <a:t>100</a:t>
            </a:r>
            <a:r>
              <a:rPr sz="700" i="0">
                <a:solidFill>
                  <a:srgbClr val="E6EDF3"/>
                </a:solidFill>
                <a:latin typeface="Inconsolata"/>
              </a:rPr>
              <a:t>))</a:t>
            </a:r>
          </a:p>
          <a:p>
            <a:pPr>
              <a:lnSpc>
                <a:spcPct val="107143"/>
              </a:lnSpc>
              <a:spcAft>
                <a:spcPts val="0"/>
              </a:spcAft>
            </a:pPr>
            <a:r>
              <a:rPr sz="700" i="0">
                <a:solidFill>
                  <a:srgbClr val="E6EDF3"/>
                </a:solidFill>
                <a:latin typeface="Inconsolata"/>
              </a:rPr>
              <a:t>    customer_type: </a:t>
            </a:r>
            <a:r>
              <a:rPr sz="700" i="0">
                <a:solidFill>
                  <a:srgbClr val="7FDBCA"/>
                </a:solidFill>
                <a:latin typeface="Inconsolata"/>
              </a:rPr>
              <a:t>Mapped</a:t>
            </a:r>
            <a:r>
              <a:rPr sz="700" i="0">
                <a:solidFill>
                  <a:srgbClr val="E6EDF3"/>
                </a:solidFill>
                <a:latin typeface="Inconsolata"/>
              </a:rPr>
              <a:t>[</a:t>
            </a:r>
            <a:r>
              <a:rPr sz="700" i="0">
                <a:solidFill>
                  <a:srgbClr val="C3A6FF"/>
                </a:solidFill>
                <a:latin typeface="Inconsolata"/>
              </a:rPr>
              <a:t>str</a:t>
            </a:r>
            <a:r>
              <a:rPr sz="700" i="0">
                <a:solidFill>
                  <a:srgbClr val="E6EDF3"/>
                </a:solidFill>
                <a:latin typeface="Inconsolata"/>
              </a:rPr>
              <a:t>] = mapped_column(</a:t>
            </a:r>
            <a:r>
              <a:rPr sz="700" i="0">
                <a:solidFill>
                  <a:srgbClr val="7FDBCA"/>
                </a:solidFill>
                <a:latin typeface="Inconsolata"/>
              </a:rPr>
              <a:t>String</a:t>
            </a:r>
            <a:r>
              <a:rPr sz="700" i="0">
                <a:solidFill>
                  <a:srgbClr val="E6EDF3"/>
                </a:solidFill>
                <a:latin typeface="Inconsolata"/>
              </a:rPr>
              <a:t>(</a:t>
            </a:r>
            <a:r>
              <a:rPr sz="700" i="0">
                <a:solidFill>
                  <a:srgbClr val="F9C97A"/>
                </a:solidFill>
                <a:latin typeface="Inconsolata"/>
              </a:rPr>
              <a:t>20</a:t>
            </a:r>
            <a:r>
              <a:rPr sz="700" i="0">
                <a:solidFill>
                  <a:srgbClr val="E6EDF3"/>
                </a:solidFill>
                <a:latin typeface="Inconsolata"/>
              </a:rPr>
              <a:t>))</a:t>
            </a:r>
          </a:p>
          <a:p>
            <a:pPr>
              <a:lnSpc>
                <a:spcPct val="107143"/>
              </a:lnSpc>
              <a:spcAft>
                <a:spcPts val="0"/>
              </a:spcAft>
            </a:pPr>
            <a:r>
              <a:rPr sz="700" i="0">
                <a:solidFill>
                  <a:srgbClr val="E6EDF3"/>
                </a:solidFill>
                <a:latin typeface="Inconsolata"/>
              </a:rPr>
              <a:t>    status: </a:t>
            </a:r>
            <a:r>
              <a:rPr sz="700" i="0">
                <a:solidFill>
                  <a:srgbClr val="7FDBCA"/>
                </a:solidFill>
                <a:latin typeface="Inconsolata"/>
              </a:rPr>
              <a:t>Mapped</a:t>
            </a:r>
            <a:r>
              <a:rPr sz="700" i="0">
                <a:solidFill>
                  <a:srgbClr val="E6EDF3"/>
                </a:solidFill>
                <a:latin typeface="Inconsolata"/>
              </a:rPr>
              <a:t>[</a:t>
            </a:r>
            <a:r>
              <a:rPr sz="700" i="0">
                <a:solidFill>
                  <a:srgbClr val="C3A6FF"/>
                </a:solidFill>
                <a:latin typeface="Inconsolata"/>
              </a:rPr>
              <a:t>str</a:t>
            </a:r>
            <a:r>
              <a:rPr sz="700" i="0">
                <a:solidFill>
                  <a:srgbClr val="E6EDF3"/>
                </a:solidFill>
                <a:latin typeface="Inconsolata"/>
              </a:rPr>
              <a:t>] = mapped_column(</a:t>
            </a:r>
            <a:r>
              <a:rPr sz="700" i="0">
                <a:solidFill>
                  <a:srgbClr val="7FDBCA"/>
                </a:solidFill>
                <a:latin typeface="Inconsolata"/>
              </a:rPr>
              <a:t>String</a:t>
            </a:r>
            <a:r>
              <a:rPr sz="700" i="0">
                <a:solidFill>
                  <a:srgbClr val="E6EDF3"/>
                </a:solidFill>
                <a:latin typeface="Inconsolata"/>
              </a:rPr>
              <a:t>(</a:t>
            </a:r>
            <a:r>
              <a:rPr sz="700" i="0">
                <a:solidFill>
                  <a:srgbClr val="F9C97A"/>
                </a:solidFill>
                <a:latin typeface="Inconsolata"/>
              </a:rPr>
              <a:t>20</a:t>
            </a:r>
            <a:r>
              <a:rPr sz="700" i="0">
                <a:solidFill>
                  <a:srgbClr val="E6EDF3"/>
                </a:solidFill>
                <a:latin typeface="Inconsolata"/>
              </a:rPr>
              <a:t>))</a:t>
            </a:r>
          </a:p>
          <a:p>
            <a:pPr>
              <a:lnSpc>
                <a:spcPct val="107143"/>
              </a:lnSpc>
              <a:spcAft>
                <a:spcPts val="0"/>
              </a:spcAft>
            </a:pPr>
            <a:r>
              <a:rPr sz="700" i="0">
                <a:solidFill>
                  <a:srgbClr val="E6EDF3"/>
                </a:solidFill>
                <a:latin typeface="Inconsolata"/>
              </a:rPr>
              <a:t>    discount: </a:t>
            </a:r>
            <a:r>
              <a:rPr sz="700" i="0">
                <a:solidFill>
                  <a:srgbClr val="7FDBCA"/>
                </a:solidFill>
                <a:latin typeface="Inconsolata"/>
              </a:rPr>
              <a:t>Mapped</a:t>
            </a:r>
            <a:r>
              <a:rPr sz="700" i="0">
                <a:solidFill>
                  <a:srgbClr val="E6EDF3"/>
                </a:solidFill>
                <a:latin typeface="Inconsolata"/>
              </a:rPr>
              <a:t>[</a:t>
            </a:r>
            <a:r>
              <a:rPr sz="700" i="0">
                <a:solidFill>
                  <a:srgbClr val="C3A6FF"/>
                </a:solidFill>
                <a:latin typeface="Inconsolata"/>
              </a:rPr>
              <a:t>int</a:t>
            </a:r>
            <a:r>
              <a:rPr sz="700" i="0">
                <a:solidFill>
                  <a:srgbClr val="E6EDF3"/>
                </a:solidFill>
                <a:latin typeface="Inconsolata"/>
              </a:rPr>
              <a:t>]</a:t>
            </a:r>
          </a:p>
          <a:p>
            <a:pPr>
              <a:lnSpc>
                <a:spcPct val="107143"/>
              </a:lnSpc>
              <a:spcAft>
                <a:spcPts val="0"/>
              </a:spcAft>
            </a:pPr>
            <a:r>
              <a:rPr sz="700" i="0">
                <a:solidFill>
                  <a:srgbClr val="E6EDF3"/>
                </a:solidFill>
                <a:latin typeface="Inconsolata"/>
              </a:rPr>
              <a:t>    lines: </a:t>
            </a:r>
            <a:r>
              <a:rPr sz="700" i="0">
                <a:solidFill>
                  <a:srgbClr val="7FDBCA"/>
                </a:solidFill>
                <a:latin typeface="Inconsolata"/>
              </a:rPr>
              <a:t>Mapped</a:t>
            </a:r>
            <a:r>
              <a:rPr sz="700" i="0">
                <a:solidFill>
                  <a:srgbClr val="E6EDF3"/>
                </a:solidFill>
                <a:latin typeface="Inconsolata"/>
              </a:rPr>
              <a:t>[</a:t>
            </a:r>
            <a:r>
              <a:rPr sz="700" i="0">
                <a:solidFill>
                  <a:srgbClr val="C3A6FF"/>
                </a:solidFill>
                <a:latin typeface="Inconsolata"/>
              </a:rPr>
              <a:t>list</a:t>
            </a:r>
            <a:r>
              <a:rPr sz="700" i="0">
                <a:solidFill>
                  <a:srgbClr val="E6EDF3"/>
                </a:solidFill>
                <a:latin typeface="Inconsolata"/>
              </a:rPr>
              <a:t>[</a:t>
            </a:r>
            <a:r>
              <a:rPr sz="700" i="0">
                <a:solidFill>
                  <a:srgbClr val="A5D6A7"/>
                </a:solidFill>
                <a:latin typeface="Inconsolata"/>
              </a:rPr>
              <a:t>"OrderLineRecord"</a:t>
            </a:r>
            <a:r>
              <a:rPr sz="700" i="0">
                <a:solidFill>
                  <a:srgbClr val="E6EDF3"/>
                </a:solidFill>
                <a:latin typeface="Inconsolata"/>
              </a:rPr>
              <a:t>]] = relationship(cascade=</a:t>
            </a:r>
            <a:r>
              <a:rPr sz="700" i="0">
                <a:solidFill>
                  <a:srgbClr val="A5D6A7"/>
                </a:solidFill>
                <a:latin typeface="Inconsolata"/>
              </a:rPr>
              <a:t>"all, delete-orphan"</a:t>
            </a:r>
            <a:r>
              <a:rPr sz="700" i="0">
                <a:solidFill>
                  <a:srgbClr val="E6EDF3"/>
                </a:solidFill>
                <a:latin typeface="Inconsolata"/>
              </a:rPr>
              <a:t>)</a:t>
            </a:r>
          </a:p>
        </p:txBody>
      </p:sp>
      <p:sp>
        <p:nvSpPr>
          <p:cNvPr id="29" name="Box 12"/>
          <p:cNvSpPr/>
          <p:nvPr/>
        </p:nvSpPr>
        <p:spPr>
          <a:xfrm>
            <a:off x="704088" y="2282571"/>
            <a:ext cx="4727448" cy="564642"/>
          </a:xfrm>
          <a:prstGeom prst="roundRect">
            <a:avLst>
              <a:gd name="adj" fmla="val 80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24460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82671"/>
            <a:ext cx="4727448" cy="1021842"/>
          </a:xfrm>
          <a:prstGeom prst="roundRect">
            <a:avLst>
              <a:gd name="adj" fmla="val 447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34747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database.py</a:t>
            </a:r>
            <a:r>
              <a:rPr sz="900" b="0" i="0">
                <a:solidFill>
                  <a:srgbClr val="434343"/>
                </a:solidFill>
                <a:latin typeface="Inter"/>
              </a:rPr>
              <a:t>: membuat engine, tabel, dan pembuat session (</a:t>
            </a:r>
            <a:r>
              <a:rPr sz="900" b="0" i="0">
                <a:solidFill>
                  <a:srgbClr val="B5482A"/>
                </a:solidFill>
                <a:latin typeface="Inconsolata"/>
              </a:rPr>
              <a:t>sessionmaker</a:t>
            </a:r>
            <a:r>
              <a:rPr sz="900" b="0" i="0">
                <a:solidFill>
                  <a:srgbClr val="434343"/>
                </a:solidFill>
                <a:latin typeface="Inter"/>
              </a:rPr>
              <a:t>)</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models.py</a:t>
            </a:r>
            <a:r>
              <a:rPr sz="900" b="0" i="0">
                <a:solidFill>
                  <a:srgbClr val="434343"/>
                </a:solidFill>
                <a:latin typeface="Inter"/>
              </a:rPr>
              <a:t>: </a:t>
            </a:r>
            <a:r>
              <a:rPr sz="900" b="0" i="0">
                <a:solidFill>
                  <a:srgbClr val="B5482A"/>
                </a:solidFill>
                <a:latin typeface="Inconsolata"/>
              </a:rPr>
              <a:t>ProductRecord</a:t>
            </a:r>
            <a:r>
              <a:rPr sz="900" b="0" i="0">
                <a:solidFill>
                  <a:srgbClr val="434343"/>
                </a:solidFill>
                <a:latin typeface="Inter"/>
              </a:rPr>
              <a:t>, </a:t>
            </a:r>
            <a:r>
              <a:rPr sz="900" b="0" i="0">
                <a:solidFill>
                  <a:srgbClr val="B5482A"/>
                </a:solidFill>
                <a:latin typeface="Inconsolata"/>
              </a:rPr>
              <a:t>OrderRecord</a:t>
            </a:r>
            <a:r>
              <a:rPr sz="900" b="0" i="0">
                <a:solidFill>
                  <a:srgbClr val="434343"/>
                </a:solidFill>
                <a:latin typeface="Inter"/>
              </a:rPr>
              <a:t>, </a:t>
            </a:r>
            <a:r>
              <a:rPr sz="900" b="0" i="0">
                <a:solidFill>
                  <a:srgbClr val="B5482A"/>
                </a:solidFill>
                <a:latin typeface="Inconsolata"/>
              </a:rPr>
              <a:t>OrderLineRecord</a:t>
            </a:r>
            <a:r>
              <a:rPr sz="900" b="0" i="0">
                <a:solidFill>
                  <a:srgbClr val="434343"/>
                </a:solidFill>
                <a:latin typeface="Inter"/>
              </a:rPr>
              <a:t> = bentuk tabel</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config.py</a:t>
            </a:r>
            <a:r>
              <a:rPr sz="900" b="0" i="0">
                <a:solidFill>
                  <a:srgbClr val="434343"/>
                </a:solidFill>
                <a:latin typeface="Inter"/>
              </a:rPr>
              <a:t>: </a:t>
            </a:r>
            <a:r>
              <a:rPr sz="900" b="0" i="0">
                <a:solidFill>
                  <a:srgbClr val="B5482A"/>
                </a:solidFill>
                <a:latin typeface="Inconsolata"/>
              </a:rPr>
              <a:t>database_path</a:t>
            </a:r>
            <a:r>
              <a:rPr sz="900" b="0" i="0">
                <a:solidFill>
                  <a:srgbClr val="434343"/>
                </a:solidFill>
                <a:latin typeface="Inter"/>
              </a:rPr>
              <a:t> diganti </a:t>
            </a:r>
            <a:r>
              <a:rPr sz="900" b="0" i="0">
                <a:solidFill>
                  <a:srgbClr val="B5482A"/>
                </a:solidFill>
                <a:latin typeface="Inconsolata"/>
              </a:rPr>
              <a:t>database_url</a:t>
            </a:r>
          </a:p>
          <a:p>
            <a:pPr algn="l">
              <a:lnSpc>
                <a:spcPct val="115000"/>
              </a:lnSpc>
              <a:spcAft>
                <a:spcPts val="0"/>
              </a:spcAft>
            </a:pPr>
            <a:endParaRPr sz="900" b="0" i="0">
              <a:solidFill>
                <a:srgbClr val="B5482A"/>
              </a:solidFill>
              <a:latin typeface="Inconsolata"/>
            </a:endParaRPr>
          </a:p>
          <a:p>
            <a:pPr algn="l">
              <a:lnSpc>
                <a:spcPct val="115000"/>
              </a:lnSpc>
              <a:spcAft>
                <a:spcPts val="400"/>
              </a:spcAft>
            </a:pPr>
            <a:r>
              <a:rPr sz="900" b="0" i="0">
                <a:solidFill>
                  <a:srgbClr val="B5482A"/>
                </a:solidFill>
                <a:latin typeface="Inconsolata"/>
              </a:rPr>
              <a:t>sqlite_repository.py</a:t>
            </a:r>
            <a:r>
              <a:rPr sz="900" b="0" i="0">
                <a:solidFill>
                  <a:srgbClr val="434343"/>
                </a:solidFill>
                <a:latin typeface="Inter"/>
              </a:rPr>
              <a:t> lama dihapus.</a:t>
            </a:r>
          </a:p>
        </p:txBody>
      </p:sp>
      <p:sp>
        <p:nvSpPr>
          <p:cNvPr id="36" name="Box 19"/>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Bentuk tabel hanya ada di </a:t>
            </a:r>
            <a:r>
              <a:rPr sz="900" b="0" i="0">
                <a:solidFill>
                  <a:srgbClr val="B5482A"/>
                </a:solidFill>
                <a:latin typeface="Inconsolata"/>
              </a:rPr>
              <a:t>infrastructure/</a:t>
            </a:r>
            <a:r>
              <a:rPr sz="900" b="0" i="0">
                <a:solidFill>
                  <a:srgbClr val="434343"/>
                </a:solidFill>
                <a:latin typeface="Inter"/>
              </a:rPr>
              <a: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4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infrastructure/repositories.py: Tanpa Commit</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app/infrastructure/repositories.py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SqlAlchemyProductRepository</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__init__</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session: </a:t>
            </a:r>
            <a:r>
              <a:rPr sz="700" i="0">
                <a:solidFill>
                  <a:srgbClr val="7FDBCA"/>
                </a:solidFill>
                <a:latin typeface="Inconsolata"/>
              </a:rPr>
              <a:t>Session</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.session = session</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add</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product: </a:t>
            </a:r>
            <a:r>
              <a:rPr sz="700" i="0">
                <a:solidFill>
                  <a:srgbClr val="7FDBCA"/>
                </a:solidFill>
                <a:latin typeface="Inconsolata"/>
              </a:rPr>
              <a:t>Product</a:t>
            </a:r>
            <a:r>
              <a:rPr sz="700" i="0">
                <a:solidFill>
                  <a:srgbClr val="E6EDF3"/>
                </a:solidFill>
                <a:latin typeface="Inconsolata"/>
              </a:rPr>
              <a:t>) -&gt; </a:t>
            </a:r>
            <a:r>
              <a:rPr sz="700" i="0">
                <a:solidFill>
                  <a:srgbClr val="7FDBCA"/>
                </a:solidFill>
                <a:latin typeface="Inconsolata"/>
              </a:rPr>
              <a:t>Product</a:t>
            </a:r>
            <a:r>
              <a:rPr sz="700" i="0">
                <a:solidFill>
                  <a:srgbClr val="E6EDF3"/>
                </a:solidFill>
                <a:latin typeface="Inconsolata"/>
              </a:rPr>
              <a:t>:</a:t>
            </a:r>
          </a:p>
          <a:p>
            <a:pPr>
              <a:lnSpc>
                <a:spcPct val="107143"/>
              </a:lnSpc>
              <a:spcAft>
                <a:spcPts val="0"/>
              </a:spcAft>
            </a:pPr>
            <a:r>
              <a:rPr sz="700" i="0">
                <a:solidFill>
                  <a:srgbClr val="E6EDF3"/>
                </a:solidFill>
                <a:latin typeface="Inconsolata"/>
              </a:rPr>
              <a:t>        record = </a:t>
            </a:r>
            <a:r>
              <a:rPr sz="700" i="0">
                <a:solidFill>
                  <a:srgbClr val="7FDBCA"/>
                </a:solidFill>
                <a:latin typeface="Inconsolata"/>
              </a:rPr>
              <a:t>ProductRecord</a:t>
            </a:r>
            <a:r>
              <a:rPr sz="700" i="0">
                <a:solidFill>
                  <a:srgbClr val="E6EDF3"/>
                </a:solidFill>
                <a:latin typeface="Inconsolata"/>
              </a:rPr>
              <a:t>(name=product.name, price=product.price.amount, stock=product.stock)</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.session.add(record)</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.session.flush()                  </a:t>
            </a:r>
            <a:r>
              <a:rPr sz="700" i="1">
                <a:solidFill>
                  <a:srgbClr val="8B98A8"/>
                </a:solidFill>
                <a:latin typeface="Inconsolata"/>
              </a:rPr>
              <a:t># minta id dari database, belum commit</a:t>
            </a:r>
          </a:p>
          <a:p>
            <a:pPr>
              <a:lnSpc>
                <a:spcPct val="107143"/>
              </a:lnSpc>
              <a:spcAft>
                <a:spcPts val="0"/>
              </a:spcAft>
            </a:pPr>
            <a:r>
              <a:rPr sz="700" i="0">
                <a:solidFill>
                  <a:srgbClr val="E6EDF3"/>
                </a:solidFill>
                <a:latin typeface="Inconsolata"/>
              </a:rPr>
              <a:t>        product.id = record.id</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product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product_id: </a:t>
            </a:r>
            <a:r>
              <a:rPr sz="700" i="0">
                <a:solidFill>
                  <a:srgbClr val="C3A6FF"/>
                </a:solidFill>
                <a:latin typeface="Inconsolata"/>
              </a:rPr>
              <a:t>int</a:t>
            </a:r>
            <a:r>
              <a:rPr sz="700" i="0">
                <a:solidFill>
                  <a:srgbClr val="E6EDF3"/>
                </a:solidFill>
                <a:latin typeface="Inconsolata"/>
              </a:rPr>
              <a:t>) -&gt; </a:t>
            </a:r>
            <a:r>
              <a:rPr sz="700" i="0">
                <a:solidFill>
                  <a:srgbClr val="7FDBCA"/>
                </a:solidFill>
                <a:latin typeface="Inconsolata"/>
              </a:rPr>
              <a:t>Product</a:t>
            </a:r>
            <a:r>
              <a:rPr sz="700" i="0">
                <a:solidFill>
                  <a:srgbClr val="E6EDF3"/>
                </a:solidFill>
                <a:latin typeface="Inconsolata"/>
              </a:rPr>
              <a:t> | </a:t>
            </a:r>
            <a:r>
              <a:rPr sz="700" i="0">
                <a:solidFill>
                  <a:srgbClr val="FF8E6E"/>
                </a:solidFill>
                <a:latin typeface="Inconsolata"/>
              </a:rPr>
              <a:t>None</a:t>
            </a:r>
            <a:r>
              <a:rPr sz="700" i="0">
                <a:solidFill>
                  <a:srgbClr val="E6EDF3"/>
                </a:solidFill>
                <a:latin typeface="Inconsolata"/>
              </a:rPr>
              <a:t>:</a:t>
            </a:r>
          </a:p>
          <a:p>
            <a:pPr>
              <a:lnSpc>
                <a:spcPct val="107143"/>
              </a:lnSpc>
              <a:spcAft>
                <a:spcPts val="0"/>
              </a:spcAft>
            </a:pPr>
            <a:r>
              <a:rPr sz="700" i="0">
                <a:solidFill>
                  <a:srgbClr val="E6EDF3"/>
                </a:solidFill>
                <a:latin typeface="Inconsolata"/>
              </a:rPr>
              <a:t>        record = </a:t>
            </a:r>
            <a:r>
              <a:rPr sz="700" i="0">
                <a:solidFill>
                  <a:srgbClr val="C3A6FF"/>
                </a:solidFill>
                <a:latin typeface="Inconsolata"/>
              </a:rPr>
              <a:t>self</a:t>
            </a:r>
            <a:r>
              <a:rPr sz="700" i="0">
                <a:solidFill>
                  <a:srgbClr val="E6EDF3"/>
                </a:solidFill>
                <a:latin typeface="Inconsolata"/>
              </a:rPr>
              <a:t>.session.get(</a:t>
            </a:r>
            <a:r>
              <a:rPr sz="700" i="0">
                <a:solidFill>
                  <a:srgbClr val="7FDBCA"/>
                </a:solidFill>
                <a:latin typeface="Inconsolata"/>
              </a:rPr>
              <a:t>ProductRecord</a:t>
            </a:r>
            <a:r>
              <a:rPr sz="700" i="0">
                <a:solidFill>
                  <a:srgbClr val="E6EDF3"/>
                </a:solidFill>
                <a:latin typeface="Inconsolata"/>
              </a:rPr>
              <a:t>, product_id)</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._to_domain(record) </a:t>
            </a:r>
            <a:r>
              <a:rPr sz="700" i="0">
                <a:solidFill>
                  <a:srgbClr val="FF8E6E"/>
                </a:solidFill>
                <a:latin typeface="Inconsolata"/>
              </a:rPr>
              <a:t>if</a:t>
            </a:r>
            <a:r>
              <a:rPr sz="700" i="0">
                <a:solidFill>
                  <a:srgbClr val="E6EDF3"/>
                </a:solidFill>
                <a:latin typeface="Inconsolata"/>
              </a:rPr>
              <a:t> record </a:t>
            </a:r>
            <a:r>
              <a:rPr sz="700" i="0">
                <a:solidFill>
                  <a:srgbClr val="FF8E6E"/>
                </a:solidFill>
                <a:latin typeface="Inconsolata"/>
              </a:rPr>
              <a:t>else</a:t>
            </a:r>
            <a:r>
              <a:rPr sz="700" i="0">
                <a:solidFill>
                  <a:srgbClr val="E6EDF3"/>
                </a:solidFill>
                <a:latin typeface="Inconsolata"/>
              </a:rPr>
              <a:t> </a:t>
            </a:r>
            <a:r>
              <a:rPr sz="700" i="0">
                <a:solidFill>
                  <a:srgbClr val="FF8E6E"/>
                </a:solidFill>
                <a:latin typeface="Inconsolata"/>
              </a:rPr>
              <a:t>None</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save</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product: </a:t>
            </a:r>
            <a:r>
              <a:rPr sz="700" i="0">
                <a:solidFill>
                  <a:srgbClr val="7FDBCA"/>
                </a:solidFill>
                <a:latin typeface="Inconsolata"/>
              </a:rPr>
              <a:t>Product</a:t>
            </a:r>
            <a:r>
              <a:rPr sz="700" i="0">
                <a:solidFill>
                  <a:srgbClr val="E6EDF3"/>
                </a:solidFill>
                <a:latin typeface="Inconsolata"/>
              </a:rPr>
              <a:t>) -&gt; </a:t>
            </a:r>
            <a:r>
              <a:rPr sz="700" i="0">
                <a:solidFill>
                  <a:srgbClr val="FF8E6E"/>
                </a:solidFill>
                <a:latin typeface="Inconsolata"/>
              </a:rPr>
              <a:t>None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.session.get(</a:t>
            </a:r>
            <a:r>
              <a:rPr sz="700" i="0">
                <a:solidFill>
                  <a:srgbClr val="7FDBCA"/>
                </a:solidFill>
                <a:latin typeface="Inconsolata"/>
              </a:rPr>
              <a:t>ProductRecord</a:t>
            </a:r>
            <a:r>
              <a:rPr sz="700" i="0">
                <a:solidFill>
                  <a:srgbClr val="E6EDF3"/>
                </a:solidFill>
                <a:latin typeface="Inconsolata"/>
              </a:rPr>
              <a:t>, product.id).stock = product.stock</a:t>
            </a:r>
          </a:p>
        </p:txBody>
      </p:sp>
      <p:sp>
        <p:nvSpPr>
          <p:cNvPr id="29" name="Box 12"/>
          <p:cNvSpPr/>
          <p:nvPr/>
        </p:nvSpPr>
        <p:spPr>
          <a:xfrm>
            <a:off x="704088" y="2282571"/>
            <a:ext cx="5230368" cy="678942"/>
          </a:xfrm>
          <a:prstGeom prst="roundRect">
            <a:avLst>
              <a:gd name="adj" fmla="val 673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5031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625471"/>
            <a:ext cx="523036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5603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Repository menerjemahkan domain ↔ ORM model, seperti di Sesi 3</a:t>
            </a:r>
          </a:p>
          <a:p>
            <a:pPr marL="182880" indent="-182880" algn="l">
              <a:lnSpc>
                <a:spcPct val="115000"/>
              </a:lnSpc>
              <a:spcAft>
                <a:spcPts val="400"/>
              </a:spcAft>
              <a:buClr>
                <a:srgbClr val="E0764F"/>
              </a:buClr>
              <a:buSzPct val="100000"/>
              <a:buFont typeface="+mj-lt"/>
              <a:buAutoNum type="arabicPeriod"/>
            </a:pPr>
            <a:r>
              <a:rPr sz="900" b="1" i="0">
                <a:solidFill>
                  <a:srgbClr val="434343"/>
                </a:solidFill>
                <a:latin typeface="Inter"/>
              </a:rPr>
              <a:t>Tidak pernah commit</a:t>
            </a:r>
            <a:r>
              <a:rPr sz="900" b="0" i="0">
                <a:solidFill>
                  <a:srgbClr val="434343"/>
                </a:solidFill>
                <a:latin typeface="Inter"/>
              </a:rPr>
              <a:t>. </a:t>
            </a:r>
            <a:r>
              <a:rPr sz="900" b="0" i="0">
                <a:solidFill>
                  <a:srgbClr val="B5482A"/>
                </a:solidFill>
                <a:latin typeface="Inconsolata"/>
              </a:rPr>
              <a:t>flush()</a:t>
            </a:r>
            <a:r>
              <a:rPr sz="900" b="0" i="0">
                <a:solidFill>
                  <a:srgbClr val="434343"/>
                </a:solidFill>
                <a:latin typeface="Inter"/>
              </a:rPr>
              <a:t> cukup untuk mendapat id</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SqlAlchemyOrderRepository</a:t>
            </a:r>
            <a:r>
              <a:rPr sz="900" b="0" i="0">
                <a:solidFill>
                  <a:srgbClr val="434343"/>
                </a:solidFill>
                <a:latin typeface="Inter"/>
              </a:rPr>
              <a:t> dibuat dengan pola yang sama, yaitu order beserta itemnya</a:t>
            </a:r>
          </a:p>
        </p:txBody>
      </p:sp>
      <p:sp>
        <p:nvSpPr>
          <p:cNvPr id="36" name="Box 19"/>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Commit jadi urusan Unit of Work (langkah 5).</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5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Unit of Work: Port dan Implementasinya</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application/ports.py  +  infrastructure/unit_of_work.py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app/application/ports.py</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UnitOfWork</a:t>
            </a:r>
            <a:r>
              <a:rPr sz="650" i="0">
                <a:solidFill>
                  <a:srgbClr val="E6EDF3"/>
                </a:solidFill>
                <a:latin typeface="Inconsolata"/>
              </a:rPr>
              <a:t>(</a:t>
            </a:r>
            <a:r>
              <a:rPr sz="650" i="0">
                <a:solidFill>
                  <a:srgbClr val="7FDBCA"/>
                </a:solidFill>
                <a:latin typeface="Inconsolata"/>
              </a:rPr>
              <a:t>Protocol</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A5D6A7"/>
                </a:solidFill>
                <a:latin typeface="Inconsolata"/>
              </a:rPr>
              <a:t>"""Satu transaksi. Keluar dari `with uow:` tanpa commit() = rollback."""</a:t>
            </a:r>
          </a:p>
          <a:p>
            <a:pPr>
              <a:lnSpc>
                <a:spcPct val="102564"/>
              </a:lnSpc>
              <a:spcAft>
                <a:spcPts val="0"/>
              </a:spcAft>
            </a:pPr>
            <a:r>
              <a:rPr sz="650" i="0">
                <a:solidFill>
                  <a:srgbClr val="E6EDF3"/>
                </a:solidFill>
                <a:latin typeface="Inconsolata"/>
              </a:rPr>
              <a:t>    orders: </a:t>
            </a:r>
            <a:r>
              <a:rPr sz="650" i="0">
                <a:solidFill>
                  <a:srgbClr val="7FDBCA"/>
                </a:solidFill>
                <a:latin typeface="Inconsolata"/>
              </a:rPr>
              <a:t>OrderRepository</a:t>
            </a:r>
          </a:p>
          <a:p>
            <a:pPr>
              <a:lnSpc>
                <a:spcPct val="102564"/>
              </a:lnSpc>
              <a:spcAft>
                <a:spcPts val="0"/>
              </a:spcAft>
            </a:pPr>
            <a:r>
              <a:rPr sz="650" i="0">
                <a:solidFill>
                  <a:srgbClr val="E6EDF3"/>
                </a:solidFill>
                <a:latin typeface="Inconsolata"/>
              </a:rPr>
              <a:t>    products: </a:t>
            </a:r>
            <a:r>
              <a:rPr sz="650" i="0">
                <a:solidFill>
                  <a:srgbClr val="7FDBCA"/>
                </a:solidFill>
                <a:latin typeface="Inconsolata"/>
              </a:rPr>
              <a:t>ProductRepository</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__enter__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-&gt; </a:t>
            </a:r>
            <a:r>
              <a:rPr sz="650" i="0">
                <a:solidFill>
                  <a:srgbClr val="A5D6A7"/>
                </a:solidFill>
                <a:latin typeface="Inconsolata"/>
              </a:rPr>
              <a:t>"UnitOfWork"</a:t>
            </a: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__exit__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*exc) -&gt; </a:t>
            </a:r>
            <a:r>
              <a:rPr sz="650" i="0">
                <a:solidFill>
                  <a:srgbClr val="FF8E6E"/>
                </a:solidFill>
                <a:latin typeface="Inconsolata"/>
              </a:rPr>
              <a:t>None</a:t>
            </a: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commit</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-&gt; </a:t>
            </a:r>
            <a:r>
              <a:rPr sz="650" i="0">
                <a:solidFill>
                  <a:srgbClr val="FF8E6E"/>
                </a:solidFill>
                <a:latin typeface="Inconsolata"/>
              </a:rPr>
              <a:t>None</a:t>
            </a:r>
            <a:r>
              <a:rPr sz="650" i="0">
                <a:solidFill>
                  <a:srgbClr val="E6EDF3"/>
                </a:solidFill>
                <a:latin typeface="Inconsolata"/>
              </a:rPr>
              <a:t>: ...</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app/infrastructure/unit_of_work.py</a:t>
            </a:r>
          </a:p>
          <a:p>
            <a:pPr>
              <a:lnSpc>
                <a:spcPct val="102564"/>
              </a:lnSpc>
              <a:spcAft>
                <a:spcPts val="0"/>
              </a:spcAft>
            </a:pPr>
            <a:r>
              <a:rPr sz="650" i="0">
                <a:solidFill>
                  <a:srgbClr val="FF8E6E"/>
                </a:solidFill>
                <a:latin typeface="Inconsolata"/>
              </a:rPr>
              <a:t>class</a:t>
            </a:r>
            <a:r>
              <a:rPr sz="650" i="0">
                <a:solidFill>
                  <a:srgbClr val="E6EDF3"/>
                </a:solidFill>
                <a:latin typeface="Inconsolata"/>
              </a:rPr>
              <a:t> </a:t>
            </a:r>
            <a:r>
              <a:rPr sz="650" i="0">
                <a:solidFill>
                  <a:srgbClr val="7FDBCA"/>
                </a:solidFill>
                <a:latin typeface="Inconsolata"/>
              </a:rPr>
              <a:t>SqlAlchemyUnitOfWork</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__init__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session_factory: sessionmaker):</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.session_factory = session_factory</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__enter__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-&gt; </a:t>
            </a:r>
            <a:r>
              <a:rPr sz="650" i="0">
                <a:solidFill>
                  <a:srgbClr val="A5D6A7"/>
                </a:solidFill>
                <a:latin typeface="Inconsolata"/>
              </a:rPr>
              <a:t>"SqlAlchemyUnitOfWork"</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 = </a:t>
            </a:r>
            <a:r>
              <a:rPr sz="650" i="0">
                <a:solidFill>
                  <a:srgbClr val="C3A6FF"/>
                </a:solidFill>
                <a:latin typeface="Inconsolata"/>
              </a:rPr>
              <a:t>self</a:t>
            </a:r>
            <a:r>
              <a:rPr sz="650" i="0">
                <a:solidFill>
                  <a:srgbClr val="E6EDF3"/>
                </a:solidFill>
                <a:latin typeface="Inconsolata"/>
              </a:rPr>
              <a:t>.session_factory()</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.orders = </a:t>
            </a:r>
            <a:r>
              <a:rPr sz="650" i="0">
                <a:solidFill>
                  <a:srgbClr val="7FDBCA"/>
                </a:solidFill>
                <a:latin typeface="Inconsolata"/>
              </a:rPr>
              <a:t>SqlAlchemyOrderRepository</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.session)</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.products = </a:t>
            </a:r>
            <a:r>
              <a:rPr sz="650" i="0">
                <a:solidFill>
                  <a:srgbClr val="7FDBCA"/>
                </a:solidFill>
                <a:latin typeface="Inconsolata"/>
              </a:rPr>
              <a:t>SqlAlchemyProductRepository</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.session)</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C3A6FF"/>
                </a:solidFill>
                <a:latin typeface="Inconsolata"/>
              </a:rPr>
              <a:t>self</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__exit__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*exc)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.session.rollback()      </a:t>
            </a:r>
            <a:r>
              <a:rPr sz="650" i="1">
                <a:solidFill>
                  <a:srgbClr val="8B98A8"/>
                </a:solidFill>
                <a:latin typeface="Inconsolata"/>
              </a:rPr>
              <a:t># sudah commit = tidak berefek, belum commit / error = dibatalkan</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.session.close()</a:t>
            </a:r>
          </a:p>
        </p:txBody>
      </p:sp>
      <p:sp>
        <p:nvSpPr>
          <p:cNvPr id="29" name="Box 12"/>
          <p:cNvSpPr/>
          <p:nvPr/>
        </p:nvSpPr>
        <p:spPr>
          <a:xfrm>
            <a:off x="704088" y="1925320"/>
            <a:ext cx="5230368" cy="806703"/>
          </a:xfrm>
          <a:prstGeom prst="roundRect">
            <a:avLst>
              <a:gd name="adj" fmla="val 566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2209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347720"/>
            <a:ext cx="5230368" cy="501904"/>
          </a:xfrm>
          <a:prstGeom prst="roundRect">
            <a:avLst>
              <a:gd name="adj" fmla="val 910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3479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40589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4038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Port </a:t>
            </a:r>
            <a:r>
              <a:rPr sz="900" b="0" i="0">
                <a:solidFill>
                  <a:srgbClr val="B5482A"/>
                </a:solidFill>
                <a:latin typeface="Inconsolata"/>
              </a:rPr>
              <a:t>UnitOfWork</a:t>
            </a:r>
            <a:r>
              <a:rPr sz="900" b="0" i="0">
                <a:solidFill>
                  <a:srgbClr val="434343"/>
                </a:solidFill>
                <a:latin typeface="Inter"/>
              </a:rPr>
              <a:t> di application: service hanya tahu bentuk ini</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__enter__</a:t>
            </a:r>
            <a:r>
              <a:rPr sz="900" b="0" i="0">
                <a:solidFill>
                  <a:srgbClr val="434343"/>
                </a:solidFill>
                <a:latin typeface="Inter"/>
              </a:rPr>
              <a:t>: satu session, semua repository memakainya</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__exit__</a:t>
            </a:r>
            <a:r>
              <a:rPr sz="900" b="0" i="0">
                <a:solidFill>
                  <a:srgbClr val="434343"/>
                </a:solidFill>
                <a:latin typeface="Inter"/>
              </a:rPr>
              <a:t>: rollback jika belum commit, lalu tutup session</a:t>
            </a:r>
          </a:p>
          <a:p>
            <a:pPr algn="l">
              <a:lnSpc>
                <a:spcPct val="115000"/>
              </a:lnSpc>
              <a:spcAft>
                <a:spcPts val="0"/>
              </a:spcAft>
            </a:pPr>
            <a:endParaRPr sz="900" b="0" i="0">
              <a:solidFill>
                <a:srgbClr val="434343"/>
              </a:solidFill>
              <a:latin typeface="Inter"/>
            </a:endParaRPr>
          </a:p>
          <a:p>
            <a:pPr algn="l">
              <a:lnSpc>
                <a:spcPct val="115000"/>
              </a:lnSpc>
              <a:spcAft>
                <a:spcPts val="400"/>
              </a:spcAft>
            </a:pPr>
            <a:r>
              <a:rPr sz="900" b="0" i="0">
                <a:solidFill>
                  <a:srgbClr val="434343"/>
                </a:solidFill>
                <a:latin typeface="Inter"/>
              </a:rPr>
              <a:t>Tambahkan juga </a:t>
            </a:r>
            <a:r>
              <a:rPr sz="900" b="0" i="0">
                <a:solidFill>
                  <a:srgbClr val="B5482A"/>
                </a:solidFill>
                <a:latin typeface="Inconsolata"/>
              </a:rPr>
              <a:t>ProductRepository</a:t>
            </a:r>
            <a:r>
              <a:rPr sz="900" b="0" i="0">
                <a:solidFill>
                  <a:srgbClr val="434343"/>
                </a:solidFill>
                <a:latin typeface="Inter"/>
              </a:rPr>
              <a:t> di </a:t>
            </a:r>
            <a:r>
              <a:rPr sz="900" b="0" i="0">
                <a:solidFill>
                  <a:srgbClr val="B5482A"/>
                </a:solidFill>
                <a:latin typeface="Inconsolata"/>
              </a:rPr>
              <a:t>ports.py</a:t>
            </a:r>
            <a:r>
              <a:rPr sz="900" b="0" i="0">
                <a:solidFill>
                  <a:srgbClr val="434343"/>
                </a:solidFill>
                <a:latin typeface="Inter"/>
              </a:rPr>
              <a:t>.</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Service tidak perlu import SQLAlchemy.</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6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application/: Satu Use Case, Satu Transaksi</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app/application/order_service.py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OrderService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__init__</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uow: </a:t>
            </a:r>
            <a:r>
              <a:rPr sz="700" i="0">
                <a:solidFill>
                  <a:srgbClr val="7FDBCA"/>
                </a:solidFill>
                <a:latin typeface="Inconsolata"/>
              </a:rPr>
              <a:t>UnitOfWork</a:t>
            </a:r>
            <a:r>
              <a:rPr sz="700" i="0">
                <a:solidFill>
                  <a:srgbClr val="E6EDF3"/>
                </a:solidFill>
                <a:latin typeface="Inconsolata"/>
              </a:rPr>
              <a:t>, notifier: </a:t>
            </a:r>
            <a:r>
              <a:rPr sz="700" i="0">
                <a:solidFill>
                  <a:srgbClr val="7FDBCA"/>
                </a:solidFill>
                <a:latin typeface="Inconsolata"/>
              </a:rPr>
              <a:t>Notifier</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.uow = uow</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.notifier = notifier</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.discount_policy = </a:t>
            </a:r>
            <a:r>
              <a:rPr sz="700" i="0">
                <a:solidFill>
                  <a:srgbClr val="7FDBCA"/>
                </a:solidFill>
                <a:latin typeface="Inconsolata"/>
              </a:rPr>
              <a:t>DiscountPolicy</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place_order</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customer: </a:t>
            </a:r>
            <a:r>
              <a:rPr sz="700" i="0">
                <a:solidFill>
                  <a:srgbClr val="C3A6FF"/>
                </a:solidFill>
                <a:latin typeface="Inconsolata"/>
              </a:rPr>
              <a:t>str</a:t>
            </a:r>
            <a:r>
              <a:rPr sz="700" i="0">
                <a:solidFill>
                  <a:srgbClr val="E6EDF3"/>
                </a:solidFill>
                <a:latin typeface="Inconsolata"/>
              </a:rPr>
              <a:t>, customer_type: </a:t>
            </a:r>
            <a:r>
              <a:rPr sz="700" i="0">
                <a:solidFill>
                  <a:srgbClr val="C3A6FF"/>
                </a:solidFill>
                <a:latin typeface="Inconsolata"/>
              </a:rPr>
              <a:t>str</a:t>
            </a:r>
            <a:r>
              <a:rPr sz="700" i="0">
                <a:solidFill>
                  <a:srgbClr val="E6EDF3"/>
                </a:solidFill>
                <a:latin typeface="Inconsolata"/>
              </a:rPr>
              <a:t>, items: </a:t>
            </a:r>
            <a:r>
              <a:rPr sz="700" i="0">
                <a:solidFill>
                  <a:srgbClr val="C3A6FF"/>
                </a:solidFill>
                <a:latin typeface="Inconsolata"/>
              </a:rPr>
              <a:t>list</a:t>
            </a:r>
            <a:r>
              <a:rPr sz="700" i="0">
                <a:solidFill>
                  <a:srgbClr val="E6EDF3"/>
                </a:solidFill>
                <a:latin typeface="Inconsolata"/>
              </a:rPr>
              <a:t>[</a:t>
            </a:r>
            <a:r>
              <a:rPr sz="700" i="0">
                <a:solidFill>
                  <a:srgbClr val="C3A6FF"/>
                </a:solidFill>
                <a:latin typeface="Inconsolata"/>
              </a:rPr>
              <a:t>dict</a:t>
            </a:r>
            <a:r>
              <a:rPr sz="700" i="0">
                <a:solidFill>
                  <a:srgbClr val="E6EDF3"/>
                </a:solidFill>
                <a:latin typeface="Inconsolata"/>
              </a:rPr>
              <a:t>]) -&gt; </a:t>
            </a:r>
            <a:r>
              <a:rPr sz="700" i="0">
                <a:solidFill>
                  <a:srgbClr val="7FDBCA"/>
                </a:solidFill>
                <a:latin typeface="Inconsolata"/>
              </a:rPr>
              <a:t>Order</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with</a:t>
            </a: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.uow:</a:t>
            </a:r>
          </a:p>
          <a:p>
            <a:pPr>
              <a:lnSpc>
                <a:spcPct val="107143"/>
              </a:lnSpc>
              <a:spcAft>
                <a:spcPts val="0"/>
              </a:spcAft>
            </a:pPr>
            <a:r>
              <a:rPr sz="700" i="0">
                <a:solidFill>
                  <a:srgbClr val="E6EDF3"/>
                </a:solidFill>
                <a:latin typeface="Inconsolata"/>
              </a:rPr>
              <a:t>            order = </a:t>
            </a:r>
            <a:r>
              <a:rPr sz="700" i="0">
                <a:solidFill>
                  <a:srgbClr val="7FDBCA"/>
                </a:solidFill>
                <a:latin typeface="Inconsolata"/>
              </a:rPr>
              <a:t>Order</a:t>
            </a:r>
            <a:r>
              <a:rPr sz="700" i="0">
                <a:solidFill>
                  <a:srgbClr val="E6EDF3"/>
                </a:solidFill>
                <a:latin typeface="Inconsolata"/>
              </a:rPr>
              <a:t>(customer, customer_type)</a:t>
            </a:r>
          </a:p>
          <a:p>
            <a:pPr>
              <a:lnSpc>
                <a:spcPct val="107143"/>
              </a:lnSpc>
              <a:spcAft>
                <a:spcPts val="0"/>
              </a:spcAft>
            </a:pPr>
            <a:r>
              <a:rPr sz="700" i="0">
                <a:solidFill>
                  <a:srgbClr val="E6EDF3"/>
                </a:solidFill>
                <a:latin typeface="Inconsolata"/>
              </a:rPr>
              <a:t>            </a:t>
            </a:r>
            <a:r>
              <a:rPr sz="700" i="0">
                <a:solidFill>
                  <a:srgbClr val="FF8E6E"/>
                </a:solidFill>
                <a:latin typeface="Inconsolata"/>
              </a:rPr>
              <a:t>for</a:t>
            </a:r>
            <a:r>
              <a:rPr sz="700" i="0">
                <a:solidFill>
                  <a:srgbClr val="E6EDF3"/>
                </a:solidFill>
                <a:latin typeface="Inconsolata"/>
              </a:rPr>
              <a:t> item </a:t>
            </a:r>
            <a:r>
              <a:rPr sz="700" i="0">
                <a:solidFill>
                  <a:srgbClr val="FF8E6E"/>
                </a:solidFill>
                <a:latin typeface="Inconsolata"/>
              </a:rPr>
              <a:t>in</a:t>
            </a:r>
            <a:r>
              <a:rPr sz="700" i="0">
                <a:solidFill>
                  <a:srgbClr val="E6EDF3"/>
                </a:solidFill>
                <a:latin typeface="Inconsolata"/>
              </a:rPr>
              <a:t> items:</a:t>
            </a:r>
          </a:p>
          <a:p>
            <a:pPr>
              <a:lnSpc>
                <a:spcPct val="107143"/>
              </a:lnSpc>
              <a:spcAft>
                <a:spcPts val="0"/>
              </a:spcAft>
            </a:pPr>
            <a:r>
              <a:rPr sz="700" i="0">
                <a:solidFill>
                  <a:srgbClr val="E6EDF3"/>
                </a:solidFill>
                <a:latin typeface="Inconsolata"/>
              </a:rPr>
              <a:t>                product = </a:t>
            </a:r>
            <a:r>
              <a:rPr sz="700" i="0">
                <a:solidFill>
                  <a:srgbClr val="C3A6FF"/>
                </a:solidFill>
                <a:latin typeface="Inconsolata"/>
              </a:rPr>
              <a:t>self</a:t>
            </a:r>
            <a:r>
              <a:rPr sz="700" i="0">
                <a:solidFill>
                  <a:srgbClr val="E6EDF3"/>
                </a:solidFill>
                <a:latin typeface="Inconsolata"/>
              </a:rPr>
              <a:t>._get_product(item[</a:t>
            </a:r>
            <a:r>
              <a:rPr sz="700" i="0">
                <a:solidFill>
                  <a:srgbClr val="A5D6A7"/>
                </a:solidFill>
                <a:latin typeface="Inconsolata"/>
              </a:rPr>
              <a:t>"product_id"</a:t>
            </a:r>
            <a:r>
              <a:rPr sz="700" i="0">
                <a:solidFill>
                  <a:srgbClr val="E6EDF3"/>
                </a:solidFill>
                <a:latin typeface="Inconsolata"/>
              </a:rPr>
              <a:t>])</a:t>
            </a:r>
          </a:p>
          <a:p>
            <a:pPr>
              <a:lnSpc>
                <a:spcPct val="107143"/>
              </a:lnSpc>
              <a:spcAft>
                <a:spcPts val="0"/>
              </a:spcAft>
            </a:pPr>
            <a:r>
              <a:rPr sz="700" i="0">
                <a:solidFill>
                  <a:srgbClr val="E6EDF3"/>
                </a:solidFill>
                <a:latin typeface="Inconsolata"/>
              </a:rPr>
              <a:t>                product.reserve(item[</a:t>
            </a:r>
            <a:r>
              <a:rPr sz="700" i="0">
                <a:solidFill>
                  <a:srgbClr val="A5D6A7"/>
                </a:solidFill>
                <a:latin typeface="Inconsolata"/>
              </a:rPr>
              <a:t>"qty"</a:t>
            </a:r>
            <a:r>
              <a:rPr sz="700" i="0">
                <a:solidFill>
                  <a:srgbClr val="E6EDF3"/>
                </a:solidFill>
                <a:latin typeface="Inconsolata"/>
              </a:rPr>
              <a:t>])</a:t>
            </a:r>
          </a:p>
          <a:p>
            <a:pPr>
              <a:lnSpc>
                <a:spcPct val="107143"/>
              </a:lnSpc>
              <a:spcAft>
                <a:spcPts val="0"/>
              </a:spcAft>
            </a:pPr>
            <a:r>
              <a:rPr sz="700" i="0">
                <a:solidFill>
                  <a:srgbClr val="E6EDF3"/>
                </a:solidFill>
                <a:latin typeface="Inconsolata"/>
              </a:rPr>
              <a:t>                order.add_item(product.id, product.name, product.price, item[</a:t>
            </a:r>
            <a:r>
              <a:rPr sz="700" i="0">
                <a:solidFill>
                  <a:srgbClr val="A5D6A7"/>
                </a:solidFill>
                <a:latin typeface="Inconsolata"/>
              </a:rPr>
              <a:t>"qty"</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.uow.products.save(product)</a:t>
            </a:r>
          </a:p>
          <a:p>
            <a:pPr>
              <a:lnSpc>
                <a:spcPct val="107143"/>
              </a:lnSpc>
              <a:spcAft>
                <a:spcPts val="0"/>
              </a:spcAft>
            </a:pPr>
            <a:r>
              <a:rPr sz="700" i="0">
                <a:solidFill>
                  <a:srgbClr val="E6EDF3"/>
                </a:solidFill>
                <a:latin typeface="Inconsolata"/>
              </a:rPr>
              <a:t>            order.apply_discount(</a:t>
            </a:r>
            <a:r>
              <a:rPr sz="700" i="0">
                <a:solidFill>
                  <a:srgbClr val="C3A6FF"/>
                </a:solidFill>
                <a:latin typeface="Inconsolata"/>
              </a:rPr>
              <a:t>self</a:t>
            </a:r>
            <a:r>
              <a:rPr sz="700" i="0">
                <a:solidFill>
                  <a:srgbClr val="E6EDF3"/>
                </a:solidFill>
                <a:latin typeface="Inconsolata"/>
              </a:rPr>
              <a:t>.discount_policy.discount_for(order))</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.uow.orders.add(order)</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.uow.commit()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.notifier.send(customer, </a:t>
            </a:r>
            <a:r>
              <a:rPr sz="700" i="0">
                <a:solidFill>
                  <a:srgbClr val="A5D6A7"/>
                </a:solidFill>
                <a:latin typeface="Inconsolata"/>
              </a:rPr>
              <a:t>f"Order #{order.id} total Rp{order.total.amount:,}"</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order</a:t>
            </a:r>
          </a:p>
        </p:txBody>
      </p:sp>
      <p:sp>
        <p:nvSpPr>
          <p:cNvPr id="29" name="Box 12"/>
          <p:cNvSpPr/>
          <p:nvPr/>
        </p:nvSpPr>
        <p:spPr>
          <a:xfrm>
            <a:off x="704088" y="1939671"/>
            <a:ext cx="472744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18745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625471"/>
            <a:ext cx="4727448" cy="1136142"/>
          </a:xfrm>
          <a:prstGeom prst="roundRect">
            <a:avLst>
              <a:gd name="adj" fmla="val 402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30746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882771"/>
            <a:ext cx="472744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312664" y="38176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Service menerima </a:t>
            </a:r>
            <a:r>
              <a:rPr sz="900" b="0" i="0">
                <a:solidFill>
                  <a:srgbClr val="B5482A"/>
                </a:solidFill>
                <a:latin typeface="Inconsolata"/>
              </a:rPr>
              <a:t>uow</a:t>
            </a:r>
            <a:r>
              <a:rPr sz="900" b="0" i="0">
                <a:solidFill>
                  <a:srgbClr val="434343"/>
                </a:solidFill>
                <a:latin typeface="Inter"/>
              </a:rPr>
              <a:t>, bukan repository</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Semua langkah dalam satu </a:t>
            </a:r>
            <a:r>
              <a:rPr sz="900" b="0" i="0">
                <a:solidFill>
                  <a:srgbClr val="B5482A"/>
                </a:solidFill>
                <a:latin typeface="Inconsolata"/>
              </a:rPr>
              <a:t>with self.uow:</a:t>
            </a:r>
            <a:r>
              <a:rPr sz="900" b="0" i="0">
                <a:solidFill>
                  <a:srgbClr val="434343"/>
                </a:solidFill>
                <a:latin typeface="Inter"/>
              </a:rPr>
              <a:t>, satu </a:t>
            </a:r>
            <a:r>
              <a:rPr sz="900" b="0" i="0">
                <a:solidFill>
                  <a:srgbClr val="B5482A"/>
                </a:solidFill>
                <a:latin typeface="Inconsolata"/>
              </a:rPr>
              <a:t>commit()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Notifikasi dikirim </a:t>
            </a:r>
            <a:r>
              <a:rPr sz="900" b="1" i="0">
                <a:solidFill>
                  <a:srgbClr val="434343"/>
                </a:solidFill>
                <a:latin typeface="Inter"/>
              </a:rPr>
              <a:t>setelah</a:t>
            </a:r>
            <a:r>
              <a:rPr sz="900" b="0" i="0">
                <a:solidFill>
                  <a:srgbClr val="434343"/>
                </a:solidFill>
                <a:latin typeface="Inter"/>
              </a:rPr>
              <a:t> commit</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cancel_order</a:t>
            </a:r>
            <a:r>
              <a:rPr sz="900" b="0" i="0">
                <a:solidFill>
                  <a:srgbClr val="434343"/>
                </a:solidFill>
                <a:latin typeface="Inter"/>
              </a:rPr>
              <a:t> sama polanya: </a:t>
            </a:r>
            <a:r>
              <a:rPr sz="900" b="0" i="0">
                <a:solidFill>
                  <a:srgbClr val="B5482A"/>
                </a:solidFill>
                <a:latin typeface="Inconsolata"/>
              </a:rPr>
              <a:t>release()</a:t>
            </a:r>
            <a:r>
              <a:rPr sz="900" b="0" i="0">
                <a:solidFill>
                  <a:srgbClr val="434343"/>
                </a:solidFill>
                <a:latin typeface="Inter"/>
              </a:rPr>
              <a:t> stok</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Buat </a:t>
            </a:r>
            <a:r>
              <a:rPr sz="900" b="0" i="0">
                <a:solidFill>
                  <a:srgbClr val="B5482A"/>
                </a:solidFill>
                <a:latin typeface="Inconsolata"/>
              </a:rPr>
              <a:t>application/errors.py</a:t>
            </a:r>
            <a:r>
              <a:rPr sz="900" b="0" i="0">
                <a:solidFill>
                  <a:srgbClr val="434343"/>
                </a:solidFill>
                <a:latin typeface="Inter"/>
              </a:rPr>
              <a:t> dan </a:t>
            </a:r>
            <a:r>
              <a:rPr sz="900" b="0" i="0">
                <a:solidFill>
                  <a:srgbClr val="B5482A"/>
                </a:solidFill>
                <a:latin typeface="Inconsolata"/>
              </a:rPr>
              <a:t>ProductService</a:t>
            </a:r>
          </a:p>
        </p:txBody>
      </p:sp>
      <p:sp>
        <p:nvSpPr>
          <p:cNvPr id="38" name="Box 21"/>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Stok kurang = </a:t>
            </a:r>
            <a:r>
              <a:rPr sz="900" b="0" i="0">
                <a:solidFill>
                  <a:srgbClr val="B5482A"/>
                </a:solidFill>
                <a:latin typeface="Inconsolata"/>
              </a:rPr>
              <a:t>OutOfStock</a:t>
            </a:r>
            <a:r>
              <a:rPr sz="900" b="0" i="0">
                <a:solidFill>
                  <a:srgbClr val="434343"/>
                </a:solidFill>
                <a:latin typeface="Inter"/>
              </a:rPr>
              <a:t>, commit tidak terjadi.</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7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api/schemas.py: Request &amp; Response</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app/api/schemas.py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ProductIn</a:t>
            </a:r>
            <a:r>
              <a:rPr sz="750" i="0">
                <a:solidFill>
                  <a:srgbClr val="E6EDF3"/>
                </a:solidFill>
                <a:latin typeface="Inconsolata"/>
              </a:rPr>
              <a:t>(</a:t>
            </a:r>
            <a:r>
              <a:rPr sz="750" i="0">
                <a:solidFill>
                  <a:srgbClr val="7FDBCA"/>
                </a:solidFill>
                <a:latin typeface="Inconsolata"/>
              </a:rPr>
              <a:t>BaseModel</a:t>
            </a:r>
            <a:r>
              <a:rPr sz="750" i="0">
                <a:solidFill>
                  <a:srgbClr val="E6EDF3"/>
                </a:solidFill>
                <a:latin typeface="Inconsolata"/>
              </a:rPr>
              <a:t>):</a:t>
            </a:r>
          </a:p>
          <a:p>
            <a:pPr>
              <a:lnSpc>
                <a:spcPct val="111111"/>
              </a:lnSpc>
              <a:spcAft>
                <a:spcPts val="0"/>
              </a:spcAft>
            </a:pPr>
            <a:r>
              <a:rPr sz="750" i="0">
                <a:solidFill>
                  <a:srgbClr val="E6EDF3"/>
                </a:solidFill>
                <a:latin typeface="Inconsolata"/>
              </a:rPr>
              <a:t>    name: </a:t>
            </a:r>
            <a:r>
              <a:rPr sz="750" i="0">
                <a:solidFill>
                  <a:srgbClr val="C3A6FF"/>
                </a:solidFill>
                <a:latin typeface="Inconsolata"/>
              </a:rPr>
              <a:t>str</a:t>
            </a:r>
            <a:r>
              <a:rPr sz="750" i="0">
                <a:solidFill>
                  <a:srgbClr val="E6EDF3"/>
                </a:solidFill>
                <a:latin typeface="Inconsolata"/>
              </a:rPr>
              <a:t> = </a:t>
            </a:r>
            <a:r>
              <a:rPr sz="750" i="0">
                <a:solidFill>
                  <a:srgbClr val="7FDBCA"/>
                </a:solidFill>
                <a:latin typeface="Inconsolata"/>
              </a:rPr>
              <a:t>Field</a:t>
            </a:r>
            <a:r>
              <a:rPr sz="750" i="0">
                <a:solidFill>
                  <a:srgbClr val="E6EDF3"/>
                </a:solidFill>
                <a:latin typeface="Inconsolata"/>
              </a:rPr>
              <a:t>(min_length=</a:t>
            </a:r>
            <a:r>
              <a:rPr sz="750" i="0">
                <a:solidFill>
                  <a:srgbClr val="F9C97A"/>
                </a:solidFill>
                <a:latin typeface="Inconsolata"/>
              </a:rPr>
              <a:t>1</a:t>
            </a:r>
            <a:r>
              <a:rPr sz="750" i="0">
                <a:solidFill>
                  <a:srgbClr val="E6EDF3"/>
                </a:solidFill>
                <a:latin typeface="Inconsolata"/>
              </a:rPr>
              <a:t>, examples=[</a:t>
            </a:r>
            <a:r>
              <a:rPr sz="750" i="0">
                <a:solidFill>
                  <a:srgbClr val="A5D6A7"/>
                </a:solidFill>
                <a:latin typeface="Inconsolata"/>
              </a:rPr>
              <a:t>"Keyboard"</a:t>
            </a:r>
            <a:r>
              <a:rPr sz="750" i="0">
                <a:solidFill>
                  <a:srgbClr val="E6EDF3"/>
                </a:solidFill>
                <a:latin typeface="Inconsolata"/>
              </a:rPr>
              <a:t>])</a:t>
            </a:r>
          </a:p>
          <a:p>
            <a:pPr>
              <a:lnSpc>
                <a:spcPct val="111111"/>
              </a:lnSpc>
              <a:spcAft>
                <a:spcPts val="0"/>
              </a:spcAft>
            </a:pPr>
            <a:r>
              <a:rPr sz="750" i="0">
                <a:solidFill>
                  <a:srgbClr val="E6EDF3"/>
                </a:solidFill>
                <a:latin typeface="Inconsolata"/>
              </a:rPr>
              <a:t>    price: </a:t>
            </a:r>
            <a:r>
              <a:rPr sz="750" i="0">
                <a:solidFill>
                  <a:srgbClr val="C3A6FF"/>
                </a:solidFill>
                <a:latin typeface="Inconsolata"/>
              </a:rPr>
              <a:t>int</a:t>
            </a:r>
            <a:r>
              <a:rPr sz="750" i="0">
                <a:solidFill>
                  <a:srgbClr val="E6EDF3"/>
                </a:solidFill>
                <a:latin typeface="Inconsolata"/>
              </a:rPr>
              <a:t> = </a:t>
            </a:r>
            <a:r>
              <a:rPr sz="750" i="0">
                <a:solidFill>
                  <a:srgbClr val="7FDBCA"/>
                </a:solidFill>
                <a:latin typeface="Inconsolata"/>
              </a:rPr>
              <a:t>Field</a:t>
            </a:r>
            <a:r>
              <a:rPr sz="750" i="0">
                <a:solidFill>
                  <a:srgbClr val="E6EDF3"/>
                </a:solidFill>
                <a:latin typeface="Inconsolata"/>
              </a:rPr>
              <a:t>(gt=</a:t>
            </a:r>
            <a:r>
              <a:rPr sz="750" i="0">
                <a:solidFill>
                  <a:srgbClr val="F9C97A"/>
                </a:solidFill>
                <a:latin typeface="Inconsolata"/>
              </a:rPr>
              <a:t>0</a:t>
            </a:r>
            <a:r>
              <a:rPr sz="750" i="0">
                <a:solidFill>
                  <a:srgbClr val="E6EDF3"/>
                </a:solidFill>
                <a:latin typeface="Inconsolata"/>
              </a:rPr>
              <a:t>, examples=[</a:t>
            </a:r>
            <a:r>
              <a:rPr sz="750" i="0">
                <a:solidFill>
                  <a:srgbClr val="F9C97A"/>
                </a:solidFill>
                <a:latin typeface="Inconsolata"/>
              </a:rPr>
              <a:t>500_000</a:t>
            </a:r>
            <a:r>
              <a:rPr sz="750" i="0">
                <a:solidFill>
                  <a:srgbClr val="E6EDF3"/>
                </a:solidFill>
                <a:latin typeface="Inconsolata"/>
              </a:rPr>
              <a:t>])</a:t>
            </a:r>
          </a:p>
          <a:p>
            <a:pPr>
              <a:lnSpc>
                <a:spcPct val="111111"/>
              </a:lnSpc>
              <a:spcAft>
                <a:spcPts val="0"/>
              </a:spcAft>
            </a:pPr>
            <a:r>
              <a:rPr sz="750" i="0">
                <a:solidFill>
                  <a:srgbClr val="E6EDF3"/>
                </a:solidFill>
                <a:latin typeface="Inconsolata"/>
              </a:rPr>
              <a:t>    stock: </a:t>
            </a:r>
            <a:r>
              <a:rPr sz="750" i="0">
                <a:solidFill>
                  <a:srgbClr val="C3A6FF"/>
                </a:solidFill>
                <a:latin typeface="Inconsolata"/>
              </a:rPr>
              <a:t>int</a:t>
            </a:r>
            <a:r>
              <a:rPr sz="750" i="0">
                <a:solidFill>
                  <a:srgbClr val="E6EDF3"/>
                </a:solidFill>
                <a:latin typeface="Inconsolata"/>
              </a:rPr>
              <a:t> = </a:t>
            </a:r>
            <a:r>
              <a:rPr sz="750" i="0">
                <a:solidFill>
                  <a:srgbClr val="7FDBCA"/>
                </a:solidFill>
                <a:latin typeface="Inconsolata"/>
              </a:rPr>
              <a:t>Field</a:t>
            </a:r>
            <a:r>
              <a:rPr sz="750" i="0">
                <a:solidFill>
                  <a:srgbClr val="E6EDF3"/>
                </a:solidFill>
                <a:latin typeface="Inconsolata"/>
              </a:rPr>
              <a:t>(ge=</a:t>
            </a:r>
            <a:r>
              <a:rPr sz="750" i="0">
                <a:solidFill>
                  <a:srgbClr val="F9C97A"/>
                </a:solidFill>
                <a:latin typeface="Inconsolata"/>
              </a:rPr>
              <a:t>0</a:t>
            </a:r>
            <a:r>
              <a:rPr sz="750" i="0">
                <a:solidFill>
                  <a:srgbClr val="E6EDF3"/>
                </a:solidFill>
                <a:latin typeface="Inconsolata"/>
              </a:rPr>
              <a:t>, examples=[</a:t>
            </a:r>
            <a:r>
              <a:rPr sz="750" i="0">
                <a:solidFill>
                  <a:srgbClr val="F9C97A"/>
                </a:solidFill>
                <a:latin typeface="Inconsolata"/>
              </a:rPr>
              <a:t>10</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OrderItemIn</a:t>
            </a:r>
            <a:r>
              <a:rPr sz="750" i="0">
                <a:solidFill>
                  <a:srgbClr val="E6EDF3"/>
                </a:solidFill>
                <a:latin typeface="Inconsolata"/>
              </a:rPr>
              <a:t>(</a:t>
            </a:r>
            <a:r>
              <a:rPr sz="750" i="0">
                <a:solidFill>
                  <a:srgbClr val="7FDBCA"/>
                </a:solidFill>
                <a:latin typeface="Inconsolata"/>
              </a:rPr>
              <a:t>BaseModel</a:t>
            </a:r>
            <a:r>
              <a:rPr sz="750" i="0">
                <a:solidFill>
                  <a:srgbClr val="E6EDF3"/>
                </a:solidFill>
                <a:latin typeface="Inconsolata"/>
              </a:rPr>
              <a:t>):</a:t>
            </a:r>
          </a:p>
          <a:p>
            <a:pPr>
              <a:lnSpc>
                <a:spcPct val="111111"/>
              </a:lnSpc>
              <a:spcAft>
                <a:spcPts val="0"/>
              </a:spcAft>
            </a:pPr>
            <a:r>
              <a:rPr sz="750" i="0">
                <a:solidFill>
                  <a:srgbClr val="E6EDF3"/>
                </a:solidFill>
                <a:latin typeface="Inconsolata"/>
              </a:rPr>
              <a:t>    product_id: </a:t>
            </a:r>
            <a:r>
              <a:rPr sz="750" i="0">
                <a:solidFill>
                  <a:srgbClr val="C3A6FF"/>
                </a:solidFill>
                <a:latin typeface="Inconsolata"/>
              </a:rPr>
              <a:t>int</a:t>
            </a:r>
            <a:r>
              <a:rPr sz="750" i="0">
                <a:solidFill>
                  <a:srgbClr val="E6EDF3"/>
                </a:solidFill>
                <a:latin typeface="Inconsolata"/>
              </a:rPr>
              <a:t> = </a:t>
            </a:r>
            <a:r>
              <a:rPr sz="750" i="0">
                <a:solidFill>
                  <a:srgbClr val="7FDBCA"/>
                </a:solidFill>
                <a:latin typeface="Inconsolata"/>
              </a:rPr>
              <a:t>Field</a:t>
            </a:r>
            <a:r>
              <a:rPr sz="750" i="0">
                <a:solidFill>
                  <a:srgbClr val="E6EDF3"/>
                </a:solidFill>
                <a:latin typeface="Inconsolata"/>
              </a:rPr>
              <a:t>(gt=</a:t>
            </a:r>
            <a:r>
              <a:rPr sz="750" i="0">
                <a:solidFill>
                  <a:srgbClr val="F9C97A"/>
                </a:solidFill>
                <a:latin typeface="Inconsolata"/>
              </a:rPr>
              <a:t>0</a:t>
            </a:r>
            <a:r>
              <a:rPr sz="750" i="0">
                <a:solidFill>
                  <a:srgbClr val="E6EDF3"/>
                </a:solidFill>
                <a:latin typeface="Inconsolata"/>
              </a:rPr>
              <a:t>, examples=[</a:t>
            </a:r>
            <a:r>
              <a:rPr sz="750" i="0">
                <a:solidFill>
                  <a:srgbClr val="F9C97A"/>
                </a:solidFill>
                <a:latin typeface="Inconsolata"/>
              </a:rPr>
              <a:t>1</a:t>
            </a:r>
            <a:r>
              <a:rPr sz="750" i="0">
                <a:solidFill>
                  <a:srgbClr val="E6EDF3"/>
                </a:solidFill>
                <a:latin typeface="Inconsolata"/>
              </a:rPr>
              <a:t>])</a:t>
            </a:r>
          </a:p>
          <a:p>
            <a:pPr>
              <a:lnSpc>
                <a:spcPct val="111111"/>
              </a:lnSpc>
              <a:spcAft>
                <a:spcPts val="0"/>
              </a:spcAft>
            </a:pPr>
            <a:r>
              <a:rPr sz="750" i="0">
                <a:solidFill>
                  <a:srgbClr val="E6EDF3"/>
                </a:solidFill>
                <a:latin typeface="Inconsolata"/>
              </a:rPr>
              <a:t>    qty: </a:t>
            </a:r>
            <a:r>
              <a:rPr sz="750" i="0">
                <a:solidFill>
                  <a:srgbClr val="C3A6FF"/>
                </a:solidFill>
                <a:latin typeface="Inconsolata"/>
              </a:rPr>
              <a:t>int</a:t>
            </a:r>
            <a:r>
              <a:rPr sz="750" i="0">
                <a:solidFill>
                  <a:srgbClr val="E6EDF3"/>
                </a:solidFill>
                <a:latin typeface="Inconsolata"/>
              </a:rPr>
              <a:t> = </a:t>
            </a:r>
            <a:r>
              <a:rPr sz="750" i="0">
                <a:solidFill>
                  <a:srgbClr val="7FDBCA"/>
                </a:solidFill>
                <a:latin typeface="Inconsolata"/>
              </a:rPr>
              <a:t>Field</a:t>
            </a:r>
            <a:r>
              <a:rPr sz="750" i="0">
                <a:solidFill>
                  <a:srgbClr val="E6EDF3"/>
                </a:solidFill>
                <a:latin typeface="Inconsolata"/>
              </a:rPr>
              <a:t>(gt=</a:t>
            </a:r>
            <a:r>
              <a:rPr sz="750" i="0">
                <a:solidFill>
                  <a:srgbClr val="F9C97A"/>
                </a:solidFill>
                <a:latin typeface="Inconsolata"/>
              </a:rPr>
              <a:t>0</a:t>
            </a:r>
            <a:r>
              <a:rPr sz="750" i="0">
                <a:solidFill>
                  <a:srgbClr val="E6EDF3"/>
                </a:solidFill>
                <a:latin typeface="Inconsolata"/>
              </a:rPr>
              <a:t>, examples=[</a:t>
            </a:r>
            <a:r>
              <a:rPr sz="750" i="0">
                <a:solidFill>
                  <a:srgbClr val="F9C97A"/>
                </a:solidFill>
                <a:latin typeface="Inconsolata"/>
              </a:rPr>
              <a:t>2</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OrderIn</a:t>
            </a:r>
            <a:r>
              <a:rPr sz="750" i="0">
                <a:solidFill>
                  <a:srgbClr val="E6EDF3"/>
                </a:solidFill>
                <a:latin typeface="Inconsolata"/>
              </a:rPr>
              <a:t>(</a:t>
            </a:r>
            <a:r>
              <a:rPr sz="750" i="0">
                <a:solidFill>
                  <a:srgbClr val="7FDBCA"/>
                </a:solidFill>
                <a:latin typeface="Inconsolata"/>
              </a:rPr>
              <a:t>BaseModel</a:t>
            </a:r>
            <a:r>
              <a:rPr sz="750" i="0">
                <a:solidFill>
                  <a:srgbClr val="E6EDF3"/>
                </a:solidFill>
                <a:latin typeface="Inconsolata"/>
              </a:rPr>
              <a:t>):</a:t>
            </a:r>
          </a:p>
          <a:p>
            <a:pPr>
              <a:lnSpc>
                <a:spcPct val="111111"/>
              </a:lnSpc>
              <a:spcAft>
                <a:spcPts val="0"/>
              </a:spcAft>
            </a:pPr>
            <a:r>
              <a:rPr sz="750" i="0">
                <a:solidFill>
                  <a:srgbClr val="E6EDF3"/>
                </a:solidFill>
                <a:latin typeface="Inconsolata"/>
              </a:rPr>
              <a:t>    customer: </a:t>
            </a:r>
            <a:r>
              <a:rPr sz="750" i="0">
                <a:solidFill>
                  <a:srgbClr val="C3A6FF"/>
                </a:solidFill>
                <a:latin typeface="Inconsolata"/>
              </a:rPr>
              <a:t>str</a:t>
            </a:r>
            <a:r>
              <a:rPr sz="750" i="0">
                <a:solidFill>
                  <a:srgbClr val="E6EDF3"/>
                </a:solidFill>
                <a:latin typeface="Inconsolata"/>
              </a:rPr>
              <a:t> = </a:t>
            </a:r>
            <a:r>
              <a:rPr sz="750" i="0">
                <a:solidFill>
                  <a:srgbClr val="7FDBCA"/>
                </a:solidFill>
                <a:latin typeface="Inconsolata"/>
              </a:rPr>
              <a:t>Field</a:t>
            </a:r>
            <a:r>
              <a:rPr sz="750" i="0">
                <a:solidFill>
                  <a:srgbClr val="E6EDF3"/>
                </a:solidFill>
                <a:latin typeface="Inconsolata"/>
              </a:rPr>
              <a:t>(min_length=</a:t>
            </a:r>
            <a:r>
              <a:rPr sz="750" i="0">
                <a:solidFill>
                  <a:srgbClr val="F9C97A"/>
                </a:solidFill>
                <a:latin typeface="Inconsolata"/>
              </a:rPr>
              <a:t>1</a:t>
            </a:r>
            <a:r>
              <a:rPr sz="750" i="0">
                <a:solidFill>
                  <a:srgbClr val="E6EDF3"/>
                </a:solidFill>
                <a:latin typeface="Inconsolata"/>
              </a:rPr>
              <a:t>, examples=[</a:t>
            </a:r>
            <a:r>
              <a:rPr sz="750" i="0">
                <a:solidFill>
                  <a:srgbClr val="A5D6A7"/>
                </a:solidFill>
                <a:latin typeface="Inconsolata"/>
              </a:rPr>
              <a:t>"budi@mail.com"</a:t>
            </a:r>
            <a:r>
              <a:rPr sz="750" i="0">
                <a:solidFill>
                  <a:srgbClr val="E6EDF3"/>
                </a:solidFill>
                <a:latin typeface="Inconsolata"/>
              </a:rPr>
              <a:t>])</a:t>
            </a:r>
          </a:p>
          <a:p>
            <a:pPr>
              <a:lnSpc>
                <a:spcPct val="111111"/>
              </a:lnSpc>
              <a:spcAft>
                <a:spcPts val="0"/>
              </a:spcAft>
            </a:pPr>
            <a:r>
              <a:rPr sz="750" i="0">
                <a:solidFill>
                  <a:srgbClr val="E6EDF3"/>
                </a:solidFill>
                <a:latin typeface="Inconsolata"/>
              </a:rPr>
              <a:t>    customer_type: </a:t>
            </a:r>
            <a:r>
              <a:rPr sz="750" i="0">
                <a:solidFill>
                  <a:srgbClr val="C3A6FF"/>
                </a:solidFill>
                <a:latin typeface="Inconsolata"/>
              </a:rPr>
              <a:t>str</a:t>
            </a:r>
            <a:r>
              <a:rPr sz="750" i="0">
                <a:solidFill>
                  <a:srgbClr val="E6EDF3"/>
                </a:solidFill>
                <a:latin typeface="Inconsolata"/>
              </a:rPr>
              <a:t> = </a:t>
            </a:r>
            <a:r>
              <a:rPr sz="750" i="0">
                <a:solidFill>
                  <a:srgbClr val="7FDBCA"/>
                </a:solidFill>
                <a:latin typeface="Inconsolata"/>
              </a:rPr>
              <a:t>Field</a:t>
            </a:r>
            <a:r>
              <a:rPr sz="750" i="0">
                <a:solidFill>
                  <a:srgbClr val="E6EDF3"/>
                </a:solidFill>
                <a:latin typeface="Inconsolata"/>
              </a:rPr>
              <a:t>(</a:t>
            </a:r>
            <a:r>
              <a:rPr sz="750" i="0">
                <a:solidFill>
                  <a:srgbClr val="A5D6A7"/>
                </a:solidFill>
                <a:latin typeface="Inconsolata"/>
              </a:rPr>
              <a:t>"regular"</a:t>
            </a:r>
            <a:r>
              <a:rPr sz="750" i="0">
                <a:solidFill>
                  <a:srgbClr val="E6EDF3"/>
                </a:solidFill>
                <a:latin typeface="Inconsolata"/>
              </a:rPr>
              <a:t>, examples=[</a:t>
            </a:r>
            <a:r>
              <a:rPr sz="750" i="0">
                <a:solidFill>
                  <a:srgbClr val="A5D6A7"/>
                </a:solidFill>
                <a:latin typeface="Inconsolata"/>
              </a:rPr>
              <a:t>"vip"</a:t>
            </a:r>
            <a:r>
              <a:rPr sz="750" i="0">
                <a:solidFill>
                  <a:srgbClr val="E6EDF3"/>
                </a:solidFill>
                <a:latin typeface="Inconsolata"/>
              </a:rPr>
              <a:t>])</a:t>
            </a:r>
          </a:p>
          <a:p>
            <a:pPr>
              <a:lnSpc>
                <a:spcPct val="111111"/>
              </a:lnSpc>
              <a:spcAft>
                <a:spcPts val="0"/>
              </a:spcAft>
            </a:pPr>
            <a:r>
              <a:rPr sz="750" i="0">
                <a:solidFill>
                  <a:srgbClr val="E6EDF3"/>
                </a:solidFill>
                <a:latin typeface="Inconsolata"/>
              </a:rPr>
              <a:t>    items: </a:t>
            </a:r>
            <a:r>
              <a:rPr sz="750" i="0">
                <a:solidFill>
                  <a:srgbClr val="C3A6FF"/>
                </a:solidFill>
                <a:latin typeface="Inconsolata"/>
              </a:rPr>
              <a:t>list</a:t>
            </a:r>
            <a:r>
              <a:rPr sz="750" i="0">
                <a:solidFill>
                  <a:srgbClr val="E6EDF3"/>
                </a:solidFill>
                <a:latin typeface="Inconsolata"/>
              </a:rPr>
              <a:t>[</a:t>
            </a:r>
            <a:r>
              <a:rPr sz="750" i="0">
                <a:solidFill>
                  <a:srgbClr val="7FDBCA"/>
                </a:solidFill>
                <a:latin typeface="Inconsolata"/>
              </a:rPr>
              <a:t>OrderItemIn</a:t>
            </a:r>
            <a:r>
              <a:rPr sz="750" i="0">
                <a:solidFill>
                  <a:srgbClr val="E6EDF3"/>
                </a:solidFill>
                <a:latin typeface="Inconsolata"/>
              </a:rPr>
              <a:t>] = </a:t>
            </a:r>
            <a:r>
              <a:rPr sz="750" i="0">
                <a:solidFill>
                  <a:srgbClr val="7FDBCA"/>
                </a:solidFill>
                <a:latin typeface="Inconsolata"/>
              </a:rPr>
              <a:t>Field</a:t>
            </a:r>
            <a:r>
              <a:rPr sz="750" i="0">
                <a:solidFill>
                  <a:srgbClr val="E6EDF3"/>
                </a:solidFill>
                <a:latin typeface="Inconsolata"/>
              </a:rPr>
              <a:t>(min_length=</a:t>
            </a:r>
            <a:r>
              <a:rPr sz="750" i="0">
                <a:solidFill>
                  <a:srgbClr val="F9C97A"/>
                </a:solidFill>
                <a:latin typeface="Inconsolata"/>
              </a:rPr>
              <a:t>1</a:t>
            </a:r>
            <a:r>
              <a:rPr sz="750" i="0">
                <a:solidFill>
                  <a:srgbClr val="E6EDF3"/>
                </a:solidFill>
                <a:latin typeface="Inconsolata"/>
              </a:rPr>
              <a:t>)</a:t>
            </a:r>
          </a:p>
          <a:p>
            <a:pPr>
              <a:lnSpc>
                <a:spcPct val="111111"/>
              </a:lnSpc>
              <a:spcAft>
                <a:spcPts val="0"/>
              </a:spcAft>
            </a:pPr>
            <a:r>
              <a:rPr sz="750" i="0">
                <a:solidFill>
                  <a:srgbClr val="E6EDF3"/>
                </a:solidFill>
                <a:latin typeface="Inconsolata"/>
              </a:rPr>
              <a:t>...</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ErrorBody</a:t>
            </a:r>
            <a:r>
              <a:rPr sz="750" i="0">
                <a:solidFill>
                  <a:srgbClr val="E6EDF3"/>
                </a:solidFill>
                <a:latin typeface="Inconsolata"/>
              </a:rPr>
              <a:t>(</a:t>
            </a:r>
            <a:r>
              <a:rPr sz="750" i="0">
                <a:solidFill>
                  <a:srgbClr val="7FDBCA"/>
                </a:solidFill>
                <a:latin typeface="Inconsolata"/>
              </a:rPr>
              <a:t>BaseModel</a:t>
            </a:r>
            <a:r>
              <a:rPr sz="750" i="0">
                <a:solidFill>
                  <a:srgbClr val="E6EDF3"/>
                </a:solidFill>
                <a:latin typeface="Inconsolata"/>
              </a:rPr>
              <a:t>):</a:t>
            </a:r>
          </a:p>
          <a:p>
            <a:pPr>
              <a:lnSpc>
                <a:spcPct val="111111"/>
              </a:lnSpc>
              <a:spcAft>
                <a:spcPts val="0"/>
              </a:spcAft>
            </a:pPr>
            <a:r>
              <a:rPr sz="750" i="0">
                <a:solidFill>
                  <a:srgbClr val="E6EDF3"/>
                </a:solidFill>
                <a:latin typeface="Inconsolata"/>
              </a:rPr>
              <a:t>    code: </a:t>
            </a:r>
            <a:r>
              <a:rPr sz="750" i="0">
                <a:solidFill>
                  <a:srgbClr val="C3A6FF"/>
                </a:solidFill>
                <a:latin typeface="Inconsolata"/>
              </a:rPr>
              <a:t>str</a:t>
            </a:r>
          </a:p>
          <a:p>
            <a:pPr>
              <a:lnSpc>
                <a:spcPct val="111111"/>
              </a:lnSpc>
              <a:spcAft>
                <a:spcPts val="0"/>
              </a:spcAft>
            </a:pPr>
            <a:r>
              <a:rPr sz="750" i="0">
                <a:solidFill>
                  <a:srgbClr val="E6EDF3"/>
                </a:solidFill>
                <a:latin typeface="Inconsolata"/>
              </a:rPr>
              <a:t>    message: </a:t>
            </a:r>
            <a:r>
              <a:rPr sz="750" i="0">
                <a:solidFill>
                  <a:srgbClr val="C3A6FF"/>
                </a:solidFill>
                <a:latin typeface="Inconsolata"/>
              </a:rPr>
              <a:t>str</a:t>
            </a:r>
          </a:p>
          <a:p>
            <a:pPr>
              <a:lnSpc>
                <a:spcPct val="111111"/>
              </a:lnSpc>
              <a:spcAft>
                <a:spcPts val="0"/>
              </a:spcAft>
            </a:pPr>
            <a:r>
              <a:rPr sz="750" i="0">
                <a:solidFill>
                  <a:srgbClr val="E6EDF3"/>
                </a:solidFill>
                <a:latin typeface="Inconsolata"/>
              </a:rPr>
              <a:t>    details: </a:t>
            </a:r>
            <a:r>
              <a:rPr sz="750" i="0">
                <a:solidFill>
                  <a:srgbClr val="C3A6FF"/>
                </a:solidFill>
                <a:latin typeface="Inconsolata"/>
              </a:rPr>
              <a:t>list</a:t>
            </a:r>
            <a:r>
              <a:rPr sz="750" i="0">
                <a:solidFill>
                  <a:srgbClr val="E6EDF3"/>
                </a:solidFill>
                <a:latin typeface="Inconsolata"/>
              </a:rPr>
              <a:t>[</a:t>
            </a:r>
            <a:r>
              <a:rPr sz="750" i="0">
                <a:solidFill>
                  <a:srgbClr val="C3A6FF"/>
                </a:solidFill>
                <a:latin typeface="Inconsolata"/>
              </a:rPr>
              <a:t>dict</a:t>
            </a:r>
            <a:r>
              <a:rPr sz="750" i="0">
                <a:solidFill>
                  <a:srgbClr val="E6EDF3"/>
                </a:solidFill>
                <a:latin typeface="Inconsolata"/>
              </a:rPr>
              <a:t>] | </a:t>
            </a:r>
            <a:r>
              <a:rPr sz="750" i="0">
                <a:solidFill>
                  <a:srgbClr val="FF8E6E"/>
                </a:solidFill>
                <a:latin typeface="Inconsolata"/>
              </a:rPr>
              <a:t>None</a:t>
            </a:r>
            <a:r>
              <a:rPr sz="750" i="0">
                <a:solidFill>
                  <a:srgbClr val="E6EDF3"/>
                </a:solidFill>
                <a:latin typeface="Inconsolata"/>
              </a:rPr>
              <a:t> = </a:t>
            </a:r>
            <a:r>
              <a:rPr sz="750" i="0">
                <a:solidFill>
                  <a:srgbClr val="FF8E6E"/>
                </a:solidFill>
                <a:latin typeface="Inconsolata"/>
              </a:rPr>
              <a:t>None</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ErrorOut</a:t>
            </a:r>
            <a:r>
              <a:rPr sz="750" i="0">
                <a:solidFill>
                  <a:srgbClr val="E6EDF3"/>
                </a:solidFill>
                <a:latin typeface="Inconsolata"/>
              </a:rPr>
              <a:t>(</a:t>
            </a:r>
            <a:r>
              <a:rPr sz="750" i="0">
                <a:solidFill>
                  <a:srgbClr val="7FDBCA"/>
                </a:solidFill>
                <a:latin typeface="Inconsolata"/>
              </a:rPr>
              <a:t>BaseModel</a:t>
            </a:r>
            <a:r>
              <a:rPr sz="750" i="0">
                <a:solidFill>
                  <a:srgbClr val="E6EDF3"/>
                </a:solidFill>
                <a:latin typeface="Inconsolata"/>
              </a:rPr>
              <a:t>):</a:t>
            </a:r>
          </a:p>
          <a:p>
            <a:pPr>
              <a:lnSpc>
                <a:spcPct val="111111"/>
              </a:lnSpc>
              <a:spcAft>
                <a:spcPts val="0"/>
              </a:spcAft>
            </a:pPr>
            <a:r>
              <a:rPr sz="750" i="0">
                <a:solidFill>
                  <a:srgbClr val="E6EDF3"/>
                </a:solidFill>
                <a:latin typeface="Inconsolata"/>
              </a:rPr>
              <a:t>    error: </a:t>
            </a:r>
            <a:r>
              <a:rPr sz="750" i="0">
                <a:solidFill>
                  <a:srgbClr val="7FDBCA"/>
                </a:solidFill>
                <a:latin typeface="Inconsolata"/>
              </a:rPr>
              <a:t>ErrorBody</a:t>
            </a:r>
          </a:p>
        </p:txBody>
      </p:sp>
      <p:sp>
        <p:nvSpPr>
          <p:cNvPr id="29" name="Box 12"/>
          <p:cNvSpPr/>
          <p:nvPr/>
        </p:nvSpPr>
        <p:spPr>
          <a:xfrm>
            <a:off x="704088" y="2462022"/>
            <a:ext cx="4727448" cy="373380"/>
          </a:xfrm>
          <a:prstGeom prst="roundRect">
            <a:avLst>
              <a:gd name="adj" fmla="val 1224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2529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605022"/>
            <a:ext cx="4727448" cy="881380"/>
          </a:xfrm>
          <a:prstGeom prst="roundRect">
            <a:avLst>
              <a:gd name="adj" fmla="val 518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3926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3" name="Box 16"/>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Request order cukup </a:t>
            </a:r>
            <a:r>
              <a:rPr sz="900" b="0" i="0">
                <a:solidFill>
                  <a:srgbClr val="B5482A"/>
                </a:solidFill>
                <a:latin typeface="Inconsolata"/>
              </a:rPr>
              <a:t>product_id</a:t>
            </a:r>
            <a:r>
              <a:rPr sz="900" b="0" i="0">
                <a:solidFill>
                  <a:srgbClr val="434343"/>
                </a:solidFill>
                <a:latin typeface="Inter"/>
              </a:rPr>
              <a:t> dan </a:t>
            </a:r>
            <a:r>
              <a:rPr sz="900" b="0" i="0">
                <a:solidFill>
                  <a:srgbClr val="B5482A"/>
                </a:solidFill>
                <a:latin typeface="Inconsolata"/>
              </a:rPr>
              <a:t>qty</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ProductOut</a:t>
            </a:r>
            <a:r>
              <a:rPr sz="900" b="0" i="0">
                <a:solidFill>
                  <a:srgbClr val="434343"/>
                </a:solidFill>
                <a:latin typeface="Inter"/>
              </a:rPr>
              <a:t> dan </a:t>
            </a:r>
            <a:r>
              <a:rPr sz="900" b="0" i="0">
                <a:solidFill>
                  <a:srgbClr val="B5482A"/>
                </a:solidFill>
                <a:latin typeface="Inconsolata"/>
              </a:rPr>
              <a:t>OrderOut</a:t>
            </a:r>
            <a:r>
              <a:rPr sz="900" b="0" i="0">
                <a:solidFill>
                  <a:srgbClr val="434343"/>
                </a:solidFill>
                <a:latin typeface="Inter"/>
              </a:rPr>
              <a:t> punya </a:t>
            </a:r>
            <a:r>
              <a:rPr sz="900" b="0" i="0">
                <a:solidFill>
                  <a:srgbClr val="B5482A"/>
                </a:solidFill>
                <a:latin typeface="Inconsolata"/>
              </a:rPr>
              <a:t>from_domain()</a:t>
            </a:r>
            <a:r>
              <a:rPr sz="900" b="0" i="0">
                <a:solidFill>
                  <a:srgbClr val="434343"/>
                </a:solidFill>
                <a:latin typeface="Inter"/>
              </a:rPr>
              <a:t> untuk mengubah object domain jadi response</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ErrorOut</a:t>
            </a:r>
            <a:r>
              <a:rPr sz="900" b="0" i="0">
                <a:solidFill>
                  <a:srgbClr val="434343"/>
                </a:solidFill>
                <a:latin typeface="Inter"/>
              </a:rPr>
              <a:t>: bentuk error yang sama untuk semua endpoint, tercatat di </a:t>
            </a:r>
            <a:r>
              <a:rPr sz="900" b="0" i="0">
                <a:solidFill>
                  <a:srgbClr val="B5482A"/>
                </a:solidFill>
                <a:latin typeface="Inconsolata"/>
              </a:rPr>
              <a:t>/docs</a:t>
            </a:r>
          </a:p>
        </p:txBody>
      </p:sp>
      <p:sp>
        <p:nvSpPr>
          <p:cNvPr id="36" name="Box 19"/>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Model </a:t>
            </a:r>
            <a:r>
              <a:rPr sz="900" b="0" i="0">
                <a:solidFill>
                  <a:srgbClr val="B5482A"/>
                </a:solidFill>
                <a:latin typeface="Inconsolata"/>
              </a:rPr>
              <a:t>Item</a:t>
            </a:r>
            <a:r>
              <a:rPr sz="900" b="0" i="0">
                <a:solidFill>
                  <a:srgbClr val="434343"/>
                </a:solidFill>
                <a:latin typeface="Inter"/>
              </a:rPr>
              <a:t>/</a:t>
            </a:r>
            <a:r>
              <a:rPr sz="900" b="0" i="0">
                <a:solidFill>
                  <a:srgbClr val="B5482A"/>
                </a:solidFill>
                <a:latin typeface="Inconsolata"/>
              </a:rPr>
              <a:t>OrderIn</a:t>
            </a:r>
            <a:r>
              <a:rPr sz="900" b="0" i="0">
                <a:solidFill>
                  <a:srgbClr val="434343"/>
                </a:solidFill>
                <a:latin typeface="Inter"/>
              </a:rPr>
              <a:t> lama di </a:t>
            </a:r>
            <a:r>
              <a:rPr sz="900" b="0" i="0">
                <a:solidFill>
                  <a:srgbClr val="B5482A"/>
                </a:solidFill>
                <a:latin typeface="Inconsolata"/>
              </a:rPr>
              <a:t>routes.py</a:t>
            </a:r>
            <a:r>
              <a:rPr sz="900" b="0" i="0">
                <a:solidFill>
                  <a:srgbClr val="434343"/>
                </a:solidFill>
                <a:latin typeface="Inter"/>
              </a:rPr>
              <a:t> dihapus.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8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api/routers/: Endpoint per Fitur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app/api/routers/orders.py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0">
                <a:solidFill>
                  <a:srgbClr val="E6EDF3"/>
                </a:solidFill>
                <a:latin typeface="Inconsolata"/>
              </a:rPr>
              <a:t>router = </a:t>
            </a:r>
            <a:r>
              <a:rPr sz="650" i="0">
                <a:solidFill>
                  <a:srgbClr val="7FDBCA"/>
                </a:solidFill>
                <a:latin typeface="Inconsolata"/>
              </a:rPr>
              <a:t>APIRouter</a:t>
            </a:r>
            <a:r>
              <a:rPr sz="650" i="0">
                <a:solidFill>
                  <a:srgbClr val="E6EDF3"/>
                </a:solidFill>
                <a:latin typeface="Inconsolata"/>
              </a:rPr>
              <a:t>(prefix=</a:t>
            </a:r>
            <a:r>
              <a:rPr sz="650" i="0">
                <a:solidFill>
                  <a:srgbClr val="A5D6A7"/>
                </a:solidFill>
                <a:latin typeface="Inconsolata"/>
              </a:rPr>
              <a:t>"/orders"</a:t>
            </a:r>
            <a:r>
              <a:rPr sz="650" i="0">
                <a:solidFill>
                  <a:srgbClr val="E6EDF3"/>
                </a:solidFill>
                <a:latin typeface="Inconsolata"/>
              </a:rPr>
              <a:t>, tags=[</a:t>
            </a:r>
            <a:r>
              <a:rPr sz="650" i="0">
                <a:solidFill>
                  <a:srgbClr val="A5D6A7"/>
                </a:solidFill>
                <a:latin typeface="Inconsolata"/>
              </a:rPr>
              <a:t>"orders"</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7FDBCA"/>
                </a:solidFill>
                <a:latin typeface="Inconsolata"/>
              </a:rPr>
              <a:t>NOT_FOUND</a:t>
            </a:r>
            <a:r>
              <a:rPr sz="650" i="0">
                <a:solidFill>
                  <a:srgbClr val="E6EDF3"/>
                </a:solidFill>
                <a:latin typeface="Inconsolata"/>
              </a:rPr>
              <a:t> = {</a:t>
            </a:r>
            <a:r>
              <a:rPr sz="650" i="0">
                <a:solidFill>
                  <a:srgbClr val="F9C97A"/>
                </a:solidFill>
                <a:latin typeface="Inconsolata"/>
              </a:rPr>
              <a:t>404</a:t>
            </a:r>
            <a:r>
              <a:rPr sz="650" i="0">
                <a:solidFill>
                  <a:srgbClr val="E6EDF3"/>
                </a:solidFill>
                <a:latin typeface="Inconsolata"/>
              </a:rPr>
              <a:t>: {</a:t>
            </a:r>
            <a:r>
              <a:rPr sz="650" i="0">
                <a:solidFill>
                  <a:srgbClr val="A5D6A7"/>
                </a:solidFill>
                <a:latin typeface="Inconsolata"/>
              </a:rPr>
              <a:t>"model"</a:t>
            </a:r>
            <a:r>
              <a:rPr sz="650" i="0">
                <a:solidFill>
                  <a:srgbClr val="E6EDF3"/>
                </a:solidFill>
                <a:latin typeface="Inconsolata"/>
              </a:rPr>
              <a:t>: </a:t>
            </a:r>
            <a:r>
              <a:rPr sz="650" i="0">
                <a:solidFill>
                  <a:srgbClr val="7FDBCA"/>
                </a:solidFill>
                <a:latin typeface="Inconsolata"/>
              </a:rPr>
              <a:t>ErrorOut</a:t>
            </a:r>
            <a:r>
              <a:rPr sz="650" i="0">
                <a:solidFill>
                  <a:srgbClr val="E6EDF3"/>
                </a:solidFill>
                <a:latin typeface="Inconsolata"/>
              </a:rPr>
              <a:t>, </a:t>
            </a:r>
            <a:r>
              <a:rPr sz="650" i="0">
                <a:solidFill>
                  <a:srgbClr val="A5D6A7"/>
                </a:solidFill>
                <a:latin typeface="Inconsolata"/>
              </a:rPr>
              <a:t>"description"</a:t>
            </a:r>
            <a:r>
              <a:rPr sz="650" i="0">
                <a:solidFill>
                  <a:srgbClr val="E6EDF3"/>
                </a:solidFill>
                <a:latin typeface="Inconsolata"/>
              </a:rPr>
              <a:t>: </a:t>
            </a:r>
            <a:r>
              <a:rPr sz="650" i="0">
                <a:solidFill>
                  <a:srgbClr val="A5D6A7"/>
                </a:solidFill>
                <a:latin typeface="Inconsolata"/>
              </a:rPr>
              <a:t>"Order atau produk tidak ditemukan"</a:t>
            </a:r>
            <a:r>
              <a:rPr sz="650" i="0">
                <a:solidFill>
                  <a:srgbClr val="E6EDF3"/>
                </a:solidFill>
                <a:latin typeface="Inconsolata"/>
              </a:rPr>
              <a:t>}}</a:t>
            </a:r>
          </a:p>
          <a:p>
            <a:pPr>
              <a:lnSpc>
                <a:spcPct val="102564"/>
              </a:lnSpc>
              <a:spcAft>
                <a:spcPts val="0"/>
              </a:spcAft>
            </a:pPr>
            <a:r>
              <a:rPr sz="650" i="0">
                <a:solidFill>
                  <a:srgbClr val="7FDBCA"/>
                </a:solidFill>
                <a:latin typeface="Inconsolata"/>
              </a:rPr>
              <a:t>CONFLICT</a:t>
            </a:r>
            <a:r>
              <a:rPr sz="650" i="0">
                <a:solidFill>
                  <a:srgbClr val="E6EDF3"/>
                </a:solidFill>
                <a:latin typeface="Inconsolata"/>
              </a:rPr>
              <a:t> = {</a:t>
            </a:r>
            <a:r>
              <a:rPr sz="650" i="0">
                <a:solidFill>
                  <a:srgbClr val="F9C97A"/>
                </a:solidFill>
                <a:latin typeface="Inconsolata"/>
              </a:rPr>
              <a:t>409</a:t>
            </a:r>
            <a:r>
              <a:rPr sz="650" i="0">
                <a:solidFill>
                  <a:srgbClr val="E6EDF3"/>
                </a:solidFill>
                <a:latin typeface="Inconsolata"/>
              </a:rPr>
              <a:t>: {</a:t>
            </a:r>
            <a:r>
              <a:rPr sz="650" i="0">
                <a:solidFill>
                  <a:srgbClr val="A5D6A7"/>
                </a:solidFill>
                <a:latin typeface="Inconsolata"/>
              </a:rPr>
              <a:t>"model"</a:t>
            </a:r>
            <a:r>
              <a:rPr sz="650" i="0">
                <a:solidFill>
                  <a:srgbClr val="E6EDF3"/>
                </a:solidFill>
                <a:latin typeface="Inconsolata"/>
              </a:rPr>
              <a:t>: </a:t>
            </a:r>
            <a:r>
              <a:rPr sz="650" i="0">
                <a:solidFill>
                  <a:srgbClr val="7FDBCA"/>
                </a:solidFill>
                <a:latin typeface="Inconsolata"/>
              </a:rPr>
              <a:t>ErrorOut</a:t>
            </a:r>
            <a:r>
              <a:rPr sz="650" i="0">
                <a:solidFill>
                  <a:srgbClr val="E6EDF3"/>
                </a:solidFill>
                <a:latin typeface="Inconsolata"/>
              </a:rPr>
              <a:t>, </a:t>
            </a:r>
            <a:r>
              <a:rPr sz="650" i="0">
                <a:solidFill>
                  <a:srgbClr val="A5D6A7"/>
                </a:solidFill>
                <a:latin typeface="Inconsolata"/>
              </a:rPr>
              <a:t>"description"</a:t>
            </a:r>
            <a:r>
              <a:rPr sz="650" i="0">
                <a:solidFill>
                  <a:srgbClr val="E6EDF3"/>
                </a:solidFill>
                <a:latin typeface="Inconsolata"/>
              </a:rPr>
              <a:t>: </a:t>
            </a:r>
            <a:r>
              <a:rPr sz="650" i="0">
                <a:solidFill>
                  <a:srgbClr val="A5D6A7"/>
                </a:solidFill>
                <a:latin typeface="Inconsolata"/>
              </a:rPr>
              <a:t>"Stok kurang atau status order tidak sesuai"</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9C97A"/>
                </a:solidFill>
                <a:latin typeface="Inconsolata"/>
              </a:rPr>
              <a:t>@router.post</a:t>
            </a:r>
            <a:r>
              <a:rPr sz="650" i="0">
                <a:solidFill>
                  <a:srgbClr val="E6EDF3"/>
                </a:solidFill>
                <a:latin typeface="Inconsolata"/>
              </a:rPr>
              <a:t>(</a:t>
            </a:r>
            <a:r>
              <a:rPr sz="650" i="0">
                <a:solidFill>
                  <a:srgbClr val="A5D6A7"/>
                </a:solidFill>
                <a:latin typeface="Inconsolata"/>
              </a:rPr>
              <a:t>""</a:t>
            </a:r>
            <a:r>
              <a:rPr sz="650" i="0">
                <a:solidFill>
                  <a:srgbClr val="E6EDF3"/>
                </a:solidFill>
                <a:latin typeface="Inconsolata"/>
              </a:rPr>
              <a:t>, status_code=</a:t>
            </a:r>
            <a:r>
              <a:rPr sz="650" i="0">
                <a:solidFill>
                  <a:srgbClr val="F9C97A"/>
                </a:solidFill>
                <a:latin typeface="Inconsolata"/>
              </a:rPr>
              <a:t>201</a:t>
            </a:r>
            <a:r>
              <a:rPr sz="650" i="0">
                <a:solidFill>
                  <a:srgbClr val="E6EDF3"/>
                </a:solidFill>
                <a:latin typeface="Inconsolata"/>
              </a:rPr>
              <a:t>, response_model=</a:t>
            </a:r>
            <a:r>
              <a:rPr sz="650" i="0">
                <a:solidFill>
                  <a:srgbClr val="7FDBCA"/>
                </a:solidFill>
                <a:latin typeface="Inconsolata"/>
              </a:rPr>
              <a:t>OrderOut</a:t>
            </a:r>
            <a:r>
              <a:rPr sz="650" i="0">
                <a:solidFill>
                  <a:srgbClr val="E6EDF3"/>
                </a:solidFill>
                <a:latin typeface="Inconsolata"/>
              </a:rPr>
              <a:t>, summary=</a:t>
            </a:r>
            <a:r>
              <a:rPr sz="650" i="0">
                <a:solidFill>
                  <a:srgbClr val="A5D6A7"/>
                </a:solidFill>
                <a:latin typeface="Inconsolata"/>
              </a:rPr>
              <a:t>"Buat order"</a:t>
            </a:r>
            <a:r>
              <a:rPr sz="650" i="0">
                <a:solidFill>
                  <a:srgbClr val="E6EDF3"/>
                </a:solidFill>
                <a:latin typeface="Inconsolata"/>
              </a:rPr>
              <a:t>,</a:t>
            </a:r>
          </a:p>
          <a:p>
            <a:pPr>
              <a:lnSpc>
                <a:spcPct val="102564"/>
              </a:lnSpc>
              <a:spcAft>
                <a:spcPts val="0"/>
              </a:spcAft>
            </a:pPr>
            <a:r>
              <a:rPr sz="650" i="0">
                <a:solidFill>
                  <a:srgbClr val="E6EDF3"/>
                </a:solidFill>
                <a:latin typeface="Inconsolata"/>
              </a:rPr>
              <a:t>             responses={</a:t>
            </a:r>
            <a:r>
              <a:rPr sz="650" i="0">
                <a:solidFill>
                  <a:srgbClr val="F9C97A"/>
                </a:solidFill>
                <a:latin typeface="Inconsolata"/>
              </a:rPr>
              <a:t>400</a:t>
            </a:r>
            <a:r>
              <a:rPr sz="650" i="0">
                <a:solidFill>
                  <a:srgbClr val="E6EDF3"/>
                </a:solidFill>
                <a:latin typeface="Inconsolata"/>
              </a:rPr>
              <a:t>: {</a:t>
            </a:r>
            <a:r>
              <a:rPr sz="650" i="0">
                <a:solidFill>
                  <a:srgbClr val="A5D6A7"/>
                </a:solidFill>
                <a:latin typeface="Inconsolata"/>
              </a:rPr>
              <a:t>"model"</a:t>
            </a:r>
            <a:r>
              <a:rPr sz="650" i="0">
                <a:solidFill>
                  <a:srgbClr val="E6EDF3"/>
                </a:solidFill>
                <a:latin typeface="Inconsolata"/>
              </a:rPr>
              <a:t>: </a:t>
            </a:r>
            <a:r>
              <a:rPr sz="650" i="0">
                <a:solidFill>
                  <a:srgbClr val="7FDBCA"/>
                </a:solidFill>
                <a:latin typeface="Inconsolata"/>
              </a:rPr>
              <a:t>ErrorOut</a:t>
            </a:r>
            <a:r>
              <a:rPr sz="650" i="0">
                <a:solidFill>
                  <a:srgbClr val="E6EDF3"/>
                </a:solidFill>
                <a:latin typeface="Inconsolata"/>
              </a:rPr>
              <a:t>, </a:t>
            </a:r>
            <a:r>
              <a:rPr sz="650" i="0">
                <a:solidFill>
                  <a:srgbClr val="A5D6A7"/>
                </a:solidFill>
                <a:latin typeface="Inconsolata"/>
              </a:rPr>
              <a:t>"description"</a:t>
            </a:r>
            <a:r>
              <a:rPr sz="650" i="0">
                <a:solidFill>
                  <a:srgbClr val="E6EDF3"/>
                </a:solidFill>
                <a:latin typeface="Inconsolata"/>
              </a:rPr>
              <a:t>: </a:t>
            </a:r>
            <a:r>
              <a:rPr sz="650" i="0">
                <a:solidFill>
                  <a:srgbClr val="A5D6A7"/>
                </a:solidFill>
                <a:latin typeface="Inconsolata"/>
              </a:rPr>
              <a:t>"Tipe customer tidak dikenal"</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7FDBCA"/>
                </a:solidFill>
                <a:latin typeface="Inconsolata"/>
              </a:rPr>
              <a:t>NOT_FOUND</a:t>
            </a:r>
            <a:r>
              <a:rPr sz="650" i="0">
                <a:solidFill>
                  <a:srgbClr val="E6EDF3"/>
                </a:solidFill>
                <a:latin typeface="Inconsolata"/>
              </a:rPr>
              <a:t>, **</a:t>
            </a:r>
            <a:r>
              <a:rPr sz="650" i="0">
                <a:solidFill>
                  <a:srgbClr val="7FDBCA"/>
                </a:solidFill>
                <a:latin typeface="Inconsolata"/>
              </a:rPr>
              <a:t>CONFLICT</a:t>
            </a:r>
            <a:r>
              <a:rPr sz="650" i="0">
                <a:solidFill>
                  <a:srgbClr val="E6EDF3"/>
                </a:solidFill>
                <a:latin typeface="Inconsolata"/>
              </a:rPr>
              <a:t>})</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create_order</a:t>
            </a:r>
            <a:r>
              <a:rPr sz="650" i="0">
                <a:solidFill>
                  <a:srgbClr val="E6EDF3"/>
                </a:solidFill>
                <a:latin typeface="Inconsolata"/>
              </a:rPr>
              <a:t>(payload: </a:t>
            </a:r>
            <a:r>
              <a:rPr sz="650" i="0">
                <a:solidFill>
                  <a:srgbClr val="7FDBCA"/>
                </a:solidFill>
                <a:latin typeface="Inconsolata"/>
              </a:rPr>
              <a:t>OrderIn</a:t>
            </a:r>
            <a:r>
              <a:rPr sz="650" i="0">
                <a:solidFill>
                  <a:srgbClr val="E6EDF3"/>
                </a:solidFill>
                <a:latin typeface="Inconsolata"/>
              </a:rPr>
              <a:t>, service: </a:t>
            </a:r>
            <a:r>
              <a:rPr sz="650" i="0">
                <a:solidFill>
                  <a:srgbClr val="7FDBCA"/>
                </a:solidFill>
                <a:latin typeface="Inconsolata"/>
              </a:rPr>
              <a:t>OrderService</a:t>
            </a:r>
            <a:r>
              <a:rPr sz="650" i="0">
                <a:solidFill>
                  <a:srgbClr val="E6EDF3"/>
                </a:solidFill>
                <a:latin typeface="Inconsolata"/>
              </a:rPr>
              <a:t> = </a:t>
            </a:r>
            <a:r>
              <a:rPr sz="650" i="0">
                <a:solidFill>
                  <a:srgbClr val="7FDBCA"/>
                </a:solidFill>
                <a:latin typeface="Inconsolata"/>
              </a:rPr>
              <a:t>Depends</a:t>
            </a:r>
            <a:r>
              <a:rPr sz="650" i="0">
                <a:solidFill>
                  <a:srgbClr val="E6EDF3"/>
                </a:solidFill>
                <a:latin typeface="Inconsolata"/>
              </a:rPr>
              <a:t>(get_order_service)):</a:t>
            </a:r>
          </a:p>
          <a:p>
            <a:pPr>
              <a:lnSpc>
                <a:spcPct val="102564"/>
              </a:lnSpc>
              <a:spcAft>
                <a:spcPts val="0"/>
              </a:spcAft>
            </a:pPr>
            <a:r>
              <a:rPr sz="650" i="0">
                <a:solidFill>
                  <a:srgbClr val="E6EDF3"/>
                </a:solidFill>
                <a:latin typeface="Inconsolata"/>
              </a:rPr>
              <a:t>    items = [i.model_dump() </a:t>
            </a:r>
            <a:r>
              <a:rPr sz="650" i="0">
                <a:solidFill>
                  <a:srgbClr val="FF8E6E"/>
                </a:solidFill>
                <a:latin typeface="Inconsolata"/>
              </a:rPr>
              <a:t>for</a:t>
            </a:r>
            <a:r>
              <a:rPr sz="650" i="0">
                <a:solidFill>
                  <a:srgbClr val="E6EDF3"/>
                </a:solidFill>
                <a:latin typeface="Inconsolata"/>
              </a:rPr>
              <a:t> i </a:t>
            </a:r>
            <a:r>
              <a:rPr sz="650" i="0">
                <a:solidFill>
                  <a:srgbClr val="FF8E6E"/>
                </a:solidFill>
                <a:latin typeface="Inconsolata"/>
              </a:rPr>
              <a:t>in</a:t>
            </a:r>
            <a:r>
              <a:rPr sz="650" i="0">
                <a:solidFill>
                  <a:srgbClr val="E6EDF3"/>
                </a:solidFill>
                <a:latin typeface="Inconsolata"/>
              </a:rPr>
              <a:t> payload.items]</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OrderOut</a:t>
            </a:r>
            <a:r>
              <a:rPr sz="650" i="0">
                <a:solidFill>
                  <a:srgbClr val="E6EDF3"/>
                </a:solidFill>
                <a:latin typeface="Inconsolata"/>
              </a:rPr>
              <a:t>.from_domain(service.place_order(payload.customer, payload.customer_type, items))</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9C97A"/>
                </a:solidFill>
                <a:latin typeface="Inconsolata"/>
              </a:rPr>
              <a:t>@router.post</a:t>
            </a:r>
            <a:r>
              <a:rPr sz="650" i="0">
                <a:solidFill>
                  <a:srgbClr val="E6EDF3"/>
                </a:solidFill>
                <a:latin typeface="Inconsolata"/>
              </a:rPr>
              <a:t>(</a:t>
            </a:r>
            <a:r>
              <a:rPr sz="650" i="0">
                <a:solidFill>
                  <a:srgbClr val="A5D6A7"/>
                </a:solidFill>
                <a:latin typeface="Inconsolata"/>
              </a:rPr>
              <a:t>"/{order_id}/pay"</a:t>
            </a:r>
            <a:r>
              <a:rPr sz="650" i="0">
                <a:solidFill>
                  <a:srgbClr val="E6EDF3"/>
                </a:solidFill>
                <a:latin typeface="Inconsolata"/>
              </a:rPr>
              <a:t>, response_model=</a:t>
            </a:r>
            <a:r>
              <a:rPr sz="650" i="0">
                <a:solidFill>
                  <a:srgbClr val="7FDBCA"/>
                </a:solidFill>
                <a:latin typeface="Inconsolata"/>
              </a:rPr>
              <a:t>OrderOut</a:t>
            </a:r>
            <a:r>
              <a:rPr sz="650" i="0">
                <a:solidFill>
                  <a:srgbClr val="E6EDF3"/>
                </a:solidFill>
                <a:latin typeface="Inconsolata"/>
              </a:rPr>
              <a:t>, summary=</a:t>
            </a:r>
            <a:r>
              <a:rPr sz="650" i="0">
                <a:solidFill>
                  <a:srgbClr val="A5D6A7"/>
                </a:solidFill>
                <a:latin typeface="Inconsolata"/>
              </a:rPr>
              <a:t>"Bayar order"</a:t>
            </a:r>
            <a:r>
              <a:rPr sz="650" i="0">
                <a:solidFill>
                  <a:srgbClr val="E6EDF3"/>
                </a:solidFill>
                <a:latin typeface="Inconsolata"/>
              </a:rPr>
              <a:t>,</a:t>
            </a:r>
          </a:p>
          <a:p>
            <a:pPr>
              <a:lnSpc>
                <a:spcPct val="102564"/>
              </a:lnSpc>
              <a:spcAft>
                <a:spcPts val="0"/>
              </a:spcAft>
            </a:pPr>
            <a:r>
              <a:rPr sz="650" i="0">
                <a:solidFill>
                  <a:srgbClr val="E6EDF3"/>
                </a:solidFill>
                <a:latin typeface="Inconsolata"/>
              </a:rPr>
              <a:t>             responses={**</a:t>
            </a:r>
            <a:r>
              <a:rPr sz="650" i="0">
                <a:solidFill>
                  <a:srgbClr val="7FDBCA"/>
                </a:solidFill>
                <a:latin typeface="Inconsolata"/>
              </a:rPr>
              <a:t>NOT_FOUND</a:t>
            </a:r>
            <a:r>
              <a:rPr sz="650" i="0">
                <a:solidFill>
                  <a:srgbClr val="E6EDF3"/>
                </a:solidFill>
                <a:latin typeface="Inconsolata"/>
              </a:rPr>
              <a:t>, **</a:t>
            </a:r>
            <a:r>
              <a:rPr sz="650" i="0">
                <a:solidFill>
                  <a:srgbClr val="7FDBCA"/>
                </a:solidFill>
                <a:latin typeface="Inconsolata"/>
              </a:rPr>
              <a:t>CONFLICT</a:t>
            </a:r>
            <a:r>
              <a:rPr sz="650" i="0">
                <a:solidFill>
                  <a:srgbClr val="E6EDF3"/>
                </a:solidFill>
                <a:latin typeface="Inconsolata"/>
              </a:rPr>
              <a:t>})</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pay_order</a:t>
            </a:r>
            <a:r>
              <a:rPr sz="650" i="0">
                <a:solidFill>
                  <a:srgbClr val="E6EDF3"/>
                </a:solidFill>
                <a:latin typeface="Inconsolata"/>
              </a:rPr>
              <a:t>(order_id: </a:t>
            </a:r>
            <a:r>
              <a:rPr sz="650" i="0">
                <a:solidFill>
                  <a:srgbClr val="C3A6FF"/>
                </a:solidFill>
                <a:latin typeface="Inconsolata"/>
              </a:rPr>
              <a:t>int</a:t>
            </a:r>
            <a:r>
              <a:rPr sz="650" i="0">
                <a:solidFill>
                  <a:srgbClr val="E6EDF3"/>
                </a:solidFill>
                <a:latin typeface="Inconsolata"/>
              </a:rPr>
              <a:t>, service: </a:t>
            </a:r>
            <a:r>
              <a:rPr sz="650" i="0">
                <a:solidFill>
                  <a:srgbClr val="7FDBCA"/>
                </a:solidFill>
                <a:latin typeface="Inconsolata"/>
              </a:rPr>
              <a:t>OrderService</a:t>
            </a:r>
            <a:r>
              <a:rPr sz="650" i="0">
                <a:solidFill>
                  <a:srgbClr val="E6EDF3"/>
                </a:solidFill>
                <a:latin typeface="Inconsolata"/>
              </a:rPr>
              <a:t> = </a:t>
            </a:r>
            <a:r>
              <a:rPr sz="650" i="0">
                <a:solidFill>
                  <a:srgbClr val="7FDBCA"/>
                </a:solidFill>
                <a:latin typeface="Inconsolata"/>
              </a:rPr>
              <a:t>Depends</a:t>
            </a:r>
            <a:r>
              <a:rPr sz="650" i="0">
                <a:solidFill>
                  <a:srgbClr val="E6EDF3"/>
                </a:solidFill>
                <a:latin typeface="Inconsolata"/>
              </a:rPr>
              <a:t>(get_order_service)):</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OrderOut</a:t>
            </a:r>
            <a:r>
              <a:rPr sz="650" i="0">
                <a:solidFill>
                  <a:srgbClr val="E6EDF3"/>
                </a:solidFill>
                <a:latin typeface="Inconsolata"/>
              </a:rPr>
              <a:t>.from_domain(service.pay_order(order_id))</a:t>
            </a:r>
          </a:p>
        </p:txBody>
      </p:sp>
      <p:sp>
        <p:nvSpPr>
          <p:cNvPr id="29" name="Box 12"/>
          <p:cNvSpPr/>
          <p:nvPr/>
        </p:nvSpPr>
        <p:spPr>
          <a:xfrm>
            <a:off x="704088" y="1823720"/>
            <a:ext cx="523036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1752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026920"/>
            <a:ext cx="5230368" cy="197104"/>
          </a:xfrm>
          <a:prstGeom prst="roundRect">
            <a:avLst>
              <a:gd name="adj" fmla="val 2319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006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6365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2667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Satu router per fitur: </a:t>
            </a:r>
            <a:r>
              <a:rPr sz="900" b="0" i="0">
                <a:solidFill>
                  <a:srgbClr val="B5482A"/>
                </a:solidFill>
                <a:latin typeface="Inconsolata"/>
              </a:rPr>
              <a:t>orders.py</a:t>
            </a:r>
            <a:r>
              <a:rPr sz="900" b="0" i="0">
                <a:solidFill>
                  <a:srgbClr val="434343"/>
                </a:solidFill>
                <a:latin typeface="Inter"/>
              </a:rPr>
              <a:t> dan </a:t>
            </a:r>
            <a:r>
              <a:rPr sz="900" b="0" i="0">
                <a:solidFill>
                  <a:srgbClr val="B5482A"/>
                </a:solidFill>
                <a:latin typeface="Inconsolata"/>
              </a:rPr>
              <a:t>products.py</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responses</a:t>
            </a:r>
            <a:r>
              <a:rPr sz="900" b="0" i="0">
                <a:solidFill>
                  <a:srgbClr val="434343"/>
                </a:solidFill>
                <a:latin typeface="Inter"/>
              </a:rPr>
              <a:t> mendokumentasikan error di </a:t>
            </a:r>
            <a:r>
              <a:rPr sz="900" b="0" i="0">
                <a:solidFill>
                  <a:srgbClr val="B5482A"/>
                </a:solidFill>
                <a:latin typeface="Inconsolata"/>
              </a:rPr>
              <a:t>/docs</a:t>
            </a:r>
          </a:p>
          <a:p>
            <a:pPr marL="182880" indent="-182880" algn="l">
              <a:lnSpc>
                <a:spcPct val="115000"/>
              </a:lnSpc>
              <a:spcAft>
                <a:spcPts val="400"/>
              </a:spcAft>
              <a:buClr>
                <a:srgbClr val="E0764F"/>
              </a:buClr>
              <a:buSzPct val="100000"/>
              <a:buFont typeface="+mj-lt"/>
              <a:buAutoNum type="arabicPeriod"/>
            </a:pPr>
            <a:r>
              <a:rPr sz="900" b="1" i="0">
                <a:solidFill>
                  <a:srgbClr val="434343"/>
                </a:solidFill>
                <a:latin typeface="Inter"/>
              </a:rPr>
              <a:t>Tidak ada try/except</a:t>
            </a:r>
            <a:r>
              <a:rPr sz="900" b="0" i="0">
                <a:solidFill>
                  <a:srgbClr val="434343"/>
                </a:solidFill>
                <a:latin typeface="Inter"/>
              </a:rPr>
              <a:t>. Error naik ke exception handler (langkah 9)</a:t>
            </a:r>
          </a:p>
          <a:p>
            <a:pPr algn="l">
              <a:lnSpc>
                <a:spcPct val="115000"/>
              </a:lnSpc>
              <a:spcAft>
                <a:spcPts val="0"/>
              </a:spcAft>
            </a:pPr>
            <a:endParaRPr sz="900" b="0" i="0">
              <a:solidFill>
                <a:srgbClr val="434343"/>
              </a:solidFill>
              <a:latin typeface="Inter"/>
            </a:endParaRPr>
          </a:p>
          <a:p>
            <a:pPr algn="l">
              <a:lnSpc>
                <a:spcPct val="115000"/>
              </a:lnSpc>
              <a:spcAft>
                <a:spcPts val="400"/>
              </a:spcAft>
            </a:pPr>
            <a:r>
              <a:rPr sz="900" b="0" i="0">
                <a:solidFill>
                  <a:srgbClr val="B5482A"/>
                </a:solidFill>
                <a:latin typeface="Inconsolata"/>
              </a:rPr>
              <a:t>routes.py</a:t>
            </a:r>
            <a:r>
              <a:rPr sz="900" b="0" i="0">
                <a:solidFill>
                  <a:srgbClr val="434343"/>
                </a:solidFill>
                <a:latin typeface="Inter"/>
              </a:rPr>
              <a:t> lama dihapus.</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Route jadi satu sampai dua baris saja.</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9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api/errors.py: Satu Format Error</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app/api/errors.py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02564"/>
              </a:lnSpc>
              <a:spcAft>
                <a:spcPts val="0"/>
              </a:spcAft>
            </a:pPr>
            <a:r>
              <a:rPr sz="650" i="0">
                <a:solidFill>
                  <a:srgbClr val="7FDBCA"/>
                </a:solidFill>
                <a:latin typeface="Inconsolata"/>
              </a:rPr>
              <a:t>STATUS_CODES</a:t>
            </a:r>
            <a:r>
              <a:rPr sz="650" i="0">
                <a:solidFill>
                  <a:srgbClr val="E6EDF3"/>
                </a:solidFill>
                <a:latin typeface="Inconsolata"/>
              </a:rPr>
              <a:t> = {</a:t>
            </a:r>
          </a:p>
          <a:p>
            <a:pPr>
              <a:lnSpc>
                <a:spcPct val="102564"/>
              </a:lnSpc>
              <a:spcAft>
                <a:spcPts val="0"/>
              </a:spcAft>
            </a:pPr>
            <a:r>
              <a:rPr sz="650" i="0">
                <a:solidFill>
                  <a:srgbClr val="E6EDF3"/>
                </a:solidFill>
                <a:latin typeface="Inconsolata"/>
              </a:rPr>
              <a:t>    </a:t>
            </a:r>
            <a:r>
              <a:rPr sz="650" i="0">
                <a:solidFill>
                  <a:srgbClr val="7FDBCA"/>
                </a:solidFill>
                <a:latin typeface="Inconsolata"/>
              </a:rPr>
              <a:t>UnknownCustomerType</a:t>
            </a:r>
            <a:r>
              <a:rPr sz="650" i="0">
                <a:solidFill>
                  <a:srgbClr val="E6EDF3"/>
                </a:solidFill>
                <a:latin typeface="Inconsolata"/>
              </a:rPr>
              <a:t>: </a:t>
            </a:r>
            <a:r>
              <a:rPr sz="650" i="0">
                <a:solidFill>
                  <a:srgbClr val="F9C97A"/>
                </a:solidFill>
                <a:latin typeface="Inconsolata"/>
              </a:rPr>
              <a:t>400</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7FDBCA"/>
                </a:solidFill>
                <a:latin typeface="Inconsolata"/>
              </a:rPr>
              <a:t>OrderCannotBeChanged</a:t>
            </a:r>
            <a:r>
              <a:rPr sz="650" i="0">
                <a:solidFill>
                  <a:srgbClr val="E6EDF3"/>
                </a:solidFill>
                <a:latin typeface="Inconsolata"/>
              </a:rPr>
              <a:t>: </a:t>
            </a:r>
            <a:r>
              <a:rPr sz="650" i="0">
                <a:solidFill>
                  <a:srgbClr val="F9C97A"/>
                </a:solidFill>
                <a:latin typeface="Inconsolata"/>
              </a:rPr>
              <a:t>409</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7FDBCA"/>
                </a:solidFill>
                <a:latin typeface="Inconsolata"/>
              </a:rPr>
              <a:t>OutOfStock</a:t>
            </a:r>
            <a:r>
              <a:rPr sz="650" i="0">
                <a:solidFill>
                  <a:srgbClr val="E6EDF3"/>
                </a:solidFill>
                <a:latin typeface="Inconsolata"/>
              </a:rPr>
              <a:t>: </a:t>
            </a:r>
            <a:r>
              <a:rPr sz="650" i="0">
                <a:solidFill>
                  <a:srgbClr val="F9C97A"/>
                </a:solidFill>
                <a:latin typeface="Inconsolata"/>
              </a:rPr>
              <a:t>409</a:t>
            </a:r>
            <a:r>
              <a:rPr sz="650" i="0">
                <a:solidFill>
                  <a:srgbClr val="E6EDF3"/>
                </a:solidFill>
                <a:latin typeface="Inconsolata"/>
              </a:rPr>
              <a:t>,</a:t>
            </a:r>
          </a:p>
          <a:p>
            <a:pPr>
              <a:lnSpc>
                <a:spcPct val="102564"/>
              </a:lnSpc>
              <a:spcAft>
                <a:spcPts val="0"/>
              </a:spcAft>
            </a:pPr>
            <a:r>
              <a:rPr sz="650" i="0">
                <a:solidFill>
                  <a:srgbClr val="E6EDF3"/>
                </a:solidFill>
                <a:latin typeface="Inconsolata"/>
              </a:rPr>
              <a:t>}</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error_response</a:t>
            </a:r>
            <a:r>
              <a:rPr sz="650" i="0">
                <a:solidFill>
                  <a:srgbClr val="E6EDF3"/>
                </a:solidFill>
                <a:latin typeface="Inconsolata"/>
              </a:rPr>
              <a:t>(status_code: </a:t>
            </a:r>
            <a:r>
              <a:rPr sz="650" i="0">
                <a:solidFill>
                  <a:srgbClr val="C3A6FF"/>
                </a:solidFill>
                <a:latin typeface="Inconsolata"/>
              </a:rPr>
              <a:t>int</a:t>
            </a:r>
            <a:r>
              <a:rPr sz="650" i="0">
                <a:solidFill>
                  <a:srgbClr val="E6EDF3"/>
                </a:solidFill>
                <a:latin typeface="Inconsolata"/>
              </a:rPr>
              <a:t>, code: </a:t>
            </a:r>
            <a:r>
              <a:rPr sz="650" i="0">
                <a:solidFill>
                  <a:srgbClr val="C3A6FF"/>
                </a:solidFill>
                <a:latin typeface="Inconsolata"/>
              </a:rPr>
              <a:t>str</a:t>
            </a:r>
            <a:r>
              <a:rPr sz="650" i="0">
                <a:solidFill>
                  <a:srgbClr val="E6EDF3"/>
                </a:solidFill>
                <a:latin typeface="Inconsolata"/>
              </a:rPr>
              <a:t>, message: </a:t>
            </a:r>
            <a:r>
              <a:rPr sz="650" i="0">
                <a:solidFill>
                  <a:srgbClr val="C3A6FF"/>
                </a:solidFill>
                <a:latin typeface="Inconsolata"/>
              </a:rPr>
              <a:t>str</a:t>
            </a:r>
            <a:r>
              <a:rPr sz="650" i="0">
                <a:solidFill>
                  <a:srgbClr val="E6EDF3"/>
                </a:solidFill>
                <a:latin typeface="Inconsolata"/>
              </a:rPr>
              <a:t>, details: </a:t>
            </a:r>
            <a:r>
              <a:rPr sz="650" i="0">
                <a:solidFill>
                  <a:srgbClr val="C3A6FF"/>
                </a:solidFill>
                <a:latin typeface="Inconsolata"/>
              </a:rPr>
              <a:t>list</a:t>
            </a:r>
            <a:r>
              <a:rPr sz="650" i="0">
                <a:solidFill>
                  <a:srgbClr val="E6EDF3"/>
                </a:solidFill>
                <a:latin typeface="Inconsolata"/>
              </a:rPr>
              <a:t> | </a:t>
            </a:r>
            <a:r>
              <a:rPr sz="650" i="0">
                <a:solidFill>
                  <a:srgbClr val="FF8E6E"/>
                </a:solidFill>
                <a:latin typeface="Inconsolata"/>
              </a:rPr>
              <a:t>None</a:t>
            </a:r>
            <a:r>
              <a:rPr sz="650" i="0">
                <a:solidFill>
                  <a:srgbClr val="E6EDF3"/>
                </a:solidFill>
                <a:latin typeface="Inconsolata"/>
              </a:rPr>
              <a:t> = </a:t>
            </a:r>
            <a:r>
              <a:rPr sz="650" i="0">
                <a:solidFill>
                  <a:srgbClr val="FF8E6E"/>
                </a:solidFill>
                <a:latin typeface="Inconsolata"/>
              </a:rPr>
              <a:t>None</a:t>
            </a:r>
            <a:r>
              <a:rPr sz="650" i="0">
                <a:solidFill>
                  <a:srgbClr val="E6EDF3"/>
                </a:solidFill>
                <a:latin typeface="Inconsolata"/>
              </a:rPr>
              <a:t>) -&gt; </a:t>
            </a:r>
            <a:r>
              <a:rPr sz="650" i="0">
                <a:solidFill>
                  <a:srgbClr val="7FDBCA"/>
                </a:solidFill>
                <a:latin typeface="Inconsolata"/>
              </a:rPr>
              <a:t>JSONResponse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JSONResponse</a:t>
            </a:r>
            <a:r>
              <a:rPr sz="650" i="0">
                <a:solidFill>
                  <a:srgbClr val="E6EDF3"/>
                </a:solidFill>
                <a:latin typeface="Inconsolata"/>
              </a:rPr>
              <a:t>(status_code=status_code,</a:t>
            </a:r>
          </a:p>
          <a:p>
            <a:pPr>
              <a:lnSpc>
                <a:spcPct val="102564"/>
              </a:lnSpc>
              <a:spcAft>
                <a:spcPts val="0"/>
              </a:spcAft>
            </a:pPr>
            <a:r>
              <a:rPr sz="650" i="0">
                <a:solidFill>
                  <a:srgbClr val="E6EDF3"/>
                </a:solidFill>
                <a:latin typeface="Inconsolata"/>
              </a:rPr>
              <a:t>                        content={</a:t>
            </a:r>
            <a:r>
              <a:rPr sz="650" i="0">
                <a:solidFill>
                  <a:srgbClr val="A5D6A7"/>
                </a:solidFill>
                <a:latin typeface="Inconsolata"/>
              </a:rPr>
              <a:t>"error"</a:t>
            </a:r>
            <a:r>
              <a:rPr sz="650" i="0">
                <a:solidFill>
                  <a:srgbClr val="E6EDF3"/>
                </a:solidFill>
                <a:latin typeface="Inconsolata"/>
              </a:rPr>
              <a:t>: {</a:t>
            </a:r>
            <a:r>
              <a:rPr sz="650" i="0">
                <a:solidFill>
                  <a:srgbClr val="A5D6A7"/>
                </a:solidFill>
                <a:latin typeface="Inconsolata"/>
              </a:rPr>
              <a:t>"code"</a:t>
            </a:r>
            <a:r>
              <a:rPr sz="650" i="0">
                <a:solidFill>
                  <a:srgbClr val="E6EDF3"/>
                </a:solidFill>
                <a:latin typeface="Inconsolata"/>
              </a:rPr>
              <a:t>: code, </a:t>
            </a:r>
            <a:r>
              <a:rPr sz="650" i="0">
                <a:solidFill>
                  <a:srgbClr val="A5D6A7"/>
                </a:solidFill>
                <a:latin typeface="Inconsolata"/>
              </a:rPr>
              <a:t>"message"</a:t>
            </a:r>
            <a:r>
              <a:rPr sz="650" i="0">
                <a:solidFill>
                  <a:srgbClr val="E6EDF3"/>
                </a:solidFill>
                <a:latin typeface="Inconsolata"/>
              </a:rPr>
              <a:t>: message, </a:t>
            </a:r>
            <a:r>
              <a:rPr sz="650" i="0">
                <a:solidFill>
                  <a:srgbClr val="A5D6A7"/>
                </a:solidFill>
                <a:latin typeface="Inconsolata"/>
              </a:rPr>
              <a:t>"details"</a:t>
            </a:r>
            <a:r>
              <a:rPr sz="650" i="0">
                <a:solidFill>
                  <a:srgbClr val="E6EDF3"/>
                </a:solidFill>
                <a:latin typeface="Inconsolata"/>
              </a:rPr>
              <a:t>: details}})</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F8E6E"/>
                </a:solidFill>
                <a:latin typeface="Inconsolata"/>
              </a:rPr>
              <a:t>async</a:t>
            </a: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handle_not_found</a:t>
            </a:r>
            <a:r>
              <a:rPr sz="650" i="0">
                <a:solidFill>
                  <a:srgbClr val="E6EDF3"/>
                </a:solidFill>
                <a:latin typeface="Inconsolata"/>
              </a:rPr>
              <a:t>(request: </a:t>
            </a:r>
            <a:r>
              <a:rPr sz="650" i="0">
                <a:solidFill>
                  <a:srgbClr val="7FDBCA"/>
                </a:solidFill>
                <a:latin typeface="Inconsolata"/>
              </a:rPr>
              <a:t>Request</a:t>
            </a:r>
            <a:r>
              <a:rPr sz="650" i="0">
                <a:solidFill>
                  <a:srgbClr val="E6EDF3"/>
                </a:solidFill>
                <a:latin typeface="Inconsolata"/>
              </a:rPr>
              <a:t>, exc: </a:t>
            </a:r>
            <a:r>
              <a:rPr sz="650" i="0">
                <a:solidFill>
                  <a:srgbClr val="7FDBCA"/>
                </a:solidFill>
                <a:latin typeface="Inconsolata"/>
              </a:rPr>
              <a:t>NotFound</a:t>
            </a:r>
            <a:r>
              <a:rPr sz="650" i="0">
                <a:solidFill>
                  <a:srgbClr val="E6EDF3"/>
                </a:solidFill>
                <a:latin typeface="Inconsolata"/>
              </a:rPr>
              <a:t>) -&gt; </a:t>
            </a:r>
            <a:r>
              <a:rPr sz="650" i="0">
                <a:solidFill>
                  <a:srgbClr val="7FDBCA"/>
                </a:solidFill>
                <a:latin typeface="Inconsolata"/>
              </a:rPr>
              <a:t>JSONResponse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error_response(</a:t>
            </a:r>
            <a:r>
              <a:rPr sz="650" i="0">
                <a:solidFill>
                  <a:srgbClr val="F9C97A"/>
                </a:solidFill>
                <a:latin typeface="Inconsolata"/>
              </a:rPr>
              <a:t>404</a:t>
            </a:r>
            <a:r>
              <a:rPr sz="650" i="0">
                <a:solidFill>
                  <a:srgbClr val="E6EDF3"/>
                </a:solidFill>
                <a:latin typeface="Inconsolata"/>
              </a:rPr>
              <a:t>, exc.code, </a:t>
            </a:r>
            <a:r>
              <a:rPr sz="650" i="0">
                <a:solidFill>
                  <a:srgbClr val="C3A6FF"/>
                </a:solidFill>
                <a:latin typeface="Inconsolata"/>
              </a:rPr>
              <a:t>str</a:t>
            </a:r>
            <a:r>
              <a:rPr sz="650" i="0">
                <a:solidFill>
                  <a:srgbClr val="E6EDF3"/>
                </a:solidFill>
                <a:latin typeface="Inconsolata"/>
              </a:rPr>
              <a:t>(exc))</a:t>
            </a:r>
          </a:p>
          <a:p>
            <a:pPr>
              <a:lnSpc>
                <a:spcPct val="102564"/>
              </a:lnSpc>
              <a:spcAft>
                <a:spcPts val="0"/>
              </a:spcAft>
            </a:pPr>
            <a:r>
              <a:rPr sz="650" i="0">
                <a:solidFill>
                  <a:srgbClr val="E6EDF3"/>
                </a:solidFill>
                <a:latin typeface="Inconsolata"/>
              </a:rPr>
              <a:t> </a:t>
            </a:r>
          </a:p>
          <a:p>
            <a:pPr>
              <a:lnSpc>
                <a:spcPct val="102564"/>
              </a:lnSpc>
              <a:spcAft>
                <a:spcPts val="0"/>
              </a:spcAft>
            </a:pPr>
            <a:r>
              <a:rPr sz="650" i="0">
                <a:solidFill>
                  <a:srgbClr val="FF8E6E"/>
                </a:solidFill>
                <a:latin typeface="Inconsolata"/>
              </a:rPr>
              <a:t>async</a:t>
            </a: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handle_domain_error</a:t>
            </a:r>
            <a:r>
              <a:rPr sz="650" i="0">
                <a:solidFill>
                  <a:srgbClr val="E6EDF3"/>
                </a:solidFill>
                <a:latin typeface="Inconsolata"/>
              </a:rPr>
              <a:t>(request: </a:t>
            </a:r>
            <a:r>
              <a:rPr sz="650" i="0">
                <a:solidFill>
                  <a:srgbClr val="7FDBCA"/>
                </a:solidFill>
                <a:latin typeface="Inconsolata"/>
              </a:rPr>
              <a:t>Request</a:t>
            </a:r>
            <a:r>
              <a:rPr sz="650" i="0">
                <a:solidFill>
                  <a:srgbClr val="E6EDF3"/>
                </a:solidFill>
                <a:latin typeface="Inconsolata"/>
              </a:rPr>
              <a:t>, exc: </a:t>
            </a:r>
            <a:r>
              <a:rPr sz="650" i="0">
                <a:solidFill>
                  <a:srgbClr val="7FDBCA"/>
                </a:solidFill>
                <a:latin typeface="Inconsolata"/>
              </a:rPr>
              <a:t>DomainError</a:t>
            </a:r>
            <a:r>
              <a:rPr sz="650" i="0">
                <a:solidFill>
                  <a:srgbClr val="E6EDF3"/>
                </a:solidFill>
                <a:latin typeface="Inconsolata"/>
              </a:rPr>
              <a:t>) -&gt; </a:t>
            </a:r>
            <a:r>
              <a:rPr sz="650" i="0">
                <a:solidFill>
                  <a:srgbClr val="7FDBCA"/>
                </a:solidFill>
                <a:latin typeface="Inconsolata"/>
              </a:rPr>
              <a:t>JSONResponse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error_response(</a:t>
            </a:r>
            <a:r>
              <a:rPr sz="650" i="0">
                <a:solidFill>
                  <a:srgbClr val="7FDBCA"/>
                </a:solidFill>
                <a:latin typeface="Inconsolata"/>
              </a:rPr>
              <a:t>STATUS_CODES</a:t>
            </a:r>
            <a:r>
              <a:rPr sz="650" i="0">
                <a:solidFill>
                  <a:srgbClr val="E6EDF3"/>
                </a:solidFill>
                <a:latin typeface="Inconsolata"/>
              </a:rPr>
              <a:t>.get(</a:t>
            </a:r>
            <a:r>
              <a:rPr sz="650" i="0">
                <a:solidFill>
                  <a:srgbClr val="C3A6FF"/>
                </a:solidFill>
                <a:latin typeface="Inconsolata"/>
              </a:rPr>
              <a:t>type</a:t>
            </a:r>
            <a:r>
              <a:rPr sz="650" i="0">
                <a:solidFill>
                  <a:srgbClr val="E6EDF3"/>
                </a:solidFill>
                <a:latin typeface="Inconsolata"/>
              </a:rPr>
              <a:t>(exc), </a:t>
            </a:r>
            <a:r>
              <a:rPr sz="650" i="0">
                <a:solidFill>
                  <a:srgbClr val="F9C97A"/>
                </a:solidFill>
                <a:latin typeface="Inconsolata"/>
              </a:rPr>
              <a:t>400</a:t>
            </a:r>
            <a:r>
              <a:rPr sz="650" i="0">
                <a:solidFill>
                  <a:srgbClr val="E6EDF3"/>
                </a:solidFill>
                <a:latin typeface="Inconsolata"/>
              </a:rPr>
              <a:t>), exc.code, </a:t>
            </a:r>
            <a:r>
              <a:rPr sz="650" i="0">
                <a:solidFill>
                  <a:srgbClr val="C3A6FF"/>
                </a:solidFill>
                <a:latin typeface="Inconsolata"/>
              </a:rPr>
              <a:t>str</a:t>
            </a:r>
            <a:r>
              <a:rPr sz="650" i="0">
                <a:solidFill>
                  <a:srgbClr val="E6EDF3"/>
                </a:solidFill>
                <a:latin typeface="Inconsolata"/>
              </a:rPr>
              <a:t>(exc))</a:t>
            </a:r>
          </a:p>
          <a:p>
            <a:pPr>
              <a:lnSpc>
                <a:spcPct val="102564"/>
              </a:lnSpc>
              <a:spcAft>
                <a:spcPts val="0"/>
              </a:spcAft>
            </a:pPr>
            <a:r>
              <a:rPr sz="650" i="0">
                <a:solidFill>
                  <a:srgbClr val="E6EDF3"/>
                </a:solidFill>
                <a:latin typeface="Inconsolata"/>
              </a:rPr>
              <a:t>...</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register_exception_handlers</a:t>
            </a:r>
            <a:r>
              <a:rPr sz="650" i="0">
                <a:solidFill>
                  <a:srgbClr val="E6EDF3"/>
                </a:solidFill>
                <a:latin typeface="Inconsolata"/>
              </a:rPr>
              <a:t>(app: </a:t>
            </a:r>
            <a:r>
              <a:rPr sz="650" i="0">
                <a:solidFill>
                  <a:srgbClr val="7FDBCA"/>
                </a:solidFill>
                <a:latin typeface="Inconsolata"/>
              </a:rPr>
              <a:t>FastAPI</a:t>
            </a:r>
            <a:r>
              <a:rPr sz="650" i="0">
                <a:solidFill>
                  <a:srgbClr val="E6EDF3"/>
                </a:solidFill>
                <a:latin typeface="Inconsolata"/>
              </a:rPr>
              <a:t>)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app.add_exception_handler(</a:t>
            </a:r>
            <a:r>
              <a:rPr sz="650" i="0">
                <a:solidFill>
                  <a:srgbClr val="7FDBCA"/>
                </a:solidFill>
                <a:latin typeface="Inconsolata"/>
              </a:rPr>
              <a:t>NotFound</a:t>
            </a:r>
            <a:r>
              <a:rPr sz="650" i="0">
                <a:solidFill>
                  <a:srgbClr val="E6EDF3"/>
                </a:solidFill>
                <a:latin typeface="Inconsolata"/>
              </a:rPr>
              <a:t>, handle_not_found)</a:t>
            </a:r>
          </a:p>
          <a:p>
            <a:pPr>
              <a:lnSpc>
                <a:spcPct val="102564"/>
              </a:lnSpc>
              <a:spcAft>
                <a:spcPts val="0"/>
              </a:spcAft>
            </a:pPr>
            <a:r>
              <a:rPr sz="650" i="0">
                <a:solidFill>
                  <a:srgbClr val="E6EDF3"/>
                </a:solidFill>
                <a:latin typeface="Inconsolata"/>
              </a:rPr>
              <a:t>    app.add_exception_handler(</a:t>
            </a:r>
            <a:r>
              <a:rPr sz="650" i="0">
                <a:solidFill>
                  <a:srgbClr val="7FDBCA"/>
                </a:solidFill>
                <a:latin typeface="Inconsolata"/>
              </a:rPr>
              <a:t>DomainError</a:t>
            </a:r>
            <a:r>
              <a:rPr sz="650" i="0">
                <a:solidFill>
                  <a:srgbClr val="E6EDF3"/>
                </a:solidFill>
                <a:latin typeface="Inconsolata"/>
              </a:rPr>
              <a:t>, handle_domain_error)</a:t>
            </a:r>
          </a:p>
          <a:p>
            <a:pPr>
              <a:lnSpc>
                <a:spcPct val="102564"/>
              </a:lnSpc>
              <a:spcAft>
                <a:spcPts val="0"/>
              </a:spcAft>
            </a:pPr>
            <a:r>
              <a:rPr sz="650" i="0">
                <a:solidFill>
                  <a:srgbClr val="E6EDF3"/>
                </a:solidFill>
                <a:latin typeface="Inconsolata"/>
              </a:rPr>
              <a:t>    app.add_exception_handler(</a:t>
            </a:r>
            <a:r>
              <a:rPr sz="650" i="0">
                <a:solidFill>
                  <a:srgbClr val="7FDBCA"/>
                </a:solidFill>
                <a:latin typeface="Inconsolata"/>
              </a:rPr>
              <a:t>RequestValidationError</a:t>
            </a:r>
            <a:r>
              <a:rPr sz="650" i="0">
                <a:solidFill>
                  <a:srgbClr val="E6EDF3"/>
                </a:solidFill>
                <a:latin typeface="Inconsolata"/>
              </a:rPr>
              <a:t>, handle_validation_error)</a:t>
            </a:r>
          </a:p>
        </p:txBody>
      </p:sp>
      <p:sp>
        <p:nvSpPr>
          <p:cNvPr id="29" name="Box 12"/>
          <p:cNvSpPr/>
          <p:nvPr/>
        </p:nvSpPr>
        <p:spPr>
          <a:xfrm>
            <a:off x="704088" y="1823720"/>
            <a:ext cx="5230368" cy="501904"/>
          </a:xfrm>
          <a:prstGeom prst="roundRect">
            <a:avLst>
              <a:gd name="adj" fmla="val 910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1955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433320"/>
            <a:ext cx="5230368" cy="298704"/>
          </a:xfrm>
          <a:prstGeom prst="roundRect">
            <a:avLst>
              <a:gd name="adj" fmla="val 1530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815584" y="24638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449320"/>
            <a:ext cx="5230368" cy="400304"/>
          </a:xfrm>
          <a:prstGeom prst="roundRect">
            <a:avLst>
              <a:gd name="adj" fmla="val 1142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815584" y="3530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Pemetaan error → status code ada di layer API, karena status code urusan HTTP</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Satu fungsi pembuat response error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Handler untuk </a:t>
            </a:r>
            <a:r>
              <a:rPr sz="900" b="0" i="0">
                <a:solidFill>
                  <a:srgbClr val="B5482A"/>
                </a:solidFill>
                <a:latin typeface="Inconsolata"/>
              </a:rPr>
              <a:t>NotFound</a:t>
            </a:r>
            <a:r>
              <a:rPr sz="900" b="0" i="0">
                <a:solidFill>
                  <a:srgbClr val="434343"/>
                </a:solidFill>
                <a:latin typeface="Inter"/>
              </a:rPr>
              <a:t>, </a:t>
            </a:r>
            <a:r>
              <a:rPr sz="900" b="0" i="0">
                <a:solidFill>
                  <a:srgbClr val="B5482A"/>
                </a:solidFill>
                <a:latin typeface="Inconsolata"/>
              </a:rPr>
              <a:t>DomainError</a:t>
            </a:r>
            <a:r>
              <a:rPr sz="900" b="0" i="0">
                <a:solidFill>
                  <a:srgbClr val="434343"/>
                </a:solidFill>
                <a:latin typeface="Inter"/>
              </a:rPr>
              <a:t>, dan error validasi (422)</a:t>
            </a:r>
          </a:p>
        </p:txBody>
      </p:sp>
      <p:sp>
        <p:nvSpPr>
          <p:cNvPr id="38" name="Box 21"/>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Semua error: </a:t>
            </a:r>
            <a:r>
              <a:rPr sz="900" b="0" i="0">
                <a:solidFill>
                  <a:srgbClr val="B5482A"/>
                </a:solidFill>
                <a:latin typeface="Inconsolata"/>
              </a:rPr>
              <a:t>{"error": {code, message, details}}</a:t>
            </a:r>
            <a:r>
              <a:rPr sz="900" b="0" i="0">
                <a:solidFill>
                  <a:srgbClr val="434343"/>
                </a:solidFill>
                <a:latin typeface="Inter"/>
              </a:rPr>
              <a:t>.</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10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Middleware, Dependencies, dan main.py</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api/dependencies.py  +  app/main.py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143"/>
              </a:lnSpc>
              <a:spcAft>
                <a:spcPts val="0"/>
              </a:spcAft>
            </a:pPr>
            <a:r>
              <a:rPr sz="700" i="1">
                <a:solidFill>
                  <a:srgbClr val="8B98A8"/>
                </a:solidFill>
                <a:latin typeface="Inconsolata"/>
              </a:rPr>
              <a:t># app/api/dependencies.py</a:t>
            </a:r>
          </a:p>
          <a:p>
            <a:pPr>
              <a:lnSpc>
                <a:spcPct val="107143"/>
              </a:lnSpc>
              <a:spcAft>
                <a:spcPts val="0"/>
              </a:spcAft>
            </a:pPr>
            <a:r>
              <a:rPr sz="700" i="0">
                <a:solidFill>
                  <a:srgbClr val="F9C97A"/>
                </a:solidFill>
                <a:latin typeface="Inconsolata"/>
              </a:rPr>
              <a:t>@lru_cache</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get_session_factory</a:t>
            </a:r>
            <a:r>
              <a:rPr sz="700" i="0">
                <a:solidFill>
                  <a:srgbClr val="E6EDF3"/>
                </a:solidFill>
                <a:latin typeface="Inconsolata"/>
              </a:rPr>
              <a:t>() -&gt; sessionmaker:</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create_session_factory(get_settings().database_url)</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get_uow</a:t>
            </a:r>
            <a:r>
              <a:rPr sz="700" i="0">
                <a:solidFill>
                  <a:srgbClr val="E6EDF3"/>
                </a:solidFill>
                <a:latin typeface="Inconsolata"/>
              </a:rPr>
              <a:t>(session_factory: sessionmaker = </a:t>
            </a:r>
            <a:r>
              <a:rPr sz="700" i="0">
                <a:solidFill>
                  <a:srgbClr val="7FDBCA"/>
                </a:solidFill>
                <a:latin typeface="Inconsolata"/>
              </a:rPr>
              <a:t>Depends</a:t>
            </a:r>
            <a:r>
              <a:rPr sz="700" i="0">
                <a:solidFill>
                  <a:srgbClr val="E6EDF3"/>
                </a:solidFill>
                <a:latin typeface="Inconsolata"/>
              </a:rPr>
              <a:t>(get_session_factory)) -&gt; </a:t>
            </a:r>
            <a:r>
              <a:rPr sz="700" i="0">
                <a:solidFill>
                  <a:srgbClr val="7FDBCA"/>
                </a:solidFill>
                <a:latin typeface="Inconsolata"/>
              </a:rPr>
              <a:t>UnitOfWork</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a:t>
            </a:r>
            <a:r>
              <a:rPr sz="700" i="0">
                <a:solidFill>
                  <a:srgbClr val="7FDBCA"/>
                </a:solidFill>
                <a:latin typeface="Inconsolata"/>
              </a:rPr>
              <a:t>SqlAlchemyUnitOfWork</a:t>
            </a:r>
            <a:r>
              <a:rPr sz="700" i="0">
                <a:solidFill>
                  <a:srgbClr val="E6EDF3"/>
                </a:solidFill>
                <a:latin typeface="Inconsolata"/>
              </a:rPr>
              <a:t>(session_factory)</a:t>
            </a:r>
          </a:p>
          <a:p>
            <a:pPr>
              <a:lnSpc>
                <a:spcPct val="107143"/>
              </a:lnSpc>
              <a:spcAft>
                <a:spcPts val="0"/>
              </a:spcAft>
            </a:pP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app/main.py</a:t>
            </a:r>
          </a:p>
          <a:p>
            <a:pPr>
              <a:lnSpc>
                <a:spcPct val="107143"/>
              </a:lnSpc>
              <a:spcAft>
                <a:spcPts val="0"/>
              </a:spcAft>
            </a:pPr>
            <a:r>
              <a:rPr sz="700" i="0">
                <a:solidFill>
                  <a:srgbClr val="E6EDF3"/>
                </a:solidFill>
                <a:latin typeface="Inconsolata"/>
              </a:rPr>
              <a:t>app = </a:t>
            </a:r>
            <a:r>
              <a:rPr sz="700" i="0">
                <a:solidFill>
                  <a:srgbClr val="7FDBCA"/>
                </a:solidFill>
                <a:latin typeface="Inconsolata"/>
              </a:rPr>
              <a:t>FastAPI</a:t>
            </a:r>
            <a:r>
              <a:rPr sz="700" i="0">
                <a:solidFill>
                  <a:srgbClr val="E6EDF3"/>
                </a:solidFill>
                <a:latin typeface="Inconsolata"/>
              </a:rPr>
              <a:t>(</a:t>
            </a:r>
          </a:p>
          <a:p>
            <a:pPr>
              <a:lnSpc>
                <a:spcPct val="107143"/>
              </a:lnSpc>
              <a:spcAft>
                <a:spcPts val="0"/>
              </a:spcAft>
            </a:pPr>
            <a:r>
              <a:rPr sz="700" i="0">
                <a:solidFill>
                  <a:srgbClr val="E6EDF3"/>
                </a:solidFill>
                <a:latin typeface="Inconsolata"/>
              </a:rPr>
              <a:t>    title=</a:t>
            </a:r>
            <a:r>
              <a:rPr sz="700" i="0">
                <a:solidFill>
                  <a:srgbClr val="A5D6A7"/>
                </a:solidFill>
                <a:latin typeface="Inconsolata"/>
              </a:rPr>
              <a:t>"Order API"</a:t>
            </a:r>
            <a:r>
              <a:rPr sz="700" i="0">
                <a:solidFill>
                  <a:srgbClr val="E6EDF3"/>
                </a:solidFill>
                <a:latin typeface="Inconsolata"/>
              </a:rPr>
              <a:t>,</a:t>
            </a:r>
          </a:p>
          <a:p>
            <a:pPr>
              <a:lnSpc>
                <a:spcPct val="107143"/>
              </a:lnSpc>
              <a:spcAft>
                <a:spcPts val="0"/>
              </a:spcAft>
            </a:pPr>
            <a:r>
              <a:rPr sz="700" i="0">
                <a:solidFill>
                  <a:srgbClr val="E6EDF3"/>
                </a:solidFill>
                <a:latin typeface="Inconsolata"/>
              </a:rPr>
              <a:t>    version=</a:t>
            </a:r>
            <a:r>
              <a:rPr sz="700" i="0">
                <a:solidFill>
                  <a:srgbClr val="A5D6A7"/>
                </a:solidFill>
                <a:latin typeface="Inconsolata"/>
              </a:rPr>
              <a:t>"1.0.0"</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app.middleware(</a:t>
            </a:r>
            <a:r>
              <a:rPr sz="700" i="0">
                <a:solidFill>
                  <a:srgbClr val="A5D6A7"/>
                </a:solidFill>
                <a:latin typeface="Inconsolata"/>
              </a:rPr>
              <a:t>"http"</a:t>
            </a:r>
            <a:r>
              <a:rPr sz="700" i="0">
                <a:solidFill>
                  <a:srgbClr val="E6EDF3"/>
                </a:solidFill>
                <a:latin typeface="Inconsolata"/>
              </a:rPr>
              <a:t>)(log_requests)</a:t>
            </a:r>
          </a:p>
          <a:p>
            <a:pPr>
              <a:lnSpc>
                <a:spcPct val="107143"/>
              </a:lnSpc>
              <a:spcAft>
                <a:spcPts val="0"/>
              </a:spcAft>
            </a:pPr>
            <a:r>
              <a:rPr sz="700" i="0">
                <a:solidFill>
                  <a:srgbClr val="E6EDF3"/>
                </a:solidFill>
                <a:latin typeface="Inconsolata"/>
              </a:rPr>
              <a:t>register_exception_handlers(app)</a:t>
            </a:r>
          </a:p>
          <a:p>
            <a:pPr>
              <a:lnSpc>
                <a:spcPct val="107143"/>
              </a:lnSpc>
              <a:spcAft>
                <a:spcPts val="0"/>
              </a:spcAft>
            </a:pPr>
            <a:r>
              <a:rPr sz="700" i="0">
                <a:solidFill>
                  <a:srgbClr val="E6EDF3"/>
                </a:solidFill>
                <a:latin typeface="Inconsolata"/>
              </a:rPr>
              <a:t>app.include_router(products.router)</a:t>
            </a:r>
          </a:p>
          <a:p>
            <a:pPr>
              <a:lnSpc>
                <a:spcPct val="107143"/>
              </a:lnSpc>
              <a:spcAft>
                <a:spcPts val="0"/>
              </a:spcAft>
            </a:pPr>
            <a:r>
              <a:rPr sz="700" i="0">
                <a:solidFill>
                  <a:srgbClr val="E6EDF3"/>
                </a:solidFill>
                <a:latin typeface="Inconsolata"/>
              </a:rPr>
              <a:t>app.include_router(orders.router)</a:t>
            </a:r>
          </a:p>
        </p:txBody>
      </p:sp>
      <p:sp>
        <p:nvSpPr>
          <p:cNvPr id="29" name="Box 12"/>
          <p:cNvSpPr/>
          <p:nvPr/>
        </p:nvSpPr>
        <p:spPr>
          <a:xfrm>
            <a:off x="704088" y="2053971"/>
            <a:ext cx="4727448" cy="564642"/>
          </a:xfrm>
          <a:prstGeom prst="roundRect">
            <a:avLst>
              <a:gd name="adj" fmla="val 80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22174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1" name="Box 14"/>
          <p:cNvSpPr/>
          <p:nvPr/>
        </p:nvSpPr>
        <p:spPr>
          <a:xfrm>
            <a:off x="704088" y="3654171"/>
            <a:ext cx="4727448" cy="450342"/>
          </a:xfrm>
          <a:prstGeom prst="roundRect">
            <a:avLst>
              <a:gd name="adj" fmla="val 1015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37604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3" name="Box 16"/>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middleware.py</a:t>
            </a:r>
            <a:r>
              <a:rPr sz="900" b="0" i="0">
                <a:solidFill>
                  <a:srgbClr val="434343"/>
                </a:solidFill>
                <a:latin typeface="Inter"/>
              </a:rPr>
              <a:t>: </a:t>
            </a:r>
            <a:r>
              <a:rPr sz="900" b="0" i="0">
                <a:solidFill>
                  <a:srgbClr val="B5482A"/>
                </a:solidFill>
                <a:latin typeface="Inconsolata"/>
              </a:rPr>
              <a:t>log_requests</a:t>
            </a:r>
            <a:r>
              <a:rPr sz="900" b="0" i="0">
                <a:solidFill>
                  <a:srgbClr val="434343"/>
                </a:solidFill>
                <a:latin typeface="Inter"/>
              </a:rPr>
              <a:t> dari contoh 04</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Dependency graph: session factory → UoW → service</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main.py</a:t>
            </a:r>
            <a:r>
              <a:rPr sz="900" b="0" i="0">
                <a:solidFill>
                  <a:srgbClr val="434343"/>
                </a:solidFill>
                <a:latin typeface="Inter"/>
              </a:rPr>
              <a:t>: metadata OpenAPI, middleware, exception handler, dan router</a:t>
            </a:r>
          </a:p>
          <a:p>
            <a:pPr algn="l">
              <a:lnSpc>
                <a:spcPct val="115000"/>
              </a:lnSpc>
              <a:spcAft>
                <a:spcPts val="0"/>
              </a:spcAft>
            </a:pPr>
            <a:endParaRPr sz="900" b="0" i="0">
              <a:solidFill>
                <a:srgbClr val="434343"/>
              </a:solidFill>
              <a:latin typeface="Inter"/>
            </a:endParaRPr>
          </a:p>
          <a:p>
            <a:pPr algn="l">
              <a:lnSpc>
                <a:spcPct val="115000"/>
              </a:lnSpc>
              <a:spcAft>
                <a:spcPts val="400"/>
              </a:spcAft>
            </a:pPr>
            <a:r>
              <a:rPr sz="900" b="0" i="0">
                <a:solidFill>
                  <a:srgbClr val="B5482A"/>
                </a:solidFill>
                <a:latin typeface="Inconsolata"/>
              </a:rPr>
              <a:t>get_order_service</a:t>
            </a:r>
            <a:r>
              <a:rPr sz="900" b="0" i="0">
                <a:solidFill>
                  <a:srgbClr val="434343"/>
                </a:solidFill>
                <a:latin typeface="Inter"/>
              </a:rPr>
              <a:t> sekarang membuat </a:t>
            </a:r>
            <a:r>
              <a:rPr sz="900" b="0" i="0">
                <a:solidFill>
                  <a:srgbClr val="B5482A"/>
                </a:solidFill>
                <a:latin typeface="Inconsolata"/>
              </a:rPr>
              <a:t>OrderService(uow, notifier)</a:t>
            </a:r>
            <a:r>
              <a:rPr sz="900" b="0" i="0">
                <a:solidFill>
                  <a:srgbClr val="434343"/>
                </a:solidFill>
                <a:latin typeface="Inter"/>
              </a:rPr>
              <a:t>.</a:t>
            </a:r>
          </a:p>
        </p:txBody>
      </p:sp>
      <p:sp>
        <p:nvSpPr>
          <p:cNvPr id="36" name="Box 19"/>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B5482A"/>
                </a:solidFill>
                <a:latin typeface="Inconsolata"/>
              </a:rPr>
              <a:t>uvicorn app.main:app --reload</a:t>
            </a:r>
            <a:r>
              <a:rPr sz="900" b="0" i="0">
                <a:solidFill>
                  <a:srgbClr val="434343"/>
                </a:solidFill>
                <a:latin typeface="Inter"/>
              </a:rPr>
              <a:t> dari </a:t>
            </a:r>
            <a:r>
              <a:rPr sz="900" b="0" i="0">
                <a:solidFill>
                  <a:srgbClr val="B5482A"/>
                </a:solidFill>
                <a:latin typeface="Inconsolata"/>
              </a:rPr>
              <a:t>latihan/</a:t>
            </a:r>
            <a:r>
              <a:rPr sz="900" b="0" i="0">
                <a:solidFill>
                  <a:srgbClr val="434343"/>
                </a:solidFill>
                <a:latin typeface="Inter"/>
              </a:rPr>
              <a:t>.</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11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tests/: Fake UoW dan Test Transaksi</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tests/fakes.py  +  test_transaction.py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143"/>
              </a:lnSpc>
              <a:spcAft>
                <a:spcPts val="0"/>
              </a:spcAft>
            </a:pPr>
            <a:r>
              <a:rPr sz="700" i="1">
                <a:solidFill>
                  <a:srgbClr val="8B98A8"/>
                </a:solidFill>
                <a:latin typeface="Inconsolata"/>
              </a:rPr>
              <a:t># tests/fakes.py</a:t>
            </a:r>
          </a:p>
          <a:p>
            <a:pPr>
              <a:lnSpc>
                <a:spcPct val="107143"/>
              </a:lnSpc>
              <a:spcAft>
                <a:spcPts val="0"/>
              </a:spcAft>
            </a:pPr>
            <a:r>
              <a:rPr sz="700" i="0">
                <a:solidFill>
                  <a:srgbClr val="FF8E6E"/>
                </a:solidFill>
                <a:latin typeface="Inconsolata"/>
              </a:rPr>
              <a:t>class</a:t>
            </a:r>
            <a:r>
              <a:rPr sz="700" i="0">
                <a:solidFill>
                  <a:srgbClr val="E6EDF3"/>
                </a:solidFill>
                <a:latin typeface="Inconsolata"/>
              </a:rPr>
              <a:t> </a:t>
            </a:r>
            <a:r>
              <a:rPr sz="700" i="0">
                <a:solidFill>
                  <a:srgbClr val="7FDBCA"/>
                </a:solidFill>
                <a:latin typeface="Inconsolata"/>
              </a:rPr>
              <a:t>FakeUnitOfWork</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__init__</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products: </a:t>
            </a:r>
            <a:r>
              <a:rPr sz="700" i="0">
                <a:solidFill>
                  <a:srgbClr val="C3A6FF"/>
                </a:solidFill>
                <a:latin typeface="Inconsolata"/>
              </a:rPr>
              <a:t>list</a:t>
            </a:r>
            <a:r>
              <a:rPr sz="700" i="0">
                <a:solidFill>
                  <a:srgbClr val="E6EDF3"/>
                </a:solidFill>
                <a:latin typeface="Inconsolata"/>
              </a:rPr>
              <a:t>[</a:t>
            </a:r>
            <a:r>
              <a:rPr sz="700" i="0">
                <a:solidFill>
                  <a:srgbClr val="7FDBCA"/>
                </a:solidFill>
                <a:latin typeface="Inconsolata"/>
              </a:rPr>
              <a:t>Product</a:t>
            </a:r>
            <a:r>
              <a:rPr sz="700" i="0">
                <a:solidFill>
                  <a:srgbClr val="E6EDF3"/>
                </a:solidFill>
                <a:latin typeface="Inconsolata"/>
              </a:rPr>
              <a:t>] = ()):</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.products = </a:t>
            </a:r>
            <a:r>
              <a:rPr sz="700" i="0">
                <a:solidFill>
                  <a:srgbClr val="7FDBCA"/>
                </a:solidFill>
                <a:latin typeface="Inconsolata"/>
              </a:rPr>
              <a:t>FakeProductRepository</a:t>
            </a:r>
            <a:r>
              <a:rPr sz="700" i="0">
                <a:solidFill>
                  <a:srgbClr val="E6EDF3"/>
                </a:solidFill>
                <a:latin typeface="Inconsolata"/>
              </a:rPr>
              <a:t>(products)</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.orders = </a:t>
            </a:r>
            <a:r>
              <a:rPr sz="700" i="0">
                <a:solidFill>
                  <a:srgbClr val="7FDBCA"/>
                </a:solidFill>
                <a:latin typeface="Inconsolata"/>
              </a:rPr>
              <a:t>FakeOrderRepository</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.committed = </a:t>
            </a:r>
            <a:r>
              <a:rPr sz="700" i="0">
                <a:solidFill>
                  <a:srgbClr val="FF8E6E"/>
                </a:solidFill>
                <a:latin typeface="Inconsolata"/>
              </a:rPr>
              <a:t>False</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commit</a:t>
            </a:r>
            <a:r>
              <a:rPr sz="700" i="0">
                <a:solidFill>
                  <a:srgbClr val="E6EDF3"/>
                </a:solidFill>
                <a:latin typeface="Inconsolata"/>
              </a:rPr>
              <a:t>(</a:t>
            </a:r>
            <a:r>
              <a:rPr sz="700" i="0">
                <a:solidFill>
                  <a:srgbClr val="C3A6FF"/>
                </a:solidFill>
                <a:latin typeface="Inconsolata"/>
              </a:rPr>
              <a:t>self</a:t>
            </a:r>
            <a:r>
              <a:rPr sz="700" i="0">
                <a:solidFill>
                  <a:srgbClr val="E6EDF3"/>
                </a:solidFill>
                <a:latin typeface="Inconsolata"/>
              </a:rPr>
              <a:t>) -&gt; </a:t>
            </a:r>
            <a:r>
              <a:rPr sz="700" i="0">
                <a:solidFill>
                  <a:srgbClr val="FF8E6E"/>
                </a:solidFill>
                <a:latin typeface="Inconsolata"/>
              </a:rPr>
              <a:t>None</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C3A6FF"/>
                </a:solidFill>
                <a:latin typeface="Inconsolata"/>
              </a:rPr>
              <a:t>self</a:t>
            </a:r>
            <a:r>
              <a:rPr sz="700" i="0">
                <a:solidFill>
                  <a:srgbClr val="E6EDF3"/>
                </a:solidFill>
                <a:latin typeface="Inconsolata"/>
              </a:rPr>
              <a:t>.committed = </a:t>
            </a:r>
            <a:r>
              <a:rPr sz="700" i="0">
                <a:solidFill>
                  <a:srgbClr val="FF8E6E"/>
                </a:solidFill>
                <a:latin typeface="Inconsolata"/>
              </a:rPr>
              <a:t>True</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tests/test_transaction.py</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test_satu_item_gagal_semua_dibatalkan</a:t>
            </a:r>
            <a:r>
              <a:rPr sz="700" i="0">
                <a:solidFill>
                  <a:srgbClr val="E6EDF3"/>
                </a:solidFill>
                <a:latin typeface="Inconsolata"/>
              </a:rPr>
              <a:t>(uow):</a:t>
            </a:r>
          </a:p>
          <a:p>
            <a:pPr>
              <a:lnSpc>
                <a:spcPct val="107143"/>
              </a:lnSpc>
              <a:spcAft>
                <a:spcPts val="0"/>
              </a:spcAft>
            </a:pPr>
            <a:r>
              <a:rPr sz="700" i="0">
                <a:solidFill>
                  <a:srgbClr val="E6EDF3"/>
                </a:solidFill>
                <a:latin typeface="Inconsolata"/>
              </a:rPr>
              <a:t>    service = </a:t>
            </a:r>
            <a:r>
              <a:rPr sz="700" i="0">
                <a:solidFill>
                  <a:srgbClr val="7FDBCA"/>
                </a:solidFill>
                <a:latin typeface="Inconsolata"/>
              </a:rPr>
              <a:t>OrderService</a:t>
            </a:r>
            <a:r>
              <a:rPr sz="700" i="0">
                <a:solidFill>
                  <a:srgbClr val="E6EDF3"/>
                </a:solidFill>
                <a:latin typeface="Inconsolata"/>
              </a:rPr>
              <a:t>(uow, </a:t>
            </a:r>
            <a:r>
              <a:rPr sz="700" i="0">
                <a:solidFill>
                  <a:srgbClr val="7FDBCA"/>
                </a:solidFill>
                <a:latin typeface="Inconsolata"/>
              </a:rPr>
              <a:t>FakeNotifier</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FF8E6E"/>
                </a:solidFill>
                <a:latin typeface="Inconsolata"/>
              </a:rPr>
              <a:t>with</a:t>
            </a:r>
            <a:r>
              <a:rPr sz="700" i="0">
                <a:solidFill>
                  <a:srgbClr val="E6EDF3"/>
                </a:solidFill>
                <a:latin typeface="Inconsolata"/>
              </a:rPr>
              <a:t> pytest.raises(</a:t>
            </a:r>
            <a:r>
              <a:rPr sz="700" i="0">
                <a:solidFill>
                  <a:srgbClr val="7FDBCA"/>
                </a:solidFill>
                <a:latin typeface="Inconsolata"/>
              </a:rPr>
              <a:t>OutOfStock</a:t>
            </a:r>
            <a:r>
              <a:rPr sz="700" i="0">
                <a:solidFill>
                  <a:srgbClr val="E6EDF3"/>
                </a:solidFill>
                <a:latin typeface="Inconsolata"/>
              </a:rPr>
              <a:t>):</a:t>
            </a:r>
          </a:p>
          <a:p>
            <a:pPr>
              <a:lnSpc>
                <a:spcPct val="107143"/>
              </a:lnSpc>
              <a:spcAft>
                <a:spcPts val="0"/>
              </a:spcAft>
            </a:pPr>
            <a:r>
              <a:rPr sz="700" i="0">
                <a:solidFill>
                  <a:srgbClr val="E6EDF3"/>
                </a:solidFill>
                <a:latin typeface="Inconsolata"/>
              </a:rPr>
              <a:t>        service.place_order(</a:t>
            </a:r>
            <a:r>
              <a:rPr sz="700" i="0">
                <a:solidFill>
                  <a:srgbClr val="A5D6A7"/>
                </a:solidFill>
                <a:latin typeface="Inconsolata"/>
              </a:rPr>
              <a:t>"budi@mail.com"</a:t>
            </a:r>
            <a:r>
              <a:rPr sz="700" i="0">
                <a:solidFill>
                  <a:srgbClr val="E6EDF3"/>
                </a:solidFill>
                <a:latin typeface="Inconsolata"/>
              </a:rPr>
              <a:t>, </a:t>
            </a:r>
            <a:r>
              <a:rPr sz="700" i="0">
                <a:solidFill>
                  <a:srgbClr val="A5D6A7"/>
                </a:solidFill>
                <a:latin typeface="Inconsolata"/>
              </a:rPr>
              <a:t>"regular"</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r>
              <a:rPr sz="700" i="0">
                <a:solidFill>
                  <a:srgbClr val="A5D6A7"/>
                </a:solidFill>
                <a:latin typeface="Inconsolata"/>
              </a:rPr>
              <a:t>"product_id"</a:t>
            </a:r>
            <a:r>
              <a:rPr sz="700" i="0">
                <a:solidFill>
                  <a:srgbClr val="E6EDF3"/>
                </a:solidFill>
                <a:latin typeface="Inconsolata"/>
              </a:rPr>
              <a:t>: </a:t>
            </a:r>
            <a:r>
              <a:rPr sz="700" i="0">
                <a:solidFill>
                  <a:srgbClr val="F9C97A"/>
                </a:solidFill>
                <a:latin typeface="Inconsolata"/>
              </a:rPr>
              <a:t>1</a:t>
            </a:r>
            <a:r>
              <a:rPr sz="700" i="0">
                <a:solidFill>
                  <a:srgbClr val="E6EDF3"/>
                </a:solidFill>
                <a:latin typeface="Inconsolata"/>
              </a:rPr>
              <a:t>, </a:t>
            </a:r>
            <a:r>
              <a:rPr sz="700" i="0">
                <a:solidFill>
                  <a:srgbClr val="A5D6A7"/>
                </a:solidFill>
                <a:latin typeface="Inconsolata"/>
              </a:rPr>
              <a:t>"qty"</a:t>
            </a:r>
            <a:r>
              <a:rPr sz="700" i="0">
                <a:solidFill>
                  <a:srgbClr val="E6EDF3"/>
                </a:solidFill>
                <a:latin typeface="Inconsolata"/>
              </a:rPr>
              <a:t>: </a:t>
            </a:r>
            <a:r>
              <a:rPr sz="700" i="0">
                <a:solidFill>
                  <a:srgbClr val="F9C97A"/>
                </a:solidFill>
                <a:latin typeface="Inconsolata"/>
              </a:rPr>
              <a:t>2</a:t>
            </a:r>
            <a:r>
              <a:rPr sz="700" i="0">
                <a:solidFill>
                  <a:srgbClr val="E6EDF3"/>
                </a:solidFill>
                <a:latin typeface="Inconsolata"/>
              </a:rPr>
              <a:t>}, {</a:t>
            </a:r>
            <a:r>
              <a:rPr sz="700" i="0">
                <a:solidFill>
                  <a:srgbClr val="A5D6A7"/>
                </a:solidFill>
                <a:latin typeface="Inconsolata"/>
              </a:rPr>
              <a:t>"product_id"</a:t>
            </a:r>
            <a:r>
              <a:rPr sz="700" i="0">
                <a:solidFill>
                  <a:srgbClr val="E6EDF3"/>
                </a:solidFill>
                <a:latin typeface="Inconsolata"/>
              </a:rPr>
              <a:t>: </a:t>
            </a:r>
            <a:r>
              <a:rPr sz="700" i="0">
                <a:solidFill>
                  <a:srgbClr val="F9C97A"/>
                </a:solidFill>
                <a:latin typeface="Inconsolata"/>
              </a:rPr>
              <a:t>2</a:t>
            </a:r>
            <a:r>
              <a:rPr sz="700" i="0">
                <a:solidFill>
                  <a:srgbClr val="E6EDF3"/>
                </a:solidFill>
                <a:latin typeface="Inconsolata"/>
              </a:rPr>
              <a:t>, </a:t>
            </a:r>
            <a:r>
              <a:rPr sz="700" i="0">
                <a:solidFill>
                  <a:srgbClr val="A5D6A7"/>
                </a:solidFill>
                <a:latin typeface="Inconsolata"/>
              </a:rPr>
              <a:t>"qty"</a:t>
            </a:r>
            <a:r>
              <a:rPr sz="700" i="0">
                <a:solidFill>
                  <a:srgbClr val="E6EDF3"/>
                </a:solidFill>
                <a:latin typeface="Inconsolata"/>
              </a:rPr>
              <a:t>: </a:t>
            </a:r>
            <a:r>
              <a:rPr sz="700" i="0">
                <a:solidFill>
                  <a:srgbClr val="F9C97A"/>
                </a:solidFill>
                <a:latin typeface="Inconsolata"/>
              </a:rPr>
              <a:t>3</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stocks = [p.stock </a:t>
            </a:r>
            <a:r>
              <a:rPr sz="700" i="0">
                <a:solidFill>
                  <a:srgbClr val="FF8E6E"/>
                </a:solidFill>
                <a:latin typeface="Inconsolata"/>
              </a:rPr>
              <a:t>for</a:t>
            </a:r>
            <a:r>
              <a:rPr sz="700" i="0">
                <a:solidFill>
                  <a:srgbClr val="E6EDF3"/>
                </a:solidFill>
                <a:latin typeface="Inconsolata"/>
              </a:rPr>
              <a:t> p </a:t>
            </a:r>
            <a:r>
              <a:rPr sz="700" i="0">
                <a:solidFill>
                  <a:srgbClr val="FF8E6E"/>
                </a:solidFill>
                <a:latin typeface="Inconsolata"/>
              </a:rPr>
              <a:t>in</a:t>
            </a:r>
            <a:r>
              <a:rPr sz="700" i="0">
                <a:solidFill>
                  <a:srgbClr val="E6EDF3"/>
                </a:solidFill>
                <a:latin typeface="Inconsolata"/>
              </a:rPr>
              <a:t> </a:t>
            </a:r>
            <a:r>
              <a:rPr sz="700" i="0">
                <a:solidFill>
                  <a:srgbClr val="7FDBCA"/>
                </a:solidFill>
                <a:latin typeface="Inconsolata"/>
              </a:rPr>
              <a:t>ProductService</a:t>
            </a:r>
            <a:r>
              <a:rPr sz="700" i="0">
                <a:solidFill>
                  <a:srgbClr val="E6EDF3"/>
                </a:solidFill>
                <a:latin typeface="Inconsolata"/>
              </a:rPr>
              <a:t>(uow).list_products()]</a:t>
            </a:r>
          </a:p>
          <a:p>
            <a:pPr>
              <a:lnSpc>
                <a:spcPct val="107143"/>
              </a:lnSpc>
              <a:spcAft>
                <a:spcPts val="0"/>
              </a:spcAft>
            </a:pPr>
            <a:r>
              <a:rPr sz="700" i="0">
                <a:solidFill>
                  <a:srgbClr val="E6EDF3"/>
                </a:solidFill>
                <a:latin typeface="Inconsolata"/>
              </a:rPr>
              <a:t>    </a:t>
            </a:r>
            <a:r>
              <a:rPr sz="700" i="0">
                <a:solidFill>
                  <a:srgbClr val="FF8E6E"/>
                </a:solidFill>
                <a:latin typeface="Inconsolata"/>
              </a:rPr>
              <a:t>assert</a:t>
            </a:r>
            <a:r>
              <a:rPr sz="700" i="0">
                <a:solidFill>
                  <a:srgbClr val="E6EDF3"/>
                </a:solidFill>
                <a:latin typeface="Inconsolata"/>
              </a:rPr>
              <a:t> stocks == [</a:t>
            </a:r>
            <a:r>
              <a:rPr sz="700" i="0">
                <a:solidFill>
                  <a:srgbClr val="F9C97A"/>
                </a:solidFill>
                <a:latin typeface="Inconsolata"/>
              </a:rPr>
              <a:t>5</a:t>
            </a:r>
            <a:r>
              <a:rPr sz="700" i="0">
                <a:solidFill>
                  <a:srgbClr val="E6EDF3"/>
                </a:solidFill>
                <a:latin typeface="Inconsolata"/>
              </a:rPr>
              <a:t>, </a:t>
            </a:r>
            <a:r>
              <a:rPr sz="700" i="0">
                <a:solidFill>
                  <a:srgbClr val="F9C97A"/>
                </a:solidFill>
                <a:latin typeface="Inconsolata"/>
              </a:rPr>
              <a:t>1</a:t>
            </a:r>
            <a:r>
              <a:rPr sz="700" i="0">
                <a:solidFill>
                  <a:srgbClr val="E6EDF3"/>
                </a:solidFill>
                <a:latin typeface="Inconsolata"/>
              </a:rPr>
              <a:t>]                        </a:t>
            </a:r>
            <a:r>
              <a:rPr sz="700" i="1">
                <a:solidFill>
                  <a:srgbClr val="8B98A8"/>
                </a:solidFill>
                <a:latin typeface="Inconsolata"/>
              </a:rPr>
              <a:t># stok Keyboard tidak ikut berkurang</a:t>
            </a:r>
          </a:p>
        </p:txBody>
      </p:sp>
      <p:sp>
        <p:nvSpPr>
          <p:cNvPr id="29" name="Box 12"/>
          <p:cNvSpPr/>
          <p:nvPr/>
        </p:nvSpPr>
        <p:spPr>
          <a:xfrm>
            <a:off x="704088" y="1939671"/>
            <a:ext cx="4727448" cy="907542"/>
          </a:xfrm>
          <a:prstGeom prst="roundRect">
            <a:avLst>
              <a:gd name="adj" fmla="val 503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22745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82671"/>
            <a:ext cx="4727448" cy="907542"/>
          </a:xfrm>
          <a:prstGeom prst="roundRect">
            <a:avLst>
              <a:gd name="adj" fmla="val 503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341757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FakeUnitOfWork</a:t>
            </a:r>
            <a:r>
              <a:rPr sz="900" b="0" i="0">
                <a:solidFill>
                  <a:srgbClr val="434343"/>
                </a:solidFill>
                <a:latin typeface="Inter"/>
              </a:rPr>
              <a:t> untuk unit test service, mencatat apakah </a:t>
            </a:r>
            <a:r>
              <a:rPr sz="900" b="0" i="0">
                <a:solidFill>
                  <a:srgbClr val="B5482A"/>
                </a:solidFill>
                <a:latin typeface="Inconsolata"/>
              </a:rPr>
              <a:t>commit()</a:t>
            </a:r>
            <a:r>
              <a:rPr sz="900" b="0" i="0">
                <a:solidFill>
                  <a:srgbClr val="434343"/>
                </a:solidFill>
                <a:latin typeface="Inter"/>
              </a:rPr>
              <a:t> dipanggil</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test_transaction.py</a:t>
            </a:r>
            <a:r>
              <a:rPr sz="900" b="0" i="0">
                <a:solidFill>
                  <a:srgbClr val="434343"/>
                </a:solidFill>
                <a:latin typeface="Inter"/>
              </a:rPr>
              <a:t>: SQLAlchemy sungguhan dengan SQLite di memory, membuktikan rollback</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test_api.py</a:t>
            </a:r>
            <a:r>
              <a:rPr sz="900" b="0" i="0">
                <a:solidFill>
                  <a:srgbClr val="434343"/>
                </a:solidFill>
                <a:latin typeface="Inter"/>
              </a:rPr>
              <a:t>: database diganti lewat override </a:t>
            </a:r>
            <a:r>
              <a:rPr sz="900" b="0" i="0">
                <a:solidFill>
                  <a:srgbClr val="B5482A"/>
                </a:solidFill>
                <a:latin typeface="Inconsolata"/>
              </a:rPr>
              <a:t>get_session_factory</a:t>
            </a:r>
          </a:p>
        </p:txBody>
      </p:sp>
      <p:sp>
        <p:nvSpPr>
          <p:cNvPr id="36" name="Box 19"/>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Ada 12 test: 5 use case, 2 transaksi, 5 API.</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12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Jalankan Test</a:t>
            </a:r>
          </a:p>
        </p:txBody>
      </p:sp>
      <p:pic>
        <p:nvPicPr>
          <p:cNvPr id="22" name="Image 3" descr="s04-pytest.png"/>
          <p:cNvPicPr>
            <a:picLocks noChangeAspect="1"/>
          </p:cNvPicPr>
          <p:nvPr/>
        </p:nvPicPr>
        <p:blipFill>
          <a:blip r:embed="rId2"/>
          <a:stretch>
            <a:fillRect/>
          </a:stretch>
        </p:blipFill>
        <p:spPr>
          <a:xfrm>
            <a:off x="621792" y="1481328"/>
            <a:ext cx="5212080" cy="2629731"/>
          </a:xfrm>
          <a:prstGeom prst="rect">
            <a:avLst/>
          </a:prstGeom>
          <a:ln w="9525">
            <a:solidFill>
              <a:srgbClr val="D0D5DD"/>
            </a:solidFill>
          </a:ln>
        </p:spPr>
      </p:pic>
      <p:sp>
        <p:nvSpPr>
          <p:cNvPr id="23" name="Box 4"/>
          <p:cNvSpPr/>
          <p:nvPr/>
        </p:nvSpPr>
        <p:spPr>
          <a:xfrm>
            <a:off x="5989320" y="1481328"/>
            <a:ext cx="2496312" cy="3218688"/>
          </a:xfrm>
          <a:prstGeom prst="roundRect">
            <a:avLst>
              <a:gd name="adj" fmla="val 4395"/>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Text 5"/>
          <p:cNvSpPr txBox="1"/>
          <p:nvPr/>
        </p:nvSpPr>
        <p:spPr>
          <a:xfrm>
            <a:off x="6126480" y="1572768"/>
            <a:ext cx="2221992" cy="310896"/>
          </a:xfrm>
          <a:prstGeom prst="rect">
            <a:avLst/>
          </a:prstGeom>
          <a:noFill/>
        </p:spPr>
        <p:txBody>
          <a:bodyPr wrap="square" lIns="45720" rIns="45720" anchor="t">
            <a:spAutoFit/>
          </a:bodyPr>
          <a:lstStyle/>
          <a:p>
            <a:pPr algn="l">
              <a:lnSpc>
                <a:spcPct val="115000"/>
              </a:lnSpc>
              <a:spcAft>
                <a:spcPts val="400"/>
              </a:spcAft>
            </a:pPr>
            <a:r>
              <a:rPr sz="1100" b="1" i="0">
                <a:solidFill>
                  <a:srgbClr val="E0764F"/>
                </a:solidFill>
                <a:latin typeface="Inter"/>
              </a:rPr>
              <a:t>Yang dikerjakan</a:t>
            </a:r>
          </a:p>
        </p:txBody>
      </p:sp>
      <p:sp>
        <p:nvSpPr>
          <p:cNvPr id="25" name="Text 6"/>
          <p:cNvSpPr txBox="1"/>
          <p:nvPr/>
        </p:nvSpPr>
        <p:spPr>
          <a:xfrm>
            <a:off x="6126480" y="1892808"/>
            <a:ext cx="22219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Hapus </a:t>
            </a:r>
            <a:r>
              <a:rPr sz="950" b="0" i="0">
                <a:solidFill>
                  <a:srgbClr val="B5482A"/>
                </a:solidFill>
                <a:latin typeface="Inconsolata"/>
              </a:rPr>
              <a:t>orders.db</a:t>
            </a:r>
            <a:r>
              <a:rPr sz="950" b="0" i="0">
                <a:solidFill>
                  <a:srgbClr val="434343"/>
                </a:solidFill>
                <a:latin typeface="Inter"/>
              </a:rPr>
              <a:t> lama</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Masuk ke folder </a:t>
            </a:r>
            <a:r>
              <a:rPr sz="950" b="0" i="0">
                <a:solidFill>
                  <a:srgbClr val="B5482A"/>
                </a:solidFill>
                <a:latin typeface="Inconsolata"/>
              </a:rPr>
              <a:t>latihan/</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Jalankan </a:t>
            </a:r>
            <a:r>
              <a:rPr sz="950" b="0" i="0">
                <a:solidFill>
                  <a:srgbClr val="B5482A"/>
                </a:solidFill>
                <a:latin typeface="Inconsolata"/>
              </a:rPr>
              <a:t>pytest -v</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Semua test harus </a:t>
            </a:r>
            <a:r>
              <a:rPr sz="950" b="1" i="0">
                <a:solidFill>
                  <a:srgbClr val="434343"/>
                </a:solidFill>
                <a:latin typeface="Inter"/>
              </a:rPr>
              <a:t>PASSED</a:t>
            </a:r>
          </a:p>
          <a:p>
            <a:pPr algn="l">
              <a:lnSpc>
                <a:spcPct val="115000"/>
              </a:lnSpc>
              <a:spcAft>
                <a:spcPts val="0"/>
              </a:spcAft>
            </a:pPr>
            <a:endParaRPr sz="950" b="1" i="0">
              <a:solidFill>
                <a:srgbClr val="434343"/>
              </a:solidFill>
              <a:latin typeface="Inter"/>
            </a:endParaRPr>
          </a:p>
          <a:p>
            <a:pPr algn="l">
              <a:lnSpc>
                <a:spcPct val="115000"/>
              </a:lnSpc>
              <a:spcAft>
                <a:spcPts val="400"/>
              </a:spcAft>
            </a:pPr>
            <a:r>
              <a:rPr sz="950" b="0" i="0">
                <a:solidFill>
                  <a:srgbClr val="B5482A"/>
                </a:solidFill>
                <a:latin typeface="Inconsolata"/>
              </a:rPr>
              <a:t>test_transaction.py</a:t>
            </a:r>
            <a:r>
              <a:rPr sz="950" b="0" i="0">
                <a:solidFill>
                  <a:srgbClr val="434343"/>
                </a:solidFill>
                <a:latin typeface="Inter"/>
              </a:rPr>
              <a:t> membuktikan rollback benar-benar terjadi di database.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12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Coba di Swagger: Tambah Produk, lalu Order</a:t>
            </a:r>
          </a:p>
        </p:txBody>
      </p:sp>
      <p:pic>
        <p:nvPicPr>
          <p:cNvPr id="22" name="Image 3" descr="s04-product-resp.png"/>
          <p:cNvPicPr>
            <a:picLocks noChangeAspect="1"/>
          </p:cNvPicPr>
          <p:nvPr/>
        </p:nvPicPr>
        <p:blipFill>
          <a:blip r:embed="rId2"/>
          <a:stretch>
            <a:fillRect/>
          </a:stretch>
        </p:blipFill>
        <p:spPr>
          <a:xfrm>
            <a:off x="621792" y="1481328"/>
            <a:ext cx="3840480" cy="1026835"/>
          </a:xfrm>
          <a:prstGeom prst="rect">
            <a:avLst/>
          </a:prstGeom>
          <a:ln w="9525">
            <a:solidFill>
              <a:srgbClr val="D0D5DD"/>
            </a:solidFill>
          </a:ln>
        </p:spPr>
      </p:pic>
      <p:sp>
        <p:nvSpPr>
          <p:cNvPr id="23" name="Text 4"/>
          <p:cNvSpPr txBox="1"/>
          <p:nvPr/>
        </p:nvSpPr>
        <p:spPr>
          <a:xfrm>
            <a:off x="621792" y="2535595"/>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/products: Keyboard 500.000, stok 5 (Mouse stok 1 juga ditambahkan)</a:t>
            </a:r>
          </a:p>
        </p:txBody>
      </p:sp>
      <p:sp>
        <p:nvSpPr>
          <p:cNvPr id="24" name="Text 5"/>
          <p:cNvSpPr txBox="1"/>
          <p:nvPr/>
        </p:nvSpPr>
        <p:spPr>
          <a:xfrm>
            <a:off x="621792" y="2919643"/>
            <a:ext cx="3840480" cy="274320"/>
          </a:xfrm>
          <a:prstGeom prst="rect">
            <a:avLst/>
          </a:prstGeom>
          <a:noFill/>
        </p:spPr>
        <p:txBody>
          <a:bodyPr wrap="square" lIns="45720" rIns="45720" anchor="t">
            <a:spAutoFit/>
          </a:bodyPr>
          <a:lstStyle/>
          <a:p>
            <a:pPr algn="l">
              <a:lnSpc>
                <a:spcPct val="115000"/>
              </a:lnSpc>
              <a:spcAft>
                <a:spcPts val="400"/>
              </a:spcAft>
            </a:pPr>
            <a:r>
              <a:rPr sz="950" b="0" i="0">
                <a:solidFill>
                  <a:srgbClr val="1C4587"/>
                </a:solidFill>
                <a:latin typeface="Inter"/>
              </a:rPr>
              <a:t>Request order:</a:t>
            </a:r>
          </a:p>
        </p:txBody>
      </p:sp>
      <p:sp>
        <p:nvSpPr>
          <p:cNvPr id="25" name="CodeTab 7"/>
          <p:cNvSpPr/>
          <p:nvPr/>
        </p:nvSpPr>
        <p:spPr>
          <a:xfrm>
            <a:off x="621792" y="3239683"/>
            <a:ext cx="38404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Dot 8"/>
          <p:cNvSpPr/>
          <p:nvPr/>
        </p:nvSpPr>
        <p:spPr>
          <a:xfrm>
            <a:off x="731520" y="3317407"/>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t 9"/>
          <p:cNvSpPr/>
          <p:nvPr/>
        </p:nvSpPr>
        <p:spPr>
          <a:xfrm>
            <a:off x="868680" y="3317407"/>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t 10"/>
          <p:cNvSpPr/>
          <p:nvPr/>
        </p:nvSpPr>
        <p:spPr>
          <a:xfrm>
            <a:off x="1005840" y="3317407"/>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11"/>
          <p:cNvSpPr txBox="1"/>
          <p:nvPr/>
        </p:nvSpPr>
        <p:spPr>
          <a:xfrm>
            <a:off x="1170432" y="3248827"/>
            <a:ext cx="32004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POST /orders</a:t>
            </a:r>
          </a:p>
        </p:txBody>
      </p:sp>
      <p:sp>
        <p:nvSpPr>
          <p:cNvPr id="30" name="CodeBg 13"/>
          <p:cNvSpPr/>
          <p:nvPr/>
        </p:nvSpPr>
        <p:spPr>
          <a:xfrm>
            <a:off x="621792" y="3477427"/>
            <a:ext cx="3840480" cy="676656"/>
          </a:xfrm>
          <a:prstGeom prst="roundRect">
            <a:avLst>
              <a:gd name="adj" fmla="val 270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 14"/>
          <p:cNvSpPr txBox="1"/>
          <p:nvPr/>
        </p:nvSpPr>
        <p:spPr>
          <a:xfrm>
            <a:off x="621792" y="3477427"/>
            <a:ext cx="3840480" cy="676656"/>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a:t>
            </a:r>
          </a:p>
          <a:p>
            <a:pPr>
              <a:lnSpc>
                <a:spcPct val="104167"/>
              </a:lnSpc>
              <a:spcAft>
                <a:spcPts val="0"/>
              </a:spcAft>
            </a:pPr>
            <a:r>
              <a:rPr sz="800" i="0">
                <a:solidFill>
                  <a:srgbClr val="E6EDF3"/>
                </a:solidFill>
                <a:latin typeface="Inconsolata"/>
              </a:rPr>
              <a:t>  "customer": "budi@mail.com", "customer_type": "vip",</a:t>
            </a:r>
          </a:p>
          <a:p>
            <a:pPr>
              <a:lnSpc>
                <a:spcPct val="104167"/>
              </a:lnSpc>
              <a:spcAft>
                <a:spcPts val="0"/>
              </a:spcAft>
            </a:pPr>
            <a:r>
              <a:rPr sz="800" i="0">
                <a:solidFill>
                  <a:srgbClr val="E6EDF3"/>
                </a:solidFill>
                <a:latin typeface="Inconsolata"/>
              </a:rPr>
              <a:t>  "items": [{"product_id": 1, "qty": 2}]</a:t>
            </a:r>
          </a:p>
          <a:p>
            <a:pPr>
              <a:lnSpc>
                <a:spcPct val="104167"/>
              </a:lnSpc>
              <a:spcAft>
                <a:spcPts val="0"/>
              </a:spcAft>
            </a:pPr>
            <a:r>
              <a:rPr sz="800" i="0">
                <a:solidFill>
                  <a:srgbClr val="E6EDF3"/>
                </a:solidFill>
                <a:latin typeface="Inconsolata"/>
              </a:rPr>
              <a:t>}</a:t>
            </a:r>
          </a:p>
        </p:txBody>
      </p:sp>
      <p:sp>
        <p:nvSpPr>
          <p:cNvPr id="32" name="Text 15"/>
          <p:cNvSpPr txBox="1"/>
          <p:nvPr/>
        </p:nvSpPr>
        <p:spPr>
          <a:xfrm>
            <a:off x="621792" y="4227235"/>
            <a:ext cx="3840480" cy="457200"/>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Harga dan nama barang diambil dari produk, bukan dari client.</a:t>
            </a:r>
          </a:p>
        </p:txBody>
      </p:sp>
      <p:pic>
        <p:nvPicPr>
          <p:cNvPr id="33" name="Image 16" descr="s04-post-resp.png"/>
          <p:cNvPicPr>
            <a:picLocks noChangeAspect="1"/>
          </p:cNvPicPr>
          <p:nvPr/>
        </p:nvPicPr>
        <p:blipFill>
          <a:blip r:embed="rId3"/>
          <a:stretch>
            <a:fillRect/>
          </a:stretch>
        </p:blipFill>
        <p:spPr>
          <a:xfrm>
            <a:off x="4645152" y="1481328"/>
            <a:ext cx="3840480" cy="1920240"/>
          </a:xfrm>
          <a:prstGeom prst="rect">
            <a:avLst/>
          </a:prstGeom>
          <a:ln w="9525">
            <a:solidFill>
              <a:srgbClr val="D0D5DD"/>
            </a:solidFill>
          </a:ln>
        </p:spPr>
      </p:pic>
      <p:sp>
        <p:nvSpPr>
          <p:cNvPr id="34" name="Text 17"/>
          <p:cNvSpPr txBox="1"/>
          <p:nvPr/>
        </p:nvSpPr>
        <p:spPr>
          <a:xfrm>
            <a:off x="4645152" y="3429000"/>
            <a:ext cx="3840480" cy="45720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/orders: 201, total 900.000. Stok Keyboard sekarang 3.</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12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Stok Kurang: Semua Dibatalkan</a:t>
            </a:r>
          </a:p>
        </p:txBody>
      </p:sp>
      <p:pic>
        <p:nvPicPr>
          <p:cNvPr id="22" name="Image 3" descr="s04-409-resp.png"/>
          <p:cNvPicPr>
            <a:picLocks noChangeAspect="1"/>
          </p:cNvPicPr>
          <p:nvPr/>
        </p:nvPicPr>
        <p:blipFill>
          <a:blip r:embed="rId2"/>
          <a:stretch>
            <a:fillRect/>
          </a:stretch>
        </p:blipFill>
        <p:spPr>
          <a:xfrm>
            <a:off x="621792" y="1481328"/>
            <a:ext cx="3840480" cy="1206676"/>
          </a:xfrm>
          <a:prstGeom prst="rect">
            <a:avLst/>
          </a:prstGeom>
          <a:ln w="9525">
            <a:solidFill>
              <a:srgbClr val="D0D5DD"/>
            </a:solidFill>
          </a:ln>
        </p:spPr>
      </p:pic>
      <p:sp>
        <p:nvSpPr>
          <p:cNvPr id="23" name="Text 4"/>
          <p:cNvSpPr txBox="1"/>
          <p:nvPr/>
        </p:nvSpPr>
        <p:spPr>
          <a:xfrm>
            <a:off x="621792" y="2715436"/>
            <a:ext cx="38404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/orders: Keyboard 2 + Mouse 3. Mouse cuma 1</a:t>
            </a:r>
          </a:p>
        </p:txBody>
      </p:sp>
      <p:pic>
        <p:nvPicPr>
          <p:cNvPr id="24" name="Image 5" descr="s04-stock-resp.png"/>
          <p:cNvPicPr>
            <a:picLocks noChangeAspect="1"/>
          </p:cNvPicPr>
          <p:nvPr/>
        </p:nvPicPr>
        <p:blipFill>
          <a:blip r:embed="rId3"/>
          <a:stretch>
            <a:fillRect/>
          </a:stretch>
        </p:blipFill>
        <p:spPr>
          <a:xfrm>
            <a:off x="621792" y="3099484"/>
            <a:ext cx="3840480" cy="1026835"/>
          </a:xfrm>
          <a:prstGeom prst="rect">
            <a:avLst/>
          </a:prstGeom>
          <a:ln w="9525">
            <a:solidFill>
              <a:srgbClr val="D0D5DD"/>
            </a:solidFill>
          </a:ln>
        </p:spPr>
      </p:pic>
      <p:sp>
        <p:nvSpPr>
          <p:cNvPr id="25" name="Text 6"/>
          <p:cNvSpPr txBox="1"/>
          <p:nvPr/>
        </p:nvSpPr>
        <p:spPr>
          <a:xfrm>
            <a:off x="621792" y="4153751"/>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GET /products/1: stok Keyboard tetap 3</a:t>
            </a:r>
          </a:p>
        </p:txBody>
      </p:sp>
      <p:sp>
        <p:nvSpPr>
          <p:cNvPr id="26" name="Text 7"/>
          <p:cNvSpPr txBox="1"/>
          <p:nvPr/>
        </p:nvSpPr>
        <p:spPr>
          <a:xfrm>
            <a:off x="4645152" y="1481328"/>
            <a:ext cx="3840480" cy="320040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Yang terjadi</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Stok Keyboard dikurangi 2 di dalam Unit of Work</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Mouse diminta 3, stoknya 1: </a:t>
            </a:r>
            <a:r>
              <a:rPr sz="950" b="0" i="0">
                <a:solidFill>
                  <a:srgbClr val="B5482A"/>
                </a:solidFill>
                <a:latin typeface="Inconsolata"/>
              </a:rPr>
              <a:t>OutOfStock</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commit()</a:t>
            </a:r>
            <a:r>
              <a:rPr sz="950" b="0" i="0">
                <a:solidFill>
                  <a:srgbClr val="434343"/>
                </a:solidFill>
                <a:latin typeface="Inter"/>
              </a:rPr>
              <a:t> tidak pernah dipanggil, </a:t>
            </a:r>
            <a:r>
              <a:rPr sz="950" b="0" i="0">
                <a:solidFill>
                  <a:srgbClr val="B5482A"/>
                </a:solidFill>
                <a:latin typeface="Inconsolata"/>
              </a:rPr>
              <a:t>__exit__</a:t>
            </a:r>
            <a:r>
              <a:rPr sz="950" b="0" i="0">
                <a:solidFill>
                  <a:srgbClr val="434343"/>
                </a:solidFill>
                <a:latin typeface="Inter"/>
              </a:rPr>
              <a:t> melakukan rollback</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Exception handler mengubah error jadi </a:t>
            </a:r>
            <a:r>
              <a:rPr sz="950" b="1" i="0">
                <a:solidFill>
                  <a:srgbClr val="434343"/>
                </a:solidFill>
                <a:latin typeface="Inter"/>
              </a:rPr>
              <a:t>409</a:t>
            </a:r>
            <a:r>
              <a:rPr sz="950" b="0" i="0">
                <a:solidFill>
                  <a:srgbClr val="434343"/>
                </a:solidFill>
                <a:latin typeface="Inter"/>
              </a:rPr>
              <a:t> dengan format </a:t>
            </a:r>
            <a:r>
              <a:rPr sz="950" b="0" i="0">
                <a:solidFill>
                  <a:srgbClr val="B5482A"/>
                </a:solidFill>
                <a:latin typeface="Inconsolata"/>
              </a:rPr>
              <a:t>{"error": {...}}</a:t>
            </a:r>
          </a:p>
          <a:p>
            <a:pPr algn="l">
              <a:lnSpc>
                <a:spcPct val="115000"/>
              </a:lnSpc>
              <a:spcAft>
                <a:spcPts val="0"/>
              </a:spcAft>
            </a:pPr>
            <a:endParaRPr sz="950" b="0" i="0">
              <a:solidFill>
                <a:srgbClr val="B5482A"/>
              </a:solidFill>
              <a:latin typeface="Inconsolata"/>
            </a:endParaRPr>
          </a:p>
          <a:p>
            <a:pPr algn="l">
              <a:lnSpc>
                <a:spcPct val="115000"/>
              </a:lnSpc>
              <a:spcAft>
                <a:spcPts val="400"/>
              </a:spcAft>
            </a:pPr>
            <a:r>
              <a:rPr sz="950" b="0" i="0">
                <a:solidFill>
                  <a:srgbClr val="434343"/>
                </a:solidFill>
                <a:latin typeface="Inter"/>
              </a:rPr>
              <a:t>Stok Keyboard tidak ikut berkurang, dan tidak ada order yang tersimpan.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12 dari 12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Header dan Dokumentasi</a:t>
            </a:r>
          </a:p>
        </p:txBody>
      </p:sp>
      <p:pic>
        <p:nvPicPr>
          <p:cNvPr id="22" name="Image 3" descr="s04-docs.png"/>
          <p:cNvPicPr>
            <a:picLocks noChangeAspect="1"/>
          </p:cNvPicPr>
          <p:nvPr/>
        </p:nvPicPr>
        <p:blipFill>
          <a:blip r:embed="rId2"/>
          <a:stretch>
            <a:fillRect/>
          </a:stretch>
        </p:blipFill>
        <p:spPr>
          <a:xfrm>
            <a:off x="621792" y="1481328"/>
            <a:ext cx="3940887" cy="3218688"/>
          </a:xfrm>
          <a:prstGeom prst="rect">
            <a:avLst/>
          </a:prstGeom>
          <a:ln w="9525">
            <a:solidFill>
              <a:srgbClr val="D0D5DD"/>
            </a:solidFill>
          </a:ln>
        </p:spPr>
      </p:pic>
      <p:pic>
        <p:nvPicPr>
          <p:cNvPr id="23" name="Image 4" descr="s04-headers-resp.png"/>
          <p:cNvPicPr>
            <a:picLocks noChangeAspect="1"/>
          </p:cNvPicPr>
          <p:nvPr/>
        </p:nvPicPr>
        <p:blipFill>
          <a:blip r:embed="rId3"/>
          <a:stretch>
            <a:fillRect/>
          </a:stretch>
        </p:blipFill>
        <p:spPr>
          <a:xfrm>
            <a:off x="4745558" y="1481328"/>
            <a:ext cx="3740073" cy="2305060"/>
          </a:xfrm>
          <a:prstGeom prst="rect">
            <a:avLst/>
          </a:prstGeom>
          <a:ln w="9525">
            <a:solidFill>
              <a:srgbClr val="D0D5DD"/>
            </a:solidFill>
          </a:ln>
        </p:spPr>
      </p:pic>
      <p:sp>
        <p:nvSpPr>
          <p:cNvPr id="24" name="Text 5"/>
          <p:cNvSpPr txBox="1"/>
          <p:nvPr/>
        </p:nvSpPr>
        <p:spPr>
          <a:xfrm>
            <a:off x="4745558" y="3832108"/>
            <a:ext cx="3740073" cy="1097280"/>
          </a:xfrm>
          <a:prstGeom prst="rect">
            <a:avLst/>
          </a:prstGeom>
          <a:noFill/>
        </p:spPr>
        <p:txBody>
          <a:bodyPr wrap="square" lIns="45720" rIns="45720" anchor="t">
            <a:spAutoFit/>
          </a:bodyPr>
          <a:lstStyle/>
          <a:p>
            <a:pPr algn="l">
              <a:lnSpc>
                <a:spcPct val="115000"/>
              </a:lnSpc>
              <a:spcAft>
                <a:spcPts val="400"/>
              </a:spcAft>
            </a:pPr>
            <a:r>
              <a:rPr sz="900" b="1" i="0">
                <a:solidFill>
                  <a:srgbClr val="434343"/>
                </a:solidFill>
                <a:latin typeface="Inter"/>
              </a:rPr>
              <a:t>Kiri:</a:t>
            </a:r>
            <a:r>
              <a:rPr sz="900" b="0" i="0">
                <a:solidFill>
                  <a:srgbClr val="434343"/>
                </a:solidFill>
                <a:latin typeface="Inter"/>
              </a:rPr>
              <a:t> </a:t>
            </a:r>
            <a:r>
              <a:rPr sz="900" b="0" i="0">
                <a:solidFill>
                  <a:srgbClr val="B5482A"/>
                </a:solidFill>
                <a:latin typeface="Inconsolata"/>
              </a:rPr>
              <a:t>/docs</a:t>
            </a:r>
            <a:r>
              <a:rPr sz="900" b="0" i="0">
                <a:solidFill>
                  <a:srgbClr val="434343"/>
                </a:solidFill>
                <a:latin typeface="Inter"/>
              </a:rPr>
              <a:t> dengan judul, versi, tag, dan summary.</a:t>
            </a:r>
          </a:p>
          <a:p>
            <a:pPr algn="l">
              <a:lnSpc>
                <a:spcPct val="115000"/>
              </a:lnSpc>
              <a:spcAft>
                <a:spcPts val="400"/>
              </a:spcAft>
            </a:pPr>
            <a:r>
              <a:rPr sz="900" b="1" i="0">
                <a:solidFill>
                  <a:srgbClr val="434343"/>
                </a:solidFill>
                <a:latin typeface="Inter"/>
              </a:rPr>
              <a:t>Kanan:</a:t>
            </a:r>
            <a:r>
              <a:rPr sz="900" b="0" i="0">
                <a:solidFill>
                  <a:srgbClr val="434343"/>
                </a:solidFill>
                <a:latin typeface="Inter"/>
              </a:rPr>
              <a:t> </a:t>
            </a:r>
            <a:r>
              <a:rPr sz="900" b="0" i="0">
                <a:solidFill>
                  <a:srgbClr val="B5482A"/>
                </a:solidFill>
                <a:latin typeface="Inconsolata"/>
              </a:rPr>
              <a:t>GET /products</a:t>
            </a:r>
            <a:r>
              <a:rPr sz="900" b="0" i="0">
                <a:solidFill>
                  <a:srgbClr val="434343"/>
                </a:solidFill>
                <a:latin typeface="Inter"/>
              </a:rPr>
              <a:t> dengan header </a:t>
            </a:r>
            <a:r>
              <a:rPr sz="900" b="0" i="0">
                <a:solidFill>
                  <a:srgbClr val="B5482A"/>
                </a:solidFill>
                <a:latin typeface="Inconsolata"/>
              </a:rPr>
              <a:t>x-process-time</a:t>
            </a:r>
            <a:r>
              <a:rPr sz="900" b="0" i="0">
                <a:solidFill>
                  <a:srgbClr val="434343"/>
                </a:solidFill>
                <a:latin typeface="Inter"/>
              </a:rPr>
              <a:t> dari middleware.</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Cek Kriteria Selesai</a:t>
            </a:r>
          </a:p>
        </p:txBody>
      </p:sp>
      <p:graphicFrame>
        <p:nvGraphicFramePr>
          <p:cNvPr id="22" name="Table 3"/>
          <p:cNvGraphicFramePr>
            <a:graphicFrameLocks noGrp="1"/>
          </p:cNvGraphicFramePr>
          <p:nvPr/>
        </p:nvGraphicFramePr>
        <p:xfrm>
          <a:off x="621792" y="1481328"/>
          <a:ext cx="7863840" cy="3072384"/>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tblGrid>
              <a:tr h="384048">
                <a:tc>
                  <a:txBody>
                    <a:bodyPr/>
                    <a:lstStyle/>
                    <a:p>
                      <a:pPr algn="l">
                        <a:lnSpc>
                          <a:spcPct val="100000"/>
                        </a:lnSpc>
                        <a:spcAft>
                          <a:spcPts val="0"/>
                        </a:spcAft>
                      </a:pPr>
                      <a:r>
                        <a:rPr sz="900" b="1" i="0">
                          <a:solidFill>
                            <a:srgbClr val="FFFFFF"/>
                          </a:solidFill>
                          <a:latin typeface="Inter"/>
                        </a:rPr>
                        <a:t>Kriteria</a:t>
                      </a:r>
                    </a:p>
                  </a:txBody>
                  <a:tcPr marL="73152" marR="73152" marT="36576" marB="36576" anchor="ctr">
                    <a:solidFill>
                      <a:srgbClr val="1C4587"/>
                    </a:solidFill>
                  </a:tcPr>
                </a:tc>
                <a:tc>
                  <a:txBody>
                    <a:bodyPr/>
                    <a:lstStyle/>
                    <a:p>
                      <a:pPr algn="l">
                        <a:lnSpc>
                          <a:spcPct val="100000"/>
                        </a:lnSpc>
                        <a:spcAft>
                          <a:spcPts val="0"/>
                        </a:spcAft>
                      </a:pPr>
                      <a:r>
                        <a:rPr sz="900" b="1" i="0">
                          <a:solidFill>
                            <a:srgbClr val="FFFFFF"/>
                          </a:solidFill>
                          <a:latin typeface="Inter"/>
                        </a:rPr>
                        <a:t>Cara mengecek</a:t>
                      </a:r>
                    </a:p>
                  </a:txBody>
                  <a:tcPr marL="73152" marR="73152" marT="36576" marB="36576" anchor="ctr">
                    <a:solidFill>
                      <a:srgbClr val="1C4587"/>
                    </a:solidFill>
                  </a:tcPr>
                </a:tc>
                <a:extLst>
                  <a:ext uri="{0D108BD9-81ED-4DB2-BD59-A6C34878D82A}">
                    <a16:rowId xmlns:a16="http://schemas.microsoft.com/office/drawing/2014/main" val="10000"/>
                  </a:ext>
                </a:extLst>
              </a:tr>
              <a:tr h="384048">
                <a:tc>
                  <a:txBody>
                    <a:bodyPr/>
                    <a:lstStyle/>
                    <a:p>
                      <a:pPr algn="l">
                        <a:lnSpc>
                          <a:spcPct val="100000"/>
                        </a:lnSpc>
                        <a:spcAft>
                          <a:spcPts val="0"/>
                        </a:spcAft>
                      </a:pPr>
                      <a:r>
                        <a:rPr sz="900" b="1" i="0">
                          <a:solidFill>
                            <a:srgbClr val="1C4587"/>
                          </a:solidFill>
                          <a:latin typeface="Inter"/>
                        </a:rPr>
                        <a:t>Endpoint di api/routers/, schema di api/schemas.py</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Struktur folder sama dengan target</a:t>
                      </a:r>
                    </a:p>
                  </a:txBody>
                  <a:tcPr marL="73152" marR="73152" marT="36576" marB="36576" anchor="ctr">
                    <a:solidFill>
                      <a:srgbClr val="FFFFFF"/>
                    </a:solidFill>
                  </a:tcPr>
                </a:tc>
                <a:extLst>
                  <a:ext uri="{0D108BD9-81ED-4DB2-BD59-A6C34878D82A}">
                    <a16:rowId xmlns:a16="http://schemas.microsoft.com/office/drawing/2014/main" val="10001"/>
                  </a:ext>
                </a:extLst>
              </a:tr>
              <a:tr h="384048">
                <a:tc>
                  <a:txBody>
                    <a:bodyPr/>
                    <a:lstStyle/>
                    <a:p>
                      <a:pPr algn="l">
                        <a:lnSpc>
                          <a:spcPct val="100000"/>
                        </a:lnSpc>
                        <a:spcAft>
                          <a:spcPts val="0"/>
                        </a:spcAft>
                      </a:pPr>
                      <a:r>
                        <a:rPr sz="900" b="1" i="0">
                          <a:solidFill>
                            <a:srgbClr val="1C4587"/>
                          </a:solidFill>
                          <a:latin typeface="Inter"/>
                        </a:rPr>
                        <a:t>Repository SQLAlchemy tanpa commit</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repositories.py hanya flush(), tidak ada commit()</a:t>
                      </a:r>
                    </a:p>
                  </a:txBody>
                  <a:tcPr marL="73152" marR="73152" marT="36576" marB="36576" anchor="ctr">
                    <a:solidFill>
                      <a:srgbClr val="F3F4F6"/>
                    </a:solidFill>
                  </a:tcPr>
                </a:tc>
                <a:extLst>
                  <a:ext uri="{0D108BD9-81ED-4DB2-BD59-A6C34878D82A}">
                    <a16:rowId xmlns:a16="http://schemas.microsoft.com/office/drawing/2014/main" val="10002"/>
                  </a:ext>
                </a:extLst>
              </a:tr>
              <a:tr h="384048">
                <a:tc>
                  <a:txBody>
                    <a:bodyPr/>
                    <a:lstStyle/>
                    <a:p>
                      <a:pPr algn="l">
                        <a:lnSpc>
                          <a:spcPct val="100000"/>
                        </a:lnSpc>
                        <a:spcAft>
                          <a:spcPts val="0"/>
                        </a:spcAft>
                      </a:pPr>
                      <a:r>
                        <a:rPr sz="900" b="1" i="0">
                          <a:solidFill>
                            <a:srgbClr val="1C4587"/>
                          </a:solidFill>
                          <a:latin typeface="Inter"/>
                        </a:rPr>
                        <a:t>Satu Unit of Work per use case</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order_service.py: with self.uow ... self.uow.commit()</a:t>
                      </a:r>
                    </a:p>
                  </a:txBody>
                  <a:tcPr marL="73152" marR="73152" marT="36576" marB="36576" anchor="ctr">
                    <a:solidFill>
                      <a:srgbClr val="FFFFFF"/>
                    </a:solidFill>
                  </a:tcPr>
                </a:tc>
                <a:extLst>
                  <a:ext uri="{0D108BD9-81ED-4DB2-BD59-A6C34878D82A}">
                    <a16:rowId xmlns:a16="http://schemas.microsoft.com/office/drawing/2014/main" val="10003"/>
                  </a:ext>
                </a:extLst>
              </a:tr>
              <a:tr h="384048">
                <a:tc>
                  <a:txBody>
                    <a:bodyPr/>
                    <a:lstStyle/>
                    <a:p>
                      <a:pPr algn="l">
                        <a:lnSpc>
                          <a:spcPct val="100000"/>
                        </a:lnSpc>
                        <a:spcAft>
                          <a:spcPts val="0"/>
                        </a:spcAft>
                      </a:pPr>
                      <a:r>
                        <a:rPr sz="900" b="1" i="0">
                          <a:solidFill>
                            <a:srgbClr val="1C4587"/>
                          </a:solidFill>
                          <a:latin typeface="Inter"/>
                        </a:rPr>
                        <a:t>Stok kurang = tidak ada yang berubah</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Swagger: 409 out_of_stock, stok Keyboard tetap</a:t>
                      </a:r>
                    </a:p>
                  </a:txBody>
                  <a:tcPr marL="73152" marR="73152" marT="36576" marB="36576" anchor="ctr">
                    <a:solidFill>
                      <a:srgbClr val="F3F4F6"/>
                    </a:solidFill>
                  </a:tcPr>
                </a:tc>
                <a:extLst>
                  <a:ext uri="{0D108BD9-81ED-4DB2-BD59-A6C34878D82A}">
                    <a16:rowId xmlns:a16="http://schemas.microsoft.com/office/drawing/2014/main" val="10004"/>
                  </a:ext>
                </a:extLst>
              </a:tr>
              <a:tr h="384048">
                <a:tc>
                  <a:txBody>
                    <a:bodyPr/>
                    <a:lstStyle/>
                    <a:p>
                      <a:pPr algn="l">
                        <a:lnSpc>
                          <a:spcPct val="100000"/>
                        </a:lnSpc>
                        <a:spcAft>
                          <a:spcPts val="0"/>
                        </a:spcAft>
                      </a:pPr>
                      <a:r>
                        <a:rPr sz="900" b="1" i="0">
                          <a:solidFill>
                            <a:srgbClr val="1C4587"/>
                          </a:solidFill>
                          <a:latin typeface="Inter"/>
                        </a:rPr>
                        <a:t>Cancel mengembalikan stok</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POST /orders/{id}/cancel lalu GET /products/1</a:t>
                      </a:r>
                    </a:p>
                  </a:txBody>
                  <a:tcPr marL="73152" marR="73152" marT="36576" marB="36576" anchor="ctr">
                    <a:solidFill>
                      <a:srgbClr val="FFFFFF"/>
                    </a:solidFill>
                  </a:tcPr>
                </a:tc>
                <a:extLst>
                  <a:ext uri="{0D108BD9-81ED-4DB2-BD59-A6C34878D82A}">
                    <a16:rowId xmlns:a16="http://schemas.microsoft.com/office/drawing/2014/main" val="10005"/>
                  </a:ext>
                </a:extLst>
              </a:tr>
              <a:tr h="384048">
                <a:tc>
                  <a:txBody>
                    <a:bodyPr/>
                    <a:lstStyle/>
                    <a:p>
                      <a:pPr algn="l">
                        <a:lnSpc>
                          <a:spcPct val="100000"/>
                        </a:lnSpc>
                        <a:spcAft>
                          <a:spcPts val="0"/>
                        </a:spcAft>
                      </a:pPr>
                      <a:r>
                        <a:rPr sz="900" b="1" i="0">
                          <a:solidFill>
                            <a:srgbClr val="1C4587"/>
                          </a:solidFill>
                          <a:latin typeface="Inter"/>
                        </a:rPr>
                        <a:t>Format error seragam, header X-Process-Time</a:t>
                      </a:r>
                    </a:p>
                  </a:txBody>
                  <a:tcPr marL="73152" marR="73152" marT="36576" marB="36576" anchor="ctr">
                    <a:solidFill>
                      <a:srgbClr val="F3F4F6"/>
                    </a:solidFill>
                  </a:tcPr>
                </a:tc>
                <a:tc>
                  <a:txBody>
                    <a:bodyPr/>
                    <a:lstStyle/>
                    <a:p>
                      <a:pPr algn="l">
                        <a:lnSpc>
                          <a:spcPct val="100000"/>
                        </a:lnSpc>
                        <a:spcAft>
                          <a:spcPts val="0"/>
                        </a:spcAft>
                      </a:pPr>
                      <a:r>
                        <a:rPr sz="900" b="0" i="0">
                          <a:solidFill>
                            <a:srgbClr val="434343"/>
                          </a:solidFill>
                          <a:latin typeface="Inter"/>
                        </a:rPr>
                        <a:t>Response error {"error": ...}, header x-process-time</a:t>
                      </a:r>
                    </a:p>
                  </a:txBody>
                  <a:tcPr marL="73152" marR="73152" marT="36576" marB="36576" anchor="ctr">
                    <a:solidFill>
                      <a:srgbClr val="F3F4F6"/>
                    </a:solidFill>
                  </a:tcPr>
                </a:tc>
                <a:extLst>
                  <a:ext uri="{0D108BD9-81ED-4DB2-BD59-A6C34878D82A}">
                    <a16:rowId xmlns:a16="http://schemas.microsoft.com/office/drawing/2014/main" val="10006"/>
                  </a:ext>
                </a:extLst>
              </a:tr>
              <a:tr h="384048">
                <a:tc>
                  <a:txBody>
                    <a:bodyPr/>
                    <a:lstStyle/>
                    <a:p>
                      <a:pPr algn="l">
                        <a:lnSpc>
                          <a:spcPct val="100000"/>
                        </a:lnSpc>
                        <a:spcAft>
                          <a:spcPts val="0"/>
                        </a:spcAft>
                      </a:pPr>
                      <a:r>
                        <a:rPr sz="900" b="1" i="0">
                          <a:solidFill>
                            <a:srgbClr val="1C4587"/>
                          </a:solidFill>
                          <a:latin typeface="Inter"/>
                        </a:rPr>
                        <a:t>/docs lengkap, pytest hijau</a:t>
                      </a:r>
                    </a:p>
                  </a:txBody>
                  <a:tcPr marL="73152" marR="73152" marT="36576" marB="36576" anchor="ctr">
                    <a:solidFill>
                      <a:srgbClr val="FFFFFF"/>
                    </a:solidFill>
                  </a:tcPr>
                </a:tc>
                <a:tc>
                  <a:txBody>
                    <a:bodyPr/>
                    <a:lstStyle/>
                    <a:p>
                      <a:pPr algn="l">
                        <a:lnSpc>
                          <a:spcPct val="100000"/>
                        </a:lnSpc>
                        <a:spcAft>
                          <a:spcPts val="0"/>
                        </a:spcAft>
                      </a:pPr>
                      <a:r>
                        <a:rPr sz="900" b="0" i="0">
                          <a:solidFill>
                            <a:srgbClr val="434343"/>
                          </a:solidFill>
                          <a:latin typeface="Inter"/>
                        </a:rPr>
                        <a:t>pytest -v → 12 passed</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Request Flow: Buat Order</a:t>
            </a:r>
          </a:p>
        </p:txBody>
      </p:sp>
      <p:sp>
        <p:nvSpPr>
          <p:cNvPr id="22" name="CodeTab 4"/>
          <p:cNvSpPr/>
          <p:nvPr/>
        </p:nvSpPr>
        <p:spPr>
          <a:xfrm>
            <a:off x="621792" y="1481328"/>
            <a:ext cx="52578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61772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latihan/app: routers/orders.py → order_service.py → unit_of_work.py</a:t>
            </a:r>
          </a:p>
        </p:txBody>
      </p:sp>
      <p:sp>
        <p:nvSpPr>
          <p:cNvPr id="27" name="CodeBg 10"/>
          <p:cNvSpPr/>
          <p:nvPr/>
        </p:nvSpPr>
        <p:spPr>
          <a:xfrm>
            <a:off x="621792" y="1719072"/>
            <a:ext cx="525780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257800" cy="2980944"/>
          </a:xfrm>
          <a:prstGeom prst="rect">
            <a:avLst/>
          </a:prstGeom>
          <a:noFill/>
        </p:spPr>
        <p:txBody>
          <a:bodyPr wrap="none" lIns="146304" tIns="91440" rIns="146304" bIns="54864">
            <a:spAutoFit/>
          </a:bodyPr>
          <a:lstStyle/>
          <a:p>
            <a:pPr>
              <a:lnSpc>
                <a:spcPct val="102564"/>
              </a:lnSpc>
              <a:spcAft>
                <a:spcPts val="0"/>
              </a:spcAft>
            </a:pPr>
            <a:r>
              <a:rPr sz="650" i="1">
                <a:solidFill>
                  <a:srgbClr val="8B98A8"/>
                </a:solidFill>
                <a:latin typeface="Inconsolata"/>
              </a:rPr>
              <a:t># api/routers/orders.py</a:t>
            </a:r>
          </a:p>
          <a:p>
            <a:pPr>
              <a:lnSpc>
                <a:spcPct val="102564"/>
              </a:lnSpc>
              <a:spcAft>
                <a:spcPts val="0"/>
              </a:spcAft>
            </a:pP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create_order</a:t>
            </a:r>
            <a:r>
              <a:rPr sz="650" i="0">
                <a:solidFill>
                  <a:srgbClr val="E6EDF3"/>
                </a:solidFill>
                <a:latin typeface="Inconsolata"/>
              </a:rPr>
              <a:t>(payload: </a:t>
            </a:r>
            <a:r>
              <a:rPr sz="650" i="0">
                <a:solidFill>
                  <a:srgbClr val="7FDBCA"/>
                </a:solidFill>
                <a:latin typeface="Inconsolata"/>
              </a:rPr>
              <a:t>OrderIn</a:t>
            </a:r>
            <a:r>
              <a:rPr sz="650" i="0">
                <a:solidFill>
                  <a:srgbClr val="E6EDF3"/>
                </a:solidFill>
                <a:latin typeface="Inconsolata"/>
              </a:rPr>
              <a:t>, service: </a:t>
            </a:r>
            <a:r>
              <a:rPr sz="650" i="0">
                <a:solidFill>
                  <a:srgbClr val="7FDBCA"/>
                </a:solidFill>
                <a:latin typeface="Inconsolata"/>
              </a:rPr>
              <a:t>OrderService</a:t>
            </a:r>
            <a:r>
              <a:rPr sz="650" i="0">
                <a:solidFill>
                  <a:srgbClr val="E6EDF3"/>
                </a:solidFill>
                <a:latin typeface="Inconsolata"/>
              </a:rPr>
              <a:t> = </a:t>
            </a:r>
            <a:r>
              <a:rPr sz="650" i="0">
                <a:solidFill>
                  <a:srgbClr val="7FDBCA"/>
                </a:solidFill>
                <a:latin typeface="Inconsolata"/>
              </a:rPr>
              <a:t>Depends</a:t>
            </a:r>
            <a:r>
              <a:rPr sz="650" i="0">
                <a:solidFill>
                  <a:srgbClr val="E6EDF3"/>
                </a:solidFill>
                <a:latin typeface="Inconsolata"/>
              </a:rPr>
              <a:t>(get_order_service)):</a:t>
            </a:r>
          </a:p>
          <a:p>
            <a:pPr>
              <a:lnSpc>
                <a:spcPct val="102564"/>
              </a:lnSpc>
              <a:spcAft>
                <a:spcPts val="0"/>
              </a:spcAft>
            </a:pPr>
            <a:r>
              <a:rPr sz="650" i="0">
                <a:solidFill>
                  <a:srgbClr val="E6EDF3"/>
                </a:solidFill>
                <a:latin typeface="Inconsolata"/>
              </a:rPr>
              <a:t>    items = [i.model_dump() </a:t>
            </a:r>
            <a:r>
              <a:rPr sz="650" i="0">
                <a:solidFill>
                  <a:srgbClr val="FF8E6E"/>
                </a:solidFill>
                <a:latin typeface="Inconsolata"/>
              </a:rPr>
              <a:t>for</a:t>
            </a:r>
            <a:r>
              <a:rPr sz="650" i="0">
                <a:solidFill>
                  <a:srgbClr val="E6EDF3"/>
                </a:solidFill>
                <a:latin typeface="Inconsolata"/>
              </a:rPr>
              <a:t> i </a:t>
            </a:r>
            <a:r>
              <a:rPr sz="650" i="0">
                <a:solidFill>
                  <a:srgbClr val="FF8E6E"/>
                </a:solidFill>
                <a:latin typeface="Inconsolata"/>
              </a:rPr>
              <a:t>in</a:t>
            </a:r>
            <a:r>
              <a:rPr sz="650" i="0">
                <a:solidFill>
                  <a:srgbClr val="E6EDF3"/>
                </a:solidFill>
                <a:latin typeface="Inconsolata"/>
              </a:rPr>
              <a:t> payload.items]</a:t>
            </a:r>
          </a:p>
          <a:p>
            <a:pPr>
              <a:lnSpc>
                <a:spcPct val="102564"/>
              </a:lnSpc>
              <a:spcAft>
                <a:spcPts val="0"/>
              </a:spcAft>
            </a:pPr>
            <a:r>
              <a:rPr sz="650" i="0">
                <a:solidFill>
                  <a:srgbClr val="E6EDF3"/>
                </a:solidFill>
                <a:latin typeface="Inconsolata"/>
              </a:rPr>
              <a:t>    </a:t>
            </a:r>
            <a:r>
              <a:rPr sz="650" i="0">
                <a:solidFill>
                  <a:srgbClr val="FF8E6E"/>
                </a:solidFill>
                <a:latin typeface="Inconsolata"/>
              </a:rPr>
              <a:t>return</a:t>
            </a:r>
            <a:r>
              <a:rPr sz="650" i="0">
                <a:solidFill>
                  <a:srgbClr val="E6EDF3"/>
                </a:solidFill>
                <a:latin typeface="Inconsolata"/>
              </a:rPr>
              <a:t> </a:t>
            </a:r>
            <a:r>
              <a:rPr sz="650" i="0">
                <a:solidFill>
                  <a:srgbClr val="7FDBCA"/>
                </a:solidFill>
                <a:latin typeface="Inconsolata"/>
              </a:rPr>
              <a:t>OrderOut</a:t>
            </a:r>
            <a:r>
              <a:rPr sz="650" i="0">
                <a:solidFill>
                  <a:srgbClr val="E6EDF3"/>
                </a:solidFill>
                <a:latin typeface="Inconsolata"/>
              </a:rPr>
              <a:t>.from_domain(service.place_order(payload.customer, payload.customer_type, items))</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application/order_service.py</a:t>
            </a:r>
          </a:p>
          <a:p>
            <a:pPr>
              <a:lnSpc>
                <a:spcPct val="102564"/>
              </a:lnSpc>
              <a:spcAft>
                <a:spcPts val="0"/>
              </a:spcAft>
            </a:pPr>
            <a:r>
              <a:rPr sz="650" i="0">
                <a:solidFill>
                  <a:srgbClr val="E6EDF3"/>
                </a:solidFill>
                <a:latin typeface="Inconsolata"/>
              </a:rPr>
              <a:t>        </a:t>
            </a:r>
            <a:r>
              <a:rPr sz="650" i="0">
                <a:solidFill>
                  <a:srgbClr val="FF8E6E"/>
                </a:solidFill>
                <a:latin typeface="Inconsolata"/>
              </a:rPr>
              <a:t>with</a:t>
            </a: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a:t>
            </a:r>
          </a:p>
          <a:p>
            <a:pPr>
              <a:lnSpc>
                <a:spcPct val="102564"/>
              </a:lnSpc>
              <a:spcAft>
                <a:spcPts val="0"/>
              </a:spcAft>
            </a:pPr>
            <a:r>
              <a:rPr sz="650" i="0">
                <a:solidFill>
                  <a:srgbClr val="E6EDF3"/>
                </a:solidFill>
                <a:latin typeface="Inconsolata"/>
              </a:rPr>
              <a:t>            order = </a:t>
            </a:r>
            <a:r>
              <a:rPr sz="650" i="0">
                <a:solidFill>
                  <a:srgbClr val="7FDBCA"/>
                </a:solidFill>
                <a:latin typeface="Inconsolata"/>
              </a:rPr>
              <a:t>Order</a:t>
            </a:r>
            <a:r>
              <a:rPr sz="650" i="0">
                <a:solidFill>
                  <a:srgbClr val="E6EDF3"/>
                </a:solidFill>
                <a:latin typeface="Inconsolata"/>
              </a:rPr>
              <a:t>(customer, customer_type)</a:t>
            </a:r>
          </a:p>
          <a:p>
            <a:pPr>
              <a:lnSpc>
                <a:spcPct val="102564"/>
              </a:lnSpc>
              <a:spcAft>
                <a:spcPts val="0"/>
              </a:spcAft>
            </a:pPr>
            <a:r>
              <a:rPr sz="650" i="0">
                <a:solidFill>
                  <a:srgbClr val="E6EDF3"/>
                </a:solidFill>
                <a:latin typeface="Inconsolata"/>
              </a:rPr>
              <a:t>            </a:t>
            </a:r>
            <a:r>
              <a:rPr sz="650" i="0">
                <a:solidFill>
                  <a:srgbClr val="FF8E6E"/>
                </a:solidFill>
                <a:latin typeface="Inconsolata"/>
              </a:rPr>
              <a:t>for</a:t>
            </a:r>
            <a:r>
              <a:rPr sz="650" i="0">
                <a:solidFill>
                  <a:srgbClr val="E6EDF3"/>
                </a:solidFill>
                <a:latin typeface="Inconsolata"/>
              </a:rPr>
              <a:t> item </a:t>
            </a:r>
            <a:r>
              <a:rPr sz="650" i="0">
                <a:solidFill>
                  <a:srgbClr val="FF8E6E"/>
                </a:solidFill>
                <a:latin typeface="Inconsolata"/>
              </a:rPr>
              <a:t>in</a:t>
            </a:r>
            <a:r>
              <a:rPr sz="650" i="0">
                <a:solidFill>
                  <a:srgbClr val="E6EDF3"/>
                </a:solidFill>
                <a:latin typeface="Inconsolata"/>
              </a:rPr>
              <a:t> items:</a:t>
            </a:r>
          </a:p>
          <a:p>
            <a:pPr>
              <a:lnSpc>
                <a:spcPct val="102564"/>
              </a:lnSpc>
              <a:spcAft>
                <a:spcPts val="0"/>
              </a:spcAft>
            </a:pPr>
            <a:r>
              <a:rPr sz="650" i="0">
                <a:solidFill>
                  <a:srgbClr val="E6EDF3"/>
                </a:solidFill>
                <a:latin typeface="Inconsolata"/>
              </a:rPr>
              <a:t>                product = </a:t>
            </a:r>
            <a:r>
              <a:rPr sz="650" i="0">
                <a:solidFill>
                  <a:srgbClr val="C3A6FF"/>
                </a:solidFill>
                <a:latin typeface="Inconsolata"/>
              </a:rPr>
              <a:t>self</a:t>
            </a:r>
            <a:r>
              <a:rPr sz="650" i="0">
                <a:solidFill>
                  <a:srgbClr val="E6EDF3"/>
                </a:solidFill>
                <a:latin typeface="Inconsolata"/>
              </a:rPr>
              <a:t>._get_product(item[</a:t>
            </a:r>
            <a:r>
              <a:rPr sz="650" i="0">
                <a:solidFill>
                  <a:srgbClr val="A5D6A7"/>
                </a:solidFill>
                <a:latin typeface="Inconsolata"/>
              </a:rPr>
              <a:t>"product_id"</a:t>
            </a:r>
            <a:r>
              <a:rPr sz="650" i="0">
                <a:solidFill>
                  <a:srgbClr val="E6EDF3"/>
                </a:solidFill>
                <a:latin typeface="Inconsolata"/>
              </a:rPr>
              <a:t>])</a:t>
            </a:r>
          </a:p>
          <a:p>
            <a:pPr>
              <a:lnSpc>
                <a:spcPct val="102564"/>
              </a:lnSpc>
              <a:spcAft>
                <a:spcPts val="0"/>
              </a:spcAft>
            </a:pPr>
            <a:r>
              <a:rPr sz="650" i="0">
                <a:solidFill>
                  <a:srgbClr val="E6EDF3"/>
                </a:solidFill>
                <a:latin typeface="Inconsolata"/>
              </a:rPr>
              <a:t>                product.reserve(item[</a:t>
            </a:r>
            <a:r>
              <a:rPr sz="650" i="0">
                <a:solidFill>
                  <a:srgbClr val="A5D6A7"/>
                </a:solidFill>
                <a:latin typeface="Inconsolata"/>
              </a:rPr>
              <a:t>"qty"</a:t>
            </a:r>
            <a:r>
              <a:rPr sz="650" i="0">
                <a:solidFill>
                  <a:srgbClr val="E6EDF3"/>
                </a:solidFill>
                <a:latin typeface="Inconsolata"/>
              </a:rPr>
              <a:t>])</a:t>
            </a:r>
          </a:p>
          <a:p>
            <a:pPr>
              <a:lnSpc>
                <a:spcPct val="102564"/>
              </a:lnSpc>
              <a:spcAft>
                <a:spcPts val="0"/>
              </a:spcAft>
            </a:pPr>
            <a:r>
              <a:rPr sz="650" i="0">
                <a:solidFill>
                  <a:srgbClr val="E6EDF3"/>
                </a:solidFill>
                <a:latin typeface="Inconsolata"/>
              </a:rPr>
              <a:t>                order.add_item(product.id, product.name, product.price, item[</a:t>
            </a:r>
            <a:r>
              <a:rPr sz="650" i="0">
                <a:solidFill>
                  <a:srgbClr val="A5D6A7"/>
                </a:solidFill>
                <a:latin typeface="Inconsolata"/>
              </a:rPr>
              <a:t>"qty"</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.uow.products.save(product)</a:t>
            </a:r>
          </a:p>
          <a:p>
            <a:pPr>
              <a:lnSpc>
                <a:spcPct val="102564"/>
              </a:lnSpc>
              <a:spcAft>
                <a:spcPts val="0"/>
              </a:spcAft>
            </a:pPr>
            <a:r>
              <a:rPr sz="650" i="0">
                <a:solidFill>
                  <a:srgbClr val="E6EDF3"/>
                </a:solidFill>
                <a:latin typeface="Inconsolata"/>
              </a:rPr>
              <a:t>            order.apply_discount(</a:t>
            </a:r>
            <a:r>
              <a:rPr sz="650" i="0">
                <a:solidFill>
                  <a:srgbClr val="C3A6FF"/>
                </a:solidFill>
                <a:latin typeface="Inconsolata"/>
              </a:rPr>
              <a:t>self</a:t>
            </a:r>
            <a:r>
              <a:rPr sz="650" i="0">
                <a:solidFill>
                  <a:srgbClr val="E6EDF3"/>
                </a:solidFill>
                <a:latin typeface="Inconsolata"/>
              </a:rPr>
              <a:t>.discount_policy.discount_for(order))</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.uow.orders.add(order)</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.uow.commit()</a:t>
            </a:r>
          </a:p>
          <a:p>
            <a:pPr>
              <a:lnSpc>
                <a:spcPct val="102564"/>
              </a:lnSpc>
              <a:spcAft>
                <a:spcPts val="0"/>
              </a:spcAft>
            </a:pPr>
            <a:r>
              <a:rPr sz="650" i="0">
                <a:solidFill>
                  <a:srgbClr val="E6EDF3"/>
                </a:solidFill>
                <a:latin typeface="Inconsolata"/>
              </a:rPr>
              <a:t> </a:t>
            </a:r>
          </a:p>
          <a:p>
            <a:pPr>
              <a:lnSpc>
                <a:spcPct val="102564"/>
              </a:lnSpc>
              <a:spcAft>
                <a:spcPts val="0"/>
              </a:spcAft>
            </a:pPr>
            <a:r>
              <a:rPr sz="650" i="1">
                <a:solidFill>
                  <a:srgbClr val="8B98A8"/>
                </a:solidFill>
                <a:latin typeface="Inconsolata"/>
              </a:rPr>
              <a:t># infrastructure/unit_of_work.py</a:t>
            </a:r>
          </a:p>
          <a:p>
            <a:pPr>
              <a:lnSpc>
                <a:spcPct val="102564"/>
              </a:lnSpc>
              <a:spcAft>
                <a:spcPts val="0"/>
              </a:spcAft>
            </a:pPr>
            <a:r>
              <a:rPr sz="650" i="0">
                <a:solidFill>
                  <a:srgbClr val="E6EDF3"/>
                </a:solidFill>
                <a:latin typeface="Inconsolata"/>
              </a:rPr>
              <a:t>    </a:t>
            </a:r>
            <a:r>
              <a:rPr sz="650" i="0">
                <a:solidFill>
                  <a:srgbClr val="FF8E6E"/>
                </a:solidFill>
                <a:latin typeface="Inconsolata"/>
              </a:rPr>
              <a:t>def</a:t>
            </a:r>
            <a:r>
              <a:rPr sz="650" i="0">
                <a:solidFill>
                  <a:srgbClr val="E6EDF3"/>
                </a:solidFill>
                <a:latin typeface="Inconsolata"/>
              </a:rPr>
              <a:t> </a:t>
            </a:r>
            <a:r>
              <a:rPr sz="650" i="0">
                <a:solidFill>
                  <a:srgbClr val="82B1FF"/>
                </a:solidFill>
                <a:latin typeface="Inconsolata"/>
              </a:rPr>
              <a:t>__exit__</a:t>
            </a:r>
            <a:r>
              <a:rPr sz="650" i="0">
                <a:solidFill>
                  <a:srgbClr val="E6EDF3"/>
                </a:solidFill>
                <a:latin typeface="Inconsolata"/>
              </a:rPr>
              <a:t>(</a:t>
            </a:r>
            <a:r>
              <a:rPr sz="650" i="0">
                <a:solidFill>
                  <a:srgbClr val="C3A6FF"/>
                </a:solidFill>
                <a:latin typeface="Inconsolata"/>
              </a:rPr>
              <a:t>self</a:t>
            </a:r>
            <a:r>
              <a:rPr sz="650" i="0">
                <a:solidFill>
                  <a:srgbClr val="E6EDF3"/>
                </a:solidFill>
                <a:latin typeface="Inconsolata"/>
              </a:rPr>
              <a:t>, *exc) -&gt; </a:t>
            </a:r>
            <a:r>
              <a:rPr sz="650" i="0">
                <a:solidFill>
                  <a:srgbClr val="FF8E6E"/>
                </a:solidFill>
                <a:latin typeface="Inconsolata"/>
              </a:rPr>
              <a:t>None</a:t>
            </a:r>
            <a:r>
              <a:rPr sz="650" i="0">
                <a:solidFill>
                  <a:srgbClr val="E6EDF3"/>
                </a:solidFill>
                <a:latin typeface="Inconsolata"/>
              </a:rPr>
              <a:t>:</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.session.rollback()      </a:t>
            </a:r>
            <a:r>
              <a:rPr sz="650" i="1">
                <a:solidFill>
                  <a:srgbClr val="8B98A8"/>
                </a:solidFill>
                <a:latin typeface="Inconsolata"/>
              </a:rPr>
              <a:t># sudah commit = tidak berefek, belum commit / error = dibatalkan</a:t>
            </a:r>
          </a:p>
          <a:p>
            <a:pPr>
              <a:lnSpc>
                <a:spcPct val="102564"/>
              </a:lnSpc>
              <a:spcAft>
                <a:spcPts val="0"/>
              </a:spcAft>
            </a:pPr>
            <a:r>
              <a:rPr sz="650" i="0">
                <a:solidFill>
                  <a:srgbClr val="E6EDF3"/>
                </a:solidFill>
                <a:latin typeface="Inconsolata"/>
              </a:rPr>
              <a:t>        </a:t>
            </a:r>
            <a:r>
              <a:rPr sz="650" i="0">
                <a:solidFill>
                  <a:srgbClr val="C3A6FF"/>
                </a:solidFill>
                <a:latin typeface="Inconsolata"/>
              </a:rPr>
              <a:t>self</a:t>
            </a:r>
            <a:r>
              <a:rPr sz="650" i="0">
                <a:solidFill>
                  <a:srgbClr val="E6EDF3"/>
                </a:solidFill>
                <a:latin typeface="Inconsolata"/>
              </a:rPr>
              <a:t>.session.close()</a:t>
            </a:r>
          </a:p>
        </p:txBody>
      </p:sp>
      <p:sp>
        <p:nvSpPr>
          <p:cNvPr id="29" name="Box 12"/>
          <p:cNvSpPr/>
          <p:nvPr/>
        </p:nvSpPr>
        <p:spPr>
          <a:xfrm>
            <a:off x="704088" y="19253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678424" y="1854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4333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678424" y="23622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8397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678424" y="2768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3347720"/>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678424" y="32766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3754119"/>
            <a:ext cx="5093208" cy="95504"/>
          </a:xfrm>
          <a:prstGeom prst="roundRect">
            <a:avLst>
              <a:gd name="adj" fmla="val 47872"/>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678424" y="368300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606247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391656" y="146304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Route menerima </a:t>
            </a:r>
            <a:r>
              <a:rPr sz="850" b="0" i="0">
                <a:solidFill>
                  <a:srgbClr val="B5482A"/>
                </a:solidFill>
                <a:latin typeface="Inconsolata"/>
              </a:rPr>
              <a:t>POST /orders</a:t>
            </a:r>
            <a:r>
              <a:rPr sz="850" b="0" i="0">
                <a:solidFill>
                  <a:srgbClr val="434343"/>
                </a:solidFill>
                <a:latin typeface="Inter"/>
              </a:rPr>
              <a:t>. </a:t>
            </a:r>
            <a:r>
              <a:rPr sz="850" b="0" i="0">
                <a:solidFill>
                  <a:srgbClr val="B5482A"/>
                </a:solidFill>
                <a:latin typeface="Inconsolata"/>
              </a:rPr>
              <a:t>Depends</a:t>
            </a:r>
            <a:r>
              <a:rPr sz="850" b="0" i="0">
                <a:solidFill>
                  <a:srgbClr val="434343"/>
                </a:solidFill>
                <a:latin typeface="Inter"/>
              </a:rPr>
              <a:t> menyiapkan session factory, UoW, lalu service</a:t>
            </a:r>
          </a:p>
        </p:txBody>
      </p:sp>
      <p:sp>
        <p:nvSpPr>
          <p:cNvPr id="41" name="Box 24"/>
          <p:cNvSpPr/>
          <p:nvPr/>
        </p:nvSpPr>
        <p:spPr>
          <a:xfrm>
            <a:off x="606247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391656" y="2106777"/>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Use case membuka satu Unit of Work: satu session untuk semua repository</a:t>
            </a:r>
          </a:p>
        </p:txBody>
      </p:sp>
      <p:sp>
        <p:nvSpPr>
          <p:cNvPr id="43" name="Box 26"/>
          <p:cNvSpPr/>
          <p:nvPr/>
        </p:nvSpPr>
        <p:spPr>
          <a:xfrm>
            <a:off x="606247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391656" y="2750515"/>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Domain </a:t>
            </a:r>
            <a:r>
              <a:rPr sz="850" b="0" i="0">
                <a:solidFill>
                  <a:srgbClr val="B5482A"/>
                </a:solidFill>
                <a:latin typeface="Inconsolata"/>
              </a:rPr>
              <a:t>Product</a:t>
            </a:r>
            <a:r>
              <a:rPr sz="850" b="0" i="0">
                <a:solidFill>
                  <a:srgbClr val="434343"/>
                </a:solidFill>
                <a:latin typeface="Inter"/>
              </a:rPr>
              <a:t> mengurangi stok. Kurang = </a:t>
            </a:r>
            <a:r>
              <a:rPr sz="850" b="0" i="0">
                <a:solidFill>
                  <a:srgbClr val="B5482A"/>
                </a:solidFill>
                <a:latin typeface="Inconsolata"/>
              </a:rPr>
              <a:t>OutOfStock</a:t>
            </a:r>
          </a:p>
        </p:txBody>
      </p:sp>
      <p:sp>
        <p:nvSpPr>
          <p:cNvPr id="45" name="Box 28"/>
          <p:cNvSpPr/>
          <p:nvPr/>
        </p:nvSpPr>
        <p:spPr>
          <a:xfrm>
            <a:off x="606247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391656" y="3394252"/>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Semua item berhasil: satu commit untuk stok dan order</a:t>
            </a:r>
          </a:p>
        </p:txBody>
      </p:sp>
      <p:sp>
        <p:nvSpPr>
          <p:cNvPr id="47" name="Box 30"/>
          <p:cNvSpPr/>
          <p:nvPr/>
        </p:nvSpPr>
        <p:spPr>
          <a:xfrm>
            <a:off x="606247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391656" y="4037990"/>
            <a:ext cx="2093975"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Ada error: </a:t>
            </a:r>
            <a:r>
              <a:rPr sz="850" b="0" i="0">
                <a:solidFill>
                  <a:srgbClr val="B5482A"/>
                </a:solidFill>
                <a:latin typeface="Inconsolata"/>
              </a:rPr>
              <a:t>__exit__</a:t>
            </a:r>
            <a:r>
              <a:rPr sz="850" b="0" i="0">
                <a:solidFill>
                  <a:srgbClr val="434343"/>
                </a:solidFill>
                <a:latin typeface="Inter"/>
              </a:rPr>
              <a:t> rollback, exception handler mengubahnya jadi 409</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91</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05</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Studi Kasus: Voucher Belanja</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mandiri. Menggabungkan materi Sesi 3 dan Sesi 4.</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  ·  mulai dari 10-studi-kasus-voucher/before/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Instruksi &amp; Requirement</a:t>
            </a:r>
          </a:p>
        </p:txBody>
      </p:sp>
      <p:sp>
        <p:nvSpPr>
          <p:cNvPr id="22" name="Text 3"/>
          <p:cNvSpPr txBox="1"/>
          <p:nvPr/>
        </p:nvSpPr>
        <p:spPr>
          <a:xfrm>
            <a:off x="621792" y="1481328"/>
            <a:ext cx="4297680" cy="320040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Latar belakang</a:t>
            </a:r>
          </a:p>
          <a:p>
            <a:pPr algn="l">
              <a:lnSpc>
                <a:spcPct val="115000"/>
              </a:lnSpc>
              <a:spcAft>
                <a:spcPts val="400"/>
              </a:spcAft>
            </a:pPr>
            <a:r>
              <a:rPr sz="900" b="0" i="0">
                <a:solidFill>
                  <a:srgbClr val="434343"/>
                </a:solidFill>
                <a:latin typeface="Inter"/>
              </a:rPr>
              <a:t>Tim marketing ingin membagikan voucher belanja, misalnya </a:t>
            </a:r>
            <a:r>
              <a:rPr sz="900" b="0" i="0">
                <a:solidFill>
                  <a:srgbClr val="B5482A"/>
                </a:solidFill>
                <a:latin typeface="Inconsolata"/>
              </a:rPr>
              <a:t>HEMAT50</a:t>
            </a:r>
            <a:r>
              <a:rPr sz="900" b="0" i="0">
                <a:solidFill>
                  <a:srgbClr val="434343"/>
                </a:solidFill>
                <a:latin typeface="Inter"/>
              </a:rPr>
              <a:t> untuk potongan Rp50.000. Setiap voucher punya </a:t>
            </a:r>
            <a:r>
              <a:rPr sz="900" b="1" i="0">
                <a:solidFill>
                  <a:srgbClr val="434343"/>
                </a:solidFill>
                <a:latin typeface="Inter"/>
              </a:rPr>
              <a:t>kuota</a:t>
            </a:r>
            <a:r>
              <a:rPr sz="900" b="0" i="0">
                <a:solidFill>
                  <a:srgbClr val="434343"/>
                </a:solidFill>
                <a:latin typeface="Inter"/>
              </a:rPr>
              <a:t>, dan setiap order yang memakainya mengurangi kuota satu.</a:t>
            </a:r>
          </a:p>
          <a:p>
            <a:pPr algn="l">
              <a:lnSpc>
                <a:spcPct val="115000"/>
              </a:lnSpc>
              <a:spcAft>
                <a:spcPts val="400"/>
              </a:spcAft>
            </a:pPr>
            <a:r>
              <a:rPr sz="1000" b="1" i="0">
                <a:solidFill>
                  <a:srgbClr val="1C4587"/>
                </a:solidFill>
                <a:latin typeface="Inter"/>
              </a:rPr>
              <a:t>Requirement</a:t>
            </a:r>
          </a:p>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POST /vouchers</a:t>
            </a:r>
            <a:r>
              <a:rPr sz="900" b="0" i="0">
                <a:solidFill>
                  <a:srgbClr val="434343"/>
                </a:solidFill>
                <a:latin typeface="Inter"/>
              </a:rPr>
              <a:t> (code, amount, quota) dan </a:t>
            </a:r>
            <a:r>
              <a:rPr sz="900" b="0" i="0">
                <a:solidFill>
                  <a:srgbClr val="B5482A"/>
                </a:solidFill>
                <a:latin typeface="Inconsolata"/>
              </a:rPr>
              <a:t>GET /vouchers/{code}</a:t>
            </a:r>
          </a:p>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POST /orders</a:t>
            </a:r>
            <a:r>
              <a:rPr sz="900" b="0" i="0">
                <a:solidFill>
                  <a:srgbClr val="434343"/>
                </a:solidFill>
                <a:latin typeface="Inter"/>
              </a:rPr>
              <a:t> punya field baru </a:t>
            </a:r>
            <a:r>
              <a:rPr sz="900" b="0" i="0">
                <a:solidFill>
                  <a:srgbClr val="B5482A"/>
                </a:solidFill>
                <a:latin typeface="Inconsolata"/>
              </a:rPr>
              <a:t>voucher_code</a:t>
            </a:r>
            <a:r>
              <a:rPr sz="900" b="0" i="0">
                <a:solidFill>
                  <a:srgbClr val="434343"/>
                </a:solidFill>
                <a:latin typeface="Inter"/>
              </a:rPr>
              <a:t> (boleh kosong)</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Potongan voucher ditambahkan ke diskon. Total tidak boleh di bawah 0</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Stok, kuota voucher, dan order dalam </a:t>
            </a:r>
            <a:r>
              <a:rPr sz="900" b="1" i="0">
                <a:solidFill>
                  <a:srgbClr val="434343"/>
                </a:solidFill>
                <a:latin typeface="Inter"/>
              </a:rPr>
              <a:t>satu Unit of Work</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Cancel order mengembalikan stok </a:t>
            </a:r>
            <a:r>
              <a:rPr sz="900" b="1" i="0">
                <a:solidFill>
                  <a:srgbClr val="434343"/>
                </a:solidFill>
                <a:latin typeface="Inter"/>
              </a:rPr>
              <a:t>dan</a:t>
            </a:r>
            <a:r>
              <a:rPr sz="900" b="0" i="0">
                <a:solidFill>
                  <a:srgbClr val="434343"/>
                </a:solidFill>
                <a:latin typeface="Inter"/>
              </a:rPr>
              <a:t> kuota voucher</a:t>
            </a:r>
          </a:p>
        </p:txBody>
      </p:sp>
      <p:graphicFrame>
        <p:nvGraphicFramePr>
          <p:cNvPr id="23" name="Table 4"/>
          <p:cNvGraphicFramePr>
            <a:graphicFrameLocks noGrp="1"/>
          </p:cNvGraphicFramePr>
          <p:nvPr/>
        </p:nvGraphicFramePr>
        <p:xfrm>
          <a:off x="5074920" y="1481328"/>
          <a:ext cx="3410712" cy="164592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1719072">
                  <a:extLst>
                    <a:ext uri="{9D8B030D-6E8A-4147-A177-3AD203B41FA5}">
                      <a16:colId xmlns:a16="http://schemas.microsoft.com/office/drawing/2014/main" val="20002"/>
                    </a:ext>
                  </a:extLst>
                </a:gridCol>
              </a:tblGrid>
              <a:tr h="411480">
                <a:tc>
                  <a:txBody>
                    <a:bodyPr/>
                    <a:lstStyle/>
                    <a:p>
                      <a:pPr algn="l">
                        <a:lnSpc>
                          <a:spcPct val="100000"/>
                        </a:lnSpc>
                        <a:spcAft>
                          <a:spcPts val="0"/>
                        </a:spcAft>
                      </a:pPr>
                      <a:r>
                        <a:rPr sz="850" b="1" i="0">
                          <a:solidFill>
                            <a:srgbClr val="FFFFFF"/>
                          </a:solidFill>
                          <a:latin typeface="Inter"/>
                        </a:rPr>
                        <a:t>Kondisi</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Status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error.code</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850" b="1" i="0">
                          <a:solidFill>
                            <a:srgbClr val="1C4587"/>
                          </a:solidFill>
                          <a:latin typeface="Inter"/>
                        </a:rPr>
                        <a:t>Voucher tidak ada</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404</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voucher_not_found</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850" b="1" i="0">
                          <a:solidFill>
                            <a:srgbClr val="1C4587"/>
                          </a:solidFill>
                          <a:latin typeface="Inter"/>
                        </a:rPr>
                        <a:t>Kuota habis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409</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voucher_exhausted</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850" b="1" i="0">
                          <a:solidFill>
                            <a:srgbClr val="1C4587"/>
                          </a:solidFill>
                          <a:latin typeface="Inter"/>
                        </a:rPr>
                        <a:t>Kode sudah dipakai</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409</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voucher_already_exists</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24" name="Box 5"/>
          <p:cNvSpPr/>
          <p:nvPr/>
        </p:nvSpPr>
        <p:spPr>
          <a:xfrm>
            <a:off x="5074920" y="3310128"/>
            <a:ext cx="3410712" cy="1389888"/>
          </a:xfrm>
          <a:prstGeom prst="roundRect">
            <a:avLst>
              <a:gd name="adj" fmla="val 7894"/>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5212080" y="3401568"/>
            <a:ext cx="313639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Aturan arsitektur</a:t>
            </a:r>
          </a:p>
        </p:txBody>
      </p:sp>
      <p:sp>
        <p:nvSpPr>
          <p:cNvPr id="26" name="Text 7"/>
          <p:cNvSpPr txBox="1"/>
          <p:nvPr/>
        </p:nvSpPr>
        <p:spPr>
          <a:xfrm>
            <a:off x="5212080" y="3721608"/>
            <a:ext cx="3136392" cy="8869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domain/</a:t>
            </a:r>
            <a:r>
              <a:rPr sz="900" b="0" i="0">
                <a:solidFill>
                  <a:srgbClr val="434343"/>
                </a:solidFill>
                <a:latin typeface="Inter"/>
              </a:rPr>
              <a:t> &amp; </a:t>
            </a:r>
            <a:r>
              <a:rPr sz="900" b="0" i="0">
                <a:solidFill>
                  <a:srgbClr val="B5482A"/>
                </a:solidFill>
                <a:latin typeface="Inconsolata"/>
              </a:rPr>
              <a:t>application/</a:t>
            </a:r>
            <a:r>
              <a:rPr sz="900" b="0" i="0">
                <a:solidFill>
                  <a:srgbClr val="434343"/>
                </a:solidFill>
                <a:latin typeface="Inter"/>
              </a:rPr>
              <a:t> tetap tanpa </a:t>
            </a:r>
            <a:r>
              <a:rPr sz="900" b="0" i="0">
                <a:solidFill>
                  <a:srgbClr val="B5482A"/>
                </a:solidFill>
                <a:latin typeface="Inconsolata"/>
              </a:rPr>
              <a:t>fastapi</a:t>
            </a:r>
            <a:r>
              <a:rPr sz="900" b="0" i="0">
                <a:solidFill>
                  <a:srgbClr val="434343"/>
                </a:solidFill>
                <a:latin typeface="Inter"/>
              </a:rPr>
              <a:t>/</a:t>
            </a:r>
            <a:r>
              <a:rPr sz="900" b="0" i="0">
                <a:solidFill>
                  <a:srgbClr val="B5482A"/>
                </a:solidFill>
                <a:latin typeface="Inconsolata"/>
              </a:rPr>
              <a:t>sqlalchemy</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Repository tetap tidak commit sendiri</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Langkah Singkat</a:t>
            </a:r>
          </a:p>
        </p:txBody>
      </p:sp>
      <p:sp>
        <p:nvSpPr>
          <p:cNvPr id="22" name="Box 3"/>
          <p:cNvSpPr/>
          <p:nvPr/>
        </p:nvSpPr>
        <p:spPr>
          <a:xfrm>
            <a:off x="621792" y="1481328"/>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23" name="Text 4"/>
          <p:cNvSpPr txBox="1"/>
          <p:nvPr/>
        </p:nvSpPr>
        <p:spPr>
          <a:xfrm>
            <a:off x="987552" y="1453896"/>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Entity </a:t>
            </a:r>
            <a:r>
              <a:rPr sz="950" b="0" i="0">
                <a:solidFill>
                  <a:srgbClr val="B5482A"/>
                </a:solidFill>
                <a:latin typeface="Inconsolata"/>
              </a:rPr>
              <a:t>Voucher</a:t>
            </a:r>
            <a:r>
              <a:rPr sz="950" b="0" i="0">
                <a:solidFill>
                  <a:srgbClr val="434343"/>
                </a:solidFill>
                <a:latin typeface="Inter"/>
              </a:rPr>
              <a:t> di domain: kuota hanya berubah lewat </a:t>
            </a:r>
            <a:r>
              <a:rPr sz="950" b="0" i="0">
                <a:solidFill>
                  <a:srgbClr val="B5482A"/>
                </a:solidFill>
                <a:latin typeface="Inconsolata"/>
              </a:rPr>
              <a:t>redeem()</a:t>
            </a:r>
            <a:r>
              <a:rPr sz="950" b="0" i="0">
                <a:solidFill>
                  <a:srgbClr val="434343"/>
                </a:solidFill>
                <a:latin typeface="Inter"/>
              </a:rPr>
              <a:t> dan </a:t>
            </a:r>
            <a:r>
              <a:rPr sz="950" b="0" i="0">
                <a:solidFill>
                  <a:srgbClr val="B5482A"/>
                </a:solidFill>
                <a:latin typeface="Inconsolata"/>
              </a:rPr>
              <a:t>restore()</a:t>
            </a:r>
          </a:p>
        </p:txBody>
      </p:sp>
      <p:sp>
        <p:nvSpPr>
          <p:cNvPr id="24" name="Box 5"/>
          <p:cNvSpPr/>
          <p:nvPr/>
        </p:nvSpPr>
        <p:spPr>
          <a:xfrm>
            <a:off x="621792" y="2011680"/>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25" name="Text 6"/>
          <p:cNvSpPr txBox="1"/>
          <p:nvPr/>
        </p:nvSpPr>
        <p:spPr>
          <a:xfrm>
            <a:off x="987552" y="1984248"/>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Error </a:t>
            </a:r>
            <a:r>
              <a:rPr sz="950" b="0" i="0">
                <a:solidFill>
                  <a:srgbClr val="B5482A"/>
                </a:solidFill>
                <a:latin typeface="Inconsolata"/>
              </a:rPr>
              <a:t>VoucherExhausted</a:t>
            </a:r>
            <a:r>
              <a:rPr sz="950" b="0" i="0">
                <a:solidFill>
                  <a:srgbClr val="434343"/>
                </a:solidFill>
                <a:latin typeface="Inter"/>
              </a:rPr>
              <a:t>, </a:t>
            </a:r>
            <a:r>
              <a:rPr sz="950" b="0" i="0">
                <a:solidFill>
                  <a:srgbClr val="B5482A"/>
                </a:solidFill>
                <a:latin typeface="Inconsolata"/>
              </a:rPr>
              <a:t>VoucherAlreadyExists</a:t>
            </a:r>
            <a:r>
              <a:rPr sz="950" b="0" i="0">
                <a:solidFill>
                  <a:srgbClr val="434343"/>
                </a:solidFill>
                <a:latin typeface="Inter"/>
              </a:rPr>
              <a:t>, dan </a:t>
            </a:r>
            <a:r>
              <a:rPr sz="950" b="0" i="0">
                <a:solidFill>
                  <a:srgbClr val="B5482A"/>
                </a:solidFill>
                <a:latin typeface="Inconsolata"/>
              </a:rPr>
              <a:t>VoucherNotFound</a:t>
            </a:r>
          </a:p>
        </p:txBody>
      </p:sp>
      <p:sp>
        <p:nvSpPr>
          <p:cNvPr id="26" name="Box 7"/>
          <p:cNvSpPr/>
          <p:nvPr/>
        </p:nvSpPr>
        <p:spPr>
          <a:xfrm>
            <a:off x="621792" y="2542032"/>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27" name="Text 8"/>
          <p:cNvSpPr txBox="1"/>
          <p:nvPr/>
        </p:nvSpPr>
        <p:spPr>
          <a:xfrm>
            <a:off x="987552" y="2514600"/>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B5482A"/>
                </a:solidFill>
                <a:latin typeface="Inconsolata"/>
              </a:rPr>
              <a:t>voucher_code</a:t>
            </a:r>
            <a:r>
              <a:rPr sz="950" b="0" i="0">
                <a:solidFill>
                  <a:srgbClr val="434343"/>
                </a:solidFill>
                <a:latin typeface="Inter"/>
              </a:rPr>
              <a:t> dan </a:t>
            </a:r>
            <a:r>
              <a:rPr sz="950" b="0" i="0">
                <a:solidFill>
                  <a:srgbClr val="B5482A"/>
                </a:solidFill>
                <a:latin typeface="Inconsolata"/>
              </a:rPr>
              <a:t>apply_voucher()</a:t>
            </a:r>
            <a:r>
              <a:rPr sz="950" b="0" i="0">
                <a:solidFill>
                  <a:srgbClr val="434343"/>
                </a:solidFill>
                <a:latin typeface="Inter"/>
              </a:rPr>
              <a:t> di </a:t>
            </a:r>
            <a:r>
              <a:rPr sz="950" b="0" i="0">
                <a:solidFill>
                  <a:srgbClr val="B5482A"/>
                </a:solidFill>
                <a:latin typeface="Inconsolata"/>
              </a:rPr>
              <a:t>Order</a:t>
            </a:r>
          </a:p>
        </p:txBody>
      </p:sp>
      <p:sp>
        <p:nvSpPr>
          <p:cNvPr id="28" name="Box 9"/>
          <p:cNvSpPr/>
          <p:nvPr/>
        </p:nvSpPr>
        <p:spPr>
          <a:xfrm>
            <a:off x="621792" y="3072384"/>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29" name="Text 10"/>
          <p:cNvSpPr txBox="1"/>
          <p:nvPr/>
        </p:nvSpPr>
        <p:spPr>
          <a:xfrm>
            <a:off x="987552" y="3044952"/>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Tabel </a:t>
            </a:r>
            <a:r>
              <a:rPr sz="950" b="0" i="0">
                <a:solidFill>
                  <a:srgbClr val="B5482A"/>
                </a:solidFill>
                <a:latin typeface="Inconsolata"/>
              </a:rPr>
              <a:t>vouchers</a:t>
            </a:r>
            <a:r>
              <a:rPr sz="950" b="0" i="0">
                <a:solidFill>
                  <a:srgbClr val="434343"/>
                </a:solidFill>
                <a:latin typeface="Inter"/>
              </a:rPr>
              <a:t>, </a:t>
            </a:r>
            <a:r>
              <a:rPr sz="950" b="0" i="0">
                <a:solidFill>
                  <a:srgbClr val="B5482A"/>
                </a:solidFill>
                <a:latin typeface="Inconsolata"/>
              </a:rPr>
              <a:t>SqlAlchemyVoucherRepository</a:t>
            </a:r>
            <a:r>
              <a:rPr sz="950" b="0" i="0">
                <a:solidFill>
                  <a:srgbClr val="434343"/>
                </a:solidFill>
                <a:latin typeface="Inter"/>
              </a:rPr>
              <a:t>, dan </a:t>
            </a:r>
            <a:r>
              <a:rPr sz="950" b="0" i="0">
                <a:solidFill>
                  <a:srgbClr val="B5482A"/>
                </a:solidFill>
                <a:latin typeface="Inconsolata"/>
              </a:rPr>
              <a:t>uow.vouchers</a:t>
            </a:r>
          </a:p>
        </p:txBody>
      </p:sp>
      <p:sp>
        <p:nvSpPr>
          <p:cNvPr id="30" name="Box 11"/>
          <p:cNvSpPr/>
          <p:nvPr/>
        </p:nvSpPr>
        <p:spPr>
          <a:xfrm>
            <a:off x="621792" y="3602736"/>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31" name="Text 12"/>
          <p:cNvSpPr txBox="1"/>
          <p:nvPr/>
        </p:nvSpPr>
        <p:spPr>
          <a:xfrm>
            <a:off x="987552" y="3575304"/>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B5482A"/>
                </a:solidFill>
                <a:latin typeface="Inconsolata"/>
              </a:rPr>
              <a:t>VoucherService</a:t>
            </a:r>
            <a:r>
              <a:rPr sz="950" b="0" i="0">
                <a:solidFill>
                  <a:srgbClr val="434343"/>
                </a:solidFill>
                <a:latin typeface="Inter"/>
              </a:rPr>
              <a:t>, lalu pakai voucher di </a:t>
            </a:r>
            <a:r>
              <a:rPr sz="950" b="0" i="0">
                <a:solidFill>
                  <a:srgbClr val="B5482A"/>
                </a:solidFill>
                <a:latin typeface="Inconsolata"/>
              </a:rPr>
              <a:t>place_order()</a:t>
            </a:r>
            <a:r>
              <a:rPr sz="950" b="0" i="0">
                <a:solidFill>
                  <a:srgbClr val="434343"/>
                </a:solidFill>
                <a:latin typeface="Inter"/>
              </a:rPr>
              <a:t> dan kembalikan di </a:t>
            </a:r>
            <a:r>
              <a:rPr sz="950" b="0" i="0">
                <a:solidFill>
                  <a:srgbClr val="B5482A"/>
                </a:solidFill>
                <a:latin typeface="Inconsolata"/>
              </a:rPr>
              <a:t>cancel_order()</a:t>
            </a:r>
          </a:p>
        </p:txBody>
      </p:sp>
      <p:sp>
        <p:nvSpPr>
          <p:cNvPr id="32" name="Box 13"/>
          <p:cNvSpPr/>
          <p:nvPr/>
        </p:nvSpPr>
        <p:spPr>
          <a:xfrm>
            <a:off x="621792" y="4133087"/>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6</a:t>
            </a:r>
          </a:p>
        </p:txBody>
      </p:sp>
      <p:sp>
        <p:nvSpPr>
          <p:cNvPr id="33" name="Text 14"/>
          <p:cNvSpPr txBox="1"/>
          <p:nvPr/>
        </p:nvSpPr>
        <p:spPr>
          <a:xfrm>
            <a:off x="987552" y="4105655"/>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Schema, router </a:t>
            </a:r>
            <a:r>
              <a:rPr sz="950" b="0" i="0">
                <a:solidFill>
                  <a:srgbClr val="B5482A"/>
                </a:solidFill>
                <a:latin typeface="Inconsolata"/>
              </a:rPr>
              <a:t>vouchers.py</a:t>
            </a:r>
            <a:r>
              <a:rPr sz="950" b="0" i="0">
                <a:solidFill>
                  <a:srgbClr val="434343"/>
                </a:solidFill>
                <a:latin typeface="Inter"/>
              </a:rPr>
              <a:t>, dependency, dan status code di </a:t>
            </a:r>
            <a:r>
              <a:rPr sz="950" b="0" i="0">
                <a:solidFill>
                  <a:srgbClr val="B5482A"/>
                </a:solidFill>
                <a:latin typeface="Inconsolata"/>
              </a:rPr>
              <a:t>api/errors.py</a:t>
            </a:r>
          </a:p>
        </p:txBody>
      </p:sp>
      <p:sp>
        <p:nvSpPr>
          <p:cNvPr id="34" name="CodeTab 16"/>
          <p:cNvSpPr/>
          <p:nvPr/>
        </p:nvSpPr>
        <p:spPr>
          <a:xfrm>
            <a:off x="5349240" y="1481328"/>
            <a:ext cx="313639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Dot 17"/>
          <p:cNvSpPr/>
          <p:nvPr/>
        </p:nvSpPr>
        <p:spPr>
          <a:xfrm>
            <a:off x="545896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ot 18"/>
          <p:cNvSpPr/>
          <p:nvPr/>
        </p:nvSpPr>
        <p:spPr>
          <a:xfrm>
            <a:off x="559612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Dot 19"/>
          <p:cNvSpPr/>
          <p:nvPr/>
        </p:nvSpPr>
        <p:spPr>
          <a:xfrm>
            <a:off x="573328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 20"/>
          <p:cNvSpPr txBox="1"/>
          <p:nvPr/>
        </p:nvSpPr>
        <p:spPr>
          <a:xfrm>
            <a:off x="5897879" y="1490472"/>
            <a:ext cx="249631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file yang disentuh</a:t>
            </a:r>
          </a:p>
        </p:txBody>
      </p:sp>
      <p:sp>
        <p:nvSpPr>
          <p:cNvPr id="39" name="CodeBg 22"/>
          <p:cNvSpPr/>
          <p:nvPr/>
        </p:nvSpPr>
        <p:spPr>
          <a:xfrm>
            <a:off x="5349240" y="1719072"/>
            <a:ext cx="313639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Code 23"/>
          <p:cNvSpPr txBox="1"/>
          <p:nvPr/>
        </p:nvSpPr>
        <p:spPr>
          <a:xfrm>
            <a:off x="5349240" y="1719072"/>
            <a:ext cx="3136392" cy="2980944"/>
          </a:xfrm>
          <a:prstGeom prst="rect">
            <a:avLst/>
          </a:prstGeom>
          <a:noFill/>
        </p:spPr>
        <p:txBody>
          <a:bodyPr wrap="none" lIns="146304" tIns="91440" rIns="146304" bIns="54864">
            <a:spAutoFit/>
          </a:bodyPr>
          <a:lstStyle/>
          <a:p>
            <a:pPr>
              <a:lnSpc>
                <a:spcPct val="104167"/>
              </a:lnSpc>
              <a:spcAft>
                <a:spcPts val="0"/>
              </a:spcAft>
            </a:pPr>
            <a:r>
              <a:rPr sz="800" i="0">
                <a:solidFill>
                  <a:srgbClr val="E6EDF3"/>
                </a:solidFill>
                <a:latin typeface="Inconsolata"/>
              </a:rPr>
              <a:t>app/</a:t>
            </a:r>
          </a:p>
          <a:p>
            <a:pPr>
              <a:lnSpc>
                <a:spcPct val="104167"/>
              </a:lnSpc>
              <a:spcAft>
                <a:spcPts val="0"/>
              </a:spcAft>
            </a:pPr>
            <a:r>
              <a:rPr sz="800" i="0">
                <a:solidFill>
                  <a:srgbClr val="E6EDF3"/>
                </a:solidFill>
                <a:latin typeface="Inconsolata"/>
              </a:rPr>
              <a:t>  domain/</a:t>
            </a:r>
          </a:p>
          <a:p>
            <a:pPr>
              <a:lnSpc>
                <a:spcPct val="104167"/>
              </a:lnSpc>
              <a:spcAft>
                <a:spcPts val="0"/>
              </a:spcAft>
            </a:pPr>
            <a:r>
              <a:rPr sz="800" i="0">
                <a:solidFill>
                  <a:srgbClr val="E6EDF3"/>
                </a:solidFill>
                <a:latin typeface="Inconsolata"/>
              </a:rPr>
              <a:t>    voucher.py         # baru</a:t>
            </a:r>
          </a:p>
          <a:p>
            <a:pPr>
              <a:lnSpc>
                <a:spcPct val="104167"/>
              </a:lnSpc>
              <a:spcAft>
                <a:spcPts val="0"/>
              </a:spcAft>
            </a:pPr>
            <a:r>
              <a:rPr sz="800" i="0">
                <a:solidFill>
                  <a:srgbClr val="E6EDF3"/>
                </a:solidFill>
                <a:latin typeface="Inconsolata"/>
              </a:rPr>
              <a:t>    errors.py, order.py</a:t>
            </a:r>
          </a:p>
          <a:p>
            <a:pPr>
              <a:lnSpc>
                <a:spcPct val="104167"/>
              </a:lnSpc>
              <a:spcAft>
                <a:spcPts val="0"/>
              </a:spcAft>
            </a:pPr>
            <a:r>
              <a:rPr sz="800" i="0">
                <a:solidFill>
                  <a:srgbClr val="E6EDF3"/>
                </a:solidFill>
                <a:latin typeface="Inconsolata"/>
              </a:rPr>
              <a:t>  application/</a:t>
            </a:r>
          </a:p>
          <a:p>
            <a:pPr>
              <a:lnSpc>
                <a:spcPct val="104167"/>
              </a:lnSpc>
              <a:spcAft>
                <a:spcPts val="0"/>
              </a:spcAft>
            </a:pPr>
            <a:r>
              <a:rPr sz="800" i="0">
                <a:solidFill>
                  <a:srgbClr val="E6EDF3"/>
                </a:solidFill>
                <a:latin typeface="Inconsolata"/>
              </a:rPr>
              <a:t>    voucher_service.py # baru</a:t>
            </a:r>
          </a:p>
          <a:p>
            <a:pPr>
              <a:lnSpc>
                <a:spcPct val="104167"/>
              </a:lnSpc>
              <a:spcAft>
                <a:spcPts val="0"/>
              </a:spcAft>
            </a:pPr>
            <a:r>
              <a:rPr sz="800" i="0">
                <a:solidFill>
                  <a:srgbClr val="E6EDF3"/>
                </a:solidFill>
                <a:latin typeface="Inconsolata"/>
              </a:rPr>
              <a:t>    order_service.py</a:t>
            </a:r>
          </a:p>
          <a:p>
            <a:pPr>
              <a:lnSpc>
                <a:spcPct val="104167"/>
              </a:lnSpc>
              <a:spcAft>
                <a:spcPts val="0"/>
              </a:spcAft>
            </a:pPr>
            <a:r>
              <a:rPr sz="800" i="0">
                <a:solidFill>
                  <a:srgbClr val="E6EDF3"/>
                </a:solidFill>
                <a:latin typeface="Inconsolata"/>
              </a:rPr>
              <a:t>    ports.py, errors.py</a:t>
            </a:r>
          </a:p>
          <a:p>
            <a:pPr>
              <a:lnSpc>
                <a:spcPct val="104167"/>
              </a:lnSpc>
              <a:spcAft>
                <a:spcPts val="0"/>
              </a:spcAft>
            </a:pPr>
            <a:r>
              <a:rPr sz="800" i="0">
                <a:solidFill>
                  <a:srgbClr val="E6EDF3"/>
                </a:solidFill>
                <a:latin typeface="Inconsolata"/>
              </a:rPr>
              <a:t>  infrastructure/</a:t>
            </a:r>
          </a:p>
          <a:p>
            <a:pPr>
              <a:lnSpc>
                <a:spcPct val="104167"/>
              </a:lnSpc>
              <a:spcAft>
                <a:spcPts val="0"/>
              </a:spcAft>
            </a:pPr>
            <a:r>
              <a:rPr sz="800" i="0">
                <a:solidFill>
                  <a:srgbClr val="E6EDF3"/>
                </a:solidFill>
                <a:latin typeface="Inconsolata"/>
              </a:rPr>
              <a:t>    models.py</a:t>
            </a:r>
          </a:p>
          <a:p>
            <a:pPr>
              <a:lnSpc>
                <a:spcPct val="104167"/>
              </a:lnSpc>
              <a:spcAft>
                <a:spcPts val="0"/>
              </a:spcAft>
            </a:pPr>
            <a:r>
              <a:rPr sz="800" i="0">
                <a:solidFill>
                  <a:srgbClr val="E6EDF3"/>
                </a:solidFill>
                <a:latin typeface="Inconsolata"/>
              </a:rPr>
              <a:t>    repositories.py</a:t>
            </a:r>
          </a:p>
          <a:p>
            <a:pPr>
              <a:lnSpc>
                <a:spcPct val="104167"/>
              </a:lnSpc>
              <a:spcAft>
                <a:spcPts val="0"/>
              </a:spcAft>
            </a:pPr>
            <a:r>
              <a:rPr sz="800" i="0">
                <a:solidFill>
                  <a:srgbClr val="E6EDF3"/>
                </a:solidFill>
                <a:latin typeface="Inconsolata"/>
              </a:rPr>
              <a:t>    unit_of_work.py</a:t>
            </a:r>
          </a:p>
          <a:p>
            <a:pPr>
              <a:lnSpc>
                <a:spcPct val="104167"/>
              </a:lnSpc>
              <a:spcAft>
                <a:spcPts val="0"/>
              </a:spcAft>
            </a:pPr>
            <a:r>
              <a:rPr sz="800" i="0">
                <a:solidFill>
                  <a:srgbClr val="E6EDF3"/>
                </a:solidFill>
                <a:latin typeface="Inconsolata"/>
              </a:rPr>
              <a:t>  api/</a:t>
            </a:r>
          </a:p>
          <a:p>
            <a:pPr>
              <a:lnSpc>
                <a:spcPct val="104167"/>
              </a:lnSpc>
              <a:spcAft>
                <a:spcPts val="0"/>
              </a:spcAft>
            </a:pPr>
            <a:r>
              <a:rPr sz="800" i="0">
                <a:solidFill>
                  <a:srgbClr val="E6EDF3"/>
                </a:solidFill>
                <a:latin typeface="Inconsolata"/>
              </a:rPr>
              <a:t>    routers/vouchers.py # baru</a:t>
            </a:r>
          </a:p>
          <a:p>
            <a:pPr>
              <a:lnSpc>
                <a:spcPct val="104167"/>
              </a:lnSpc>
              <a:spcAft>
                <a:spcPts val="0"/>
              </a:spcAft>
            </a:pPr>
            <a:r>
              <a:rPr sz="800" i="0">
                <a:solidFill>
                  <a:srgbClr val="E6EDF3"/>
                </a:solidFill>
                <a:latin typeface="Inconsolata"/>
              </a:rPr>
              <a:t>    schemas.py, errors.py</a:t>
            </a:r>
          </a:p>
          <a:p>
            <a:pPr>
              <a:lnSpc>
                <a:spcPct val="104167"/>
              </a:lnSpc>
              <a:spcAft>
                <a:spcPts val="0"/>
              </a:spcAft>
            </a:pPr>
            <a:r>
              <a:rPr sz="800" i="0">
                <a:solidFill>
                  <a:srgbClr val="E6EDF3"/>
                </a:solidFill>
                <a:latin typeface="Inconsolata"/>
              </a:rPr>
              <a:t>tests/test_voucher.py  # baru</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Contoh Hasil yang Diharapkan</a:t>
            </a:r>
          </a:p>
        </p:txBody>
      </p:sp>
      <p:pic>
        <p:nvPicPr>
          <p:cNvPr id="22" name="Image 3" descr="s04-case-voucher-resp.png"/>
          <p:cNvPicPr>
            <a:picLocks noChangeAspect="1"/>
          </p:cNvPicPr>
          <p:nvPr/>
        </p:nvPicPr>
        <p:blipFill>
          <a:blip r:embed="rId2"/>
          <a:stretch>
            <a:fillRect/>
          </a:stretch>
        </p:blipFill>
        <p:spPr>
          <a:xfrm>
            <a:off x="621792" y="1481328"/>
            <a:ext cx="3840480" cy="945617"/>
          </a:xfrm>
          <a:prstGeom prst="rect">
            <a:avLst/>
          </a:prstGeom>
          <a:ln w="9525">
            <a:solidFill>
              <a:srgbClr val="D0D5DD"/>
            </a:solidFill>
          </a:ln>
        </p:spPr>
      </p:pic>
      <p:sp>
        <p:nvSpPr>
          <p:cNvPr id="23" name="Text 4"/>
          <p:cNvSpPr txBox="1"/>
          <p:nvPr/>
        </p:nvSpPr>
        <p:spPr>
          <a:xfrm>
            <a:off x="621792" y="2454376"/>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POST /vouchers: HEMAT50, potongan 50.000, kuota 1</a:t>
            </a:r>
          </a:p>
        </p:txBody>
      </p:sp>
      <p:pic>
        <p:nvPicPr>
          <p:cNvPr id="24" name="Image 5" descr="s04-case-409-resp.png"/>
          <p:cNvPicPr>
            <a:picLocks noChangeAspect="1"/>
          </p:cNvPicPr>
          <p:nvPr/>
        </p:nvPicPr>
        <p:blipFill>
          <a:blip r:embed="rId3"/>
          <a:stretch>
            <a:fillRect/>
          </a:stretch>
        </p:blipFill>
        <p:spPr>
          <a:xfrm>
            <a:off x="621792" y="2838424"/>
            <a:ext cx="3840480" cy="1206676"/>
          </a:xfrm>
          <a:prstGeom prst="rect">
            <a:avLst/>
          </a:prstGeom>
          <a:ln w="9525">
            <a:solidFill>
              <a:srgbClr val="D0D5DD"/>
            </a:solidFill>
          </a:ln>
        </p:spPr>
      </p:pic>
      <p:sp>
        <p:nvSpPr>
          <p:cNvPr id="25" name="Text 6"/>
          <p:cNvSpPr txBox="1"/>
          <p:nvPr/>
        </p:nvSpPr>
        <p:spPr>
          <a:xfrm>
            <a:off x="621792" y="4072533"/>
            <a:ext cx="3840480"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Order kedua dengan HEMAT50: kuota habis, 409</a:t>
            </a:r>
          </a:p>
        </p:txBody>
      </p:sp>
      <p:pic>
        <p:nvPicPr>
          <p:cNvPr id="26" name="Image 7" descr="s04-case-post-resp.png"/>
          <p:cNvPicPr>
            <a:picLocks noChangeAspect="1"/>
          </p:cNvPicPr>
          <p:nvPr/>
        </p:nvPicPr>
        <p:blipFill>
          <a:blip r:embed="rId4"/>
          <a:stretch>
            <a:fillRect/>
          </a:stretch>
        </p:blipFill>
        <p:spPr>
          <a:xfrm>
            <a:off x="4645152" y="1481328"/>
            <a:ext cx="3840480" cy="2001459"/>
          </a:xfrm>
          <a:prstGeom prst="rect">
            <a:avLst/>
          </a:prstGeom>
          <a:ln w="9525">
            <a:solidFill>
              <a:srgbClr val="D0D5DD"/>
            </a:solidFill>
          </a:ln>
        </p:spPr>
      </p:pic>
      <p:sp>
        <p:nvSpPr>
          <p:cNvPr id="27" name="Text 8"/>
          <p:cNvSpPr txBox="1"/>
          <p:nvPr/>
        </p:nvSpPr>
        <p:spPr>
          <a:xfrm>
            <a:off x="4645152" y="3510218"/>
            <a:ext cx="3840480" cy="8229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Order pertama (vip, Keyboard 1 × 500.000): diskon 100.000 = vip 10% + voucher. Total 400.000.</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Kriteria Selesai</a:t>
            </a:r>
          </a:p>
        </p:txBody>
      </p:sp>
      <p:sp>
        <p:nvSpPr>
          <p:cNvPr id="22" name="Box 3"/>
          <p:cNvSpPr/>
          <p:nvPr/>
        </p:nvSpPr>
        <p:spPr>
          <a:xfrm>
            <a:off x="621792" y="1481328"/>
            <a:ext cx="3931920"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657600"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Checklist</a:t>
            </a:r>
          </a:p>
        </p:txBody>
      </p:sp>
      <p:sp>
        <p:nvSpPr>
          <p:cNvPr id="24" name="Text 5"/>
          <p:cNvSpPr txBox="1"/>
          <p:nvPr/>
        </p:nvSpPr>
        <p:spPr>
          <a:xfrm>
            <a:off x="758952" y="1892808"/>
            <a:ext cx="365760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POST /vouchers</a:t>
            </a:r>
            <a:r>
              <a:rPr sz="950" b="0" i="0">
                <a:solidFill>
                  <a:srgbClr val="434343"/>
                </a:solidFill>
                <a:latin typeface="Inter"/>
              </a:rPr>
              <a:t> dan </a:t>
            </a:r>
            <a:r>
              <a:rPr sz="950" b="0" i="0">
                <a:solidFill>
                  <a:srgbClr val="B5482A"/>
                </a:solidFill>
                <a:latin typeface="Inconsolata"/>
              </a:rPr>
              <a:t>GET /vouchers/{code}</a:t>
            </a:r>
            <a:r>
              <a:rPr sz="950" b="0" i="0">
                <a:solidFill>
                  <a:srgbClr val="434343"/>
                </a:solidFill>
                <a:latin typeface="Inter"/>
              </a:rPr>
              <a:t> jalan, kode dobel ditolak 409</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Potongan voucher masuk ke </a:t>
            </a:r>
            <a:r>
              <a:rPr sz="950" b="0" i="0">
                <a:solidFill>
                  <a:srgbClr val="B5482A"/>
                </a:solidFill>
                <a:latin typeface="Inconsolata"/>
              </a:rPr>
              <a:t>discount</a:t>
            </a:r>
            <a:r>
              <a:rPr sz="950" b="0" i="0">
                <a:solidFill>
                  <a:srgbClr val="434343"/>
                </a:solidFill>
                <a:latin typeface="Inter"/>
              </a:rPr>
              <a:t>, total tidak pernah negatif</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Kuota berkurang saat dipakai, kembali saat order dibatalkan</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Stok kurang = kuota voucher tidak berubah</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Error voucher memakai format </a:t>
            </a:r>
            <a:r>
              <a:rPr sz="950" b="0" i="0">
                <a:solidFill>
                  <a:srgbClr val="B5482A"/>
                </a:solidFill>
                <a:latin typeface="Inconsolata"/>
              </a:rPr>
              <a:t>{"error": {...}}</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pytest</a:t>
            </a:r>
            <a:r>
              <a:rPr sz="950" b="0" i="0">
                <a:solidFill>
                  <a:srgbClr val="434343"/>
                </a:solidFill>
                <a:latin typeface="Inter"/>
              </a:rPr>
              <a:t> hijau, termasuk test baru</a:t>
            </a:r>
          </a:p>
        </p:txBody>
      </p:sp>
      <p:pic>
        <p:nvPicPr>
          <p:cNvPr id="25" name="Image 6" descr="s04-case-pytest.png"/>
          <p:cNvPicPr>
            <a:picLocks noChangeAspect="1"/>
          </p:cNvPicPr>
          <p:nvPr/>
        </p:nvPicPr>
        <p:blipFill>
          <a:blip r:embed="rId2"/>
          <a:stretch>
            <a:fillRect/>
          </a:stretch>
        </p:blipFill>
        <p:spPr>
          <a:xfrm>
            <a:off x="4709160" y="1481328"/>
            <a:ext cx="3776472" cy="2604907"/>
          </a:xfrm>
          <a:prstGeom prst="rect">
            <a:avLst/>
          </a:prstGeom>
          <a:ln w="9525">
            <a:solidFill>
              <a:srgbClr val="D0D5DD"/>
            </a:solidFill>
          </a:ln>
        </p:spPr>
      </p:pic>
      <p:sp>
        <p:nvSpPr>
          <p:cNvPr id="26" name="Text 7"/>
          <p:cNvSpPr txBox="1"/>
          <p:nvPr/>
        </p:nvSpPr>
        <p:spPr>
          <a:xfrm>
            <a:off x="4709160" y="4159387"/>
            <a:ext cx="3776472" cy="73152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Output </a:t>
            </a:r>
            <a:r>
              <a:rPr sz="900" b="0" i="0">
                <a:solidFill>
                  <a:srgbClr val="B5482A"/>
                </a:solidFill>
                <a:latin typeface="Inconsolata"/>
              </a:rPr>
              <a:t>pytest -v</a:t>
            </a:r>
            <a:r>
              <a:rPr sz="900" b="0" i="0">
                <a:solidFill>
                  <a:srgbClr val="7A7A7A"/>
                </a:solidFill>
                <a:latin typeface="Inter"/>
              </a:rPr>
              <a:t>: 20 passed.</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Penutup</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Rangkuman</a:t>
            </a:r>
          </a:p>
        </p:txBody>
      </p:sp>
      <p:sp>
        <p:nvSpPr>
          <p:cNvPr id="22" name="Box 3"/>
          <p:cNvSpPr/>
          <p:nvPr/>
        </p:nvSpPr>
        <p:spPr>
          <a:xfrm>
            <a:off x="621792"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APIRouter &amp; Schemas</a:t>
            </a:r>
          </a:p>
        </p:txBody>
      </p:sp>
      <p:sp>
        <p:nvSpPr>
          <p:cNvPr id="24" name="Text 5"/>
          <p:cNvSpPr txBox="1"/>
          <p:nvPr/>
        </p:nvSpPr>
        <p:spPr>
          <a:xfrm>
            <a:off x="758952"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Satu router per fitur, request dan response dipisah</a:t>
            </a:r>
          </a:p>
        </p:txBody>
      </p:sp>
      <p:sp>
        <p:nvSpPr>
          <p:cNvPr id="25" name="Box 6"/>
          <p:cNvSpPr/>
          <p:nvPr/>
        </p:nvSpPr>
        <p:spPr>
          <a:xfrm>
            <a:off x="3291840"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Text 7"/>
          <p:cNvSpPr txBox="1"/>
          <p:nvPr/>
        </p:nvSpPr>
        <p:spPr>
          <a:xfrm>
            <a:off x="3429000"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Dependency Graph</a:t>
            </a:r>
          </a:p>
        </p:txBody>
      </p:sp>
      <p:sp>
        <p:nvSpPr>
          <p:cNvPr id="27" name="Text 8"/>
          <p:cNvSpPr txBox="1"/>
          <p:nvPr/>
        </p:nvSpPr>
        <p:spPr>
          <a:xfrm>
            <a:off x="3429000"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B5482A"/>
                </a:solidFill>
                <a:latin typeface="Inconsolata"/>
              </a:rPr>
              <a:t>Depends</a:t>
            </a:r>
            <a:r>
              <a:rPr sz="1000" b="0" i="0">
                <a:solidFill>
                  <a:srgbClr val="434343"/>
                </a:solidFill>
                <a:latin typeface="Inter"/>
              </a:rPr>
              <a:t> berantai, </a:t>
            </a:r>
            <a:r>
              <a:rPr sz="1000" b="0" i="0">
                <a:solidFill>
                  <a:srgbClr val="B5482A"/>
                </a:solidFill>
                <a:latin typeface="Inconsolata"/>
              </a:rPr>
              <a:t>yield</a:t>
            </a:r>
            <a:r>
              <a:rPr sz="1000" b="0" i="0">
                <a:solidFill>
                  <a:srgbClr val="434343"/>
                </a:solidFill>
                <a:latin typeface="Inter"/>
              </a:rPr>
              <a:t> untuk resource yang harus ditutup</a:t>
            </a:r>
          </a:p>
        </p:txBody>
      </p:sp>
      <p:sp>
        <p:nvSpPr>
          <p:cNvPr id="28" name="Box 9"/>
          <p:cNvSpPr/>
          <p:nvPr/>
        </p:nvSpPr>
        <p:spPr>
          <a:xfrm>
            <a:off x="5961888"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Text 10"/>
          <p:cNvSpPr txBox="1"/>
          <p:nvPr/>
        </p:nvSpPr>
        <p:spPr>
          <a:xfrm>
            <a:off x="6099048"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Middleware</a:t>
            </a:r>
          </a:p>
        </p:txBody>
      </p:sp>
      <p:sp>
        <p:nvSpPr>
          <p:cNvPr id="30" name="Text 11"/>
          <p:cNvSpPr txBox="1"/>
          <p:nvPr/>
        </p:nvSpPr>
        <p:spPr>
          <a:xfrm>
            <a:off x="6099048"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Kode untuk semua request: logging, header</a:t>
            </a:r>
          </a:p>
        </p:txBody>
      </p:sp>
      <p:sp>
        <p:nvSpPr>
          <p:cNvPr id="31" name="Box 12"/>
          <p:cNvSpPr/>
          <p:nvPr/>
        </p:nvSpPr>
        <p:spPr>
          <a:xfrm>
            <a:off x="621792"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3"/>
          <p:cNvSpPr txBox="1"/>
          <p:nvPr/>
        </p:nvSpPr>
        <p:spPr>
          <a:xfrm>
            <a:off x="758952"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Exception Handler</a:t>
            </a:r>
          </a:p>
        </p:txBody>
      </p:sp>
      <p:sp>
        <p:nvSpPr>
          <p:cNvPr id="33" name="Text 14"/>
          <p:cNvSpPr txBox="1"/>
          <p:nvPr/>
        </p:nvSpPr>
        <p:spPr>
          <a:xfrm>
            <a:off x="758952"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Satu tempat, satu format error</a:t>
            </a:r>
          </a:p>
        </p:txBody>
      </p:sp>
      <p:sp>
        <p:nvSpPr>
          <p:cNvPr id="34" name="Box 15"/>
          <p:cNvSpPr/>
          <p:nvPr/>
        </p:nvSpPr>
        <p:spPr>
          <a:xfrm>
            <a:off x="3291840"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Text 16"/>
          <p:cNvSpPr txBox="1"/>
          <p:nvPr/>
        </p:nvSpPr>
        <p:spPr>
          <a:xfrm>
            <a:off x="3429000"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OpenAPI</a:t>
            </a:r>
          </a:p>
        </p:txBody>
      </p:sp>
      <p:sp>
        <p:nvSpPr>
          <p:cNvPr id="36" name="Text 17"/>
          <p:cNvSpPr txBox="1"/>
          <p:nvPr/>
        </p:nvSpPr>
        <p:spPr>
          <a:xfrm>
            <a:off x="3429000"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Metadata, tags, summary, response error</a:t>
            </a:r>
          </a:p>
        </p:txBody>
      </p:sp>
      <p:sp>
        <p:nvSpPr>
          <p:cNvPr id="37" name="Box 18"/>
          <p:cNvSpPr/>
          <p:nvPr/>
        </p:nvSpPr>
        <p:spPr>
          <a:xfrm>
            <a:off x="5961888"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Text 19"/>
          <p:cNvSpPr txBox="1"/>
          <p:nvPr/>
        </p:nvSpPr>
        <p:spPr>
          <a:xfrm>
            <a:off x="6099048"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Transaction &amp; UoW</a:t>
            </a:r>
          </a:p>
        </p:txBody>
      </p:sp>
      <p:sp>
        <p:nvSpPr>
          <p:cNvPr id="39" name="Text 20"/>
          <p:cNvSpPr txBox="1"/>
          <p:nvPr/>
        </p:nvSpPr>
        <p:spPr>
          <a:xfrm>
            <a:off x="6099048"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Beberapa langkah jadi satu transaksi, service yang memutuskan commit</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pic>
        <p:nvPicPr>
          <p:cNvPr id="253" name="Google Shape;253;g2907dbd8723_0_0"/>
          <p:cNvPicPr preferRelativeResize="0"/>
          <p:nvPr/>
        </p:nvPicPr>
        <p:blipFill rotWithShape="1">
          <a:blip r:embed="rId3">
            <a:alphaModFix/>
          </a:blip>
          <a:srcRect/>
          <a:stretch/>
        </p:blipFill>
        <p:spPr>
          <a:xfrm>
            <a:off x="2843401" y="4399825"/>
            <a:ext cx="244986" cy="201168"/>
          </a:xfrm>
          <a:prstGeom prst="rect">
            <a:avLst/>
          </a:prstGeom>
          <a:noFill/>
          <a:ln>
            <a:noFill/>
          </a:ln>
        </p:spPr>
      </p:pic>
      <p:sp>
        <p:nvSpPr>
          <p:cNvPr id="254" name="Google Shape;254;g2907dbd8723_0_0"/>
          <p:cNvSpPr txBox="1"/>
          <p:nvPr/>
        </p:nvSpPr>
        <p:spPr>
          <a:xfrm>
            <a:off x="843350" y="1097280"/>
            <a:ext cx="4977000" cy="634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7200"/>
              <a:buFont typeface="Arial"/>
              <a:buNone/>
            </a:pPr>
            <a:r>
              <a:rPr lang="en" sz="3000" b="0" i="0" u="none" strike="noStrike" cap="none">
                <a:solidFill>
                  <a:srgbClr val="FFFFFF"/>
                </a:solidFill>
                <a:latin typeface="Work Sans ExtraBold"/>
                <a:ea typeface="Work Sans ExtraBold"/>
                <a:cs typeface="Work Sans ExtraBold"/>
                <a:sym typeface="Work Sans ExtraBold"/>
              </a:rPr>
              <a:t>Source Code</a:t>
            </a:r>
            <a:endParaRPr sz="3000" b="0" i="0" u="none" strike="noStrike" cap="none">
              <a:solidFill>
                <a:srgbClr val="FFFFFF"/>
              </a:solidFill>
              <a:latin typeface="Work Sans ExtraBold"/>
              <a:ea typeface="Work Sans ExtraBold"/>
              <a:cs typeface="Work Sans ExtraBold"/>
              <a:sym typeface="Work Sans ExtraBold"/>
            </a:endParaRPr>
          </a:p>
        </p:txBody>
      </p:sp>
      <p:sp>
        <p:nvSpPr>
          <p:cNvPr id="255" name="Google Shape;255;g2907dbd8723_0_0"/>
          <p:cNvSpPr txBox="1"/>
          <p:nvPr/>
        </p:nvSpPr>
        <p:spPr>
          <a:xfrm>
            <a:off x="1230650" y="1934520"/>
            <a:ext cx="192024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300" b="1" i="0" u="none" strike="noStrike" cap="none">
                <a:solidFill>
                  <a:srgbClr val="FFFFFF"/>
                </a:solidFill>
                <a:latin typeface="Inter"/>
                <a:ea typeface="Inter"/>
                <a:cs typeface="Inter"/>
                <a:sym typeface="Inter"/>
              </a:rPr>
              <a:t>Sesi 4</a:t>
            </a:r>
            <a:endParaRPr sz="1500" b="0" i="1" u="none" strike="noStrike" cap="none">
              <a:solidFill>
                <a:srgbClr val="000000"/>
              </a:solidFill>
              <a:latin typeface="Inter"/>
              <a:ea typeface="Inter"/>
              <a:cs typeface="Inter"/>
              <a:sym typeface="Inter"/>
            </a:endParaRPr>
          </a:p>
        </p:txBody>
      </p:sp>
      <p:sp>
        <p:nvSpPr>
          <p:cNvPr id="256" name="Google Shape;256;g2907dbd8723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97</a:t>
            </a:fld>
            <a:endParaRPr/>
          </a:p>
        </p:txBody>
      </p:sp>
      <p:pic>
        <p:nvPicPr>
          <p:cNvPr id="257" name="Google Shape;257;g2907dbd8723_0_0"/>
          <p:cNvPicPr preferRelativeResize="0"/>
          <p:nvPr/>
        </p:nvPicPr>
        <p:blipFill rotWithShape="1">
          <a:blip r:embed="rId4">
            <a:alphaModFix/>
          </a:blip>
          <a:srcRect/>
          <a:stretch/>
        </p:blipFill>
        <p:spPr>
          <a:xfrm>
            <a:off x="4654775" y="4399825"/>
            <a:ext cx="284713" cy="201168"/>
          </a:xfrm>
          <a:prstGeom prst="rect">
            <a:avLst/>
          </a:prstGeom>
          <a:noFill/>
          <a:ln>
            <a:noFill/>
          </a:ln>
        </p:spPr>
      </p:pic>
      <p:pic>
        <p:nvPicPr>
          <p:cNvPr id="258" name="Google Shape;258;g2907dbd8723_0_0"/>
          <p:cNvPicPr preferRelativeResize="0"/>
          <p:nvPr/>
        </p:nvPicPr>
        <p:blipFill rotWithShape="1">
          <a:blip r:embed="rId5">
            <a:alphaModFix/>
          </a:blip>
          <a:srcRect/>
          <a:stretch/>
        </p:blipFill>
        <p:spPr>
          <a:xfrm>
            <a:off x="6505899" y="4399825"/>
            <a:ext cx="198637" cy="201168"/>
          </a:xfrm>
          <a:prstGeom prst="rect">
            <a:avLst/>
          </a:prstGeom>
          <a:noFill/>
          <a:ln>
            <a:noFill/>
          </a:ln>
        </p:spPr>
      </p:pic>
      <p:pic>
        <p:nvPicPr>
          <p:cNvPr id="259" name="Google Shape;259;g2907dbd8723_0_0"/>
          <p:cNvPicPr preferRelativeResize="0"/>
          <p:nvPr/>
        </p:nvPicPr>
        <p:blipFill rotWithShape="1">
          <a:blip r:embed="rId6">
            <a:alphaModFix/>
          </a:blip>
          <a:srcRect/>
          <a:stretch/>
        </p:blipFill>
        <p:spPr>
          <a:xfrm>
            <a:off x="1028695" y="4399825"/>
            <a:ext cx="201948" cy="201168"/>
          </a:xfrm>
          <a:prstGeom prst="rect">
            <a:avLst/>
          </a:prstGeom>
          <a:noFill/>
          <a:ln>
            <a:noFill/>
          </a:ln>
        </p:spPr>
      </p:pic>
      <p:sp>
        <p:nvSpPr>
          <p:cNvPr id="260" name="Google Shape;260;g2907dbd8723_0_0"/>
          <p:cNvSpPr txBox="1"/>
          <p:nvPr/>
        </p:nvSpPr>
        <p:spPr>
          <a:xfrm>
            <a:off x="123065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1" name="Google Shape;261;g2907dbd8723_0_0"/>
          <p:cNvSpPr txBox="1"/>
          <p:nvPr/>
        </p:nvSpPr>
        <p:spPr>
          <a:xfrm>
            <a:off x="3088375"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2" name="Google Shape;262;g2907dbd8723_0_0"/>
          <p:cNvSpPr txBox="1"/>
          <p:nvPr/>
        </p:nvSpPr>
        <p:spPr>
          <a:xfrm>
            <a:off x="494610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a:t>
            </a:r>
            <a:endParaRPr sz="900" b="0" i="0" u="none" strike="noStrike" cap="none">
              <a:solidFill>
                <a:srgbClr val="000000"/>
              </a:solidFill>
              <a:latin typeface="Arial"/>
              <a:ea typeface="Arial"/>
              <a:cs typeface="Arial"/>
              <a:sym typeface="Arial"/>
            </a:endParaRPr>
          </a:p>
        </p:txBody>
      </p:sp>
      <p:sp>
        <p:nvSpPr>
          <p:cNvPr id="263" name="Google Shape;263;g2907dbd8723_0_0"/>
          <p:cNvSpPr txBox="1"/>
          <p:nvPr/>
        </p:nvSpPr>
        <p:spPr>
          <a:xfrm>
            <a:off x="6704525" y="4338875"/>
            <a:ext cx="14235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 Indonesia</a:t>
            </a:r>
            <a:endParaRPr sz="900" b="0" i="0" u="none" strike="noStrike" cap="none">
              <a:solidFill>
                <a:srgbClr val="000000"/>
              </a:solidFill>
              <a:latin typeface="Arial"/>
              <a:ea typeface="Arial"/>
              <a:cs typeface="Arial"/>
              <a:sym typeface="Arial"/>
            </a:endParaRPr>
          </a:p>
        </p:txBody>
      </p:sp>
      <p:cxnSp>
        <p:nvCxnSpPr>
          <p:cNvPr id="264" name="Google Shape;264;g2907dbd8723_0_0"/>
          <p:cNvCxnSpPr/>
          <p:nvPr/>
        </p:nvCxnSpPr>
        <p:spPr>
          <a:xfrm>
            <a:off x="3063240" y="2160270"/>
            <a:ext cx="914400" cy="9600"/>
          </a:xfrm>
          <a:prstGeom prst="straightConnector1">
            <a:avLst/>
          </a:prstGeom>
          <a:noFill/>
          <a:ln w="19050" cap="flat" cmpd="sng">
            <a:solidFill>
              <a:srgbClr val="FFF5D8"/>
            </a:solidFill>
            <a:prstDash val="solid"/>
            <a:round/>
            <a:headEnd type="none" w="sm" len="sm"/>
            <a:tailEnd type="none" w="sm" len="sm"/>
          </a:ln>
        </p:spPr>
      </p:cxnSp>
      <p:sp>
        <p:nvSpPr>
          <p:cNvPr id="265" name="Google Shape;265;g2907dbd8723_0_0">
            <a:hlinkClick r:id="rId7"/>
          </p:cNvPr>
          <p:cNvSpPr txBox="1"/>
          <p:nvPr/>
        </p:nvSpPr>
        <p:spPr>
          <a:xfrm>
            <a:off x="4206240" y="1934520"/>
            <a:ext cx="402336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200" b="0" i="1" u="sng" strike="noStrike" cap="none">
                <a:solidFill>
                  <a:schemeClr val="hlink"/>
                </a:solidFill>
                <a:latin typeface="Inter"/>
                <a:ea typeface="Inter"/>
                <a:cs typeface="Inter"/>
                <a:sym typeface="Inter"/>
                <a:hlinkClick r:id="rId8"/>
              </a:rPr>
              <a:t>github.com/bagusedghar/fastapi-intermediate</a:t>
            </a:r>
            <a:endParaRPr sz="1500" b="0" i="1" u="sng" strike="noStrike" cap="none">
              <a:solidFill>
                <a:schemeClr val="lt1"/>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16275</Words>
  <Application>Microsoft Office PowerPoint</Application>
  <PresentationFormat>On-screen Show (16:9)</PresentationFormat>
  <Paragraphs>2356</Paragraphs>
  <Slides>97</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97</vt:i4>
      </vt:variant>
    </vt:vector>
  </HeadingPairs>
  <TitlesOfParts>
    <vt:vector size="103" baseType="lpstr">
      <vt:lpstr>Work Sans Medium</vt:lpstr>
      <vt:lpstr>Inconsolata</vt:lpstr>
      <vt:lpstr>Inter</vt:lpstr>
      <vt:lpstr>Arial</vt:lpstr>
      <vt:lpstr>Work Sans ExtraBold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Bagus Edghar</cp:lastModifiedBy>
  <cp:revision>1</cp:revision>
  <dcterms:modified xsi:type="dcterms:W3CDTF">2026-10-27T00:40:36Z</dcterms:modified>
</cp:coreProperties>
</file>