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17"/>
    <p:sldId id="286" r:id="rId16"/>
    <p:sldId id="287" r:id="rId15"/>
    <p:sldId id="288" r:id="rId14"/>
    <p:sldId id="289" r:id="rId13"/>
    <p:sldId id="290" r:id="rId12"/>
    <p:sldId id="291" r:id="rId11"/>
    <p:sldId id="292" r:id="rId10"/>
    <p:sldId id="293" r:id="rId9"/>
    <p:sldId id="294" r:id="rId8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276" r:id="rId26"/>
  </p:sldIdLst>
  <p:sldSz cy="5143500" cx="9144000"/>
  <p:notesSz cx="6858000" cy="9144000"/>
  <p:embeddedFontLst>
    <p:embeddedFont>
      <p:font typeface="Inter"/>
      <p:regular r:id="rId27"/>
      <p:bold r:id="rId28"/>
    </p:embeddedFont>
    <p:embeddedFont>
      <p:font typeface="Work Sans Medium"/>
      <p:regular r:id="rId29"/>
      <p:bold r:id="rId30"/>
      <p:italic r:id="rId31"/>
      <p:boldItalic r:id="rId32"/>
    </p:embeddedFont>
    <p:embeddedFont>
      <p:font typeface="Work Sans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5" roundtripDataSignature="AMtx7misuxx245f/qKiEmR3PX6YRe0tI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20.xml"/><Relationship Id="rId9" Type="http://schemas.openxmlformats.org/officeDocument/2006/relationships/slide" Target="slides/slide19.xml"/><Relationship Id="rId10" Type="http://schemas.openxmlformats.org/officeDocument/2006/relationships/slide" Target="slides/slide18.xml"/><Relationship Id="rId11" Type="http://schemas.openxmlformats.org/officeDocument/2006/relationships/slide" Target="slides/slide17.xml"/><Relationship Id="rId12" Type="http://schemas.openxmlformats.org/officeDocument/2006/relationships/slide" Target="slides/slide16.xml"/><Relationship Id="rId13" Type="http://schemas.openxmlformats.org/officeDocument/2006/relationships/slide" Target="slides/slide15.xml"/><Relationship Id="rId14" Type="http://schemas.openxmlformats.org/officeDocument/2006/relationships/slide" Target="slides/slide14.xml"/><Relationship Id="rId15" Type="http://schemas.openxmlformats.org/officeDocument/2006/relationships/slide" Target="slides/slide13.xml"/><Relationship Id="rId16" Type="http://schemas.openxmlformats.org/officeDocument/2006/relationships/slide" Target="slides/slide12.xml"/><Relationship Id="rId17" Type="http://schemas.openxmlformats.org/officeDocument/2006/relationships/slide" Target="slides/slide11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28.xml"/><Relationship Id="rId27" Type="http://schemas.openxmlformats.org/officeDocument/2006/relationships/font" Target="fonts/Inter-regular.fntdata"/><Relationship Id="rId28" Type="http://schemas.openxmlformats.org/officeDocument/2006/relationships/font" Target="fonts/Inter-bold.fntdata"/><Relationship Id="rId29" Type="http://schemas.openxmlformats.org/officeDocument/2006/relationships/font" Target="fonts/WorkSansMedium-regular.fntdata"/><Relationship Id="rId30" Type="http://schemas.openxmlformats.org/officeDocument/2006/relationships/font" Target="fonts/WorkSansMedium-bold.fntdata"/><Relationship Id="rId31" Type="http://schemas.openxmlformats.org/officeDocument/2006/relationships/font" Target="fonts/WorkSansMedium-italic.fntdata"/><Relationship Id="rId32" Type="http://schemas.openxmlformats.org/officeDocument/2006/relationships/font" Target="fonts/WorkSansMedium-boldItalic.fntdata"/><Relationship Id="rId33" Type="http://schemas.openxmlformats.org/officeDocument/2006/relationships/font" Target="fonts/WorkSansExtraBold-bold.fntdata"/><Relationship Id="rId34" Type="http://schemas.openxmlformats.org/officeDocument/2006/relationships/font" Target="fonts/WorkSansExtraBold-boldItalic.fntdata"/><Relationship Id="rId35" Type="http://customschemas.google.com/relationships/presentationmetadata" Target="metadata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442ffe4c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2442ffe4c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Peserta hands-on, jawaban sudah ada di folder after/.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907dbd87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2907dbd87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200" y="-15150"/>
            <a:ext cx="9190446" cy="51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" name="Google Shape;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206026" cy="5178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" name="Google Shape;2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1 1">
  <p:cSld name="TITLE_2_1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" name="Google Shape;23;p49"/>
          <p:cNvPicPr preferRelativeResize="0"/>
          <p:nvPr/>
        </p:nvPicPr>
        <p:blipFill rotWithShape="1">
          <a:blip r:embed="rId2">
            <a:alphaModFix/>
          </a:blip>
          <a:srcRect b="0" l="-11869" r="-10498" t="0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4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Google Shape;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1">
  <p:cSld name="TITLE_2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200" y="-7175"/>
            <a:ext cx="9204623" cy="51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1"/>
          <p:cNvPicPr preferRelativeResize="0"/>
          <p:nvPr/>
        </p:nvPicPr>
        <p:blipFill rotWithShape="1">
          <a:blip r:embed="rId3">
            <a:alphaModFix/>
          </a:blip>
          <a:srcRect b="0" l="-11869" r="-10498" t="0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4350" y="-6375"/>
            <a:ext cx="9160668" cy="515287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" name="Google Shape;36;p22"/>
          <p:cNvPicPr preferRelativeResize="0"/>
          <p:nvPr/>
        </p:nvPicPr>
        <p:blipFill rotWithShape="1">
          <a:blip r:embed="rId3">
            <a:alphaModFix/>
          </a:blip>
          <a:srcRect b="0" l="-11869" r="-10498" t="0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5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5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" name="Google Shape;51;p5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9" name="Google Shape;59;p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4" name="Google Shape;6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5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3" name="Google Shape;73;p59"/>
          <p:cNvCxnSpPr/>
          <p:nvPr/>
        </p:nvCxnSpPr>
        <p:spPr>
          <a:xfrm>
            <a:off x="2740288" y="3545850"/>
            <a:ext cx="3824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" name="Google Shape;76;p60"/>
          <p:cNvCxnSpPr/>
          <p:nvPr/>
        </p:nvCxnSpPr>
        <p:spPr>
          <a:xfrm>
            <a:off x="2740288" y="3545850"/>
            <a:ext cx="3824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79" name="Google Shape;79;p61"/>
          <p:cNvPicPr preferRelativeResize="0"/>
          <p:nvPr/>
        </p:nvPicPr>
        <p:blipFill rotWithShape="1">
          <a:blip r:embed="rId2">
            <a:alphaModFix/>
          </a:blip>
          <a:srcRect b="34000" l="0" r="0" t="31469"/>
          <a:stretch/>
        </p:blipFill>
        <p:spPr>
          <a:xfrm>
            <a:off x="134750" y="4589275"/>
            <a:ext cx="1410576" cy="344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hyperlink" Target="https://colab.research.google.com/github/FTDS-learning-materials/phase-2/blob/master/w2/P2W2D1PM%20-%20Data%20Ethics%20&amp;%20Data%20Validation.ipynb" TargetMode="External"/><Relationship Id="rId8" Type="http://schemas.openxmlformats.org/officeDocument/2006/relationships/hyperlink" Target="https://github.com/bagusedghar/fastapi-intermediate/tree/main/sesi-04-modular-fastapi-orm-transac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763050" y="2010750"/>
            <a:ext cx="82581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" sz="3500">
                <a:solidFill>
                  <a:srgbClr val="F06634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Advanced FastAPI Architecture &amp; ORM Transactions</a:t>
            </a:r>
            <a:endParaRPr b="0" i="0" sz="3500" u="none" cap="none" strike="noStrike">
              <a:solidFill>
                <a:srgbClr val="F06634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63050" y="3157225"/>
            <a:ext cx="7315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Intermediate Backend Developer with FastAPI  -  Sesi 4</a:t>
            </a:r>
            <a:endParaRPr b="0" i="0" sz="1500" u="none" cap="none" strike="noStrike">
              <a:solidFill>
                <a:schemeClr val="dk2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442ffe4c8e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g2442ffe4c8e_0_0"/>
          <p:cNvSpPr txBox="1"/>
          <p:nvPr/>
        </p:nvSpPr>
        <p:spPr>
          <a:xfrm>
            <a:off x="310675" y="249275"/>
            <a:ext cx="44568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1D3D70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Contents</a:t>
            </a:r>
            <a:endParaRPr b="0" i="0" sz="2300" u="none" cap="none" strike="noStrike">
              <a:solidFill>
                <a:srgbClr val="1D3D70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93" name="Text 1"/>
          <p:cNvSpPr txBox="1"/>
          <p:nvPr/>
        </p:nvSpPr>
        <p:spPr>
          <a:xfrm>
            <a:off x="548640" y="1143000"/>
            <a:ext cx="56692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Modular FastAPI Project</a:t>
            </a:r>
          </a:p>
        </p:txBody>
      </p:sp>
      <p:cxnSp>
        <p:nvCxnSpPr>
          <p:cNvPr id="94" name="Arrow 2"/>
          <p:cNvCxnSpPr/>
          <p:nvPr/>
        </p:nvCxnSpPr>
        <p:spPr>
          <a:xfrm>
            <a:off x="6318504" y="1325880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 3"/>
          <p:cNvSpPr txBox="1"/>
          <p:nvPr/>
        </p:nvSpPr>
        <p:spPr>
          <a:xfrm>
            <a:off x="8266175" y="1143000"/>
            <a:ext cx="54864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1" b="1">
                <a:solidFill>
                  <a:srgbClr val="E0764F"/>
                </a:solidFill>
                <a:latin typeface="Inter"/>
              </a:rPr>
              <a:t>06</a:t>
            </a:r>
          </a:p>
        </p:txBody>
      </p:sp>
      <p:sp>
        <p:nvSpPr>
          <p:cNvPr id="96" name="Text 4"/>
          <p:cNvSpPr txBox="1"/>
          <p:nvPr/>
        </p:nvSpPr>
        <p:spPr>
          <a:xfrm>
            <a:off x="548640" y="1527048"/>
            <a:ext cx="56692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Request Lifecycle, Middleware &amp; Error Handling</a:t>
            </a:r>
          </a:p>
        </p:txBody>
      </p:sp>
      <p:cxnSp>
        <p:nvCxnSpPr>
          <p:cNvPr id="97" name="Arrow 5"/>
          <p:cNvCxnSpPr/>
          <p:nvPr/>
        </p:nvCxnSpPr>
        <p:spPr>
          <a:xfrm>
            <a:off x="6318504" y="1709928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 6"/>
          <p:cNvSpPr txBox="1"/>
          <p:nvPr/>
        </p:nvSpPr>
        <p:spPr>
          <a:xfrm>
            <a:off x="8266175" y="1527048"/>
            <a:ext cx="54864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1" b="1">
                <a:solidFill>
                  <a:srgbClr val="E0764F"/>
                </a:solidFill>
                <a:latin typeface="Inter"/>
              </a:rPr>
              <a:t>13</a:t>
            </a:r>
          </a:p>
        </p:txBody>
      </p:sp>
      <p:sp>
        <p:nvSpPr>
          <p:cNvPr id="99" name="Text 7"/>
          <p:cNvSpPr txBox="1"/>
          <p:nvPr/>
        </p:nvSpPr>
        <p:spPr>
          <a:xfrm>
            <a:off x="548640" y="1911095"/>
            <a:ext cx="56692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Transaction &amp; Unit of Work</a:t>
            </a:r>
          </a:p>
        </p:txBody>
      </p:sp>
      <p:cxnSp>
        <p:nvCxnSpPr>
          <p:cNvPr id="100" name="Arrow 8"/>
          <p:cNvCxnSpPr/>
          <p:nvPr/>
        </p:nvCxnSpPr>
        <p:spPr>
          <a:xfrm>
            <a:off x="6318504" y="2093976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 9"/>
          <p:cNvSpPr txBox="1"/>
          <p:nvPr/>
        </p:nvSpPr>
        <p:spPr>
          <a:xfrm>
            <a:off x="8266175" y="1911095"/>
            <a:ext cx="54864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1" b="1">
                <a:solidFill>
                  <a:srgbClr val="E0764F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Sesi 4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Learning Outcome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Box 4"/>
          <p:cNvSpPr/>
          <p:nvPr/>
        </p:nvSpPr>
        <p:spPr>
          <a:xfrm>
            <a:off x="758952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i="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1170432" y="1709928"/>
            <a:ext cx="1883663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1">
                <a:solidFill>
                  <a:srgbClr val="1C4587"/>
                </a:solidFill>
                <a:latin typeface="Inter"/>
              </a:rPr>
              <a:t>FastAPI modular</a:t>
            </a:r>
          </a:p>
        </p:txBody>
      </p:sp>
      <p:sp>
        <p:nvSpPr>
          <p:cNvPr id="25" name="Text 6"/>
          <p:cNvSpPr txBox="1"/>
          <p:nvPr/>
        </p:nvSpPr>
        <p:spPr>
          <a:xfrm>
            <a:off x="758952" y="2148840"/>
            <a:ext cx="2249424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Mendesain FastAPI dengan routing, dependency injection, service, dan data access terpisah.</a:t>
            </a:r>
          </a:p>
        </p:txBody>
      </p:sp>
      <p:sp>
        <p:nvSpPr>
          <p:cNvPr id="26" name="Box 7"/>
          <p:cNvSpPr/>
          <p:nvPr/>
        </p:nvSpPr>
        <p:spPr>
          <a:xfrm>
            <a:off x="3291840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7" name="Box 8"/>
          <p:cNvSpPr/>
          <p:nvPr/>
        </p:nvSpPr>
        <p:spPr>
          <a:xfrm>
            <a:off x="3429000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i="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8" name="Text 9"/>
          <p:cNvSpPr txBox="1"/>
          <p:nvPr/>
        </p:nvSpPr>
        <p:spPr>
          <a:xfrm>
            <a:off x="3840480" y="1709928"/>
            <a:ext cx="1883663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1">
                <a:solidFill>
                  <a:srgbClr val="1C4587"/>
                </a:solidFill>
                <a:latin typeface="Inter"/>
              </a:rPr>
              <a:t>Transaksi ORM</a:t>
            </a:r>
          </a:p>
        </p:txBody>
      </p:sp>
      <p:sp>
        <p:nvSpPr>
          <p:cNvPr id="29" name="Text 10"/>
          <p:cNvSpPr txBox="1"/>
          <p:nvPr/>
        </p:nvSpPr>
        <p:spPr>
          <a:xfrm>
            <a:off x="3429000" y="2148840"/>
            <a:ext cx="2249424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Mengelola sesi ORM dan transaksi yang atomic, termasuk rollback ketika terjadi error.</a:t>
            </a:r>
          </a:p>
        </p:txBody>
      </p:sp>
      <p:sp>
        <p:nvSpPr>
          <p:cNvPr id="30" name="Box 11"/>
          <p:cNvSpPr/>
          <p:nvPr/>
        </p:nvSpPr>
        <p:spPr>
          <a:xfrm>
            <a:off x="5961888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Box 12"/>
          <p:cNvSpPr/>
          <p:nvPr/>
        </p:nvSpPr>
        <p:spPr>
          <a:xfrm>
            <a:off x="6099048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i="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2" name="Text 13"/>
          <p:cNvSpPr txBox="1"/>
          <p:nvPr/>
        </p:nvSpPr>
        <p:spPr>
          <a:xfrm>
            <a:off x="6510527" y="1709928"/>
            <a:ext cx="1883664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1">
                <a:solidFill>
                  <a:srgbClr val="1C4587"/>
                </a:solidFill>
                <a:latin typeface="Inter"/>
              </a:rPr>
              <a:t>Error &amp; OpenAPI</a:t>
            </a:r>
          </a:p>
        </p:txBody>
      </p:sp>
      <p:sp>
        <p:nvSpPr>
          <p:cNvPr id="33" name="Text 14"/>
          <p:cNvSpPr txBox="1"/>
          <p:nvPr/>
        </p:nvSpPr>
        <p:spPr>
          <a:xfrm>
            <a:off x="6099048" y="2148840"/>
            <a:ext cx="2249424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Menerapkan penanganan error API yang konsisten dan dokumentasi OpenAPI yang terstruktur.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Titik Awal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Hasil Sesi 3: Domain Rapi, API Belum Modular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42062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35661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app/api/routes.py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42062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42062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9C97A"/>
                </a:solidFill>
                <a:latin typeface="Consolas"/>
              </a:rPr>
              <a:t>@router.post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"/{order_id}/pay"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pay_order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int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service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Depends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try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to_response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service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pay_order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except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OrderNotFound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F8E6E"/>
                </a:solidFill>
                <a:latin typeface="Consolas"/>
              </a:rPr>
              <a:t>as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e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raise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HTTPException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F9C97A"/>
                </a:solidFill>
                <a:latin typeface="Consolas"/>
              </a:rPr>
              <a:t>404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str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e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except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OrderCannotBeChanged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F8E6E"/>
                </a:solidFill>
                <a:latin typeface="Consolas"/>
              </a:rPr>
              <a:t>as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e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raise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HTTPException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F9C97A"/>
                </a:solidFill>
                <a:latin typeface="Consolas"/>
              </a:rPr>
              <a:t>409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str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e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...try/except yang sama di cancel_order, get_order</a:t>
            </a:r>
          </a:p>
        </p:txBody>
      </p:sp>
      <p:sp>
        <p:nvSpPr>
          <p:cNvPr id="29" name="Box 12"/>
          <p:cNvSpPr/>
          <p:nvPr/>
        </p:nvSpPr>
        <p:spPr>
          <a:xfrm>
            <a:off x="4983480" y="1536192"/>
            <a:ext cx="3502152" cy="3127248"/>
          </a:xfrm>
          <a:prstGeom prst="roundRect">
            <a:avLst>
              <a:gd name="adj" fmla="val 3508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5120640" y="1627632"/>
            <a:ext cx="32278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Yang masih jadi masalah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5120640" y="1947672"/>
            <a:ext cx="32278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Semua endpoint di satu file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routes.py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Try/except diulang di setiap route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Masih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sqlite3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manual, belum ada ORM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Belum ada stok produk, jadi belum ada proses multi-step yang butuh transaksi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i="0" b="0">
                <a:solidFill>
                  <a:srgbClr val="CFE0FA"/>
                </a:solidFill>
                <a:latin typeface="Inter"/>
              </a:rPr>
              <a:t>Bagian 01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i="0" b="0">
                <a:solidFill>
                  <a:srgbClr val="FFFFFF"/>
                </a:solidFill>
                <a:latin typeface="Work Sans ExtraBold"/>
              </a:rPr>
              <a:t>Modular FastAPI Project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274320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0">
                <a:solidFill>
                  <a:srgbClr val="E3ECFA"/>
                </a:solidFill>
                <a:latin typeface="Inter"/>
              </a:rPr>
              <a:t>APIRouter, schemas, dan dependency graph.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APIRouter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Semua Endpoint di main.py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01-apirouter/before.py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app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FastAPI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"/products"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list_products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"/products/{product_id}"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get_product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product_id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@app.post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"/orders"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status_code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F9C97A"/>
                </a:solidFill>
                <a:latin typeface="Consolas"/>
              </a:rPr>
              <a:t>201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create_order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"/orders/{order_id}"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get_order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+ users, payments, reports... di file yang sama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File makin panjang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Prefix ditulis berulang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Developer sering bentrok di file yang sama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APIRouter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Satu Router per Fitur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01-apirouter/after.py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api/routers/products.py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router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APIRouter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prefix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A5D6A7"/>
                </a:solidFill>
                <a:latin typeface="Consolas"/>
              </a:rPr>
              <a:t>"/products"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tags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[</a:t>
            </a:r>
            <a:r>
              <a:rPr sz="950" i="0">
                <a:solidFill>
                  <a:srgbClr val="A5D6A7"/>
                </a:solidFill>
                <a:latin typeface="Consolas"/>
              </a:rPr>
              <a:t>"products"</a:t>
            </a:r>
            <a:r>
              <a:rPr sz="950" i="0">
                <a:solidFill>
                  <a:srgbClr val="E6EDF3"/>
                </a:solidFill>
                <a:latin typeface="Consolas"/>
              </a:rPr>
              <a:t>]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@router.get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list_products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@router.get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"/{product_id}"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get_product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product_id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main.py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app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FastAPI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app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include_router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products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router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app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include_router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orders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router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Satu file per fitur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Prefix dan tags ditulis sekali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B5482A"/>
                </a:solidFill>
                <a:latin typeface="Consolas"/>
              </a:rPr>
              <a:t>main.py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cuma mendaftarkan router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Schemas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Satu Model untuk Semua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02-schemas/before.py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class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Product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7FDBCA"/>
                </a:solidFill>
                <a:latin typeface="Consolas"/>
              </a:rPr>
              <a:t>BaseModel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id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name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price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cost_price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harga modal, internal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stock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@app.post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"/products"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status_code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F9C97A"/>
                </a:solidFill>
                <a:latin typeface="Consolas"/>
              </a:rPr>
              <a:t>201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create_product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Product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7FDBCA"/>
                </a:solidFill>
                <a:latin typeface="Consolas"/>
              </a:rPr>
              <a:t>PRODUCTS</a:t>
            </a:r>
            <a:r>
              <a:rPr sz="950" i="0">
                <a:solidFill>
                  <a:srgbClr val="E6EDF3"/>
                </a:solidFill>
                <a:latin typeface="Consolas"/>
              </a:rPr>
              <a:t>[</a:t>
            </a:r>
            <a:r>
              <a:rPr sz="95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id</a:t>
            </a:r>
            <a:r>
              <a:rPr sz="950" i="0">
                <a:solidFill>
                  <a:srgbClr val="E6EDF3"/>
                </a:solidFill>
                <a:latin typeface="Consolas"/>
              </a:rPr>
              <a:t>]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model_dump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PRODUCTS</a:t>
            </a:r>
            <a:r>
              <a:rPr sz="950" i="0">
                <a:solidFill>
                  <a:srgbClr val="E6EDF3"/>
                </a:solidFill>
                <a:latin typeface="Consolas"/>
              </a:rPr>
              <a:t>[</a:t>
            </a:r>
            <a:r>
              <a:rPr sz="95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id</a:t>
            </a:r>
            <a:r>
              <a:rPr sz="950" i="0">
                <a:solidFill>
                  <a:srgbClr val="E6EDF3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response: {..., "cost_price": 350000, ...}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Client bisa mengirim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id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sendiri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Harga modal ikut terkirim ke client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Schemas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Request dan Response Dipisah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02-schemas/after.py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class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ProductIn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7FDBCA"/>
                </a:solidFill>
                <a:latin typeface="Consolas"/>
              </a:rPr>
              <a:t>BaseModel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name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Field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min_length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F9C97A"/>
                </a:solidFill>
                <a:latin typeface="Consolas"/>
              </a:rPr>
              <a:t>1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price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Field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gt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F9C97A"/>
                </a:solidFill>
                <a:latin typeface="Consolas"/>
              </a:rPr>
              <a:t>0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cost_price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Field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gt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F9C97A"/>
                </a:solidFill>
                <a:latin typeface="Consolas"/>
              </a:rPr>
              <a:t>0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stock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Field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ge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F9C97A"/>
                </a:solidFill>
                <a:latin typeface="Consolas"/>
              </a:rPr>
              <a:t>0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class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ProductOut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7FDBCA"/>
                </a:solidFill>
                <a:latin typeface="Consolas"/>
              </a:rPr>
              <a:t>BaseModel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id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name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price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stock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@app.post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"/products"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status_code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F9C97A"/>
                </a:solidFill>
                <a:latin typeface="Consolas"/>
              </a:rPr>
              <a:t>201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response_model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7FDBCA"/>
                </a:solidFill>
                <a:latin typeface="Consolas"/>
              </a:rPr>
              <a:t>ProductOut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create_product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payload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ProductIn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B5482A"/>
                </a:solidFill>
                <a:latin typeface="Consolas"/>
              </a:rPr>
              <a:t>response_model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menyaring field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Validasi jelas di satu tempat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Bentuk request &amp; response tercatat di /docs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Dependency Graph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Session Dibuat Manual di Setiap Route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03-dependency-graph/before.py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@app.post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"/products"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status_code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F9C97A"/>
                </a:solidFill>
                <a:latin typeface="Consolas"/>
              </a:rPr>
              <a:t>201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create_product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name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price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SessionLocal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repo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ProductRepository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record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repo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add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name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price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close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tidak jalan kalau 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{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"/products"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list_products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SessionLocal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 </a:t>
            </a:r>
            <a:r>
              <a:rPr sz="950" i="1">
                <a:solidFill>
                  <a:srgbClr val="8B98A8"/>
                </a:solidFill>
                <a:latin typeface="Consolas"/>
              </a:rPr>
              <a:t># diulang lagi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repo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ProductRepository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Kode membuat session &amp; repository diulang di semua route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Error sebelum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close()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= session bocor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Dependency Graph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Rantai Depends dengan yield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03-dependency-graph/after.py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get_session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SessionLocal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try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FF8E6E"/>
                </a:solidFill>
                <a:latin typeface="Consolas"/>
              </a:rPr>
              <a:t>yield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session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finally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close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selalu jalan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get_repository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Depends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get_session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ProductRepository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"/products"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list_products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repo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Depends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get_repository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[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]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Route cukup minta repository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Session pasti ditutup setelah response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Satu session dipakai bersama dalam satu request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i="0" b="0">
                <a:solidFill>
                  <a:srgbClr val="CFE0FA"/>
                </a:solidFill>
                <a:latin typeface="Inter"/>
              </a:rPr>
              <a:t>Bagian 02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i="0" b="0">
                <a:solidFill>
                  <a:srgbClr val="FFFFFF"/>
                </a:solidFill>
                <a:latin typeface="Work Sans ExtraBold"/>
              </a:rPr>
              <a:t>Request Lifecycle, Middleware &amp; Error Handling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324612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0">
                <a:solidFill>
                  <a:srgbClr val="E3ECFA"/>
                </a:solidFill>
                <a:latin typeface="Inter"/>
              </a:rPr>
              <a:t>Apa yang terjadi dari request masuk sampai response keluar.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Request Lifecycle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Request Flow di FastAPI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9319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Urutan yang dilewati setiap request di FastAPI, dari masuk sampai response dikirim.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Tahu di mana menaruh kode: middleware, dependency, atau route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Kode yang berlaku untuk semua request cukup ditulis sekali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Error yang tidak ditangkap route tetap ditangani dengan rapi</a:t>
            </a:r>
          </a:p>
        </p:txBody>
      </p:sp>
      <p:sp>
        <p:nvSpPr>
          <p:cNvPr id="23" name="Box 4"/>
          <p:cNvSpPr/>
          <p:nvPr/>
        </p:nvSpPr>
        <p:spPr>
          <a:xfrm>
            <a:off x="4937760" y="1508760"/>
            <a:ext cx="3547872" cy="36576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1C4587"/>
                </a:solidFill>
                <a:latin typeface="Inter"/>
              </a:rPr>
              <a:t>Middleware  ·  sebelum route</a:t>
            </a:r>
          </a:p>
        </p:txBody>
      </p:sp>
      <p:sp>
        <p:nvSpPr>
          <p:cNvPr id="24" name="Box 5"/>
          <p:cNvSpPr/>
          <p:nvPr/>
        </p:nvSpPr>
        <p:spPr>
          <a:xfrm>
            <a:off x="4937760" y="2029967"/>
            <a:ext cx="3547872" cy="365760"/>
          </a:xfrm>
          <a:prstGeom prst="roundRect">
            <a:avLst>
              <a:gd name="adj" fmla="val 30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1C4587"/>
                </a:solidFill>
                <a:latin typeface="Inter"/>
              </a:rPr>
              <a:t>Validasi request  ·  schema</a:t>
            </a:r>
          </a:p>
        </p:txBody>
      </p:sp>
      <p:cxnSp>
        <p:nvCxnSpPr>
          <p:cNvPr id="25" name="Arrow 6"/>
          <p:cNvCxnSpPr/>
          <p:nvPr/>
        </p:nvCxnSpPr>
        <p:spPr>
          <a:xfrm>
            <a:off x="6711696" y="1874519"/>
            <a:ext cx="0" cy="155448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Box 7"/>
          <p:cNvSpPr/>
          <p:nvPr/>
        </p:nvSpPr>
        <p:spPr>
          <a:xfrm>
            <a:off x="4937760" y="2551176"/>
            <a:ext cx="3547872" cy="365760"/>
          </a:xfrm>
          <a:prstGeom prst="roundRect">
            <a:avLst>
              <a:gd name="adj" fmla="val 30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1C4587"/>
                </a:solidFill>
                <a:latin typeface="Inter"/>
              </a:rPr>
              <a:t>Dependencies  ·  Depends()</a:t>
            </a:r>
          </a:p>
        </p:txBody>
      </p:sp>
      <p:cxnSp>
        <p:nvCxnSpPr>
          <p:cNvPr id="27" name="Arrow 8"/>
          <p:cNvCxnSpPr/>
          <p:nvPr/>
        </p:nvCxnSpPr>
        <p:spPr>
          <a:xfrm>
            <a:off x="6711696" y="2395728"/>
            <a:ext cx="0" cy="155448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Box 9"/>
          <p:cNvSpPr/>
          <p:nvPr/>
        </p:nvSpPr>
        <p:spPr>
          <a:xfrm>
            <a:off x="4937760" y="3072384"/>
            <a:ext cx="3547872" cy="365760"/>
          </a:xfrm>
          <a:prstGeom prst="roundRect">
            <a:avLst>
              <a:gd name="adj" fmla="val 30000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FFFFFF"/>
                </a:solidFill>
                <a:latin typeface="Inter"/>
              </a:rPr>
              <a:t>Route  ·  panggil service</a:t>
            </a:r>
          </a:p>
        </p:txBody>
      </p:sp>
      <p:cxnSp>
        <p:nvCxnSpPr>
          <p:cNvPr id="29" name="Arrow 10"/>
          <p:cNvCxnSpPr/>
          <p:nvPr/>
        </p:nvCxnSpPr>
        <p:spPr>
          <a:xfrm>
            <a:off x="6711696" y="2916936"/>
            <a:ext cx="0" cy="155448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Box 11"/>
          <p:cNvSpPr/>
          <p:nvPr/>
        </p:nvSpPr>
        <p:spPr>
          <a:xfrm>
            <a:off x="4937760" y="3593592"/>
            <a:ext cx="3547872" cy="365760"/>
          </a:xfrm>
          <a:prstGeom prst="roundRect">
            <a:avLst>
              <a:gd name="adj" fmla="val 3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1C4587"/>
                </a:solidFill>
                <a:latin typeface="Inter"/>
              </a:rPr>
              <a:t>Exception handler  ·  kalau ada error</a:t>
            </a:r>
          </a:p>
        </p:txBody>
      </p:sp>
      <p:cxnSp>
        <p:nvCxnSpPr>
          <p:cNvPr id="31" name="Arrow 12"/>
          <p:cNvCxnSpPr/>
          <p:nvPr/>
        </p:nvCxnSpPr>
        <p:spPr>
          <a:xfrm>
            <a:off x="6711696" y="3438144"/>
            <a:ext cx="0" cy="155448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Box 13"/>
          <p:cNvSpPr/>
          <p:nvPr/>
        </p:nvSpPr>
        <p:spPr>
          <a:xfrm>
            <a:off x="4937760" y="4114800"/>
            <a:ext cx="3547872" cy="36576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1C4587"/>
                </a:solidFill>
                <a:latin typeface="Inter"/>
              </a:rPr>
              <a:t>Middleware  ·  setelah route</a:t>
            </a:r>
          </a:p>
        </p:txBody>
      </p:sp>
      <p:cxnSp>
        <p:nvCxnSpPr>
          <p:cNvPr id="33" name="Arrow 14"/>
          <p:cNvCxnSpPr/>
          <p:nvPr/>
        </p:nvCxnSpPr>
        <p:spPr>
          <a:xfrm>
            <a:off x="6711696" y="3959352"/>
            <a:ext cx="0" cy="155448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Middleware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Logging Ditempel di Setiap Route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04-middleware/before.py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"/products"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list_products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start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time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perf_counter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result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[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C3A6FF"/>
                </a:solidFill>
                <a:latin typeface="Consolas"/>
              </a:rPr>
              <a:t>print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f"GET /products 200 {...}ms"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result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"/orders"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list_orders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start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time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perf_counter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diulang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"/health"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health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         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lupa ditambahkan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{</a:t>
            </a:r>
            <a:r>
              <a:rPr sz="950" i="0">
                <a:solidFill>
                  <a:srgbClr val="A5D6A7"/>
                </a:solidFill>
                <a:latin typeface="Consolas"/>
              </a:rPr>
              <a:t>"status"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A5D6A7"/>
                </a:solidFill>
                <a:latin typeface="Consolas"/>
              </a:rPr>
              <a:t>"ok"</a:t>
            </a:r>
            <a:r>
              <a:rPr sz="950" i="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Kode yang sama di semua route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Route baru gampang terlewat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Request yang error tidak tercatat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Middleware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Ditulis Sekali untuk Semua Request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04-middleware/after.py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@app.middleware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"http"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async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log_requests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request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Request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call_next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start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time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perf_counter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response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await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call_next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request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lanjut ke route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ms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time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perf_counter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start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*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1000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response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headers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A5D6A7"/>
                </a:solidFill>
                <a:latin typeface="Consolas"/>
              </a:rPr>
              <a:t>"X-Process-Time"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f"{ms:.1f}ms"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C3A6FF"/>
                </a:solidFill>
                <a:latin typeface="Consolas"/>
              </a:rPr>
              <a:t>print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f"{request.method} {request.url.path}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</a:t>
            </a:r>
            <a:r>
              <a:rPr sz="900" i="0">
                <a:solidFill>
                  <a:srgbClr val="A5D6A7"/>
                </a:solidFill>
                <a:latin typeface="Consolas"/>
              </a:rPr>
              <a:t>f"{response.status_code} {ms:.1f}ms"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response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"/health"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health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{</a:t>
            </a:r>
            <a:r>
              <a:rPr sz="900" i="0">
                <a:solidFill>
                  <a:srgbClr val="A5D6A7"/>
                </a:solidFill>
                <a:latin typeface="Consolas"/>
              </a:rPr>
              <a:t>"status"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"ok"</a:t>
            </a:r>
            <a:r>
              <a:rPr sz="900" i="0">
                <a:solidFill>
                  <a:srgbClr val="E6EDF3"/>
                </a:solidFill>
                <a:latin typeface="Consolas"/>
              </a:rPr>
              <a:t>}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ikut tercatat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Semua request tercatat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Route tetap simple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Cocok untuk logging, header, request id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Exception Handling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Try/Except di Setiap Route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05-exception-handling/before.py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"/products/{product_id}"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get_product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product_id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try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find_product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product_id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except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ProductNotFound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raise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HTTPException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404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"Product not found"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@app.post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"/orders"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status_code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F9C97A"/>
                </a:solidFill>
                <a:latin typeface="Consolas"/>
              </a:rPr>
              <a:t>201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create_order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product_id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qty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try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except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ProductNotFound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raise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HTTPException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404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"produk tidak ada"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except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OutOfStock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JSONResponse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{</a:t>
            </a:r>
            <a:r>
              <a:rPr sz="900" i="0">
                <a:solidFill>
                  <a:srgbClr val="A5D6A7"/>
                </a:solidFill>
                <a:latin typeface="Consolas"/>
              </a:rPr>
              <a:t>"msg"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"stok habis"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"ok"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False</a:t>
            </a:r>
            <a:r>
              <a:rPr sz="900" i="0">
                <a:solidFill>
                  <a:srgbClr val="E6EDF3"/>
                </a:solidFill>
                <a:latin typeface="Consolas"/>
              </a:rPr>
              <a:t>}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400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Format error beda-beda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Client harus menangani banyak bentuk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Route penuh try/except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Exception Handling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Satu Handler, Satu Format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05-exception-handling/after.py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class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AppError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7FDBCA"/>
                </a:solidFill>
                <a:latin typeface="Consolas"/>
              </a:rPr>
              <a:t>Exception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code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"app_error"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status_code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400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class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OutOfStock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7FDBCA"/>
                </a:solidFill>
                <a:latin typeface="Consolas"/>
              </a:rPr>
              <a:t>AppError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code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"out_of_stock"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status_code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409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9C97A"/>
                </a:solidFill>
                <a:latin typeface="Consolas"/>
              </a:rPr>
              <a:t>@app.exception_handler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7FDBCA"/>
                </a:solidFill>
                <a:latin typeface="Consolas"/>
              </a:rPr>
              <a:t>AppError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async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handle_app_error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request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exc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AppError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JSONResponse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status_code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exc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status_code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content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A5D6A7"/>
                </a:solidFill>
                <a:latin typeface="Consolas"/>
              </a:rPr>
              <a:t>"error"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{</a:t>
            </a:r>
            <a:r>
              <a:rPr sz="850" i="0">
                <a:solidFill>
                  <a:srgbClr val="A5D6A7"/>
                </a:solidFill>
                <a:latin typeface="Consolas"/>
              </a:rPr>
              <a:t>"code"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exc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code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"message"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exc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message</a:t>
            </a:r>
            <a:r>
              <a:rPr sz="850" i="0">
                <a:solidFill>
                  <a:srgbClr val="E6EDF3"/>
                </a:solidFill>
                <a:latin typeface="Consolas"/>
              </a:rPr>
              <a:t>}</a:t>
            </a:r>
            <a:r>
              <a:rPr sz="850" i="0">
                <a:solidFill>
                  <a:srgbClr val="E6EDF3"/>
                </a:solidFill>
                <a:latin typeface="Consolas"/>
              </a:rPr>
              <a:t>}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"/products/{product_id}"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get_product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product_id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int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find_product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product_id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1">
                <a:solidFill>
                  <a:srgbClr val="8B98A8"/>
                </a:solidFill>
                <a:latin typeface="Consolas"/>
              </a:rPr>
              <a:t># tanpa try/except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Semua error berbentuk sama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B5482A"/>
                </a:solidFill>
                <a:latin typeface="Consolas"/>
              </a:rPr>
              <a:t>code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bisa dipakai frontend untuk logic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Route kembali simple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OpenAPI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Dokumentasi Seadanya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06-openapi/before.py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app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FastAPI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judul "FastAPI", versi 0.1.0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@app.post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"/orders"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status_code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F9C97A"/>
                </a:solidFill>
                <a:latin typeface="Consolas"/>
              </a:rPr>
              <a:t>201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create_order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payload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OrderIn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"/orders/{order_id}"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get_order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not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in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ORDERS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raise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HTTPException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404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"Order tidak ditemukan"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/docs: "Create Order Orders Post", response kosong,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       error 404 tidak terdokumentasi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Frontend harus bertanya dulu ke backend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Bentuk response tidak jelas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Error tidak terdokumentasi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OpenAPI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Dokumentasi dari Kode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06-openapi/after.py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app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FastAPI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title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A5D6A7"/>
                </a:solidFill>
                <a:latin typeface="Consolas"/>
              </a:rPr>
              <a:t>"Order API"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version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A5D6A7"/>
                </a:solidFill>
                <a:latin typeface="Consolas"/>
              </a:rPr>
              <a:t>"1.0.0"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description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A5D6A7"/>
                </a:solidFill>
                <a:latin typeface="Consolas"/>
              </a:rPr>
              <a:t>"API untuk membuat dan melihat order."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OrderIn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7FDBCA"/>
                </a:solidFill>
                <a:latin typeface="Consolas"/>
              </a:rPr>
              <a:t>BaseModel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Field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examples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A5D6A7"/>
                </a:solidFill>
                <a:latin typeface="Consolas"/>
              </a:rPr>
              <a:t>"budi@mail.com"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qty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Field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gt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F9C97A"/>
                </a:solidFill>
                <a:latin typeface="Consolas"/>
              </a:rPr>
              <a:t>0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examples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F9C97A"/>
                </a:solidFill>
                <a:latin typeface="Consolas"/>
              </a:rPr>
              <a:t>2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@app.get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"/orders/{order_id}"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response_model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OrderOut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tags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A5D6A7"/>
                </a:solidFill>
                <a:latin typeface="Consolas"/>
              </a:rPr>
              <a:t>"orders"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summary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A5D6A7"/>
                </a:solidFill>
                <a:latin typeface="Consolas"/>
              </a:rPr>
              <a:t>"Lihat detail order"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responses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{</a:t>
            </a:r>
            <a:r>
              <a:rPr sz="900" i="0">
                <a:solidFill>
                  <a:srgbClr val="F9C97A"/>
                </a:solidFill>
                <a:latin typeface="Consolas"/>
              </a:rPr>
              <a:t>404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{</a:t>
            </a:r>
            <a:r>
              <a:rPr sz="900" i="0">
                <a:solidFill>
                  <a:srgbClr val="A5D6A7"/>
                </a:solidFill>
                <a:latin typeface="Consolas"/>
              </a:rPr>
              <a:t>"model"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ErrorOut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              </a:t>
            </a:r>
            <a:r>
              <a:rPr sz="900" i="0">
                <a:solidFill>
                  <a:srgbClr val="A5D6A7"/>
                </a:solidFill>
                <a:latin typeface="Consolas"/>
              </a:rPr>
              <a:t>"description"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"Order tidak ditemukan"</a:t>
            </a:r>
            <a:r>
              <a:rPr sz="900" i="0">
                <a:solidFill>
                  <a:srgbClr val="E6EDF3"/>
                </a:solidFill>
                <a:latin typeface="Consolas"/>
              </a:rPr>
              <a:t>}</a:t>
            </a:r>
            <a:r>
              <a:rPr sz="900" i="0">
                <a:solidFill>
                  <a:srgbClr val="E6EDF3"/>
                </a:solidFill>
                <a:latin typeface="Consolas"/>
              </a:rPr>
              <a:t>}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get_order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/docs langsung bisa dipakai frontend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Contoh request siap dicoba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Error 404 ikut terdokumentasi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i="0" b="0">
                <a:solidFill>
                  <a:srgbClr val="CFE0FA"/>
                </a:solidFill>
                <a:latin typeface="Inter"/>
              </a:rPr>
              <a:t>Bagian 03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i="0" b="0">
                <a:solidFill>
                  <a:srgbClr val="FFFFFF"/>
                </a:solidFill>
                <a:latin typeface="Work Sans ExtraBold"/>
              </a:rPr>
              <a:t>Transaction &amp; Unit of Work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274320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0">
                <a:solidFill>
                  <a:srgbClr val="E3ECFA"/>
                </a:solidFill>
                <a:latin typeface="Inter"/>
              </a:rPr>
              <a:t>Proses multi-step yang berhasil semua, atau batal semua.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Transaction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Apa Itu Transaction Boundary?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9319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Batas awal dan akhir sebuah transaksi database. Semua perubahan di dalamnya di-</a:t>
            </a:r>
            <a:r>
              <a:rPr sz="1050" i="0" b="1">
                <a:solidFill>
                  <a:srgbClr val="434343"/>
                </a:solidFill>
                <a:latin typeface="Inter"/>
              </a:rPr>
              <a:t>commit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bersama, atau di-</a:t>
            </a:r>
            <a:r>
              <a:rPr sz="1050" i="0" b="1">
                <a:solidFill>
                  <a:srgbClr val="434343"/>
                </a:solidFill>
                <a:latin typeface="Inter"/>
              </a:rPr>
              <a:t>rollback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bersama kalau ada error.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Data tetap konsisten walaupun proses gagal di tengah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Tidak ada stok yang hilang tanpa order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Jelas siapa yang memutuskan commit</a:t>
            </a:r>
          </a:p>
        </p:txBody>
      </p:sp>
      <p:sp>
        <p:nvSpPr>
          <p:cNvPr id="23" name="Box 4"/>
          <p:cNvSpPr/>
          <p:nvPr/>
        </p:nvSpPr>
        <p:spPr>
          <a:xfrm>
            <a:off x="4937760" y="1554480"/>
            <a:ext cx="3547872" cy="2331720"/>
          </a:xfrm>
          <a:prstGeom prst="roundRect">
            <a:avLst>
              <a:gd name="adj" fmla="val 4705"/>
            </a:avLst>
          </a:prstGeom>
          <a:solidFill>
            <a:srgbClr val="F3F4F6"/>
          </a:solidFill>
          <a:ln w="15875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4" name="Text 5"/>
          <p:cNvSpPr txBox="1"/>
          <p:nvPr/>
        </p:nvSpPr>
        <p:spPr>
          <a:xfrm>
            <a:off x="5029200" y="1600200"/>
            <a:ext cx="3383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i="0" b="0">
                <a:solidFill>
                  <a:srgbClr val="7A7A7A"/>
                </a:solidFill>
                <a:latin typeface="Inter"/>
              </a:rPr>
              <a:t>satu transaksi</a:t>
            </a:r>
          </a:p>
        </p:txBody>
      </p:sp>
      <p:sp>
        <p:nvSpPr>
          <p:cNvPr id="25" name="Box 6"/>
          <p:cNvSpPr/>
          <p:nvPr/>
        </p:nvSpPr>
        <p:spPr>
          <a:xfrm>
            <a:off x="5212080" y="1920240"/>
            <a:ext cx="2999232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1C4587"/>
                </a:solidFill>
                <a:latin typeface="Inter"/>
              </a:rPr>
              <a:t>Kurangi stok Keyboard</a:t>
            </a:r>
          </a:p>
        </p:txBody>
      </p:sp>
      <p:sp>
        <p:nvSpPr>
          <p:cNvPr id="26" name="Box 7"/>
          <p:cNvSpPr/>
          <p:nvPr/>
        </p:nvSpPr>
        <p:spPr>
          <a:xfrm>
            <a:off x="5212080" y="2532888"/>
            <a:ext cx="2999232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1C4587"/>
                </a:solidFill>
                <a:latin typeface="Inter"/>
              </a:rPr>
              <a:t>Kurangi stok Mouse</a:t>
            </a:r>
          </a:p>
        </p:txBody>
      </p:sp>
      <p:cxnSp>
        <p:nvCxnSpPr>
          <p:cNvPr id="27" name="Arrow 8"/>
          <p:cNvCxnSpPr/>
          <p:nvPr/>
        </p:nvCxnSpPr>
        <p:spPr>
          <a:xfrm>
            <a:off x="6711696" y="2304288"/>
            <a:ext cx="0" cy="22860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Box 9"/>
          <p:cNvSpPr/>
          <p:nvPr/>
        </p:nvSpPr>
        <p:spPr>
          <a:xfrm>
            <a:off x="5212080" y="3145536"/>
            <a:ext cx="2999232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1C4587"/>
                </a:solidFill>
                <a:latin typeface="Inter"/>
              </a:rPr>
              <a:t>Simpan order</a:t>
            </a:r>
          </a:p>
        </p:txBody>
      </p:sp>
      <p:cxnSp>
        <p:nvCxnSpPr>
          <p:cNvPr id="29" name="Arrow 10"/>
          <p:cNvCxnSpPr/>
          <p:nvPr/>
        </p:nvCxnSpPr>
        <p:spPr>
          <a:xfrm>
            <a:off x="6711696" y="2916936"/>
            <a:ext cx="0" cy="22860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Box 11"/>
          <p:cNvSpPr/>
          <p:nvPr/>
        </p:nvSpPr>
        <p:spPr>
          <a:xfrm>
            <a:off x="4937760" y="4069080"/>
            <a:ext cx="1691640" cy="411480"/>
          </a:xfrm>
          <a:prstGeom prst="roundRect">
            <a:avLst>
              <a:gd name="adj" fmla="val 26666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2E7D5B"/>
                </a:solidFill>
                <a:latin typeface="Inter"/>
              </a:rPr>
              <a:t>berhasil → commit</a:t>
            </a:r>
          </a:p>
        </p:txBody>
      </p:sp>
      <p:sp>
        <p:nvSpPr>
          <p:cNvPr id="31" name="Box 12"/>
          <p:cNvSpPr/>
          <p:nvPr/>
        </p:nvSpPr>
        <p:spPr>
          <a:xfrm>
            <a:off x="6793992" y="4069080"/>
            <a:ext cx="1691640" cy="411480"/>
          </a:xfrm>
          <a:prstGeom prst="roundRect">
            <a:avLst>
              <a:gd name="adj" fmla="val 26666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C0392B"/>
                </a:solidFill>
                <a:latin typeface="Inter"/>
              </a:rPr>
              <a:t>error → rollback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Transaction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Commit di Tengah Proses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07-transaction/before.py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place_order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items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for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product_id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qty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in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items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get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7FDBCA"/>
                </a:solidFill>
                <a:latin typeface="Consolas"/>
              </a:rPr>
              <a:t>ProductRecord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product_id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qty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&gt;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stock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raise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ValueError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f"Stok {product.name} tidak cukup"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stock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qty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commit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commit per item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add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OrderRecord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commit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place_order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"budi"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1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2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2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3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</a:t>
            </a:r>
            <a:r>
              <a:rPr sz="900" i="1">
                <a:solidFill>
                  <a:srgbClr val="8B98A8"/>
                </a:solidFill>
                <a:latin typeface="Consolas"/>
              </a:rPr>
              <a:t># Mouse cuma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Stok Keyboard: 3 (harusnya 5), jumlah order: 0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Stok berkurang tanpa ada order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Data tidak konsisten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Harus dibereskan manual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Transaction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Satu Transaksi untuk Semua Langkah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07-transaction/after.py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place_order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items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with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begin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transaction boundary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for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product_id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qty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in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items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get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7FDBCA"/>
                </a:solidFill>
                <a:latin typeface="Consolas"/>
              </a:rPr>
              <a:t>ProductRecord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product_id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qty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&gt;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stock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raise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ValueError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f"Stok {product.name} tidak cukup"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stock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qty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add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OrderRecord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tanpa error = commit, ada error = rollback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place_order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"budi"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1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2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2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3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Stok Keyboard: 5, jumlah order: 0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Atomic: berhasil semua atau tidak sama sekali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Rollback otomatis saat error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Unit of Work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Repository Commit Sendiri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08-unit-of-work/before.py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ProductRepository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save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commit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commit sendiri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OrderService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place_order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items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for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product_id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qty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in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items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products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get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product_id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stock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qty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products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save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</a:t>
            </a:r>
            <a:r>
              <a:rPr sz="900" i="1">
                <a:solidFill>
                  <a:srgbClr val="8B98A8"/>
                </a:solidFill>
                <a:latin typeface="Consolas"/>
              </a:rPr>
              <a:t># langsung permanen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orders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add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1280160"/>
          </a:xfrm>
          <a:prstGeom prst="roundRect">
            <a:avLst>
              <a:gd name="adj" fmla="val 8571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 wrap="square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434343"/>
                </a:solidFill>
                <a:latin typeface="Inter"/>
              </a:rPr>
              <a:t>Definisi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0">
                <a:solidFill>
                  <a:srgbClr val="434343"/>
                </a:solidFill>
                <a:latin typeface="Inter"/>
              </a:rPr>
              <a:t>“Maintains a list of objects affected by a business transaction and coordinates the writing out of changes.”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0">
                <a:solidFill>
                  <a:srgbClr val="434343"/>
                </a:solidFill>
                <a:latin typeface="Inter"/>
              </a:rPr>
              <a:t>— Martin Fowler</a:t>
            </a:r>
          </a:p>
        </p:txBody>
      </p:sp>
      <p:sp>
        <p:nvSpPr>
          <p:cNvPr id="30" name="Box 13"/>
          <p:cNvSpPr/>
          <p:nvPr/>
        </p:nvSpPr>
        <p:spPr>
          <a:xfrm>
            <a:off x="5897880" y="2926080"/>
            <a:ext cx="2587752" cy="1737359"/>
          </a:xfrm>
          <a:prstGeom prst="roundRect">
            <a:avLst>
              <a:gd name="adj" fmla="val 6315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Text 14"/>
          <p:cNvSpPr txBox="1"/>
          <p:nvPr/>
        </p:nvSpPr>
        <p:spPr>
          <a:xfrm>
            <a:off x="6035040" y="3017520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2" name="Text 15"/>
          <p:cNvSpPr txBox="1"/>
          <p:nvPr/>
        </p:nvSpPr>
        <p:spPr>
          <a:xfrm>
            <a:off x="6035040" y="3337560"/>
            <a:ext cx="2313432" cy="1234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Service tidak bisa menggabungkan langkah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Stok tetap berkurang saat langkah berikutnya gagal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Unit of Work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Service yang Memutuskan Commit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08-unit-of-work/after.py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class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UnitOfWork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__enter__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session_factory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products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ProductRepository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OrderRepository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__exit__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*</a:t>
            </a:r>
            <a:r>
              <a:rPr sz="850" i="0">
                <a:solidFill>
                  <a:srgbClr val="E6EDF3"/>
                </a:solidFill>
                <a:latin typeface="Consolas"/>
              </a:rPr>
              <a:t>exc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rollback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     </a:t>
            </a:r>
            <a:r>
              <a:rPr sz="850" i="1">
                <a:solidFill>
                  <a:srgbClr val="8B98A8"/>
                </a:solidFill>
                <a:latin typeface="Consolas"/>
              </a:rPr>
              <a:t># belum commit = dibatalkan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close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commit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commit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class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OrderService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place_order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items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with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uow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                         </a:t>
            </a:r>
            <a:r>
              <a:rPr sz="850" i="1">
                <a:solidFill>
                  <a:srgbClr val="8B98A8"/>
                </a:solidFill>
                <a:latin typeface="Consolas"/>
              </a:rPr>
              <a:t># kurangi stok, simpan order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uow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commit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           </a:t>
            </a:r>
            <a:r>
              <a:rPr sz="850" i="1">
                <a:solidFill>
                  <a:srgbClr val="8B98A8"/>
                </a:solidFill>
                <a:latin typeface="Consolas"/>
              </a:rPr>
              <a:t># satu commit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Repository tidak commit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Satu commit untuk satu use case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Service tidak perlu tahu SQLAlchemy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Hands-on  ·  mulai dari 09-modular-api/before/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API Modular dengan Transaksi Multi-step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536192"/>
            <a:ext cx="4160520" cy="3127248"/>
          </a:xfrm>
          <a:prstGeom prst="roundRect">
            <a:avLst>
              <a:gd name="adj" fmla="val 3508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Text 4"/>
          <p:cNvSpPr txBox="1"/>
          <p:nvPr/>
        </p:nvSpPr>
        <p:spPr>
          <a:xfrm>
            <a:off x="758952" y="1627632"/>
            <a:ext cx="388620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i="0" b="1">
                <a:solidFill>
                  <a:srgbClr val="1C4587"/>
                </a:solidFill>
                <a:latin typeface="Inter"/>
              </a:rPr>
              <a:t>Kriteria selesai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758952" y="1947672"/>
            <a:ext cx="3886200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Endpoint di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api/routers/</a:t>
            </a:r>
            <a:r>
              <a:rPr sz="950" i="0" b="0">
                <a:solidFill>
                  <a:srgbClr val="434343"/>
                </a:solidFill>
                <a:latin typeface="Inter"/>
              </a:rPr>
              <a:t>, schema di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api/schemas.py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Repository SQLAlchemy, tidak commit sendiri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Buat order mengurangi stok semua item dalam satu Unit of Work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Satu item stok kurang = tidak ada yang berubah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Cancel order mengembalikan stok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Format error seragam, header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X-Process-Time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B5482A"/>
                </a:solidFill>
                <a:latin typeface="Consolas"/>
              </a:rPr>
              <a:t>/docs</a:t>
            </a:r>
            <a:r>
              <a:rPr sz="950" i="0" b="0">
                <a:solidFill>
                  <a:srgbClr val="434343"/>
                </a:solidFill>
                <a:latin typeface="Inter"/>
              </a:rPr>
              <a:t> lengkap,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pytest</a:t>
            </a:r>
            <a:r>
              <a:rPr sz="950" i="0" b="0">
                <a:solidFill>
                  <a:srgbClr val="434343"/>
                </a:solidFill>
                <a:latin typeface="Inter"/>
              </a:rPr>
              <a:t> hijau</a:t>
            </a:r>
          </a:p>
        </p:txBody>
      </p:sp>
      <p:sp>
        <p:nvSpPr>
          <p:cNvPr id="25" name="CodeTab 7"/>
          <p:cNvSpPr/>
          <p:nvPr/>
        </p:nvSpPr>
        <p:spPr>
          <a:xfrm>
            <a:off x="4937760" y="1536192"/>
            <a:ext cx="3547872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6" name="Dot 8"/>
          <p:cNvSpPr/>
          <p:nvPr/>
        </p:nvSpPr>
        <p:spPr>
          <a:xfrm>
            <a:off x="5047488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t 9"/>
          <p:cNvSpPr/>
          <p:nvPr/>
        </p:nvSpPr>
        <p:spPr>
          <a:xfrm>
            <a:off x="5184648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t 10"/>
          <p:cNvSpPr/>
          <p:nvPr/>
        </p:nvSpPr>
        <p:spPr>
          <a:xfrm>
            <a:off x="5321808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 11"/>
          <p:cNvSpPr txBox="1"/>
          <p:nvPr/>
        </p:nvSpPr>
        <p:spPr>
          <a:xfrm>
            <a:off x="5486400" y="1545336"/>
            <a:ext cx="2907791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target struktur</a:t>
            </a:r>
          </a:p>
        </p:txBody>
      </p:sp>
      <p:sp>
        <p:nvSpPr>
          <p:cNvPr id="30" name="CodeBg 13"/>
          <p:cNvSpPr/>
          <p:nvPr/>
        </p:nvSpPr>
        <p:spPr>
          <a:xfrm>
            <a:off x="4937760" y="1773936"/>
            <a:ext cx="3547872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Code 14"/>
          <p:cNvSpPr txBox="1"/>
          <p:nvPr/>
        </p:nvSpPr>
        <p:spPr>
          <a:xfrm>
            <a:off x="4937760" y="1773936"/>
            <a:ext cx="3547872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after/app/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domain/          product.py, errors.py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application/     order_service.py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product_service.py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infrastructure/  models.py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repositories.py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unit_of_work.py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api/routers/     orders.py, products.py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api/             schemas.py, errors.py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middleware.py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main.py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after/tests/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Penutup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Rangkuman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Text 4"/>
          <p:cNvSpPr txBox="1"/>
          <p:nvPr/>
        </p:nvSpPr>
        <p:spPr>
          <a:xfrm>
            <a:off x="758952" y="16459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APIRouter &amp; Schemas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758952" y="196596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Satu router per fitur, request dan response dipisah</a:t>
            </a:r>
          </a:p>
        </p:txBody>
      </p:sp>
      <p:sp>
        <p:nvSpPr>
          <p:cNvPr id="25" name="Box 6"/>
          <p:cNvSpPr/>
          <p:nvPr/>
        </p:nvSpPr>
        <p:spPr>
          <a:xfrm>
            <a:off x="3291840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6" name="Text 7"/>
          <p:cNvSpPr txBox="1"/>
          <p:nvPr/>
        </p:nvSpPr>
        <p:spPr>
          <a:xfrm>
            <a:off x="3429000" y="16459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Dependency Graph</a:t>
            </a:r>
          </a:p>
        </p:txBody>
      </p:sp>
      <p:sp>
        <p:nvSpPr>
          <p:cNvPr id="27" name="Text 8"/>
          <p:cNvSpPr txBox="1"/>
          <p:nvPr/>
        </p:nvSpPr>
        <p:spPr>
          <a:xfrm>
            <a:off x="3429000" y="196596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B5482A"/>
                </a:solidFill>
                <a:latin typeface="Consolas"/>
              </a:rPr>
              <a:t>Depends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berantai,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yield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untuk resource yang harus ditutup</a:t>
            </a:r>
          </a:p>
        </p:txBody>
      </p:sp>
      <p:sp>
        <p:nvSpPr>
          <p:cNvPr id="28" name="Box 9"/>
          <p:cNvSpPr/>
          <p:nvPr/>
        </p:nvSpPr>
        <p:spPr>
          <a:xfrm>
            <a:off x="5961888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9" name="Text 10"/>
          <p:cNvSpPr txBox="1"/>
          <p:nvPr/>
        </p:nvSpPr>
        <p:spPr>
          <a:xfrm>
            <a:off x="6099048" y="16459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Middleware</a:t>
            </a:r>
          </a:p>
        </p:txBody>
      </p:sp>
      <p:sp>
        <p:nvSpPr>
          <p:cNvPr id="30" name="Text 11"/>
          <p:cNvSpPr txBox="1"/>
          <p:nvPr/>
        </p:nvSpPr>
        <p:spPr>
          <a:xfrm>
            <a:off x="6099048" y="196596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Kode untuk semua request: logging, header</a:t>
            </a:r>
          </a:p>
        </p:txBody>
      </p:sp>
      <p:sp>
        <p:nvSpPr>
          <p:cNvPr id="31" name="Box 12"/>
          <p:cNvSpPr/>
          <p:nvPr/>
        </p:nvSpPr>
        <p:spPr>
          <a:xfrm>
            <a:off x="621792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2" name="Text 13"/>
          <p:cNvSpPr txBox="1"/>
          <p:nvPr/>
        </p:nvSpPr>
        <p:spPr>
          <a:xfrm>
            <a:off x="758952" y="320040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Exception Handler</a:t>
            </a:r>
          </a:p>
        </p:txBody>
      </p:sp>
      <p:sp>
        <p:nvSpPr>
          <p:cNvPr id="33" name="Text 14"/>
          <p:cNvSpPr txBox="1"/>
          <p:nvPr/>
        </p:nvSpPr>
        <p:spPr>
          <a:xfrm>
            <a:off x="758952" y="352044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Satu tempat, satu format error</a:t>
            </a:r>
          </a:p>
        </p:txBody>
      </p:sp>
      <p:sp>
        <p:nvSpPr>
          <p:cNvPr id="34" name="Box 15"/>
          <p:cNvSpPr/>
          <p:nvPr/>
        </p:nvSpPr>
        <p:spPr>
          <a:xfrm>
            <a:off x="3291840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5" name="Text 16"/>
          <p:cNvSpPr txBox="1"/>
          <p:nvPr/>
        </p:nvSpPr>
        <p:spPr>
          <a:xfrm>
            <a:off x="3429000" y="320040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OpenAPI</a:t>
            </a:r>
          </a:p>
        </p:txBody>
      </p:sp>
      <p:sp>
        <p:nvSpPr>
          <p:cNvPr id="36" name="Text 17"/>
          <p:cNvSpPr txBox="1"/>
          <p:nvPr/>
        </p:nvSpPr>
        <p:spPr>
          <a:xfrm>
            <a:off x="3429000" y="352044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Metadata, tags, summary, response error</a:t>
            </a:r>
          </a:p>
        </p:txBody>
      </p:sp>
      <p:sp>
        <p:nvSpPr>
          <p:cNvPr id="37" name="Box 18"/>
          <p:cNvSpPr/>
          <p:nvPr/>
        </p:nvSpPr>
        <p:spPr>
          <a:xfrm>
            <a:off x="5961888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8" name="Text 19"/>
          <p:cNvSpPr txBox="1"/>
          <p:nvPr/>
        </p:nvSpPr>
        <p:spPr>
          <a:xfrm>
            <a:off x="6099048" y="320040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Transaction &amp; UoW</a:t>
            </a:r>
          </a:p>
        </p:txBody>
      </p:sp>
      <p:sp>
        <p:nvSpPr>
          <p:cNvPr id="39" name="Text 20"/>
          <p:cNvSpPr txBox="1"/>
          <p:nvPr/>
        </p:nvSpPr>
        <p:spPr>
          <a:xfrm>
            <a:off x="6099048" y="352044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Multi-step atomic, service yang memutuskan commit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2907dbd872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401" y="4399825"/>
            <a:ext cx="24498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2907dbd8723_0_0"/>
          <p:cNvSpPr txBox="1"/>
          <p:nvPr/>
        </p:nvSpPr>
        <p:spPr>
          <a:xfrm>
            <a:off x="843350" y="1097280"/>
            <a:ext cx="4977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Source Code</a:t>
            </a:r>
            <a:endParaRPr b="0" i="0" sz="3000" u="none" cap="none" strike="noStrike">
              <a:solidFill>
                <a:srgbClr val="FFFFFF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255" name="Google Shape;255;g2907dbd8723_0_0"/>
          <p:cNvSpPr txBox="1"/>
          <p:nvPr/>
        </p:nvSpPr>
        <p:spPr>
          <a:xfrm>
            <a:off x="1230650" y="1934520"/>
            <a:ext cx="192024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Sesi 4</a:t>
            </a:r>
            <a:endParaRPr b="0" i="1" sz="1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g2907dbd872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7" name="Google Shape;257;g2907dbd872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4775" y="4399825"/>
            <a:ext cx="284713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2907dbd8723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5899" y="4399825"/>
            <a:ext cx="198637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2907dbd8723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695" y="4399825"/>
            <a:ext cx="20194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2907dbd8723_0_0"/>
          <p:cNvSpPr txBox="1"/>
          <p:nvPr/>
        </p:nvSpPr>
        <p:spPr>
          <a:xfrm>
            <a:off x="1230650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Hacktiv8id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2907dbd8723_0_0"/>
          <p:cNvSpPr txBox="1"/>
          <p:nvPr/>
        </p:nvSpPr>
        <p:spPr>
          <a:xfrm>
            <a:off x="3088375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Hacktiv8id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2907dbd8723_0_0"/>
          <p:cNvSpPr txBox="1"/>
          <p:nvPr/>
        </p:nvSpPr>
        <p:spPr>
          <a:xfrm>
            <a:off x="4946100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2907dbd8723_0_0"/>
          <p:cNvSpPr txBox="1"/>
          <p:nvPr/>
        </p:nvSpPr>
        <p:spPr>
          <a:xfrm>
            <a:off x="6704525" y="4338875"/>
            <a:ext cx="142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 Indonesia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g2907dbd8723_0_0"/>
          <p:cNvCxnSpPr/>
          <p:nvPr/>
        </p:nvCxnSpPr>
        <p:spPr>
          <a:xfrm>
            <a:off x="3063240" y="2160270"/>
            <a:ext cx="914400" cy="9600"/>
          </a:xfrm>
          <a:prstGeom prst="straightConnector1">
            <a:avLst/>
          </a:prstGeom>
          <a:noFill/>
          <a:ln cap="flat" cmpd="sng" w="19050">
            <a:solidFill>
              <a:srgbClr val="FFF5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g2907dbd8723_0_0">
            <a:hlinkClick r:id="rId7"/>
          </p:cNvPr>
          <p:cNvSpPr txBox="1"/>
          <p:nvPr/>
        </p:nvSpPr>
        <p:spPr>
          <a:xfrm>
            <a:off x="4206240" y="1934520"/>
            <a:ext cx="402336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8"/>
              </a:rPr>
              <a:t>github.com/bagusedghar/fastapi-intermediate</a:t>
            </a:r>
            <a:endParaRPr b="0" i="1" sz="1500" u="sng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